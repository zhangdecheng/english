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17: Personal Growth — Self-Study Workbook (Lessons 81–83)</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81 · Rethinking your mindset 重新思考你的心态</a:t>
            </a:r>
          </a:p>
          <a:p>
            <a:r>
              <a:t>Goal: explain fixed and growth mindsets, reflect on your own beliefs and encourage others in a positive, realistic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“mindset” = 心态/思维模式;“fixed mindset” 固定型思维;“growth mindset” 成长型思维。第 3 题 “no longer” = 不再。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belief about yourself that you changed.</a:t>
            </a:r>
          </a:p>
          <a:p>
            <a:r>
              <a:t>Say: what you believed → what happened → what changed → how you think now.</a:t>
            </a:r>
          </a:p>
          <a:p>
            <a:r>
              <a:t>Useful starters: “I used to think…” / “Then I realised…” / “Now I see… as…” / “It has helped me to…”</a:t>
            </a:r>
          </a:p>
          <a:p>
            <a:r>
              <a:t>“I used to think… but now…” 对比过去与现在。</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Psychologists describe two broad mindsets. People with a fixed mindset believe abilities are mostly set at birth, so failure feels like proof of limits. People with a growth mindset believe skills can develop through effort, good strategies and feedback, so failure becomes information. Most of us have both, depending on the situation. You might feel confident about learning languages but convinced you are “bad at numbers”. A simple way to start shifting is to add the word “yet”: instead of “I can’t present”, say “I can’t present confidently yet”. Another is to praise effort and strategy rather than talent alone. Of course, mindset is not magic; opportunity, support and resources matter too. But believing that improvement is possible makes it more likely that you will try, persist and finally improve.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a fixed mindset see failure?</a:t>
            </a:r>
          </a:p>
          <a:p>
            <a:r>
              <a:t>A: As proof of limits.</a:t>
            </a:r>
          </a:p>
          <a:p>
            <a:r>
              <a:t>Q2. What does adding “yet” do?</a:t>
            </a:r>
          </a:p>
          <a:p>
            <a:r>
              <a:t>A: It turns a fixed statement into a possibility to improve.</a:t>
            </a:r>
          </a:p>
          <a:p>
            <a:r>
              <a:t>Q3. Does the writer say mindset is enough?</a:t>
            </a:r>
          </a:p>
          <a:p>
            <a:r>
              <a:t>A: No; opportunity, support and resources matter too.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Mindset 心态</a:t>
            </a:r>
          </a:p>
          <a:p>
            <a:r>
              <a:t>领读 → 学员跟读 → 请学员用表达造一个和自己工作相关的句子。</a:t>
            </a:r>
          </a:p>
          <a:p>
            <a:r>
              <a:t>mindset (noun) 心态 — “A positive mindset helps.”</a:t>
            </a:r>
          </a:p>
          <a:p>
            <a:r>
              <a:t>fixed / growth mindset (noun) 固定/成长型思维 — “She has a growth mindset.”</a:t>
            </a:r>
          </a:p>
          <a:p>
            <a:r>
              <a:t>self-belief (noun) 自信 — “Self-belief grows with practice.”</a:t>
            </a:r>
          </a:p>
          <a:p>
            <a:r>
              <a:t>★ limiting belief (noun) 自我设限的想法 — “That’s a limiting belief.”</a:t>
            </a:r>
          </a:p>
          <a:p>
            <a:r>
              <a:t>★ reframe (verb) 重新定义 — “Reframe failure as feedback.”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Growth 成长</a:t>
            </a:r>
          </a:p>
          <a:p>
            <a:r>
              <a:t>领读 → 学员跟读 → 请学员用表达造一个和自己工作相关的句子。</a:t>
            </a:r>
          </a:p>
          <a:p>
            <a:r>
              <a:t>step out of your comfort zone (collocation) 走出舒适区 — “Step out of your comfort zone.”</a:t>
            </a:r>
          </a:p>
          <a:p>
            <a:r>
              <a:t>learn from failure (collocation) 从失败中学习 — “We learn from failure.”</a:t>
            </a:r>
          </a:p>
          <a:p>
            <a:r>
              <a:t>persevere / persist (verb) 坚持 — “Persevere when it’s hard.”</a:t>
            </a:r>
          </a:p>
          <a:p>
            <a:r>
              <a:t>★ resilience (noun) 韧性 — “Resilience can be built.”</a:t>
            </a:r>
          </a:p>
          <a:p>
            <a:r>
              <a:t>★ get back on your feet (idiom) 重新振作 — “She got back on her feet.”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Encouraging 鼓励</a:t>
            </a:r>
          </a:p>
          <a:p>
            <a:r>
              <a:t>领读 → 学员跟读 → 请学员用表达造一个和自己工作相关的句子。</a:t>
            </a:r>
          </a:p>
          <a:p>
            <a:r>
              <a:t>I believe in you (phrase) 我相信你 — “I believe in you.”</a:t>
            </a:r>
          </a:p>
          <a:p>
            <a:r>
              <a:t>You’re making progress (phrase) 你在进步 — “You’re making progress.”</a:t>
            </a:r>
          </a:p>
          <a:p>
            <a:r>
              <a:t>Don’t be so hard on yourself (phrase) 别对自己太苛刻 — “Don’t be so hard on yourself.”</a:t>
            </a:r>
          </a:p>
          <a:p>
            <a:r>
              <a:t>★ keep at it (phrasal verb) 坚持下去 — “Keep at it, you’ll get there.”</a:t>
            </a:r>
          </a:p>
          <a:p>
            <a:r>
              <a:t>★ one step at a time (idiom) 一步一步来 — “Take it one step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mindset / belief / comfort / persevere / resilience / progress</a:t>
            </a:r>
          </a:p>
          <a:p>
            <a:r>
              <a:t>1. A positive _______ helps in hard times. → mindset</a:t>
            </a:r>
          </a:p>
          <a:p>
            <a:r>
              <a:t>2. That’s a limiting _______. → belief</a:t>
            </a:r>
          </a:p>
          <a:p>
            <a:r>
              <a:t>3. Try to step out of your _______ zone. → comfort</a:t>
            </a:r>
          </a:p>
          <a:p>
            <a:r>
              <a:t>4. You need to _______ when things get hard. → persevere</a:t>
            </a:r>
          </a:p>
          <a:p>
            <a:r>
              <a:t>5. We can all build _______ over time. → resilience</a:t>
            </a:r>
          </a:p>
          <a:p>
            <a:r>
              <a:t>6. You’re making real _______. → progress</a:t>
            </a:r>
          </a:p>
          <a:p>
            <a:r>
              <a:t>Mistake Watch: (搭配) step out of / leave your comfort zone,make progress(不可数),believe IN yourself。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Encouraging a colleague 鼓励同事</a:t>
            </a:r>
          </a:p>
          <a:p>
            <a:r>
              <a:t>情景：A colleague doubts themselves.</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I’m just not good at presenting. I’ll never be able to do it.</a:t>
            </a:r>
          </a:p>
          <a:p>
            <a:r>
              <a:t>B: Not yet, maybe. You’ve improved a lot since last month.</a:t>
            </a:r>
          </a:p>
          <a:p>
            <a:r>
              <a:t>A: Really? I still get nervous.</a:t>
            </a:r>
          </a:p>
          <a:p>
            <a:r>
              <a:t>B: That’s normal. Don’t be so hard on yourself.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should I do?</a:t>
            </a:r>
          </a:p>
          <a:p>
            <a:r>
              <a:t>B: Take it one step at a time. Start with a short update at the next meeting.</a:t>
            </a:r>
          </a:p>
          <a:p>
            <a:r>
              <a:t>A: OK. I’ll try.</a:t>
            </a:r>
          </a:p>
          <a:p>
            <a:r>
              <a:t>B: I believe in you. Keep at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encourage a doubtful colleague.</a:t>
            </a:r>
          </a:p>
          <a:p>
            <a:r>
              <a:t>Your role (A) | Colleague. Doubt: ______________</a:t>
            </a:r>
          </a:p>
          <a:p>
            <a:r>
              <a:t>Partner’s role (B) | You.</a:t>
            </a:r>
          </a:p>
          <a:p>
            <a:r>
              <a:t>Must use (3 or more) | not yet · don’t be so hard on yourself · one step at a time · keep at it · I believe in you</a:t>
            </a:r>
          </a:p>
          <a:p>
            <a:r>
              <a:t>Goal | Be encouraging, honest and practical.</a:t>
            </a:r>
          </a:p>
          <a:p>
            <a:r>
              <a:t>My notes | ____________________________________________</a:t>
            </a:r>
          </a:p>
          <a:p>
            <a:r>
              <a:t>Give a specific example of progress.</a:t>
            </a:r>
          </a:p>
          <a:p>
            <a:r>
              <a:t>Avoid empty praise.</a:t>
            </a:r>
          </a:p>
          <a:p>
            <a:r>
              <a:t>Offer to practise together.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Sharing a mindset change 分享心态转变</a:t>
            </a:r>
          </a:p>
          <a:p>
            <a:r>
              <a:t>情景：A coffee chat.</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seem more confident lately. What changed?</a:t>
            </a:r>
          </a:p>
          <a:p>
            <a:r>
              <a:t>B: I used to think I was bad at maths, so I avoided numbers.</a:t>
            </a:r>
          </a:p>
          <a:p>
            <a:r>
              <a:t>A: And now?</a:t>
            </a:r>
          </a:p>
          <a:p>
            <a:r>
              <a:t>B: I took a short course and saw I could improve. Now I see mistakes as feedback.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big shift.</a:t>
            </a:r>
          </a:p>
          <a:p>
            <a:r>
              <a:t>B: It really is. It helped me to say “I can’t do it yet”.</a:t>
            </a:r>
          </a:p>
          <a:p>
            <a:r>
              <a:t>A: I might try that.</a:t>
            </a:r>
          </a:p>
          <a:p>
            <a:r>
              <a:t>B: You should. It makes a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share a mindset change.</a:t>
            </a:r>
          </a:p>
          <a:p>
            <a:r>
              <a:t>Your role (A) | Friend.</a:t>
            </a:r>
          </a:p>
          <a:p>
            <a:r>
              <a:t>Partner’s role (B) | You. Belief: ______________</a:t>
            </a:r>
          </a:p>
          <a:p>
            <a:r>
              <a:t>Must use (3 or more) | used to think · now I see · reframe · shift · makes a difference</a:t>
            </a:r>
          </a:p>
          <a:p>
            <a:r>
              <a:t>Goal | Describe the old belief, the turning point and the new view.</a:t>
            </a:r>
          </a:p>
          <a:p>
            <a:r>
              <a:t>My notes | ____________________________________________</a:t>
            </a:r>
          </a:p>
          <a:p>
            <a:r>
              <a:t>Add what you’d tell your younger self.</a:t>
            </a:r>
          </a:p>
          <a:p>
            <a:r>
              <a:t>Admit it’s still hard sometimes.</a:t>
            </a:r>
          </a:p>
          <a:p>
            <a:r>
              <a:t>Recommend a book or habit.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Can anyone develop a growth mindset? | “I think so, but…”</a:t>
            </a:r>
          </a:p>
          <a:p>
            <a:r>
              <a:t>2. Is “believe in yourself” enough? | “Not by itself, because…”</a:t>
            </a:r>
          </a:p>
          <a:p>
            <a:r>
              <a:t>3. How do you react to failure? | “I tend to…”</a:t>
            </a:r>
          </a:p>
          <a:p>
            <a:r>
              <a:t>4. What are the limits of positive thinking? | “It can’t replace…”</a:t>
            </a:r>
          </a:p>
          <a:p>
            <a:r>
              <a:t>5. How can managers encourage a growth mindset? | “By…”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 I don’t think belief alone is enough. People also need skills, support and opportunities. For example, someone who believes they can become a pilot still needs training and money. But a positive belief makes people try harder and keep going, so it’s a useful starting point, not the whole answer.”</a:t>
            </a:r>
          </a:p>
          <a:p>
            <a:r>
              <a:t>“starting point” 起点;“not the whole answer” 并非全部答案。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habits and change 过去习惯与改变</a:t>
            </a:r>
          </a:p>
          <a:p>
            <a:r>
              <a:t>Structure | Example</a:t>
            </a:r>
          </a:p>
          <a:p>
            <a:r>
              <a:t>used to + base | I used to avoid numbers.</a:t>
            </a:r>
          </a:p>
          <a:p>
            <a:r>
              <a:t>no longer / not any more | I no longer believe that.</a:t>
            </a:r>
          </a:p>
          <a:p>
            <a:r>
              <a:t>have started/begun to | I’ve started to see mistakes as feedback.</a:t>
            </a:r>
          </a:p>
          <a:p>
            <a:r>
              <a:t>I’m getting better at… | I’m getting better at asking for help.</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Past habits and change 过去习惯与改变</a:t>
            </a:r>
          </a:p>
          <a:p>
            <a:r>
              <a:t>Used to shows a past state that is no longer true. Would can show past habits, not states.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used to thinking I was bad.  →  ✓ I used to think I was bad.  (used to + 原形)</a:t>
            </a:r>
          </a:p>
          <a:p>
            <a:r>
              <a:t>✗ I am not good at present.  →  ✓ I’m not good at presenting.  (presenting)</a:t>
            </a:r>
          </a:p>
          <a:p>
            <a:r>
              <a:t>✗ I have changed my mind since two weeks.  →  ✓ I changed my mind two weeks ago.  (ago)</a:t>
            </a:r>
          </a:p>
          <a:p>
            <a:r>
              <a:t>Mistake Watch: Check used to + base, believe in myself, make mistakes, ago.</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Failure makes me to feel bad.  →  ✓ Failure makes me feel bad.  (make + 原形)</a:t>
            </a:r>
          </a:p>
          <a:p>
            <a:r>
              <a:t>✗ I don’t believe me.  →  ✓ I don’t believe in myself.  (believe in)</a:t>
            </a:r>
          </a:p>
          <a:p>
            <a:r>
              <a:t>✗ I always do mistakes.  →  ✓ I always make mistakes.  (make mistakes)</a:t>
            </a:r>
          </a:p>
          <a:p>
            <a:r>
              <a:t>Mistake Watch: Check used to + base, believe in myself, make mistakes, ago.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Positive but realistic. English speakers value encouragement, but avoid empty praise.</a:t>
            </a:r>
          </a:p>
          <a:p>
            <a:r>
              <a:t>Share your learning. “I’ve been working on…” is a normal conversation opener.</a:t>
            </a:r>
          </a:p>
          <a:p>
            <a:r>
              <a:t>Praise effort. “I can see how hard you’ve worked” is meaningful.</a:t>
            </a:r>
          </a:p>
          <a:p>
            <a:r>
              <a:t>Self-help is popular. Books on mindset and habits are widely discussed.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fixed and growth mindsets.</a:t>
            </a:r>
          </a:p>
          <a:p>
            <a:r>
              <a:t>I can encourage others with natural phrases.</a:t>
            </a:r>
          </a:p>
          <a:p>
            <a:r>
              <a:t>I can describe a change using used to… now…</a:t>
            </a:r>
          </a:p>
          <a:p>
            <a:r>
              <a:t>I use used to + base and believe in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a 60-second story about a belief you changed.</a:t>
            </a:r>
          </a:p>
          <a:p>
            <a:r>
              <a:t>8–10 | Listen to your recording. Check: used to + base, believe in, make mistakes, ago.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82 · Tiny tasks become monsters 小任务变成大怪兽</a:t>
            </a:r>
          </a:p>
          <a:p>
            <a:r>
              <a:t>Goal: talk about procrastination, why small tasks grow, and practical ways to start and finish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“procrastinate” 拖延;“put off” 推迟;“monster” 怪兽(比喻越拖越大的任务)。</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small tasks grow when delayed and how you deal with it.</a:t>
            </a:r>
          </a:p>
          <a:p>
            <a:r>
              <a:t>Say: the task → why delayed → how it grows → how you start.</a:t>
            </a:r>
          </a:p>
          <a:p>
            <a:r>
              <a:t>Useful starters: “I tend to put off…” / “The longer I wait, the…” / “What helps me is…” / “Once I start, …”</a:t>
            </a:r>
          </a:p>
          <a:p>
            <a:r>
              <a:t>“the longer…, the more…” 越…越…。</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reply to a colleague takes two minutes, so we leave it for later. Tomorrow it feels slightly awkward. By next week, it has become a guilty weight, and we imagine long explanations, apologies and awkward answers. The task itself has not changed, but our thoughts about it have grown into a monster. Psychologists say that procrastination is less about laziness and more about avoiding uncomfortable feelings, such as boredom, anxiety or fear of doing it badly. Practical remedies focus on making the first step tiny. Promise yourself two minutes. Write one sentence of the email. Put your running shoes by the door. Once you start, the resistance often fades. It also helps to tell someone your plan, and to finish a small task before it grows.</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small tasks become monsters?</a:t>
            </a:r>
          </a:p>
          <a:p>
            <a:r>
              <a:t>A: Because our thoughts about them grow while we delay.</a:t>
            </a:r>
          </a:p>
          <a:p>
            <a:r>
              <a:t>Q2. What is procrastination mostly about?</a:t>
            </a:r>
          </a:p>
          <a:p>
            <a:r>
              <a:t>A: Avoiding uncomfortable feelings such as boredom or anxiety.</a:t>
            </a:r>
          </a:p>
          <a:p>
            <a:r>
              <a:t>Q3. What is a practical remedy?</a:t>
            </a:r>
          </a:p>
          <a:p>
            <a:r>
              <a:t>A: Make the first step tiny, such as two minutes or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Procrastination 拖延</a:t>
            </a:r>
          </a:p>
          <a:p>
            <a:r>
              <a:t>领读 → 学员跟读 → 请学员用表达造一个和自己工作相关的句子。</a:t>
            </a:r>
          </a:p>
          <a:p>
            <a:r>
              <a:t>procrastinate (verb) 拖延 — “I procrastinate on emails.”</a:t>
            </a:r>
          </a:p>
          <a:p>
            <a:r>
              <a:t>put off (phrasal verb) 推迟 — “I keep putting it off.”</a:t>
            </a:r>
          </a:p>
          <a:p>
            <a:r>
              <a:t>avoid (verb) 回避 — “I avoid difficult calls.”</a:t>
            </a:r>
          </a:p>
          <a:p>
            <a:r>
              <a:t>★ drag your feet (idiom) 拖拖拉拉 — “He’s dragging his feet on it.”</a:t>
            </a:r>
          </a:p>
          <a:p>
            <a:r>
              <a:t>★ leave it until the last minute (phrase) 拖到最后一刻 — “I left it until the last minute.”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Why tasks grow 为什么越拖越大</a:t>
            </a:r>
          </a:p>
          <a:p>
            <a:r>
              <a:t>领读 → 学员跟读 → 请学员用表达造一个和自己工作相关的句子。</a:t>
            </a:r>
          </a:p>
          <a:p>
            <a:r>
              <a:t>pile up (phrasal verb) 堆积 — “Emails pile up.”</a:t>
            </a:r>
          </a:p>
          <a:p>
            <a:r>
              <a:t>snowball (verb) 越滚越大 — “The problem snowballed.”</a:t>
            </a:r>
          </a:p>
          <a:p>
            <a:r>
              <a:t>a mental block (noun) 心理障碍 — “I have a mental block about it.”</a:t>
            </a:r>
          </a:p>
          <a:p>
            <a:r>
              <a:t>★ the elephant in the room (idiom) 大家都回避的问题 — “That email is the elephant in the room.”</a:t>
            </a:r>
          </a:p>
          <a:p>
            <a:r>
              <a:t>★ a guilty weight (noun) 愧疚的负担 — “It became a guilty weight.”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Getting started 开始行动</a:t>
            </a:r>
          </a:p>
          <a:p>
            <a:r>
              <a:t>领读 → 学员跟读 → 请学员用表达造一个和自己工作相关的句子。</a:t>
            </a:r>
          </a:p>
          <a:p>
            <a:r>
              <a:t>get the ball rolling (idiom) 开个头 — “Let’s get the ball rolling.”</a:t>
            </a:r>
          </a:p>
          <a:p>
            <a:r>
              <a:t>break it down (phrasal verb) 拆分 — “Break the task down.”</a:t>
            </a:r>
          </a:p>
          <a:p>
            <a:r>
              <a:t>tackle (verb) 处理 — “Tackle the hardest task first.”</a:t>
            </a:r>
          </a:p>
          <a:p>
            <a:r>
              <a:t>★ the two-minute rule (noun) 两分钟法则 — “Use the two-minute rule.”</a:t>
            </a:r>
          </a:p>
          <a:p>
            <a:r>
              <a:t>★ eat the frog (idiom) 先做最难的 — “Eat the frog first.”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procrastinate / off / pile / snowball / break / tackle</a:t>
            </a:r>
          </a:p>
          <a:p>
            <a:r>
              <a:t>1. I tend to _______ when I’m anxious. → procrastinate</a:t>
            </a:r>
          </a:p>
          <a:p>
            <a:r>
              <a:t>2. I keep putting it _______. → off</a:t>
            </a:r>
          </a:p>
          <a:p>
            <a:r>
              <a:t>3. Unanswered emails _______ up quickly. → pile</a:t>
            </a:r>
          </a:p>
          <a:p>
            <a:r>
              <a:t>4. A small issue can _______ if you ignore it. → snowball</a:t>
            </a:r>
          </a:p>
          <a:p>
            <a:r>
              <a:t>5. Try to _______ the task down into steps. → break</a:t>
            </a:r>
          </a:p>
          <a:p>
            <a:r>
              <a:t>6. I try to _______ the hardest task first. → tackle</a:t>
            </a:r>
          </a:p>
          <a:p>
            <a:r>
              <a:t>Mistake Watch: (搭配) put off doing (动名词),put it off,pile up;procrastination 拼写。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Admitting procrastination 承认拖延</a:t>
            </a:r>
          </a:p>
          <a:p>
            <a:r>
              <a:t>情景：You talk to a colleague.</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Did you reply to the client yet?</a:t>
            </a:r>
          </a:p>
          <a:p>
            <a:r>
              <a:t>B: Not yet. I keep putting it off. I think it’s become a monster.</a:t>
            </a:r>
          </a:p>
          <a:p>
            <a:r>
              <a:t>A: What’s so difficult?</a:t>
            </a:r>
          </a:p>
          <a:p>
            <a:r>
              <a:t>B: I made a mistake last month, and I don’t know how to start.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Just write one sentence. “I’m writing to follow up on my earlier note.”</a:t>
            </a:r>
          </a:p>
          <a:p>
            <a:r>
              <a:t>B: That’s easy enough.</a:t>
            </a:r>
          </a:p>
          <a:p>
            <a:r>
              <a:t>A: Once you start, the rest comes naturally.</a:t>
            </a:r>
          </a:p>
          <a:p>
            <a:r>
              <a:t>B: You’re right. I’ll do it now.</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help someone start.</a:t>
            </a:r>
          </a:p>
          <a:p>
            <a:r>
              <a:t>Your role (A) | Colleague who helps.</a:t>
            </a:r>
          </a:p>
          <a:p>
            <a:r>
              <a:t>Partner’s role (B) | Procrastinator. Task: ______________</a:t>
            </a:r>
          </a:p>
          <a:p>
            <a:r>
              <a:t>Must use (3 or more) | put off · it’s become a monster · just write one sentence · once you start · get the ball rolling</a:t>
            </a:r>
          </a:p>
          <a:p>
            <a:r>
              <a:t>Goal | Encourage a first small step.</a:t>
            </a:r>
          </a:p>
          <a:p>
            <a:r>
              <a:t>My notes | ____________________________________________</a:t>
            </a:r>
          </a:p>
          <a:p>
            <a:r>
              <a:t>Offer to sit with them.</a:t>
            </a:r>
          </a:p>
          <a:p>
            <a:r>
              <a:t>Set a two-minute timer.</a:t>
            </a:r>
          </a:p>
          <a:p>
            <a:r>
              <a:t>Plan a reward.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to tackle a backlog 计划处理积压任务</a:t>
            </a:r>
          </a:p>
          <a:p>
            <a:r>
              <a:t>情景：You talk to your manager.</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have a pile of small tasks I’ve put off. They’re starting to snowball.</a:t>
            </a:r>
          </a:p>
          <a:p>
            <a:r>
              <a:t>B: How many are there?</a:t>
            </a:r>
          </a:p>
          <a:p>
            <a:r>
              <a:t>A: About twelve. Most take ten minutes.</a:t>
            </a:r>
          </a:p>
          <a:p>
            <a:r>
              <a:t>B: Why not block out an hour on Friday to clear them?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Good idea. I’ll start with the ones I’m avoiding.</a:t>
            </a:r>
          </a:p>
          <a:p>
            <a:r>
              <a:t>B: Eat the frog first. You’ll feel better.</a:t>
            </a:r>
          </a:p>
          <a:p>
            <a:r>
              <a:t>A: I will. I’ll tell you when it’s done.</a:t>
            </a:r>
          </a:p>
          <a:p>
            <a:r>
              <a:t>B: Perfect.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plan to clear a backlog.</a:t>
            </a:r>
          </a:p>
          <a:p>
            <a:r>
              <a:t>Your role (A) | Employee. Tasks: ______________</a:t>
            </a:r>
          </a:p>
          <a:p>
            <a:r>
              <a:t>Partner’s role (B) | Manager.</a:t>
            </a:r>
          </a:p>
          <a:p>
            <a:r>
              <a:t>Must use (3 or more) | pile of small tasks · snowball · block out an hour · avoid · eat the frog</a:t>
            </a:r>
          </a:p>
          <a:p>
            <a:r>
              <a:t>Goal | Describe the problem and agree a plan.</a:t>
            </a:r>
          </a:p>
          <a:p>
            <a:r>
              <a:t>My notes | ____________________________________________</a:t>
            </a:r>
          </a:p>
          <a:p>
            <a:r>
              <a:t>Prioritise by effort.</a:t>
            </a:r>
          </a:p>
          <a:p>
            <a:r>
              <a:t>Delegate one task.</a:t>
            </a:r>
          </a:p>
          <a:p>
            <a:r>
              <a:t>Report back after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procrastinate? | “Often because…”</a:t>
            </a:r>
          </a:p>
          <a:p>
            <a:r>
              <a:t>2. Does deadline pressure help? | “For some, but…”</a:t>
            </a:r>
          </a:p>
          <a:p>
            <a:r>
              <a:t>3. What is your best method to start a task? | “I usually…”</a:t>
            </a:r>
          </a:p>
          <a:p>
            <a:r>
              <a:t>4. Is procrastination a sign of laziness? | “I don’t think so, because…”</a:t>
            </a:r>
          </a:p>
          <a:p>
            <a:r>
              <a:t>5. How can teams avoid unfinished tasks? | “By…”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“My best method is to make the first step very small. If I have to write a report, I just write the title and one heading. That removes the fear of the empty page, and once I’ve started, it’s easier to continue. I also tell a colleague my plan so I feel accountable.”</a:t>
            </a:r>
          </a:p>
          <a:p>
            <a:r>
              <a:t>“accountable” 有责任感的;“the empty page” 空白页。</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 the more… 越…越…</a:t>
            </a:r>
          </a:p>
          <a:p>
            <a:r>
              <a:t>Structure | Example</a:t>
            </a:r>
          </a:p>
          <a:p>
            <a:r>
              <a:t>The + comparative, the + comparative | The longer I wait, the worse it feels.</a:t>
            </a:r>
          </a:p>
          <a:p>
            <a:r>
              <a:t>once + present | Once you start, it’s easier.</a:t>
            </a:r>
          </a:p>
          <a:p>
            <a:r>
              <a:t>as soon as + present | I’ll do it as soon as I get back.</a:t>
            </a:r>
          </a:p>
          <a:p>
            <a:r>
              <a:t>before + present | Do it before it grows.</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longer… the more… 越…越…</a:t>
            </a:r>
          </a:p>
          <a:p>
            <a:r>
              <a:t>In time clauses with once, as soon as, before, when, use the present simple for the future.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more I wait, the more big it becomes.  →  ✓ The longer I wait, the bigger it becomes.  (比较级)</a:t>
            </a:r>
          </a:p>
          <a:p>
            <a:r>
              <a:t>✗ Once I will start, it’s easy.  →  ✓ Once I start, it’s easy.  (现在时)</a:t>
            </a:r>
          </a:p>
          <a:p>
            <a:r>
              <a:t>✗ I postponed to reply.  →  ✓ I postponed replying. / put off replying  (postpone + -ing)</a:t>
            </a:r>
          </a:p>
          <a:p>
            <a:r>
              <a:t>Mistake Watch: Check comparative pairs, present simple in time clauses, put off + -ing.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procrastinate.  →  ✓ I procrastinate. / I’m procrastinating.  (动词)</a:t>
            </a:r>
          </a:p>
          <a:p>
            <a:r>
              <a:t>✗ I have a lot of tiny task.  →  ✓ I have a lot of tiny tasks.  (复数)</a:t>
            </a:r>
          </a:p>
          <a:p>
            <a:r>
              <a:t>✗ I’ll do it when I will have time.  →  ✓ I’ll do it when I have time.  (现在时)</a:t>
            </a:r>
          </a:p>
          <a:p>
            <a:r>
              <a:t>Mistake Watch: Check comparative pairs, present simple in time clauses, put off + -ing.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it early. “I’m behind on this, can we agree a new date?” is better than silence.</a:t>
            </a:r>
          </a:p>
          <a:p>
            <a:r>
              <a:t>Don’t apologise too much. One “sorry for the delay” is enough.</a:t>
            </a:r>
          </a:p>
          <a:p>
            <a:r>
              <a:t>Timeboxing (fixed time slots) is a popular method in English-speaking offices.</a:t>
            </a:r>
          </a:p>
          <a:p>
            <a:r>
              <a:t>Humour helps. “Procrastination is my superpower” can lighten the mood.</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procrastination and why tasks grow.</a:t>
            </a:r>
          </a:p>
          <a:p>
            <a:r>
              <a:t>I can suggest first steps to someone stuck.</a:t>
            </a:r>
          </a:p>
          <a:p>
            <a:r>
              <a:t>I can use the more/longer…, the more… correctly.</a:t>
            </a:r>
          </a:p>
          <a:p>
            <a:r>
              <a:t>I use present simple in time clauses and put off + -ing.</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how you start a task you’re avoiding, in 60 seconds.</a:t>
            </a:r>
          </a:p>
          <a:p>
            <a:r>
              <a:t>8–10 | Listen to your recording. Check: the longer the bigger, time clauses, put off -ing.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83 · The poverty trap 贫困陷阱</a:t>
            </a:r>
          </a:p>
          <a:p>
            <a:r>
              <a:t>Goal: discuss how low income and scarcity can trap people in a cycle, and talk about social issues with empathy and care.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“poverty trap” 贫困陷阱。谈贫困话题要尊重,避免责备个人;多用 “people on low incomes”。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a poverty trap is, with an example.</a:t>
            </a:r>
          </a:p>
          <a:p>
            <a:r>
              <a:t>Say: definition → how it works → example → possible solutions.</a:t>
            </a:r>
          </a:p>
          <a:p>
            <a:r>
              <a:t>Useful starters: “A poverty trap is when…” / “One reason is that…” / “For example, …” / “Possible solutions include…”</a:t>
            </a:r>
          </a:p>
          <a:p>
            <a:r>
              <a:t>“A poverty trap is when…” 下定义;“possible solutions include…” 列举。</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poverty trap is a situation where low income makes it very hard to improve one’s circumstances, so the situation continues across years or even generations. The reasons are linked. People on low incomes may not be able to afford training, reliable transport or a deposit for better housing. Emergencies, such as a broken car or illness, can wipe out savings. Constant worry about money also uses up mental energy, which can make long-term planning harder. This is not a personal failure; it is a result of pressure on limited resources. Solutions include access to affordable education, stable work with predictable hours, savings support and fair credit. Employers can help by paying fairly, offering advance notice of shifts, and providing training. When people have a little security, they can plan, invest and take opportunities.</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a poverty trap?</a:t>
            </a:r>
          </a:p>
          <a:p>
            <a:r>
              <a:t>A: Low income makes improving one’s situation very hard, continuing over years.</a:t>
            </a:r>
          </a:p>
          <a:p>
            <a:r>
              <a:t>Q2. Why can emergencies be so serious?</a:t>
            </a:r>
          </a:p>
          <a:p>
            <a:r>
              <a:t>A: They can wipe out savings.</a:t>
            </a:r>
          </a:p>
          <a:p>
            <a:r>
              <a:t>Q3. Name two ways employers can help.</a:t>
            </a:r>
          </a:p>
          <a:p>
            <a:r>
              <a:t>A: Pay fairly, give advance notice of shifts, provide training.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Poverty and income 贫困与收入</a:t>
            </a:r>
          </a:p>
          <a:p>
            <a:r>
              <a:t>领读 → 学员跟读 → 请学员用表达造一个和自己工作相关的句子。</a:t>
            </a:r>
          </a:p>
          <a:p>
            <a:r>
              <a:t>low-income (adjective) 低收入的 — “Low-income families struggle.”</a:t>
            </a:r>
          </a:p>
          <a:p>
            <a:r>
              <a:t>cost of living (noun) 生活成本 — “The cost of living is rising.”</a:t>
            </a:r>
          </a:p>
          <a:p>
            <a:r>
              <a:t>living wage (noun) 生活工资 — “We pay a living wage.”</a:t>
            </a:r>
          </a:p>
          <a:p>
            <a:r>
              <a:t>★ hand to mouth (idiom) 勉强糊口 — “They live hand to mouth.”</a:t>
            </a:r>
          </a:p>
          <a:p>
            <a:r>
              <a:t>★ paycheck to paycheck (idiom) 月光 — “Many people live paycheck to paycheck.”</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The trap 陷阱</a:t>
            </a:r>
          </a:p>
          <a:p>
            <a:r>
              <a:t>领读 → 学员跟读 → 请学员用表达造一个和自己工作相关的句子。</a:t>
            </a:r>
          </a:p>
          <a:p>
            <a:r>
              <a:t>vicious circle / cycle (noun) 恶性循环 — “It’s a vicious circle.”</a:t>
            </a:r>
          </a:p>
          <a:p>
            <a:r>
              <a:t>afford (verb) 负担得起 — “They can’t afford it.”</a:t>
            </a:r>
          </a:p>
          <a:p>
            <a:r>
              <a:t>savings (noun) 储蓄 — “He has no savings.”</a:t>
            </a:r>
          </a:p>
          <a:p>
            <a:r>
              <a:t>★ a safety net (noun) 安全网 — “Welfare is a safety net.”</a:t>
            </a:r>
          </a:p>
          <a:p>
            <a:r>
              <a:t>★ social mobility (noun) 社会流动 — “Education supports social mobility.”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Solutions 解决办法</a:t>
            </a:r>
          </a:p>
          <a:p>
            <a:r>
              <a:t>领读 → 学员跟读 → 请学员用表达造一个和自己工作相关的句子。</a:t>
            </a:r>
          </a:p>
          <a:p>
            <a:r>
              <a:t>access to education (noun) 受教育机会 — “Access to education matters.”</a:t>
            </a:r>
          </a:p>
          <a:p>
            <a:r>
              <a:t>job security (noun) 工作稳定 — “Job security helps planning.”</a:t>
            </a:r>
          </a:p>
          <a:p>
            <a:r>
              <a:t>financial support (noun) 财务支持 — “We offer financial support.”</a:t>
            </a:r>
          </a:p>
          <a:p>
            <a:r>
              <a:t>★ break the cycle (collocation) 打破循环 — “Education can break the cycle.”</a:t>
            </a:r>
          </a:p>
          <a:p>
            <a:r>
              <a:t>★ level the playing field (idiom) 营造公平 — “Policies can level the playing field.”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income / living / circle / afford / mobility / cycle</a:t>
            </a:r>
          </a:p>
          <a:p>
            <a:r>
              <a:t>1. Low-_______ families struggle most. → income</a:t>
            </a:r>
          </a:p>
          <a:p>
            <a:r>
              <a:t>2. The cost of _______ is rising. → living</a:t>
            </a:r>
          </a:p>
          <a:p>
            <a:r>
              <a:t>3. It’s a vicious _______. → circle</a:t>
            </a:r>
          </a:p>
          <a:p>
            <a:r>
              <a:t>4. They can’t _______ a deposit. → afford</a:t>
            </a:r>
          </a:p>
          <a:p>
            <a:r>
              <a:t>5. Education supports social _______. → mobility</a:t>
            </a:r>
          </a:p>
          <a:p>
            <a:r>
              <a:t>6. We want to help break the _______. → cycle</a:t>
            </a:r>
          </a:p>
          <a:p>
            <a:r>
              <a:t>Mistake Watch: (搭配) afford TO buy / afford something,the cost of living,on a low income;poverty 不可数。</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a social issue with empathy 带同理心讨论社会问题</a:t>
            </a:r>
          </a:p>
          <a:p>
            <a:r>
              <a:t>情景：Colleagues talk after a news report.</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report said many families live paycheck to paycheck.</a:t>
            </a:r>
          </a:p>
          <a:p>
            <a:r>
              <a:t>B: It must be stressful. One emergency can wipe out their savings.</a:t>
            </a:r>
          </a:p>
          <a:p>
            <a:r>
              <a:t>A: Some people say they should just work harder.</a:t>
            </a:r>
          </a:p>
          <a:p>
            <a:r>
              <a:t>B: Many already work hard. The problem is often costs and unstable hours.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could help?</a:t>
            </a:r>
          </a:p>
          <a:p>
            <a:r>
              <a:t>B: Fair pay, predictable shifts and access to training.</a:t>
            </a:r>
          </a:p>
          <a:p>
            <a:r>
              <a:t>A: That makes sense.</a:t>
            </a:r>
          </a:p>
          <a:p>
            <a:r>
              <a:t>B: It’s about removing barriers, not blaming people.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discuss poverty with empathy.</a:t>
            </a:r>
          </a:p>
          <a:p>
            <a:r>
              <a:t>Your role (A) | Colleague.</a:t>
            </a:r>
          </a:p>
          <a:p>
            <a:r>
              <a:t>Partner’s role (B) | You. Issue: ______________</a:t>
            </a:r>
          </a:p>
          <a:p>
            <a:r>
              <a:t>Must use (3 or more) | paycheck to paycheck · wipe out · barriers · fair pay · not blaming</a:t>
            </a:r>
          </a:p>
          <a:p>
            <a:r>
              <a:t>Goal | Explain causes and solutions without judging.</a:t>
            </a:r>
          </a:p>
          <a:p>
            <a:r>
              <a:t>My notes | ____________________________________________</a:t>
            </a:r>
          </a:p>
          <a:p>
            <a:r>
              <a:t>Use “people on low incomes”.</a:t>
            </a:r>
          </a:p>
          <a:p>
            <a:r>
              <a:t>Give a specific policy.</a:t>
            </a:r>
          </a:p>
          <a:p>
            <a:r>
              <a:t>Acknowledge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Proposing support for staff 提议支持员工</a:t>
            </a:r>
          </a:p>
          <a:p>
            <a:r>
              <a:t>情景：You suggest a workplace policy.</a:t>
            </a:r>
          </a:p>
          <a:p>
            <a:r>
              <a:t>Role A: HR Role B: Finance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Some of our lowest-paid staff struggle with unexpected costs.</a:t>
            </a:r>
          </a:p>
          <a:p>
            <a:r>
              <a:t>B: What do you suggest?</a:t>
            </a:r>
          </a:p>
          <a:p>
            <a:r>
              <a:t>A: An emergency fund, and shift schedules two weeks in advance.</a:t>
            </a:r>
          </a:p>
          <a:p>
            <a:r>
              <a:t>B: What would it cost?</a:t>
            </a:r>
          </a:p>
          <a:p>
            <a:r>
              <a:t>A: About the same as one month of turnover costs.</a:t>
            </a:r>
          </a:p>
          <a:p>
            <a:r>
              <a:t>B: And the benefit?</a:t>
            </a:r>
          </a:p>
          <a:p>
            <a:r>
              <a:t>A: Less stress, fewer absences and stronger loyalty.</a:t>
            </a:r>
          </a:p>
          <a:p>
            <a:r>
              <a:t>B: Let’s run a trial in one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propose staff support.</a:t>
            </a:r>
          </a:p>
          <a:p>
            <a:r>
              <a:t>Your role (A) | HR. Proposal: ______________</a:t>
            </a:r>
          </a:p>
          <a:p>
            <a:r>
              <a:t>Partner’s role (B) | Finance director.</a:t>
            </a:r>
          </a:p>
          <a:p>
            <a:r>
              <a:t>Must use (3 or more) | struggle with · emergency fund · in advance · loyalty · trial</a:t>
            </a:r>
          </a:p>
          <a:p>
            <a:r>
              <a:t>Goal | Make a proposal with costs and benefits.</a:t>
            </a:r>
          </a:p>
          <a:p>
            <a:r>
              <a:t>My notes | ____________________________________________</a:t>
            </a:r>
          </a:p>
          <a:p>
            <a:r>
              <a:t>Add a measurable goal.</a:t>
            </a:r>
          </a:p>
          <a:p>
            <a:r>
              <a:t>Address “it’s not our job”.</a:t>
            </a:r>
          </a:p>
          <a:p>
            <a:r>
              <a:t>Describe a risk.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is it hard to escape poverty? | “One reason is…”</a:t>
            </a:r>
          </a:p>
          <a:p>
            <a:r>
              <a:t>2. Is education enough to break the cycle? | “It helps a lot, but…”</a:t>
            </a:r>
          </a:p>
          <a:p>
            <a:r>
              <a:t>3. What can businesses do? | “They could…”</a:t>
            </a:r>
          </a:p>
          <a:p>
            <a:r>
              <a:t>4. Should basic income be provided? | “Some argue… but others…”</a:t>
            </a:r>
          </a:p>
          <a:p>
            <a:r>
              <a:t>5. How can we talk about poverty respectfully? | “By avoiding…”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“Education helps a lot, but it isn’t enough on its own. People also need jobs that pay fairly, affordable housing and transport. Without them, a degree may not lead to better income. So I think policies should support several areas together, not just one.”</a:t>
            </a:r>
          </a:p>
          <a:p>
            <a:r>
              <a:t>“on its own” 单独;“lead to” 导致。</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social issues carefully 谨慎讨论社会议题</a:t>
            </a:r>
          </a:p>
          <a:p>
            <a:r>
              <a:t>Too blunt | More careful</a:t>
            </a:r>
          </a:p>
          <a:p>
            <a:r>
              <a:t>Poor people are lazy. | Many people on low incomes work very hard.</a:t>
            </a:r>
          </a:p>
          <a:p>
            <a:r>
              <a:t>They should just save. | Saving is difficult when income barely covers costs.</a:t>
            </a:r>
          </a:p>
          <a:p>
            <a:r>
              <a:t>It’s their fault. | There are structural barriers.</a:t>
            </a:r>
          </a:p>
          <a:p>
            <a:r>
              <a:t>The government is useless. | Policies could be more effective.</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social issues carefully 谨慎讨论社会议题</a:t>
            </a:r>
          </a:p>
          <a:p>
            <a:r>
              <a:t>Use people-first language and evidence: people on low incomes, according to research.</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Poor people can’t afford to buy house.  →  ✓ People on low incomes can’t afford to buy a house.  (afford to + 原形)</a:t>
            </a:r>
          </a:p>
          <a:p>
            <a:r>
              <a:t>✗ The poors need help.  →  ✓ Poor people need help.  (poor 作形容词)</a:t>
            </a:r>
          </a:p>
          <a:p>
            <a:r>
              <a:t>✗ Poverty are a big problem.  →  ✓ Poverty is a big problem.  (不可数)</a:t>
            </a:r>
          </a:p>
          <a:p>
            <a:r>
              <a:t>Mistake Watch: Check afford to, poverty is, born into, difficulty + -ing, cost of living.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born in a poor family.  →  ✓ He was born into a poor family.  (born into)</a:t>
            </a:r>
          </a:p>
          <a:p>
            <a:r>
              <a:t>✗ They have difficult to pay the bills.  →  ✓ They have difficulty paying the bills.  (difficulty -ing)</a:t>
            </a:r>
          </a:p>
          <a:p>
            <a:r>
              <a:t>✗ The cost of life is high.  →  ✓ The cost of living is high.  (living)</a:t>
            </a:r>
          </a:p>
          <a:p>
            <a:r>
              <a:t>Mistake Watch: Check afford to, poverty is, born into, difficulty + -ing, cost of living.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respectful about money. Avoid asking about income.</a:t>
            </a:r>
          </a:p>
          <a:p>
            <a:r>
              <a:t>Avoid blaming language. It can offend people with first-hand experience.</a:t>
            </a:r>
          </a:p>
          <a:p>
            <a:r>
              <a:t>Charity and volunteering are common ways to engage in many countries.</a:t>
            </a:r>
          </a:p>
          <a:p>
            <a:r>
              <a:t>Cite sources. “According to a recent report…” strengthens your view.</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 poverty trap and its causes.</a:t>
            </a:r>
          </a:p>
          <a:p>
            <a:r>
              <a:t>I can discuss social issues with empathy.</a:t>
            </a:r>
          </a:p>
          <a:p>
            <a:r>
              <a:t>I can propose a workplace support measure.</a:t>
            </a:r>
          </a:p>
          <a:p>
            <a:r>
              <a:t>I use afford to, difficulty + -ing and cost of living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a vicious circle (any topic) in 60 seconds.</a:t>
            </a:r>
          </a:p>
          <a:p>
            <a:r>
              <a:t>8–10 | Listen to your recording. Check: afford to, difficulty -ing, poverty is, cost of living.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“开个头” in English? → get the ball rolling</a:t>
            </a:r>
          </a:p>
          <a:p>
            <a:r>
              <a:t>“走出舒适区” in English? → step out of your comfort zone</a:t>
            </a:r>
          </a:p>
          <a:p>
            <a:r>
              <a:t>“自信” in English? → self-belief</a:t>
            </a:r>
          </a:p>
          <a:p>
            <a:r>
              <a:t>Fix it: I have changed my mind since two weeks. → I changed my mind two weeks ago.</a:t>
            </a:r>
          </a:p>
          <a:p>
            <a:r>
              <a:t>Fix it: The more I wait, the more big it becomes. → The longer I wait, the bigger it becomes.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 Id="rId4" Type="http://schemas.openxmlformats.org/officeDocument/2006/relationships/slide" Target="slide85.xml"/><Relationship Id="rId5" Type="http://schemas.openxmlformats.org/officeDocument/2006/relationships/slide" Target="slide86.xml"/><Relationship Id="rId6" Type="http://schemas.openxmlformats.org/officeDocument/2006/relationships/slide" Target="slide87.xml"/><Relationship Id="rId7" Type="http://schemas.openxmlformats.org/officeDocument/2006/relationships/slide" Target="slide88.xml"/><Relationship Id="rId8" Type="http://schemas.openxmlformats.org/officeDocument/2006/relationships/slide" Target="slide89.xml"/><Relationship Id="rId9" Type="http://schemas.openxmlformats.org/officeDocument/2006/relationships/slide" Target="slide90.xml"/><Relationship Id="rId10" Type="http://schemas.openxmlformats.org/officeDocument/2006/relationships/slide" Target="slide91.xml"/><Relationship Id="rId11" Type="http://schemas.openxmlformats.org/officeDocument/2006/relationships/slide" Target="slide92.xml"/><Relationship Id="rId12" Type="http://schemas.openxmlformats.org/officeDocument/2006/relationships/slide" Target="slide9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17</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Personal Growth</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L81 Rethinking your mindset · L82 Tiny tasks become monsters · L83 The poverty trap</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81</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Rethinking your mindset</a:t>
            </a:r>
          </a:p>
          <a:p>
            <a:pPr algn="l">
              <a:lnSpc>
                <a:spcPct val="100000"/>
              </a:lnSpc>
              <a:spcAft>
                <a:spcPts val="800"/>
              </a:spcAft>
            </a:pPr>
            <a:r>
              <a:rPr sz="1400" b="0">
                <a:solidFill>
                  <a:srgbClr val="5F677A"/>
                </a:solidFill>
                <a:latin typeface="Arial"/>
                <a:ea typeface="Microsoft YaHei"/>
              </a:rPr>
              <a:t>重新思考你的心态</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82</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Tiny tasks become monsters</a:t>
            </a:r>
          </a:p>
          <a:p>
            <a:pPr algn="l">
              <a:lnSpc>
                <a:spcPct val="100000"/>
              </a:lnSpc>
              <a:spcAft>
                <a:spcPts val="800"/>
              </a:spcAft>
            </a:pPr>
            <a:r>
              <a:rPr sz="1400" b="0">
                <a:solidFill>
                  <a:srgbClr val="5F677A"/>
                </a:solidFill>
                <a:latin typeface="Arial"/>
                <a:ea typeface="Microsoft YaHei"/>
              </a:rPr>
              <a:t>小任务变成大怪兽</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83</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poverty trap</a:t>
            </a:r>
          </a:p>
          <a:p>
            <a:pPr algn="l">
              <a:lnSpc>
                <a:spcPct val="100000"/>
              </a:lnSpc>
              <a:spcAft>
                <a:spcPts val="800"/>
              </a:spcAft>
            </a:pPr>
            <a:r>
              <a:rPr sz="1400" b="0">
                <a:solidFill>
                  <a:srgbClr val="5F677A"/>
                </a:solidFill>
                <a:latin typeface="Arial"/>
                <a:ea typeface="Microsoft YaHei"/>
              </a:rPr>
              <a:t>贫困陷阱</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 · Lesson 81 Rethinking your mindset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Rethinking your mindset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重新思考你的心态</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fixed and growth mindsets, reflect on your own beliefs and encourage others in a positive, realistic way.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intelligence can be developed?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react when you fail at something?</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did you believe about yourself as a child that you no longer believe?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has changed the way you think?</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encourage others who doubt themselves?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“mindset” = 心态/思维模式;“fixed mindset” 固定型思维;“growth mindset” 成长型思维。第 3 题 “no longer” = 不再。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belief about yourself that you changed.</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believed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happened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changed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think now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used to think…   💬 Then I realised…   💬 Now I see… as…   💬 It has helped me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 used to think… but now…” 对比过去与现在。</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“Not yet”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Psychologists describe two broad mindsets. People with a fixed mindset believe abilities are mostly set at birth, so failure feels like proof of limits. People with a growth mindset believe skills can develop through effort, good strategies and feedback, so failure becomes information. Most of us have both, depending on the situation. You might feel confident about learning languages but convinced you are “bad at numbers”. A simple way to start shifting is to add the word “yet”: instead of “I can’t present”, say “I can’t present confidently yet”. Another is to praise effort and strategy rather than talent alone. Of course, mindset is not magic; opportunity, support and resources matter too. But believing that improvement is possible makes it more likely that you will try, persist and finally improve.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a fixed mindset see failure?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 proof of limits.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does adding “yet” do?</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turns a fixed statement into a possibility to improve.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Does the writer say mindset is enough?</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opportunity, support and resources matter too.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Mindset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心态</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mindset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positive mindset helps.”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fixed / growth mindset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固定/成长型思维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has a growth mindset.”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self-belief</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自信</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“Self-belief grows with practice.”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limiting belief</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自我设限的想法</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limiting belief.”</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reframe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重新定义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“Reframe failure as feedback.”</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Growth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成长</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step out of your comfort zone</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走出舒适区</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“Step out of your comfort zone.”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learn from failure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从失败中学习</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learn from failure.”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persevere / persist</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“Persevere when it’s hard.”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resilience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韧性</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“Resilience can be built.”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back on your feet</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重新振作</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got back on her feet.”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Encouraging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鼓励</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believe in you</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我相信你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believe in you.”</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You’re making progress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你在进步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“You’re making progress.”</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Don’t be so hard on yourself</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别对自己太苛刻</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be so hard on yourself.”</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at it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坚持下去</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at it, you’ll get there.”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one step at a time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一步一步来</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it one step at a time.”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你在进步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You’re making progress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重新定义</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reframe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重新振作</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back on your feet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从失败中学习</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learn from failure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自我设限的想法</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limiting belief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韧性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我相信你</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believe in you</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自信</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self-belief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mindset</a:t>
            </a:r>
          </a:p>
        </p:txBody>
      </p:sp>
      <p:sp>
        <p:nvSpPr>
          <p:cNvPr id="10" name="Rounded Rectangle 9"/>
          <p:cNvSpPr/>
          <p:nvPr/>
        </p:nvSpPr>
        <p:spPr>
          <a:xfrm>
            <a:off x="3236976"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belief</a:t>
            </a:r>
          </a:p>
        </p:txBody>
      </p:sp>
      <p:sp>
        <p:nvSpPr>
          <p:cNvPr id="11" name="Rounded Rectangle 10"/>
          <p:cNvSpPr/>
          <p:nvPr/>
        </p:nvSpPr>
        <p:spPr>
          <a:xfrm>
            <a:off x="435254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comfort</a:t>
            </a:r>
          </a:p>
        </p:txBody>
      </p:sp>
      <p:sp>
        <p:nvSpPr>
          <p:cNvPr id="12" name="Rounded Rectangle 11"/>
          <p:cNvSpPr/>
          <p:nvPr/>
        </p:nvSpPr>
        <p:spPr>
          <a:xfrm>
            <a:off x="5577840"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persevere</a:t>
            </a:r>
          </a:p>
        </p:txBody>
      </p:sp>
      <p:sp>
        <p:nvSpPr>
          <p:cNvPr id="13" name="Rounded Rectangle 12"/>
          <p:cNvSpPr/>
          <p:nvPr/>
        </p:nvSpPr>
        <p:spPr>
          <a:xfrm>
            <a:off x="7022592"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resilience</a:t>
            </a:r>
          </a:p>
        </p:txBody>
      </p:sp>
      <p:sp>
        <p:nvSpPr>
          <p:cNvPr id="14" name="Rounded Rectangle 13"/>
          <p:cNvSpPr/>
          <p:nvPr/>
        </p:nvSpPr>
        <p:spPr>
          <a:xfrm>
            <a:off x="8577072"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progress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A positive _______ helps in hard times.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mindset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That’s a limiting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belief</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Try to step out of your _______ zone.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comfort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You need to _______ when things get hard.</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persevere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can all build _______ over time.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You’re making real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progress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step out of / leave your comfort zone,make progress(不可数),believe IN yourself。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Encouraging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鼓励同事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doubts themselves.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Encouraging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just not good at presenting. I’ll never be able to do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maybe. You’ve improved a lot since last month.</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Really? I still get nervous.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normal. Don’t be so hard on yourself.</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Encouraging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should I do?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Take it one step at a time. Start with a short update at the next meeting.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I’ll try.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believe in you. Keep at it.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Encouraging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encourage a doubtful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Doubt: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not yet · don’t be so hard on yourself · one step at a time · keep at it · I believe in you</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 encouraging, honest and practical.</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specific example of progress.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empty praise.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practise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Sharing a mindset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分享心态转变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coffee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Sharing a mindset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seem more confident lately. What changed?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used to think I was bad at maths, so I avoided numbers.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now?</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took a short course and saw I could improve. Now I see mistakes as feedback.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Sharing a mindset change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big shift.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really is. It helped me to say “I can’t do it yet”.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might try that.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should. It makes a difference.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Sharing a mindset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a mindset change.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Belief: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used to think · now I see · reframe · shift · makes a difference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old belief, the turning point and the new view.</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what you’d tell your younger self.</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it’s still hard sometimes.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Recommend a book or habit.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anyone develop a growth mindset?</a:t>
            </a:r>
          </a:p>
          <a:p>
            <a:pPr algn="l">
              <a:lnSpc>
                <a:spcPct val="115000"/>
              </a:lnSpc>
              <a:spcAft>
                <a:spcPts val="800"/>
              </a:spcAft>
            </a:pPr>
            <a:r>
              <a:rPr sz="1400" b="0">
                <a:solidFill>
                  <a:srgbClr val="5F677A"/>
                </a:solidFill>
                <a:latin typeface="Arial"/>
                <a:ea typeface="Microsoft YaHei"/>
              </a:rPr>
              <a:t>💬 “I think so,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“believe in yourself” enough?</a:t>
            </a:r>
          </a:p>
          <a:p>
            <a:pPr algn="l">
              <a:lnSpc>
                <a:spcPct val="115000"/>
              </a:lnSpc>
              <a:spcAft>
                <a:spcPts val="800"/>
              </a:spcAft>
            </a:pPr>
            <a:r>
              <a:rPr sz="1400" b="0">
                <a:solidFill>
                  <a:srgbClr val="5F677A"/>
                </a:solidFill>
                <a:latin typeface="Arial"/>
                <a:ea typeface="Microsoft YaHei"/>
              </a:rPr>
              <a:t>💬 “Not by itself,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react to failure?</a:t>
            </a:r>
          </a:p>
          <a:p>
            <a:pPr algn="l">
              <a:lnSpc>
                <a:spcPct val="115000"/>
              </a:lnSpc>
              <a:spcAft>
                <a:spcPts val="800"/>
              </a:spcAft>
            </a:pPr>
            <a:r>
              <a:rPr sz="1400" b="0">
                <a:solidFill>
                  <a:srgbClr val="5F677A"/>
                </a:solidFill>
                <a:latin typeface="Arial"/>
                <a:ea typeface="Microsoft YaHei"/>
              </a:rPr>
              <a:t>💬 “I tend to…”</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limits of positive thinking?</a:t>
            </a:r>
          </a:p>
          <a:p>
            <a:pPr algn="l">
              <a:lnSpc>
                <a:spcPct val="115000"/>
              </a:lnSpc>
              <a:spcAft>
                <a:spcPts val="800"/>
              </a:spcAft>
            </a:pPr>
            <a:r>
              <a:rPr sz="1400" b="0">
                <a:solidFill>
                  <a:srgbClr val="5F677A"/>
                </a:solidFill>
                <a:latin typeface="Arial"/>
                <a:ea typeface="Microsoft YaHei"/>
              </a:rPr>
              <a:t>💬 “It can’t replace…”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managers encourage a growth mindset?</a:t>
            </a:r>
          </a:p>
          <a:p>
            <a:pPr algn="l">
              <a:lnSpc>
                <a:spcPct val="115000"/>
              </a:lnSpc>
              <a:spcAft>
                <a:spcPts val="800"/>
              </a:spcAft>
            </a:pPr>
            <a:r>
              <a:rPr sz="1400" b="0">
                <a:solidFill>
                  <a:srgbClr val="5F677A"/>
                </a:solidFill>
                <a:latin typeface="Arial"/>
                <a:ea typeface="Microsoft YaHei"/>
              </a:rPr>
              <a: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 I don’t think belief alone is enough. People also need skills, support and opportunities. For example, someone who believes they can become a pilot still needs training and money. But a positive belief makes people try harder and keep going, so it’s a useful starting point, not the whole answer.</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“starting point” 起点;“not the whole answer” 并非全部答案。</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habits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过去习惯与改变</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used to + base</a:t>
                      </a:r>
                    </a:p>
                  </a:txBody>
                  <a:tcPr anchor="ctr">
                    <a:solidFill>
                      <a:srgbClr val="FFFFFF"/>
                    </a:solidFill>
                  </a:tcPr>
                </a:tc>
                <a:tc>
                  <a:txBody>
                    <a:bodyPr wrap="square"/>
                    <a:lstStyle/>
                    <a:p>
                      <a:r>
                        <a:rPr sz="1600" b="0">
                          <a:solidFill>
                            <a:srgbClr val="1F2A44"/>
                          </a:solidFill>
                          <a:latin typeface="Arial"/>
                          <a:ea typeface="Microsoft YaHei"/>
                        </a:rPr>
                        <a:t>I used to avoid numbers.</a:t>
                      </a:r>
                    </a:p>
                  </a:txBody>
                  <a:tcPr anchor="ctr">
                    <a:solidFill>
                      <a:srgbClr val="FFFFFF"/>
                    </a:solidFill>
                  </a:tcPr>
                </a:tc>
              </a:tr>
              <a:tr h="408432">
                <a:tc>
                  <a:txBody>
                    <a:bodyPr wrap="square"/>
                    <a:lstStyle/>
                    <a:p>
                      <a:r>
                        <a:rPr sz="1600" b="1">
                          <a:solidFill>
                            <a:srgbClr val="1F2A44"/>
                          </a:solidFill>
                          <a:latin typeface="Arial"/>
                          <a:ea typeface="Microsoft YaHei"/>
                        </a:rPr>
                        <a:t>no longer / not any more</a:t>
                      </a:r>
                    </a:p>
                  </a:txBody>
                  <a:tcPr anchor="ctr">
                    <a:solidFill>
                      <a:srgbClr val="FFEFD9"/>
                    </a:solidFill>
                  </a:tcPr>
                </a:tc>
                <a:tc>
                  <a:txBody>
                    <a:bodyPr wrap="square"/>
                    <a:lstStyle/>
                    <a:p>
                      <a:r>
                        <a:rPr sz="1600" b="0">
                          <a:solidFill>
                            <a:srgbClr val="1F2A44"/>
                          </a:solidFill>
                          <a:latin typeface="Arial"/>
                          <a:ea typeface="Microsoft YaHei"/>
                        </a:rPr>
                        <a:t>I no longer believe that.</a:t>
                      </a:r>
                    </a:p>
                  </a:txBody>
                  <a:tcPr anchor="ctr">
                    <a:solidFill>
                      <a:srgbClr val="FFEFD9"/>
                    </a:solidFill>
                  </a:tcPr>
                </a:tc>
              </a:tr>
              <a:tr h="408432">
                <a:tc>
                  <a:txBody>
                    <a:bodyPr wrap="square"/>
                    <a:lstStyle/>
                    <a:p>
                      <a:r>
                        <a:rPr sz="1600" b="1">
                          <a:solidFill>
                            <a:srgbClr val="1F2A44"/>
                          </a:solidFill>
                          <a:latin typeface="Arial"/>
                          <a:ea typeface="Microsoft YaHei"/>
                        </a:rPr>
                        <a:t>have started/begun to</a:t>
                      </a:r>
                    </a:p>
                  </a:txBody>
                  <a:tcPr anchor="ctr">
                    <a:solidFill>
                      <a:srgbClr val="FFFFFF"/>
                    </a:solidFill>
                  </a:tcPr>
                </a:tc>
                <a:tc>
                  <a:txBody>
                    <a:bodyPr wrap="square"/>
                    <a:lstStyle/>
                    <a:p>
                      <a:r>
                        <a:rPr sz="1600" b="0">
                          <a:solidFill>
                            <a:srgbClr val="1F2A44"/>
                          </a:solidFill>
                          <a:latin typeface="Arial"/>
                          <a:ea typeface="Microsoft YaHei"/>
                        </a:rPr>
                        <a:t>I’ve started to see mistakes as feedback.</a:t>
                      </a:r>
                    </a:p>
                  </a:txBody>
                  <a:tcPr anchor="ctr">
                    <a:solidFill>
                      <a:srgbClr val="FFFFFF"/>
                    </a:solidFill>
                  </a:tcPr>
                </a:tc>
              </a:tr>
              <a:tr h="408432">
                <a:tc>
                  <a:txBody>
                    <a:bodyPr wrap="square"/>
                    <a:lstStyle/>
                    <a:p>
                      <a:r>
                        <a:rPr sz="1600" b="1">
                          <a:solidFill>
                            <a:srgbClr val="1F2A44"/>
                          </a:solidFill>
                          <a:latin typeface="Arial"/>
                          <a:ea typeface="Microsoft YaHei"/>
                        </a:rPr>
                        <a:t>I’m getting better at…</a:t>
                      </a:r>
                    </a:p>
                  </a:txBody>
                  <a:tcPr anchor="ctr">
                    <a:solidFill>
                      <a:srgbClr val="FFEFD9"/>
                    </a:solidFill>
                  </a:tcPr>
                </a:tc>
                <a:tc>
                  <a:txBody>
                    <a:bodyPr wrap="square"/>
                    <a:lstStyle/>
                    <a:p>
                      <a:r>
                        <a:rPr sz="1600" b="0">
                          <a:solidFill>
                            <a:srgbClr val="1F2A44"/>
                          </a:solidFill>
                          <a:latin typeface="Arial"/>
                          <a:ea typeface="Microsoft YaHei"/>
                        </a:rPr>
                        <a:t>I’m getting better at asking for help.</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Past habits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过去习惯与改变</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Used to shows a past state that is no longer true. Would can show past habits, not states.</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used to thinking I was bad.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used to think I was bad.</a:t>
            </a:r>
          </a:p>
          <a:p>
            <a:pPr algn="l">
              <a:spcAft>
                <a:spcPts val="200"/>
              </a:spcAft>
            </a:pPr>
            <a:r>
              <a:rPr sz="1200" b="0">
                <a:solidFill>
                  <a:srgbClr val="FFFFFF"/>
                </a:solidFill>
                <a:latin typeface="Arial"/>
                <a:ea typeface="Microsoft YaHei"/>
              </a:rPr>
              <a:t>used to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not good at present.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good at presenting.</a:t>
            </a:r>
          </a:p>
          <a:p>
            <a:pPr algn="l">
              <a:spcAft>
                <a:spcPts val="200"/>
              </a:spcAft>
            </a:pPr>
            <a:r>
              <a:rPr sz="1200" b="0">
                <a:solidFill>
                  <a:srgbClr val="FFFFFF"/>
                </a:solidFill>
                <a:latin typeface="Arial"/>
                <a:ea typeface="Microsoft YaHei"/>
              </a:rPr>
              <a:t>presenting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changed my mind since two weeks.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changed my mind two weeks ago.</a:t>
            </a:r>
          </a:p>
          <a:p>
            <a:pPr algn="l">
              <a:spcAft>
                <a:spcPts val="200"/>
              </a:spcAft>
            </a:pPr>
            <a:r>
              <a:rPr sz="1200" b="0">
                <a:solidFill>
                  <a:srgbClr val="FFFFFF"/>
                </a:solidFill>
                <a:latin typeface="Arial"/>
                <a:ea typeface="Microsoft YaHei"/>
              </a:rPr>
              <a:t>ago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Failure makes me to feel bad.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Failure makes me feel bad.</a:t>
            </a:r>
          </a:p>
          <a:p>
            <a:pPr algn="l">
              <a:spcAft>
                <a:spcPts val="200"/>
              </a:spcAft>
            </a:pPr>
            <a:r>
              <a:rPr sz="1200" b="0">
                <a:solidFill>
                  <a:srgbClr val="FFFFFF"/>
                </a:solidFill>
                <a:latin typeface="Arial"/>
                <a:ea typeface="Microsoft YaHei"/>
              </a:rPr>
              <a:t>make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believe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believe in myself.</a:t>
            </a:r>
          </a:p>
          <a:p>
            <a:pPr algn="l">
              <a:spcAft>
                <a:spcPts val="200"/>
              </a:spcAft>
            </a:pPr>
            <a:r>
              <a:rPr sz="1200" b="0">
                <a:solidFill>
                  <a:srgbClr val="FFFFFF"/>
                </a:solidFill>
                <a:latin typeface="Arial"/>
                <a:ea typeface="Microsoft YaHei"/>
              </a:rPr>
              <a:t>believe in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always do mistakes.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always make mistakes.</a:t>
            </a:r>
          </a:p>
          <a:p>
            <a:pPr algn="l">
              <a:spcAft>
                <a:spcPts val="200"/>
              </a:spcAft>
            </a:pPr>
            <a:r>
              <a:rPr sz="1200" b="0">
                <a:solidFill>
                  <a:srgbClr val="FFFFFF"/>
                </a:solidFill>
                <a:latin typeface="Arial"/>
                <a:ea typeface="Microsoft YaHei"/>
              </a:rPr>
              <a:t>make mistakes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used to + base, believe in myself, make mistakes, ago.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Positive but realistic. English speakers value encouragement, but avoid empty praise.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Share your learning. “I’ve been working on…” is a normal conversation opener.</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Praise effort. “I can see how hard you’ve worked” is meaningful.</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Self-help is popular. Books on mindset and habits are widely discussed.</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fixed and growth mindsets.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encourage others with natural phrases.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change using used to… now…</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used to + base and believe in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81 Rethinking your mindset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a 60-second story about a belief you changed.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used to + base, believe in, make mistakes, ago.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 · Lesson 82 Tiny tasks become monsters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Tiny tasks become monsters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小任务变成大怪兽</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procrastination, why small tasks grow, and practical ways to start and finish them.</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small tasks do you keep putting off?</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small tasks feel bigger over time?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procrastination feel for you?</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helps you get started?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finished a “monster” task faster than you expected?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“procrastinate” 拖延;“put off” 推迟;“monster” 怪兽(比喻越拖越大的任务)。</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small tasks grow when delayed and how you deal with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task</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 delayed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it grows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start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tend to put off…   💬 The longer I wait, the…   💬 What helps me is…   💬 Once I start,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longer…, the more…” 越…越…。</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email you did not send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reply to a colleague takes two minutes, so we leave it for later. Tomorrow it feels slightly awkward. By next week, it has become a guilty weight, and we imagine long explanations, apologies and awkward answers. The task itself has not changed, but our thoughts about it have grown into a monster. Psychologists say that procrastination is less about laziness and more about avoiding uncomfortable feelings, such as boredom, anxiety or fear of doing it badly. Practical remedies focus on making the first step tiny. Promise yourself two minutes. Write one sentence of the email. Put your running shoes by the door. Once you start, the resistance often fades. It also helps to tell someone your plan, and to finish a small task before it grows.</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small tasks become monsters?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our thoughts about them grow while we delay.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procrastination mostly about?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Avoiding uncomfortable feelings such as boredom or anxiety.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a practical remedy?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Make the first step tiny, such as two minutes or one sentence.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Procrastination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拖延</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procrastinate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procrastinate on emails.”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put off</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推迟</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keep putting it off.”</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avoid</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回避</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avoid difficult calls.”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drag your feet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拖拖拉拉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dragging his feet on it.”</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leave it until the last minute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拖到最后一刻</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left it until the last minute.”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Why tasks grow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为什么越拖越大</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pile up</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堆积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“Emails pile up.”</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snowball</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越滚越大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problem snowballed.”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 mental block</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心理障碍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mental block about it.”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elephant in the room</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大家都回避的问题</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email is the elephant in the room.”</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guilty weight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愧疚的负担</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became a guilty weight.”</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Getting started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开始行动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get the ball rolling</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开个头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get the ball rolling.”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 it down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拆分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“Break the task down.”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tackle</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处理</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“Tackle the hardest task first.”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two-minute rule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两分钟法则</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the two-minute rule.”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eat the frog</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先做最难的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“Eat the frog first.”</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回避</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avoid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大家都回避的问题</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elephant in the room</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拖到最后一刻</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leave it until the last minute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两分钟法则</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two-minute rule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处理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tackle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拖延</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procrastinate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开个头</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the ball rolling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推迟</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put off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79222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procrastinate</a:t>
            </a:r>
          </a:p>
        </p:txBody>
      </p:sp>
      <p:sp>
        <p:nvSpPr>
          <p:cNvPr id="10" name="Rounded Rectangle 9"/>
          <p:cNvSpPr/>
          <p:nvPr/>
        </p:nvSpPr>
        <p:spPr>
          <a:xfrm>
            <a:off x="3895344" y="987552"/>
            <a:ext cx="69494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off</a:t>
            </a:r>
          </a:p>
        </p:txBody>
      </p:sp>
      <p:sp>
        <p:nvSpPr>
          <p:cNvPr id="11" name="Rounded Rectangle 10"/>
          <p:cNvSpPr/>
          <p:nvPr/>
        </p:nvSpPr>
        <p:spPr>
          <a:xfrm>
            <a:off x="4681728"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pile</a:t>
            </a:r>
          </a:p>
        </p:txBody>
      </p:sp>
      <p:sp>
        <p:nvSpPr>
          <p:cNvPr id="12" name="Rounded Rectangle 11"/>
          <p:cNvSpPr/>
          <p:nvPr/>
        </p:nvSpPr>
        <p:spPr>
          <a:xfrm>
            <a:off x="5577840"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snowball</a:t>
            </a:r>
          </a:p>
        </p:txBody>
      </p:sp>
      <p:sp>
        <p:nvSpPr>
          <p:cNvPr id="13" name="Rounded Rectangle 12"/>
          <p:cNvSpPr/>
          <p:nvPr/>
        </p:nvSpPr>
        <p:spPr>
          <a:xfrm>
            <a:off x="6912864"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a:t>
            </a:r>
          </a:p>
        </p:txBody>
      </p:sp>
      <p:sp>
        <p:nvSpPr>
          <p:cNvPr id="14" name="Rounded Rectangle 13"/>
          <p:cNvSpPr/>
          <p:nvPr/>
        </p:nvSpPr>
        <p:spPr>
          <a:xfrm>
            <a:off x="791870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tackle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tend to _______ when I’m anxious.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procrastinate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keep putting it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Unanswered emails _______ up quickly.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pile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small issue can _______ if you ignore it.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snowball</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Try to _______ the task down into steps.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try to _______ the hardest task first.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tackle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put off doing (动名词),put it off,pile up;procrastination 拼写。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Admitting procrastination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承认拖延</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talk to a colleague.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Admitting procrastination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you reply to the client yet?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yet. I keep putting it off. I think it’s become a monster.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so difficult?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made a mistake last month, and I don’t know how to start.</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Admitting procrastination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write one sentence. “I’m writing to follow up on my earlier note.”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easy enough.</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Once you start, the rest comes naturally.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I’ll do it now.</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Admitting procrastination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help someone start.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helps.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Procrastinator. Task: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put off · it’s become a monster · just write one sentence · once you start · get the ball rolling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Encourage a first small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sit with them.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two-minute timer.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Plan a reward.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Planning to tackle a backlog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计划处理积压任务</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talk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Planning to tackle a backlog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 pile of small tasks I’ve put off. They’re starting to snowball.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many are there?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twelve. Most take ten minutes.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not block out an hour on Friday to clear them?</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Planning to tackle a backlog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I’ll start with the ones I’m avoiding.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Eat the frog first. You’ll feel better.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I’ll tell you when it’s done.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Planning to tackle a backlog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to clear a backlog.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Tasks: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pile of small tasks · snowball · block out an hour · avoid · eat the frog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and agree a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Prioritise by effort.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Delegate one task.</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Report back after the session.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procrastinate?</a:t>
            </a:r>
          </a:p>
          <a:p>
            <a:pPr algn="l">
              <a:lnSpc>
                <a:spcPct val="115000"/>
              </a:lnSpc>
              <a:spcAft>
                <a:spcPts val="800"/>
              </a:spcAft>
            </a:pPr>
            <a:r>
              <a:rPr sz="1400" b="0">
                <a:solidFill>
                  <a:srgbClr val="5F677A"/>
                </a:solidFill>
                <a:latin typeface="Arial"/>
                <a:ea typeface="Microsoft YaHei"/>
              </a:rPr>
              <a:t>💬 “Often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Does deadline pressure help?</a:t>
            </a:r>
          </a:p>
          <a:p>
            <a:pPr algn="l">
              <a:lnSpc>
                <a:spcPct val="115000"/>
              </a:lnSpc>
              <a:spcAft>
                <a:spcPts val="800"/>
              </a:spcAft>
            </a:pPr>
            <a:r>
              <a:rPr sz="1400" b="0">
                <a:solidFill>
                  <a:srgbClr val="5F677A"/>
                </a:solidFill>
                <a:latin typeface="Arial"/>
                <a:ea typeface="Microsoft YaHei"/>
              </a:rPr>
              <a:t>💬 “For some,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your best method to start a task?</a:t>
            </a:r>
          </a:p>
          <a:p>
            <a:pPr algn="l">
              <a:lnSpc>
                <a:spcPct val="115000"/>
              </a:lnSpc>
              <a:spcAft>
                <a:spcPts val="800"/>
              </a:spcAft>
            </a:pPr>
            <a:r>
              <a:rPr sz="1400" b="0">
                <a:solidFill>
                  <a:srgbClr val="5F677A"/>
                </a:solidFill>
                <a:latin typeface="Arial"/>
                <a:ea typeface="Microsoft YaHei"/>
              </a:rPr>
              <a:t>💬 “I usually…”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procrastination a sign of laziness?</a:t>
            </a:r>
          </a:p>
          <a:p>
            <a:pPr algn="l">
              <a:lnSpc>
                <a:spcPct val="115000"/>
              </a:lnSpc>
              <a:spcAft>
                <a:spcPts val="800"/>
              </a:spcAft>
            </a:pPr>
            <a:r>
              <a:rPr sz="1400" b="0">
                <a:solidFill>
                  <a:srgbClr val="5F677A"/>
                </a:solidFill>
                <a:latin typeface="Arial"/>
                <a:ea typeface="Microsoft YaHei"/>
              </a:rPr>
              <a:t>💬 “I don’t think so,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teams avoid unfinished tasks?</a:t>
            </a:r>
          </a:p>
          <a:p>
            <a:pPr algn="l">
              <a:lnSpc>
                <a:spcPct val="115000"/>
              </a:lnSpc>
              <a:spcAft>
                <a:spcPts val="800"/>
              </a:spcAft>
            </a:pPr>
            <a:r>
              <a:rPr sz="1400" b="0">
                <a:solidFill>
                  <a:srgbClr val="5F677A"/>
                </a:solidFill>
                <a:latin typeface="Arial"/>
                <a:ea typeface="Microsoft YaHei"/>
              </a:rPr>
              <a: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My best method is to make the first step very small. If I have to write a report, I just write the title and one heading. That removes the fear of the empty page, and once I’ve started, it’s easier to continue. I also tell a colleague my plan so I feel accountable.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“accountable” 有责任感的;“the empty page” 空白页。</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The longer… the more…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越…越…</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 + comparative, the + comparative</a:t>
                      </a:r>
                    </a:p>
                  </a:txBody>
                  <a:tcPr anchor="ctr">
                    <a:solidFill>
                      <a:srgbClr val="FFFFFF"/>
                    </a:solidFill>
                  </a:tcPr>
                </a:tc>
                <a:tc>
                  <a:txBody>
                    <a:bodyPr wrap="square"/>
                    <a:lstStyle/>
                    <a:p>
                      <a:r>
                        <a:rPr sz="1600" b="0">
                          <a:solidFill>
                            <a:srgbClr val="1F2A44"/>
                          </a:solidFill>
                          <a:latin typeface="Arial"/>
                          <a:ea typeface="Microsoft YaHei"/>
                        </a:rPr>
                        <a:t>The longer I wait, the worse it feels.</a:t>
                      </a:r>
                    </a:p>
                  </a:txBody>
                  <a:tcPr anchor="ctr">
                    <a:solidFill>
                      <a:srgbClr val="FFFFFF"/>
                    </a:solidFill>
                  </a:tcPr>
                </a:tc>
              </a:tr>
              <a:tr h="408432">
                <a:tc>
                  <a:txBody>
                    <a:bodyPr wrap="square"/>
                    <a:lstStyle/>
                    <a:p>
                      <a:r>
                        <a:rPr sz="1600" b="1">
                          <a:solidFill>
                            <a:srgbClr val="1F2A44"/>
                          </a:solidFill>
                          <a:latin typeface="Arial"/>
                          <a:ea typeface="Microsoft YaHei"/>
                        </a:rPr>
                        <a:t>once + present</a:t>
                      </a:r>
                    </a:p>
                  </a:txBody>
                  <a:tcPr anchor="ctr">
                    <a:solidFill>
                      <a:srgbClr val="FFEFD9"/>
                    </a:solidFill>
                  </a:tcPr>
                </a:tc>
                <a:tc>
                  <a:txBody>
                    <a:bodyPr wrap="square"/>
                    <a:lstStyle/>
                    <a:p>
                      <a:r>
                        <a:rPr sz="1600" b="0">
                          <a:solidFill>
                            <a:srgbClr val="1F2A44"/>
                          </a:solidFill>
                          <a:latin typeface="Arial"/>
                          <a:ea typeface="Microsoft YaHei"/>
                        </a:rPr>
                        <a:t>Once you start, it’s easier.</a:t>
                      </a:r>
                    </a:p>
                  </a:txBody>
                  <a:tcPr anchor="ctr">
                    <a:solidFill>
                      <a:srgbClr val="FFEFD9"/>
                    </a:solidFill>
                  </a:tcPr>
                </a:tc>
              </a:tr>
              <a:tr h="408432">
                <a:tc>
                  <a:txBody>
                    <a:bodyPr wrap="square"/>
                    <a:lstStyle/>
                    <a:p>
                      <a:r>
                        <a:rPr sz="1600" b="1">
                          <a:solidFill>
                            <a:srgbClr val="1F2A44"/>
                          </a:solidFill>
                          <a:latin typeface="Arial"/>
                          <a:ea typeface="Microsoft YaHei"/>
                        </a:rPr>
                        <a:t>as soon as + present</a:t>
                      </a:r>
                    </a:p>
                  </a:txBody>
                  <a:tcPr anchor="ctr">
                    <a:solidFill>
                      <a:srgbClr val="FFFFFF"/>
                    </a:solidFill>
                  </a:tcPr>
                </a:tc>
                <a:tc>
                  <a:txBody>
                    <a:bodyPr wrap="square"/>
                    <a:lstStyle/>
                    <a:p>
                      <a:r>
                        <a:rPr sz="1600" b="0">
                          <a:solidFill>
                            <a:srgbClr val="1F2A44"/>
                          </a:solidFill>
                          <a:latin typeface="Arial"/>
                          <a:ea typeface="Microsoft YaHei"/>
                        </a:rPr>
                        <a:t>I’ll do it as soon as I get back.</a:t>
                      </a:r>
                    </a:p>
                  </a:txBody>
                  <a:tcPr anchor="ctr">
                    <a:solidFill>
                      <a:srgbClr val="FFFFFF"/>
                    </a:solidFill>
                  </a:tcPr>
                </a:tc>
              </a:tr>
              <a:tr h="408432">
                <a:tc>
                  <a:txBody>
                    <a:bodyPr wrap="square"/>
                    <a:lstStyle/>
                    <a:p>
                      <a:r>
                        <a:rPr sz="1600" b="1">
                          <a:solidFill>
                            <a:srgbClr val="1F2A44"/>
                          </a:solidFill>
                          <a:latin typeface="Arial"/>
                          <a:ea typeface="Microsoft YaHei"/>
                        </a:rPr>
                        <a:t>before + present</a:t>
                      </a:r>
                    </a:p>
                  </a:txBody>
                  <a:tcPr anchor="ctr">
                    <a:solidFill>
                      <a:srgbClr val="FFEFD9"/>
                    </a:solidFill>
                  </a:tcPr>
                </a:tc>
                <a:tc>
                  <a:txBody>
                    <a:bodyPr wrap="square"/>
                    <a:lstStyle/>
                    <a:p>
                      <a:r>
                        <a:rPr sz="1600" b="0">
                          <a:solidFill>
                            <a:srgbClr val="1F2A44"/>
                          </a:solidFill>
                          <a:latin typeface="Arial"/>
                          <a:ea typeface="Microsoft YaHei"/>
                        </a:rPr>
                        <a:t>Do it before it grows.</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The longer… the more…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越…越…</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In time clauses with once, as soon as, before, when, use the present simple for the future.</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more I wait, the more big it becomes.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longer I wait, the bigger it becomes.</a:t>
            </a:r>
          </a:p>
          <a:p>
            <a:pPr algn="l">
              <a:spcAft>
                <a:spcPts val="200"/>
              </a:spcAft>
            </a:pPr>
            <a:r>
              <a:rPr sz="1200" b="0">
                <a:solidFill>
                  <a:srgbClr val="FFFFFF"/>
                </a:solidFill>
                <a:latin typeface="Arial"/>
                <a:ea typeface="Microsoft YaHei"/>
              </a:rPr>
              <a:t>比较级</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Once I will start, it’s easy.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Once I start, it’s easy.</a:t>
            </a:r>
          </a:p>
          <a:p>
            <a:pPr algn="l">
              <a:spcAft>
                <a:spcPts val="200"/>
              </a:spcAft>
            </a:pPr>
            <a:r>
              <a:rPr sz="1200" b="0">
                <a:solidFill>
                  <a:srgbClr val="FFFFFF"/>
                </a:solidFill>
                <a:latin typeface="Arial"/>
                <a:ea typeface="Microsoft YaHei"/>
              </a:rPr>
              <a:t>现在时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postponed to reply.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postponed replying. / put off replying</a:t>
            </a:r>
          </a:p>
          <a:p>
            <a:pPr algn="l">
              <a:spcAft>
                <a:spcPts val="200"/>
              </a:spcAft>
            </a:pPr>
            <a:r>
              <a:rPr sz="1200" b="0">
                <a:solidFill>
                  <a:srgbClr val="FFFFFF"/>
                </a:solidFill>
                <a:latin typeface="Arial"/>
                <a:ea typeface="Microsoft YaHei"/>
              </a:rPr>
              <a:t>postpone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procrastinate.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procrastinate. / I’m procrastinating.</a:t>
            </a:r>
          </a:p>
          <a:p>
            <a:pPr algn="l">
              <a:spcAft>
                <a:spcPts val="200"/>
              </a:spcAft>
            </a:pPr>
            <a:r>
              <a:rPr sz="1200" b="0">
                <a:solidFill>
                  <a:srgbClr val="FFFFFF"/>
                </a:solidFill>
                <a:latin typeface="Arial"/>
                <a:ea typeface="Microsoft YaHei"/>
              </a:rPr>
              <a:t>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lot of tiny task.</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tiny tasks.</a:t>
            </a:r>
          </a:p>
          <a:p>
            <a:pPr algn="l">
              <a:spcAft>
                <a:spcPts val="200"/>
              </a:spcAft>
            </a:pPr>
            <a:r>
              <a:rPr sz="1200" b="0">
                <a:solidFill>
                  <a:srgbClr val="FFFFFF"/>
                </a:solidFill>
                <a:latin typeface="Arial"/>
                <a:ea typeface="Microsoft YaHei"/>
              </a:rPr>
              <a:t>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do it when I will have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do it when I have time.</a:t>
            </a:r>
          </a:p>
          <a:p>
            <a:pPr algn="l">
              <a:spcAft>
                <a:spcPts val="200"/>
              </a:spcAft>
            </a:pPr>
            <a:r>
              <a:rPr sz="1200" b="0">
                <a:solidFill>
                  <a:srgbClr val="FFFFFF"/>
                </a:solidFill>
                <a:latin typeface="Arial"/>
                <a:ea typeface="Microsoft YaHei"/>
              </a:rPr>
              <a:t>现在时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comparative pairs, present simple in time clauses, put off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Say it early. “I’m behind on this, can we agree a new date?” is better than silence.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apologise too much. One “sorry for the delay” is enough.</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Timeboxing (fixed time slots) is a popular method in English-speaking offices.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Humour helps. “Procrastination is my superpower” can lighten the mood.</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procrastination and why tasks grow.</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first steps to someone stuck.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more/longer…, the more…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simple in time clauses and put off + -ing.</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82 Tiny tasks become monsters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how you start a task you’re avoiding,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the longer the bigger, time clauses, put off -ing.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 · Lesson 83 The poverty trap</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poverty trap</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贫困陷阱</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how low income and scarcity can trap people in a cycle, and talk about social issues with empathy and care.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it hard for people to escape poverty?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stress about money affect decisions?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role do education and jobs play?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companies do to help low-income staff?</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governments help?</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“poverty trap” 贫困陷阱。谈贫困话题要尊重,避免责备个人;多用 “people on low incomes”。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a poverty trap is, with an example.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definition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it works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example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possible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poverty trap is when…   💬 One reason is that…   💬 For example, …   💬 Possible solutions include…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poverty trap is when…” 下定义;“possible solutions include…” 列举。</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Why it is hard to climb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 poverty trap is a situation where low income makes it very hard to improve one’s circumstances, so the situation continues across years or even generations. The reasons are linked. People on low incomes may not be able to afford training, reliable transport or a deposit for better housing. Emergencies, such as a broken car or illness, can wipe out savings. Constant worry about money also uses up mental energy, which can make long-term planning harder. This is not a personal failure; it is a result of pressure on limited resources. Solutions include access to affordable education, stable work with predictable hours, savings support and fair credit. Employers can help by paying fairly, offering advance notice of shifts, and providing training. When people have a little security, they can plan, invest and take opportunities.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a poverty trap?</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Low income makes improving one’s situation very hard, continuing over years.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can emergencies be so serious?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can wipe out savings.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Name two ways employers can help.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Pay fairly, give advance notice of shifts, provide training.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Poverty and income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贫困与收入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low-income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低收入的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“Low-income families struggle.”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cost of living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生活成本</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cost of living is rising.”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living wage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生活工资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pay a living wage.”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hand to mouth</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勉强糊口</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live hand to mouth.”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paycheck to paycheck</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月光</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people live paycheck to paycheck.”</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The trap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陷阱</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vicious circle / cycle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恶性循环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vicious circle.”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afford</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负担得起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can’t afford it.”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savings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储蓄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no savings.”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safety net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安全网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“Welfare is a safety net.”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social mobility</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社会流动</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“Education supports social mobility.”</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解决办法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access to education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受教育机会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“Access to education matters.”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security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工作稳定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security helps planning.”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financial support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财务支持</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offer financial support.”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the cycle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打破循环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“Education can break the cycle.”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the playing field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营造公平</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“Policies can level the playing field.”</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生活成本</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cost of living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营造公平</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level the playing field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安全网</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safety net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负担得起</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afford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工作稳定</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security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低收入的</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low-income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月光</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paycheck to paycheck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财务支持</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financial support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income</a:t>
            </a:r>
          </a:p>
        </p:txBody>
      </p:sp>
      <p:sp>
        <p:nvSpPr>
          <p:cNvPr id="10" name="Rounded Rectangle 9"/>
          <p:cNvSpPr/>
          <p:nvPr/>
        </p:nvSpPr>
        <p:spPr>
          <a:xfrm>
            <a:off x="3127248"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living</a:t>
            </a:r>
          </a:p>
        </p:txBody>
      </p:sp>
      <p:sp>
        <p:nvSpPr>
          <p:cNvPr id="11" name="Rounded Rectangle 10"/>
          <p:cNvSpPr/>
          <p:nvPr/>
        </p:nvSpPr>
        <p:spPr>
          <a:xfrm>
            <a:off x="4242816"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circle</a:t>
            </a:r>
          </a:p>
        </p:txBody>
      </p:sp>
      <p:sp>
        <p:nvSpPr>
          <p:cNvPr id="12" name="Rounded Rectangle 11"/>
          <p:cNvSpPr/>
          <p:nvPr/>
        </p:nvSpPr>
        <p:spPr>
          <a:xfrm>
            <a:off x="535838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afford</a:t>
            </a:r>
          </a:p>
        </p:txBody>
      </p:sp>
      <p:sp>
        <p:nvSpPr>
          <p:cNvPr id="13" name="Rounded Rectangle 12"/>
          <p:cNvSpPr/>
          <p:nvPr/>
        </p:nvSpPr>
        <p:spPr>
          <a:xfrm>
            <a:off x="647395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mobility</a:t>
            </a:r>
          </a:p>
        </p:txBody>
      </p:sp>
      <p:sp>
        <p:nvSpPr>
          <p:cNvPr id="14" name="Rounded Rectangle 13"/>
          <p:cNvSpPr/>
          <p:nvPr/>
        </p:nvSpPr>
        <p:spPr>
          <a:xfrm>
            <a:off x="780897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cycle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Low-_______ families struggle most.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income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cost of _______ is rising.</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living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It’s a vicious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circle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They can’t _______ a deposit.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afford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Education supports social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mobility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want to help break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cycle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afford TO buy / afford something,the cost of living,on a low income;poverty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Discussing a social issue with empathy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带同理心讨论社会问题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talk after a news report.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social issue with empathy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report said many families live paycheck to paycheck.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must be stressful. One emergency can wipe out their savings.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people say they should just work harder.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Many already work hard. The problem is often costs and unstable hours.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a social issue with empathy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could help?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pay, predictable shifts and access to training.</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makes sense.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about removing barriers, not blaming people.</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Discussing a social issue with empathy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poverty with empathy.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paycheck to paycheck · wipe out · barriers · fair pay · not blaming</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causes and solutions without judging.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“people on low incomes”.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specific policy.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Acknowledge complexity.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Proposing support for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提议支持员工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suggest a workplace policy.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Finance director</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Proposing support for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of our lowest-paid staff struggle with unexpected costs.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suggest?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 emergency fund, and shift schedules two weeks in advance.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it cost?</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the same as one month of turnover costs.</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benefit?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Less stress, fewer absences and stronger loyalty.</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run a trial in one department.</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Proposing support for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staff support.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Proposal: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director.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struggle with · emergency fund · in advance · loyalty · trial</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a proposal with costs and benefits.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measurable goal.</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Address “it’s not our job”.</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risk.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hard to escape poverty?</a:t>
            </a:r>
          </a:p>
          <a:p>
            <a:pPr algn="l">
              <a:lnSpc>
                <a:spcPct val="115000"/>
              </a:lnSpc>
              <a:spcAft>
                <a:spcPts val="800"/>
              </a:spcAft>
            </a:pPr>
            <a:r>
              <a:rPr sz="1400" b="0">
                <a:solidFill>
                  <a:srgbClr val="5F677A"/>
                </a:solidFill>
                <a:latin typeface="Arial"/>
                <a:ea typeface="Microsoft YaHei"/>
              </a:rPr>
              <a:t>💬 “One reason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education enough to break the cycle?</a:t>
            </a:r>
          </a:p>
          <a:p>
            <a:pPr algn="l">
              <a:lnSpc>
                <a:spcPct val="115000"/>
              </a:lnSpc>
              <a:spcAft>
                <a:spcPts val="800"/>
              </a:spcAft>
            </a:pPr>
            <a:r>
              <a:rPr sz="1400" b="0">
                <a:solidFill>
                  <a:srgbClr val="5F677A"/>
                </a:solidFill>
                <a:latin typeface="Arial"/>
                <a:ea typeface="Microsoft YaHei"/>
              </a:rPr>
              <a:t>💬 “It helps a lot,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businesses do?</a:t>
            </a:r>
          </a:p>
          <a:p>
            <a:pPr algn="l">
              <a:lnSpc>
                <a:spcPct val="115000"/>
              </a:lnSpc>
              <a:spcAft>
                <a:spcPts val="800"/>
              </a:spcAft>
            </a:pPr>
            <a:r>
              <a:rPr sz="1400" b="0">
                <a:solidFill>
                  <a:srgbClr val="5F677A"/>
                </a:solidFill>
                <a:latin typeface="Arial"/>
                <a:ea typeface="Microsoft YaHei"/>
              </a:rPr>
              <a:t>💬 “They could…”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basic income be provided?</a:t>
            </a:r>
          </a:p>
          <a:p>
            <a:pPr algn="l">
              <a:lnSpc>
                <a:spcPct val="115000"/>
              </a:lnSpc>
              <a:spcAft>
                <a:spcPts val="800"/>
              </a:spcAft>
            </a:pPr>
            <a:r>
              <a:rPr sz="1400" b="0">
                <a:solidFill>
                  <a:srgbClr val="5F677A"/>
                </a:solidFill>
                <a:latin typeface="Arial"/>
                <a:ea typeface="Microsoft YaHei"/>
              </a:rPr>
              <a:t>💬 “Some argue… but others…”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we talk about poverty respectfully?</a:t>
            </a:r>
          </a:p>
          <a:p>
            <a:pPr algn="l">
              <a:lnSpc>
                <a:spcPct val="115000"/>
              </a:lnSpc>
              <a:spcAft>
                <a:spcPts val="800"/>
              </a:spcAft>
            </a:pPr>
            <a:r>
              <a:rPr sz="1400" b="0">
                <a:solidFill>
                  <a:srgbClr val="5F677A"/>
                </a:solidFill>
                <a:latin typeface="Arial"/>
                <a:ea typeface="Microsoft YaHei"/>
              </a:rPr>
              <a:t>💬 “By avoiding…”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Education helps a lot, but it isn’t enough on its own. People also need jobs that pay fairly, affordable housing and transport. Without them, a degree may not lead to better income. So I think policies should support several areas together, not just one.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its own” 单独;“lead to” 导致。</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Discussing social issues carefully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谨慎讨论社会议题</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blunt</a:t>
                      </a:r>
                    </a:p>
                  </a:txBody>
                  <a:tcPr anchor="ctr">
                    <a:solidFill>
                      <a:srgbClr val="3CC49A"/>
                    </a:solidFill>
                  </a:tcPr>
                </a:tc>
                <a:tc>
                  <a:txBody>
                    <a:bodyPr wrap="square"/>
                    <a:lstStyle/>
                    <a:p>
                      <a:r>
                        <a:rPr sz="1600" b="1">
                          <a:solidFill>
                            <a:srgbClr val="FFFFFF"/>
                          </a:solidFill>
                          <a:latin typeface="Arial"/>
                          <a:ea typeface="Microsoft YaHei"/>
                        </a:rPr>
                        <a:t>More careful</a:t>
                      </a:r>
                    </a:p>
                  </a:txBody>
                  <a:tcPr anchor="ctr">
                    <a:solidFill>
                      <a:srgbClr val="3CC49A"/>
                    </a:solidFill>
                  </a:tcPr>
                </a:tc>
              </a:tr>
              <a:tr h="408432">
                <a:tc>
                  <a:txBody>
                    <a:bodyPr wrap="square"/>
                    <a:lstStyle/>
                    <a:p>
                      <a:r>
                        <a:rPr sz="1600" b="1">
                          <a:solidFill>
                            <a:srgbClr val="1F2A44"/>
                          </a:solidFill>
                          <a:latin typeface="Arial"/>
                          <a:ea typeface="Microsoft YaHei"/>
                        </a:rPr>
                        <a:t>Poor people are lazy.</a:t>
                      </a:r>
                    </a:p>
                  </a:txBody>
                  <a:tcPr anchor="ctr">
                    <a:solidFill>
                      <a:srgbClr val="FFFFFF"/>
                    </a:solidFill>
                  </a:tcPr>
                </a:tc>
                <a:tc>
                  <a:txBody>
                    <a:bodyPr wrap="square"/>
                    <a:lstStyle/>
                    <a:p>
                      <a:r>
                        <a:rPr sz="1600" b="0">
                          <a:solidFill>
                            <a:srgbClr val="1F2A44"/>
                          </a:solidFill>
                          <a:latin typeface="Arial"/>
                          <a:ea typeface="Microsoft YaHei"/>
                        </a:rPr>
                        <a:t>Many people on low incomes work very hard.</a:t>
                      </a:r>
                    </a:p>
                  </a:txBody>
                  <a:tcPr anchor="ctr">
                    <a:solidFill>
                      <a:srgbClr val="FFFFFF"/>
                    </a:solidFill>
                  </a:tcPr>
                </a:tc>
              </a:tr>
              <a:tr h="652272">
                <a:tc>
                  <a:txBody>
                    <a:bodyPr wrap="square"/>
                    <a:lstStyle/>
                    <a:p>
                      <a:r>
                        <a:rPr sz="1600" b="1">
                          <a:solidFill>
                            <a:srgbClr val="1F2A44"/>
                          </a:solidFill>
                          <a:latin typeface="Arial"/>
                          <a:ea typeface="Microsoft YaHei"/>
                        </a:rPr>
                        <a:t>They should just save.</a:t>
                      </a:r>
                    </a:p>
                  </a:txBody>
                  <a:tcPr anchor="ctr">
                    <a:solidFill>
                      <a:srgbClr val="FFEFD9"/>
                    </a:solidFill>
                  </a:tcPr>
                </a:tc>
                <a:tc>
                  <a:txBody>
                    <a:bodyPr wrap="square"/>
                    <a:lstStyle/>
                    <a:p>
                      <a:r>
                        <a:rPr sz="1600" b="0">
                          <a:solidFill>
                            <a:srgbClr val="1F2A44"/>
                          </a:solidFill>
                          <a:latin typeface="Arial"/>
                          <a:ea typeface="Microsoft YaHei"/>
                        </a:rPr>
                        <a:t>Saving is difficult when income barely covers costs.</a:t>
                      </a:r>
                    </a:p>
                  </a:txBody>
                  <a:tcPr anchor="ctr">
                    <a:solidFill>
                      <a:srgbClr val="FFEFD9"/>
                    </a:solidFill>
                  </a:tcPr>
                </a:tc>
              </a:tr>
              <a:tr h="408432">
                <a:tc>
                  <a:txBody>
                    <a:bodyPr wrap="square"/>
                    <a:lstStyle/>
                    <a:p>
                      <a:r>
                        <a:rPr sz="1600" b="1">
                          <a:solidFill>
                            <a:srgbClr val="1F2A44"/>
                          </a:solidFill>
                          <a:latin typeface="Arial"/>
                          <a:ea typeface="Microsoft YaHei"/>
                        </a:rPr>
                        <a:t>It’s their fault.</a:t>
                      </a:r>
                    </a:p>
                  </a:txBody>
                  <a:tcPr anchor="ctr">
                    <a:solidFill>
                      <a:srgbClr val="FFFFFF"/>
                    </a:solidFill>
                  </a:tcPr>
                </a:tc>
                <a:tc>
                  <a:txBody>
                    <a:bodyPr wrap="square"/>
                    <a:lstStyle/>
                    <a:p>
                      <a:r>
                        <a:rPr sz="1600" b="0">
                          <a:solidFill>
                            <a:srgbClr val="1F2A44"/>
                          </a:solidFill>
                          <a:latin typeface="Arial"/>
                          <a:ea typeface="Microsoft YaHei"/>
                        </a:rPr>
                        <a:t>There are structural barriers.</a:t>
                      </a:r>
                    </a:p>
                  </a:txBody>
                  <a:tcPr anchor="ctr">
                    <a:solidFill>
                      <a:srgbClr val="FFFFFF"/>
                    </a:solidFill>
                  </a:tcPr>
                </a:tc>
              </a:tr>
              <a:tr h="408432">
                <a:tc>
                  <a:txBody>
                    <a:bodyPr wrap="square"/>
                    <a:lstStyle/>
                    <a:p>
                      <a:r>
                        <a:rPr sz="1600" b="1">
                          <a:solidFill>
                            <a:srgbClr val="1F2A44"/>
                          </a:solidFill>
                          <a:latin typeface="Arial"/>
                          <a:ea typeface="Microsoft YaHei"/>
                        </a:rPr>
                        <a:t>The government is useless.</a:t>
                      </a:r>
                    </a:p>
                  </a:txBody>
                  <a:tcPr anchor="ctr">
                    <a:solidFill>
                      <a:srgbClr val="FFEFD9"/>
                    </a:solidFill>
                  </a:tcPr>
                </a:tc>
                <a:tc>
                  <a:txBody>
                    <a:bodyPr wrap="square"/>
                    <a:lstStyle/>
                    <a:p>
                      <a:r>
                        <a:rPr sz="1600" b="0">
                          <a:solidFill>
                            <a:srgbClr val="1F2A44"/>
                          </a:solidFill>
                          <a:latin typeface="Arial"/>
                          <a:ea typeface="Microsoft YaHei"/>
                        </a:rPr>
                        <a:t>Policies could be more effective.</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Discussing social issues carefully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谨慎讨论社会议题</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people-first language and evidence: </a:t>
            </a:r>
            <a:r>
              <a:rPr sz="1700" b="0">
                <a:solidFill>
                  <a:srgbClr val="1F2A44"/>
                </a:solidFill>
                <a:latin typeface="Arial"/>
                <a:ea typeface="Microsoft YaHei"/>
              </a:rPr>
              <a:t>people on low incomes, according to research.</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Poor people can’t afford to buy house.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People on low incomes can’t afford to buy a house.</a:t>
            </a:r>
          </a:p>
          <a:p>
            <a:pPr algn="l">
              <a:spcAft>
                <a:spcPts val="200"/>
              </a:spcAft>
            </a:pPr>
            <a:r>
              <a:rPr sz="1200" b="0">
                <a:solidFill>
                  <a:srgbClr val="FFFFFF"/>
                </a:solidFill>
                <a:latin typeface="Arial"/>
                <a:ea typeface="Microsoft YaHei"/>
              </a:rPr>
              <a:t>afford to + 原形</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poors need help.</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Poor people need help.</a:t>
            </a:r>
          </a:p>
          <a:p>
            <a:pPr algn="l">
              <a:spcAft>
                <a:spcPts val="200"/>
              </a:spcAft>
            </a:pPr>
            <a:r>
              <a:rPr sz="1200" b="0">
                <a:solidFill>
                  <a:srgbClr val="FFFFFF"/>
                </a:solidFill>
                <a:latin typeface="Arial"/>
                <a:ea typeface="Microsoft YaHei"/>
              </a:rPr>
              <a:t>poor 作形容词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Poverty are a big problem.</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Poverty is a big problem.</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born in a poor family.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was born into a poor family.</a:t>
            </a:r>
          </a:p>
          <a:p>
            <a:pPr algn="l">
              <a:spcAft>
                <a:spcPts val="200"/>
              </a:spcAft>
            </a:pPr>
            <a:r>
              <a:rPr sz="1200" b="0">
                <a:solidFill>
                  <a:srgbClr val="FFFFFF"/>
                </a:solidFill>
                <a:latin typeface="Arial"/>
                <a:ea typeface="Microsoft YaHei"/>
              </a:rPr>
              <a:t>born into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have difficult to pay the bills.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have difficulty paying the bills.</a:t>
            </a:r>
          </a:p>
          <a:p>
            <a:pPr algn="l">
              <a:spcAft>
                <a:spcPts val="200"/>
              </a:spcAft>
            </a:pPr>
            <a:r>
              <a:rPr sz="1200" b="0">
                <a:solidFill>
                  <a:srgbClr val="FFFFFF"/>
                </a:solidFill>
                <a:latin typeface="Arial"/>
                <a:ea typeface="Microsoft YaHei"/>
              </a:rPr>
              <a:t>difficulty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cost of life is high.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cost of living is high.</a:t>
            </a:r>
          </a:p>
          <a:p>
            <a:pPr algn="l">
              <a:spcAft>
                <a:spcPts val="200"/>
              </a:spcAft>
            </a:pPr>
            <a:r>
              <a:rPr sz="1200" b="0">
                <a:solidFill>
                  <a:srgbClr val="FFFFFF"/>
                </a:solidFill>
                <a:latin typeface="Arial"/>
                <a:ea typeface="Microsoft YaHei"/>
              </a:rPr>
              <a:t>living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afford to, poverty is, born into, difficulty + -ing, cost of living.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respectful about money. Avoid asking about income.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Avoid blaming language. It can offend people with first-hand experience.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Charity and volunteering are common ways to engage in many countries.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Cite sources. “According to a recent report…” strengthens your view.</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poverty trap and its causes.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social issues with empathy.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a workplace support measure.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afford to, difficulty + -ing and cost of living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 · Lesson 83 The poverty trap</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a vicious circle (any topic) in 60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afford to, difficulty -ing, poverty is, cost of living.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你在进步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You’re making progress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勉强糊口</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hand to mouth</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living wage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pay a living wage.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fixed / growth mindset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has a growth mindset.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 used to thinking I was bad.</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used to think I was bad.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先做最难的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eat the frog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17</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“开个头”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the ball rolling</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“走出舒适区”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 out of your comfort zone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“自信”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self-belief</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have changed my mind since two weeks.</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changed my mind two weeks ago.</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The more I wait, the more big it becomes.</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longer I wait, the bigger it becomes.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17</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17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