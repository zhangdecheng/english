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English – Intermediate Level 7–8</a:t>
            </a:r>
          </a:p>
          <a:p>
            <a:r>
              <a:t>Unit 12: Emotion and Energy Management — Self-Study Workbook (Lessons 53–59)</a:t>
            </a:r>
          </a:p>
          <a:p/>
          <a:p>
            <a:r>
              <a:t>开场：简单介绍本单元的主题和要完成的 7 个 Lesson，说明全程会以小组积分赛的形式进行。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把学员分成 2–4 组。热身发言、答题、角色扮演表现好都可以加分，最后一页评出冠军组。</a:t>
            </a:r>
          </a:p>
          <a:p>
            <a:r>
              <a:t>可以直接在 Score 框里打字记分，或在白板上记录。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点击任意 Lesson 可直接跳转；每页右下角的 🗺 Map 按钮可以随时回到这里。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53 · Embracing emotions at work 接受工作中的情绪</a:t>
            </a:r>
          </a:p>
          <a:p>
            <a:r>
              <a:t>Goal: name and describe feelings at work, express them professionally and respond to colleagues’ emotions with empathy.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“embrace” = 接受,拥抱。“lose your temper” = 发脾气。第 3 题现在完成时问经历。</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how you handle strong emotions at work.</a:t>
            </a:r>
          </a:p>
          <a:p>
            <a:r>
              <a:t>Say: the feeling → the trigger → what you do → what helps.</a:t>
            </a:r>
          </a:p>
          <a:p>
            <a:r>
              <a:t>Useful starters: “I tend to feel… when…” / “What helps me is…” / “I try to… before I react” / “It’s natural to…”</a:t>
            </a:r>
          </a:p>
          <a:p>
            <a:r>
              <a:t>“It’s natural to + 动词原形”;“before I react” 用现在时代替将来。</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For a long time, many workplaces expected employees to leave their emotions at the door. Today, many psychologists argue that this is neither possible nor healthy. Emotions carry information: frustration may signal a blocked goal, anxiety may point to a risk, and excitement shows what motivates us. The skill is not to hide feelings but to manage how we express them. One simple technique is called “naming it”. Silently describing the emotion, for example “I’m feeling anxious about this deadline”, can reduce its intensity. Next, pause before reacting. Then choose a calm way to share the facts: “I’m concerned that we will not finish on time. Can we review the plan?” Teams that talk openly about feelings usually solve problems earlier and trust each other more.</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can emotions tell us?</a:t>
            </a:r>
          </a:p>
          <a:p>
            <a:r>
              <a:t>A: Frustration: blocked goal; anxiety: a risk; excitement: what motivates us.</a:t>
            </a:r>
          </a:p>
          <a:p>
            <a:r>
              <a:t>Q2. What is “naming it”?</a:t>
            </a:r>
          </a:p>
          <a:p>
            <a:r>
              <a:t>A: Silently describing the emotion to reduce its intensity.</a:t>
            </a:r>
          </a:p>
          <a:p>
            <a:r>
              <a:t>Q3. Give an example of a calm way to share a concern.</a:t>
            </a:r>
          </a:p>
          <a:p>
            <a:r>
              <a:t>A: “I’m concerned that we will not finish on time. Can we review the plan?”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Feelings 情绪</a:t>
            </a:r>
          </a:p>
          <a:p>
            <a:r>
              <a:t>领读 → 学员跟读 → 请学员用表达造一个和自己工作相关的句子。</a:t>
            </a:r>
          </a:p>
          <a:p>
            <a:r>
              <a:t>overwhelmed (adjective) 不堪重负的 — “I feel overwhelmed by emails.”</a:t>
            </a:r>
          </a:p>
          <a:p>
            <a:r>
              <a:t>frustrated (adjective) 沮丧的 — “I’m frustrated with the delay.”</a:t>
            </a:r>
          </a:p>
          <a:p>
            <a:r>
              <a:t>anxious (adjective) 焦虑的 — “She’s anxious about the review.”</a:t>
            </a:r>
          </a:p>
          <a:p>
            <a:r>
              <a:t>★ fired up (adjective) 充满干劲的 — “I’m fired up about this project.”</a:t>
            </a:r>
          </a:p>
          <a:p>
            <a:r>
              <a:t>★ drained (adjective) 精疲力竭的 — “I feel drained after meetings.”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Expressing 表达</a:t>
            </a:r>
          </a:p>
          <a:p>
            <a:r>
              <a:t>领读 → 学员跟读 → 请学员用表达造一个和自己工作相关的句子。</a:t>
            </a:r>
          </a:p>
          <a:p>
            <a:r>
              <a:t>I’m feeling… about… (phrase) 我对…感到… — “I’m feeling uneasy about the plan.”</a:t>
            </a:r>
          </a:p>
          <a:p>
            <a:r>
              <a:t>It’s natural to feel… (phrase) 感到…很自然 — “It’s natural to feel nervous.”</a:t>
            </a:r>
          </a:p>
          <a:p>
            <a:r>
              <a:t>vent (verb) 发泄 — “I needed to vent.”</a:t>
            </a:r>
          </a:p>
          <a:p>
            <a:r>
              <a:t>★ lose your cool / temper (idiom) 发脾气 — “I lost my cool.”</a:t>
            </a:r>
          </a:p>
          <a:p>
            <a:r>
              <a:t>★ bottle up (feelings) (phrasal verb) 压抑情绪 — “Don’t bottle it up.”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Supporting 支持他人</a:t>
            </a:r>
          </a:p>
          <a:p>
            <a:r>
              <a:t>领读 → 学员跟读 → 请学员用表达造一个和自己工作相关的句子。</a:t>
            </a:r>
          </a:p>
          <a:p>
            <a:r>
              <a:t>It sounds like… (phrase) 听起来… — “It sounds like you’re under pressure.”</a:t>
            </a:r>
          </a:p>
          <a:p>
            <a:r>
              <a:t>That must be… (phrase) 那一定很… — “That must be hard.”</a:t>
            </a:r>
          </a:p>
          <a:p>
            <a:r>
              <a:t>Is there anything I can do? (phrase) 我能帮什么吗? — “Is there anything I can do?”</a:t>
            </a:r>
          </a:p>
          <a:p>
            <a:r>
              <a:t>★ empathise with (verb) 共情 — “I empathise with you.”</a:t>
            </a:r>
          </a:p>
          <a:p>
            <a:r>
              <a:t>★ read the room (idiom) 察言观色 — “Learn to read the room.”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overwhelmed / frustrated / anxious / vent / sounds / empathise</a:t>
            </a:r>
          </a:p>
          <a:p>
            <a:r>
              <a:t>1. I feel _______ by the number of emails. → overwhelmed</a:t>
            </a:r>
          </a:p>
          <a:p>
            <a:r>
              <a:t>2. I’m _______ with the delay. → frustrated</a:t>
            </a:r>
          </a:p>
          <a:p>
            <a:r>
              <a:t>3. She’s _______ about tomorrow’s review. → anxious</a:t>
            </a:r>
          </a:p>
          <a:p>
            <a:r>
              <a:t>4. I just needed to _______ for a minute. → vent</a:t>
            </a:r>
          </a:p>
          <a:p>
            <a:r>
              <a:t>5. It _______ like you’re under pressure. → sounds</a:t>
            </a:r>
          </a:p>
          <a:p>
            <a:r>
              <a:t>6. I really _______ with you. → empathise</a:t>
            </a:r>
          </a:p>
          <a:p>
            <a:r>
              <a:t>Mistake Watch: (-ed/-ing) I’m frustrated (感受) / It’s frustrating (事物);anxious ABOUT,frustrated WITH/BY。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Supporting an upset colleague 安慰沮丧的同事</a:t>
            </a:r>
          </a:p>
          <a:p>
            <a:r>
              <a:t>情景：A colleague seems upset.</a:t>
            </a:r>
          </a:p>
          <a:p>
            <a:r>
              <a:t>Role A: Colleague Role B: You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just got some tough feedback. I feel drained.</a:t>
            </a:r>
          </a:p>
          <a:p>
            <a:r>
              <a:t>B: That sounds hard. Do you want to talk about it?</a:t>
            </a:r>
          </a:p>
          <a:p>
            <a:r>
              <a:t>A: I worked really hard on that report, and they only mentioned the mistakes.</a:t>
            </a:r>
          </a:p>
          <a:p>
            <a:r>
              <a:t>B: That must be frustrating. It’s natural to feel upset.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don’t want to overreact.</a:t>
            </a:r>
          </a:p>
          <a:p>
            <a:r>
              <a:t>B: You’re not overreacting. Maybe take a short walk, then we can look at the comments together.</a:t>
            </a:r>
          </a:p>
          <a:p>
            <a:r>
              <a:t>A: Thanks. That would help.</a:t>
            </a:r>
          </a:p>
          <a:p>
            <a:r>
              <a:t>B: Anytime.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 | </a:t>
            </a:r>
          </a:p>
          <a:p>
            <a:r>
              <a:t>Situation | You support an upset colleague.</a:t>
            </a:r>
          </a:p>
          <a:p>
            <a:r>
              <a:t>Your role (A) | Colleague. Problem: ______________</a:t>
            </a:r>
          </a:p>
          <a:p>
            <a:r>
              <a:t>Partner’s role (B) | Supporter.</a:t>
            </a:r>
          </a:p>
          <a:p>
            <a:r>
              <a:t>Must use (3 or more) | It sounds like… · That must be… · natural to feel · take a short walk · Is there anything I can do?</a:t>
            </a:r>
          </a:p>
          <a:p>
            <a:r>
              <a:t>Goal | Listen first, empathise, then offer one practical help.</a:t>
            </a:r>
          </a:p>
          <a:p>
            <a:r>
              <a:t>My notes | ____________________________________________</a:t>
            </a:r>
          </a:p>
          <a:p>
            <a:r>
              <a:t>Don’t give advice too early.</a:t>
            </a:r>
          </a:p>
          <a:p>
            <a:r>
              <a:t>Ask an open question.</a:t>
            </a:r>
          </a:p>
          <a:p>
            <a:r>
              <a:t>Check in the next day.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Expressing frustration professionally 职业地表达不满</a:t>
            </a:r>
          </a:p>
          <a:p>
            <a:r>
              <a:t>情景：You raise a concern with a manager.</a:t>
            </a:r>
          </a:p>
          <a:p>
            <a:r>
              <a:t>Role A: You Role B: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Can I share a concern? I’m feeling frustrated about the changing deadlines.</a:t>
            </a:r>
          </a:p>
          <a:p>
            <a:r>
              <a:t>B: Tell me more.</a:t>
            </a:r>
          </a:p>
          <a:p>
            <a:r>
              <a:t>A: Three times this month, priorities have changed with a day’s notice.</a:t>
            </a:r>
          </a:p>
          <a:p>
            <a:r>
              <a:t>B: I see. I didn’t realise it was affecting you so much.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It makes it hard to plan. Could we agree on a weekly priority list?</a:t>
            </a:r>
          </a:p>
          <a:p>
            <a:r>
              <a:t>B: That’s reasonable. I’ll set it up.</a:t>
            </a:r>
          </a:p>
          <a:p>
            <a:r>
              <a:t>A: Thank you. I appreciate your listening.</a:t>
            </a:r>
          </a:p>
          <a:p>
            <a:r>
              <a:t>B: Let’s review in a month.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 | </a:t>
            </a:r>
          </a:p>
          <a:p>
            <a:r>
              <a:t>Situation | You voice a feeling calmly.</a:t>
            </a:r>
          </a:p>
          <a:p>
            <a:r>
              <a:t>Your role (A) | Employee. Issue: ______________</a:t>
            </a:r>
          </a:p>
          <a:p>
            <a:r>
              <a:t>Partner’s role (B) | Manager.</a:t>
            </a:r>
          </a:p>
          <a:p>
            <a:r>
              <a:t>Must use (3 or more) | I’m feeling… about… · Three times this month · It makes it hard to · Could we…? · I appreciate</a:t>
            </a:r>
          </a:p>
          <a:p>
            <a:r>
              <a:t>Goal | Name the feeling, give facts and propose a fix.</a:t>
            </a:r>
          </a:p>
          <a:p>
            <a:r>
              <a:t>My notes | ____________________________________________</a:t>
            </a:r>
          </a:p>
          <a:p>
            <a:r>
              <a:t>Avoid “you always”.</a:t>
            </a:r>
          </a:p>
          <a:p>
            <a:r>
              <a:t>Offer a compromise.</a:t>
            </a:r>
          </a:p>
          <a:p>
            <a:r>
              <a:t>End with thanks.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Should managers show vulnerability? | “I think so, because…”</a:t>
            </a:r>
          </a:p>
          <a:p>
            <a:r>
              <a:t>2. How can you stay calm under pressure? | “I find that… helps.”</a:t>
            </a:r>
          </a:p>
          <a:p>
            <a:r>
              <a:t>3. Is anger ever useful at work? | “Sometimes, if…”</a:t>
            </a:r>
          </a:p>
          <a:p>
            <a:r>
              <a:t>4. How do cultures differ in showing emotion? | “In some cultures, … whereas…”</a:t>
            </a:r>
          </a:p>
          <a:p>
            <a:r>
              <a:t>5. What do you do when a colleague is upset? | “I usually…”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it can be good, in moderation. When a manager admits that something is hard, people feel it’s safe to be honest too. But managers also need to stay steady, so they shouldn’t share every worry. A good balance is to be open about challenges and calm about solutions.”</a:t>
            </a:r>
          </a:p>
          <a:p>
            <a:r>
              <a:t>“in moderation” 适度;“steady” 稳重。</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Describing feelings with the right form 情绪形容词形式</a:t>
            </a:r>
          </a:p>
          <a:p>
            <a:r>
              <a:t>-ed (person feels) | -ing (thing causes)</a:t>
            </a:r>
          </a:p>
          <a:p>
            <a:r>
              <a:t>I’m frustrated. | The delay is frustrating.</a:t>
            </a:r>
          </a:p>
          <a:p>
            <a:r>
              <a:t>She’s exhausted. | The schedule is exhausting.</a:t>
            </a:r>
          </a:p>
          <a:p>
            <a:r>
              <a:t>He’s worried. | The news is worrying.</a:t>
            </a:r>
          </a:p>
          <a:p>
            <a:r>
              <a:t>We’re excited. | The plan is exciting.</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Describing feelings with the right form 情绪形容词形式</a:t>
            </a:r>
          </a:p>
          <a:p>
            <a:r>
              <a:t>-ed = how a person feels; -ing = what causes the feeling.</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am very stress.  →  ✓ I’m very stressed. / I’m under a lot of stress.  (形容词/名词)</a:t>
            </a:r>
          </a:p>
          <a:p>
            <a:r>
              <a:t>✗ The meeting was very tired.  →  ✓ The meeting was very tiring.  (-ing)</a:t>
            </a:r>
          </a:p>
          <a:p>
            <a:r>
              <a:t>✗ I’m boring in the meeting.  →  ✓ I’m bored in the meeting.  (-ed)</a:t>
            </a:r>
          </a:p>
          <a:p>
            <a:r>
              <a:t>Mistake Watch: Check -ed/-ing adjectives, angry with, make + base verb.</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feel myself angry.  →  ✓ I feel angry.  (无需 myself)</a:t>
            </a:r>
          </a:p>
          <a:p>
            <a:r>
              <a:t>✗ She gets angry on me.  →  ✓ She gets angry with me.  (angry with)</a:t>
            </a:r>
          </a:p>
          <a:p>
            <a:r>
              <a:t>✗ It makes me to feel sad.  →  ✓ It makes me feel sad.  (make + 原形)</a:t>
            </a:r>
          </a:p>
          <a:p>
            <a:r>
              <a:t>Mistake Watch: Check -ed/-ing adjectives, angry with, make + base verb.</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Say “I feel”/“I’m concerned”. It’s more acceptable than blaming.</a:t>
            </a:r>
          </a:p>
          <a:p>
            <a:r>
              <a:t>Mental health is discussed. Many workplaces offer counselling support.</a:t>
            </a:r>
          </a:p>
          <a:p>
            <a:r>
              <a:t>Cultural differences. In some countries emotions are shown less openly; don’t read silence as indifference.</a:t>
            </a:r>
          </a:p>
          <a:p>
            <a:r>
              <a:t>Check in. “How are you, really?” is a caring, but not intrusive, question.</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name my feelings precisely.</a:t>
            </a:r>
          </a:p>
          <a:p>
            <a:r>
              <a:t>I can support a colleague with It sounds like…</a:t>
            </a:r>
          </a:p>
          <a:p>
            <a:r>
              <a:t>I can voice frustration professionally.</a:t>
            </a:r>
          </a:p>
          <a:p>
            <a:r>
              <a:t>I use -ed / -ing adjectives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Name three emotions you felt today, and use -ed/-ing forms in sentences.</a:t>
            </a:r>
          </a:p>
          <a:p>
            <a:r>
              <a:t>8–10 | Listen to your recording. Check: -ed/-ing, angry with, make + base.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54 · Sleep leadership 睡眠领导力</a:t>
            </a:r>
          </a:p>
          <a:p>
            <a:r>
              <a:t>Goal: discuss the role of sleep in performance and leadership, and talk about healthy habits and routines.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“sleep leadership” = 管理者以身作则重视睡眠。注意 “sleep well / sleep badly” 的副词用法。</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your sleep habits and how they affect your work.</a:t>
            </a:r>
          </a:p>
          <a:p>
            <a:r>
              <a:t>Say: usual routine → problem → effect → improvement.</a:t>
            </a:r>
          </a:p>
          <a:p>
            <a:r>
              <a:t>Useful starters: “I usually go to bed at…” / “When I don’t sleep enough, I…” / “It helps me to…” / “I’ve started…”</a:t>
            </a:r>
          </a:p>
          <a:p>
            <a:r>
              <a:t>“go to bed” 上床睡觉;“fall asleep” 入睡。</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Some executives once boasted about sleeping only four or five hours a night. Today, a growing number of leaders say that sleep is a performance tool, not a luxury. Most adults need around seven to nine hours, and tired people tend to make poorer decisions, react more emotionally and find it harder to remember information. The idea of “sleep leadership” suggests that leaders set an example. If a manager sends emails at 2 a.m., employees may feel they have to reply. Instead, leaders can protect quiet hours, avoid late meetings, and talk openly about rest. Good habits include a regular bedtime, limiting screens before sleeping, and keeping the bedroom cool and dark. These changes seem small, but their effect on mood and judgement can be large.</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do tired people tend to do?</a:t>
            </a:r>
          </a:p>
          <a:p>
            <a:r>
              <a:t>A: Make poorer decisions, react more emotionally, find memory harder.</a:t>
            </a:r>
          </a:p>
          <a:p>
            <a:r>
              <a:t>Q2. How can a manager’s behaviour affect employees’ sleep?</a:t>
            </a:r>
          </a:p>
          <a:p>
            <a:r>
              <a:t>A: Emails at 2 a.m. make employees feel they must reply.</a:t>
            </a:r>
          </a:p>
          <a:p>
            <a:r>
              <a:t>Q3. Give two good sleep habits.</a:t>
            </a:r>
          </a:p>
          <a:p>
            <a:r>
              <a:t>A: Regular bedtime; limit screens; keep the bedroom cool and dark.</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Sleep 睡眠</a:t>
            </a:r>
          </a:p>
          <a:p>
            <a:r>
              <a:t>领读 → 学员跟读 → 请学员用表达造一个和自己工作相关的句子。</a:t>
            </a:r>
          </a:p>
          <a:p>
            <a:r>
              <a:t>get enough sleep (collocation) 睡够 — “I try to get enough sleep.”</a:t>
            </a:r>
          </a:p>
          <a:p>
            <a:r>
              <a:t>fall asleep / stay asleep (verb) 入睡/保持睡眠 — “I can’t fall asleep easily.”</a:t>
            </a:r>
          </a:p>
          <a:p>
            <a:r>
              <a:t>sleep deprivation (noun) 睡眠不足 — “Sleep deprivation affects judgement.”</a:t>
            </a:r>
          </a:p>
          <a:p>
            <a:r>
              <a:t>★ toss and turn (idiom) 辗转反侧 — “I tossed and turned all night.”</a:t>
            </a:r>
          </a:p>
          <a:p>
            <a:r>
              <a:t>★ a night owl / an early bird (noun) 夜猫子/早起的人 — “I’m a night owl.”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Habits 习惯</a:t>
            </a:r>
          </a:p>
          <a:p>
            <a:r>
              <a:t>领读 → 学员跟读 → 请学员用表达造一个和自己工作相关的句子。</a:t>
            </a:r>
          </a:p>
          <a:p>
            <a:r>
              <a:t>bedtime routine (noun) 睡前习惯 — “I have a bedtime routine.”</a:t>
            </a:r>
          </a:p>
          <a:p>
            <a:r>
              <a:t>wind down (phrasal verb) 放松下来 — “I wind down with a book.”</a:t>
            </a:r>
          </a:p>
          <a:p>
            <a:r>
              <a:t>screen time (noun) 屏幕时间 — “Limit screen time before bed.”</a:t>
            </a:r>
          </a:p>
          <a:p>
            <a:r>
              <a:t>★ unplug (verb) 断开连接 — “I unplug after 9 p.m.”</a:t>
            </a:r>
          </a:p>
          <a:p>
            <a:r>
              <a:t>★ sleep in (phrasal verb) 睡懒觉 — “I sleep in on Sundays.”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Leadership 领导</a:t>
            </a:r>
          </a:p>
          <a:p>
            <a:r>
              <a:t>领读 → 学员跟读 → 请学员用表达造一个和自己工作相关的句子。</a:t>
            </a:r>
          </a:p>
          <a:p>
            <a:r>
              <a:t>set an example (collocation) 树立榜样 — “Leaders set an example.”</a:t>
            </a:r>
          </a:p>
          <a:p>
            <a:r>
              <a:t>model (healthy habits) (verb) 以身示范 — “She models healthy habits.”</a:t>
            </a:r>
          </a:p>
          <a:p>
            <a:r>
              <a:t>respect (people’s) downtime (collocation) 尊重休息时间 — “Respect your team’s downtime.”</a:t>
            </a:r>
          </a:p>
          <a:p>
            <a:r>
              <a:t>★ a culture of overwork (noun) 过度工作的文化 — “We need to change a culture of overwork.”</a:t>
            </a:r>
          </a:p>
          <a:p>
            <a:r>
              <a:t>★ lead by example (idiom) 以身作则 — “She leads by example.”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enough / asleep / deprivation / wind / screen / example</a:t>
            </a:r>
          </a:p>
          <a:p>
            <a:r>
              <a:t>1. I try to get _______ sleep. → enough</a:t>
            </a:r>
          </a:p>
          <a:p>
            <a:r>
              <a:t>2. I can’t fall _______ easily. → asleep</a:t>
            </a:r>
          </a:p>
          <a:p>
            <a:r>
              <a:t>3. Sleep _______ affects judgement. → deprivation</a:t>
            </a:r>
          </a:p>
          <a:p>
            <a:r>
              <a:t>4. I _______ down with a book. → wind</a:t>
            </a:r>
          </a:p>
          <a:p>
            <a:r>
              <a:t>5. Limit _______ time before bed. → screen</a:t>
            </a:r>
          </a:p>
          <a:p>
            <a:r>
              <a:t>6. Leaders must set an _______. → example</a:t>
            </a:r>
          </a:p>
          <a:p>
            <a:r>
              <a:t>Mistake Watch: (搭配) get enough sleep, go to bed, fall asleep;sleep 作名词不可数, a good night’s sleep。</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about sleep 聊睡眠</a:t>
            </a:r>
          </a:p>
          <a:p>
            <a:r>
              <a:t>情景：A colleague seems tired.</a:t>
            </a:r>
          </a:p>
          <a:p>
            <a:r>
              <a:t>Role A: Colleague Role B: You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You look tired. Not sleeping well?</a:t>
            </a:r>
          </a:p>
          <a:p>
            <a:r>
              <a:t>B: I’ve been tossing and turning for a week. My mind keeps racing.</a:t>
            </a:r>
          </a:p>
          <a:p>
            <a:r>
              <a:t>A: I used to be the same. I started a bedtime routine and stopped looking at my phone after ten.</a:t>
            </a:r>
          </a:p>
          <a:p>
            <a:r>
              <a:t>B: Does that really help?</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It does. I fall asleep much faster now.</a:t>
            </a:r>
          </a:p>
          <a:p>
            <a:r>
              <a:t>B: I’ll try that. I usually wind down by watching videos.</a:t>
            </a:r>
          </a:p>
          <a:p>
            <a:r>
              <a:t>A: Try reading instead. And keep the bedroom cool.</a:t>
            </a:r>
          </a:p>
          <a:p>
            <a:r>
              <a:t>B: Thanks, I’ll give it a go.</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 | </a:t>
            </a:r>
          </a:p>
          <a:p>
            <a:r>
              <a:t>Situation | You share sleep tips.</a:t>
            </a:r>
          </a:p>
          <a:p>
            <a:r>
              <a:t>Your role (A) | Tired colleague.</a:t>
            </a:r>
          </a:p>
          <a:p>
            <a:r>
              <a:t>Partner’s role (B) | Colleague with tips. Problem: ______________</a:t>
            </a:r>
          </a:p>
          <a:p>
            <a:r>
              <a:t>Must use (3 or more) | not sleeping well · bedtime routine · wind down · screen time · give it a go</a:t>
            </a:r>
          </a:p>
          <a:p>
            <a:r>
              <a:t>Goal | Describe the problem and suggest two practical habits.</a:t>
            </a:r>
          </a:p>
          <a:p>
            <a:r>
              <a:t>My notes | ____________________________________________</a:t>
            </a:r>
          </a:p>
          <a:p>
            <a:r>
              <a:t>Mention caffeine.</a:t>
            </a:r>
          </a:p>
          <a:p>
            <a:r>
              <a:t>Suggest seeing a doctor if it continues.</a:t>
            </a:r>
          </a:p>
          <a:p>
            <a:r>
              <a:t>Share how you feel when you sleep well.</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leader sets an example 领导者以身作则</a:t>
            </a:r>
          </a:p>
          <a:p>
            <a:r>
              <a:t>情景：A manager changes team norms.</a:t>
            </a:r>
          </a:p>
          <a:p>
            <a:r>
              <a:t>Role A: Manager Role B: Team member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I’ve noticed some of you answer messages late at night. I’d like to change that.</a:t>
            </a:r>
          </a:p>
          <a:p>
            <a:r>
              <a:t>B: I do sometimes, because I think you expect it.</a:t>
            </a:r>
          </a:p>
          <a:p>
            <a:r>
              <a:t>A: I don’t. I’ll stop sending messages after 7 p.m., unless it’s urgent.</a:t>
            </a:r>
          </a:p>
          <a:p>
            <a:r>
              <a:t>B: That would help. It’s hard to switch off otherwise.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And no meetings before nine or after five.</a:t>
            </a:r>
          </a:p>
          <a:p>
            <a:r>
              <a:t>B: Thank you. It shows you respect our downtime.</a:t>
            </a:r>
          </a:p>
          <a:p>
            <a:r>
              <a:t>A: I’d like us to be rested and sharp, not exhausted.</a:t>
            </a:r>
          </a:p>
          <a:p>
            <a:r>
              <a:t>B: Agreed. I’ll sleep better too.</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 | </a:t>
            </a:r>
          </a:p>
          <a:p>
            <a:r>
              <a:t>Situation | You set team norms.</a:t>
            </a:r>
          </a:p>
          <a:p>
            <a:r>
              <a:t>Your role (A) | Manager.</a:t>
            </a:r>
          </a:p>
          <a:p>
            <a:r>
              <a:t>Partner’s role (B) | Team member. Norm: ______________</a:t>
            </a:r>
          </a:p>
          <a:p>
            <a:r>
              <a:t>Must use (3 or more) | set an example · switch off · respect downtime · unless it’s urgent · rested</a:t>
            </a:r>
          </a:p>
          <a:p>
            <a:r>
              <a:t>Goal | Explain the norm, the reason and exceptions.</a:t>
            </a:r>
          </a:p>
          <a:p>
            <a:r>
              <a:t>My notes | ____________________________________________</a:t>
            </a:r>
          </a:p>
          <a:p>
            <a:r>
              <a:t>Ask for team suggestions.</a:t>
            </a:r>
          </a:p>
          <a:p>
            <a:r>
              <a:t>Review in a month.</a:t>
            </a:r>
          </a:p>
          <a:p>
            <a:r>
              <a:t>Respond to a client emergency.</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Is it realistic to expect leaders to sleep eight hours? | “Not always, but…”</a:t>
            </a:r>
          </a:p>
          <a:p>
            <a:r>
              <a:t>2. Should companies provide nap rooms? | “They could, because…”</a:t>
            </a:r>
          </a:p>
          <a:p>
            <a:r>
              <a:t>3. Do you think successful people sleep less? | “Some claim they do, but…”</a:t>
            </a:r>
          </a:p>
          <a:p>
            <a:r>
              <a:t>4. What is a good bedtime routine? | “I’d suggest… / It works for me to…”</a:t>
            </a:r>
          </a:p>
          <a:p>
            <a:r>
              <a:t>5. How does sleep affect decision-making? | “When people are tired, they…”</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“A good bedtime routine starts an hour before sleeping. I turn off screens, dim the lights and do something calm, like reading or stretching. I also try to go to bed at the same time every night. These small habits tell my body it’s time to rest, and I fall asleep faster.”</a:t>
            </a:r>
          </a:p>
          <a:p>
            <a:r>
              <a:t>“dim the lights” 调暗灯光;“tell my body” 提示身体。</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Habits and routines 习惯与例行事项</a:t>
            </a:r>
          </a:p>
          <a:p>
            <a:r>
              <a:t>Structure | Example</a:t>
            </a:r>
          </a:p>
          <a:p>
            <a:r>
              <a:t>usually / tend to + verb | I usually go to bed at eleven.</a:t>
            </a:r>
          </a:p>
          <a:p>
            <a:r>
              <a:t>used to + verb | I used to check my phone in bed.</a:t>
            </a:r>
          </a:p>
          <a:p>
            <a:r>
              <a:t>have started / stopped + -ing | I’ve stopped drinking coffee after noon.</a:t>
            </a:r>
          </a:p>
          <a:p>
            <a:r>
              <a:t>It helps (me) to + verb | It helps me to read before bed.</a:t>
            </a:r>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Habits and routines 习惯与例行事项</a:t>
            </a:r>
          </a:p>
          <a:p>
            <a:r>
              <a:t>Use adverbs of frequency before the main verb: I always wind down, I rarely sleep in.</a:t>
            </a:r>
          </a:p>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sleep very bad.  →  ✓ I sleep very badly. / I don’t sleep well.  (副词)</a:t>
            </a:r>
          </a:p>
          <a:p>
            <a:r>
              <a:t>✗ I went to sleep at midnight and wake up at 6.  →  ✓ …and woke up at 6.  (时态一致)</a:t>
            </a:r>
          </a:p>
          <a:p>
            <a:r>
              <a:t>✗ I am used to go to bed late.  →  ✓ I am used to going to bed late.  (-ing)</a:t>
            </a:r>
          </a:p>
          <a:p>
            <a:r>
              <a:t>Mistake Watch: Check adverbs (badly / well), stop + -ing, be used to + -ing, and get sleep.</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have a good sleeping.  →  ✓ I get good sleep.  (搭配)</a:t>
            </a:r>
          </a:p>
          <a:p>
            <a:r>
              <a:t>✗ I stopped to check my phone.  →  ✓ I stopped checking my phone.  (stop + -ing)</a:t>
            </a:r>
          </a:p>
          <a:p>
            <a:r>
              <a:t>✗ Sleeping early is good for health.  →  ✓ Going to bed early is good for your health.  (搭配)</a:t>
            </a:r>
          </a:p>
          <a:p>
            <a:r>
              <a:t>Mistake Watch: Check adverbs (badly / well), stop + -ing, be used to + -ing, and get sleep.</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Sleep is a health topic. Talking about it is accepted, not weak.</a:t>
            </a:r>
          </a:p>
          <a:p>
            <a:r>
              <a:t>Respect “do not disturb”. Don’t expect immediate replies after hours.</a:t>
            </a:r>
          </a:p>
          <a:p>
            <a:r>
              <a:t>Wellness programmes. Some companies offer sleep workshops.</a:t>
            </a:r>
          </a:p>
          <a:p>
            <a:r>
              <a:t>Naps differ. Siesta cultures accept naps; elsewhere they’re unusual.</a:t>
            </a:r>
          </a:p>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my sleep habits and their effect.</a:t>
            </a:r>
          </a:p>
          <a:p>
            <a:r>
              <a:t>I can suggest healthy habits politely.</a:t>
            </a:r>
          </a:p>
          <a:p>
            <a:r>
              <a:t>I can explain “leading by example”.</a:t>
            </a:r>
          </a:p>
          <a:p>
            <a:r>
              <a:t>I use adverbs (well/badly) and stop + -ing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Describe your routine in the evening and one change you’d make.</a:t>
            </a:r>
          </a:p>
          <a:p>
            <a:r>
              <a:t>8–10 | Listen to your recording. Check: well/badly, stop -ing, used to, be used to -ing.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55 · Burnout and creativity 倦怠和创造力</a:t>
            </a:r>
          </a:p>
          <a:p>
            <a:r>
              <a:t>Goal: discuss burnout, its signs and its link to creativity, and talk about recovery and prevention.</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“burnout” = 倦怠;“run out of” = 用完。第 1 题现在完成时。</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the signs of burnout and ways to recover.</a:t>
            </a:r>
          </a:p>
          <a:p>
            <a:r>
              <a:t>Say: signs → causes → effect on creativity → recovery.</a:t>
            </a:r>
          </a:p>
          <a:p>
            <a:r>
              <a:t>Useful starters: “Typical signs are…” / “It’s often caused by…” / “When you’re burnt out, you…” / “To recover, it helps to…”</a:t>
            </a:r>
          </a:p>
          <a:p>
            <a:r>
              <a:t>“run out of ideas” 想不出点子;“burnt out” 或 “burned out”。</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Burnout is a state of physical and emotional exhaustion caused by long-term stress, often linked to work. Typical signs include constant tiredness, cynicism about work and a feeling of reduced achievement. Creativity is usually one of the first things to suffer. A stressed, exhausted mind prefers familiar routines and finds it hard to connect new ideas. Ironically, creative people can be at higher risk, because they often care deeply about their work and set high standards. Recovery needs more than a weekend off. It may involve reducing workload, setting boundaries, sleeping and exercising regularly, and sometimes professional help. Prevention is easier than cure: manage workload honestly, take real breaks and notice early signals such as irritability or sleeping badly. Asking for help early is a sign of good judgement, not weakness.</a:t>
            </a:r>
          </a:p>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are three signs of burnout?</a:t>
            </a:r>
          </a:p>
          <a:p>
            <a:r>
              <a:t>A: Constant tiredness, cynicism, reduced sense of achievement.</a:t>
            </a:r>
          </a:p>
          <a:p>
            <a:r>
              <a:t>Q2. Why can creative people be at higher risk?</a:t>
            </a:r>
          </a:p>
          <a:p>
            <a:r>
              <a:t>A: They care deeply and set high standards.</a:t>
            </a:r>
          </a:p>
          <a:p>
            <a:r>
              <a:t>Q3. What is easier than cure?</a:t>
            </a:r>
          </a:p>
          <a:p>
            <a:r>
              <a:t>A: Prevention.</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Burnout 倦怠</a:t>
            </a:r>
          </a:p>
          <a:p>
            <a:r>
              <a:t>领读 → 学员跟读 → 请学员用表达造一个和自己工作相关的句子。</a:t>
            </a:r>
          </a:p>
          <a:p>
            <a:r>
              <a:t>burnout (noun) 倦怠 — “Burnout is a serious problem.”</a:t>
            </a:r>
          </a:p>
          <a:p>
            <a:r>
              <a:t>be burnt out (adjective) 精疲力竭 — “I’m completely burnt out.”</a:t>
            </a:r>
          </a:p>
          <a:p>
            <a:r>
              <a:t>exhaustion (noun) 疲惫 — “Exhaustion is a warning sign.”</a:t>
            </a:r>
          </a:p>
          <a:p>
            <a:r>
              <a:t>★ run on empty (idiom) 精力耗尽 — “He’s running on empty.”</a:t>
            </a:r>
          </a:p>
          <a:p>
            <a:r>
              <a:t>★ cynicism (noun) 愤世嫉俗/消极态度 — “Cynicism is a sign of burnout.”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Creativity 创造力</a:t>
            </a:r>
          </a:p>
          <a:p>
            <a:r>
              <a:t>领读 → 学员跟读 → 请学员用表达造一个和自己工作相关的句子。</a:t>
            </a:r>
          </a:p>
          <a:p>
            <a:r>
              <a:t>come up with ideas (collocation) 想出点子 — “I can’t come up with ideas.”</a:t>
            </a:r>
          </a:p>
          <a:p>
            <a:r>
              <a:t>think outside the box (idiom) 跳出常规思考 — “We need to think outside the box.”</a:t>
            </a:r>
          </a:p>
          <a:p>
            <a:r>
              <a:t>creative block (noun) 创作瓶颈 — “I have a creative block.”</a:t>
            </a:r>
          </a:p>
          <a:p>
            <a:r>
              <a:t>★ spark / fuel creativity (collocation) 激发创造力 — “Rest fuels creativity.”</a:t>
            </a:r>
          </a:p>
          <a:p>
            <a:r>
              <a:t>★ incubate (verb) 酝酿 — “Ideas incubate while you rest.”</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Recovery 恢复</a:t>
            </a:r>
          </a:p>
          <a:p>
            <a:r>
              <a:t>领读 → 学员跟读 → 请学员用表达造一个和自己工作相关的句子。</a:t>
            </a:r>
          </a:p>
          <a:p>
            <a:r>
              <a:t>take time off (collocation) 休假 — “She took time off to recover.”</a:t>
            </a:r>
          </a:p>
          <a:p>
            <a:r>
              <a:t>seek support (collocation) 寻求支持 — “Seek support if you need it.”</a:t>
            </a:r>
          </a:p>
          <a:p>
            <a:r>
              <a:t>recover from (verb phrase) 从…恢复 — “He recovered from burnout.”</a:t>
            </a:r>
          </a:p>
          <a:p>
            <a:r>
              <a:t>★ ease off (phrasal verb) 放缓 — “She eased off for a month.”</a:t>
            </a:r>
          </a:p>
          <a:p>
            <a:r>
              <a:t>★ nip it in the bud (idiom) 防患未然 — “Nip burnout in the bud.”</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burnt / exhaustion / block / outside / support / recover</a:t>
            </a:r>
          </a:p>
          <a:p>
            <a:r>
              <a:t>1. I’m completely _______ out. → burnt</a:t>
            </a:r>
          </a:p>
          <a:p>
            <a:r>
              <a:t>2. _______ is a warning sign. → Exhaustion</a:t>
            </a:r>
          </a:p>
          <a:p>
            <a:r>
              <a:t>3. I have a creative _______. → block</a:t>
            </a:r>
          </a:p>
          <a:p>
            <a:r>
              <a:t>4. We need to think _______ the box. → outside</a:t>
            </a:r>
          </a:p>
          <a:p>
            <a:r>
              <a:t>5. Seek _______ if you need it. → support</a:t>
            </a:r>
          </a:p>
          <a:p>
            <a:r>
              <a:t>6. He took months to _______ from burnout. → recover</a:t>
            </a:r>
          </a:p>
          <a:p>
            <a:r>
              <a:t>Mistake Watch: (拼写) burnt / burned out 均可; burnout 名词。recover FROM。</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Admitting you’re burnt out 承认自己倦怠</a:t>
            </a:r>
          </a:p>
          <a:p>
            <a:r>
              <a:t>情景：You talk to your manager.</a:t>
            </a:r>
          </a:p>
          <a:p>
            <a:r>
              <a:t>Role A: You Role B: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need to be honest. I think I’m burnt out.</a:t>
            </a:r>
          </a:p>
          <a:p>
            <a:r>
              <a:t>B: I’m sorry to hear that. What have you noticed?</a:t>
            </a:r>
          </a:p>
          <a:p>
            <a:r>
              <a:t>A: I’m exhausted all the time and I can’t come up with ideas anymore.</a:t>
            </a:r>
          </a:p>
          <a:p>
            <a:r>
              <a:t>B: Thank you for telling me. What would help?</a:t>
            </a:r>
          </a:p>
          <a:p>
            <a:r>
              <a:t>A: Maybe a week off and a lighter workload for a month.</a:t>
            </a:r>
          </a:p>
          <a:p>
            <a:r>
              <a:t>B: Let’s arrange that. Have you thought about talking to someone?</a:t>
            </a:r>
          </a:p>
          <a:p>
            <a:r>
              <a:t>A: I’m considering counselling.</a:t>
            </a:r>
          </a:p>
          <a:p>
            <a:r>
              <a:t>B: The company has a support programme. I’ll send you the details.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5 | </a:t>
            </a:r>
          </a:p>
          <a:p>
            <a:r>
              <a:t>Situation | You raise burnout with your manager.</a:t>
            </a:r>
          </a:p>
          <a:p>
            <a:r>
              <a:t>Your role (A) | Employee. Symptoms: ______________</a:t>
            </a:r>
          </a:p>
          <a:p>
            <a:r>
              <a:t>Partner’s role (B) | Manager.</a:t>
            </a:r>
          </a:p>
          <a:p>
            <a:r>
              <a:t>Must use (3 or more) | burnt out · exhausted all the time · can’t come up with ideas · take time off · seek support</a:t>
            </a:r>
          </a:p>
          <a:p>
            <a:r>
              <a:t>Goal | Describe signs, ask for specific help, accept support.</a:t>
            </a:r>
          </a:p>
          <a:p>
            <a:r>
              <a:t>My notes | ____________________________________________</a:t>
            </a:r>
          </a:p>
          <a:p>
            <a:r>
              <a:t>Avoid blaming the manager.</a:t>
            </a:r>
          </a:p>
          <a:p>
            <a:r>
              <a:t>Suggest a recovery plan.</a:t>
            </a:r>
          </a:p>
          <a:p>
            <a:r>
              <a:t>Set a check-in date.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Brainstorming when stuck 想不出点子时头脑风暴</a:t>
            </a:r>
          </a:p>
          <a:p>
            <a:r>
              <a:t>情景：A team has a creative block.</a:t>
            </a:r>
          </a:p>
          <a:p>
            <a:r>
              <a:t>Role A: Team lead Role B: Team member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We’ve been staring at this for an hour and have nothing.</a:t>
            </a:r>
          </a:p>
          <a:p>
            <a:r>
              <a:t>B: I think we’re tired. Let’s take a break.</a:t>
            </a:r>
          </a:p>
          <a:p>
            <a:r>
              <a:t>A: Good idea. Let’s take a walk and come back in twenty minutes.</a:t>
            </a:r>
          </a:p>
          <a:p>
            <a:r>
              <a:t>B: Sometimes ideas incubate when you’re not thinking about them.</a:t>
            </a:r>
          </a:p>
          <a:p>
            <a:r>
              <a:t>A: True. And when we come back, let’s think outside the box.</a:t>
            </a:r>
          </a:p>
          <a:p>
            <a:r>
              <a:t>B: What if we ask a customer instead?</a:t>
            </a:r>
          </a:p>
          <a:p>
            <a:r>
              <a:t>A: Interesting. That might spark something.</a:t>
            </a:r>
          </a:p>
          <a:p>
            <a:r>
              <a:t>B: Let’s try it.</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6 | </a:t>
            </a:r>
          </a:p>
          <a:p>
            <a:r>
              <a:t>Situation | You handle a creative block.</a:t>
            </a:r>
          </a:p>
          <a:p>
            <a:r>
              <a:t>Your role (A) | Team lead.</a:t>
            </a:r>
          </a:p>
          <a:p>
            <a:r>
              <a:t>Partner’s role (B) | Team member. Problem: ______________</a:t>
            </a:r>
          </a:p>
          <a:p>
            <a:r>
              <a:t>Must use (3 or more) | creative block · take a break · incubate · think outside the box · spark</a:t>
            </a:r>
          </a:p>
          <a:p>
            <a:r>
              <a:t>Goal | Notice the problem, change approach and propose a new idea.</a:t>
            </a:r>
          </a:p>
          <a:p>
            <a:r>
              <a:t>My notes | ____________________________________________</a:t>
            </a:r>
          </a:p>
          <a:p>
            <a:r>
              <a:t>Use a rule: “No bad ideas”.</a:t>
            </a:r>
          </a:p>
          <a:p>
            <a:r>
              <a:t>Time-limit the break.</a:t>
            </a:r>
          </a:p>
          <a:p>
            <a:r>
              <a:t>Ask an outsider.</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Do you think burnout is more common now? | “It seems so, because…”</a:t>
            </a:r>
          </a:p>
          <a:p>
            <a:r>
              <a:t>2. Can pressure increase creativity? | “A little, but too much…”</a:t>
            </a:r>
          </a:p>
          <a:p>
            <a:r>
              <a:t>3. Whose responsibility is burnout, the employee’s or the employer’s? | “Both, but especially…”</a:t>
            </a:r>
          </a:p>
          <a:p>
            <a:r>
              <a:t>4. What early signs should you not ignore? | “I’d watch for…”</a:t>
            </a:r>
          </a:p>
          <a:p>
            <a:r>
              <a:t>5. How do you recharge creatively? | “I tend to… / It helps me to…”</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it’s mainly the employer’s responsibility, because they control workload, deadlines and culture. But employees also need to speak up early and set boundaries. A healthy workplace is one where people feel safe to say,”I’m struggling”, before it becomes a crisis.”</a:t>
            </a:r>
          </a:p>
          <a:p>
            <a:r>
              <a:t>“speak up” 大胆表达;“before it becomes a crisis” 在变成危机之前。</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about health sensitively 谈健康问题要委婉</a:t>
            </a:r>
          </a:p>
          <a:p>
            <a:r>
              <a:t>Direct | Gentle</a:t>
            </a:r>
          </a:p>
          <a:p>
            <a:r>
              <a:t>You are burnt out. | You seem exhausted. Are you OK?</a:t>
            </a:r>
          </a:p>
          <a:p>
            <a:r>
              <a:t>You should see a doctor. | Have you thought about talking to someone?</a:t>
            </a:r>
          </a:p>
          <a:p>
            <a:r>
              <a:t>You look terrible. | You look like you could use a break.</a:t>
            </a:r>
          </a:p>
          <a:p>
            <a:r>
              <a:t>Your work is getting worse. | I’ve noticed it’s been harder to meet deadlines lately. Is anything wrong?</a:t>
            </a:r>
          </a:p>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about health sensitively 谈健康问题要委婉</a:t>
            </a:r>
          </a:p>
          <a:p>
            <a:r>
              <a:t>Start with observation + question: I’ve noticed… Is everything OK?</a:t>
            </a:r>
          </a:p>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am burn out.  →  ✓ I am burnt out. / I’ve burnt out.  (burnt out)</a:t>
            </a:r>
          </a:p>
          <a:p>
            <a:r>
              <a:t>✗ He suffers from the stress.  →  ✓ He suffers from stress.  (无冠词)</a:t>
            </a:r>
          </a:p>
          <a:p>
            <a:r>
              <a:t>✗ I’m exhausting.  →  ✓ I’m exhausted.  (-ed)</a:t>
            </a:r>
          </a:p>
          <a:p>
            <a:r>
              <a:t>Mistake Watch: Check burnt out, suffer from stress, come up with ideas, for + period.</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can’t create idea.  →  ✓ I can’t come up with ideas.  (come up with)</a:t>
            </a:r>
          </a:p>
          <a:p>
            <a:r>
              <a:t>✗ You should to rest.  →  ✓ You should rest.  (should + 原形)</a:t>
            </a:r>
          </a:p>
          <a:p>
            <a:r>
              <a:t>✗ I recovered from the burnout since two months.  →  ✓ I’ve been recovering from burnout for two months.  (for/现在完成进行时)</a:t>
            </a:r>
          </a:p>
          <a:p>
            <a:r>
              <a:t>Mistake Watch: Check burnt out, suffer from stress, come up with ideas, for + period.</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Burnout is recognised as an occupational phenomenon. The WHO has described it in this way.</a:t>
            </a:r>
          </a:p>
          <a:p>
            <a:r>
              <a:t>Sick leave and mental health. Many employers accept mental-health leave.</a:t>
            </a:r>
          </a:p>
          <a:p>
            <a:r>
              <a:t>Confidentiality. Personal health information shouldn’t be shared without consent.</a:t>
            </a:r>
          </a:p>
          <a:p>
            <a:r>
              <a:t>Offering support. Say “I’m here if you want to talk”, without pushing.</a:t>
            </a:r>
          </a:p>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burnout and its signs.</a:t>
            </a:r>
          </a:p>
          <a:p>
            <a:r>
              <a:t>I can ask for support at work.</a:t>
            </a:r>
          </a:p>
          <a:p>
            <a:r>
              <a:t>I can respond to a colleague gently.</a:t>
            </a:r>
          </a:p>
          <a:p>
            <a:r>
              <a:t>I use burnt out, exhausted, come up with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Describe three signs of burnout and three ways to prevent it.</a:t>
            </a:r>
          </a:p>
          <a:p>
            <a:r>
              <a:t>8–10 | Listen to your recording. Check: burnt out, exhausted, suffer from, come up with.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56 · The cost of work stress 工作压力的代价</a:t>
            </a:r>
          </a:p>
          <a:p>
            <a:r>
              <a:t>Goal: discuss the personal and business costs of work stress, and describe causes and solutions with numbers and examples.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“stress” 作名词不可数:a lot of stress;形容词 stressed。“cost” 既可以名词也可以动词。</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the causes and costs of stress at work.</a:t>
            </a:r>
          </a:p>
          <a:p>
            <a:r>
              <a:t>Say: causes → effects on people → effects on business → solutions.</a:t>
            </a:r>
          </a:p>
          <a:p>
            <a:r>
              <a:t>Useful starters: “The main causes are…” / “It can lead to…” / “For companies, this means…” / “To reduce it, they could…”</a:t>
            </a:r>
          </a:p>
          <a:p>
            <a:r>
              <a:t>“lead to” 导致;“For companies, this means…” 对公司而言意味着…</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Work stress has a price that rarely appears on a balance sheet. For employees, the cost may include sleep problems, headaches, anxiety and strained relationships. For employers, it shows up as sick leave, mistakes, lower productivity and high staff turnover. Many organisations estimate that replacing a single employee can cost between half and twice that person’s annual salary, which makes retention a serious financial matter. Common causes of stress include heavy workloads, unclear expectations, little control, poor relationships and job insecurity. The encouraging news is that many causes are manageable. Clear priorities, regular feedback, realistic deadlines and a manager who listens can reduce stress considerably. Employers who invest in these basics often find that the savings outweigh the cost of the changes.</a:t>
            </a:r>
          </a:p>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Name two costs of stress for employers.</a:t>
            </a:r>
          </a:p>
          <a:p>
            <a:r>
              <a:t>A: Sick leave, mistakes, lower productivity, high turnover.</a:t>
            </a:r>
          </a:p>
          <a:p>
            <a:r>
              <a:t>Q2. Why is turnover expensive?</a:t>
            </a:r>
          </a:p>
          <a:p>
            <a:r>
              <a:t>A: Replacing an employee can cost half to twice their annual salary.</a:t>
            </a:r>
          </a:p>
          <a:p>
            <a:r>
              <a:t>Q3. What simple changes can reduce stress?</a:t>
            </a:r>
          </a:p>
          <a:p>
            <a:r>
              <a:t>A: Clear priorities, regular feedback, realistic deadlines, a manager who listens.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Causes 原因</a:t>
            </a:r>
          </a:p>
          <a:p>
            <a:r>
              <a:t>领读 → 学员跟读 → 请学员用表达造一个和自己工作相关的句子。</a:t>
            </a:r>
          </a:p>
          <a:p>
            <a:r>
              <a:t>heavy workload (noun) 繁重工作量 — “A heavy workload is a common cause.”</a:t>
            </a:r>
          </a:p>
          <a:p>
            <a:r>
              <a:t>tight deadline (noun) 紧迫的截止日期 — “We have a tight deadline.”</a:t>
            </a:r>
          </a:p>
          <a:p>
            <a:r>
              <a:t>job insecurity (noun) 工作不安全感 — “Job insecurity increases stress.”</a:t>
            </a:r>
          </a:p>
          <a:p>
            <a:r>
              <a:t>★ be under pressure (phrase) 面临压力 — “She’s under pressure to deliver.”</a:t>
            </a:r>
          </a:p>
          <a:p>
            <a:r>
              <a:t>★ a toxic environment (noun) 恶劣的工作环境 — “A toxic environment harms health.”</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Costs 代价</a:t>
            </a:r>
          </a:p>
          <a:p>
            <a:r>
              <a:t>领读 → 学员跟读 → 请学员用表达造一个和自己工作相关的句子。</a:t>
            </a:r>
          </a:p>
          <a:p>
            <a:r>
              <a:t>sick leave (noun) 病假 — “Stress increases sick leave.”</a:t>
            </a:r>
          </a:p>
          <a:p>
            <a:r>
              <a:t>staff turnover (noun) 员工流失率 — “Turnover is high here.”</a:t>
            </a:r>
          </a:p>
          <a:p>
            <a:r>
              <a:t>lost productivity (noun) 生产率损失 — “Lost productivity costs money.”</a:t>
            </a:r>
          </a:p>
          <a:p>
            <a:r>
              <a:t>★ take a toll on (idiom) 造成损害 — “Stress takes a toll on health.”</a:t>
            </a:r>
          </a:p>
          <a:p>
            <a:r>
              <a:t>★ the bottom line (noun) 底线(利润) — “Stress affects the bottom line.”</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Solutions 对策</a:t>
            </a:r>
          </a:p>
          <a:p>
            <a:r>
              <a:t>领读 → 学员跟读 → 请学员用表达造一个和自己工作相关的句子。</a:t>
            </a:r>
          </a:p>
          <a:p>
            <a:r>
              <a:t>manage stress (collocation) 管理压力 — “Learn to manage stress.”</a:t>
            </a:r>
          </a:p>
          <a:p>
            <a:r>
              <a:t>wellness programme (noun) 健康计划 — “We offer a wellness programme.”</a:t>
            </a:r>
          </a:p>
          <a:p>
            <a:r>
              <a:t>employee assistance programme (noun) 员工援助计划 — “The EAP offers counselling.”</a:t>
            </a:r>
          </a:p>
          <a:p>
            <a:r>
              <a:t>★ build resilience (collocation) 增强韧性 — “Training can build resilience.”</a:t>
            </a:r>
          </a:p>
          <a:p>
            <a:r>
              <a:t>★ the savings outweigh the cost (phrase) 节省超过成本 — “The savings outweigh the cost.”</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workload / deadline / insecurity / turnover / toll / resilience</a:t>
            </a:r>
          </a:p>
          <a:p>
            <a:r>
              <a:t>1. A heavy _______ is a common cause of stress. → workload</a:t>
            </a:r>
          </a:p>
          <a:p>
            <a:r>
              <a:t>2. We have a very tight _______. → deadline</a:t>
            </a:r>
          </a:p>
          <a:p>
            <a:r>
              <a:t>3. Job _______ increases stress. → insecurity</a:t>
            </a:r>
          </a:p>
          <a:p>
            <a:r>
              <a:t>4. Staff _______ is high in this team. → turnover</a:t>
            </a:r>
          </a:p>
          <a:p>
            <a:r>
              <a:t>5. Stress can take a _______ on your health. → toll</a:t>
            </a:r>
          </a:p>
          <a:p>
            <a:r>
              <a:t>6. Training can help you build _______. → resilience</a:t>
            </a:r>
          </a:p>
          <a:p>
            <a:r>
              <a:t>Mistake Watch: (搭配) under pressure(不用 in pressure), stress 不可数, tight deadline(不用 close deadline)。</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Explaining stress costs to a manager 向上司解释压力代价</a:t>
            </a:r>
          </a:p>
          <a:p>
            <a:r>
              <a:t>情景：You make a business case.</a:t>
            </a:r>
          </a:p>
          <a:p>
            <a:r>
              <a:t>Role A: You Role B: Director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I’d like to talk about the cost of stress in our department.</a:t>
            </a:r>
          </a:p>
          <a:p>
            <a:r>
              <a:t>B: Do we have data?</a:t>
            </a:r>
          </a:p>
          <a:p>
            <a:r>
              <a:t>A: Sick leave rose by 20 per cent last year, and two good people left.</a:t>
            </a:r>
          </a:p>
          <a:p>
            <a:r>
              <a:t>B: What is causing it?</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Mostly tight deadlines and unclear priorities.</a:t>
            </a:r>
          </a:p>
          <a:p>
            <a:r>
              <a:t>B: What do you suggest?</a:t>
            </a:r>
          </a:p>
          <a:p>
            <a:r>
              <a:t>A: A weekly priority meeting and a cap on after-hours work. The savings should outweigh the cost.</a:t>
            </a:r>
          </a:p>
          <a:p>
            <a:r>
              <a:t>B: Let’s try it for a quarter.</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7 | </a:t>
            </a:r>
          </a:p>
          <a:p>
            <a:r>
              <a:t>Situation | You present a stress business case.</a:t>
            </a:r>
          </a:p>
          <a:p>
            <a:r>
              <a:t>Your role (A) | Employee. Problem: ______________</a:t>
            </a:r>
          </a:p>
          <a:p>
            <a:r>
              <a:t>Partner’s role (B) | Director.</a:t>
            </a:r>
          </a:p>
          <a:p>
            <a:r>
              <a:t>Must use (3 or more) | sick leave · turnover · tight deadlines · the savings outweigh the cost · try it for a quarter</a:t>
            </a:r>
          </a:p>
          <a:p>
            <a:r>
              <a:t>Goal | Show data, causes and a low-cost solution.</a:t>
            </a:r>
          </a:p>
          <a:p>
            <a:r>
              <a:t>My notes | ____________________________________________</a:t>
            </a:r>
          </a:p>
          <a:p>
            <a:r>
              <a:t>Quote a figure.</a:t>
            </a:r>
          </a:p>
          <a:p>
            <a:r>
              <a:t>Predict a benefit.</a:t>
            </a:r>
          </a:p>
          <a:p>
            <a:r>
              <a:t>Address “we can’t afford it”.</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about your own stress 谈自己的压力</a:t>
            </a:r>
          </a:p>
          <a:p>
            <a:r>
              <a:t>情景：A friend asks how you’re coping.</a:t>
            </a:r>
          </a:p>
          <a:p>
            <a:r>
              <a:t>Role A: Friend Role B: You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How are things at work?</a:t>
            </a:r>
          </a:p>
          <a:p>
            <a:r>
              <a:t>B: Honestly, I’m under a lot of pressure. We have a tight deadline.</a:t>
            </a:r>
          </a:p>
          <a:p>
            <a:r>
              <a:t>A: How’s it affecting you?</a:t>
            </a:r>
          </a:p>
          <a:p>
            <a:r>
              <a:t>B: I’m not sleeping well, and stress is taking a toll on my mood.</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What helps you manage it?</a:t>
            </a:r>
          </a:p>
          <a:p>
            <a:r>
              <a:t>B: I’ve started walking at lunchtime, and I talk to my manager about priorities.</a:t>
            </a:r>
          </a:p>
          <a:p>
            <a:r>
              <a:t>A: That sounds sensible.</a:t>
            </a:r>
          </a:p>
          <a:p>
            <a:r>
              <a:t>B: It helps, but I’ll be glad when the project ends.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8 | </a:t>
            </a:r>
          </a:p>
          <a:p>
            <a:r>
              <a:t>Situation | You describe stress and coping.</a:t>
            </a:r>
          </a:p>
          <a:p>
            <a:r>
              <a:t>Your role (A) | Friend.</a:t>
            </a:r>
          </a:p>
          <a:p>
            <a:r>
              <a:t>Partner’s role (B) | Stressed person. Cause: ______________</a:t>
            </a:r>
          </a:p>
          <a:p>
            <a:r>
              <a:t>Must use (3 or more) | under pressure · tight deadline · taking a toll on · manage it · I’ll be glad when…</a:t>
            </a:r>
          </a:p>
          <a:p>
            <a:r>
              <a:t>Goal | Describe causes, effects and coping in natural language.</a:t>
            </a:r>
          </a:p>
          <a:p>
            <a:r>
              <a:t>My notes | ____________________________________________</a:t>
            </a:r>
          </a:p>
          <a:p>
            <a:r>
              <a:t>Show empathy.</a:t>
            </a:r>
          </a:p>
          <a:p>
            <a:r>
              <a:t>Suggest an action.</a:t>
            </a:r>
          </a:p>
          <a:p>
            <a:r>
              <a:t>Check later.</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is the biggest cause of stress at work? | “In my view, it’s… because…”</a:t>
            </a:r>
          </a:p>
          <a:p>
            <a:r>
              <a:t>2. Does stress ever help performance? | “A little can motivate, but…”</a:t>
            </a:r>
          </a:p>
          <a:p>
            <a:r>
              <a:t>3. How should companies measure the cost of stress? | “They could look at…”</a:t>
            </a:r>
          </a:p>
          <a:p>
            <a:r>
              <a:t>4. Who should pay for stress management? | “I think both…”</a:t>
            </a:r>
          </a:p>
          <a:p>
            <a:r>
              <a:t>5. What would reduce stress in your job? | “More… / Less…”</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“A small amount of stress can improve performance. It makes us alert, and a deadline can be motivating. But when stress is constant or too strong, performance falls and health suffers. The key is recovery. If people have time to rest after stressful periods, they cope better.”</a:t>
            </a:r>
          </a:p>
          <a:p>
            <a:r>
              <a:t>“alert” 警觉的;“cope” 应对。</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Describing numbers and trends 描述数据与趋势</a:t>
            </a:r>
          </a:p>
          <a:p>
            <a:r>
              <a:t>Structure | Example</a:t>
            </a:r>
          </a:p>
          <a:p>
            <a:r>
              <a:t>rise / fall by + amount | Sick leave rose by 20 per cent.</a:t>
            </a:r>
          </a:p>
          <a:p>
            <a:r>
              <a:t>increase / decrease from… to… | Turnover fell from 18 to 12 per cent.</a:t>
            </a:r>
          </a:p>
          <a:p>
            <a:r>
              <a:t>account for | Workload accounts for half of the cases.</a:t>
            </a:r>
          </a:p>
          <a:p>
            <a:r>
              <a:t>a third / half / most | Almost half of staff feel stressed.</a:t>
            </a:r>
          </a:p>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Describing numbers and trends 描述数据与趋势</a:t>
            </a:r>
          </a:p>
          <a:p>
            <a:r>
              <a:t>Use by for the amount of change, from… to… for start and end.</a:t>
            </a:r>
          </a:p>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Sick leave raised 20 per cent.  →  ✓ Sick leave rose by 20 per cent.  (rise 不及物)</a:t>
            </a:r>
          </a:p>
          <a:p>
            <a:r>
              <a:t>✗ The stress costs a lot of money.  →  ✓ Stress costs a lot of money.  (无 the)</a:t>
            </a:r>
          </a:p>
          <a:p>
            <a:r>
              <a:t>✗ Sick leave is increased last year.  →  ✓ Sick leave increased last year.  (不及物)</a:t>
            </a:r>
          </a:p>
          <a:p>
            <a:r>
              <a:t>Mistake Watch: Check rise vs raise, uncountable stress, under stress, subject-verb agreement.</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Many stresses affect us.  →  ✓ Many things cause us stress.  (stress 不可数)</a:t>
            </a:r>
          </a:p>
          <a:p>
            <a:r>
              <a:t>✗ I am in stress.  →  ✓ I am stressed. / under stress.  (搭配)</a:t>
            </a:r>
          </a:p>
          <a:p>
            <a:r>
              <a:t>✗ The costs of stress is high.  →  ✓ The cost of stress is high.  (单数)</a:t>
            </a:r>
          </a:p>
          <a:p>
            <a:r>
              <a:t>Mistake Watch: Check rise vs raise, uncountable stress, under stress, subject-verb agreement.</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Use numbers. A business case with data is taken seriously.</a:t>
            </a:r>
          </a:p>
          <a:p>
            <a:r>
              <a:t>Discuss stress as a work issue. Talk about workload, not personality.</a:t>
            </a:r>
          </a:p>
          <a:p>
            <a:r>
              <a:t>EAP. Many companies offer confidential counselling.</a:t>
            </a:r>
          </a:p>
          <a:p>
            <a:r>
              <a:t>Don’t compare suffering. Avoid “my stress is worse than yours”.</a:t>
            </a:r>
          </a:p>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list causes and costs of work stress.</a:t>
            </a:r>
          </a:p>
          <a:p>
            <a:r>
              <a:t>I can describe trends with rise by / from… to.</a:t>
            </a:r>
          </a:p>
          <a:p>
            <a:r>
              <a:t>I can make a short business case.</a:t>
            </a:r>
          </a:p>
          <a:p>
            <a:r>
              <a:t>I use stress (uncountable) and rise vs raise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Describe stress at your workplace with numbers and one solution.</a:t>
            </a:r>
          </a:p>
          <a:p>
            <a:r>
              <a:t>8–10 | Listen to your recording. Check: rise vs raise, stress uncountable, from… to….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57 · Stress? Let’s deal with it! 压力?让我们来处理它</a:t>
            </a:r>
          </a:p>
          <a:p>
            <a:r>
              <a:t>Goal: share practical techniques for coping with stress and give advice in a friendly, supportive way.</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“deal with” = 处理;“cope with” = 应对。第 2 题现在完成时。</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Give advice on how to deal with stress at work.</a:t>
            </a:r>
          </a:p>
          <a:p>
            <a:r>
              <a:t>Say: problem → quick techniques → longer-term habits → when to ask for help.</a:t>
            </a:r>
          </a:p>
          <a:p>
            <a:r>
              <a:t>Useful starters: “One thing that helps is…” / “You could try…” / “It might be worth…” / “If it continues, …”</a:t>
            </a:r>
          </a:p>
          <a:p>
            <a:r>
              <a:t>“It might be worth + -ing” 值得试一试;“You could try + -ing”。</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When stress rises, small actions often work better than big plans. Start with your breathing. Slowly inhale for four seconds, hold for a moment and exhale for six. Repeating this for a minute can calm the body. Second, write down what is worrying you and mark what you can control. Many worries are about things outside our influence, and naming them helps us let go. Third, move. A ten-minute walk can clear your head. For longer-term resilience, protect sleep, take regular breaks and keep friendships alive. Talking to someone you trust is not a sign of weakness; it often shows you the problem from a new angle. If stress lasts for weeks or affects daily life, speak to a doctor or counsellor. Professional support is a practical step, not a failure.</a:t>
            </a:r>
          </a:p>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How does the breathing exercise work?</a:t>
            </a:r>
          </a:p>
          <a:p>
            <a:r>
              <a:t>A: Inhale four seconds, hold, exhale six seconds for a minute.</a:t>
            </a:r>
          </a:p>
          <a:p>
            <a:r>
              <a:t>Q2. Why list what you can and cannot control?</a:t>
            </a:r>
          </a:p>
          <a:p>
            <a:r>
              <a:t>A: Many worries are outside our influence; naming them helps us let go.</a:t>
            </a:r>
          </a:p>
          <a:p>
            <a:r>
              <a:t>Q3. When should you get professional help?</a:t>
            </a:r>
          </a:p>
          <a:p>
            <a:r>
              <a:t>A: If stress lasts for weeks or affects daily life.</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Techniques 方法</a:t>
            </a:r>
          </a:p>
          <a:p>
            <a:r>
              <a:t>领读 → 学员跟读 → 请学员用表达造一个和自己工作相关的句子。</a:t>
            </a:r>
          </a:p>
          <a:p>
            <a:r>
              <a:t>take a deep breath (collocation) 深呼吸 — “Take a deep breath and count to ten.”</a:t>
            </a:r>
          </a:p>
          <a:p>
            <a:r>
              <a:t>take a step back (idiom) 退后一步看 — “Take a step back and think.”</a:t>
            </a:r>
          </a:p>
          <a:p>
            <a:r>
              <a:t>go for a walk (collocation) 散步 — “Go for a walk to clear your head.”</a:t>
            </a:r>
          </a:p>
          <a:p>
            <a:r>
              <a:t>★ clear your head (idiom) 理清思路 — “A walk helps me clear my head.”</a:t>
            </a:r>
          </a:p>
          <a:p>
            <a:r>
              <a:t>★ keep things in perspective (collocation) 客观看待 — “Try to keep things in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Mindset 心态</a:t>
            </a:r>
          </a:p>
          <a:p>
            <a:r>
              <a:t>领读 → 学员跟读 → 请学员用表达造一个和自己工作相关的句子。</a:t>
            </a:r>
          </a:p>
          <a:p>
            <a:r>
              <a:t>let go of (phrasal verb) 放下 — “Let go of what you can’t control.”</a:t>
            </a:r>
          </a:p>
          <a:p>
            <a:r>
              <a:t>focus on what you can control (phrase) 专注可控之事 — “Focus on what you can control.”</a:t>
            </a:r>
          </a:p>
          <a:p>
            <a:r>
              <a:t>reframe (verb) 重新定义 — “Reframe the problem as a challenge.”</a:t>
            </a:r>
          </a:p>
          <a:p>
            <a:r>
              <a:t>★ cut yourself some slack (idiom) 对自己宽容些 — “Cut yourself some slack.”</a:t>
            </a:r>
          </a:p>
          <a:p>
            <a:r>
              <a:t>★ it’s not the end of the world (idiom) 没那么严重 — “It’s not the end of the world.”</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Support 支持</a:t>
            </a:r>
          </a:p>
          <a:p>
            <a:r>
              <a:t>领读 → 学员跟读 → 请学员用表达造一个和自己工作相关的句子。</a:t>
            </a:r>
          </a:p>
          <a:p>
            <a:r>
              <a:t>talk it through (phrasal verb) 谈一谈 — “Let’s talk it through.”</a:t>
            </a:r>
          </a:p>
          <a:p>
            <a:r>
              <a:t>reach out (phrasal verb) 主动联系求助 — “Reach out to a friend.”</a:t>
            </a:r>
          </a:p>
          <a:p>
            <a:r>
              <a:t>seek professional help (collocation) 寻求专业帮助 — “Seek professional help if needed.”</a:t>
            </a:r>
          </a:p>
          <a:p>
            <a:r>
              <a:t>★ a listening ear (noun) 倾听者 — “She’s a great listening ear.”</a:t>
            </a:r>
          </a:p>
          <a:p>
            <a:r>
              <a:t>★ bounce ideas off (phrasal verb) 找人交流想法 — “Bounce ideas off a colleague.”</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breath / step / head / perspective / reach / talk</a:t>
            </a:r>
          </a:p>
          <a:p>
            <a:r>
              <a:t>1. Take a deep _______ and count to ten. → breath</a:t>
            </a:r>
          </a:p>
          <a:p>
            <a:r>
              <a:t>2. Take a _______ back and think. → step</a:t>
            </a:r>
          </a:p>
          <a:p>
            <a:r>
              <a:t>3. A walk helps me clear my _______. → head</a:t>
            </a:r>
          </a:p>
          <a:p>
            <a:r>
              <a:t>4. Try to keep things in _______. → perspective</a:t>
            </a:r>
          </a:p>
          <a:p>
            <a:r>
              <a:t>5. Don’t hesitate to _______ out for help. → reach</a:t>
            </a:r>
          </a:p>
          <a:p>
            <a:r>
              <a:t>6. Let’s _______ it through. → talk</a:t>
            </a:r>
          </a:p>
          <a:p>
            <a:r>
              <a:t>Mistake Watch: (搭配) take a deep breath (breath 名词, breathe 动词), seek help, reach out TO someone。</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Calming a stressed colleague 安抚压力大的同事</a:t>
            </a:r>
          </a:p>
          <a:p>
            <a:r>
              <a:t>情景：A colleague is panicking.</a:t>
            </a:r>
          </a:p>
          <a:p>
            <a:r>
              <a:t>Role A: Stressed colleague Role B: You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can’t finish this on time. I’m panicking.</a:t>
            </a:r>
          </a:p>
          <a:p>
            <a:r>
              <a:t>B: Take a deep breath. Let’s step back for a moment.</a:t>
            </a:r>
          </a:p>
          <a:p>
            <a:r>
              <a:t>A: There’s just so much to do.</a:t>
            </a:r>
          </a:p>
          <a:p>
            <a:r>
              <a:t>B: What is the most urgent thing?</a:t>
            </a:r>
          </a:p>
          <a:p>
            <a:r>
              <a:t>A: The client slides.</a:t>
            </a:r>
          </a:p>
          <a:p>
            <a:r>
              <a:t>B: OK. Focus on those first. Let go of the rest for now.</a:t>
            </a:r>
          </a:p>
          <a:p>
            <a:r>
              <a:t>A: You’re right. Maybe I can ask Sam to help.</a:t>
            </a:r>
          </a:p>
          <a:p>
            <a:r>
              <a:t>B: Good idea. It’s not the end of the world.</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9 | </a:t>
            </a:r>
          </a:p>
          <a:p>
            <a:r>
              <a:t>Situation | You calm a stressed colleague.</a:t>
            </a:r>
          </a:p>
          <a:p>
            <a:r>
              <a:t>Your role (A) | Stressed colleague. Problem: ______________</a:t>
            </a:r>
          </a:p>
          <a:p>
            <a:r>
              <a:t>Partner’s role (B) | Calm helper.</a:t>
            </a:r>
          </a:p>
          <a:p>
            <a:r>
              <a:t>Must use (3 or more) | take a deep breath · step back · most urgent · let go · not the end of the world</a:t>
            </a:r>
          </a:p>
          <a:p>
            <a:r>
              <a:t>Goal | Calm first, then prioritise and offer practical help.</a:t>
            </a:r>
          </a:p>
          <a:p>
            <a:r>
              <a:t>My notes | ____________________________________________</a:t>
            </a:r>
          </a:p>
          <a:p>
            <a:r>
              <a:t>Offer to take one task.</a:t>
            </a:r>
          </a:p>
          <a:p>
            <a:r>
              <a:t>Suggest a break.</a:t>
            </a:r>
          </a:p>
          <a:p>
            <a:r>
              <a:t>Check in later.</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Sharing coping tips 分享应对方法</a:t>
            </a:r>
          </a:p>
          <a:p>
            <a:r>
              <a:t>情景：You swap tips with a friend.</a:t>
            </a:r>
          </a:p>
          <a:p>
            <a:r>
              <a:t>Role A: Friend Role B: You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How do you cope when things get stressful?</a:t>
            </a:r>
          </a:p>
          <a:p>
            <a:r>
              <a:t>B: I go for a walk at lunchtime to clear my head.</a:t>
            </a:r>
          </a:p>
          <a:p>
            <a:r>
              <a:t>A: Does it really help?</a:t>
            </a:r>
          </a:p>
          <a:p>
            <a:r>
              <a:t>B: Yes. It’s a good way to keep things in perspective.</a:t>
            </a:r>
          </a:p>
          <a:p>
            <a:r>
              <a:t>A: What about when you can’t leave your desk?</a:t>
            </a:r>
          </a:p>
          <a:p>
            <a:r>
              <a:t>B: I take three deep breaths, or I talk it through with a colleague.</a:t>
            </a:r>
          </a:p>
          <a:p>
            <a:r>
              <a:t>A: Sounds simple. I’ll try it.</a:t>
            </a:r>
          </a:p>
          <a:p>
            <a:r>
              <a:t>B: And cut yourself some slack. Nobody is perfect.</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10 | </a:t>
            </a:r>
          </a:p>
          <a:p>
            <a:r>
              <a:t>Situation | You share stress techniques.</a:t>
            </a:r>
          </a:p>
          <a:p>
            <a:r>
              <a:t>Your role (A) | Friend.</a:t>
            </a:r>
          </a:p>
          <a:p>
            <a:r>
              <a:t>Partner’s role (B) | Friend with tips. Stress: ______________</a:t>
            </a:r>
          </a:p>
          <a:p>
            <a:r>
              <a:t>Must use (3 or more) | cope with · clear my head · keep things in perspective · talk it through · cut yourself some slack</a:t>
            </a:r>
          </a:p>
          <a:p>
            <a:r>
              <a:t>Goal | Share two techniques and encourage kindly.</a:t>
            </a:r>
          </a:p>
          <a:p>
            <a:r>
              <a:t>My notes | ____________________________________________</a:t>
            </a:r>
          </a:p>
          <a:p>
            <a:r>
              <a:t>Ask what they’ve already tried.</a:t>
            </a:r>
          </a:p>
          <a:p>
            <a:r>
              <a:t>Suggest professional help gently.</a:t>
            </a:r>
          </a:p>
          <a:p>
            <a:r>
              <a:t>Agree to check in next week.</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is your best technique for staying calm? | “For me, … works because…”</a:t>
            </a:r>
          </a:p>
          <a:p>
            <a:r>
              <a:t>2. Do you think mindfulness works? | “It helps some people…”</a:t>
            </a:r>
          </a:p>
          <a:p>
            <a:r>
              <a:t>3. Is it OK to cry at work? | “It’s understandable, but…”</a:t>
            </a:r>
          </a:p>
          <a:p>
            <a:r>
              <a:t>4. How can colleagues support each other? | “By… / They can…”</a:t>
            </a:r>
          </a:p>
          <a:p>
            <a:r>
              <a:t>5. When should someone seek professional help? | “If… for more than…”</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“It’s understandable, and I think we should be kinder about it. Everyone is human. If someone cries at work, I’d offer a quiet space, a glass of water and time. I wouldn’t ask many questions, but I’d let them know I’m available. After that, a manager should check in privately.”</a:t>
            </a:r>
          </a:p>
          <a:p>
            <a:r>
              <a:t>“be kinder about it” 对此更宽容;“let them know” 让他们知道。</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Giving friendly advice 友好地给建议</a:t>
            </a:r>
          </a:p>
          <a:p>
            <a:r>
              <a:t>Structure | Example</a:t>
            </a:r>
          </a:p>
          <a:p>
            <a:r>
              <a:t>You could try + -ing | You could try going for a walk.</a:t>
            </a:r>
          </a:p>
          <a:p>
            <a:r>
              <a:t>It might be worth + -ing | It might be worth talking to someone.</a:t>
            </a:r>
          </a:p>
          <a:p>
            <a:r>
              <a:t>Have you thought about + -ing? | Have you thought about taking a break?</a:t>
            </a:r>
          </a:p>
          <a:p>
            <a:r>
              <a:t>If I were you, I’d… | If I were you, I’d ask for help.</a:t>
            </a:r>
          </a:p>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Giving friendly advice 友好地给建议</a:t>
            </a:r>
          </a:p>
          <a:p>
            <a:r>
              <a:t>Use imperatives with softeners: Why don’t you…? / Maybe try…</a:t>
            </a:r>
          </a:p>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You should to take a break.  →  ✓ You should take a break.  (should + 原形)</a:t>
            </a:r>
          </a:p>
          <a:p>
            <a:r>
              <a:t>✗ I advise you take a break.  →  ✓ I advise you to take a break.  (advise sb to + 原形)</a:t>
            </a:r>
          </a:p>
          <a:p>
            <a:r>
              <a:t>✗ Let’s talking about it.  →  ✓ Let’s talk about it.  (Let’s + 原形)</a:t>
            </a:r>
          </a:p>
          <a:p>
            <a:r>
              <a:t>Mistake Watch: Check should + base, suggest (that) + subject + base, advise someone to.</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suggest you to go.  →  ✓ I suggest you go.  (suggest 不接 to)</a:t>
            </a:r>
          </a:p>
          <a:p>
            <a:r>
              <a:t>✗ Don’t be worry about it.  →  ✓ Don’t worry about it.  (worry 是动词)</a:t>
            </a:r>
          </a:p>
          <a:p>
            <a:r>
              <a:t>✗ I am stress about the exam.  →  ✓ I am stressed about the exam.  (形容词 stressed)</a:t>
            </a:r>
          </a:p>
          <a:p>
            <a:r>
              <a:t>Mistake Watch: Check should + base, suggest (that) + subject + base, advise someone to.</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Say “I’m here”. A simple offer of support is enough.</a:t>
            </a:r>
          </a:p>
          <a:p>
            <a:r>
              <a:t>Don’t diagnose. Avoid saying “you’re depressed”. Say “you seem low”.</a:t>
            </a:r>
          </a:p>
          <a:p>
            <a:r>
              <a:t>Encourage professional help gently. “Have you thought about talking to someone?”</a:t>
            </a:r>
          </a:p>
          <a:p>
            <a:r>
              <a:t>Humour carefully. Light humour can help, but read the mood.</a:t>
            </a:r>
          </a:p>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name stress techniques in English.</a:t>
            </a:r>
          </a:p>
          <a:p>
            <a:r>
              <a:t>I can give friendly advice with You could try…</a:t>
            </a:r>
          </a:p>
          <a:p>
            <a:r>
              <a:t>I can calm someone down and offer help.</a:t>
            </a:r>
          </a:p>
          <a:p>
            <a:r>
              <a:t>I use should + base verb and suggest + subject + base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Give a friend three tips for staying calm. Record it.</a:t>
            </a:r>
          </a:p>
          <a:p>
            <a:r>
              <a:t>8–10 | Listen to your recording. Check: should + base, suggest, advise sb to.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58 · Me, my work and I 我、我的工作和我</a:t>
            </a:r>
          </a:p>
          <a:p>
            <a:r>
              <a:t>Goal: discuss the relationship between identity and work, and talk about self-awareness, strengths and boundaries.</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“identity” = 身份认同;第 4 题 “What would you do if…” 第二条件句。</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how you see yourself in relation to your work.</a:t>
            </a:r>
          </a:p>
          <a:p>
            <a:r>
              <a:t>Say: what you do → what it says about you → what’s outside work → balance.</a:t>
            </a:r>
          </a:p>
          <a:p>
            <a:r>
              <a:t>Useful starters: “My job is a big part of who I am…” / “Outside work, I’m…” / “It’s important to remember that…” / “I try to keep…”</a:t>
            </a:r>
          </a:p>
          <a:p>
            <a:r>
              <a:t>“a big part of” 重要部分;“keep A separate from B” 区分 A 和 B。</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When we meet someone new, one of the first questions is often, “What do you do?” This shows how closely identity and work are linked. A job can give us purpose, structure and friends. But when work becomes our entire identity, trouble can follow. A bad performance review feels like a personal failure, and redundancy can feel like losing who we are. Psychologists suggest building a wider sense of self. This means keeping up with hobbies, friendships and values that do not depend on a job. It also helps to know your strengths and limits. People with a clear sense of identity find it easier to say no, ask for help and recover from setbacks. Your work is an important part of your life, but it is not the whole of you.</a:t>
            </a:r>
          </a:p>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is “What do you do?” significant?</a:t>
            </a:r>
          </a:p>
          <a:p>
            <a:r>
              <a:t>A: It shows how closely identity and work are linked.</a:t>
            </a:r>
          </a:p>
          <a:p>
            <a:r>
              <a:t>Q2. What can happen when work is your whole identity?</a:t>
            </a:r>
          </a:p>
          <a:p>
            <a:r>
              <a:t>A: A bad review feels like personal failure; redundancy feels like losing yourself.</a:t>
            </a:r>
          </a:p>
          <a:p>
            <a:r>
              <a:t>Q3. How can you build a wider sense of self?</a:t>
            </a:r>
          </a:p>
          <a:p>
            <a:r>
              <a:t>A: Keep up hobbies, friendships and values independent of work.</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Identity 身份</a:t>
            </a:r>
          </a:p>
          <a:p>
            <a:r>
              <a:t>领读 → 学员跟读 → 请学员用表达造一个和自己工作相关的句子。</a:t>
            </a:r>
          </a:p>
          <a:p>
            <a:r>
              <a:t>sense of identity / self (noun) 身份认同 — “Work shapes my sense of identity.”</a:t>
            </a:r>
          </a:p>
          <a:p>
            <a:r>
              <a:t>be defined by (phrase) 被…定义 — “I don’t want to be defined by my job.”</a:t>
            </a:r>
          </a:p>
          <a:p>
            <a:r>
              <a:t>self-worth (noun) 自我价值感 — “My self-worth shouldn’t depend on work.”</a:t>
            </a:r>
          </a:p>
          <a:p>
            <a:r>
              <a:t>★ wear many hats (idiom) 身兼数职 — “In a start-up, you wear many hats.”</a:t>
            </a:r>
          </a:p>
          <a:p>
            <a:r>
              <a:t>★ a work persona (noun) 职场人设 — “She has a calm work persona.”</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Self-awareness 自我认知</a:t>
            </a:r>
          </a:p>
          <a:p>
            <a:r>
              <a:t>领读 → 学员跟读 → 请学员用表达造一个和自己工作相关的句子。</a:t>
            </a:r>
          </a:p>
          <a:p>
            <a:r>
              <a:t>strengths and limits (noun) 优势与局限 — “Know your strengths and limits.”</a:t>
            </a:r>
          </a:p>
          <a:p>
            <a:r>
              <a:t>self-aware (adjective) 有自知之明的 — “She’s very self-aware.”</a:t>
            </a:r>
          </a:p>
          <a:p>
            <a:r>
              <a:t>values (noun) 价值观 — “Work should match my values.”</a:t>
            </a:r>
          </a:p>
          <a:p>
            <a:r>
              <a:t>★ blind spot (noun) 盲点 — “Feedback shows my blind spots.”</a:t>
            </a:r>
          </a:p>
          <a:p>
            <a:r>
              <a:t>★ play to your strengths (idiom) 发挥优势 — “Play to your strengths.”</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Boundaries 界限</a:t>
            </a:r>
          </a:p>
          <a:p>
            <a:r>
              <a:t>领读 → 学员跟读 → 请学员用表达造一个和自己工作相关的句子。</a:t>
            </a:r>
          </a:p>
          <a:p>
            <a:r>
              <a:t>separate work from personal life (collocation) 区分工作与私人生活 — “I try to separate work from personal life.”</a:t>
            </a:r>
          </a:p>
          <a:p>
            <a:r>
              <a:t>leave work at work (phrase) 下班后不带工作回家 — “Leave work at work.”</a:t>
            </a:r>
          </a:p>
          <a:p>
            <a:r>
              <a:t>personal time (noun) 个人时间 — “Protect your personal time.”</a:t>
            </a:r>
          </a:p>
          <a:p>
            <a:r>
              <a:t>★ bring your whole self to work (phrase) 以完整的自己工作 — “Bring your whole self to work.”</a:t>
            </a:r>
          </a:p>
          <a:p>
            <a:r>
              <a:t>★ identity crisis (noun) 身份危机 — “Redundancy triggered an identity crisis.”</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identity / defined / self-worth / strengths / values / separate</a:t>
            </a:r>
          </a:p>
          <a:p>
            <a:r>
              <a:t>1. Work shapes my sense of _______. → identity</a:t>
            </a:r>
          </a:p>
          <a:p>
            <a:r>
              <a:t>2. I don’t want to be _______ by my job. → defined</a:t>
            </a:r>
          </a:p>
          <a:p>
            <a:r>
              <a:t>3. My _______ shouldn’t depend on work. → self-worth</a:t>
            </a:r>
          </a:p>
          <a:p>
            <a:r>
              <a:t>4. Know your _______ and limits. → strengths</a:t>
            </a:r>
          </a:p>
          <a:p>
            <a:r>
              <a:t>5. Work should match my _______. → values</a:t>
            </a:r>
          </a:p>
          <a:p>
            <a:r>
              <a:t>6. I try to _______ work from personal life. → separate</a:t>
            </a:r>
          </a:p>
          <a:p>
            <a:r>
              <a:t>Mistake Watch: (搭配) sense of identity, be defined BY, separate A FROM B;values(价值观)复数。</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Describing yourself beyond work 谈工作之外的自己</a:t>
            </a:r>
          </a:p>
          <a:p>
            <a:r>
              <a:t>情景：A networking conversation.</a:t>
            </a:r>
          </a:p>
          <a:p>
            <a:r>
              <a:t>Role A: New acquaintance Role B: You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What do you do?</a:t>
            </a:r>
          </a:p>
          <a:p>
            <a:r>
              <a:t>B: I work in finance. But that’s only part of who I am. Outside work, I run and play the guitar.</a:t>
            </a:r>
          </a:p>
          <a:p>
            <a:r>
              <a:t>A: Do you keep work and life separate?</a:t>
            </a:r>
          </a:p>
          <a:p>
            <a:r>
              <a:t>B: I try to. I leave work at work, otherwise I never switch off.</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Is that difficult?</a:t>
            </a:r>
          </a:p>
          <a:p>
            <a:r>
              <a:t>B: Sometimes. My job is a big part of my identity, so I have to be disciplined.</a:t>
            </a:r>
          </a:p>
          <a:p>
            <a:r>
              <a:t>A: What helps?</a:t>
            </a:r>
          </a:p>
          <a:p>
            <a:r>
              <a:t>B: Having interests that give me energy, not just a title.</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11 | </a:t>
            </a:r>
          </a:p>
          <a:p>
            <a:r>
              <a:t>Situation | You describe yourself beyond work.</a:t>
            </a:r>
          </a:p>
          <a:p>
            <a:r>
              <a:t>Your role (A) | Acquaintance.</a:t>
            </a:r>
          </a:p>
          <a:p>
            <a:r>
              <a:t>Partner’s role (B) | You. Interests: ______________</a:t>
            </a:r>
          </a:p>
          <a:p>
            <a:r>
              <a:t>Must use (3 or more) | only part of who I am · leave work at work · big part of my identity · interests · switch off</a:t>
            </a:r>
          </a:p>
          <a:p>
            <a:r>
              <a:t>Goal | Describe your job briefly and talk about who you are outside it.</a:t>
            </a:r>
          </a:p>
          <a:p>
            <a:r>
              <a:t>My notes | ____________________________________________</a:t>
            </a:r>
          </a:p>
          <a:p>
            <a:r>
              <a:t>Mention a value.</a:t>
            </a:r>
          </a:p>
          <a:p>
            <a:r>
              <a:t>Discuss your strengths.</a:t>
            </a:r>
          </a:p>
          <a:p>
            <a:r>
              <a:t>Ask the other person about their balance.</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Coping after a setback 挫折之后调整</a:t>
            </a:r>
          </a:p>
          <a:p>
            <a:r>
              <a:t>情景：A colleague missed out on a promotion.</a:t>
            </a:r>
          </a:p>
          <a:p>
            <a:r>
              <a:t>Role A: Colleague Role B: You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didn’t get the promotion. I feel like a failure.</a:t>
            </a:r>
          </a:p>
          <a:p>
            <a:r>
              <a:t>B: I’m sorry. That must hurt.</a:t>
            </a:r>
          </a:p>
          <a:p>
            <a:r>
              <a:t>A: I’ve put so much into this job.</a:t>
            </a:r>
          </a:p>
          <a:p>
            <a:r>
              <a:t>B: I know. But a promotion decision isn’t a verdict on your self-worth.</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Maybe. I just don’t know who I am without it.</a:t>
            </a:r>
          </a:p>
          <a:p>
            <a:r>
              <a:t>B: You’re a lot more than a job title. What are your strengths?</a:t>
            </a:r>
          </a:p>
          <a:p>
            <a:r>
              <a:t>A: I’m good with people and I learn fast.</a:t>
            </a:r>
          </a:p>
          <a:p>
            <a:r>
              <a:t>B: Exactly. Let’s think about how to play to those.</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12 | </a:t>
            </a:r>
          </a:p>
          <a:p>
            <a:r>
              <a:t>Situation | You support a colleague after a setback.</a:t>
            </a:r>
          </a:p>
          <a:p>
            <a:r>
              <a:t>Your role (A) | Colleague.</a:t>
            </a:r>
          </a:p>
          <a:p>
            <a:r>
              <a:t>Partner’s role (B) | Supporter. Setback: ______________</a:t>
            </a:r>
          </a:p>
          <a:p>
            <a:r>
              <a:t>Must use (3 or more) | That must hurt · self-worth · more than a job title · strengths · play to those</a:t>
            </a:r>
          </a:p>
          <a:p>
            <a:r>
              <a:t>Goal | Empathise, separate the person from the job and refocus on strengths.</a:t>
            </a:r>
          </a:p>
          <a:p>
            <a:r>
              <a:t>My notes | ____________________________________________</a:t>
            </a:r>
          </a:p>
          <a:p>
            <a:r>
              <a:t>Avoid platitudes.</a:t>
            </a:r>
          </a:p>
          <a:p>
            <a:r>
              <a:t>Suggest one next step.</a:t>
            </a:r>
          </a:p>
          <a:p>
            <a:r>
              <a:t>Plan a coffee catch-up.</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How much should you bring your personal life to work? | “I think it’s best to…”</a:t>
            </a:r>
          </a:p>
          <a:p>
            <a:r>
              <a:t>2. Can a job define you? | “To some extent, but…”</a:t>
            </a:r>
          </a:p>
          <a:p>
            <a:r>
              <a:t>3. What are your strengths and limits? | “I’m good at… but I find it hard to…”</a:t>
            </a:r>
          </a:p>
          <a:p>
            <a:r>
              <a:t>4. How do you reply to “What do you do?” | “I usually say… and then…”</a:t>
            </a:r>
          </a:p>
          <a:p>
            <a:r>
              <a:t>5. What would you do if you lost your job? | “I’d probably… / I’d start by…”</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“I’d start by giving myself a few days to process it, because it would be a shock. Then I’d update my CV, talk to people in my network and think about what I really want. Losing a job would hurt, but I’d remind myself that I’m more than my job and that my skills go with me.”</a:t>
            </a:r>
          </a:p>
          <a:p>
            <a:r>
              <a:t>“process it” 消化情绪;“go with me” 随我而行。</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Describing yourself 自我描述</a:t>
            </a:r>
          </a:p>
          <a:p>
            <a:r>
              <a:t>Structure | Example</a:t>
            </a:r>
          </a:p>
          <a:p>
            <a:r>
              <a:t>I’m a person who… | I’m a person who values honesty.</a:t>
            </a:r>
          </a:p>
          <a:p>
            <a:r>
              <a:t>I tend to be… | I tend to be organised.</a:t>
            </a:r>
          </a:p>
          <a:p>
            <a:r>
              <a:t>What matters to me is… | What matters to me is learning.</a:t>
            </a:r>
          </a:p>
          <a:p>
            <a:r>
              <a:t>I’m good at… but I find it hard to… | I’m good at planning but find it hard to relax.</a:t>
            </a:r>
          </a:p>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Describing yourself 自我描述</a:t>
            </a:r>
          </a:p>
          <a:p>
            <a:r>
              <a:t>Use -ing after prepositions: good at planning, interested in learning, afraid of failing.</a:t>
            </a:r>
          </a:p>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My work is my life.  →  ✓ Work is a big part of my life.  (自然)</a:t>
            </a:r>
          </a:p>
          <a:p>
            <a:r>
              <a:t>✗ I am a person who is love my job.  →  ✓ I’m a person who loves my job.  (从句动词)</a:t>
            </a:r>
          </a:p>
          <a:p>
            <a:r>
              <a:t>✗ I am good in planning.  →  ✓ I am good at planning.  (good at)</a:t>
            </a:r>
          </a:p>
          <a:p>
            <a:r>
              <a:t>Mistake Watch: Check good at + -ing, proud of, reflexive pronouns, indirect question order.</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I’m proud for my work.  →  ✓ I’m proud of my work.  (proud of)</a:t>
            </a:r>
          </a:p>
          <a:p>
            <a:r>
              <a:t>✗ I don’t know who am I.  →  ✓ I don’t know who I am.  (间接问句)</a:t>
            </a:r>
          </a:p>
          <a:p>
            <a:r>
              <a:t>✗ I see me as a leader.  →  ✓ I see myself as a leader.  (myself)</a:t>
            </a:r>
          </a:p>
          <a:p>
            <a:r>
              <a:t>Mistake Watch: Check good at + -ing, proud of, reflexive pronouns, indirect question order.</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“What do you do?” is small talk. Answer briefly and ask back.</a:t>
            </a:r>
          </a:p>
          <a:p>
            <a:r>
              <a:t>Don’t over-share. In first meetings, keep personal details light.</a:t>
            </a:r>
          </a:p>
          <a:p>
            <a:r>
              <a:t>Work-life separation. Many Western workplaces respect “off” time.</a:t>
            </a:r>
          </a:p>
          <a:p>
            <a:r>
              <a:t>Talk about values. “I care about…” can be a good interview topic.</a:t>
            </a:r>
          </a:p>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myself beyond my job title.</a:t>
            </a:r>
          </a:p>
          <a:p>
            <a:r>
              <a:t>I can name strengths and limits.</a:t>
            </a:r>
          </a:p>
          <a:p>
            <a:r>
              <a:t>I can respond to “What do you do?” naturally.</a:t>
            </a:r>
          </a:p>
          <a:p>
            <a:r>
              <a:t>I use good at + -ing, proud of and reflexive pronouns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Introduce yourself in 45 seconds without using only your job title.</a:t>
            </a:r>
          </a:p>
          <a:p>
            <a:r>
              <a:t>8–10 | Listen to your recording. Check: good at -ing, proud of, myself, indirect question.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59 · Busy bragging and other pet hates 忙碌的炫耀及其他令人厌烦的事</a:t>
            </a:r>
          </a:p>
          <a:p>
            <a:r>
              <a:t>Goal: talk about annoying workplace habits (like “busy bragging”) and give or receive feedback about them tactfully.</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“pet hate” (英式)= 最讨厌的事;美式 “pet peeve”。“busy bragging” = 炫耀自己很忙。</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a workplace habit that annoys you and how you handle it.</a:t>
            </a:r>
          </a:p>
          <a:p>
            <a:r>
              <a:t>Say: the habit → why it annoys you → what you do → what you suggest.</a:t>
            </a:r>
          </a:p>
          <a:p>
            <a:r>
              <a:t>Useful starters: “What really gets on my nerves is…” / “I find it frustrating when…” / “Rather than complain, I…” / “It would help if…”</a:t>
            </a:r>
          </a:p>
          <a:p>
            <a:r>
              <a:t>“get on my nerves” 惹恼我;“It would help if + 过去式”。</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“I’m so busy, I haven’t had lunch in a week.” Many of us have heard colleagues say something like this. Researchers call it busy bragging, or the humblebrag of the overworked. It can work as a status signal: being constantly busy suggests that you are important and in demand. The trouble is that it creates pressure for everyone else to match, and it can hide poor organisation. Other common pet hates in the office include loud phone calls, reply-all emails, meetings with no agenda, and colleagues who take credit for others’ work. Most of these can be reduced with simple team agreements. Rather than complain behind people’s backs, it is better to raise the issue politely, giving a specific example and suggesting an alternative.</a:t>
            </a:r>
          </a:p>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is “busy bragging”?</a:t>
            </a:r>
          </a:p>
          <a:p>
            <a:r>
              <a:t>A: Boasting about being constantly busy to appear important.</a:t>
            </a:r>
          </a:p>
          <a:p>
            <a:r>
              <a:t>Q2. Name two other pet hates mentioned.</a:t>
            </a:r>
          </a:p>
          <a:p>
            <a:r>
              <a:t>A: Loud phone calls, reply-all emails, meetings with no agenda, credit-taking.</a:t>
            </a:r>
          </a:p>
          <a:p>
            <a:r>
              <a:t>Q3. What does the writer recommend instead of complaining?</a:t>
            </a:r>
          </a:p>
          <a:p>
            <a:r>
              <a:t>A: Raise the issue politely with an example and an alternative.</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Annoyances 讨厌的事</a:t>
            </a:r>
          </a:p>
          <a:p>
            <a:r>
              <a:t>领读 → 学员跟读 → 请学员用表达造一个和自己工作相关的句子。</a:t>
            </a:r>
          </a:p>
          <a:p>
            <a:r>
              <a:t>pet hate / pet peeve (noun) 最讨厌的事 — “My pet hate is reply-all emails.”</a:t>
            </a:r>
          </a:p>
          <a:p>
            <a:r>
              <a:t>get on someone’s nerves (idiom) 惹恼某人 — “Loud calls get on my nerves.”</a:t>
            </a:r>
          </a:p>
          <a:p>
            <a:r>
              <a:t>annoying / irritating (adjective) 烦人的 — “It’s irritating when people interrupt.”</a:t>
            </a:r>
          </a:p>
          <a:p>
            <a:r>
              <a:t>★ busy bragging (noun) 炫耀忙碌 — “Busy bragging is a status game.”</a:t>
            </a:r>
          </a:p>
          <a:p>
            <a:r>
              <a:t>★ humblebrag (noun/verb) 以谦虚之名炫耀 — “That was a humblebrag.”</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Habits 办公室习惯</a:t>
            </a:r>
          </a:p>
          <a:p>
            <a:r>
              <a:t>领读 → 学员跟读 → 请学员用表达造一个和自己工作相关的句子。</a:t>
            </a:r>
          </a:p>
          <a:p>
            <a:r>
              <a:t>reply-all (noun) 回复全部 — “Please avoid reply-all.”</a:t>
            </a:r>
          </a:p>
          <a:p>
            <a:r>
              <a:t>talk over (someone) (phrasal verb) 打断/盖过别人 — “He talks over everyone.”</a:t>
            </a:r>
          </a:p>
          <a:p>
            <a:r>
              <a:t>take credit for (collocation) 邀功 — “She took credit for my idea.”</a:t>
            </a:r>
          </a:p>
          <a:p>
            <a:r>
              <a:t>★ micromanage (verb) 过度管控 — “He micromanages everything.”</a:t>
            </a:r>
          </a:p>
          <a:p>
            <a:r>
              <a:t>★ hog (the meeting) (verb) 霸占(会议发言) — “He hogs the meeting.”</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Raising it politely 礼貌提出</a:t>
            </a:r>
          </a:p>
          <a:p>
            <a:r>
              <a:t>领读 → 学员跟读 → 请学员用表达造一个和自己工作相关的句子。</a:t>
            </a:r>
          </a:p>
          <a:p>
            <a:r>
              <a:t>It would help if… (phrase) 如果…会很有帮助 — “It would help if you sent an agenda.”</a:t>
            </a:r>
          </a:p>
          <a:p>
            <a:r>
              <a:t>I find it frustrating when… (phrase) …时我会觉得烦 — “I find it frustrating when meetings overrun.”</a:t>
            </a:r>
          </a:p>
          <a:p>
            <a:r>
              <a:t>Could we agree to…? (phrase) 我们可以约定… — “Could we agree to keep calls short?”</a:t>
            </a:r>
          </a:p>
          <a:p>
            <a:r>
              <a:t>★ tread carefully (idiom) 谨慎行事 — “Tread carefully with sensitive topics.”</a:t>
            </a:r>
          </a:p>
          <a:p>
            <a:r>
              <a:t>★ clear the air (idiom) 澄清误会 — “Let’s clear the air.”</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peeve / nerves / reply-all / credit / agenda / air</a:t>
            </a:r>
          </a:p>
          <a:p>
            <a:r>
              <a:t>1. My pet _______ is people who talk over others. → peeve</a:t>
            </a:r>
          </a:p>
          <a:p>
            <a:r>
              <a:t>2. Loud calls get on my _______. → nerves</a:t>
            </a:r>
          </a:p>
          <a:p>
            <a:r>
              <a:t>3. Please avoid _______ emails. → reply-all</a:t>
            </a:r>
          </a:p>
          <a:p>
            <a:r>
              <a:t>4. She took _______ for my idea. → credit</a:t>
            </a:r>
          </a:p>
          <a:p>
            <a:r>
              <a:t>5. It would help if you sent an _______. → agenda</a:t>
            </a:r>
          </a:p>
          <a:p>
            <a:r>
              <a:t>6. Let’s clear the _______. → air</a:t>
            </a:r>
          </a:p>
          <a:p>
            <a:r>
              <a:t>Mistake Watch: (英美) pet hate(英)vs pet peeve(美);get on someone’s nerves,take credit FOR。</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Raising a pet hate politely 礼貌提出你讨厌的事</a:t>
            </a:r>
          </a:p>
          <a:p>
            <a:r>
              <a:t>情景：A colleague takes loud calls in the open office.</a:t>
            </a:r>
          </a:p>
          <a:p>
            <a:r>
              <a:t>Role A: You Role B: Colleague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Do you have a minute? I wanted to mention something.</a:t>
            </a:r>
          </a:p>
          <a:p>
            <a:r>
              <a:t>B: Sure.</a:t>
            </a:r>
          </a:p>
          <a:p>
            <a:r>
              <a:t>A: I find it frustrating when calls are taken at the desks, because I can’t concentrate.</a:t>
            </a:r>
          </a:p>
          <a:p>
            <a:r>
              <a:t>B: Oh, I didn’t realise it was bothering you.</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It would help if we used the phone booth for calls.</a:t>
            </a:r>
          </a:p>
          <a:p>
            <a:r>
              <a:t>B: That’s fair. I’ll do that.</a:t>
            </a:r>
          </a:p>
          <a:p>
            <a:r>
              <a:t>A: Thanks. I really appreciate it.</a:t>
            </a:r>
          </a:p>
          <a:p>
            <a:r>
              <a:t>B: No problem. Let me know if I do anything else.</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13 | </a:t>
            </a:r>
          </a:p>
          <a:p>
            <a:r>
              <a:t>Situation | You raise a minor issue politely.</a:t>
            </a:r>
          </a:p>
          <a:p>
            <a:r>
              <a:t>Your role (A) | Raiser. Habit: ______________</a:t>
            </a:r>
          </a:p>
          <a:p>
            <a:r>
              <a:t>Partner’s role (B) | Colleague.</a:t>
            </a:r>
          </a:p>
          <a:p>
            <a:r>
              <a:t>Must use (3 or more) | I find it frustrating when… · I wanted to mention · It would help if… · I appreciate · Could we agree to…?</a:t>
            </a:r>
          </a:p>
          <a:p>
            <a:r>
              <a:t>Goal | Describe the effect, suggest an alternative and thank.</a:t>
            </a:r>
          </a:p>
          <a:p>
            <a:r>
              <a:t>My notes | ____________________________________________</a:t>
            </a:r>
          </a:p>
          <a:p>
            <a:r>
              <a:t>Start with a positive.</a:t>
            </a:r>
          </a:p>
          <a:p>
            <a:r>
              <a:t>Respond to a defensive reaction.</a:t>
            </a:r>
          </a:p>
          <a:p>
            <a:r>
              <a:t>Agree a signal for reminders.</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Responding to busy bragging 应对炫耀忙碌</a:t>
            </a:r>
          </a:p>
          <a:p>
            <a:r>
              <a:t>情景：A colleague boasts about how busy they are.</a:t>
            </a:r>
          </a:p>
          <a:p>
            <a:r>
              <a:t>Role A: Colleague Role B: You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I’m slammed. I haven’t had a lunch break in a week.</a:t>
            </a:r>
          </a:p>
          <a:p>
            <a:r>
              <a:t>B: That sounds exhausting. Is there something I can take off your plate?</a:t>
            </a:r>
          </a:p>
          <a:p>
            <a:r>
              <a:t>A: I don’t think so. I’m just so busy.</a:t>
            </a:r>
          </a:p>
          <a:p>
            <a:r>
              <a:t>B: OK. If you want to talk about prioritising, I’m happy to help.</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Hmm, maybe. I guess I could delegate more.</a:t>
            </a:r>
          </a:p>
          <a:p>
            <a:r>
              <a:t>B: It might be worth looking at what’s essential.</a:t>
            </a:r>
          </a:p>
          <a:p>
            <a:r>
              <a:t>A: Good point. Thanks.</a:t>
            </a:r>
          </a:p>
          <a:p>
            <a:r>
              <a:t>B: Anytime. Let’s grab a coffee on Thursday.</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14 | </a:t>
            </a:r>
          </a:p>
          <a:p>
            <a:r>
              <a:t>Situation | You respond to busy bragging.</a:t>
            </a:r>
          </a:p>
          <a:p>
            <a:r>
              <a:t>Your role (A) | Colleague.</a:t>
            </a:r>
          </a:p>
          <a:p>
            <a:r>
              <a:t>Partner’s role (B) | You. Situation: ______________</a:t>
            </a:r>
          </a:p>
          <a:p>
            <a:r>
              <a:t>Must use (3 or more) | slammed · take off your plate · prioritising · It might be worth… · grab a coffee</a:t>
            </a:r>
          </a:p>
          <a:p>
            <a:r>
              <a:t>Goal | Respond kindly, offer help and avoid competing.</a:t>
            </a:r>
          </a:p>
          <a:p>
            <a:r>
              <a:t>My notes | ____________________________________________</a:t>
            </a:r>
          </a:p>
          <a:p>
            <a:r>
              <a:t>Don’t match their busyness.</a:t>
            </a:r>
          </a:p>
          <a:p>
            <a:r>
              <a:t>Redirect to solutions.</a:t>
            </a:r>
          </a:p>
          <a:p>
            <a:r>
              <a:t>Bring humour carefully.</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Why do people brag about being busy? | “It might be because…”</a:t>
            </a:r>
          </a:p>
          <a:p>
            <a:r>
              <a:t>2. What is your biggest pet hate at work? | “My pet hate is… because…”</a:t>
            </a:r>
          </a:p>
          <a:p>
            <a:r>
              <a:t>3. How can offices reduce irritating behaviour? | “Teams could agree on…”</a:t>
            </a:r>
          </a:p>
          <a:p>
            <a:r>
              <a:t>4. Is it better to talk to the person or HR? | “First, I’d… and then…”</a:t>
            </a:r>
          </a:p>
          <a:p>
            <a:r>
              <a:t>5. What would your colleagues say are your habits? | “They might say I…”</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“A team charter helps. For example, the team agrees to have agendas, avoid reply-all and keep calls short. That way, nobody feels singled out, and the rules protect everyone. We review the rules every three months, so they stay relevant. It also saves time because people don’t have to guess what’s acceptable.”</a:t>
            </a:r>
          </a:p>
          <a:p>
            <a:r>
              <a:t>“singled out” 被特别点名;“stay relevant” 保持适用。</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Complaining politely 礼貌地投诉</a:t>
            </a:r>
          </a:p>
          <a:p>
            <a:r>
              <a:t>Direct | Polite</a:t>
            </a:r>
          </a:p>
          <a:p>
            <a:r>
              <a:t>Your calls are too loud. | I find it hard to concentrate with calls nearby.</a:t>
            </a:r>
          </a:p>
          <a:p>
            <a:r>
              <a:t>You always interrupt. | Could I finish my point, please?</a:t>
            </a:r>
          </a:p>
          <a:p>
            <a:r>
              <a:t>Stop using reply-all. | It would help if we used reply-all less.</a:t>
            </a:r>
          </a:p>
          <a:p>
            <a:r>
              <a:t>You’re lazy. | I’ve noticed the report is late again. Is something wrong?</a:t>
            </a:r>
          </a:p>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Complaining politely 礼貌地投诉</a:t>
            </a:r>
          </a:p>
          <a:p>
            <a:r>
              <a:t>Use I-statements: I find it frustrating when… instead of You always…</a:t>
            </a:r>
          </a:p>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hate that he talks loudly.  →  ✓ I hate it when he talks loudly.  (hate it when)</a:t>
            </a:r>
          </a:p>
          <a:p>
            <a:r>
              <a:t>✗ He is annoying me every day.  →  ✓ He annoys me every day.  (一般现在时)</a:t>
            </a:r>
          </a:p>
          <a:p>
            <a:r>
              <a:t>✗ I’m annoying by his calls.  →  ✓ I’m annoyed by his calls.  (-ed)</a:t>
            </a:r>
          </a:p>
          <a:p>
            <a:r>
              <a:t>Mistake Watch: Check annoyed / annoying, hate it when, and polite requests.</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Please don’t make noise.  →  ✓ Please keep the noise down.  (自然)</a:t>
            </a:r>
          </a:p>
          <a:p>
            <a:r>
              <a:t>✗ She did me annoyed.  →  ✓ She annoyed me.  (动词)</a:t>
            </a:r>
          </a:p>
          <a:p>
            <a:r>
              <a:t>✗ You must to stop.  →  ✓ Could you please stop?  (礼貌)</a:t>
            </a:r>
          </a:p>
          <a:p>
            <a:r>
              <a:t>Mistake Watch: Check annoyed / annoying, hate it when, and polite requests.</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Indirect complaints are normal. British English especially softens with “I wonder if…”.</a:t>
            </a:r>
          </a:p>
          <a:p>
            <a:r>
              <a:t>Don’t complain publicly. Raise sensitive topics in private.</a:t>
            </a:r>
          </a:p>
          <a:p>
            <a:r>
              <a:t>Offer a solution. “It would help if…” shows cooperation.</a:t>
            </a:r>
          </a:p>
          <a:p>
            <a:r>
              <a:t>Humour helps, but carefully. Don’t make jokes about personality.</a:t>
            </a:r>
          </a:p>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workplace pet hates naturally.</a:t>
            </a:r>
          </a:p>
          <a:p>
            <a:r>
              <a:t>I can raise a minor issue politely with It would help if…</a:t>
            </a:r>
          </a:p>
          <a:p>
            <a:r>
              <a:t>I can respond to busy bragging kindly.</a:t>
            </a:r>
          </a:p>
          <a:p>
            <a:r>
              <a:t>I use annoyed / annoying and hate it when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Describe a pet hate and how you’d politely raise it.</a:t>
            </a:r>
          </a:p>
          <a:p>
            <a:r>
              <a:t>8–10 | Listen to your recording. Check: annoyed/annoying, hate it when, would help if.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单元复习游戏：各组轮流选数字，点击进入挑战页，完成挑战得分；盒子里有奖励、炸弹和偷分卡。</a:t>
            </a:r>
          </a:p>
          <a:p>
            <a:r>
              <a:t>挑战页右下角 ↩ Back 返回本页。挑战页为隐藏幻灯片，正常翻页不会出现。</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单元终极挑战：每题限时 10 秒抢答，答对 +1。点一次出题，再点一次出答案。</a:t>
            </a:r>
          </a:p>
          <a:p>
            <a:r>
              <a:t>“以身示范” in English? → model (healthy habits)</a:t>
            </a:r>
          </a:p>
          <a:p>
            <a:r>
              <a:t>“睡懒觉” in English? → sleep in</a:t>
            </a:r>
          </a:p>
          <a:p>
            <a:r>
              <a:t>“我们可以约定…” in English? → Could we agree to…?</a:t>
            </a:r>
          </a:p>
          <a:p>
            <a:r>
              <a:t>Fix it: I am burn out. → I am burnt out. / I’ve burnt out.</a:t>
            </a:r>
          </a:p>
          <a:p>
            <a:r>
              <a:t>Fix it: Please don’t make noise. → Please keep the noise down.</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统计各组得分，宣布冠军组，全班鼓掌！</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结束：提醒学员完成每日 10 分钟练习，下节课开头抽查。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4.xml"/><Relationship Id="rId4" Type="http://schemas.openxmlformats.org/officeDocument/2006/relationships/slide" Target="slide31.xml"/><Relationship Id="rId5" Type="http://schemas.openxmlformats.org/officeDocument/2006/relationships/slide" Target="slide58.xml"/><Relationship Id="rId6" Type="http://schemas.openxmlformats.org/officeDocument/2006/relationships/slide" Target="slide83.xml"/><Relationship Id="rId7" Type="http://schemas.openxmlformats.org/officeDocument/2006/relationships/slide" Target="slide110.xml"/><Relationship Id="rId8" Type="http://schemas.openxmlformats.org/officeDocument/2006/relationships/slide" Target="slide135.xml"/><Relationship Id="rId9" Type="http://schemas.openxmlformats.org/officeDocument/2006/relationships/slide" Target="slide16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9.xml"/><Relationship Id="rId4" Type="http://schemas.openxmlformats.org/officeDocument/2006/relationships/slide" Target="slide190.xml"/><Relationship Id="rId5" Type="http://schemas.openxmlformats.org/officeDocument/2006/relationships/slide" Target="slide191.xml"/><Relationship Id="rId6" Type="http://schemas.openxmlformats.org/officeDocument/2006/relationships/slide" Target="slide192.xml"/><Relationship Id="rId7" Type="http://schemas.openxmlformats.org/officeDocument/2006/relationships/slide" Target="slide193.xml"/><Relationship Id="rId8" Type="http://schemas.openxmlformats.org/officeDocument/2006/relationships/slide" Target="slide194.xml"/><Relationship Id="rId9" Type="http://schemas.openxmlformats.org/officeDocument/2006/relationships/slide" Target="slide195.xml"/><Relationship Id="rId10" Type="http://schemas.openxmlformats.org/officeDocument/2006/relationships/slide" Target="slide196.xml"/><Relationship Id="rId11" Type="http://schemas.openxmlformats.org/officeDocument/2006/relationships/slide" Target="slide197.xml"/><Relationship Id="rId12" Type="http://schemas.openxmlformats.org/officeDocument/2006/relationships/slide" Target="slide198.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9.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9.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9.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9.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9.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9.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9.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9.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9.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0.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1.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12</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a:t>
            </a:r>
          </a:p>
        </p:txBody>
      </p:sp>
      <p:sp>
        <p:nvSpPr>
          <p:cNvPr id="4" name="Oval 3"/>
          <p:cNvSpPr/>
          <p:nvPr/>
        </p:nvSpPr>
        <p:spPr>
          <a:xfrm>
            <a:off x="9692640" y="457200"/>
            <a:ext cx="2011680" cy="20116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2286000"/>
            <a:ext cx="1097280" cy="109728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480560"/>
            <a:ext cx="1463040" cy="14630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457200"/>
            <a:ext cx="2011680" cy="2011680"/>
          </a:xfrm>
          <a:prstGeom prst="rect">
            <a:avLst/>
          </a:prstGeom>
          <a:noFill/>
        </p:spPr>
        <p:txBody>
          <a:bodyPr wrap="square" anchor="ctr">
            <a:spAutoFit/>
          </a:bodyPr>
          <a:lstStyle/>
          <a:p>
            <a:pPr algn="ctr">
              <a:lnSpc>
                <a:spcPct val="115000"/>
              </a:lnSpc>
              <a:spcAft>
                <a:spcPts val="800"/>
              </a:spcAft>
            </a:pPr>
            <a:r>
              <a:rPr sz="8000" b="0">
                <a:solidFill>
                  <a:srgbClr val="1F2A44"/>
                </a:solidFill>
                <a:latin typeface="Arial"/>
                <a:ea typeface="Microsoft YaHei"/>
              </a:rPr>
              <a:t>💼</a:t>
            </a:r>
          </a:p>
        </p:txBody>
      </p:sp>
      <p:sp>
        <p:nvSpPr>
          <p:cNvPr id="8" name="TextBox 7"/>
          <p:cNvSpPr txBox="1"/>
          <p:nvPr/>
        </p:nvSpPr>
        <p:spPr>
          <a:xfrm>
            <a:off x="822960" y="1188720"/>
            <a:ext cx="8229600" cy="457200"/>
          </a:xfrm>
          <a:prstGeom prst="rect">
            <a:avLst/>
          </a:prstGeom>
          <a:noFill/>
        </p:spPr>
        <p:txBody>
          <a:bodyPr wrap="square" anchor="t">
            <a:spAutoFit/>
          </a:bodyPr>
          <a:lstStyle/>
          <a:p>
            <a:pPr algn="l">
              <a:lnSpc>
                <a:spcPct val="115000"/>
              </a:lnSpc>
              <a:spcAft>
                <a:spcPts val="800"/>
              </a:spcAft>
            </a:pPr>
            <a:r>
              <a:rPr sz="2000" b="1">
                <a:solidFill>
                  <a:srgbClr val="FFC857"/>
                </a:solidFill>
                <a:latin typeface="Arial"/>
                <a:ea typeface="Microsoft YaHei"/>
              </a:rPr>
              <a:t>BUSINESS ENGLISH · LEVEL 7–8 · UNIT 12</a:t>
            </a:r>
          </a:p>
        </p:txBody>
      </p:sp>
      <p:sp>
        <p:nvSpPr>
          <p:cNvPr id="9" name="TextBox 8"/>
          <p:cNvSpPr txBox="1"/>
          <p:nvPr/>
        </p:nvSpPr>
        <p:spPr>
          <a:xfrm>
            <a:off x="822960" y="1691640"/>
            <a:ext cx="8046720" cy="1737360"/>
          </a:xfrm>
          <a:prstGeom prst="rect">
            <a:avLst/>
          </a:prstGeom>
          <a:noFill/>
        </p:spPr>
        <p:txBody>
          <a:bodyPr wrap="square" anchor="ctr">
            <a:spAutoFit/>
          </a:bodyPr>
          <a:lstStyle/>
          <a:p>
            <a:pPr algn="l">
              <a:lnSpc>
                <a:spcPct val="115000"/>
              </a:lnSpc>
              <a:spcAft>
                <a:spcPts val="800"/>
              </a:spcAft>
            </a:pPr>
            <a:r>
              <a:rPr sz="5200" b="1">
                <a:solidFill>
                  <a:srgbClr val="FFFFFF"/>
                </a:solidFill>
                <a:latin typeface="Arial"/>
                <a:ea typeface="Microsoft YaHei"/>
              </a:rPr>
              <a:t>Emotion and Energy Management</a:t>
            </a:r>
          </a:p>
        </p:txBody>
      </p:sp>
      <p:sp>
        <p:nvSpPr>
          <p:cNvPr id="10" name="Rounded Rectangle 9"/>
          <p:cNvSpPr/>
          <p:nvPr/>
        </p:nvSpPr>
        <p:spPr>
          <a:xfrm>
            <a:off x="822960" y="3657600"/>
            <a:ext cx="1645920" cy="50292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CEFR B1→B2</a:t>
            </a:r>
          </a:p>
        </p:txBody>
      </p:sp>
      <p:sp>
        <p:nvSpPr>
          <p:cNvPr id="11" name="Rounded Rectangle 10"/>
          <p:cNvSpPr/>
          <p:nvPr/>
        </p:nvSpPr>
        <p:spPr>
          <a:xfrm>
            <a:off x="2606040" y="3657600"/>
            <a:ext cx="1527048" cy="50292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7 Lessons</a:t>
            </a:r>
          </a:p>
        </p:txBody>
      </p:sp>
      <p:sp>
        <p:nvSpPr>
          <p:cNvPr id="12" name="Rounded Rectangle 11"/>
          <p:cNvSpPr/>
          <p:nvPr/>
        </p:nvSpPr>
        <p:spPr>
          <a:xfrm>
            <a:off x="4270248" y="3657600"/>
            <a:ext cx="1408176" cy="50292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同桌英语</a:t>
            </a:r>
          </a:p>
        </p:txBody>
      </p:sp>
      <p:sp>
        <p:nvSpPr>
          <p:cNvPr id="13" name="TextBox 12"/>
          <p:cNvSpPr txBox="1"/>
          <p:nvPr/>
        </p:nvSpPr>
        <p:spPr>
          <a:xfrm>
            <a:off x="822960" y="4434840"/>
            <a:ext cx="8229600" cy="1463040"/>
          </a:xfrm>
          <a:prstGeom prst="rect">
            <a:avLst/>
          </a:prstGeom>
          <a:noFill/>
        </p:spPr>
        <p:txBody>
          <a:bodyPr wrap="square" anchor="t">
            <a:spAutoFit/>
          </a:bodyPr>
          <a:lstStyle/>
          <a:p>
            <a:pPr algn="l">
              <a:lnSpc>
                <a:spcPct val="115000"/>
              </a:lnSpc>
              <a:spcAft>
                <a:spcPts val="800"/>
              </a:spcAft>
            </a:pPr>
            <a:r>
              <a:rPr sz="1600" b="0">
                <a:solidFill>
                  <a:srgbClr val="FFFFFF"/>
                </a:solidFill>
                <a:latin typeface="Arial"/>
                <a:ea typeface="Microsoft YaHei"/>
              </a:rPr>
              <a:t>L53 Embracing emotions at work · L54 Sleep leadership · L55 Burnout and creativity · L56 The cost of work stress · L57 Stress? Let’s deal with it! · L58 Me, my work and I · L59 Busy bragging and other pet hates</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Team Challenge 小组积分赛</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 rules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a:t>
            </a:r>
          </a:p>
        </p:txBody>
      </p:sp>
      <p:sp>
        <p:nvSpPr>
          <p:cNvPr id="7" name="TextBox 6"/>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Speak up, answer fast, role-play well — every point counts.  积极发言、快速答题、精彩演绎都能得分</a:t>
            </a:r>
          </a:p>
        </p:txBody>
      </p:sp>
      <p:sp>
        <p:nvSpPr>
          <p:cNvPr id="8" name="Rounded Rectangle 7"/>
          <p:cNvSpPr/>
          <p:nvPr/>
        </p:nvSpPr>
        <p:spPr>
          <a:xfrm>
            <a:off x="548640" y="1691640"/>
            <a:ext cx="2606040" cy="2834640"/>
          </a:xfrm>
          <a:prstGeom prst="roundRect">
            <a:avLst>
              <a:gd name="adj" fmla="val 6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2606040" cy="777240"/>
          </a:xfrm>
          <a:prstGeom prst="roundRect">
            <a:avLst>
              <a:gd name="adj" fmla="val 15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Alpha</a:t>
            </a:r>
          </a:p>
        </p:txBody>
      </p:sp>
      <p:sp>
        <p:nvSpPr>
          <p:cNvPr id="10" name="TextBox 9"/>
          <p:cNvSpPr txBox="1"/>
          <p:nvPr/>
        </p:nvSpPr>
        <p:spPr>
          <a:xfrm>
            <a:off x="54864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1" name="TextBox 10"/>
          <p:cNvSpPr txBox="1"/>
          <p:nvPr/>
        </p:nvSpPr>
        <p:spPr>
          <a:xfrm>
            <a:off x="54864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2" name="Rounded Rectangle 11"/>
          <p:cNvSpPr/>
          <p:nvPr/>
        </p:nvSpPr>
        <p:spPr>
          <a:xfrm>
            <a:off x="3383280" y="1691640"/>
            <a:ext cx="2606040" cy="2834640"/>
          </a:xfrm>
          <a:prstGeom prst="roundRect">
            <a:avLst>
              <a:gd name="adj" fmla="val 6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91640"/>
            <a:ext cx="2606040" cy="777240"/>
          </a:xfrm>
          <a:prstGeom prst="roundRect">
            <a:avLst>
              <a:gd name="adj" fmla="val 15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Bravo</a:t>
            </a:r>
          </a:p>
        </p:txBody>
      </p:sp>
      <p:sp>
        <p:nvSpPr>
          <p:cNvPr id="14" name="TextBox 13"/>
          <p:cNvSpPr txBox="1"/>
          <p:nvPr/>
        </p:nvSpPr>
        <p:spPr>
          <a:xfrm>
            <a:off x="338328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5" name="TextBox 14"/>
          <p:cNvSpPr txBox="1"/>
          <p:nvPr/>
        </p:nvSpPr>
        <p:spPr>
          <a:xfrm>
            <a:off x="338328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6" name="Rounded Rectangle 15"/>
          <p:cNvSpPr/>
          <p:nvPr/>
        </p:nvSpPr>
        <p:spPr>
          <a:xfrm>
            <a:off x="6217920" y="1691640"/>
            <a:ext cx="2606040" cy="2834640"/>
          </a:xfrm>
          <a:prstGeom prst="roundRect">
            <a:avLst>
              <a:gd name="adj" fmla="val 6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691640"/>
            <a:ext cx="2606040" cy="77724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Charlie</a:t>
            </a:r>
          </a:p>
        </p:txBody>
      </p:sp>
      <p:sp>
        <p:nvSpPr>
          <p:cNvPr id="18" name="TextBox 17"/>
          <p:cNvSpPr txBox="1"/>
          <p:nvPr/>
        </p:nvSpPr>
        <p:spPr>
          <a:xfrm>
            <a:off x="621792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9" name="TextBox 18"/>
          <p:cNvSpPr txBox="1"/>
          <p:nvPr/>
        </p:nvSpPr>
        <p:spPr>
          <a:xfrm>
            <a:off x="621792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0" name="Rounded Rectangle 19"/>
          <p:cNvSpPr/>
          <p:nvPr/>
        </p:nvSpPr>
        <p:spPr>
          <a:xfrm>
            <a:off x="9052560" y="1691640"/>
            <a:ext cx="2606040" cy="2834640"/>
          </a:xfrm>
          <a:prstGeom prst="roundRect">
            <a:avLst>
              <a:gd name="adj" fmla="val 6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691640"/>
            <a:ext cx="2606040" cy="777240"/>
          </a:xfrm>
          <a:prstGeom prst="roundRect">
            <a:avLst>
              <a:gd name="adj" fmla="val 15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Delta</a:t>
            </a:r>
          </a:p>
        </p:txBody>
      </p:sp>
      <p:sp>
        <p:nvSpPr>
          <p:cNvPr id="22" name="TextBox 21"/>
          <p:cNvSpPr txBox="1"/>
          <p:nvPr/>
        </p:nvSpPr>
        <p:spPr>
          <a:xfrm>
            <a:off x="905256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23" name="TextBox 22"/>
          <p:cNvSpPr txBox="1"/>
          <p:nvPr/>
        </p:nvSpPr>
        <p:spPr>
          <a:xfrm>
            <a:off x="905256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4" name="Rounded Rectangle 23"/>
          <p:cNvSpPr/>
          <p:nvPr/>
        </p:nvSpPr>
        <p:spPr>
          <a:xfrm>
            <a:off x="54864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Speak in English  +1</a:t>
            </a:r>
          </a:p>
        </p:txBody>
      </p:sp>
      <p:sp>
        <p:nvSpPr>
          <p:cNvPr id="25" name="Rounded Rectangle 24"/>
          <p:cNvSpPr/>
          <p:nvPr/>
        </p:nvSpPr>
        <p:spPr>
          <a:xfrm>
            <a:off x="338328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Fastest correct answer  +1</a:t>
            </a:r>
          </a:p>
        </p:txBody>
      </p:sp>
      <p:sp>
        <p:nvSpPr>
          <p:cNvPr id="26" name="Rounded Rectangle 25"/>
          <p:cNvSpPr/>
          <p:nvPr/>
        </p:nvSpPr>
        <p:spPr>
          <a:xfrm>
            <a:off x="621792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Best role play  +2</a:t>
            </a:r>
          </a:p>
        </p:txBody>
      </p:sp>
      <p:sp>
        <p:nvSpPr>
          <p:cNvPr id="27" name="Rounded Rectangle 26"/>
          <p:cNvSpPr/>
          <p:nvPr/>
        </p:nvSpPr>
        <p:spPr>
          <a:xfrm>
            <a:off x="905256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Lucky Box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Unit Roadmap 单元路线图</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Click a lesson</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a:t>
            </a:r>
          </a:p>
        </p:txBody>
      </p:sp>
      <p:sp>
        <p:nvSpPr>
          <p:cNvPr id="7" name="Rounded Rectangle 6">
            <a:hlinkClick action="ppaction://hlinksldjump" r:id="rId3"/>
          </p:cNvPr>
          <p:cNvSpPr/>
          <p:nvPr/>
        </p:nvSpPr>
        <p:spPr>
          <a:xfrm>
            <a:off x="548640" y="155448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85166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53</a:t>
            </a:r>
          </a:p>
        </p:txBody>
      </p:sp>
      <p:sp>
        <p:nvSpPr>
          <p:cNvPr id="9" name="TextBox 8"/>
          <p:cNvSpPr txBox="1"/>
          <p:nvPr/>
        </p:nvSpPr>
        <p:spPr>
          <a:xfrm>
            <a:off x="1645920"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Embracing emotions at work</a:t>
            </a:r>
          </a:p>
          <a:p>
            <a:pPr algn="l">
              <a:lnSpc>
                <a:spcPct val="100000"/>
              </a:lnSpc>
              <a:spcAft>
                <a:spcPts val="800"/>
              </a:spcAft>
            </a:pPr>
            <a:r>
              <a:rPr sz="1400" b="0">
                <a:solidFill>
                  <a:srgbClr val="5F677A"/>
                </a:solidFill>
                <a:latin typeface="Arial"/>
                <a:ea typeface="Microsoft YaHei"/>
              </a:rPr>
              <a:t>接受工作中的情绪</a:t>
            </a:r>
          </a:p>
        </p:txBody>
      </p:sp>
      <p:sp>
        <p:nvSpPr>
          <p:cNvPr id="10" name="Rounded Rectangle 9">
            <a:hlinkClick action="ppaction://hlinksldjump" r:id="rId4"/>
          </p:cNvPr>
          <p:cNvSpPr/>
          <p:nvPr/>
        </p:nvSpPr>
        <p:spPr>
          <a:xfrm>
            <a:off x="4307738" y="155448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7466" y="185166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54</a:t>
            </a:r>
          </a:p>
        </p:txBody>
      </p:sp>
      <p:sp>
        <p:nvSpPr>
          <p:cNvPr id="12" name="TextBox 11"/>
          <p:cNvSpPr txBox="1"/>
          <p:nvPr/>
        </p:nvSpPr>
        <p:spPr>
          <a:xfrm>
            <a:off x="5405018"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Sleep leadership</a:t>
            </a:r>
          </a:p>
          <a:p>
            <a:pPr algn="l">
              <a:lnSpc>
                <a:spcPct val="100000"/>
              </a:lnSpc>
              <a:spcAft>
                <a:spcPts val="800"/>
              </a:spcAft>
            </a:pPr>
            <a:r>
              <a:rPr sz="1400" b="0">
                <a:solidFill>
                  <a:srgbClr val="5F677A"/>
                </a:solidFill>
                <a:latin typeface="Arial"/>
                <a:ea typeface="Microsoft YaHei"/>
              </a:rPr>
              <a:t>睡眠领导力</a:t>
            </a:r>
          </a:p>
        </p:txBody>
      </p:sp>
      <p:sp>
        <p:nvSpPr>
          <p:cNvPr id="13" name="Rounded Rectangle 12">
            <a:hlinkClick action="ppaction://hlinksldjump" r:id="rId5"/>
          </p:cNvPr>
          <p:cNvSpPr/>
          <p:nvPr/>
        </p:nvSpPr>
        <p:spPr>
          <a:xfrm>
            <a:off x="8066836" y="1554480"/>
            <a:ext cx="3576218"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76564" y="1851660"/>
            <a:ext cx="8686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55</a:t>
            </a:r>
          </a:p>
        </p:txBody>
      </p:sp>
      <p:sp>
        <p:nvSpPr>
          <p:cNvPr id="15" name="TextBox 14"/>
          <p:cNvSpPr txBox="1"/>
          <p:nvPr/>
        </p:nvSpPr>
        <p:spPr>
          <a:xfrm>
            <a:off x="9164116"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Burnout and creativity</a:t>
            </a:r>
          </a:p>
          <a:p>
            <a:pPr algn="l">
              <a:lnSpc>
                <a:spcPct val="100000"/>
              </a:lnSpc>
              <a:spcAft>
                <a:spcPts val="800"/>
              </a:spcAft>
            </a:pPr>
            <a:r>
              <a:rPr sz="1400" b="0">
                <a:solidFill>
                  <a:srgbClr val="5F677A"/>
                </a:solidFill>
                <a:latin typeface="Arial"/>
                <a:ea typeface="Microsoft YaHei"/>
              </a:rPr>
              <a:t>倦怠和创造力</a:t>
            </a:r>
          </a:p>
        </p:txBody>
      </p:sp>
      <p:sp>
        <p:nvSpPr>
          <p:cNvPr id="16" name="Rounded Rectangle 15">
            <a:hlinkClick action="ppaction://hlinksldjump" r:id="rId6"/>
          </p:cNvPr>
          <p:cNvSpPr/>
          <p:nvPr/>
        </p:nvSpPr>
        <p:spPr>
          <a:xfrm>
            <a:off x="548640" y="2971800"/>
            <a:ext cx="3576218" cy="123444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8368" y="3268980"/>
            <a:ext cx="868680" cy="640080"/>
          </a:xfrm>
          <a:prstGeom prst="roundRect">
            <a:avLst>
              <a:gd name="adj" fmla="val 3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56</a:t>
            </a:r>
          </a:p>
        </p:txBody>
      </p:sp>
      <p:sp>
        <p:nvSpPr>
          <p:cNvPr id="18" name="TextBox 17"/>
          <p:cNvSpPr txBox="1"/>
          <p:nvPr/>
        </p:nvSpPr>
        <p:spPr>
          <a:xfrm>
            <a:off x="1645920"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The cost of work stress</a:t>
            </a:r>
          </a:p>
          <a:p>
            <a:pPr algn="l">
              <a:lnSpc>
                <a:spcPct val="100000"/>
              </a:lnSpc>
              <a:spcAft>
                <a:spcPts val="800"/>
              </a:spcAft>
            </a:pPr>
            <a:r>
              <a:rPr sz="1400" b="0">
                <a:solidFill>
                  <a:srgbClr val="5F677A"/>
                </a:solidFill>
                <a:latin typeface="Arial"/>
                <a:ea typeface="Microsoft YaHei"/>
              </a:rPr>
              <a:t>工作压力的代价</a:t>
            </a:r>
          </a:p>
        </p:txBody>
      </p:sp>
      <p:sp>
        <p:nvSpPr>
          <p:cNvPr id="19" name="Rounded Rectangle 18">
            <a:hlinkClick action="ppaction://hlinksldjump" r:id="rId7"/>
          </p:cNvPr>
          <p:cNvSpPr/>
          <p:nvPr/>
        </p:nvSpPr>
        <p:spPr>
          <a:xfrm>
            <a:off x="4307738" y="2971800"/>
            <a:ext cx="3576218" cy="12344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7466" y="3268980"/>
            <a:ext cx="868680" cy="640080"/>
          </a:xfrm>
          <a:prstGeom prst="roundRect">
            <a:avLst>
              <a:gd name="adj" fmla="val 3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57</a:t>
            </a:r>
          </a:p>
        </p:txBody>
      </p:sp>
      <p:sp>
        <p:nvSpPr>
          <p:cNvPr id="21" name="TextBox 20"/>
          <p:cNvSpPr txBox="1"/>
          <p:nvPr/>
        </p:nvSpPr>
        <p:spPr>
          <a:xfrm>
            <a:off x="5405018"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Stress? Let’s deal with it!</a:t>
            </a:r>
          </a:p>
          <a:p>
            <a:pPr algn="l">
              <a:lnSpc>
                <a:spcPct val="100000"/>
              </a:lnSpc>
              <a:spcAft>
                <a:spcPts val="800"/>
              </a:spcAft>
            </a:pPr>
            <a:r>
              <a:rPr sz="1400" b="0">
                <a:solidFill>
                  <a:srgbClr val="5F677A"/>
                </a:solidFill>
                <a:latin typeface="Arial"/>
                <a:ea typeface="Microsoft YaHei"/>
              </a:rPr>
              <a:t>压力?让我们来处理它</a:t>
            </a:r>
          </a:p>
        </p:txBody>
      </p:sp>
      <p:sp>
        <p:nvSpPr>
          <p:cNvPr id="22" name="Rounded Rectangle 21">
            <a:hlinkClick action="ppaction://hlinksldjump" r:id="rId8"/>
          </p:cNvPr>
          <p:cNvSpPr/>
          <p:nvPr/>
        </p:nvSpPr>
        <p:spPr>
          <a:xfrm>
            <a:off x="8066836" y="297180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176564" y="326898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58</a:t>
            </a:r>
          </a:p>
        </p:txBody>
      </p:sp>
      <p:sp>
        <p:nvSpPr>
          <p:cNvPr id="24" name="TextBox 23"/>
          <p:cNvSpPr txBox="1"/>
          <p:nvPr/>
        </p:nvSpPr>
        <p:spPr>
          <a:xfrm>
            <a:off x="9164116"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Me, my work and I</a:t>
            </a:r>
          </a:p>
          <a:p>
            <a:pPr algn="l">
              <a:lnSpc>
                <a:spcPct val="100000"/>
              </a:lnSpc>
              <a:spcAft>
                <a:spcPts val="800"/>
              </a:spcAft>
            </a:pPr>
            <a:r>
              <a:rPr sz="1400" b="0">
                <a:solidFill>
                  <a:srgbClr val="5F677A"/>
                </a:solidFill>
                <a:latin typeface="Arial"/>
                <a:ea typeface="Microsoft YaHei"/>
              </a:rPr>
              <a:t>我、我的工作和我</a:t>
            </a:r>
          </a:p>
        </p:txBody>
      </p:sp>
      <p:sp>
        <p:nvSpPr>
          <p:cNvPr id="25" name="Rounded Rectangle 24">
            <a:hlinkClick action="ppaction://hlinksldjump" r:id="rId9"/>
          </p:cNvPr>
          <p:cNvSpPr/>
          <p:nvPr/>
        </p:nvSpPr>
        <p:spPr>
          <a:xfrm>
            <a:off x="548640" y="438912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58368" y="468630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59</a:t>
            </a:r>
          </a:p>
        </p:txBody>
      </p:sp>
      <p:sp>
        <p:nvSpPr>
          <p:cNvPr id="27" name="TextBox 26"/>
          <p:cNvSpPr txBox="1"/>
          <p:nvPr/>
        </p:nvSpPr>
        <p:spPr>
          <a:xfrm>
            <a:off x="1645920" y="441655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Busy bragging and other pet hates</a:t>
            </a:r>
          </a:p>
          <a:p>
            <a:pPr algn="l">
              <a:lnSpc>
                <a:spcPct val="100000"/>
              </a:lnSpc>
              <a:spcAft>
                <a:spcPts val="800"/>
              </a:spcAft>
            </a:pPr>
            <a:r>
              <a:rPr sz="1400" b="0">
                <a:solidFill>
                  <a:srgbClr val="5F677A"/>
                </a:solidFill>
                <a:latin typeface="Arial"/>
                <a:ea typeface="Microsoft YaHei"/>
              </a:rPr>
              <a:t>忙碌的炫耀及其他令人厌烦的事</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12 · Lesson 53 Embracing emotions at work</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53</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Embracing emotions at work</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接受工作中的情绪</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name and describe feelings at work, express them professionally and respond to colleagues’ emotions with empathy.</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53 Embracing emotions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it OK to show emotions at work?</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usually deal with frustration?</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cried or lost your temper at work?</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know when a colleague is upset?</a:t>
            </a:r>
          </a:p>
        </p:txBody>
      </p:sp>
      <p:sp>
        <p:nvSpPr>
          <p:cNvPr id="21" name="Oval 20"/>
          <p:cNvSpPr/>
          <p:nvPr/>
        </p:nvSpPr>
        <p:spPr>
          <a:xfrm>
            <a:off x="548640" y="459942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is the difference between being emotional and being unprofessional?</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“embrace” = 接受,拥抱。“lose your temper” = 发脾气。第 3 题现在完成时问经历。</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53 Embracing emotions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how you handle strong emotions at work.</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the feeling</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the trigger</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what you do</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what helps</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 tend to feel… when…   💬 What helps me is…   💬 I try to… before I react   💬 It’s natural to…</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“It’s natural to + 动词原形”;“before I react” 用现在时代替将来。</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Naming a feeling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126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53 Embracing emotions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For a long time, many workplaces expected employees to leave their emotions at the door. Today, many psychologists argue that this is neither possible nor healthy. Emotions carry information: frustration may signal a blocked goal, anxiety may point to a risk, and excitement shows what motivates us. The skill is not to hide feelings but to manage how we express them. One simple technique is called “naming it”. Silently describing the emotion, for example “I’m feeling anxious about this deadline”, can reduce its intensity. Next, pause before reacting. Then choose a calm way to share the facts: “I’m concerned that we will not finish on time. Can we review the plan?” Teams that talk openly about feelings usually solve problems earlier and trust each other more.</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53 Embracing emotions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can emotions tell us?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Frustration: blocked goal; anxiety: a risk; excitement: what motivates us.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is “naming it”?</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Silently describing the emotion to reduce its intensity.</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Give an example of a calm way to share a concern.</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“I’m concerned that we will not finish on time. Can we review the plan?”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Feelings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53 Embracing emotions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情绪</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overwhelmed</a:t>
            </a:r>
          </a:p>
          <a:p>
            <a:pPr algn="l">
              <a:lnSpc>
                <a:spcPct val="115000"/>
              </a:lnSpc>
              <a:spcAft>
                <a:spcPts val="800"/>
              </a:spcAft>
            </a:pPr>
            <a:r>
              <a:rPr sz="1300" b="0">
                <a:solidFill>
                  <a:srgbClr val="5F677A"/>
                </a:solidFill>
                <a:latin typeface="Arial"/>
                <a:ea typeface="Microsoft YaHei"/>
              </a:rPr>
              <a:t>adjective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不堪重负的</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feel overwhelmed by emails.”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frustrated</a:t>
            </a:r>
          </a:p>
          <a:p>
            <a:pPr algn="l">
              <a:lnSpc>
                <a:spcPct val="115000"/>
              </a:lnSpc>
              <a:spcAft>
                <a:spcPts val="800"/>
              </a:spcAft>
            </a:pPr>
            <a:r>
              <a:rPr sz="1300" b="0">
                <a:solidFill>
                  <a:srgbClr val="5F677A"/>
                </a:solidFill>
                <a:latin typeface="Arial"/>
                <a:ea typeface="Microsoft YaHei"/>
              </a:rPr>
              <a:t>adjective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沮丧的</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frustrated with the delay.”</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anxious</a:t>
            </a:r>
          </a:p>
          <a:p>
            <a:pPr algn="l">
              <a:lnSpc>
                <a:spcPct val="115000"/>
              </a:lnSpc>
              <a:spcAft>
                <a:spcPts val="800"/>
              </a:spcAft>
            </a:pPr>
            <a:r>
              <a:rPr sz="1300" b="0">
                <a:solidFill>
                  <a:srgbClr val="5F677A"/>
                </a:solidFill>
                <a:latin typeface="Arial"/>
                <a:ea typeface="Microsoft YaHei"/>
              </a:rPr>
              <a:t>adjective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焦虑的</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“She’s anxious about the review.”</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fired up</a:t>
            </a:r>
          </a:p>
          <a:p>
            <a:pPr algn="l">
              <a:lnSpc>
                <a:spcPct val="115000"/>
              </a:lnSpc>
              <a:spcAft>
                <a:spcPts val="800"/>
              </a:spcAft>
            </a:pPr>
            <a:r>
              <a:rPr sz="1300" b="0">
                <a:solidFill>
                  <a:srgbClr val="5F677A"/>
                </a:solidFill>
                <a:latin typeface="Arial"/>
                <a:ea typeface="Microsoft YaHei"/>
              </a:rPr>
              <a:t>adjective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充满干劲的</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fired up about this project.”</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drained</a:t>
            </a:r>
          </a:p>
          <a:p>
            <a:pPr algn="l">
              <a:lnSpc>
                <a:spcPct val="115000"/>
              </a:lnSpc>
              <a:spcAft>
                <a:spcPts val="800"/>
              </a:spcAft>
            </a:pPr>
            <a:r>
              <a:rPr sz="1300" b="0">
                <a:solidFill>
                  <a:srgbClr val="5F677A"/>
                </a:solidFill>
                <a:latin typeface="Arial"/>
                <a:ea typeface="Microsoft YaHei"/>
              </a:rPr>
              <a:t>adjective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精疲力竭的</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feel drained after meetings.”</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Expressing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53 Embracing emotions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表达</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I’m feeling… about…</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我对…感到…</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feeling uneasy about the plan.”</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It’s natural to feel…</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感到…很自然</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natural to feel nervous.”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vent</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发泄</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needed to vent.”</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lose your cool / temper</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发脾气</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lost my cool.”</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bottle up (feelings)</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压抑情绪</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“Don’t bottle it up.”</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Supporting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53 Embracing emotions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支持他人</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It sounds like…</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听起来…</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sounds like you’re under pressure.”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That must be…</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那一定很…</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“That must be hard.”</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Is there anything I can do?</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我能帮什么吗?</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“Is there anything I can do?”</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empathise with</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共情</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empathise with you.”</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read the room</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察言观色</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“Learn to read the room.”</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53 Embracing emotions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发泄</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vent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焦虑的</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anxious</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发脾气</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lose your cool / temper</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那一定很…</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That must be…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听起来…</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It sounds like…</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我能帮什么吗?</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Is there anything I can do?</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沮丧的</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frustrated</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感到…很自然</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It’s natural to feel…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53 Embracing emotions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572767"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overwhelmed</a:t>
            </a:r>
          </a:p>
        </p:txBody>
      </p:sp>
      <p:sp>
        <p:nvSpPr>
          <p:cNvPr id="10" name="Rounded Rectangle 9"/>
          <p:cNvSpPr/>
          <p:nvPr/>
        </p:nvSpPr>
        <p:spPr>
          <a:xfrm>
            <a:off x="3675887" y="987552"/>
            <a:ext cx="146304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frustrated</a:t>
            </a:r>
          </a:p>
        </p:txBody>
      </p:sp>
      <p:sp>
        <p:nvSpPr>
          <p:cNvPr id="11" name="Rounded Rectangle 10"/>
          <p:cNvSpPr/>
          <p:nvPr/>
        </p:nvSpPr>
        <p:spPr>
          <a:xfrm>
            <a:off x="5230367" y="987552"/>
            <a:ext cx="113385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anxious</a:t>
            </a:r>
          </a:p>
        </p:txBody>
      </p:sp>
      <p:sp>
        <p:nvSpPr>
          <p:cNvPr id="12" name="Rounded Rectangle 11"/>
          <p:cNvSpPr/>
          <p:nvPr/>
        </p:nvSpPr>
        <p:spPr>
          <a:xfrm>
            <a:off x="6455663" y="987552"/>
            <a:ext cx="80467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vent</a:t>
            </a:r>
          </a:p>
        </p:txBody>
      </p:sp>
      <p:sp>
        <p:nvSpPr>
          <p:cNvPr id="13" name="Rounded Rectangle 12"/>
          <p:cNvSpPr/>
          <p:nvPr/>
        </p:nvSpPr>
        <p:spPr>
          <a:xfrm>
            <a:off x="7351775" y="987552"/>
            <a:ext cx="1024128"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sounds</a:t>
            </a:r>
          </a:p>
        </p:txBody>
      </p:sp>
      <p:sp>
        <p:nvSpPr>
          <p:cNvPr id="14" name="Rounded Rectangle 13"/>
          <p:cNvSpPr/>
          <p:nvPr/>
        </p:nvSpPr>
        <p:spPr>
          <a:xfrm>
            <a:off x="8467343"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empathise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I feel _______ by the number of emails.</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overwhelmed</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I’m _______ with the delay.</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frustrated</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She’s _______ about tomorrow’s review.</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anxious</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 just needed to _______ for a minute.</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vent</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It _______ like you’re under pressure.</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sounds</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I really _______ with you.</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empathise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(-ed/-ing) I’m frustrated (感受) / It’s frustrating (事物);anxious ABOUT,frustrated WITH/BY。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Role Play · Supporting an upset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53 Embracing emotions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安慰沮丧的同事</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colleague seems upset.</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Colleague</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You</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Supporting an upset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53 Embracing emotions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just got some tough feedback. I feel drained.</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sounds hard. Do you want to talk about it?</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worked really hard on that report, and they only mentioned the mistakes.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must be frustrating. It’s natural to feel upset.</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Supporting an upset colleague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53 Embracing emotions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don’t want to overreact.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You’re not overreacting. Maybe take a short walk, then we can look at the comments together.</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That would help.</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Anytime.</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Your Turn · Supporting an upset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53 Embracing emotions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support an upset colleague.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Problem: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Supporter.</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It sounds like… · That must be… · natural to feel · take a short walk · Is there anything I can do?</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Listen first, empathise, then offer one practical help.</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Don’t give advice too early.</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an open question.</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Check in the next day.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Role Play · Expressing frustration professionally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53 Embracing emotions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职业地表达不满</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raise a concern with a manager.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Manager</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Expressing frustration professionally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53 Embracing emotions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Can I share a concern? I’m feeling frustrated about the changing deadlines.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Tell me more.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Three times this month, priorities have changed with a day’s notice.</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see. I didn’t realise it was affecting you so much.</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Expressing frustration professionally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53 Embracing emotions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makes it hard to plan. Could we agree on a weekly priority list?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reasonable. I’ll set it up.</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I appreciate your listening.</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Let’s review in a month.</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Your Turn · Expressing frustration professionally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53 Embracing emotions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voice a feeling calmly.</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Issue: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I’m feeling… about… · Three times this month · It makes it hard to · Could we…? · I appreciate</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Name the feeling, give facts and propose a fix.</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Avoid “you always”.</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Offer a compromise.</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End with thanks.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53 Embracing emotions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managers show vulnerability?</a:t>
            </a:r>
          </a:p>
          <a:p>
            <a:pPr algn="l">
              <a:lnSpc>
                <a:spcPct val="115000"/>
              </a:lnSpc>
              <a:spcAft>
                <a:spcPts val="800"/>
              </a:spcAft>
            </a:pPr>
            <a:r>
              <a:rPr sz="1400" b="0">
                <a:solidFill>
                  <a:srgbClr val="5F677A"/>
                </a:solidFill>
                <a:latin typeface="Arial"/>
                <a:ea typeface="Microsoft YaHei"/>
              </a:rPr>
              <a:t>💬 “I think so,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you stay calm under pressure?</a:t>
            </a:r>
          </a:p>
          <a:p>
            <a:pPr algn="l">
              <a:lnSpc>
                <a:spcPct val="115000"/>
              </a:lnSpc>
              <a:spcAft>
                <a:spcPts val="800"/>
              </a:spcAft>
            </a:pPr>
            <a:r>
              <a:rPr sz="1400" b="0">
                <a:solidFill>
                  <a:srgbClr val="5F677A"/>
                </a:solidFill>
                <a:latin typeface="Arial"/>
                <a:ea typeface="Microsoft YaHei"/>
              </a:rPr>
              <a:t>💬 “I find that… helps.”</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anger ever useful at work?</a:t>
            </a:r>
          </a:p>
          <a:p>
            <a:pPr algn="l">
              <a:lnSpc>
                <a:spcPct val="115000"/>
              </a:lnSpc>
              <a:spcAft>
                <a:spcPts val="800"/>
              </a:spcAft>
            </a:pPr>
            <a:r>
              <a:rPr sz="1400" b="0">
                <a:solidFill>
                  <a:srgbClr val="5F677A"/>
                </a:solidFill>
                <a:latin typeface="Arial"/>
                <a:ea typeface="Microsoft YaHei"/>
              </a:rPr>
              <a:t>💬 “Sometimes, if…”</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cultures differ in showing emotion?</a:t>
            </a:r>
          </a:p>
          <a:p>
            <a:pPr algn="l">
              <a:lnSpc>
                <a:spcPct val="115000"/>
              </a:lnSpc>
              <a:spcAft>
                <a:spcPts val="800"/>
              </a:spcAft>
            </a:pPr>
            <a:r>
              <a:rPr sz="1400" b="0">
                <a:solidFill>
                  <a:srgbClr val="5F677A"/>
                </a:solidFill>
                <a:latin typeface="Arial"/>
                <a:ea typeface="Microsoft YaHei"/>
              </a:rPr>
              <a:t>💬 “In some cultures, … whereas…”</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do you do when a colleague is upset?</a:t>
            </a:r>
          </a:p>
          <a:p>
            <a:pPr algn="l">
              <a:lnSpc>
                <a:spcPct val="115000"/>
              </a:lnSpc>
              <a:spcAft>
                <a:spcPts val="800"/>
              </a:spcAft>
            </a:pPr>
            <a:r>
              <a:rPr sz="1400" b="0">
                <a:solidFill>
                  <a:srgbClr val="5F677A"/>
                </a:solidFill>
                <a:latin typeface="Arial"/>
                <a:ea typeface="Microsoft YaHei"/>
              </a:rPr>
              <a:t>💬 “I usually…”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53 Embracing emotions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it can be good, in moderation. When a manager admits that something is hard, people feel it’s safe to be honest too. But managers also need to stay steady, so they shouldn’t share every worry. A good balance is to be open about challenges and calm about solutions.</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“in moderation” 适度;“steady” 稳重。</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Describing feelings with the right form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53 Embracing emotions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情绪形容词形式</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-ed (person feels)</a:t>
                      </a:r>
                    </a:p>
                  </a:txBody>
                  <a:tcPr anchor="ctr">
                    <a:solidFill>
                      <a:srgbClr val="3CC49A"/>
                    </a:solidFill>
                  </a:tcPr>
                </a:tc>
                <a:tc>
                  <a:txBody>
                    <a:bodyPr wrap="square"/>
                    <a:lstStyle/>
                    <a:p>
                      <a:r>
                        <a:rPr sz="1600" b="1">
                          <a:solidFill>
                            <a:srgbClr val="FFFFFF"/>
                          </a:solidFill>
                          <a:latin typeface="Arial"/>
                          <a:ea typeface="Microsoft YaHei"/>
                        </a:rPr>
                        <a:t>-ing (thing causes)</a:t>
                      </a:r>
                    </a:p>
                  </a:txBody>
                  <a:tcPr anchor="ctr">
                    <a:solidFill>
                      <a:srgbClr val="3CC49A"/>
                    </a:solidFill>
                  </a:tcPr>
                </a:tc>
              </a:tr>
              <a:tr h="408432">
                <a:tc>
                  <a:txBody>
                    <a:bodyPr wrap="square"/>
                    <a:lstStyle/>
                    <a:p>
                      <a:r>
                        <a:rPr sz="1600" b="1">
                          <a:solidFill>
                            <a:srgbClr val="1F2A44"/>
                          </a:solidFill>
                          <a:latin typeface="Arial"/>
                          <a:ea typeface="Microsoft YaHei"/>
                        </a:rPr>
                        <a:t>I’m frustrated.</a:t>
                      </a:r>
                    </a:p>
                  </a:txBody>
                  <a:tcPr anchor="ctr">
                    <a:solidFill>
                      <a:srgbClr val="FFFFFF"/>
                    </a:solidFill>
                  </a:tcPr>
                </a:tc>
                <a:tc>
                  <a:txBody>
                    <a:bodyPr wrap="square"/>
                    <a:lstStyle/>
                    <a:p>
                      <a:r>
                        <a:rPr sz="1600" b="0">
                          <a:solidFill>
                            <a:srgbClr val="1F2A44"/>
                          </a:solidFill>
                          <a:latin typeface="Arial"/>
                          <a:ea typeface="Microsoft YaHei"/>
                        </a:rPr>
                        <a:t>The delay is frustrating.</a:t>
                      </a:r>
                    </a:p>
                  </a:txBody>
                  <a:tcPr anchor="ctr">
                    <a:solidFill>
                      <a:srgbClr val="FFFFFF"/>
                    </a:solidFill>
                  </a:tcPr>
                </a:tc>
              </a:tr>
              <a:tr h="408432">
                <a:tc>
                  <a:txBody>
                    <a:bodyPr wrap="square"/>
                    <a:lstStyle/>
                    <a:p>
                      <a:r>
                        <a:rPr sz="1600" b="1">
                          <a:solidFill>
                            <a:srgbClr val="1F2A44"/>
                          </a:solidFill>
                          <a:latin typeface="Arial"/>
                          <a:ea typeface="Microsoft YaHei"/>
                        </a:rPr>
                        <a:t>She’s exhausted.</a:t>
                      </a:r>
                    </a:p>
                  </a:txBody>
                  <a:tcPr anchor="ctr">
                    <a:solidFill>
                      <a:srgbClr val="FFEFD9"/>
                    </a:solidFill>
                  </a:tcPr>
                </a:tc>
                <a:tc>
                  <a:txBody>
                    <a:bodyPr wrap="square"/>
                    <a:lstStyle/>
                    <a:p>
                      <a:r>
                        <a:rPr sz="1600" b="0">
                          <a:solidFill>
                            <a:srgbClr val="1F2A44"/>
                          </a:solidFill>
                          <a:latin typeface="Arial"/>
                          <a:ea typeface="Microsoft YaHei"/>
                        </a:rPr>
                        <a:t>The schedule is exhausting.</a:t>
                      </a:r>
                    </a:p>
                  </a:txBody>
                  <a:tcPr anchor="ctr">
                    <a:solidFill>
                      <a:srgbClr val="FFEFD9"/>
                    </a:solidFill>
                  </a:tcPr>
                </a:tc>
              </a:tr>
              <a:tr h="408432">
                <a:tc>
                  <a:txBody>
                    <a:bodyPr wrap="square"/>
                    <a:lstStyle/>
                    <a:p>
                      <a:r>
                        <a:rPr sz="1600" b="1">
                          <a:solidFill>
                            <a:srgbClr val="1F2A44"/>
                          </a:solidFill>
                          <a:latin typeface="Arial"/>
                          <a:ea typeface="Microsoft YaHei"/>
                        </a:rPr>
                        <a:t>He’s worried.</a:t>
                      </a:r>
                    </a:p>
                  </a:txBody>
                  <a:tcPr anchor="ctr">
                    <a:solidFill>
                      <a:srgbClr val="FFFFFF"/>
                    </a:solidFill>
                  </a:tcPr>
                </a:tc>
                <a:tc>
                  <a:txBody>
                    <a:bodyPr wrap="square"/>
                    <a:lstStyle/>
                    <a:p>
                      <a:r>
                        <a:rPr sz="1600" b="0">
                          <a:solidFill>
                            <a:srgbClr val="1F2A44"/>
                          </a:solidFill>
                          <a:latin typeface="Arial"/>
                          <a:ea typeface="Microsoft YaHei"/>
                        </a:rPr>
                        <a:t>The news is worrying.</a:t>
                      </a:r>
                    </a:p>
                  </a:txBody>
                  <a:tcPr anchor="ctr">
                    <a:solidFill>
                      <a:srgbClr val="FFFFFF"/>
                    </a:solidFill>
                  </a:tcPr>
                </a:tc>
              </a:tr>
              <a:tr h="408432">
                <a:tc>
                  <a:txBody>
                    <a:bodyPr wrap="square"/>
                    <a:lstStyle/>
                    <a:p>
                      <a:r>
                        <a:rPr sz="1600" b="1">
                          <a:solidFill>
                            <a:srgbClr val="1F2A44"/>
                          </a:solidFill>
                          <a:latin typeface="Arial"/>
                          <a:ea typeface="Microsoft YaHei"/>
                        </a:rPr>
                        <a:t>We’re excited.</a:t>
                      </a:r>
                    </a:p>
                  </a:txBody>
                  <a:tcPr anchor="ctr">
                    <a:solidFill>
                      <a:srgbClr val="FFEFD9"/>
                    </a:solidFill>
                  </a:tcPr>
                </a:tc>
                <a:tc>
                  <a:txBody>
                    <a:bodyPr wrap="square"/>
                    <a:lstStyle/>
                    <a:p>
                      <a:r>
                        <a:rPr sz="1600" b="0">
                          <a:solidFill>
                            <a:srgbClr val="1F2A44"/>
                          </a:solidFill>
                          <a:latin typeface="Arial"/>
                          <a:ea typeface="Microsoft YaHei"/>
                        </a:rPr>
                        <a:t>The plan is exciting.</a:t>
                      </a:r>
                    </a:p>
                  </a:txBody>
                  <a:tcPr anchor="ctr">
                    <a:solidFill>
                      <a:srgbClr val="FFEFD9"/>
                    </a:solidFill>
                  </a:tcPr>
                </a:tc>
              </a:tr>
            </a:tbl>
          </a:graphicData>
        </a:graphic>
      </p:graphicFrame>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Describing feelings with the right form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53 Embracing emotions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情绪形容词形式</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-ed = how a person feels; -ing = what causes the feeling.</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53 Embracing emotions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very stress.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very stressed. / I’m under a lot of stress.</a:t>
            </a:r>
          </a:p>
          <a:p>
            <a:pPr algn="l">
              <a:spcAft>
                <a:spcPts val="200"/>
              </a:spcAft>
            </a:pPr>
            <a:r>
              <a:rPr sz="1200" b="0">
                <a:solidFill>
                  <a:srgbClr val="FFFFFF"/>
                </a:solidFill>
                <a:latin typeface="Arial"/>
                <a:ea typeface="Microsoft YaHei"/>
              </a:rPr>
              <a:t>形容词/名词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meeting was very tired.</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meeting was very tiring.</a:t>
            </a:r>
          </a:p>
          <a:p>
            <a:pPr algn="l">
              <a:spcAft>
                <a:spcPts val="200"/>
              </a:spcAft>
            </a:pPr>
            <a:r>
              <a:rPr sz="1200" b="0">
                <a:solidFill>
                  <a:srgbClr val="FFFFFF"/>
                </a:solidFill>
                <a:latin typeface="Arial"/>
                <a:ea typeface="Microsoft YaHei"/>
              </a:rPr>
              <a:t>-ing</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boring in the meeting.</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bored in the meeting.</a:t>
            </a:r>
          </a:p>
          <a:p>
            <a:pPr algn="l">
              <a:spcAft>
                <a:spcPts val="200"/>
              </a:spcAft>
            </a:pPr>
            <a:r>
              <a:rPr sz="1200" b="0">
                <a:solidFill>
                  <a:srgbClr val="FFFFFF"/>
                </a:solidFill>
                <a:latin typeface="Arial"/>
                <a:ea typeface="Microsoft YaHei"/>
              </a:rPr>
              <a:t>-ed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53 Embracing emotions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feel myself angry.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feel angry.</a:t>
            </a:r>
          </a:p>
          <a:p>
            <a:pPr algn="l">
              <a:spcAft>
                <a:spcPts val="200"/>
              </a:spcAft>
            </a:pPr>
            <a:r>
              <a:rPr sz="1200" b="0">
                <a:solidFill>
                  <a:srgbClr val="FFFFFF"/>
                </a:solidFill>
                <a:latin typeface="Arial"/>
                <a:ea typeface="Microsoft YaHei"/>
              </a:rPr>
              <a:t>无需 myself</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She gets angry on me.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She gets angry with me.</a:t>
            </a:r>
          </a:p>
          <a:p>
            <a:pPr algn="l">
              <a:spcAft>
                <a:spcPts val="200"/>
              </a:spcAft>
            </a:pPr>
            <a:r>
              <a:rPr sz="1200" b="0">
                <a:solidFill>
                  <a:srgbClr val="FFFFFF"/>
                </a:solidFill>
                <a:latin typeface="Arial"/>
                <a:ea typeface="Microsoft YaHei"/>
              </a:rPr>
              <a:t>angry with</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makes me to feel sad.</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makes me feel sad.</a:t>
            </a:r>
          </a:p>
          <a:p>
            <a:pPr algn="l">
              <a:spcAft>
                <a:spcPts val="200"/>
              </a:spcAft>
            </a:pPr>
            <a:r>
              <a:rPr sz="1200" b="0">
                <a:solidFill>
                  <a:srgbClr val="FFFFFF"/>
                </a:solidFill>
                <a:latin typeface="Arial"/>
                <a:ea typeface="Microsoft YaHei"/>
              </a:rPr>
              <a:t>make + 原形</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-ed/-ing adjectives, angry with, make + base verb.</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53 Embracing emotions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Say “I feel”/“I’m concerned”. It’s more acceptable than blaming.</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Mental health is discussed. Many workplaces offer counselling support.</a:t>
            </a:r>
          </a:p>
        </p:txBody>
      </p:sp>
      <p:sp>
        <p:nvSpPr>
          <p:cNvPr id="15" name="Rounded Rectangle 14"/>
          <p:cNvSpPr/>
          <p:nvPr/>
        </p:nvSpPr>
        <p:spPr>
          <a:xfrm>
            <a:off x="548640" y="248411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701039"/>
          </a:xfrm>
          <a:prstGeom prst="rect">
            <a:avLst/>
          </a:prstGeom>
          <a:noFill/>
        </p:spPr>
        <p:txBody>
          <a:bodyPr wrap="square" anchor="ctr">
            <a:spAutoFit/>
          </a:bodyPr>
          <a:lstStyle/>
          <a:p>
            <a:r>
              <a:rPr sz="1700" b="0">
                <a:solidFill>
                  <a:srgbClr val="1F2A44"/>
                </a:solidFill>
                <a:latin typeface="Arial"/>
                <a:ea typeface="Microsoft YaHei"/>
              </a:rPr>
              <a:t>Cultural differences. In some countries emotions are shown less openly; don’t read silence as indifference.</a:t>
            </a:r>
          </a:p>
        </p:txBody>
      </p:sp>
      <p:sp>
        <p:nvSpPr>
          <p:cNvPr id="18" name="Rounded Rectangle 17"/>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276597"/>
            <a:ext cx="10728655" cy="441959"/>
          </a:xfrm>
          <a:prstGeom prst="rect">
            <a:avLst/>
          </a:prstGeom>
          <a:noFill/>
        </p:spPr>
        <p:txBody>
          <a:bodyPr wrap="square" anchor="ctr">
            <a:spAutoFit/>
          </a:bodyPr>
          <a:lstStyle/>
          <a:p>
            <a:r>
              <a:rPr sz="1700" b="0">
                <a:solidFill>
                  <a:srgbClr val="1F2A44"/>
                </a:solidFill>
                <a:latin typeface="Arial"/>
                <a:ea typeface="Microsoft YaHei"/>
              </a:rPr>
              <a:t>Check in. “How are you, really?” is a caring, but not intrusive, question.</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53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53 Embracing emotions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name my feelings precisely.</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support a colleague with It sounds like…</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voice frustration professionally.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-ed / -ing adjectives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53 Embracing emotions at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Name three emotions you felt today, and use -ed/-ing forms in sentences.</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-ed/-ing, angry with, make + base.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12 · Lesson 54 Sleep leadership</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31</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54</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Sleep leadership</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睡眠领导力</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the role of sleep in performance and leadership, and talk about healthy habits and routines.</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54 Sleep leadership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many hours do you sleep on average?</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does lack of sleep affect your work?</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check your phone before bed?</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think leaders should talk about sleep?</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helps you sleep better?</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“sleep leadership” = 管理者以身作则重视睡眠。注意 “sleep well / sleep badly” 的副词用法。</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54 Sleep leadership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your sleep habits and how they affect your work.</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usual routine</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problem</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effect</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improvement</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 usually go to bed at…   💬 When I don’t sleep enough, I…   💬 It helps me to…   💬 I’ve started…</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“go to bed” 上床睡觉;“fall asleep” 入睡。</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The leader who sleeps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126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54 Sleep leadership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Some executives once boasted about sleeping only four or five hours a night. Today, a growing number of leaders say that sleep is a performance tool, not a luxury. Most adults need around seven to nine hours, and tired people tend to make poorer decisions, react more emotionally and find it harder to remember information. The idea of “sleep leadership” suggests that leaders set an example. If a manager sends emails at 2 a.m., employees may feel they have to reply. Instead, leaders can protect quiet hours, avoid late meetings, and talk openly about rest. Good habits include a regular bedtime, limiting screens before sleeping, and keeping the bedroom cool and dark. These changes seem small, but their effect on mood and judgement can be large.</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54 Sleep leadership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do tired people tend to do?</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Make poorer decisions, react more emotionally, find memory harder.</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How can a manager’s behaviour affect employees’ sleep?</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Emails at 2 a.m. make employees feel they must reply.</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Give two good sleep habits.</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Regular bedtime; limit screens; keep the bedroom cool and dark.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Sleep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54 Sleep leadership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睡眠</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get enough sleep</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睡够</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try to get enough sleep.”</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fall asleep / stay asleep</a:t>
            </a:r>
          </a:p>
          <a:p>
            <a:pPr algn="l">
              <a:lnSpc>
                <a:spcPct val="115000"/>
              </a:lnSpc>
              <a:spcAft>
                <a:spcPts val="800"/>
              </a:spcAft>
            </a:pPr>
            <a:r>
              <a:rPr sz="1300" b="0">
                <a:solidFill>
                  <a:srgbClr val="5F677A"/>
                </a:solidFill>
                <a:latin typeface="Arial"/>
                <a:ea typeface="Microsoft YaHei"/>
              </a:rPr>
              <a:t>verb</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入睡/保持睡眠</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can’t fall asleep easily.”</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sleep deprivation</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睡眠不足</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“Sleep deprivation affects judgement.”</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toss and turn</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辗转反侧</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tossed and turned all night.”</a:t>
            </a:r>
          </a:p>
        </p:txBody>
      </p:sp>
      <p:sp>
        <p:nvSpPr>
          <p:cNvPr id="29" name="Rounded Rectangle 28"/>
          <p:cNvSpPr/>
          <p:nvPr/>
        </p:nvSpPr>
        <p:spPr>
          <a:xfrm>
            <a:off x="548640" y="45364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night owl / an early bird</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5821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夜猫子/早起的人</a:t>
            </a:r>
          </a:p>
        </p:txBody>
      </p:sp>
      <p:sp>
        <p:nvSpPr>
          <p:cNvPr id="33" name="TextBox 32"/>
          <p:cNvSpPr txBox="1"/>
          <p:nvPr/>
        </p:nvSpPr>
        <p:spPr>
          <a:xfrm>
            <a:off x="6675120" y="45821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a night owl.”</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Habits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54 Sleep leadership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习惯</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bedtime routine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睡前习惯</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have a bedtime routine.”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wind down</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放松下来</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wind down with a book.”</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screen time</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屏幕时间</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“Limit screen time before bed.”</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unplug</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断开连接</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unplug after 9 p.m.”</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sleep in</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睡懒觉</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sleep in on Sundays.”</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Leadership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54 Sleep leadership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领导</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set an example</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树立榜样</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“Leaders set an example.”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model (healthy habits)</a:t>
            </a:r>
          </a:p>
          <a:p>
            <a:pPr algn="l">
              <a:lnSpc>
                <a:spcPct val="115000"/>
              </a:lnSpc>
              <a:spcAft>
                <a:spcPts val="800"/>
              </a:spcAft>
            </a:pPr>
            <a:r>
              <a:rPr sz="1300" b="0">
                <a:solidFill>
                  <a:srgbClr val="5F677A"/>
                </a:solidFill>
                <a:latin typeface="Arial"/>
                <a:ea typeface="Microsoft YaHei"/>
              </a:rPr>
              <a:t>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以身示范</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models healthy habits.”</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respect (people’s) downtime</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尊重休息时间</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“Respect your team’s downtime.”</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culture of overwork</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过度工作的文化</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need to change a culture of overwork.”</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lead by example</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以身作则</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leads by example.”</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54 Sleep leadership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夜猫子/早起的人</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night owl / an early bird</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放松下来</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wind down</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尊重休息时间</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respect (people’s) downtime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屏幕时间</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screen time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睡眠不足</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sleep deprivation</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过度工作的文化</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culture of overwork</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树立榜样</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set an example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辗转反侧</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toss and turn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54 Sleep leadership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enough</a:t>
            </a:r>
          </a:p>
        </p:txBody>
      </p:sp>
      <p:sp>
        <p:nvSpPr>
          <p:cNvPr id="10" name="Rounded Rectangle 9"/>
          <p:cNvSpPr/>
          <p:nvPr/>
        </p:nvSpPr>
        <p:spPr>
          <a:xfrm>
            <a:off x="3127248" y="987552"/>
            <a:ext cx="1024128"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asleep</a:t>
            </a:r>
          </a:p>
        </p:txBody>
      </p:sp>
      <p:sp>
        <p:nvSpPr>
          <p:cNvPr id="11" name="Rounded Rectangle 10"/>
          <p:cNvSpPr/>
          <p:nvPr/>
        </p:nvSpPr>
        <p:spPr>
          <a:xfrm>
            <a:off x="4242816" y="987552"/>
            <a:ext cx="1572767"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deprivation</a:t>
            </a:r>
          </a:p>
        </p:txBody>
      </p:sp>
      <p:sp>
        <p:nvSpPr>
          <p:cNvPr id="12" name="Rounded Rectangle 11"/>
          <p:cNvSpPr/>
          <p:nvPr/>
        </p:nvSpPr>
        <p:spPr>
          <a:xfrm>
            <a:off x="5907023" y="987552"/>
            <a:ext cx="80467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wind</a:t>
            </a:r>
          </a:p>
        </p:txBody>
      </p:sp>
      <p:sp>
        <p:nvSpPr>
          <p:cNvPr id="13" name="Rounded Rectangle 12"/>
          <p:cNvSpPr/>
          <p:nvPr/>
        </p:nvSpPr>
        <p:spPr>
          <a:xfrm>
            <a:off x="6803135" y="987552"/>
            <a:ext cx="1024128"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screen</a:t>
            </a:r>
          </a:p>
        </p:txBody>
      </p:sp>
      <p:sp>
        <p:nvSpPr>
          <p:cNvPr id="14" name="Rounded Rectangle 13"/>
          <p:cNvSpPr/>
          <p:nvPr/>
        </p:nvSpPr>
        <p:spPr>
          <a:xfrm>
            <a:off x="7918703"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example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I try to get _______ sleep.</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enough</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I can’t fall _______ easily.</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asleep</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Sleep _______ affects judgement.</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deprivation</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 _______ down with a book.</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wind</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Limit _______ time before bed.</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screen</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Leaders must set an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example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get enough sleep, go to bed, fall asleep;sleep 作名词不可数, a good night’s sleep。</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Talking about sleep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54 Sleep leadership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聊睡眠</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colleague seems tired.</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Colleague</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You</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Model Dialogue · Talking about sleep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54 Sleep leadership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 look tired. Not sleeping well?</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I’ve been tossing and turning for a week. My mind keeps racing.</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used to be the same. I started a bedtime routine and stopped looking at my phone after ten.</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Does that really help?</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Talking about sleep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54 Sleep leadership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does. I fall asleep much faster now.</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try that. I usually wind down by watching videos.</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Try reading instead. And keep the bedroom cool.</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I’ll give it a go.</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Talking about sleep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54 Sleep leadership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share sleep tips.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Tired colleague.</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with tips. Problem: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not sleeping well · bedtime routine · wind down · screen time · give it a go</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Describe the problem and suggest two practical habits.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caffeine.</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seeing a doctor if it continues.</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Share how you feel when you sleep well.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Role Play · A leader sets an example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54 Sleep leadership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领导者以身作则</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manager changes team norms.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Team member</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Model Dialogue · A leader sets an example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54 Sleep leadership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I’ve noticed some of you answer messages late at night. I’d like to change that.</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do sometimes, because I think you expect it.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don’t. I’ll stop sending messages after 7 p.m., unless it’s urgent.</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would help. It’s hard to switch off otherwise.</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A leader sets an example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54 Sleep leadership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no meetings before nine or after five.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It shows you respect our downtime.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like us to be rested and sharp, not exhausted.</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Agreed. I’ll sleep better too.</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Your Turn · A leader sets an example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54 Sleep leadership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set team norms.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member. Norm: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set an example · switch off · respect downtime · unless it’s urgent · rested</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the norm, the reason and exceptions.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for team suggestions.</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Review in a month.</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Respond to a client emergency.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54 Sleep leadership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realistic to expect leaders to sleep eight hours?</a:t>
            </a:r>
          </a:p>
          <a:p>
            <a:pPr algn="l">
              <a:lnSpc>
                <a:spcPct val="115000"/>
              </a:lnSpc>
              <a:spcAft>
                <a:spcPts val="800"/>
              </a:spcAft>
            </a:pPr>
            <a:r>
              <a:rPr sz="1400" b="0">
                <a:solidFill>
                  <a:srgbClr val="5F677A"/>
                </a:solidFill>
                <a:latin typeface="Arial"/>
                <a:ea typeface="Microsoft YaHei"/>
              </a:rPr>
              <a:t>💬 “Not always, but…”</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companies provide nap rooms?</a:t>
            </a:r>
          </a:p>
          <a:p>
            <a:pPr algn="l">
              <a:lnSpc>
                <a:spcPct val="115000"/>
              </a:lnSpc>
              <a:spcAft>
                <a:spcPts val="800"/>
              </a:spcAft>
            </a:pPr>
            <a:r>
              <a:rPr sz="1400" b="0">
                <a:solidFill>
                  <a:srgbClr val="5F677A"/>
                </a:solidFill>
                <a:latin typeface="Arial"/>
                <a:ea typeface="Microsoft YaHei"/>
              </a:rPr>
              <a:t>💬 “They could, because…”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you think successful people sleep less?</a:t>
            </a:r>
          </a:p>
          <a:p>
            <a:pPr algn="l">
              <a:lnSpc>
                <a:spcPct val="115000"/>
              </a:lnSpc>
              <a:spcAft>
                <a:spcPts val="800"/>
              </a:spcAft>
            </a:pPr>
            <a:r>
              <a:rPr sz="1400" b="0">
                <a:solidFill>
                  <a:srgbClr val="5F677A"/>
                </a:solidFill>
                <a:latin typeface="Arial"/>
                <a:ea typeface="Microsoft YaHei"/>
              </a:rPr>
              <a:t>💬 “Some claim they do, but…”</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a good bedtime routine?</a:t>
            </a:r>
          </a:p>
          <a:p>
            <a:pPr algn="l">
              <a:lnSpc>
                <a:spcPct val="115000"/>
              </a:lnSpc>
              <a:spcAft>
                <a:spcPts val="800"/>
              </a:spcAft>
            </a:pPr>
            <a:r>
              <a:rPr sz="1400" b="0">
                <a:solidFill>
                  <a:srgbClr val="5F677A"/>
                </a:solidFill>
                <a:latin typeface="Arial"/>
                <a:ea typeface="Microsoft YaHei"/>
              </a:rPr>
              <a:t>💬 “I’d suggest… / It works for me to…”</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does sleep affect decision-making?</a:t>
            </a:r>
          </a:p>
          <a:p>
            <a:pPr algn="l">
              <a:lnSpc>
                <a:spcPct val="115000"/>
              </a:lnSpc>
              <a:spcAft>
                <a:spcPts val="800"/>
              </a:spcAft>
            </a:pPr>
            <a:r>
              <a:rPr sz="1400" b="0">
                <a:solidFill>
                  <a:srgbClr val="5F677A"/>
                </a:solidFill>
                <a:latin typeface="Arial"/>
                <a:ea typeface="Microsoft YaHei"/>
              </a:rPr>
              <a:t>💬 “When people are tired, they…”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54 Sleep leadership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A good bedtime routine starts an hour before sleeping. I turn off screens, dim the lights and do something calm, like reading or stretching. I also try to go to bed at the same time every night. These small habits tell my body it’s time to rest, and I fall asleep faster.</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“dim the lights” 调暗灯光;“tell my body” 提示身体。</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Habits and routines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54 Sleep leadership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习惯与例行事项</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usually / tend to + verb</a:t>
                      </a:r>
                    </a:p>
                  </a:txBody>
                  <a:tcPr anchor="ctr">
                    <a:solidFill>
                      <a:srgbClr val="FFFFFF"/>
                    </a:solidFill>
                  </a:tcPr>
                </a:tc>
                <a:tc>
                  <a:txBody>
                    <a:bodyPr wrap="square"/>
                    <a:lstStyle/>
                    <a:p>
                      <a:r>
                        <a:rPr sz="1600" b="0">
                          <a:solidFill>
                            <a:srgbClr val="1F2A44"/>
                          </a:solidFill>
                          <a:latin typeface="Arial"/>
                          <a:ea typeface="Microsoft YaHei"/>
                        </a:rPr>
                        <a:t>I usually go to bed at eleven.</a:t>
                      </a:r>
                    </a:p>
                  </a:txBody>
                  <a:tcPr anchor="ctr">
                    <a:solidFill>
                      <a:srgbClr val="FFFFFF"/>
                    </a:solidFill>
                  </a:tcPr>
                </a:tc>
              </a:tr>
              <a:tr h="408432">
                <a:tc>
                  <a:txBody>
                    <a:bodyPr wrap="square"/>
                    <a:lstStyle/>
                    <a:p>
                      <a:r>
                        <a:rPr sz="1600" b="1">
                          <a:solidFill>
                            <a:srgbClr val="1F2A44"/>
                          </a:solidFill>
                          <a:latin typeface="Arial"/>
                          <a:ea typeface="Microsoft YaHei"/>
                        </a:rPr>
                        <a:t>used to + verb</a:t>
                      </a:r>
                    </a:p>
                  </a:txBody>
                  <a:tcPr anchor="ctr">
                    <a:solidFill>
                      <a:srgbClr val="FFEFD9"/>
                    </a:solidFill>
                  </a:tcPr>
                </a:tc>
                <a:tc>
                  <a:txBody>
                    <a:bodyPr wrap="square"/>
                    <a:lstStyle/>
                    <a:p>
                      <a:r>
                        <a:rPr sz="1600" b="0">
                          <a:solidFill>
                            <a:srgbClr val="1F2A44"/>
                          </a:solidFill>
                          <a:latin typeface="Arial"/>
                          <a:ea typeface="Microsoft YaHei"/>
                        </a:rPr>
                        <a:t>I used to check my phone in bed.</a:t>
                      </a:r>
                    </a:p>
                  </a:txBody>
                  <a:tcPr anchor="ctr">
                    <a:solidFill>
                      <a:srgbClr val="FFEFD9"/>
                    </a:solidFill>
                  </a:tcPr>
                </a:tc>
              </a:tr>
              <a:tr h="408432">
                <a:tc>
                  <a:txBody>
                    <a:bodyPr wrap="square"/>
                    <a:lstStyle/>
                    <a:p>
                      <a:r>
                        <a:rPr sz="1600" b="1">
                          <a:solidFill>
                            <a:srgbClr val="1F2A44"/>
                          </a:solidFill>
                          <a:latin typeface="Arial"/>
                          <a:ea typeface="Microsoft YaHei"/>
                        </a:rPr>
                        <a:t>have started / stopped + -ing</a:t>
                      </a:r>
                    </a:p>
                  </a:txBody>
                  <a:tcPr anchor="ctr">
                    <a:solidFill>
                      <a:srgbClr val="FFFFFF"/>
                    </a:solidFill>
                  </a:tcPr>
                </a:tc>
                <a:tc>
                  <a:txBody>
                    <a:bodyPr wrap="square"/>
                    <a:lstStyle/>
                    <a:p>
                      <a:r>
                        <a:rPr sz="1600" b="0">
                          <a:solidFill>
                            <a:srgbClr val="1F2A44"/>
                          </a:solidFill>
                          <a:latin typeface="Arial"/>
                          <a:ea typeface="Microsoft YaHei"/>
                        </a:rPr>
                        <a:t>I’ve stopped drinking coffee after noon.</a:t>
                      </a:r>
                    </a:p>
                  </a:txBody>
                  <a:tcPr anchor="ctr">
                    <a:solidFill>
                      <a:srgbClr val="FFFFFF"/>
                    </a:solidFill>
                  </a:tcPr>
                </a:tc>
              </a:tr>
              <a:tr h="408432">
                <a:tc>
                  <a:txBody>
                    <a:bodyPr wrap="square"/>
                    <a:lstStyle/>
                    <a:p>
                      <a:r>
                        <a:rPr sz="1600" b="1">
                          <a:solidFill>
                            <a:srgbClr val="1F2A44"/>
                          </a:solidFill>
                          <a:latin typeface="Arial"/>
                          <a:ea typeface="Microsoft YaHei"/>
                        </a:rPr>
                        <a:t>It helps (me) to + verb</a:t>
                      </a:r>
                    </a:p>
                  </a:txBody>
                  <a:tcPr anchor="ctr">
                    <a:solidFill>
                      <a:srgbClr val="FFEFD9"/>
                    </a:solidFill>
                  </a:tcPr>
                </a:tc>
                <a:tc>
                  <a:txBody>
                    <a:bodyPr wrap="square"/>
                    <a:lstStyle/>
                    <a:p>
                      <a:r>
                        <a:rPr sz="1600" b="0">
                          <a:solidFill>
                            <a:srgbClr val="1F2A44"/>
                          </a:solidFill>
                          <a:latin typeface="Arial"/>
                          <a:ea typeface="Microsoft YaHei"/>
                        </a:rPr>
                        <a:t>It helps me to read before bed.</a:t>
                      </a:r>
                    </a:p>
                  </a:txBody>
                  <a:tcPr anchor="ctr">
                    <a:solidFill>
                      <a:srgbClr val="FFEFD9"/>
                    </a:solidFill>
                  </a:tcPr>
                </a:tc>
              </a:tr>
            </a:tbl>
          </a:graphicData>
        </a:graphic>
      </p:graphicFrame>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Habits and routines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54 Sleep leadership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习惯与例行事项</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Use adverbs of frequency before the main verb: </a:t>
            </a:r>
            <a:r>
              <a:rPr sz="1700" b="0">
                <a:solidFill>
                  <a:srgbClr val="1F2A44"/>
                </a:solidFill>
                <a:latin typeface="Arial"/>
                <a:ea typeface="Microsoft YaHei"/>
              </a:rPr>
              <a:t>I always wind down, I rarely sleep in.</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54 Sleep leadership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sleep very bad.</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sleep very badly. / I don’t sleep well.</a:t>
            </a:r>
          </a:p>
          <a:p>
            <a:pPr algn="l">
              <a:spcAft>
                <a:spcPts val="200"/>
              </a:spcAft>
            </a:pPr>
            <a:r>
              <a:rPr sz="1200" b="0">
                <a:solidFill>
                  <a:srgbClr val="FFFFFF"/>
                </a:solidFill>
                <a:latin typeface="Arial"/>
                <a:ea typeface="Microsoft YaHei"/>
              </a:rPr>
              <a:t>副词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went to sleep at midnight and wake up at 6.</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…and woke up at 6.</a:t>
            </a:r>
          </a:p>
          <a:p>
            <a:pPr algn="l">
              <a:spcAft>
                <a:spcPts val="200"/>
              </a:spcAft>
            </a:pPr>
            <a:r>
              <a:rPr sz="1200" b="0">
                <a:solidFill>
                  <a:srgbClr val="FFFFFF"/>
                </a:solidFill>
                <a:latin typeface="Arial"/>
                <a:ea typeface="Microsoft YaHei"/>
              </a:rPr>
              <a:t>时态一致</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used to go to bed late.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am used to going to bed late.</a:t>
            </a:r>
          </a:p>
          <a:p>
            <a:pPr algn="l">
              <a:spcAft>
                <a:spcPts val="200"/>
              </a:spcAft>
            </a:pPr>
            <a:r>
              <a:rPr sz="1200" b="0">
                <a:solidFill>
                  <a:srgbClr val="FFFFFF"/>
                </a:solidFill>
                <a:latin typeface="Arial"/>
                <a:ea typeface="Microsoft YaHei"/>
              </a:rPr>
              <a:t>-ing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54 Sleep leadership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a good sleeping.</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get good sleep.</a:t>
            </a:r>
          </a:p>
          <a:p>
            <a:pPr algn="l">
              <a:spcAft>
                <a:spcPts val="200"/>
              </a:spcAft>
            </a:pPr>
            <a:r>
              <a:rPr sz="1200" b="0">
                <a:solidFill>
                  <a:srgbClr val="FFFFFF"/>
                </a:solidFill>
                <a:latin typeface="Arial"/>
                <a:ea typeface="Microsoft YaHei"/>
              </a:rPr>
              <a:t>搭配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stopped to check my phone.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stopped checking my phone.</a:t>
            </a:r>
          </a:p>
          <a:p>
            <a:pPr algn="l">
              <a:spcAft>
                <a:spcPts val="200"/>
              </a:spcAft>
            </a:pPr>
            <a:r>
              <a:rPr sz="1200" b="0">
                <a:solidFill>
                  <a:srgbClr val="FFFFFF"/>
                </a:solidFill>
                <a:latin typeface="Arial"/>
                <a:ea typeface="Microsoft YaHei"/>
              </a:rPr>
              <a:t>stop + -ing</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Sleeping early is good for health.</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Going to bed early is good for your health.</a:t>
            </a:r>
          </a:p>
          <a:p>
            <a:pPr algn="l">
              <a:spcAft>
                <a:spcPts val="200"/>
              </a:spcAft>
            </a:pPr>
            <a:r>
              <a:rPr sz="1200" b="0">
                <a:solidFill>
                  <a:srgbClr val="FFFFFF"/>
                </a:solidFill>
                <a:latin typeface="Arial"/>
                <a:ea typeface="Microsoft YaHei"/>
              </a:rPr>
              <a:t>搭配</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adverbs (badly / well), stop + -ing, be used to + -ing, and get sleep.</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54 Sleep leadership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Sleep is a health topic. Talking about it is accepted, not weak.</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Respect “do not disturb”. Don’t expect immediate replies after hours.</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Wellness programmes. Some companies offer sleep workshops.</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Naps differ. Siesta cultures accept naps; elsewhere they’re unusual.</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54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54 Sleep leadership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my sleep habits and their effect.</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suggest healthy habits politely.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“leading by example”.</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adverbs (well/badly) and stop + -ing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54 Sleep leadership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Describe your routine in the evening and one change you’d make.</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well/badly, stop -ing, used to, be used to -ing.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12 · Lesson 55 Burnout and creativity</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58</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55</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Burnout and creativity</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倦怠和创造力</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burnout, its signs and its link to creativity, and talk about recovery and prevention.</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55 Burnout and creativity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felt burnt out?</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you tell when you are close to burnout?</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Are you more creative when you are relaxed or under pressure?</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do you do when you run out of ideas?</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managers prevent burnout?</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“burnout” = 倦怠;“run out of” = 用完。第 1 题现在完成时。</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55 Burnout and creativity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the signs of burnout and ways to recover.</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signs</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causes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effect on creativity</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recovery</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Typical signs are…   💬 It’s often caused by…   💬 When you’re burnt out, you…   💬 To recover, it helps to…</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“run out of ideas” 想不出点子;“burnt out” 或 “burned out”。</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Running on empty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131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55 Burnout and creativity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Burnout is a state of physical and emotional exhaustion caused by long-term stress, often linked to work. Typical signs include constant tiredness, cynicism about work and a feeling of reduced achievement. Creativity is usually one of the first things to suffer. A stressed, exhausted mind prefers familiar routines and finds it hard to connect new ideas. Ironically, creative people can be at higher risk, because they often care deeply about their work and set high standards. Recovery needs more than a weekend off. It may involve reducing workload, setting boundaries, sleeping and exercising regularly, and sometimes professional help. Prevention is easier than cure: manage workload honestly, take real breaks and notice early signals such as irritability or sleeping badly. Asking for help early is a sign of good judgement, not weakness.</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55 Burnout and creativity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are three signs of burnout?</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Constant tiredness, cynicism, reduced sense of achievement.</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Why can creative people be at higher risk?</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They care deeply and set high standards.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is easier than cure?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Prevention.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Burnout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55 Burnout and creativity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倦怠</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burnout</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倦怠</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“Burnout is a serious problem.”</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be burnt out</a:t>
            </a:r>
          </a:p>
          <a:p>
            <a:pPr algn="l">
              <a:lnSpc>
                <a:spcPct val="115000"/>
              </a:lnSpc>
              <a:spcAft>
                <a:spcPts val="800"/>
              </a:spcAft>
            </a:pPr>
            <a:r>
              <a:rPr sz="1300" b="0">
                <a:solidFill>
                  <a:srgbClr val="5F677A"/>
                </a:solidFill>
                <a:latin typeface="Arial"/>
                <a:ea typeface="Microsoft YaHei"/>
              </a:rPr>
              <a:t>adjective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精疲力竭</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completely burnt out.”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exhaustion</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疲惫</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“Exhaustion is a warning sign.”</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run on empty</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精力耗尽</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“He’s running on empty.”</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cynicism</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愤世嫉俗/消极态度</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“Cynicism is a sign of burnout.”</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Creativity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55 Burnout and creativity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创造力</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come up with ideas</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想出点子</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can’t come up with ideas.”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think outside the box</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跳出常规思考</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need to think outside the box.”</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creative block</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创作瓶颈</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have a creative block.”</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spark / fuel creativity</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激发创造力</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“Rest fuels creativity.”</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incubate</a:t>
            </a:r>
          </a:p>
          <a:p>
            <a:pPr algn="l">
              <a:lnSpc>
                <a:spcPct val="115000"/>
              </a:lnSpc>
              <a:spcAft>
                <a:spcPts val="800"/>
              </a:spcAft>
            </a:pPr>
            <a:r>
              <a:rPr sz="1300" b="0">
                <a:solidFill>
                  <a:srgbClr val="5F677A"/>
                </a:solidFill>
                <a:latin typeface="Arial"/>
                <a:ea typeface="Microsoft YaHei"/>
              </a:rPr>
              <a:t>verb</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酝酿</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“Ideas incubate while you rest.”</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Recovery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55 Burnout and creativity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恢复</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take time off</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休假</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took time off to recover.”</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seek support</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寻求支持</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“Seek support if you need it.”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recover from</a:t>
            </a:r>
          </a:p>
          <a:p>
            <a:pPr algn="l">
              <a:lnSpc>
                <a:spcPct val="115000"/>
              </a:lnSpc>
              <a:spcAft>
                <a:spcPts val="800"/>
              </a:spcAft>
            </a:pPr>
            <a:r>
              <a:rPr sz="1300" b="0">
                <a:solidFill>
                  <a:srgbClr val="5F677A"/>
                </a:solidFill>
                <a:latin typeface="Arial"/>
                <a:ea typeface="Microsoft YaHei"/>
              </a:rPr>
              <a:t>verb phrase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从…恢复</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recovered from burnout.”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ease off</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放缓</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eased off for a month.”</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nip it in the bud</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防患未然</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“Nip burnout in the bud.”</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55 Burnout and creativity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疲惫</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exhaustion</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跳出常规思考</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think outside the box</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想出点子</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come up with ideas</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激发创造力</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spark / fuel creativity</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防患未然</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nip it in the bud</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放缓</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ease off</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倦怠</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burnout</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寻求支持</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seek support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55 Burnout and creativity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burnt</a:t>
            </a:r>
          </a:p>
        </p:txBody>
      </p:sp>
      <p:sp>
        <p:nvSpPr>
          <p:cNvPr id="10" name="Rounded Rectangle 9"/>
          <p:cNvSpPr/>
          <p:nvPr/>
        </p:nvSpPr>
        <p:spPr>
          <a:xfrm>
            <a:off x="3017520" y="987552"/>
            <a:ext cx="146304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exhaustion</a:t>
            </a:r>
          </a:p>
        </p:txBody>
      </p:sp>
      <p:sp>
        <p:nvSpPr>
          <p:cNvPr id="11" name="Rounded Rectangle 10"/>
          <p:cNvSpPr/>
          <p:nvPr/>
        </p:nvSpPr>
        <p:spPr>
          <a:xfrm>
            <a:off x="4572000" y="987552"/>
            <a:ext cx="91440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block</a:t>
            </a:r>
          </a:p>
        </p:txBody>
      </p:sp>
      <p:sp>
        <p:nvSpPr>
          <p:cNvPr id="12" name="Rounded Rectangle 11"/>
          <p:cNvSpPr/>
          <p:nvPr/>
        </p:nvSpPr>
        <p:spPr>
          <a:xfrm>
            <a:off x="5577840" y="987552"/>
            <a:ext cx="1133856"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outside</a:t>
            </a:r>
          </a:p>
        </p:txBody>
      </p:sp>
      <p:sp>
        <p:nvSpPr>
          <p:cNvPr id="13" name="Rounded Rectangle 12"/>
          <p:cNvSpPr/>
          <p:nvPr/>
        </p:nvSpPr>
        <p:spPr>
          <a:xfrm>
            <a:off x="6803136" y="987552"/>
            <a:ext cx="1133856"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support</a:t>
            </a:r>
          </a:p>
        </p:txBody>
      </p:sp>
      <p:sp>
        <p:nvSpPr>
          <p:cNvPr id="14" name="Rounded Rectangle 13"/>
          <p:cNvSpPr/>
          <p:nvPr/>
        </p:nvSpPr>
        <p:spPr>
          <a:xfrm>
            <a:off x="8028432"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recover</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I’m completely _______ out.</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burnt</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_______ is a warning sign.</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Exhaustion</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I have a creative _______.</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block</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We need to think _______ the box.</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outside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Seek _______ if you need it.</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support</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He took months to _______ from burnout.</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recover</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(拼写) burnt / burned out 均可; burnout 名词。recover FROM。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Role Play · Admitting you’re burnt out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55 Burnout and creativity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承认自己倦怠</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talk to your manager.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Manager</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Admitting you’re burnt out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55 Burnout and creativity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need to be honest. I think I’m burnt out.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sorry to hear that. What have you noticed?</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exhausted all the time and I can’t come up with ideas anymore.</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for telling me. What would help?</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Maybe a week off and a lighter workload for a month.</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Let’s arrange that. Have you thought about talking to someone?</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considering counselling.</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company has a support programme. I’ll send you the details.</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Your Turn · Admitting you’re burnt out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55 Burnout and creativity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raise burnout with your manager.</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Symptoms: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burnt out · exhausted all the time · can’t come up with ideas · take time off · seek support</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Describe signs, ask for specific help, accept support.</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Avoid blaming the manager.</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a recovery plan.</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Set a check-in date.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Role Play · Brainstorming when stuck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55 Burnout and creativity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想不出点子时头脑风暴</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team has a creative block.</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Team lead</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Team member</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Model Dialogue · Brainstorming when stuck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55 Burnout and creativity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We’ve been staring at this for an hour and have nothing.</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think we’re tired. Let’s take a break.</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idea. Let’s take a walk and come back in twenty minutes.</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Sometimes ideas incubate when you’re not thinking about them.</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True. And when we come back, let’s think outside the box.</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if we ask a customer instead?</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Interesting. That might spark something.</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Let’s try it.</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Your Turn · Brainstorming when stuck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55 Burnout and creativity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handle a creative block.</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lead.</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member. Problem: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creative block · take a break · incubate · think outside the box · spark</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Notice the problem, change approach and propose a new idea.</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Use a rule: “No bad ideas”.</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Time-limit the break.</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an outsider.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55 Burnout and creativity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you think burnout is more common now?</a:t>
            </a:r>
          </a:p>
          <a:p>
            <a:pPr algn="l">
              <a:lnSpc>
                <a:spcPct val="115000"/>
              </a:lnSpc>
              <a:spcAft>
                <a:spcPts val="800"/>
              </a:spcAft>
            </a:pPr>
            <a:r>
              <a:rPr sz="1400" b="0">
                <a:solidFill>
                  <a:srgbClr val="5F677A"/>
                </a:solidFill>
                <a:latin typeface="Arial"/>
                <a:ea typeface="Microsoft YaHei"/>
              </a:rPr>
              <a:t>💬 “It seems so,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Can pressure increase creativity?</a:t>
            </a:r>
          </a:p>
          <a:p>
            <a:pPr algn="l">
              <a:lnSpc>
                <a:spcPct val="115000"/>
              </a:lnSpc>
              <a:spcAft>
                <a:spcPts val="800"/>
              </a:spcAft>
            </a:pPr>
            <a:r>
              <a:rPr sz="1400" b="0">
                <a:solidFill>
                  <a:srgbClr val="5F677A"/>
                </a:solidFill>
                <a:latin typeface="Arial"/>
                <a:ea typeface="Microsoft YaHei"/>
              </a:rPr>
              <a:t>💬 “A little, but too much…”</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Whose responsibility is burnout, the employee’s or the employer’s?</a:t>
            </a:r>
          </a:p>
          <a:p>
            <a:pPr algn="l">
              <a:lnSpc>
                <a:spcPct val="115000"/>
              </a:lnSpc>
              <a:spcAft>
                <a:spcPts val="800"/>
              </a:spcAft>
            </a:pPr>
            <a:r>
              <a:rPr sz="1400" b="0">
                <a:solidFill>
                  <a:srgbClr val="5F677A"/>
                </a:solidFill>
                <a:latin typeface="Arial"/>
                <a:ea typeface="Microsoft YaHei"/>
              </a:rPr>
              <a:t>💬 “Both, but especially…”</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early signs should you not ignore?</a:t>
            </a:r>
          </a:p>
          <a:p>
            <a:pPr algn="l">
              <a:lnSpc>
                <a:spcPct val="115000"/>
              </a:lnSpc>
              <a:spcAft>
                <a:spcPts val="800"/>
              </a:spcAft>
            </a:pPr>
            <a:r>
              <a:rPr sz="1400" b="0">
                <a:solidFill>
                  <a:srgbClr val="5F677A"/>
                </a:solidFill>
                <a:latin typeface="Arial"/>
                <a:ea typeface="Microsoft YaHei"/>
              </a:rPr>
              <a:t>💬 “I’d watch for…”</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recharge creatively?</a:t>
            </a:r>
          </a:p>
          <a:p>
            <a:pPr algn="l">
              <a:lnSpc>
                <a:spcPct val="115000"/>
              </a:lnSpc>
              <a:spcAft>
                <a:spcPts val="800"/>
              </a:spcAft>
            </a:pPr>
            <a:r>
              <a:rPr sz="1400" b="0">
                <a:solidFill>
                  <a:srgbClr val="5F677A"/>
                </a:solidFill>
                <a:latin typeface="Arial"/>
                <a:ea typeface="Microsoft YaHei"/>
              </a:rPr>
              <a:t>💬 “I tend to… / It helps me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55 Burnout and creativity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it’s mainly the employer’s responsibility, because they control workload, deadlines and culture. But employees also need to speak up early and set boundaries. A healthy workplace is one where people feel safe to say,”I’m struggling”, before it becomes a crisis.</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“speak up” 大胆表达;“before it becomes a crisis” 在变成危机之前。</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Talking about health sensitively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55 Burnout and creativity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谈健康问题要委婉</a:t>
            </a:r>
          </a:p>
        </p:txBody>
      </p:sp>
      <p:graphicFrame>
        <p:nvGraphicFramePr>
          <p:cNvPr id="9" name="Table 8"/>
          <p:cNvGraphicFramePr>
            <a:graphicFrameLocks noGrp="1"/>
          </p:cNvGraphicFramePr>
          <p:nvPr/>
        </p:nvGraphicFramePr>
        <p:xfrm>
          <a:off x="548640" y="1417320"/>
          <a:ext cx="11094415" cy="228600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Direct</a:t>
                      </a:r>
                    </a:p>
                  </a:txBody>
                  <a:tcPr anchor="ctr">
                    <a:solidFill>
                      <a:srgbClr val="3CC49A"/>
                    </a:solidFill>
                  </a:tcPr>
                </a:tc>
                <a:tc>
                  <a:txBody>
                    <a:bodyPr wrap="square"/>
                    <a:lstStyle/>
                    <a:p>
                      <a:r>
                        <a:rPr sz="1600" b="1">
                          <a:solidFill>
                            <a:srgbClr val="FFFFFF"/>
                          </a:solidFill>
                          <a:latin typeface="Arial"/>
                          <a:ea typeface="Microsoft YaHei"/>
                        </a:rPr>
                        <a:t>Gentle</a:t>
                      </a:r>
                    </a:p>
                  </a:txBody>
                  <a:tcPr anchor="ctr">
                    <a:solidFill>
                      <a:srgbClr val="3CC49A"/>
                    </a:solidFill>
                  </a:tcPr>
                </a:tc>
              </a:tr>
              <a:tr h="408432">
                <a:tc>
                  <a:txBody>
                    <a:bodyPr wrap="square"/>
                    <a:lstStyle/>
                    <a:p>
                      <a:r>
                        <a:rPr sz="1600" b="1">
                          <a:solidFill>
                            <a:srgbClr val="1F2A44"/>
                          </a:solidFill>
                          <a:latin typeface="Arial"/>
                          <a:ea typeface="Microsoft YaHei"/>
                        </a:rPr>
                        <a:t>You are burnt out.</a:t>
                      </a:r>
                    </a:p>
                  </a:txBody>
                  <a:tcPr anchor="ctr">
                    <a:solidFill>
                      <a:srgbClr val="FFFFFF"/>
                    </a:solidFill>
                  </a:tcPr>
                </a:tc>
                <a:tc>
                  <a:txBody>
                    <a:bodyPr wrap="square"/>
                    <a:lstStyle/>
                    <a:p>
                      <a:r>
                        <a:rPr sz="1600" b="0">
                          <a:solidFill>
                            <a:srgbClr val="1F2A44"/>
                          </a:solidFill>
                          <a:latin typeface="Arial"/>
                          <a:ea typeface="Microsoft YaHei"/>
                        </a:rPr>
                        <a:t>You seem exhausted. Are you OK?</a:t>
                      </a:r>
                    </a:p>
                  </a:txBody>
                  <a:tcPr anchor="ctr">
                    <a:solidFill>
                      <a:srgbClr val="FFFFFF"/>
                    </a:solidFill>
                  </a:tcPr>
                </a:tc>
              </a:tr>
              <a:tr h="408432">
                <a:tc>
                  <a:txBody>
                    <a:bodyPr wrap="square"/>
                    <a:lstStyle/>
                    <a:p>
                      <a:r>
                        <a:rPr sz="1600" b="1">
                          <a:solidFill>
                            <a:srgbClr val="1F2A44"/>
                          </a:solidFill>
                          <a:latin typeface="Arial"/>
                          <a:ea typeface="Microsoft YaHei"/>
                        </a:rPr>
                        <a:t>You should see a doctor.</a:t>
                      </a:r>
                    </a:p>
                  </a:txBody>
                  <a:tcPr anchor="ctr">
                    <a:solidFill>
                      <a:srgbClr val="FFEFD9"/>
                    </a:solidFill>
                  </a:tcPr>
                </a:tc>
                <a:tc>
                  <a:txBody>
                    <a:bodyPr wrap="square"/>
                    <a:lstStyle/>
                    <a:p>
                      <a:r>
                        <a:rPr sz="1600" b="0">
                          <a:solidFill>
                            <a:srgbClr val="1F2A44"/>
                          </a:solidFill>
                          <a:latin typeface="Arial"/>
                          <a:ea typeface="Microsoft YaHei"/>
                        </a:rPr>
                        <a:t>Have you thought about talking to someone?</a:t>
                      </a:r>
                    </a:p>
                  </a:txBody>
                  <a:tcPr anchor="ctr">
                    <a:solidFill>
                      <a:srgbClr val="FFEFD9"/>
                    </a:solidFill>
                  </a:tcPr>
                </a:tc>
              </a:tr>
              <a:tr h="408432">
                <a:tc>
                  <a:txBody>
                    <a:bodyPr wrap="square"/>
                    <a:lstStyle/>
                    <a:p>
                      <a:r>
                        <a:rPr sz="1600" b="1">
                          <a:solidFill>
                            <a:srgbClr val="1F2A44"/>
                          </a:solidFill>
                          <a:latin typeface="Arial"/>
                          <a:ea typeface="Microsoft YaHei"/>
                        </a:rPr>
                        <a:t>You look terrible.</a:t>
                      </a:r>
                    </a:p>
                  </a:txBody>
                  <a:tcPr anchor="ctr">
                    <a:solidFill>
                      <a:srgbClr val="FFFFFF"/>
                    </a:solidFill>
                  </a:tcPr>
                </a:tc>
                <a:tc>
                  <a:txBody>
                    <a:bodyPr wrap="square"/>
                    <a:lstStyle/>
                    <a:p>
                      <a:r>
                        <a:rPr sz="1600" b="0">
                          <a:solidFill>
                            <a:srgbClr val="1F2A44"/>
                          </a:solidFill>
                          <a:latin typeface="Arial"/>
                          <a:ea typeface="Microsoft YaHei"/>
                        </a:rPr>
                        <a:t>You look like you could use a break.</a:t>
                      </a:r>
                    </a:p>
                  </a:txBody>
                  <a:tcPr anchor="ctr">
                    <a:solidFill>
                      <a:srgbClr val="FFFFFF"/>
                    </a:solidFill>
                  </a:tcPr>
                </a:tc>
              </a:tr>
              <a:tr h="652272">
                <a:tc>
                  <a:txBody>
                    <a:bodyPr wrap="square"/>
                    <a:lstStyle/>
                    <a:p>
                      <a:r>
                        <a:rPr sz="1600" b="1">
                          <a:solidFill>
                            <a:srgbClr val="1F2A44"/>
                          </a:solidFill>
                          <a:latin typeface="Arial"/>
                          <a:ea typeface="Microsoft YaHei"/>
                        </a:rPr>
                        <a:t>Your work is getting worse.</a:t>
                      </a:r>
                    </a:p>
                  </a:txBody>
                  <a:tcPr anchor="ctr">
                    <a:solidFill>
                      <a:srgbClr val="FFEFD9"/>
                    </a:solidFill>
                  </a:tcPr>
                </a:tc>
                <a:tc>
                  <a:txBody>
                    <a:bodyPr wrap="square"/>
                    <a:lstStyle/>
                    <a:p>
                      <a:r>
                        <a:rPr sz="1600" b="0">
                          <a:solidFill>
                            <a:srgbClr val="1F2A44"/>
                          </a:solidFill>
                          <a:latin typeface="Arial"/>
                          <a:ea typeface="Microsoft YaHei"/>
                        </a:rPr>
                        <a:t>I’ve noticed it’s been harder to meet deadlines lately. Is anything wrong?</a:t>
                      </a:r>
                    </a:p>
                  </a:txBody>
                  <a:tcPr anchor="ctr">
                    <a:solidFill>
                      <a:srgbClr val="FFEFD9"/>
                    </a:solidFill>
                  </a:tcPr>
                </a:tc>
              </a:tr>
            </a:tbl>
          </a:graphicData>
        </a:graphic>
      </p:graphicFrame>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Talking about health sensitively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55 Burnout and creativity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谈健康问题要委婉</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Start with observation + question: </a:t>
            </a:r>
            <a:r>
              <a:rPr sz="1700" b="0">
                <a:solidFill>
                  <a:srgbClr val="1F2A44"/>
                </a:solidFill>
                <a:latin typeface="Arial"/>
                <a:ea typeface="Microsoft YaHei"/>
              </a:rPr>
              <a:t>I’ve noticed… Is everything OK?</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55 Burnout and creativity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burn out.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am burnt out. / I’ve burnt out.</a:t>
            </a:r>
          </a:p>
          <a:p>
            <a:pPr algn="l">
              <a:spcAft>
                <a:spcPts val="200"/>
              </a:spcAft>
            </a:pPr>
            <a:r>
              <a:rPr sz="1200" b="0">
                <a:solidFill>
                  <a:srgbClr val="FFFFFF"/>
                </a:solidFill>
                <a:latin typeface="Arial"/>
                <a:ea typeface="Microsoft YaHei"/>
              </a:rPr>
              <a:t>burnt out</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suffers from the stress.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suffers from stress.</a:t>
            </a:r>
          </a:p>
          <a:p>
            <a:pPr algn="l">
              <a:spcAft>
                <a:spcPts val="200"/>
              </a:spcAft>
            </a:pPr>
            <a:r>
              <a:rPr sz="1200" b="0">
                <a:solidFill>
                  <a:srgbClr val="FFFFFF"/>
                </a:solidFill>
                <a:latin typeface="Arial"/>
                <a:ea typeface="Microsoft YaHei"/>
              </a:rPr>
              <a:t>无冠词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exhausting.</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exhausted.</a:t>
            </a:r>
          </a:p>
          <a:p>
            <a:pPr algn="l">
              <a:spcAft>
                <a:spcPts val="200"/>
              </a:spcAft>
            </a:pPr>
            <a:r>
              <a:rPr sz="1200" b="0">
                <a:solidFill>
                  <a:srgbClr val="FFFFFF"/>
                </a:solidFill>
                <a:latin typeface="Arial"/>
                <a:ea typeface="Microsoft YaHei"/>
              </a:rPr>
              <a:t>-ed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55 Burnout and creativity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can’t create idea.</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can’t come up with ideas.</a:t>
            </a:r>
          </a:p>
          <a:p>
            <a:pPr algn="l">
              <a:spcAft>
                <a:spcPts val="200"/>
              </a:spcAft>
            </a:pPr>
            <a:r>
              <a:rPr sz="1200" b="0">
                <a:solidFill>
                  <a:srgbClr val="FFFFFF"/>
                </a:solidFill>
                <a:latin typeface="Arial"/>
                <a:ea typeface="Microsoft YaHei"/>
              </a:rPr>
              <a:t>come up with</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You should to rest.</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You should rest.</a:t>
            </a:r>
          </a:p>
          <a:p>
            <a:pPr algn="l">
              <a:spcAft>
                <a:spcPts val="200"/>
              </a:spcAft>
            </a:pPr>
            <a:r>
              <a:rPr sz="1200" b="0">
                <a:solidFill>
                  <a:srgbClr val="FFFFFF"/>
                </a:solidFill>
                <a:latin typeface="Arial"/>
                <a:ea typeface="Microsoft YaHei"/>
              </a:rPr>
              <a:t>should + 原形</a:t>
            </a:r>
          </a:p>
        </p:txBody>
      </p:sp>
      <p:sp>
        <p:nvSpPr>
          <p:cNvPr id="13" name="Rounded Rectangle 12"/>
          <p:cNvSpPr/>
          <p:nvPr/>
        </p:nvSpPr>
        <p:spPr>
          <a:xfrm>
            <a:off x="548640" y="286511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recovered from the burnout since two months.</a:t>
            </a:r>
          </a:p>
        </p:txBody>
      </p:sp>
      <p:sp>
        <p:nvSpPr>
          <p:cNvPr id="14" name="Rounded Rectangle 13"/>
          <p:cNvSpPr/>
          <p:nvPr/>
        </p:nvSpPr>
        <p:spPr>
          <a:xfrm>
            <a:off x="6187287" y="286511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I’ve been recovering from burnout for two months.</a:t>
            </a:r>
          </a:p>
          <a:p>
            <a:pPr algn="l">
              <a:spcAft>
                <a:spcPts val="200"/>
              </a:spcAft>
            </a:pPr>
            <a:r>
              <a:rPr sz="1200" b="0">
                <a:solidFill>
                  <a:srgbClr val="FFFFFF"/>
                </a:solidFill>
                <a:latin typeface="Arial"/>
                <a:ea typeface="Microsoft YaHei"/>
              </a:rPr>
              <a:t>for/现在完成进行时</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burnt out, suffer from stress, come up with ideas, for + period.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55 Burnout and creativity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Burnout is recognised as an occupational phenomenon. The WHO has described it in this way.</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Sick leave and mental health. Many employers accept mental-health leave.</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Confidentiality. Personal health information shouldn’t be shared without consent.</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Offering support. Say “I’m here if you want to talk”, without pushing.</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55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55 Burnout and creativity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burnout and its signs.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ask for support at work.</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respond to a colleague gently.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burnt out, exhausted, come up with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55 Burnout and creativity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Describe three signs of burnout and three ways to prevent it.</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burnt out, exhausted, suffer from, come up with.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12 · Lesson 56 The cost of work stress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83</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56</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The cost of work stress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工作压力的代价</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the personal and business costs of work stress, and describe causes and solutions with numbers and examples.</a:t>
            </a:r>
          </a:p>
        </p:txBody>
      </p:sp>
      <p:sp>
        <p:nvSpPr>
          <p:cNvPr id="10" name="Rounded Rectangle 9"/>
          <p:cNvSpPr/>
          <p:nvPr/>
        </p:nvSpPr>
        <p:spPr>
          <a:xfrm>
            <a:off x="822960"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56 The cost of work stress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are the main causes of stress at your workplace?</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notice stress in your body?</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does stress cost a company?</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helps you recover after a stressful week?</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Should employers offer stress management programmes?</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“stress” 作名词不可数:a lot of stress;形容词 stressed。“cost” 既可以名词也可以动词。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56 The cost of work stress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the causes and costs of stress at work.</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causes</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effects on people</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effects on business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solutions</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The main causes are…   💬 It can lead to…   💬 For companies, this means…   💬 To reduce it, they could…</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“lead to” 导致;“For companies, this means…” 对公司而言意味着…</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A hidden bill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122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56 The cost of work stress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Work stress has a price that rarely appears on a balance sheet. For employees, the cost may include sleep problems, headaches, anxiety and strained relationships. For employers, it shows up as sick leave, mistakes, lower productivity and high staff turnover. Many organisations estimate that replacing a single employee can cost between half and twice that person’s annual salary, which makes retention a serious financial matter. Common causes of stress include heavy workloads, unclear expectations, little control, poor relationships and job insecurity. The encouraging news is that many causes are manageable. Clear priorities, regular feedback, realistic deadlines and a manager who listens can reduce stress considerably. Employers who invest in these basics often find that the savings outweigh the cost of the changes.</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56 The cost of work stress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Name two costs of stress for employers.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Sick leave, mistakes, lower productivity, high turnover.</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Why is turnover expensive?</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Replacing an employee can cost half to twice their annual salary.</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simple changes can reduce stress?</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Clear priorities, regular feedback, realistic deadlines, a manager who listens.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Causes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56 The cost of work stress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原因</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heavy workload</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繁重工作量</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heavy workload is a common cause.”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tight deadline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紧迫的截止日期</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a tight deadline.”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job insecurity</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工作不安全感</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“Job insecurity increases stress.”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be under pressure</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面临压力</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“She’s under pressure to deliver.”</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toxic environment</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恶劣的工作环境</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toxic environment harms health.”</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Costs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56 The cost of work stress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代价</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sick leave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病假</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“Stress increases sick leave.”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staff turnover</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员工流失率</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“Turnover is high here.”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lost productivity</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生产率损失</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“Lost productivity costs money.”</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take a toll on</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造成损害</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“Stress takes a toll on health.”</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the bottom line</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底线(利润)</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“Stress affects the bottom line.”</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Solutions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56 The cost of work stress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对策</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manage stress</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管理压力</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“Learn to manage stress.”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wellness programme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健康计划</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offer a wellness programme.”</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employee assistance programme</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员工援助计划</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EAP offers counselling.”</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build resilience</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增强韧性</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“Training can build resilience.”</a:t>
            </a:r>
          </a:p>
        </p:txBody>
      </p:sp>
      <p:sp>
        <p:nvSpPr>
          <p:cNvPr id="29" name="Rounded Rectangle 28"/>
          <p:cNvSpPr/>
          <p:nvPr/>
        </p:nvSpPr>
        <p:spPr>
          <a:xfrm>
            <a:off x="548640" y="45364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the savings outweigh the cost</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5821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节省超过成本</a:t>
            </a:r>
          </a:p>
        </p:txBody>
      </p:sp>
      <p:sp>
        <p:nvSpPr>
          <p:cNvPr id="33" name="TextBox 32"/>
          <p:cNvSpPr txBox="1"/>
          <p:nvPr/>
        </p:nvSpPr>
        <p:spPr>
          <a:xfrm>
            <a:off x="6675120" y="45821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savings outweigh the cost.”</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56 The cost of work stress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员工援助计划</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employee assistance programme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工作不安全感</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job insecurity</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面临压力</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 under pressure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紧迫的截止日期</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tight deadline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造成损害</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a toll on</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健康计划</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wellness programme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底线(利润)</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 bottom line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管理压力</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manage stress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56 The cost of work stress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workload</a:t>
            </a:r>
          </a:p>
        </p:txBody>
      </p:sp>
      <p:sp>
        <p:nvSpPr>
          <p:cNvPr id="10" name="Rounded Rectangle 9"/>
          <p:cNvSpPr/>
          <p:nvPr/>
        </p:nvSpPr>
        <p:spPr>
          <a:xfrm>
            <a:off x="3346704" y="987552"/>
            <a:ext cx="124358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deadline</a:t>
            </a:r>
          </a:p>
        </p:txBody>
      </p:sp>
      <p:sp>
        <p:nvSpPr>
          <p:cNvPr id="11" name="Rounded Rectangle 10"/>
          <p:cNvSpPr/>
          <p:nvPr/>
        </p:nvSpPr>
        <p:spPr>
          <a:xfrm>
            <a:off x="4681728" y="987552"/>
            <a:ext cx="146304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insecurity</a:t>
            </a:r>
          </a:p>
        </p:txBody>
      </p:sp>
      <p:sp>
        <p:nvSpPr>
          <p:cNvPr id="12" name="Rounded Rectangle 11"/>
          <p:cNvSpPr/>
          <p:nvPr/>
        </p:nvSpPr>
        <p:spPr>
          <a:xfrm>
            <a:off x="6236208" y="987552"/>
            <a:ext cx="124358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turnover</a:t>
            </a:r>
          </a:p>
        </p:txBody>
      </p:sp>
      <p:sp>
        <p:nvSpPr>
          <p:cNvPr id="13" name="Rounded Rectangle 12"/>
          <p:cNvSpPr/>
          <p:nvPr/>
        </p:nvSpPr>
        <p:spPr>
          <a:xfrm>
            <a:off x="7571232" y="987552"/>
            <a:ext cx="80467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toll</a:t>
            </a:r>
          </a:p>
        </p:txBody>
      </p:sp>
      <p:sp>
        <p:nvSpPr>
          <p:cNvPr id="14" name="Rounded Rectangle 13"/>
          <p:cNvSpPr/>
          <p:nvPr/>
        </p:nvSpPr>
        <p:spPr>
          <a:xfrm>
            <a:off x="8467344" y="987552"/>
            <a:ext cx="146304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resilience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A heavy _______ is a common cause of stress.</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workload</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We have a very tight _______.</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deadline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Job _______ increases stress.</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insecurity</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Staff _______ is high in this team.</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turnover</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Stress can take a _______ on your health.</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toll</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Training can help you build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resilience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under pressure(不用 in pressure), stress 不可数, tight deadline(不用 close deadline)。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Role Play · Explaining stress costs to a manager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56 The cost of work stress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向上司解释压力代价</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make a business case.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Director</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Explaining stress costs to a manager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56 The cost of work stress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like to talk about the cost of stress in our department.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 we have data?</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Sick leave rose by 20 per cent last year, and two good people left.</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is causing it?</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Explaining stress costs to a manager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56 The cost of work stress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Mostly tight deadlines and unclear priorities.</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do you suggest?</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weekly priority meeting and a cap on after-hours work. The savings should outweigh the cost.</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Let’s try it for a quarter.</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Your Turn · Explaining stress costs to a manager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56 The cost of work stress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present a stress business case.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Problem: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Director.</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sick leave · turnover · tight deadlines · the savings outweigh the cost · try it for a quarter</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Show data, causes and a low-cost solution.</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Quote a figure.</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Predict a benefit.</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Address “we can’t afford it”.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Role Play · Talking about your own stress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56 The cost of work stress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谈自己的压力</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friend asks how you’re coping.</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Friend</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You</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Talking about your own stress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56 The cost of work stress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are things at work?</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Honestly, I’m under a lot of pressure. We have a tight deadline.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How’s it affecting you?</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not sleeping well, and stress is taking a toll on my mood.</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Talking about your own stress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56 The cost of work stress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helps you manage it?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I’ve started walking at lunchtime, and I talk to my manager about priorities.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sounds sensible.</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helps, but I’ll be glad when the project ends.</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Your Turn · Talking about your own stress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56 The cost of work stress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describe stress and coping.</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Friend.</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Stressed person. Cause: ______________</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under pressure · tight deadline · taking a toll on · manage it · I’ll be glad when…</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Describe causes, effects and coping in natural language.</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Show empathy.</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an action.</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Check later.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56 The cost of work stress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the biggest cause of stress at work?</a:t>
            </a:r>
          </a:p>
          <a:p>
            <a:pPr algn="l">
              <a:lnSpc>
                <a:spcPct val="115000"/>
              </a:lnSpc>
              <a:spcAft>
                <a:spcPts val="800"/>
              </a:spcAft>
            </a:pPr>
            <a:r>
              <a:rPr sz="1400" b="0">
                <a:solidFill>
                  <a:srgbClr val="5F677A"/>
                </a:solidFill>
                <a:latin typeface="Arial"/>
                <a:ea typeface="Microsoft YaHei"/>
              </a:rPr>
              <a:t>💬 “In my view, it’s…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Does stress ever help performance?</a:t>
            </a:r>
          </a:p>
          <a:p>
            <a:pPr algn="l">
              <a:lnSpc>
                <a:spcPct val="115000"/>
              </a:lnSpc>
              <a:spcAft>
                <a:spcPts val="800"/>
              </a:spcAft>
            </a:pPr>
            <a:r>
              <a:rPr sz="1400" b="0">
                <a:solidFill>
                  <a:srgbClr val="5F677A"/>
                </a:solidFill>
                <a:latin typeface="Arial"/>
                <a:ea typeface="Microsoft YaHei"/>
              </a:rPr>
              <a:t>💬 “A little can motivate, but…”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should companies measure the cost of stress?</a:t>
            </a:r>
          </a:p>
          <a:p>
            <a:pPr algn="l">
              <a:lnSpc>
                <a:spcPct val="115000"/>
              </a:lnSpc>
              <a:spcAft>
                <a:spcPts val="800"/>
              </a:spcAft>
            </a:pPr>
            <a:r>
              <a:rPr sz="1400" b="0">
                <a:solidFill>
                  <a:srgbClr val="5F677A"/>
                </a:solidFill>
                <a:latin typeface="Arial"/>
                <a:ea typeface="Microsoft YaHei"/>
              </a:rPr>
              <a:t>💬 “They could look at…”</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Who should pay for stress management?</a:t>
            </a:r>
          </a:p>
          <a:p>
            <a:pPr algn="l">
              <a:lnSpc>
                <a:spcPct val="115000"/>
              </a:lnSpc>
              <a:spcAft>
                <a:spcPts val="800"/>
              </a:spcAft>
            </a:pPr>
            <a:r>
              <a:rPr sz="1400" b="0">
                <a:solidFill>
                  <a:srgbClr val="5F677A"/>
                </a:solidFill>
                <a:latin typeface="Arial"/>
                <a:ea typeface="Microsoft YaHei"/>
              </a:rPr>
              <a:t>💬 “I think both…”</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would reduce stress in your job?</a:t>
            </a:r>
          </a:p>
          <a:p>
            <a:pPr algn="l">
              <a:lnSpc>
                <a:spcPct val="115000"/>
              </a:lnSpc>
              <a:spcAft>
                <a:spcPts val="800"/>
              </a:spcAft>
            </a:pPr>
            <a:r>
              <a:rPr sz="1400" b="0">
                <a:solidFill>
                  <a:srgbClr val="5F677A"/>
                </a:solidFill>
                <a:latin typeface="Arial"/>
                <a:ea typeface="Microsoft YaHei"/>
              </a:rPr>
              <a:t>💬 “More… / Less…”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56 The cost of work stress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A small amount of stress can improve performance. It makes us alert, and a deadline can be motivating. But when stress is constant or too strong, performance falls and health suffers. The key is recovery. If people have time to rest after stressful periods, they cope better.</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“alert” 警觉的;“cope” 应对。</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Describing numbers and trends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56 The cost of work stress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描述数据与趋势</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rise / fall by + amount</a:t>
                      </a:r>
                    </a:p>
                  </a:txBody>
                  <a:tcPr anchor="ctr">
                    <a:solidFill>
                      <a:srgbClr val="FFFFFF"/>
                    </a:solidFill>
                  </a:tcPr>
                </a:tc>
                <a:tc>
                  <a:txBody>
                    <a:bodyPr wrap="square"/>
                    <a:lstStyle/>
                    <a:p>
                      <a:r>
                        <a:rPr sz="1600" b="0">
                          <a:solidFill>
                            <a:srgbClr val="1F2A44"/>
                          </a:solidFill>
                          <a:latin typeface="Arial"/>
                          <a:ea typeface="Microsoft YaHei"/>
                        </a:rPr>
                        <a:t>Sick leave rose by 20 per cent.</a:t>
                      </a:r>
                    </a:p>
                  </a:txBody>
                  <a:tcPr anchor="ctr">
                    <a:solidFill>
                      <a:srgbClr val="FFFFFF"/>
                    </a:solidFill>
                  </a:tcPr>
                </a:tc>
              </a:tr>
              <a:tr h="408432">
                <a:tc>
                  <a:txBody>
                    <a:bodyPr wrap="square"/>
                    <a:lstStyle/>
                    <a:p>
                      <a:r>
                        <a:rPr sz="1600" b="1">
                          <a:solidFill>
                            <a:srgbClr val="1F2A44"/>
                          </a:solidFill>
                          <a:latin typeface="Arial"/>
                          <a:ea typeface="Microsoft YaHei"/>
                        </a:rPr>
                        <a:t>increase / decrease from… to…</a:t>
                      </a:r>
                    </a:p>
                  </a:txBody>
                  <a:tcPr anchor="ctr">
                    <a:solidFill>
                      <a:srgbClr val="FFEFD9"/>
                    </a:solidFill>
                  </a:tcPr>
                </a:tc>
                <a:tc>
                  <a:txBody>
                    <a:bodyPr wrap="square"/>
                    <a:lstStyle/>
                    <a:p>
                      <a:r>
                        <a:rPr sz="1600" b="0">
                          <a:solidFill>
                            <a:srgbClr val="1F2A44"/>
                          </a:solidFill>
                          <a:latin typeface="Arial"/>
                          <a:ea typeface="Microsoft YaHei"/>
                        </a:rPr>
                        <a:t>Turnover fell from 18 to 12 per cent.</a:t>
                      </a:r>
                    </a:p>
                  </a:txBody>
                  <a:tcPr anchor="ctr">
                    <a:solidFill>
                      <a:srgbClr val="FFEFD9"/>
                    </a:solidFill>
                  </a:tcPr>
                </a:tc>
              </a:tr>
              <a:tr h="408432">
                <a:tc>
                  <a:txBody>
                    <a:bodyPr wrap="square"/>
                    <a:lstStyle/>
                    <a:p>
                      <a:r>
                        <a:rPr sz="1600" b="1">
                          <a:solidFill>
                            <a:srgbClr val="1F2A44"/>
                          </a:solidFill>
                          <a:latin typeface="Arial"/>
                          <a:ea typeface="Microsoft YaHei"/>
                        </a:rPr>
                        <a:t>account for</a:t>
                      </a:r>
                    </a:p>
                  </a:txBody>
                  <a:tcPr anchor="ctr">
                    <a:solidFill>
                      <a:srgbClr val="FFFFFF"/>
                    </a:solidFill>
                  </a:tcPr>
                </a:tc>
                <a:tc>
                  <a:txBody>
                    <a:bodyPr wrap="square"/>
                    <a:lstStyle/>
                    <a:p>
                      <a:r>
                        <a:rPr sz="1600" b="0">
                          <a:solidFill>
                            <a:srgbClr val="1F2A44"/>
                          </a:solidFill>
                          <a:latin typeface="Arial"/>
                          <a:ea typeface="Microsoft YaHei"/>
                        </a:rPr>
                        <a:t>Workload accounts for half of the cases.</a:t>
                      </a:r>
                    </a:p>
                  </a:txBody>
                  <a:tcPr anchor="ctr">
                    <a:solidFill>
                      <a:srgbClr val="FFFFFF"/>
                    </a:solidFill>
                  </a:tcPr>
                </a:tc>
              </a:tr>
              <a:tr h="408432">
                <a:tc>
                  <a:txBody>
                    <a:bodyPr wrap="square"/>
                    <a:lstStyle/>
                    <a:p>
                      <a:r>
                        <a:rPr sz="1600" b="1">
                          <a:solidFill>
                            <a:srgbClr val="1F2A44"/>
                          </a:solidFill>
                          <a:latin typeface="Arial"/>
                          <a:ea typeface="Microsoft YaHei"/>
                        </a:rPr>
                        <a:t>a third / half / most</a:t>
                      </a:r>
                    </a:p>
                  </a:txBody>
                  <a:tcPr anchor="ctr">
                    <a:solidFill>
                      <a:srgbClr val="FFEFD9"/>
                    </a:solidFill>
                  </a:tcPr>
                </a:tc>
                <a:tc>
                  <a:txBody>
                    <a:bodyPr wrap="square"/>
                    <a:lstStyle/>
                    <a:p>
                      <a:r>
                        <a:rPr sz="1600" b="0">
                          <a:solidFill>
                            <a:srgbClr val="1F2A44"/>
                          </a:solidFill>
                          <a:latin typeface="Arial"/>
                          <a:ea typeface="Microsoft YaHei"/>
                        </a:rPr>
                        <a:t>Almost half of staff feel stressed.</a:t>
                      </a:r>
                    </a:p>
                  </a:txBody>
                  <a:tcPr anchor="ctr">
                    <a:solidFill>
                      <a:srgbClr val="FFEFD9"/>
                    </a:solidFill>
                  </a:tcPr>
                </a:tc>
              </a:tr>
            </a:tbl>
          </a:graphicData>
        </a:graphic>
      </p:graphicFrame>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Describing numbers and trends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56 The cost of work stress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描述数据与趋势</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Use by for the amount of change, from… to… for start and end.</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56 The cost of work stress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Sick leave raised 20 per cent.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Sick leave rose by 20 per cent.</a:t>
            </a:r>
          </a:p>
          <a:p>
            <a:pPr algn="l">
              <a:spcAft>
                <a:spcPts val="200"/>
              </a:spcAft>
            </a:pPr>
            <a:r>
              <a:rPr sz="1200" b="0">
                <a:solidFill>
                  <a:srgbClr val="FFFFFF"/>
                </a:solidFill>
                <a:latin typeface="Arial"/>
                <a:ea typeface="Microsoft YaHei"/>
              </a:rPr>
              <a:t>rise 不及物</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stress costs a lot of money.</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Stress costs a lot of money.</a:t>
            </a:r>
          </a:p>
          <a:p>
            <a:pPr algn="l">
              <a:spcAft>
                <a:spcPts val="200"/>
              </a:spcAft>
            </a:pPr>
            <a:r>
              <a:rPr sz="1200" b="0">
                <a:solidFill>
                  <a:srgbClr val="FFFFFF"/>
                </a:solidFill>
                <a:latin typeface="Arial"/>
                <a:ea typeface="Microsoft YaHei"/>
              </a:rPr>
              <a:t>无 the</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Sick leave is increased last year.</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Sick leave increased last year.</a:t>
            </a:r>
          </a:p>
          <a:p>
            <a:pPr algn="l">
              <a:spcAft>
                <a:spcPts val="200"/>
              </a:spcAft>
            </a:pPr>
            <a:r>
              <a:rPr sz="1200" b="0">
                <a:solidFill>
                  <a:srgbClr val="FFFFFF"/>
                </a:solidFill>
                <a:latin typeface="Arial"/>
                <a:ea typeface="Microsoft YaHei"/>
              </a:rPr>
              <a:t>不及物</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56 The cost of work stress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Many stresses affect us.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Many things cause us stress.</a:t>
            </a:r>
          </a:p>
          <a:p>
            <a:pPr algn="l">
              <a:spcAft>
                <a:spcPts val="200"/>
              </a:spcAft>
            </a:pPr>
            <a:r>
              <a:rPr sz="1200" b="0">
                <a:solidFill>
                  <a:srgbClr val="FFFFFF"/>
                </a:solidFill>
                <a:latin typeface="Arial"/>
                <a:ea typeface="Microsoft YaHei"/>
              </a:rPr>
              <a:t>stress 不可数</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in stress.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am stressed. / under stress.</a:t>
            </a:r>
          </a:p>
          <a:p>
            <a:pPr algn="l">
              <a:spcAft>
                <a:spcPts val="200"/>
              </a:spcAft>
            </a:pPr>
            <a:r>
              <a:rPr sz="1200" b="0">
                <a:solidFill>
                  <a:srgbClr val="FFFFFF"/>
                </a:solidFill>
                <a:latin typeface="Arial"/>
                <a:ea typeface="Microsoft YaHei"/>
              </a:rPr>
              <a:t>搭配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costs of stress is high.</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cost of stress is high.</a:t>
            </a:r>
          </a:p>
          <a:p>
            <a:pPr algn="l">
              <a:spcAft>
                <a:spcPts val="200"/>
              </a:spcAft>
            </a:pPr>
            <a:r>
              <a:rPr sz="1200" b="0">
                <a:solidFill>
                  <a:srgbClr val="FFFFFF"/>
                </a:solidFill>
                <a:latin typeface="Arial"/>
                <a:ea typeface="Microsoft YaHei"/>
              </a:rPr>
              <a:t>单数</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rise vs raise, uncountable stress, under stress, subject-verb agreement.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56 The cost of work stress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Use numbers. A business case with data is taken seriously.</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Discuss stress as a work issue. Talk about workload, not personality.</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EAP. Many companies offer confidential counselling.</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Don’t compare suffering. Avoid “my stress is worse than yours”.</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56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56 The cost of work stress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list causes and costs of work stress.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trends with rise by / from… to.</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make a short business case.</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stress (uncountable) and rise vs raise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56 The cost of work stress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Describe stress at your workplace with numbers and one solution.</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rise vs raise, stress uncountable, from… to….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12 · Lesson 57 Stress? Let’s deal with it!</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110</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57</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Stress? Let’s deal with it!</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压力?让我们来处理它</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share practical techniques for coping with stress and give advice in a friendly, supportive way.</a:t>
            </a:r>
          </a:p>
        </p:txBody>
      </p:sp>
      <p:sp>
        <p:nvSpPr>
          <p:cNvPr id="10" name="Rounded Rectangle 9"/>
          <p:cNvSpPr/>
          <p:nvPr/>
        </p:nvSpPr>
        <p:spPr>
          <a:xfrm>
            <a:off x="822960"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57 Stress? Let’s deal with 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do you do when you feel stressed?</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Which stress techniques have you tried?</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talking to someone helpful for you?</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a workplace make stress easier?</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advice would you give to a stressed colleague?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“deal with” = 处理;“cope with” = 应对。第 2 题现在完成时。</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57 Stress? Let’s deal with 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Give advice on how to deal with stress at work.</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problem</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quick techniques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longer-term habits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when to ask for help</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One thing that helps is…   💬 You could try…   💬 It might be worth…   💬 If it continues, …</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“It might be worth + -ing” 值得试一试;“You could try + -ing”。</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Reading · Five minutes to feel calmer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131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57 Stress? Let’s deal with 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When stress rises, small actions often work better than big plans. Start with your breathing. Slowly inhale for four seconds, hold for a moment and exhale for six. Repeating this for a minute can calm the body. Second, write down what is worrying you and mark what you can control. Many worries are about things outside our influence, and naming them helps us let go. Third, move. A ten-minute walk can clear your head. For longer-term resilience, protect sleep, take regular breaks and keep friendships alive. Talking to someone you trust is not a sign of weakness; it often shows you the problem from a new angle. If stress lasts for weeks or affects daily life, speak to a doctor or counsellor. Professional support is a practical step, not a failure.</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57 Stress? Let’s deal with 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How does the breathing exercise work?</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Inhale four seconds, hold, exhale six seconds for a minute.</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Why list what you can and cannot control?</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Many worries are outside our influence; naming them helps us let go.</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When should you get professional help?</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If stress lasts for weeks or affects daily life.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Techniques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57 Stress? Let’s deal with 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方法</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take a deep breath</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深呼吸</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“Take a deep breath and count to ten.”</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take a step back</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退后一步看</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“Take a step back and think.”</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go for a walk</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散步</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“Go for a walk to clear your head.”</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clear your head</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理清思路</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walk helps me clear my head.”</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keep things in perspective</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客观看待</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“Try to keep things in perspective.”</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Mindset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57 Stress? Let’s deal with 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心态</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let go of</a:t>
            </a:r>
          </a:p>
          <a:p>
            <a:pPr algn="l">
              <a:lnSpc>
                <a:spcPct val="115000"/>
              </a:lnSpc>
              <a:spcAft>
                <a:spcPts val="800"/>
              </a:spcAft>
            </a:pPr>
            <a:r>
              <a:rPr sz="1300" b="0">
                <a:solidFill>
                  <a:srgbClr val="5F677A"/>
                </a:solidFill>
                <a:latin typeface="Arial"/>
                <a:ea typeface="Microsoft YaHei"/>
              </a:rPr>
              <a:t>phrasal 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放下</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 go of what you can’t control.”</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focus on what you can control</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专注可控之事</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“Focus on what you can control.”</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reframe</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重新定义</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“Reframe the problem as a challenge.”</a:t>
            </a:r>
          </a:p>
        </p:txBody>
      </p:sp>
      <p:sp>
        <p:nvSpPr>
          <p:cNvPr id="24" name="Rounded Rectangle 23"/>
          <p:cNvSpPr/>
          <p:nvPr/>
        </p:nvSpPr>
        <p:spPr>
          <a:xfrm>
            <a:off x="548640" y="38328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cut yourself some slack</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8785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对自己宽容些</a:t>
            </a:r>
          </a:p>
        </p:txBody>
      </p:sp>
      <p:sp>
        <p:nvSpPr>
          <p:cNvPr id="28" name="TextBox 27"/>
          <p:cNvSpPr txBox="1"/>
          <p:nvPr/>
        </p:nvSpPr>
        <p:spPr>
          <a:xfrm>
            <a:off x="6675120" y="38785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“Cut yourself some slack.”</a:t>
            </a:r>
          </a:p>
        </p:txBody>
      </p:sp>
      <p:sp>
        <p:nvSpPr>
          <p:cNvPr id="29" name="Rounded Rectangle 28"/>
          <p:cNvSpPr/>
          <p:nvPr/>
        </p:nvSpPr>
        <p:spPr>
          <a:xfrm>
            <a:off x="548640" y="48412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it’s not the end of the world</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8869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没那么严重</a:t>
            </a:r>
          </a:p>
        </p:txBody>
      </p:sp>
      <p:sp>
        <p:nvSpPr>
          <p:cNvPr id="33" name="TextBox 32"/>
          <p:cNvSpPr txBox="1"/>
          <p:nvPr/>
        </p:nvSpPr>
        <p:spPr>
          <a:xfrm>
            <a:off x="6675120" y="48869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not the end of the world.”</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Support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57 Stress? Let’s deal with 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支持</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talk it through</a:t>
            </a:r>
          </a:p>
          <a:p>
            <a:pPr algn="l">
              <a:lnSpc>
                <a:spcPct val="115000"/>
              </a:lnSpc>
              <a:spcAft>
                <a:spcPts val="800"/>
              </a:spcAft>
            </a:pPr>
            <a:r>
              <a:rPr sz="1300" b="0">
                <a:solidFill>
                  <a:srgbClr val="5F677A"/>
                </a:solidFill>
                <a:latin typeface="Arial"/>
                <a:ea typeface="Microsoft YaHei"/>
              </a:rPr>
              <a:t>phrasal 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谈一谈</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talk it through.”</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reach out</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主动联系求助</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“Reach out to a friend.”</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seek professional help</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寻求专业帮助</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“Seek professional help if needed.”</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listening ear</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倾听者</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“She’s a great listening ear.”</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bounce ideas off</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找人交流想法</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“Bounce ideas off a colleague.”</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57 Stress? Let’s deal with 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理清思路</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clear your head</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没那么严重</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it’s not the end of the world</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找人交流想法</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bounce ideas off</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专注可控之事</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focus on what you can control</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客观看待</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keep things in perspective</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谈一谈</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talk it through</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寻求专业帮助</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seek professional help</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倾听者</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listening ear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57 Stress? Let’s deal with 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breath</a:t>
            </a:r>
          </a:p>
        </p:txBody>
      </p:sp>
      <p:sp>
        <p:nvSpPr>
          <p:cNvPr id="10" name="Rounded Rectangle 9"/>
          <p:cNvSpPr/>
          <p:nvPr/>
        </p:nvSpPr>
        <p:spPr>
          <a:xfrm>
            <a:off x="3127248" y="987552"/>
            <a:ext cx="80467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step</a:t>
            </a:r>
          </a:p>
        </p:txBody>
      </p:sp>
      <p:sp>
        <p:nvSpPr>
          <p:cNvPr id="11" name="Rounded Rectangle 10"/>
          <p:cNvSpPr/>
          <p:nvPr/>
        </p:nvSpPr>
        <p:spPr>
          <a:xfrm>
            <a:off x="4023360" y="987552"/>
            <a:ext cx="80467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head</a:t>
            </a:r>
          </a:p>
        </p:txBody>
      </p:sp>
      <p:sp>
        <p:nvSpPr>
          <p:cNvPr id="12" name="Rounded Rectangle 11"/>
          <p:cNvSpPr/>
          <p:nvPr/>
        </p:nvSpPr>
        <p:spPr>
          <a:xfrm>
            <a:off x="4919472" y="987552"/>
            <a:ext cx="1572767"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perspective</a:t>
            </a:r>
          </a:p>
        </p:txBody>
      </p:sp>
      <p:sp>
        <p:nvSpPr>
          <p:cNvPr id="13" name="Rounded Rectangle 12"/>
          <p:cNvSpPr/>
          <p:nvPr/>
        </p:nvSpPr>
        <p:spPr>
          <a:xfrm>
            <a:off x="6583679" y="987552"/>
            <a:ext cx="914400"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reach</a:t>
            </a:r>
          </a:p>
        </p:txBody>
      </p:sp>
      <p:sp>
        <p:nvSpPr>
          <p:cNvPr id="14" name="Rounded Rectangle 13"/>
          <p:cNvSpPr/>
          <p:nvPr/>
        </p:nvSpPr>
        <p:spPr>
          <a:xfrm>
            <a:off x="7589519" y="987552"/>
            <a:ext cx="80467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talk</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Take a deep _______ and count to ten.</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breath</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Take a _______ back and think.</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step</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A walk helps me clear my _______.</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head</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Try to keep things in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perspective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Don’t hesitate to _______ out for help.</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reach</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Let’s _______ it through.</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talk</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take a deep breath (breath 名词, breathe 动词), seek help, reach out TO someone。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Role Play · Calming a stressed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57 Stress? Let’s deal with 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安抚压力大的同事</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colleague is panicking.</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Stressed colleague</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You</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Calming a stressed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57 Stress? Let’s deal with 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can’t finish this on time. I’m panicking.</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Take a deep breath. Let’s step back for a moment.</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There’s just so much to do.</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is the most urgent thing?</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client slides.</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 Focus on those first. Let go of the rest for now.</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You’re right. Maybe I can ask Sam to help.</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idea. It’s not the end of the world.</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Your Turn · Calming a stressed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57 Stress? Let’s deal with 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calm a stressed colleague.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Stressed colleague. Problem: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Calm helper.</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take a deep breath · step back · most urgent · let go · not the end of the world</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Calm first, then prioritise and offer practical help.</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Offer to take one task.</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a break.</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Check in later.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Sharing coping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57 Stress? Let’s deal with 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分享应对方法</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swap tips with a friend.</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Friend</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You</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Model Dialogue · Sharing coping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57 Stress? Let’s deal with 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do you cope when things get stressful?</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go for a walk at lunchtime to clear my head.</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Does it really help?</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It’s a good way to keep things in perspective.</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about when you can’t leave your desk?</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take three deep breaths, or I talk it through with a colleague.</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Sounds simple. I’ll try it.</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cut yourself some slack. Nobody is perfect.</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Sharing coping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57 Stress? Let’s deal with 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share stress techniques.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Friend.</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Friend with tips. Stress: ______________</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cope with · clear my head · keep things in perspective · talk it through · cut yourself some slack</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Share two techniques and encourage kindly.</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what they’ve already tried.</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professional help gently.</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Agree to check in next week.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57 Stress? Let’s deal with 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your best technique for staying calm?</a:t>
            </a:r>
          </a:p>
          <a:p>
            <a:pPr algn="l">
              <a:lnSpc>
                <a:spcPct val="115000"/>
              </a:lnSpc>
              <a:spcAft>
                <a:spcPts val="800"/>
              </a:spcAft>
            </a:pPr>
            <a:r>
              <a:rPr sz="1400" b="0">
                <a:solidFill>
                  <a:srgbClr val="5F677A"/>
                </a:solidFill>
                <a:latin typeface="Arial"/>
                <a:ea typeface="Microsoft YaHei"/>
              </a:rPr>
              <a:t>💬 “For me, … works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you think mindfulness works?</a:t>
            </a:r>
          </a:p>
          <a:p>
            <a:pPr algn="l">
              <a:lnSpc>
                <a:spcPct val="115000"/>
              </a:lnSpc>
              <a:spcAft>
                <a:spcPts val="800"/>
              </a:spcAft>
            </a:pPr>
            <a:r>
              <a:rPr sz="1400" b="0">
                <a:solidFill>
                  <a:srgbClr val="5F677A"/>
                </a:solidFill>
                <a:latin typeface="Arial"/>
                <a:ea typeface="Microsoft YaHei"/>
              </a:rPr>
              <a:t>💬 “It helps some people…”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OK to cry at work?</a:t>
            </a:r>
          </a:p>
          <a:p>
            <a:pPr algn="l">
              <a:lnSpc>
                <a:spcPct val="115000"/>
              </a:lnSpc>
              <a:spcAft>
                <a:spcPts val="800"/>
              </a:spcAft>
            </a:pPr>
            <a:r>
              <a:rPr sz="1400" b="0">
                <a:solidFill>
                  <a:srgbClr val="5F677A"/>
                </a:solidFill>
                <a:latin typeface="Arial"/>
                <a:ea typeface="Microsoft YaHei"/>
              </a:rPr>
              <a:t>💬 “It’s understandable, but…”</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colleagues support each other?</a:t>
            </a:r>
          </a:p>
          <a:p>
            <a:pPr algn="l">
              <a:lnSpc>
                <a:spcPct val="115000"/>
              </a:lnSpc>
              <a:spcAft>
                <a:spcPts val="800"/>
              </a:spcAft>
            </a:pPr>
            <a:r>
              <a:rPr sz="1400" b="0">
                <a:solidFill>
                  <a:srgbClr val="5F677A"/>
                </a:solidFill>
                <a:latin typeface="Arial"/>
                <a:ea typeface="Microsoft YaHei"/>
              </a:rPr>
              <a:t>💬 “By… / They can…”</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When should someone seek professional help?</a:t>
            </a:r>
          </a:p>
          <a:p>
            <a:pPr algn="l">
              <a:lnSpc>
                <a:spcPct val="115000"/>
              </a:lnSpc>
              <a:spcAft>
                <a:spcPts val="800"/>
              </a:spcAft>
            </a:pPr>
            <a:r>
              <a:rPr sz="1400" b="0">
                <a:solidFill>
                  <a:srgbClr val="5F677A"/>
                </a:solidFill>
                <a:latin typeface="Arial"/>
                <a:ea typeface="Microsoft YaHei"/>
              </a:rPr>
              <a:t>💬 “If… for more than…”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57 Stress? Let’s deal with 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It’s understandable, and I think we should be kinder about it. Everyone is human. If someone cries at work, I’d offer a quiet space, a glass of water and time. I wouldn’t ask many questions, but I’d let them know I’m available. After that, a manager should check in privately.</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“be kinder about it” 对此更宽容;“let them know” 让他们知道。</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Giving friendly advice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57 Stress? Let’s deal with 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友好地给建议</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You could try + -ing</a:t>
                      </a:r>
                    </a:p>
                  </a:txBody>
                  <a:tcPr anchor="ctr">
                    <a:solidFill>
                      <a:srgbClr val="FFFFFF"/>
                    </a:solidFill>
                  </a:tcPr>
                </a:tc>
                <a:tc>
                  <a:txBody>
                    <a:bodyPr wrap="square"/>
                    <a:lstStyle/>
                    <a:p>
                      <a:r>
                        <a:rPr sz="1600" b="0">
                          <a:solidFill>
                            <a:srgbClr val="1F2A44"/>
                          </a:solidFill>
                          <a:latin typeface="Arial"/>
                          <a:ea typeface="Microsoft YaHei"/>
                        </a:rPr>
                        <a:t>You could try going for a walk.</a:t>
                      </a:r>
                    </a:p>
                  </a:txBody>
                  <a:tcPr anchor="ctr">
                    <a:solidFill>
                      <a:srgbClr val="FFFFFF"/>
                    </a:solidFill>
                  </a:tcPr>
                </a:tc>
              </a:tr>
              <a:tr h="408432">
                <a:tc>
                  <a:txBody>
                    <a:bodyPr wrap="square"/>
                    <a:lstStyle/>
                    <a:p>
                      <a:r>
                        <a:rPr sz="1600" b="1">
                          <a:solidFill>
                            <a:srgbClr val="1F2A44"/>
                          </a:solidFill>
                          <a:latin typeface="Arial"/>
                          <a:ea typeface="Microsoft YaHei"/>
                        </a:rPr>
                        <a:t>It might be worth + -ing</a:t>
                      </a:r>
                    </a:p>
                  </a:txBody>
                  <a:tcPr anchor="ctr">
                    <a:solidFill>
                      <a:srgbClr val="FFEFD9"/>
                    </a:solidFill>
                  </a:tcPr>
                </a:tc>
                <a:tc>
                  <a:txBody>
                    <a:bodyPr wrap="square"/>
                    <a:lstStyle/>
                    <a:p>
                      <a:r>
                        <a:rPr sz="1600" b="0">
                          <a:solidFill>
                            <a:srgbClr val="1F2A44"/>
                          </a:solidFill>
                          <a:latin typeface="Arial"/>
                          <a:ea typeface="Microsoft YaHei"/>
                        </a:rPr>
                        <a:t>It might be worth talking to someone.</a:t>
                      </a:r>
                    </a:p>
                  </a:txBody>
                  <a:tcPr anchor="ctr">
                    <a:solidFill>
                      <a:srgbClr val="FFEFD9"/>
                    </a:solidFill>
                  </a:tcPr>
                </a:tc>
              </a:tr>
              <a:tr h="408432">
                <a:tc>
                  <a:txBody>
                    <a:bodyPr wrap="square"/>
                    <a:lstStyle/>
                    <a:p>
                      <a:r>
                        <a:rPr sz="1600" b="1">
                          <a:solidFill>
                            <a:srgbClr val="1F2A44"/>
                          </a:solidFill>
                          <a:latin typeface="Arial"/>
                          <a:ea typeface="Microsoft YaHei"/>
                        </a:rPr>
                        <a:t>Have you thought about + -ing?</a:t>
                      </a:r>
                    </a:p>
                  </a:txBody>
                  <a:tcPr anchor="ctr">
                    <a:solidFill>
                      <a:srgbClr val="FFFFFF"/>
                    </a:solidFill>
                  </a:tcPr>
                </a:tc>
                <a:tc>
                  <a:txBody>
                    <a:bodyPr wrap="square"/>
                    <a:lstStyle/>
                    <a:p>
                      <a:r>
                        <a:rPr sz="1600" b="0">
                          <a:solidFill>
                            <a:srgbClr val="1F2A44"/>
                          </a:solidFill>
                          <a:latin typeface="Arial"/>
                          <a:ea typeface="Microsoft YaHei"/>
                        </a:rPr>
                        <a:t>Have you thought about taking a break?</a:t>
                      </a:r>
                    </a:p>
                  </a:txBody>
                  <a:tcPr anchor="ctr">
                    <a:solidFill>
                      <a:srgbClr val="FFFFFF"/>
                    </a:solidFill>
                  </a:tcPr>
                </a:tc>
              </a:tr>
              <a:tr h="408432">
                <a:tc>
                  <a:txBody>
                    <a:bodyPr wrap="square"/>
                    <a:lstStyle/>
                    <a:p>
                      <a:r>
                        <a:rPr sz="1600" b="1">
                          <a:solidFill>
                            <a:srgbClr val="1F2A44"/>
                          </a:solidFill>
                          <a:latin typeface="Arial"/>
                          <a:ea typeface="Microsoft YaHei"/>
                        </a:rPr>
                        <a:t>If I were you, I’d…</a:t>
                      </a:r>
                    </a:p>
                  </a:txBody>
                  <a:tcPr anchor="ctr">
                    <a:solidFill>
                      <a:srgbClr val="FFEFD9"/>
                    </a:solidFill>
                  </a:tcPr>
                </a:tc>
                <a:tc>
                  <a:txBody>
                    <a:bodyPr wrap="square"/>
                    <a:lstStyle/>
                    <a:p>
                      <a:r>
                        <a:rPr sz="1600" b="0">
                          <a:solidFill>
                            <a:srgbClr val="1F2A44"/>
                          </a:solidFill>
                          <a:latin typeface="Arial"/>
                          <a:ea typeface="Microsoft YaHei"/>
                        </a:rPr>
                        <a:t>If I were you, I’d ask for help.</a:t>
                      </a:r>
                    </a:p>
                  </a:txBody>
                  <a:tcPr anchor="ctr">
                    <a:solidFill>
                      <a:srgbClr val="FFEFD9"/>
                    </a:solidFill>
                  </a:tcPr>
                </a:tc>
              </a:tr>
            </a:tbl>
          </a:graphicData>
        </a:graphic>
      </p:graphicFrame>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Giving friendly advice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57 Stress? Let’s deal with 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友好地给建议</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Use imperatives with softeners: </a:t>
            </a:r>
            <a:r>
              <a:rPr sz="1700" b="0">
                <a:solidFill>
                  <a:srgbClr val="1F2A44"/>
                </a:solidFill>
                <a:latin typeface="Arial"/>
                <a:ea typeface="Microsoft YaHei"/>
              </a:rPr>
              <a:t>Why don’t you…? / Maybe try…</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57 Stress? Let’s deal with 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You should to take a break.</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You should take a break.</a:t>
            </a:r>
          </a:p>
          <a:p>
            <a:pPr algn="l">
              <a:spcAft>
                <a:spcPts val="200"/>
              </a:spcAft>
            </a:pPr>
            <a:r>
              <a:rPr sz="1200" b="0">
                <a:solidFill>
                  <a:srgbClr val="FFFFFF"/>
                </a:solidFill>
                <a:latin typeface="Arial"/>
                <a:ea typeface="Microsoft YaHei"/>
              </a:rPr>
              <a:t>should + 原形</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advise you take a break.</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advise you to take a break.</a:t>
            </a:r>
          </a:p>
          <a:p>
            <a:pPr algn="l">
              <a:spcAft>
                <a:spcPts val="200"/>
              </a:spcAft>
            </a:pPr>
            <a:r>
              <a:rPr sz="1200" b="0">
                <a:solidFill>
                  <a:srgbClr val="FFFFFF"/>
                </a:solidFill>
                <a:latin typeface="Arial"/>
                <a:ea typeface="Microsoft YaHei"/>
              </a:rPr>
              <a:t>advise sb to + 原形</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Let’s talking about it.</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Let’s talk about it.</a:t>
            </a:r>
          </a:p>
          <a:p>
            <a:pPr algn="l">
              <a:spcAft>
                <a:spcPts val="200"/>
              </a:spcAft>
            </a:pPr>
            <a:r>
              <a:rPr sz="1200" b="0">
                <a:solidFill>
                  <a:srgbClr val="FFFFFF"/>
                </a:solidFill>
                <a:latin typeface="Arial"/>
                <a:ea typeface="Microsoft YaHei"/>
              </a:rPr>
              <a:t>Let’s + 原形</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57 Stress? Let’s deal with 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suggest you to go.</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suggest you go.</a:t>
            </a:r>
          </a:p>
          <a:p>
            <a:pPr algn="l">
              <a:spcAft>
                <a:spcPts val="200"/>
              </a:spcAft>
            </a:pPr>
            <a:r>
              <a:rPr sz="1200" b="0">
                <a:solidFill>
                  <a:srgbClr val="FFFFFF"/>
                </a:solidFill>
                <a:latin typeface="Arial"/>
                <a:ea typeface="Microsoft YaHei"/>
              </a:rPr>
              <a:t>suggest 不接 to</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Don’t be worry about it.</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Don’t worry about it.</a:t>
            </a:r>
          </a:p>
          <a:p>
            <a:pPr algn="l">
              <a:spcAft>
                <a:spcPts val="200"/>
              </a:spcAft>
            </a:pPr>
            <a:r>
              <a:rPr sz="1200" b="0">
                <a:solidFill>
                  <a:srgbClr val="FFFFFF"/>
                </a:solidFill>
                <a:latin typeface="Arial"/>
                <a:ea typeface="Microsoft YaHei"/>
              </a:rPr>
              <a:t>worry 是动词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stress about the exam.</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am stressed about the exam.</a:t>
            </a:r>
          </a:p>
          <a:p>
            <a:pPr algn="l">
              <a:spcAft>
                <a:spcPts val="200"/>
              </a:spcAft>
            </a:pPr>
            <a:r>
              <a:rPr sz="1200" b="0">
                <a:solidFill>
                  <a:srgbClr val="FFFFFF"/>
                </a:solidFill>
                <a:latin typeface="Arial"/>
                <a:ea typeface="Microsoft YaHei"/>
              </a:rPr>
              <a:t>形容词 stressed</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should + base, suggest (that) + subject + base, advise someone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57 Stress? Let’s deal with 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Say “I’m here”. A simple offer of support is enough.</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Don’t diagnose. Avoid saying “you’re depressed”. Say “you seem low”.</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Encourage professional help gently. “Have you thought about talking to someone?”</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Humour carefully. Light humour can help, but read the mood.</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57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57 Stress? Let’s deal with 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name stress techniques in English.</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give friendly advice with You could try…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calm someone down and offer help.</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should + base verb and suggest + subject + base correctly.</a:t>
            </a:r>
          </a:p>
        </p:txBody>
      </p:sp>
      <p:sp>
        <p:nvSpPr>
          <p:cNvPr id="24" name="TextBox 23"/>
          <p:cNvSpPr txBox="1"/>
          <p:nvPr/>
        </p:nvSpPr>
        <p:spPr>
          <a:xfrm>
            <a:off x="9539935" y="33009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57 Stress? Let’s deal with it!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Give a friend three tips for staying calm. Record it.</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should + base, suggest, advise sb to.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12 · Lesson 58 Me, my work and I</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135</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58</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Me, my work and I</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我、我的工作和我</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the relationship between identity and work, and talk about self-awareness, strengths and boundaries.</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58 Me, my work and 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much of your identity comes from your job?</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“bring your whole self” to work?</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Who are you outside of work?</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would you do if you lost your job tomorrow?</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separate work from your personal life?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“identity” = 身份认同;第 4 题 “What would you do if…” 第二条件句。</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58 Me, my work and 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how you see yourself in relation to your work.</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what you do</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what it says about you</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what’s outside work</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balance</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My job is a big part of who I am…   💬 Outside work, I’m…   💬 It’s important to remember that…   💬 I try to keep…</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 big part of” 重要部分;“keep A separate from B” 区分 A 和 B。</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More than a job title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132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58 Me, my work and 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When we meet someone new, one of the first questions is often, “What do you do?” This shows how closely identity and work are linked. A job can give us purpose, structure and friends. But when work becomes our entire identity, trouble can follow. A bad performance review feels like a personal failure, and redundancy can feel like losing who we are. Psychologists suggest building a wider sense of self. This means keeping up with hobbies, friendships and values that do not depend on a job. It also helps to know your strengths and limits. People with a clear sense of identity find it easier to say no, ask for help and recover from setbacks. Your work is an important part of your life, but it is not the whole of you.</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58 Me, my work and 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is “What do you do?” significant?</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It shows how closely identity and work are linked.</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can happen when work is your whole identity?</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 bad review feels like personal failure; redundancy feels like losing yourself.</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How can you build a wider sense of self?</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Keep up hobbies, friendships and values independent of work.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Identity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58 Me, my work and 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身份</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sense of identity / self</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身份认同</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“Work shapes my sense of identity.”</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be defined by</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被…定义</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don’t want to be defined by my job.”</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self-worth</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自我价值感</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“My self-worth shouldn’t depend on work.”</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wear many hats</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身兼数职</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“In a start-up, you wear many hats.”</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work persona</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职场人设</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has a calm work persona.”</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Self-awareness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58 Me, my work and 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自我认知</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strengths and limits</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优势与局限</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“Know your strengths and limits.”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self-aware</a:t>
            </a:r>
          </a:p>
          <a:p>
            <a:pPr algn="l">
              <a:lnSpc>
                <a:spcPct val="115000"/>
              </a:lnSpc>
              <a:spcAft>
                <a:spcPts val="800"/>
              </a:spcAft>
            </a:pPr>
            <a:r>
              <a:rPr sz="1300" b="0">
                <a:solidFill>
                  <a:srgbClr val="5F677A"/>
                </a:solidFill>
                <a:latin typeface="Arial"/>
                <a:ea typeface="Microsoft YaHei"/>
              </a:rPr>
              <a:t>adjective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有自知之明的</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“She’s very self-aware.”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values</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价值观</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“Work should match my values.”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blind spot</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盲点</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“Feedback shows my blind spots.”</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play to your strengths</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发挥优势</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“Play to your strengths.”</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Boundaries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58 Me, my work and 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界限</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separate work from personal life</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区分工作与私人生活</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try to separate work from personal life.”</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leave work at work</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下班后不带工作回家</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“Leave work at work.”</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personal time</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个人时间</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“Protect your personal time.”</a:t>
            </a:r>
          </a:p>
        </p:txBody>
      </p:sp>
      <p:sp>
        <p:nvSpPr>
          <p:cNvPr id="24" name="Rounded Rectangle 23"/>
          <p:cNvSpPr/>
          <p:nvPr/>
        </p:nvSpPr>
        <p:spPr>
          <a:xfrm>
            <a:off x="548640" y="38328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bring your whole self to work</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8785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以完整的自己工作</a:t>
            </a:r>
          </a:p>
        </p:txBody>
      </p:sp>
      <p:sp>
        <p:nvSpPr>
          <p:cNvPr id="28" name="TextBox 27"/>
          <p:cNvSpPr txBox="1"/>
          <p:nvPr/>
        </p:nvSpPr>
        <p:spPr>
          <a:xfrm>
            <a:off x="6675120" y="38785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“Bring your whole self to work.”</a:t>
            </a:r>
          </a:p>
        </p:txBody>
      </p:sp>
      <p:sp>
        <p:nvSpPr>
          <p:cNvPr id="29" name="Rounded Rectangle 28"/>
          <p:cNvSpPr/>
          <p:nvPr/>
        </p:nvSpPr>
        <p:spPr>
          <a:xfrm>
            <a:off x="548640" y="48412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identity crisis</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8869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身份危机</a:t>
            </a:r>
          </a:p>
        </p:txBody>
      </p:sp>
      <p:sp>
        <p:nvSpPr>
          <p:cNvPr id="33" name="TextBox 32"/>
          <p:cNvSpPr txBox="1"/>
          <p:nvPr/>
        </p:nvSpPr>
        <p:spPr>
          <a:xfrm>
            <a:off x="6675120" y="48869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“Redundancy triggered an identity crisis.”</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58 Me, my work and 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被…定义</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 defined by</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身份认同</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sense of identity / self</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区分工作与私人生活</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separate work from personal life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价值观</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values</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盲点</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blind spot</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以完整的自己工作</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bring your whole self to work</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身兼数职</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wear many hats</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优势与局限</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strengths and limits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58 Me, my work and 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identity</a:t>
            </a:r>
          </a:p>
        </p:txBody>
      </p:sp>
      <p:sp>
        <p:nvSpPr>
          <p:cNvPr id="10" name="Rounded Rectangle 9"/>
          <p:cNvSpPr/>
          <p:nvPr/>
        </p:nvSpPr>
        <p:spPr>
          <a:xfrm>
            <a:off x="3346704" y="987552"/>
            <a:ext cx="1133856"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defined</a:t>
            </a:r>
          </a:p>
        </p:txBody>
      </p:sp>
      <p:sp>
        <p:nvSpPr>
          <p:cNvPr id="11" name="Rounded Rectangle 10"/>
          <p:cNvSpPr/>
          <p:nvPr/>
        </p:nvSpPr>
        <p:spPr>
          <a:xfrm>
            <a:off x="4572000" y="987552"/>
            <a:ext cx="146304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self-worth</a:t>
            </a:r>
          </a:p>
        </p:txBody>
      </p:sp>
      <p:sp>
        <p:nvSpPr>
          <p:cNvPr id="12" name="Rounded Rectangle 11"/>
          <p:cNvSpPr/>
          <p:nvPr/>
        </p:nvSpPr>
        <p:spPr>
          <a:xfrm>
            <a:off x="6126480" y="987552"/>
            <a:ext cx="135331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strengths</a:t>
            </a:r>
          </a:p>
        </p:txBody>
      </p:sp>
      <p:sp>
        <p:nvSpPr>
          <p:cNvPr id="13" name="Rounded Rectangle 12"/>
          <p:cNvSpPr/>
          <p:nvPr/>
        </p:nvSpPr>
        <p:spPr>
          <a:xfrm>
            <a:off x="7571232" y="987552"/>
            <a:ext cx="1024128"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values</a:t>
            </a:r>
          </a:p>
        </p:txBody>
      </p:sp>
      <p:sp>
        <p:nvSpPr>
          <p:cNvPr id="14" name="Rounded Rectangle 13"/>
          <p:cNvSpPr/>
          <p:nvPr/>
        </p:nvSpPr>
        <p:spPr>
          <a:xfrm>
            <a:off x="8686800"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separate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Work shapes my sense of _______.</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identity</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I don’t want to be _______ by my job.</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defined</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My _______ shouldn’t depend on work.</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self-worth</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Know your _______ and limits.</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strengths</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Work should match my _______.</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values</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I try to _______ work from personal life.</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separate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sense of identity, be defined BY, separate A FROM B;values(价值观)复数。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Role Play · Describing yourself beyond work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58 Me, my work and 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谈工作之外的自己</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networking conversation.</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New acquaintance</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You</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Describing yourself beyond work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58 Me, my work and 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do you do?</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work in finance. But that’s only part of who I am. Outside work, I run and play the guitar.</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 you keep work and life separate?</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try to. I leave work at work, otherwise I never switch off.</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Describing yourself beyond work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58 Me, my work and 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Is that difficult?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Sometimes. My job is a big part of my identity, so I have to be disciplined.</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helps?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Having interests that give me energy, not just a title.</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Your Turn · Describing yourself beyond work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58 Me, my work and 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describe yourself beyond work.</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Acquaintance.</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Interests: ______________</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only part of who I am · leave work at work · big part of my identity · interests · switch off</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Describe your job briefly and talk about who you are outside it.</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a value.</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Discuss your strengths.</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the other person about their balance.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Coping after a setback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58 Me, my work and 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挫折之后调整</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colleague missed out on a promotion.</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Colleague</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You</a:t>
            </a:r>
          </a:p>
        </p:txBody>
      </p:sp>
    </p:spTree>
  </p:cSld>
  <p:clrMapOvr>
    <a:masterClrMapping/>
  </p:clrMapOvr>
  <p:transition spd="med">
    <p:fade/>
  </p:transition>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Model Dialogue · Coping after a setback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58 Me, my work and 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didn’t get the promotion. I feel like a failure.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sorry. That must hurt.</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I’ve put so much into this job.</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know. But a promotion decision isn’t a verdict on your self-worth.</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Coping after a setback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58 Me, my work and 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Maybe. I just don’t know who I am without it.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You’re a lot more than a job title. What are your strengths?</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good with people and I learn fast.</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Exactly. Let’s think about how to play to those.</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Coping after a setback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58 Me, my work and 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support a colleague after a setback.</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Supporter. Setback: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That must hurt · self-worth · more than a job title · strengths · play to those</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Empathise, separate the person from the job and refocus on strengths.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Avoid platitudes.</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one next step.</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Plan a coffee catch-up.</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58 Me, my work and 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much should you bring your personal life to work?</a:t>
            </a:r>
          </a:p>
          <a:p>
            <a:pPr algn="l">
              <a:lnSpc>
                <a:spcPct val="115000"/>
              </a:lnSpc>
              <a:spcAft>
                <a:spcPts val="800"/>
              </a:spcAft>
            </a:pPr>
            <a:r>
              <a:rPr sz="1400" b="0">
                <a:solidFill>
                  <a:srgbClr val="5F677A"/>
                </a:solidFill>
                <a:latin typeface="Arial"/>
                <a:ea typeface="Microsoft YaHei"/>
              </a:rPr>
              <a:t>💬 “I think it’s best to…”</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Can a job define you?</a:t>
            </a:r>
          </a:p>
          <a:p>
            <a:pPr algn="l">
              <a:lnSpc>
                <a:spcPct val="115000"/>
              </a:lnSpc>
              <a:spcAft>
                <a:spcPts val="800"/>
              </a:spcAft>
            </a:pPr>
            <a:r>
              <a:rPr sz="1400" b="0">
                <a:solidFill>
                  <a:srgbClr val="5F677A"/>
                </a:solidFill>
                <a:latin typeface="Arial"/>
                <a:ea typeface="Microsoft YaHei"/>
              </a:rPr>
              <a:t>💬 “To some extent, but…”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your strengths and limits?</a:t>
            </a:r>
          </a:p>
          <a:p>
            <a:pPr algn="l">
              <a:lnSpc>
                <a:spcPct val="115000"/>
              </a:lnSpc>
              <a:spcAft>
                <a:spcPts val="800"/>
              </a:spcAft>
            </a:pPr>
            <a:r>
              <a:rPr sz="1400" b="0">
                <a:solidFill>
                  <a:srgbClr val="5F677A"/>
                </a:solidFill>
                <a:latin typeface="Arial"/>
                <a:ea typeface="Microsoft YaHei"/>
              </a:rPr>
              <a:t>💬 “I’m good at… but I find it hard to…”</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reply to “What do you do?”</a:t>
            </a:r>
          </a:p>
          <a:p>
            <a:pPr algn="l">
              <a:lnSpc>
                <a:spcPct val="115000"/>
              </a:lnSpc>
              <a:spcAft>
                <a:spcPts val="800"/>
              </a:spcAft>
            </a:pPr>
            <a:r>
              <a:rPr sz="1400" b="0">
                <a:solidFill>
                  <a:srgbClr val="5F677A"/>
                </a:solidFill>
                <a:latin typeface="Arial"/>
                <a:ea typeface="Microsoft YaHei"/>
              </a:rPr>
              <a:t>💬 “I usually say… and then…”</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would you do if you lost your job?</a:t>
            </a:r>
          </a:p>
          <a:p>
            <a:pPr algn="l">
              <a:lnSpc>
                <a:spcPct val="115000"/>
              </a:lnSpc>
              <a:spcAft>
                <a:spcPts val="800"/>
              </a:spcAft>
            </a:pPr>
            <a:r>
              <a:rPr sz="1400" b="0">
                <a:solidFill>
                  <a:srgbClr val="5F677A"/>
                </a:solidFill>
                <a:latin typeface="Arial"/>
                <a:ea typeface="Microsoft YaHei"/>
              </a:rPr>
              <a:t>💬 “I’d probably… / I’d start by…”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58 Me, my work and 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5)</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I’d start by giving myself a few days to process it, because it would be a shock. Then I’d update my CV, talk to people in my network and think about what I really want. Losing a job would hurt, but I’d remind myself that I’m more than my job and that my skills go with me.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“process it” 消化情绪;“go with me” 随我而行。</a:t>
            </a:r>
          </a:p>
        </p:txBody>
      </p:sp>
    </p:spTree>
  </p:cSld>
  <p:clrMapOvr>
    <a:masterClrMapping/>
  </p:clrMapOvr>
  <p:transition spd="med">
    <p:fade/>
  </p:transition>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Describing yourself</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58 Me, my work and 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自我描述</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I’m a person who…</a:t>
                      </a:r>
                    </a:p>
                  </a:txBody>
                  <a:tcPr anchor="ctr">
                    <a:solidFill>
                      <a:srgbClr val="FFFFFF"/>
                    </a:solidFill>
                  </a:tcPr>
                </a:tc>
                <a:tc>
                  <a:txBody>
                    <a:bodyPr wrap="square"/>
                    <a:lstStyle/>
                    <a:p>
                      <a:r>
                        <a:rPr sz="1600" b="0">
                          <a:solidFill>
                            <a:srgbClr val="1F2A44"/>
                          </a:solidFill>
                          <a:latin typeface="Arial"/>
                          <a:ea typeface="Microsoft YaHei"/>
                        </a:rPr>
                        <a:t>I’m a person who values honesty.</a:t>
                      </a:r>
                    </a:p>
                  </a:txBody>
                  <a:tcPr anchor="ctr">
                    <a:solidFill>
                      <a:srgbClr val="FFFFFF"/>
                    </a:solidFill>
                  </a:tcPr>
                </a:tc>
              </a:tr>
              <a:tr h="408432">
                <a:tc>
                  <a:txBody>
                    <a:bodyPr wrap="square"/>
                    <a:lstStyle/>
                    <a:p>
                      <a:r>
                        <a:rPr sz="1600" b="1">
                          <a:solidFill>
                            <a:srgbClr val="1F2A44"/>
                          </a:solidFill>
                          <a:latin typeface="Arial"/>
                          <a:ea typeface="Microsoft YaHei"/>
                        </a:rPr>
                        <a:t>I tend to be…</a:t>
                      </a:r>
                    </a:p>
                  </a:txBody>
                  <a:tcPr anchor="ctr">
                    <a:solidFill>
                      <a:srgbClr val="FFEFD9"/>
                    </a:solidFill>
                  </a:tcPr>
                </a:tc>
                <a:tc>
                  <a:txBody>
                    <a:bodyPr wrap="square"/>
                    <a:lstStyle/>
                    <a:p>
                      <a:r>
                        <a:rPr sz="1600" b="0">
                          <a:solidFill>
                            <a:srgbClr val="1F2A44"/>
                          </a:solidFill>
                          <a:latin typeface="Arial"/>
                          <a:ea typeface="Microsoft YaHei"/>
                        </a:rPr>
                        <a:t>I tend to be organised.</a:t>
                      </a:r>
                    </a:p>
                  </a:txBody>
                  <a:tcPr anchor="ctr">
                    <a:solidFill>
                      <a:srgbClr val="FFEFD9"/>
                    </a:solidFill>
                  </a:tcPr>
                </a:tc>
              </a:tr>
              <a:tr h="408432">
                <a:tc>
                  <a:txBody>
                    <a:bodyPr wrap="square"/>
                    <a:lstStyle/>
                    <a:p>
                      <a:r>
                        <a:rPr sz="1600" b="1">
                          <a:solidFill>
                            <a:srgbClr val="1F2A44"/>
                          </a:solidFill>
                          <a:latin typeface="Arial"/>
                          <a:ea typeface="Microsoft YaHei"/>
                        </a:rPr>
                        <a:t>What matters to me is…</a:t>
                      </a:r>
                    </a:p>
                  </a:txBody>
                  <a:tcPr anchor="ctr">
                    <a:solidFill>
                      <a:srgbClr val="FFFFFF"/>
                    </a:solidFill>
                  </a:tcPr>
                </a:tc>
                <a:tc>
                  <a:txBody>
                    <a:bodyPr wrap="square"/>
                    <a:lstStyle/>
                    <a:p>
                      <a:r>
                        <a:rPr sz="1600" b="0">
                          <a:solidFill>
                            <a:srgbClr val="1F2A44"/>
                          </a:solidFill>
                          <a:latin typeface="Arial"/>
                          <a:ea typeface="Microsoft YaHei"/>
                        </a:rPr>
                        <a:t>What matters to me is learning.</a:t>
                      </a:r>
                    </a:p>
                  </a:txBody>
                  <a:tcPr anchor="ctr">
                    <a:solidFill>
                      <a:srgbClr val="FFFFFF"/>
                    </a:solidFill>
                  </a:tcPr>
                </a:tc>
              </a:tr>
              <a:tr h="408432">
                <a:tc>
                  <a:txBody>
                    <a:bodyPr wrap="square"/>
                    <a:lstStyle/>
                    <a:p>
                      <a:r>
                        <a:rPr sz="1600" b="1">
                          <a:solidFill>
                            <a:srgbClr val="1F2A44"/>
                          </a:solidFill>
                          <a:latin typeface="Arial"/>
                          <a:ea typeface="Microsoft YaHei"/>
                        </a:rPr>
                        <a:t>I’m good at… but I find it hard to…</a:t>
                      </a:r>
                    </a:p>
                  </a:txBody>
                  <a:tcPr anchor="ctr">
                    <a:solidFill>
                      <a:srgbClr val="FFEFD9"/>
                    </a:solidFill>
                  </a:tcPr>
                </a:tc>
                <a:tc>
                  <a:txBody>
                    <a:bodyPr wrap="square"/>
                    <a:lstStyle/>
                    <a:p>
                      <a:r>
                        <a:rPr sz="1600" b="0">
                          <a:solidFill>
                            <a:srgbClr val="1F2A44"/>
                          </a:solidFill>
                          <a:latin typeface="Arial"/>
                          <a:ea typeface="Microsoft YaHei"/>
                        </a:rPr>
                        <a:t>I’m good at planning but find it hard to relax.</a:t>
                      </a:r>
                    </a:p>
                  </a:txBody>
                  <a:tcPr anchor="ctr">
                    <a:solidFill>
                      <a:srgbClr val="FFEFD9"/>
                    </a:solidFill>
                  </a:tcPr>
                </a:tc>
              </a:tr>
            </a:tbl>
          </a:graphicData>
        </a:graphic>
      </p:graphicFrame>
    </p:spTree>
  </p:cSld>
  <p:clrMapOvr>
    <a:masterClrMapping/>
  </p:clrMapOvr>
  <p:transition spd="med">
    <p:fade/>
  </p:transition>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Describing yourself</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58 Me, my work and 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自我描述</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Use -ing after prepositions: </a:t>
            </a:r>
            <a:r>
              <a:rPr sz="1700" b="0">
                <a:solidFill>
                  <a:srgbClr val="1F2A44"/>
                </a:solidFill>
                <a:latin typeface="Arial"/>
                <a:ea typeface="Microsoft YaHei"/>
              </a:rPr>
              <a:t>good at planning, interested in learning, afraid of failing.</a:t>
            </a:r>
          </a:p>
        </p:txBody>
      </p:sp>
    </p:spTree>
  </p:cSld>
  <p:clrMapOvr>
    <a:masterClrMapping/>
  </p:clrMapOvr>
  <p:transition spd="med">
    <p:fade/>
  </p:transition>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58 Me, my work and 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My work is my life.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Work is a big part of my life.</a:t>
            </a:r>
          </a:p>
          <a:p>
            <a:pPr algn="l">
              <a:spcAft>
                <a:spcPts val="200"/>
              </a:spcAft>
            </a:pPr>
            <a:r>
              <a:rPr sz="1200" b="0">
                <a:solidFill>
                  <a:srgbClr val="FFFFFF"/>
                </a:solidFill>
                <a:latin typeface="Arial"/>
                <a:ea typeface="Microsoft YaHei"/>
              </a:rPr>
              <a:t>自然</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a person who is love my job.</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a person who loves my job.</a:t>
            </a:r>
          </a:p>
          <a:p>
            <a:pPr algn="l">
              <a:spcAft>
                <a:spcPts val="200"/>
              </a:spcAft>
            </a:pPr>
            <a:r>
              <a:rPr sz="1200" b="0">
                <a:solidFill>
                  <a:srgbClr val="FFFFFF"/>
                </a:solidFill>
                <a:latin typeface="Arial"/>
                <a:ea typeface="Microsoft YaHei"/>
              </a:rPr>
              <a:t>从句动词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good in planning.</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am good at planning.</a:t>
            </a:r>
          </a:p>
          <a:p>
            <a:pPr algn="l">
              <a:spcAft>
                <a:spcPts val="200"/>
              </a:spcAft>
            </a:pPr>
            <a:r>
              <a:rPr sz="1200" b="0">
                <a:solidFill>
                  <a:srgbClr val="FFFFFF"/>
                </a:solidFill>
                <a:latin typeface="Arial"/>
                <a:ea typeface="Microsoft YaHei"/>
              </a:rPr>
              <a:t>good 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58 Me, my work and 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proud for my work.</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proud of my work.</a:t>
            </a:r>
          </a:p>
          <a:p>
            <a:pPr algn="l">
              <a:spcAft>
                <a:spcPts val="200"/>
              </a:spcAft>
            </a:pPr>
            <a:r>
              <a:rPr sz="1200" b="0">
                <a:solidFill>
                  <a:srgbClr val="FFFFFF"/>
                </a:solidFill>
                <a:latin typeface="Arial"/>
                <a:ea typeface="Microsoft YaHei"/>
              </a:rPr>
              <a:t>proud of</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don’t know who am I.</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don’t know who I am.</a:t>
            </a:r>
          </a:p>
          <a:p>
            <a:pPr algn="l">
              <a:spcAft>
                <a:spcPts val="200"/>
              </a:spcAft>
            </a:pPr>
            <a:r>
              <a:rPr sz="1200" b="0">
                <a:solidFill>
                  <a:srgbClr val="FFFFFF"/>
                </a:solidFill>
                <a:latin typeface="Arial"/>
                <a:ea typeface="Microsoft YaHei"/>
              </a:rPr>
              <a:t>间接问句</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see me as a leader.</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see myself as a leader.</a:t>
            </a:r>
          </a:p>
          <a:p>
            <a:pPr algn="l">
              <a:spcAft>
                <a:spcPts val="200"/>
              </a:spcAft>
            </a:pPr>
            <a:r>
              <a:rPr sz="1200" b="0">
                <a:solidFill>
                  <a:srgbClr val="FFFFFF"/>
                </a:solidFill>
                <a:latin typeface="Arial"/>
                <a:ea typeface="Microsoft YaHei"/>
              </a:rPr>
              <a:t>myself</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good at + -ing, proud of, reflexive pronouns, indirect question order.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58 Me, my work and 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“What do you do?” is small talk. Answer briefly and ask back.</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Don’t over-share. In first meetings, keep personal details light.</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Work-life separation. Many Western workplaces respect “off” time.</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Talk about values. “I care about…” can be a good interview topic.</a:t>
            </a:r>
          </a:p>
        </p:txBody>
      </p:sp>
    </p:spTree>
  </p:cSld>
  <p:clrMapOvr>
    <a:masterClrMapping/>
  </p:clrMapOvr>
  <p:transition spd="med">
    <p:fade/>
  </p:transition>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58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58 Me, my work and 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myself beyond my job title.</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name strengths and limits.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respond to “What do you do?” naturally.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good at + -ing, proud of and reflexive pronouns correctly.</a:t>
            </a:r>
          </a:p>
        </p:txBody>
      </p:sp>
      <p:sp>
        <p:nvSpPr>
          <p:cNvPr id="24" name="TextBox 23"/>
          <p:cNvSpPr txBox="1"/>
          <p:nvPr/>
        </p:nvSpPr>
        <p:spPr>
          <a:xfrm>
            <a:off x="9539935" y="33009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58 Me, my work and I</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Introduce yourself in 45 seconds without using only your job title.</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good at -ing, proud of, myself, indirect question.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12 · Lesson 59 Busy bragging and other pet hates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162</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59</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4500" b="1">
                <a:solidFill>
                  <a:srgbClr val="FFFFFF"/>
                </a:solidFill>
                <a:latin typeface="Arial"/>
                <a:ea typeface="Microsoft YaHei"/>
              </a:rPr>
              <a:t>Busy bragging and other pet hates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忙碌的炫耀及其他令人厌烦的事</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annoying workplace habits (like “busy bragging”) and give or receive feedback about them tactfully.</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59 Busy bragging and other pet hates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annoys you most about colleagues?</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people in your office compete to look busy?</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respond when someone complains about being busy?</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are your own annoying habits?</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deal with a colleague who irritates you?</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“pet hate” (英式)= 最讨厌的事;美式 “pet peeve”。“busy bragging” = 炫耀自己很忙。</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59 Busy bragging and other pet hates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a workplace habit that annoys you and how you handle it.</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the habit</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why it annoys you</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what you do</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what you suggest</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What really gets on my nerves is…   💬 I find it frustrating when…   💬 Rather than complain, I…   💬 It would help if…</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“get on my nerves” 惹恼我;“It would help if + 过去式”。</a:t>
            </a:r>
          </a:p>
        </p:txBody>
      </p:sp>
    </p:spTree>
  </p:cSld>
  <p:clrMapOvr>
    <a:masterClrMapping/>
  </p:clrMapOvr>
  <p:transition spd="med">
    <p:fade/>
  </p:transition>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The busyness contest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124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59 Busy bragging and other pet hates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“I’m so busy, I haven’t had lunch in a week.” Many of us have heard colleagues say something like this. Researchers call it busy bragging, or the humblebrag of the overworked. It can work as a status signal: being constantly busy suggests that you are important and in demand. The trouble is that it creates pressure for everyone else to match, and it can hide poor organisation. Other common pet hates in the office include loud phone calls, reply-all emails, meetings with no agenda, and colleagues who take credit for others’ work. Most of these can be reduced with simple team agreements. Rather than complain behind people’s backs, it is better to raise the issue politely, giving a specific example and suggesting an alternative.</a:t>
            </a:r>
          </a:p>
        </p:txBody>
      </p:sp>
    </p:spTree>
  </p:cSld>
  <p:clrMapOvr>
    <a:masterClrMapping/>
  </p:clrMapOvr>
  <p:transition spd="med">
    <p:fade/>
  </p:transition>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59 Busy bragging and other pet hates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is “busy bragging”?</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Boasting about being constantly busy to appear important.</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Name two other pet hates mentioned.</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Loud phone calls, reply-all emails, meetings with no agenda, credit-taking.</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does the writer recommend instead of complaining?</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Raise the issue politely with an example and an alternative.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Annoyances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59 Busy bragging and other pet hates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讨厌的事</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pet hate / pet peeve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最讨厌的事</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“My pet hate is reply-all emails.”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get on someone’s nerves</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惹恼某人</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“Loud calls get on my nerves.”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annoying / irritating</a:t>
            </a:r>
          </a:p>
          <a:p>
            <a:pPr algn="l">
              <a:lnSpc>
                <a:spcPct val="115000"/>
              </a:lnSpc>
              <a:spcAft>
                <a:spcPts val="800"/>
              </a:spcAft>
            </a:pPr>
            <a:r>
              <a:rPr sz="1300" b="0">
                <a:solidFill>
                  <a:srgbClr val="5F677A"/>
                </a:solidFill>
                <a:latin typeface="Arial"/>
                <a:ea typeface="Microsoft YaHei"/>
              </a:rPr>
              <a:t>adjective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烦人的</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irritating when people interrupt.”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busy bragging</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炫耀忙碌</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“Busy bragging is a status game.”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humblebrag</a:t>
            </a:r>
          </a:p>
          <a:p>
            <a:pPr algn="l">
              <a:lnSpc>
                <a:spcPct val="115000"/>
              </a:lnSpc>
              <a:spcAft>
                <a:spcPts val="800"/>
              </a:spcAft>
            </a:pPr>
            <a:r>
              <a:rPr sz="1300" b="0">
                <a:solidFill>
                  <a:srgbClr val="5F677A"/>
                </a:solidFill>
                <a:latin typeface="Arial"/>
                <a:ea typeface="Microsoft YaHei"/>
              </a:rPr>
              <a:t>noun/verb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以谦虚之名炫耀</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“That was a humblebrag.”</a:t>
            </a:r>
          </a:p>
        </p:txBody>
      </p:sp>
    </p:spTree>
  </p:cSld>
  <p:clrMapOvr>
    <a:masterClrMapping/>
  </p:clrMapOvr>
  <p:transition spd="med">
    <p:fade/>
  </p:transition>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Habits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59 Busy bragging and other pet hates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办公室习惯</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reply-all</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回复全部</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avoid reply-all.”</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talk over (someone)</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打断/盖过别人</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talks over everyone.”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take credit for</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邀功</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took credit for my idea.”</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micromanage</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过度管控</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micromanages everything.”</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hog (the meeting)</a:t>
            </a:r>
          </a:p>
          <a:p>
            <a:pPr algn="l">
              <a:lnSpc>
                <a:spcPct val="115000"/>
              </a:lnSpc>
              <a:spcAft>
                <a:spcPts val="800"/>
              </a:spcAft>
            </a:pPr>
            <a:r>
              <a:rPr sz="1300" b="0">
                <a:solidFill>
                  <a:srgbClr val="5F677A"/>
                </a:solidFill>
                <a:latin typeface="Arial"/>
                <a:ea typeface="Microsoft YaHei"/>
              </a:rPr>
              <a:t>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霸占(会议发言)</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hogs the meeting.”</a:t>
            </a:r>
          </a:p>
        </p:txBody>
      </p:sp>
    </p:spTree>
  </p:cSld>
  <p:clrMapOvr>
    <a:masterClrMapping/>
  </p:clrMapOvr>
  <p:transition spd="med">
    <p:fade/>
  </p:transition>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Raising it politely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59 Busy bragging and other pet hates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礼貌提出</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It would help if…</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如果…会很有帮助</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would help if you sent an agenda.”</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 find it frustrating when…</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…时我会觉得烦</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find it frustrating when meetings overrun.”</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Could we agree to…?</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我们可以约定…</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we agree to keep calls short?”</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tread carefully</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谨慎行事</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“Tread carefully with sensitive topics.”</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clear the air</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澄清误会</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clear the air.”</a:t>
            </a:r>
          </a:p>
        </p:txBody>
      </p:sp>
    </p:spTree>
  </p:cSld>
  <p:clrMapOvr>
    <a:masterClrMapping/>
  </p:clrMapOvr>
  <p:transition spd="med">
    <p:fade/>
  </p:transition>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59 Busy bragging and other pet hates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澄清误会</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clear the air</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炫耀忙碌</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busy bragging</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惹恼某人</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get on someone’s nerves</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打断/盖过别人</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talk over (someone)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如果…会很有帮助</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It would help if…</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邀功</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credit for</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…时我会觉得烦</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 find it frustrating when…</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过度管控</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micromanage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59 Busy bragging and other pet hates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peeve</a:t>
            </a:r>
          </a:p>
        </p:txBody>
      </p:sp>
      <p:sp>
        <p:nvSpPr>
          <p:cNvPr id="10" name="Rounded Rectangle 9"/>
          <p:cNvSpPr/>
          <p:nvPr/>
        </p:nvSpPr>
        <p:spPr>
          <a:xfrm>
            <a:off x="3017520" y="987552"/>
            <a:ext cx="1024128"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nerves</a:t>
            </a:r>
          </a:p>
        </p:txBody>
      </p:sp>
      <p:sp>
        <p:nvSpPr>
          <p:cNvPr id="11" name="Rounded Rectangle 10"/>
          <p:cNvSpPr/>
          <p:nvPr/>
        </p:nvSpPr>
        <p:spPr>
          <a:xfrm>
            <a:off x="4133088" y="987552"/>
            <a:ext cx="135331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reply-all</a:t>
            </a:r>
          </a:p>
        </p:txBody>
      </p:sp>
      <p:sp>
        <p:nvSpPr>
          <p:cNvPr id="12" name="Rounded Rectangle 11"/>
          <p:cNvSpPr/>
          <p:nvPr/>
        </p:nvSpPr>
        <p:spPr>
          <a:xfrm>
            <a:off x="5577840" y="987552"/>
            <a:ext cx="1024128"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credit</a:t>
            </a:r>
          </a:p>
        </p:txBody>
      </p:sp>
      <p:sp>
        <p:nvSpPr>
          <p:cNvPr id="13" name="Rounded Rectangle 12"/>
          <p:cNvSpPr/>
          <p:nvPr/>
        </p:nvSpPr>
        <p:spPr>
          <a:xfrm>
            <a:off x="6693408" y="987552"/>
            <a:ext cx="1024128"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agenda</a:t>
            </a:r>
          </a:p>
        </p:txBody>
      </p:sp>
      <p:sp>
        <p:nvSpPr>
          <p:cNvPr id="14" name="Rounded Rectangle 13"/>
          <p:cNvSpPr/>
          <p:nvPr/>
        </p:nvSpPr>
        <p:spPr>
          <a:xfrm>
            <a:off x="7808976" y="987552"/>
            <a:ext cx="69494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air</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My pet _______ is people who talk over others.</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peeve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Loud calls get on my _______.</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nerves</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Please avoid _______ emails.</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reply-all</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She took _______ for my idea.</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credit</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It would help if you sent an _______.</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agenda</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Let’s clear the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air</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(英美) pet hate(英)vs pet peeve(美);get on someone’s nerves,take credit FOR。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Role Play · Raising a pet hate politely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59 Busy bragging and other pet hates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礼貌提出你讨厌的事</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colleague takes loud calls in the open office.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Colleague</a:t>
            </a:r>
          </a:p>
        </p:txBody>
      </p:sp>
    </p:spTree>
  </p:cSld>
  <p:clrMapOvr>
    <a:masterClrMapping/>
  </p:clrMapOvr>
  <p:transition spd="med">
    <p:fade/>
  </p:transition>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Raising a pet hate politely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59 Busy bragging and other pet hates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 you have a minute? I wanted to mention something.</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Sure.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find it frustrating when calls are taken at the desks, because I can’t concentrate.</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Oh, I didn’t realise it was bothering you.</a:t>
            </a:r>
          </a:p>
        </p:txBody>
      </p:sp>
    </p:spTree>
  </p:cSld>
  <p:clrMapOvr>
    <a:masterClrMapping/>
  </p:clrMapOvr>
  <p:transition spd="med">
    <p:fade/>
  </p:transition>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Raising a pet hate politely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59 Busy bragging and other pet hates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would help if we used the phone booth for calls.</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fair. I’ll do that.</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I really appreciate it.</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problem. Let me know if I do anything else.</a:t>
            </a:r>
          </a:p>
        </p:txBody>
      </p:sp>
    </p:spTree>
  </p:cSld>
  <p:clrMapOvr>
    <a:masterClrMapping/>
  </p:clrMapOvr>
  <p:transition spd="med">
    <p:fade/>
  </p:transition>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Your Turn · Raising a pet hate politely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59 Busy bragging and other pet hates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raise a minor issue politely.</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Raiser. Habit: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 find it frustrating when… · I wanted to mention · It would help if… · I appreciate · Could we agree to…?</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Describe the effect, suggest an alternative and thank.</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Start with a positive.</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Respond to a defensive reaction.</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Agree a signal for reminders.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Role Play · Responding to busy bragging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59 Busy bragging and other pet hates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应对炫耀忙碌</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colleague boasts about how busy they are.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Colleague</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You</a:t>
            </a:r>
          </a:p>
        </p:txBody>
      </p:sp>
    </p:spTree>
  </p:cSld>
  <p:clrMapOvr>
    <a:masterClrMapping/>
  </p:clrMapOvr>
  <p:transition spd="med">
    <p:fade/>
  </p:transition>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Responding to busy bragging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59 Busy bragging and other pet hates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slammed. I haven’t had a lunch break in a week.</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sounds exhausting. Is there something I can take off your plate?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don’t think so. I’m just so busy.</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 If you want to talk about prioritising, I’m happy to help.</a:t>
            </a:r>
          </a:p>
        </p:txBody>
      </p:sp>
    </p:spTree>
  </p:cSld>
  <p:clrMapOvr>
    <a:masterClrMapping/>
  </p:clrMapOvr>
  <p:transition spd="med">
    <p:fade/>
  </p:transition>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Responding to busy bragging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59 Busy bragging and other pet hates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Hmm, maybe. I guess I could delegate more.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might be worth looking at what’s essential.</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point. Thanks.</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Anytime. Let’s grab a coffee on Thursday.</a:t>
            </a:r>
          </a:p>
        </p:txBody>
      </p:sp>
    </p:spTree>
  </p:cSld>
  <p:clrMapOvr>
    <a:masterClrMapping/>
  </p:clrMapOvr>
  <p:transition spd="med">
    <p:fade/>
  </p:transition>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Your Turn · Responding to busy bragging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59 Busy bragging and other pet hates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respond to busy bragging.</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Situation: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slammed · take off your plate · prioritising · It might be worth… · grab a coffee</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Respond kindly, offer help and avoid competing.</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Don’t match their busyness.</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Redirect to solutions.</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Bring humour carefully.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59 Busy bragging and other pet hates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do people brag about being busy?</a:t>
            </a:r>
          </a:p>
          <a:p>
            <a:pPr algn="l">
              <a:lnSpc>
                <a:spcPct val="115000"/>
              </a:lnSpc>
              <a:spcAft>
                <a:spcPts val="800"/>
              </a:spcAft>
            </a:pPr>
            <a:r>
              <a:rPr sz="1400" b="0">
                <a:solidFill>
                  <a:srgbClr val="5F677A"/>
                </a:solidFill>
                <a:latin typeface="Arial"/>
                <a:ea typeface="Microsoft YaHei"/>
              </a:rPr>
              <a:t>💬 “It might be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your biggest pet hate at work?</a:t>
            </a:r>
          </a:p>
          <a:p>
            <a:pPr algn="l">
              <a:lnSpc>
                <a:spcPct val="115000"/>
              </a:lnSpc>
              <a:spcAft>
                <a:spcPts val="800"/>
              </a:spcAft>
            </a:pPr>
            <a:r>
              <a:rPr sz="1400" b="0">
                <a:solidFill>
                  <a:srgbClr val="5F677A"/>
                </a:solidFill>
                <a:latin typeface="Arial"/>
                <a:ea typeface="Microsoft YaHei"/>
              </a:rPr>
              <a:t>💬 “My pet hate is… because…”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offices reduce irritating behaviour?</a:t>
            </a:r>
          </a:p>
          <a:p>
            <a:pPr algn="l">
              <a:lnSpc>
                <a:spcPct val="115000"/>
              </a:lnSpc>
              <a:spcAft>
                <a:spcPts val="800"/>
              </a:spcAft>
            </a:pPr>
            <a:r>
              <a:rPr sz="1400" b="0">
                <a:solidFill>
                  <a:srgbClr val="5F677A"/>
                </a:solidFill>
                <a:latin typeface="Arial"/>
                <a:ea typeface="Microsoft YaHei"/>
              </a:rPr>
              <a:t>💬 “Teams could agree on…”</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better to talk to the person or HR?</a:t>
            </a:r>
          </a:p>
          <a:p>
            <a:pPr algn="l">
              <a:lnSpc>
                <a:spcPct val="115000"/>
              </a:lnSpc>
              <a:spcAft>
                <a:spcPts val="800"/>
              </a:spcAft>
            </a:pPr>
            <a:r>
              <a:rPr sz="1400" b="0">
                <a:solidFill>
                  <a:srgbClr val="5F677A"/>
                </a:solidFill>
                <a:latin typeface="Arial"/>
                <a:ea typeface="Microsoft YaHei"/>
              </a:rPr>
              <a:t>💬 “First, I’d… and then…”</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would your colleagues say are your habits?</a:t>
            </a:r>
          </a:p>
          <a:p>
            <a:pPr algn="l">
              <a:lnSpc>
                <a:spcPct val="115000"/>
              </a:lnSpc>
              <a:spcAft>
                <a:spcPts val="800"/>
              </a:spcAft>
            </a:pPr>
            <a:r>
              <a:rPr sz="1400" b="0">
                <a:solidFill>
                  <a:srgbClr val="5F677A"/>
                </a:solidFill>
                <a:latin typeface="Arial"/>
                <a:ea typeface="Microsoft YaHei"/>
              </a:rPr>
              <a:t>💬 “They might say 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59 Busy bragging and other pet hates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A team charter helps. For example, the team agrees to have agendas, avoid reply-all and keep calls short. That way, nobody feels singled out, and the rules protect everyone. We review the rules every three months, so they stay relevant. It also saves time because people don’t have to guess what’s acceptable.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“singled out” 被特别点名;“stay relevant” 保持适用。</a:t>
            </a:r>
          </a:p>
        </p:txBody>
      </p:sp>
    </p:spTree>
  </p:cSld>
  <p:clrMapOvr>
    <a:masterClrMapping/>
  </p:clrMapOvr>
  <p:transition spd="med">
    <p:fade/>
  </p:transition>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Complaining politely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59 Busy bragging and other pet hates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礼貌地投诉</a:t>
            </a:r>
          </a:p>
        </p:txBody>
      </p:sp>
      <p:graphicFrame>
        <p:nvGraphicFramePr>
          <p:cNvPr id="9" name="Table 8"/>
          <p:cNvGraphicFramePr>
            <a:graphicFrameLocks noGrp="1"/>
          </p:cNvGraphicFramePr>
          <p:nvPr/>
        </p:nvGraphicFramePr>
        <p:xfrm>
          <a:off x="548640" y="1417320"/>
          <a:ext cx="11094415" cy="228600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Direct</a:t>
                      </a:r>
                    </a:p>
                  </a:txBody>
                  <a:tcPr anchor="ctr">
                    <a:solidFill>
                      <a:srgbClr val="3CC49A"/>
                    </a:solidFill>
                  </a:tcPr>
                </a:tc>
                <a:tc>
                  <a:txBody>
                    <a:bodyPr wrap="square"/>
                    <a:lstStyle/>
                    <a:p>
                      <a:r>
                        <a:rPr sz="1600" b="1">
                          <a:solidFill>
                            <a:srgbClr val="FFFFFF"/>
                          </a:solidFill>
                          <a:latin typeface="Arial"/>
                          <a:ea typeface="Microsoft YaHei"/>
                        </a:rPr>
                        <a:t>Polite</a:t>
                      </a:r>
                    </a:p>
                  </a:txBody>
                  <a:tcPr anchor="ctr">
                    <a:solidFill>
                      <a:srgbClr val="3CC49A"/>
                    </a:solidFill>
                  </a:tcPr>
                </a:tc>
              </a:tr>
              <a:tr h="408432">
                <a:tc>
                  <a:txBody>
                    <a:bodyPr wrap="square"/>
                    <a:lstStyle/>
                    <a:p>
                      <a:r>
                        <a:rPr sz="1600" b="1">
                          <a:solidFill>
                            <a:srgbClr val="1F2A44"/>
                          </a:solidFill>
                          <a:latin typeface="Arial"/>
                          <a:ea typeface="Microsoft YaHei"/>
                        </a:rPr>
                        <a:t>Your calls are too loud.</a:t>
                      </a:r>
                    </a:p>
                  </a:txBody>
                  <a:tcPr anchor="ctr">
                    <a:solidFill>
                      <a:srgbClr val="FFFFFF"/>
                    </a:solidFill>
                  </a:tcPr>
                </a:tc>
                <a:tc>
                  <a:txBody>
                    <a:bodyPr wrap="square"/>
                    <a:lstStyle/>
                    <a:p>
                      <a:r>
                        <a:rPr sz="1600" b="0">
                          <a:solidFill>
                            <a:srgbClr val="1F2A44"/>
                          </a:solidFill>
                          <a:latin typeface="Arial"/>
                          <a:ea typeface="Microsoft YaHei"/>
                        </a:rPr>
                        <a:t>I find it hard to concentrate with calls nearby.</a:t>
                      </a:r>
                    </a:p>
                  </a:txBody>
                  <a:tcPr anchor="ctr">
                    <a:solidFill>
                      <a:srgbClr val="FFFFFF"/>
                    </a:solidFill>
                  </a:tcPr>
                </a:tc>
              </a:tr>
              <a:tr h="408432">
                <a:tc>
                  <a:txBody>
                    <a:bodyPr wrap="square"/>
                    <a:lstStyle/>
                    <a:p>
                      <a:r>
                        <a:rPr sz="1600" b="1">
                          <a:solidFill>
                            <a:srgbClr val="1F2A44"/>
                          </a:solidFill>
                          <a:latin typeface="Arial"/>
                          <a:ea typeface="Microsoft YaHei"/>
                        </a:rPr>
                        <a:t>You always interrupt.</a:t>
                      </a:r>
                    </a:p>
                  </a:txBody>
                  <a:tcPr anchor="ctr">
                    <a:solidFill>
                      <a:srgbClr val="FFEFD9"/>
                    </a:solidFill>
                  </a:tcPr>
                </a:tc>
                <a:tc>
                  <a:txBody>
                    <a:bodyPr wrap="square"/>
                    <a:lstStyle/>
                    <a:p>
                      <a:r>
                        <a:rPr sz="1600" b="0">
                          <a:solidFill>
                            <a:srgbClr val="1F2A44"/>
                          </a:solidFill>
                          <a:latin typeface="Arial"/>
                          <a:ea typeface="Microsoft YaHei"/>
                        </a:rPr>
                        <a:t>Could I finish my point, please?</a:t>
                      </a:r>
                    </a:p>
                  </a:txBody>
                  <a:tcPr anchor="ctr">
                    <a:solidFill>
                      <a:srgbClr val="FFEFD9"/>
                    </a:solidFill>
                  </a:tcPr>
                </a:tc>
              </a:tr>
              <a:tr h="408432">
                <a:tc>
                  <a:txBody>
                    <a:bodyPr wrap="square"/>
                    <a:lstStyle/>
                    <a:p>
                      <a:r>
                        <a:rPr sz="1600" b="1">
                          <a:solidFill>
                            <a:srgbClr val="1F2A44"/>
                          </a:solidFill>
                          <a:latin typeface="Arial"/>
                          <a:ea typeface="Microsoft YaHei"/>
                        </a:rPr>
                        <a:t>Stop using reply-all.</a:t>
                      </a:r>
                    </a:p>
                  </a:txBody>
                  <a:tcPr anchor="ctr">
                    <a:solidFill>
                      <a:srgbClr val="FFFFFF"/>
                    </a:solidFill>
                  </a:tcPr>
                </a:tc>
                <a:tc>
                  <a:txBody>
                    <a:bodyPr wrap="square"/>
                    <a:lstStyle/>
                    <a:p>
                      <a:r>
                        <a:rPr sz="1600" b="0">
                          <a:solidFill>
                            <a:srgbClr val="1F2A44"/>
                          </a:solidFill>
                          <a:latin typeface="Arial"/>
                          <a:ea typeface="Microsoft YaHei"/>
                        </a:rPr>
                        <a:t>It would help if we used reply-all less.</a:t>
                      </a:r>
                    </a:p>
                  </a:txBody>
                  <a:tcPr anchor="ctr">
                    <a:solidFill>
                      <a:srgbClr val="FFFFFF"/>
                    </a:solidFill>
                  </a:tcPr>
                </a:tc>
              </a:tr>
              <a:tr h="652272">
                <a:tc>
                  <a:txBody>
                    <a:bodyPr wrap="square"/>
                    <a:lstStyle/>
                    <a:p>
                      <a:r>
                        <a:rPr sz="1600" b="1">
                          <a:solidFill>
                            <a:srgbClr val="1F2A44"/>
                          </a:solidFill>
                          <a:latin typeface="Arial"/>
                          <a:ea typeface="Microsoft YaHei"/>
                        </a:rPr>
                        <a:t>You’re lazy.</a:t>
                      </a:r>
                    </a:p>
                  </a:txBody>
                  <a:tcPr anchor="ctr">
                    <a:solidFill>
                      <a:srgbClr val="FFEFD9"/>
                    </a:solidFill>
                  </a:tcPr>
                </a:tc>
                <a:tc>
                  <a:txBody>
                    <a:bodyPr wrap="square"/>
                    <a:lstStyle/>
                    <a:p>
                      <a:r>
                        <a:rPr sz="1600" b="0">
                          <a:solidFill>
                            <a:srgbClr val="1F2A44"/>
                          </a:solidFill>
                          <a:latin typeface="Arial"/>
                          <a:ea typeface="Microsoft YaHei"/>
                        </a:rPr>
                        <a:t>I’ve noticed the report is late again. Is something wrong?</a:t>
                      </a:r>
                    </a:p>
                  </a:txBody>
                  <a:tcPr anchor="ctr">
                    <a:solidFill>
                      <a:srgbClr val="FFEFD9"/>
                    </a:solidFill>
                  </a:tcPr>
                </a:tc>
              </a:tr>
            </a:tbl>
          </a:graphicData>
        </a:graphic>
      </p:graphicFrame>
    </p:spTree>
  </p:cSld>
  <p:clrMapOvr>
    <a:masterClrMapping/>
  </p:clrMapOvr>
  <p:transition spd="med">
    <p:fade/>
  </p:transition>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Complaining politely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59 Busy bragging and other pet hates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礼貌地投诉</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Use I-statements: </a:t>
            </a:r>
            <a:r>
              <a:rPr sz="1700" b="0">
                <a:solidFill>
                  <a:srgbClr val="1F2A44"/>
                </a:solidFill>
                <a:latin typeface="Arial"/>
                <a:ea typeface="Microsoft YaHei"/>
              </a:rPr>
              <a:t>I find it frustrating when… instead of You always…</a:t>
            </a:r>
          </a:p>
        </p:txBody>
      </p:sp>
    </p:spTree>
  </p:cSld>
  <p:clrMapOvr>
    <a:masterClrMapping/>
  </p:clrMapOvr>
  <p:transition spd="med">
    <p:fade/>
  </p:transition>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59 Busy bragging and other pet hates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hate that he talks loudly.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hate it when he talks loudly.</a:t>
            </a:r>
          </a:p>
          <a:p>
            <a:pPr algn="l">
              <a:spcAft>
                <a:spcPts val="200"/>
              </a:spcAft>
            </a:pPr>
            <a:r>
              <a:rPr sz="1200" b="0">
                <a:solidFill>
                  <a:srgbClr val="FFFFFF"/>
                </a:solidFill>
                <a:latin typeface="Arial"/>
                <a:ea typeface="Microsoft YaHei"/>
              </a:rPr>
              <a:t>hate it when</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is annoying me every day.</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annoys me every day.</a:t>
            </a:r>
          </a:p>
          <a:p>
            <a:pPr algn="l">
              <a:spcAft>
                <a:spcPts val="200"/>
              </a:spcAft>
            </a:pPr>
            <a:r>
              <a:rPr sz="1200" b="0">
                <a:solidFill>
                  <a:srgbClr val="FFFFFF"/>
                </a:solidFill>
                <a:latin typeface="Arial"/>
                <a:ea typeface="Microsoft YaHei"/>
              </a:rPr>
              <a:t>一般现在时</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annoying by his calls.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annoyed by his calls.</a:t>
            </a:r>
          </a:p>
          <a:p>
            <a:pPr algn="l">
              <a:spcAft>
                <a:spcPts val="200"/>
              </a:spcAft>
            </a:pPr>
            <a:r>
              <a:rPr sz="1200" b="0">
                <a:solidFill>
                  <a:srgbClr val="FFFFFF"/>
                </a:solidFill>
                <a:latin typeface="Arial"/>
                <a:ea typeface="Microsoft YaHei"/>
              </a:rPr>
              <a:t>-ed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59 Busy bragging and other pet hates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don’t make noise.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Please keep the noise down.</a:t>
            </a:r>
          </a:p>
          <a:p>
            <a:pPr algn="l">
              <a:spcAft>
                <a:spcPts val="200"/>
              </a:spcAft>
            </a:pPr>
            <a:r>
              <a:rPr sz="1200" b="0">
                <a:solidFill>
                  <a:srgbClr val="FFFFFF"/>
                </a:solidFill>
                <a:latin typeface="Arial"/>
                <a:ea typeface="Microsoft YaHei"/>
              </a:rPr>
              <a:t>自然</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She did me annoyed.</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She annoyed me.</a:t>
            </a:r>
          </a:p>
          <a:p>
            <a:pPr algn="l">
              <a:spcAft>
                <a:spcPts val="200"/>
              </a:spcAft>
            </a:pPr>
            <a:r>
              <a:rPr sz="1200" b="0">
                <a:solidFill>
                  <a:srgbClr val="FFFFFF"/>
                </a:solidFill>
                <a:latin typeface="Arial"/>
                <a:ea typeface="Microsoft YaHei"/>
              </a:rPr>
              <a:t>动词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You must to stop.</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Could you please stop?</a:t>
            </a:r>
          </a:p>
          <a:p>
            <a:pPr algn="l">
              <a:spcAft>
                <a:spcPts val="200"/>
              </a:spcAft>
            </a:pPr>
            <a:r>
              <a:rPr sz="1200" b="0">
                <a:solidFill>
                  <a:srgbClr val="FFFFFF"/>
                </a:solidFill>
                <a:latin typeface="Arial"/>
                <a:ea typeface="Microsoft YaHei"/>
              </a:rPr>
              <a:t>礼貌</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annoyed / annoying, hate it when, and polite requests.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59 Busy bragging and other pet hates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Indirect complaints are normal. British English especially softens with “I wonder if…”.</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Don’t complain publicly. Raise sensitive topics in private.</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Offer a solution. “It would help if…” shows cooperation.</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Humour helps, but carefully. Don’t make jokes about personality.</a:t>
            </a:r>
          </a:p>
        </p:txBody>
      </p:sp>
    </p:spTree>
  </p:cSld>
  <p:clrMapOvr>
    <a:masterClrMapping/>
  </p:clrMapOvr>
  <p:transition spd="med">
    <p:fade/>
  </p:transition>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59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59 Busy bragging and other pet hates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workplace pet hates naturally.</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raise a minor issue politely with It would help if…</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respond to busy bragging kindly.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annoyed / annoying and hate it when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 · Lesson 59 Busy bragging and other pet hates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Describe a pet hate and how you’d politely raise it.</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annoyed/annoying, hate it when, would help if.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Lucky Boxes 幸运盒子</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Pick a number, take the challenge!  选一个数字，接受挑战</a:t>
            </a:r>
          </a:p>
        </p:txBody>
      </p:sp>
      <p:sp>
        <p:nvSpPr>
          <p:cNvPr id="9" name="Rounded Rectangle 8">
            <a:hlinkClick action="ppaction://hlinksldjump" r:id="rId4"/>
          </p:cNvPr>
          <p:cNvSpPr/>
          <p:nvPr/>
        </p:nvSpPr>
        <p:spPr>
          <a:xfrm>
            <a:off x="1691640" y="15087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1</a:t>
            </a:r>
          </a:p>
        </p:txBody>
      </p:sp>
      <p:sp>
        <p:nvSpPr>
          <p:cNvPr id="10" name="Rounded Rectangle 9">
            <a:hlinkClick action="ppaction://hlinksldjump" r:id="rId5"/>
          </p:cNvPr>
          <p:cNvSpPr/>
          <p:nvPr/>
        </p:nvSpPr>
        <p:spPr>
          <a:xfrm>
            <a:off x="4693920" y="15087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2</a:t>
            </a:r>
          </a:p>
        </p:txBody>
      </p:sp>
      <p:sp>
        <p:nvSpPr>
          <p:cNvPr id="11" name="Rounded Rectangle 10">
            <a:hlinkClick action="ppaction://hlinksldjump" r:id="rId6"/>
          </p:cNvPr>
          <p:cNvSpPr/>
          <p:nvPr/>
        </p:nvSpPr>
        <p:spPr>
          <a:xfrm>
            <a:off x="7696200" y="15087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3</a:t>
            </a:r>
          </a:p>
        </p:txBody>
      </p:sp>
      <p:sp>
        <p:nvSpPr>
          <p:cNvPr id="12" name="Rounded Rectangle 11">
            <a:hlinkClick action="ppaction://hlinksldjump" r:id="rId7"/>
          </p:cNvPr>
          <p:cNvSpPr/>
          <p:nvPr/>
        </p:nvSpPr>
        <p:spPr>
          <a:xfrm>
            <a:off x="1691640" y="31089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4</a:t>
            </a:r>
          </a:p>
        </p:txBody>
      </p:sp>
      <p:sp>
        <p:nvSpPr>
          <p:cNvPr id="13" name="Rounded Rectangle 12">
            <a:hlinkClick action="ppaction://hlinksldjump" r:id="rId8"/>
          </p:cNvPr>
          <p:cNvSpPr/>
          <p:nvPr/>
        </p:nvSpPr>
        <p:spPr>
          <a:xfrm>
            <a:off x="4693920" y="3108960"/>
            <a:ext cx="2773680" cy="1371600"/>
          </a:xfrm>
          <a:prstGeom prst="roundRect">
            <a:avLst>
              <a:gd name="adj" fmla="val 18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5</a:t>
            </a:r>
          </a:p>
        </p:txBody>
      </p:sp>
      <p:sp>
        <p:nvSpPr>
          <p:cNvPr id="14" name="Rounded Rectangle 13">
            <a:hlinkClick action="ppaction://hlinksldjump" r:id="rId9"/>
          </p:cNvPr>
          <p:cNvSpPr/>
          <p:nvPr/>
        </p:nvSpPr>
        <p:spPr>
          <a:xfrm>
            <a:off x="7696200" y="31089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6</a:t>
            </a:r>
          </a:p>
        </p:txBody>
      </p:sp>
      <p:sp>
        <p:nvSpPr>
          <p:cNvPr id="15" name="Rounded Rectangle 14">
            <a:hlinkClick action="ppaction://hlinksldjump" r:id="rId10"/>
          </p:cNvPr>
          <p:cNvSpPr/>
          <p:nvPr/>
        </p:nvSpPr>
        <p:spPr>
          <a:xfrm>
            <a:off x="1691640" y="47091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7</a:t>
            </a:r>
          </a:p>
        </p:txBody>
      </p:sp>
      <p:sp>
        <p:nvSpPr>
          <p:cNvPr id="16" name="Rounded Rectangle 15">
            <a:hlinkClick action="ppaction://hlinksldjump" r:id="rId11"/>
          </p:cNvPr>
          <p:cNvSpPr/>
          <p:nvPr/>
        </p:nvSpPr>
        <p:spPr>
          <a:xfrm>
            <a:off x="4693920" y="47091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8</a:t>
            </a:r>
          </a:p>
        </p:txBody>
      </p:sp>
      <p:sp>
        <p:nvSpPr>
          <p:cNvPr id="17" name="Rounded Rectangle 16">
            <a:hlinkClick action="ppaction://hlinksldjump" r:id="rId12"/>
          </p:cNvPr>
          <p:cNvSpPr/>
          <p:nvPr/>
        </p:nvSpPr>
        <p:spPr>
          <a:xfrm>
            <a:off x="7696200" y="47091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9</a:t>
            </a:r>
          </a:p>
        </p:txBody>
      </p:sp>
    </p:spTree>
  </p:cSld>
  <p:clrMapOvr>
    <a:masterClrMapping/>
  </p:clrMapOvr>
  <p:transition spd="med">
    <p:fade/>
  </p:transition>
</p:sld>
</file>

<file path=ppt/slides/slide190.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1</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190</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Steal!</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从任意一组偷走 1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91.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2</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191</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Bomb!</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本轮不得分，换下一组</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92.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3</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192</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Fix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找出并改正错误</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He suffers from the stress.</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He suffers from stress.</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3.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4</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193</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不堪重负的</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overwhelmed</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4.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5</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194</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对自己宽容些</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cut yourself some slack</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5.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6</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195</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It’s natural to feel…</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It’s natural to feel nervous.</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6.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7</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196</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Bonus!</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本组直接 +2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97.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8</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197</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recover from</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He recovered from burnout.</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8.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9</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198</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身兼数职</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wear many hats</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Boss Challenge 终极挑战</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review</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10 seconds per question. Beat the boss!  每题限时 10 秒，打败大魔王</a:t>
            </a:r>
          </a:p>
        </p:txBody>
      </p:sp>
      <p:sp>
        <p:nvSpPr>
          <p:cNvPr id="9" name="TextBox 8"/>
          <p:cNvSpPr txBox="1"/>
          <p:nvPr/>
        </p:nvSpPr>
        <p:spPr>
          <a:xfrm>
            <a:off x="9966960" y="1463040"/>
            <a:ext cx="1737360" cy="1463040"/>
          </a:xfrm>
          <a:prstGeom prst="rect">
            <a:avLst/>
          </a:prstGeom>
          <a:noFill/>
        </p:spPr>
        <p:txBody>
          <a:bodyPr wrap="square" anchor="t">
            <a:spAutoFit/>
          </a:bodyPr>
          <a:lstStyle/>
          <a:p>
            <a:pPr algn="ctr">
              <a:lnSpc>
                <a:spcPct val="115000"/>
              </a:lnSpc>
              <a:spcAft>
                <a:spcPts val="800"/>
              </a:spcAft>
            </a:pPr>
            <a:r>
              <a:rPr sz="8000" b="0">
                <a:solidFill>
                  <a:srgbClr val="1F2A44"/>
                </a:solidFill>
                <a:latin typeface="Arial"/>
                <a:ea typeface="Microsoft YaHei"/>
              </a:rPr>
              <a:t>👾</a:t>
            </a:r>
          </a:p>
        </p:txBody>
      </p:sp>
      <p:sp>
        <p:nvSpPr>
          <p:cNvPr id="10" name="Rounded Rectangle 9"/>
          <p:cNvSpPr/>
          <p:nvPr/>
        </p:nvSpPr>
        <p:spPr>
          <a:xfrm>
            <a:off x="548640" y="1508760"/>
            <a:ext cx="5577840" cy="850392"/>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Q1. “以身示范” in English?</a:t>
            </a:r>
          </a:p>
        </p:txBody>
      </p:sp>
      <p:sp>
        <p:nvSpPr>
          <p:cNvPr id="11" name="Rounded Rectangle 10"/>
          <p:cNvSpPr/>
          <p:nvPr/>
        </p:nvSpPr>
        <p:spPr>
          <a:xfrm>
            <a:off x="6263640" y="150876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model (healthy habits)</a:t>
            </a:r>
          </a:p>
        </p:txBody>
      </p:sp>
      <p:sp>
        <p:nvSpPr>
          <p:cNvPr id="12" name="Rounded Rectangle 11"/>
          <p:cNvSpPr/>
          <p:nvPr/>
        </p:nvSpPr>
        <p:spPr>
          <a:xfrm>
            <a:off x="548640" y="2468880"/>
            <a:ext cx="5577840" cy="850392"/>
          </a:xfrm>
          <a:prstGeom prst="roundRect">
            <a:avLst>
              <a:gd name="adj" fmla="val 15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Q2. “睡懒觉” in English?</a:t>
            </a:r>
          </a:p>
        </p:txBody>
      </p:sp>
      <p:sp>
        <p:nvSpPr>
          <p:cNvPr id="13" name="Rounded Rectangle 12"/>
          <p:cNvSpPr/>
          <p:nvPr/>
        </p:nvSpPr>
        <p:spPr>
          <a:xfrm>
            <a:off x="6263640" y="246888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sleep in</a:t>
            </a:r>
          </a:p>
        </p:txBody>
      </p:sp>
      <p:sp>
        <p:nvSpPr>
          <p:cNvPr id="14" name="Rounded Rectangle 13"/>
          <p:cNvSpPr/>
          <p:nvPr/>
        </p:nvSpPr>
        <p:spPr>
          <a:xfrm>
            <a:off x="548640" y="3429000"/>
            <a:ext cx="5577840" cy="850392"/>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Q3. “我们可以约定…” in English?</a:t>
            </a:r>
          </a:p>
        </p:txBody>
      </p:sp>
      <p:sp>
        <p:nvSpPr>
          <p:cNvPr id="15" name="Rounded Rectangle 14"/>
          <p:cNvSpPr/>
          <p:nvPr/>
        </p:nvSpPr>
        <p:spPr>
          <a:xfrm>
            <a:off x="6263640" y="342900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Could we agree to…?</a:t>
            </a:r>
          </a:p>
        </p:txBody>
      </p:sp>
      <p:sp>
        <p:nvSpPr>
          <p:cNvPr id="16" name="Rounded Rectangle 15"/>
          <p:cNvSpPr/>
          <p:nvPr/>
        </p:nvSpPr>
        <p:spPr>
          <a:xfrm>
            <a:off x="548640" y="4389120"/>
            <a:ext cx="5577840" cy="850392"/>
          </a:xfrm>
          <a:prstGeom prst="roundRect">
            <a:avLst>
              <a:gd name="adj" fmla="val 15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Q4. Fix it: I am burn out.</a:t>
            </a:r>
          </a:p>
        </p:txBody>
      </p:sp>
      <p:sp>
        <p:nvSpPr>
          <p:cNvPr id="17" name="Rounded Rectangle 16"/>
          <p:cNvSpPr/>
          <p:nvPr/>
        </p:nvSpPr>
        <p:spPr>
          <a:xfrm>
            <a:off x="6263640" y="438912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 am burnt out. / I’ve burnt out.</a:t>
            </a:r>
          </a:p>
        </p:txBody>
      </p:sp>
      <p:sp>
        <p:nvSpPr>
          <p:cNvPr id="18" name="Rounded Rectangle 17"/>
          <p:cNvSpPr/>
          <p:nvPr/>
        </p:nvSpPr>
        <p:spPr>
          <a:xfrm>
            <a:off x="548640" y="5349240"/>
            <a:ext cx="5577840" cy="850392"/>
          </a:xfrm>
          <a:prstGeom prst="roundRect">
            <a:avLst>
              <a:gd name="adj" fmla="val 15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Q5. Fix it: Please don’t make noise.</a:t>
            </a:r>
          </a:p>
        </p:txBody>
      </p:sp>
      <p:sp>
        <p:nvSpPr>
          <p:cNvPr id="19" name="Rounded Rectangle 18"/>
          <p:cNvSpPr/>
          <p:nvPr/>
        </p:nvSpPr>
        <p:spPr>
          <a:xfrm>
            <a:off x="6263640" y="534924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Please keep the noise down.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0"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12</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200</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TextBox 4"/>
          <p:cNvSpPr txBox="1"/>
          <p:nvPr/>
        </p:nvSpPr>
        <p:spPr>
          <a:xfrm>
            <a:off x="0" y="822960"/>
            <a:ext cx="12191695" cy="1463040"/>
          </a:xfrm>
          <a:prstGeom prst="rect">
            <a:avLst/>
          </a:prstGeom>
          <a:noFill/>
        </p:spPr>
        <p:txBody>
          <a:bodyPr wrap="square" anchor="t">
            <a:spAutoFit/>
          </a:bodyPr>
          <a:lstStyle/>
          <a:p>
            <a:pPr algn="ctr">
              <a:lnSpc>
                <a:spcPct val="115000"/>
              </a:lnSpc>
              <a:spcAft>
                <a:spcPts val="800"/>
              </a:spcAft>
            </a:pPr>
            <a:r>
              <a:rPr sz="10000" b="0">
                <a:solidFill>
                  <a:srgbClr val="1F2A44"/>
                </a:solidFill>
                <a:latin typeface="Arial"/>
                <a:ea typeface="Microsoft YaHei"/>
              </a:rPr>
              <a:t>🏆</a:t>
            </a:r>
          </a:p>
        </p:txBody>
      </p:sp>
      <p:sp>
        <p:nvSpPr>
          <p:cNvPr id="6" name="TextBox 5"/>
          <p:cNvSpPr txBox="1"/>
          <p:nvPr/>
        </p:nvSpPr>
        <p:spPr>
          <a:xfrm>
            <a:off x="0" y="2560320"/>
            <a:ext cx="12191695" cy="914400"/>
          </a:xfrm>
          <a:prstGeom prst="rect">
            <a:avLst/>
          </a:prstGeom>
          <a:noFill/>
        </p:spPr>
        <p:txBody>
          <a:bodyPr wrap="square" anchor="t">
            <a:spAutoFit/>
          </a:bodyPr>
          <a:lstStyle/>
          <a:p>
            <a:pPr algn="ctr">
              <a:lnSpc>
                <a:spcPct val="115000"/>
              </a:lnSpc>
              <a:spcAft>
                <a:spcPts val="800"/>
              </a:spcAft>
            </a:pPr>
            <a:r>
              <a:rPr sz="4600" b="1">
                <a:solidFill>
                  <a:srgbClr val="FFFFFF"/>
                </a:solidFill>
                <a:latin typeface="Arial"/>
                <a:ea typeface="Microsoft YaHei"/>
              </a:rPr>
              <a:t>And the winning team is…</a:t>
            </a:r>
          </a:p>
        </p:txBody>
      </p:sp>
      <p:sp>
        <p:nvSpPr>
          <p:cNvPr id="7" name="TextBox 6"/>
          <p:cNvSpPr txBox="1"/>
          <p:nvPr/>
        </p:nvSpPr>
        <p:spPr>
          <a:xfrm>
            <a:off x="0" y="3520440"/>
            <a:ext cx="12191695" cy="64008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统计积分，看看今天的冠军是哪一组！</a:t>
            </a:r>
          </a:p>
        </p:txBody>
      </p:sp>
      <p:sp>
        <p:nvSpPr>
          <p:cNvPr id="8" name="Rounded Rectangle 7"/>
          <p:cNvSpPr/>
          <p:nvPr/>
        </p:nvSpPr>
        <p:spPr>
          <a:xfrm>
            <a:off x="822960" y="4480560"/>
            <a:ext cx="2468880" cy="822960"/>
          </a:xfrm>
          <a:prstGeom prst="roundRect">
            <a:avLst>
              <a:gd name="adj" fmla="val 4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Alpha: ____</a:t>
            </a:r>
          </a:p>
        </p:txBody>
      </p:sp>
      <p:sp>
        <p:nvSpPr>
          <p:cNvPr id="9" name="Rounded Rectangle 8"/>
          <p:cNvSpPr/>
          <p:nvPr/>
        </p:nvSpPr>
        <p:spPr>
          <a:xfrm>
            <a:off x="3520440" y="4480560"/>
            <a:ext cx="2468880" cy="822960"/>
          </a:xfrm>
          <a:prstGeom prst="roundRect">
            <a:avLst>
              <a:gd name="adj" fmla="val 4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Bravo: ____</a:t>
            </a:r>
          </a:p>
        </p:txBody>
      </p:sp>
      <p:sp>
        <p:nvSpPr>
          <p:cNvPr id="10" name="Rounded Rectangle 9"/>
          <p:cNvSpPr/>
          <p:nvPr/>
        </p:nvSpPr>
        <p:spPr>
          <a:xfrm>
            <a:off x="6217920" y="4480560"/>
            <a:ext cx="2468880" cy="822960"/>
          </a:xfrm>
          <a:prstGeom prst="roundRect">
            <a:avLst>
              <a:gd name="adj" fmla="val 4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Charlie: ____</a:t>
            </a:r>
          </a:p>
        </p:txBody>
      </p:sp>
      <p:sp>
        <p:nvSpPr>
          <p:cNvPr id="11" name="Rounded Rectangle 10"/>
          <p:cNvSpPr/>
          <p:nvPr/>
        </p:nvSpPr>
        <p:spPr>
          <a:xfrm>
            <a:off x="8915400" y="4480560"/>
            <a:ext cx="2468880" cy="822960"/>
          </a:xfrm>
          <a:prstGeom prst="roundRect">
            <a:avLst>
              <a:gd name="adj" fmla="val 4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Delta: ____</a:t>
            </a:r>
          </a:p>
        </p:txBody>
      </p:sp>
    </p:spTree>
  </p:cSld>
  <p:clrMapOvr>
    <a:masterClrMapping/>
  </p:clrMapOvr>
  <p:transition spd="med">
    <p:fade/>
  </p:transition>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12</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201</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Oval 4"/>
          <p:cNvSpPr/>
          <p:nvPr/>
        </p:nvSpPr>
        <p:spPr>
          <a:xfrm>
            <a:off x="640080" y="548640"/>
            <a:ext cx="1280160" cy="12801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4754880"/>
            <a:ext cx="1371600" cy="137160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822960"/>
            <a:ext cx="731520" cy="7315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645920"/>
            <a:ext cx="12191695" cy="1097280"/>
          </a:xfrm>
          <a:prstGeom prst="rect">
            <a:avLst/>
          </a:prstGeom>
          <a:noFill/>
        </p:spPr>
        <p:txBody>
          <a:bodyPr wrap="square" anchor="t">
            <a:spAutoFit/>
          </a:bodyPr>
          <a:lstStyle/>
          <a:p>
            <a:pPr algn="ctr">
              <a:lnSpc>
                <a:spcPct val="115000"/>
              </a:lnSpc>
              <a:spcAft>
                <a:spcPts val="800"/>
              </a:spcAft>
            </a:pPr>
            <a:r>
              <a:rPr sz="6400" b="0">
                <a:solidFill>
                  <a:srgbClr val="1F2A44"/>
                </a:solidFill>
                <a:latin typeface="Arial"/>
                <a:ea typeface="Microsoft YaHei"/>
              </a:rPr>
              <a:t>🎉</a:t>
            </a:r>
          </a:p>
        </p:txBody>
      </p:sp>
      <p:sp>
        <p:nvSpPr>
          <p:cNvPr id="9" name="TextBox 8"/>
          <p:cNvSpPr txBox="1"/>
          <p:nvPr/>
        </p:nvSpPr>
        <p:spPr>
          <a:xfrm>
            <a:off x="0" y="2743200"/>
            <a:ext cx="12191695" cy="1097280"/>
          </a:xfrm>
          <a:prstGeom prst="rect">
            <a:avLst/>
          </a:prstGeom>
          <a:noFill/>
        </p:spPr>
        <p:txBody>
          <a:bodyPr wrap="square" anchor="t">
            <a:spAutoFit/>
          </a:bodyPr>
          <a:lstStyle/>
          <a:p>
            <a:pPr algn="ctr">
              <a:lnSpc>
                <a:spcPct val="115000"/>
              </a:lnSpc>
              <a:spcAft>
                <a:spcPts val="800"/>
              </a:spcAft>
            </a:pPr>
            <a:r>
              <a:rPr sz="5600" b="1">
                <a:solidFill>
                  <a:srgbClr val="FFFFFF"/>
                </a:solidFill>
                <a:latin typeface="Arial"/>
                <a:ea typeface="Microsoft YaHei"/>
              </a:rPr>
              <a:t>Unit 12 Complete!</a:t>
            </a:r>
          </a:p>
        </p:txBody>
      </p:sp>
      <p:sp>
        <p:nvSpPr>
          <p:cNvPr id="10" name="TextBox 9"/>
          <p:cNvSpPr txBox="1"/>
          <p:nvPr/>
        </p:nvSpPr>
        <p:spPr>
          <a:xfrm>
            <a:off x="0" y="3931920"/>
            <a:ext cx="12191695" cy="73152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Great work today! Keep practising 10 minutes a day.  每天 10 分钟，坚持就是进步！</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