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21: Technology and Society — Self-Study Workbook (Lessons 92–98)</a:t>
            </a:r>
          </a:p>
          <a:p/>
          <a:p>
            <a:r>
              <a:t>开场：简单介绍本单元的主题和要完成的 7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92 · Regulating big tech 监管大型科技公司</a:t>
            </a:r>
          </a:p>
          <a:p>
            <a:r>
              <a:t>Goal: debate whether and how large technology companies should be regulated, using balanced argument language.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“regulate” 监管;“antitrust / competition law” 反垄断;“data privacy” 数据隐私。本课不对具体公司作事实判断。</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view on regulating large technology companies.</a:t>
            </a:r>
          </a:p>
          <a:p>
            <a:r>
              <a:t>Say: the issue → arguments for → arguments against → your view.</a:t>
            </a:r>
          </a:p>
          <a:p>
            <a:r>
              <a:t>Useful starters: “Supporters argue that…” / “Critics claim that…” / “A middle path would be to…” / “On balance, I believe…”</a:t>
            </a:r>
          </a:p>
          <a:p>
            <a:r>
              <a:t>“argue that” 后接从句;“A middle path” 折中方案。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handful of technology companies now provide search, shopping, social networks, cloud computing and mobile software to billions of people. Supporters of stronger regulation argue that such concentration reduces competition, lets firms collect huge amounts of personal data, and gives them influence over what people see and buy. They propose rules on privacy, fair competition and transparency about algorithms. Opponents reply that heavy regulation could slow innovation, raise costs and hurt smaller companies that cannot afford compliance teams. They also say that many services are free or cheap and that users benefit. A middle path would be targeted rules: clear standards for data protection and competition, regular independent audits, and quick processes for dealing with abuses. The debate continues in many countries, and approaches differ widely.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supporters of regulation worry about?</a:t>
            </a:r>
          </a:p>
          <a:p>
            <a:r>
              <a:t>A: Reduced competition, huge personal data collection and influence over what people see and buy.</a:t>
            </a:r>
          </a:p>
          <a:p>
            <a:r>
              <a:t>Q2. What do opponents fear?</a:t>
            </a:r>
          </a:p>
          <a:p>
            <a:r>
              <a:t>A: Slower innovation, higher costs, harm to smaller companies.</a:t>
            </a:r>
          </a:p>
          <a:p>
            <a:r>
              <a:t>Q3. What is the middle path?</a:t>
            </a:r>
          </a:p>
          <a:p>
            <a:r>
              <a:t>A: Targeted rules, regular audits and quick processes for abuses.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Regulation 监管</a:t>
            </a:r>
          </a:p>
          <a:p>
            <a:r>
              <a:t>领读 → 学员跟读 → 请学员用表达造一个和自己工作相关的句子。</a:t>
            </a:r>
          </a:p>
          <a:p>
            <a:r>
              <a:t>regulate / regulation (verb/noun) 监管 — “The government regulates banks.”</a:t>
            </a:r>
          </a:p>
          <a:p>
            <a:r>
              <a:t>antitrust / competition law (noun) 反垄断法 — “Antitrust law aims to protect competition.”</a:t>
            </a:r>
          </a:p>
          <a:p>
            <a:r>
              <a:t>data protection (noun) 数据保护 — “Data protection rules apply.”</a:t>
            </a:r>
          </a:p>
          <a:p>
            <a:r>
              <a:t>★ compliance (noun) 合规 — “Compliance costs are high.”</a:t>
            </a:r>
          </a:p>
          <a:p>
            <a:r>
              <a:t>★ oversight (noun) 监督 — “The industry needs more oversight.”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Power and competition 权力与竞争</a:t>
            </a:r>
          </a:p>
          <a:p>
            <a:r>
              <a:t>领读 → 学员跟读 → 请学员用表达造一个和自己工作相关的句子。</a:t>
            </a:r>
          </a:p>
          <a:p>
            <a:r>
              <a:t>market dominance (noun) 市场主导地位 — “Market dominance reduces choice.”</a:t>
            </a:r>
          </a:p>
          <a:p>
            <a:r>
              <a:t>monopoly (noun) 垄断 — “They are accused of a monopoly.”</a:t>
            </a:r>
          </a:p>
          <a:p>
            <a:r>
              <a:t>stifle innovation (collocation) 扼杀创新 — “Rules may stifle innovation.”</a:t>
            </a:r>
          </a:p>
          <a:p>
            <a:r>
              <a:t>★ gatekeeper (noun) 把关者 — “The platform acts as a gatekeeper.”</a:t>
            </a:r>
          </a:p>
          <a:p>
            <a:r>
              <a:t>★ level the playing field (idiom) 公平竞争 — “Regulation can level the playing field.”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Privacy 隐私</a:t>
            </a:r>
          </a:p>
          <a:p>
            <a:r>
              <a:t>领读 → 学员跟读 → 请学员用表达造一个和自己工作相关的句子。</a:t>
            </a:r>
          </a:p>
          <a:p>
            <a:r>
              <a:t>personal data (noun) 个人数据 — “Personal data is collected.”</a:t>
            </a:r>
          </a:p>
          <a:p>
            <a:r>
              <a:t>consent (noun) 同意 — “Users must give consent.”</a:t>
            </a:r>
          </a:p>
          <a:p>
            <a:r>
              <a:t>transparency (noun) 透明度 — “We need transparency about algorithms.”</a:t>
            </a:r>
          </a:p>
          <a:p>
            <a:r>
              <a:t>★ data breach (noun) 数据泄露 — “A data breach exposed accounts.”</a:t>
            </a:r>
          </a:p>
          <a:p>
            <a:r>
              <a:t>★ surveillance (noun) 监控 — “Online surveillance worries some.”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regulate / antitrust / compliance / monopoly / consent / breach</a:t>
            </a:r>
          </a:p>
          <a:p>
            <a:r>
              <a:t>1. Governments often _______ banks closely. → regulate</a:t>
            </a:r>
          </a:p>
          <a:p>
            <a:r>
              <a:t>2. _______ law protects competition. → Antitrust</a:t>
            </a:r>
          </a:p>
          <a:p>
            <a:r>
              <a:t>3. _______ costs can be high for small firms. → Compliance</a:t>
            </a:r>
          </a:p>
          <a:p>
            <a:r>
              <a:t>4. A _______ gives one firm control of the market. → monopoly</a:t>
            </a:r>
          </a:p>
          <a:p>
            <a:r>
              <a:t>5. Users must give _______ before data is collected. → consent</a:t>
            </a:r>
          </a:p>
          <a:p>
            <a:r>
              <a:t>6. A data _______ exposed customer details. → breach</a:t>
            </a:r>
          </a:p>
          <a:p>
            <a:r>
              <a:t>Mistake Watch: (搭配) regulate sth / regulation OF,stifle innovation,give consent TO;data 现多作不可数。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balanced debate 平衡辩论</a:t>
            </a:r>
          </a:p>
          <a:p>
            <a:r>
              <a:t>情景：Two colleagues discuss regulation.</a:t>
            </a:r>
          </a:p>
          <a:p>
            <a:r>
              <a:t>Role A: Supporter Role B: Sceptic</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believe big tech companies need stronger regulation. They hold too much personal data.</a:t>
            </a:r>
          </a:p>
          <a:p>
            <a:r>
              <a:t>B: I see your point, but heavy rules could stifle innovation.</a:t>
            </a:r>
          </a:p>
          <a:p>
            <a:r>
              <a:t>A: Not if they’re targeted. For example, clear privacy standards.</a:t>
            </a:r>
          </a:p>
          <a:p>
            <a:r>
              <a:t>B: That might work. My concern is that small firms can’t afford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Fair enough. Rules could scale with company size.</a:t>
            </a:r>
          </a:p>
          <a:p>
            <a:r>
              <a:t>B: That sounds more reasonable.</a:t>
            </a:r>
          </a:p>
          <a:p>
            <a:r>
              <a:t>A: So we agree on a middle path?</a:t>
            </a:r>
          </a:p>
          <a:p>
            <a:r>
              <a:t>B: On balance, yes.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debate regulation.</a:t>
            </a:r>
          </a:p>
          <a:p>
            <a:r>
              <a:t>Your role (A) | Supporter.</a:t>
            </a:r>
          </a:p>
          <a:p>
            <a:r>
              <a:t>Partner’s role (B) | Sceptic. Issue: ______________</a:t>
            </a:r>
          </a:p>
          <a:p>
            <a:r>
              <a:t>Must use (3 or more) | I see your point · stifle innovation · targeted · middle path · on balance</a:t>
            </a:r>
          </a:p>
          <a:p>
            <a:r>
              <a:t>Goal | Argue, concede a point and find common ground.</a:t>
            </a:r>
          </a:p>
          <a:p>
            <a:r>
              <a:t>My notes | ____________________________________________</a:t>
            </a:r>
          </a:p>
          <a:p>
            <a:r>
              <a:t>Bring an example.</a:t>
            </a:r>
          </a:p>
          <a:p>
            <a:r>
              <a:t>Ask a clarifying question.</a:t>
            </a:r>
          </a:p>
          <a:p>
            <a:r>
              <a:t>Summarise where you disagree.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 privacy rule to a customer 向客户解释隐私规则</a:t>
            </a:r>
          </a:p>
          <a:p>
            <a:r>
              <a:t>情景：A customer service call.</a:t>
            </a:r>
          </a:p>
          <a:p>
            <a:r>
              <a:t>Role A: Customer Role B: Agent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Why do you need my consent to store my data?</a:t>
            </a:r>
          </a:p>
          <a:p>
            <a:r>
              <a:t>B: Under data protection rules, we must ask permission before collecting personal information.</a:t>
            </a:r>
          </a:p>
          <a:p>
            <a:r>
              <a:t>A: What do you do with it?</a:t>
            </a:r>
          </a:p>
          <a:p>
            <a:r>
              <a:t>B: We use it to provide the service and, if you agree, to send offers.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I withdraw consent later?</a:t>
            </a:r>
          </a:p>
          <a:p>
            <a:r>
              <a:t>B: Yes. You can change your settings at any time.</a:t>
            </a:r>
          </a:p>
          <a:p>
            <a:r>
              <a:t>A: Good to know.</a:t>
            </a:r>
          </a:p>
          <a:p>
            <a:r>
              <a:t>B: We take transparency seriously.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explain privacy.</a:t>
            </a:r>
          </a:p>
          <a:p>
            <a:r>
              <a:t>Your role (A) | Customer.</a:t>
            </a:r>
          </a:p>
          <a:p>
            <a:r>
              <a:t>Partner’s role (B) | Agent. Question: ______________</a:t>
            </a:r>
          </a:p>
          <a:p>
            <a:r>
              <a:t>Must use (3 or more) | consent · must ask permission · personal information · withdraw · transparency</a:t>
            </a:r>
          </a:p>
          <a:p>
            <a:r>
              <a:t>Goal | Explain data rules clearly and politely.</a:t>
            </a:r>
          </a:p>
          <a:p>
            <a:r>
              <a:t>My notes | ____________________________________________</a:t>
            </a:r>
          </a:p>
          <a:p>
            <a:r>
              <a:t>Handle an angry customer.</a:t>
            </a:r>
          </a:p>
          <a:p>
            <a:r>
              <a:t>Explain a data breach.</a:t>
            </a:r>
          </a:p>
          <a:p>
            <a:r>
              <a:t>Offer a written summary.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tech companies be broken up? | “Some argue… but…”</a:t>
            </a:r>
          </a:p>
          <a:p>
            <a:r>
              <a:t>2. Who should regulate technology: governments or industry? | “I think…”</a:t>
            </a:r>
          </a:p>
          <a:p>
            <a:r>
              <a:t>3. Is data privacy more important than convenience? | “It depends on…”</a:t>
            </a:r>
          </a:p>
          <a:p>
            <a:r>
              <a:t>4. How can small firms compete with giants? | “By…”</a:t>
            </a:r>
          </a:p>
          <a:p>
            <a:r>
              <a:t>5. What regulation would you introduce? | “I’d introduce…”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privacy matters more than convenience, but the choice shouldn’t be forced. Users should know what data is collected and be able to refuse without losing basic services. Companies often hide this in long documents, so clearer, shorter explanations would help people make real choices.”</a:t>
            </a:r>
          </a:p>
          <a:p>
            <a:r>
              <a:t>“forced” 被迫;“make real choices” 做真正的选择。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Debating language 辩论用语</a:t>
            </a:r>
          </a:p>
          <a:p>
            <a:r>
              <a:t>Function | Example</a:t>
            </a:r>
          </a:p>
          <a:p>
            <a:r>
              <a:t>Supporters argue that… | Supporters argue that rules protect users.</a:t>
            </a:r>
          </a:p>
          <a:p>
            <a:r>
              <a:t>Critics claim that… | Critics claim that it slows innovation.</a:t>
            </a:r>
          </a:p>
          <a:p>
            <a:r>
              <a:t>Concede | I see your point, but…</a:t>
            </a:r>
          </a:p>
          <a:p>
            <a:r>
              <a:t>Conclude | On balance, I’d support targeted rules.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Debating language 辩论用语</a:t>
            </a:r>
          </a:p>
          <a:p>
            <a:r>
              <a:t>After argue / claim / suggest, use a that-clause: argue that rules protect users.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government should regulate to big tech.  →  ✓ The government should regulate big tech.  (regulate 及物)</a:t>
            </a:r>
          </a:p>
          <a:p>
            <a:r>
              <a:t>✗ Many datas are collected.  →  ✓ A lot of data is collected.  (data 不可数(现代))</a:t>
            </a:r>
          </a:p>
          <a:p>
            <a:r>
              <a:t>✗ I am agree with regulation.  →  ✓ I agree with regulation.  (agree)</a:t>
            </a:r>
          </a:p>
          <a:p>
            <a:r>
              <a:t>Mistake Watch: Check regulate (transitive), uncountable data / power, agree with, that-clauses.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Critics claim to slow innovation.  →  ✓ Critics claim that it slows innovation.  (that 从句)</a:t>
            </a:r>
          </a:p>
          <a:p>
            <a:r>
              <a:t>✗ It’s against of the law.  →  ✓ It’s against the law.  (against)</a:t>
            </a:r>
          </a:p>
          <a:p>
            <a:r>
              <a:t>✗ Tech companies have too big power.  →  ✓ Tech companies have too much power.  (too much)</a:t>
            </a:r>
          </a:p>
          <a:p>
            <a:r>
              <a:t>Mistake Watch: Check regulate (transitive), uncountable data / power, agree with, that-clauses.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Rules differ. EU, US and other regions regulate data differently; mention “in the EU” when relevant.</a:t>
            </a:r>
          </a:p>
          <a:p>
            <a:r>
              <a:t>Respect disagreement. “I see your point, but…” keeps debate civil.</a:t>
            </a:r>
          </a:p>
          <a:p>
            <a:r>
              <a:t>Avoid conspiracy language. Stay with evidence.</a:t>
            </a:r>
          </a:p>
          <a:p>
            <a:r>
              <a:t>Use “personal data” rather than “private things”.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debate regulation using balanced language.</a:t>
            </a:r>
          </a:p>
          <a:p>
            <a:r>
              <a:t>I can explain privacy rules simply.</a:t>
            </a:r>
          </a:p>
          <a:p>
            <a:r>
              <a:t>I can concede and find a middle path.</a:t>
            </a:r>
          </a:p>
          <a:p>
            <a:r>
              <a:t>I use regulate (transitive), data (uncountable) and agree with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both sides of the regulation debate and your view in 90 seconds.</a:t>
            </a:r>
          </a:p>
          <a:p>
            <a:r>
              <a:t>8–10 | Listen to your recording. Check: regulate transitive, data uncountable, agree with.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93 · Technology work buddies 科技工作伙伴</a:t>
            </a:r>
          </a:p>
          <a:p>
            <a:r>
              <a:t>Goal: talk about working alongside AI assistants, robots and software “colleagues”, and discuss benefits, limits and trust.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“buddy” 搭档(口语);“AI assistant” AI 助手。第 3 题用 can 问可能性。</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technology helps you at work and its limits.</a:t>
            </a:r>
          </a:p>
          <a:p>
            <a:r>
              <a:t>Say: the tool → what it does → benefits → limits.</a:t>
            </a:r>
          </a:p>
          <a:p>
            <a:r>
              <a:t>Useful starters: “I use… to…” / “It helps me…” / “However, it can’t…” / “I always check…”</a:t>
            </a:r>
          </a:p>
          <a:p>
            <a:r>
              <a:t>“help sb (to) + 动词原形”;“rely on” 依赖。</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workplaces now include digital helpers: chatbots answer customer questions, software drafts emails, robots move boxes in warehouses, and AI tools summarise meetings. These systems are fast, never get tired and can handle repetitive tasks, which frees people for work that needs judgement and empathy. However, they are not perfect. They can produce confident but wrong answers, reflect bias in the data they were trained on, and miss context. Experts recommend treating them like a new junior colleague: useful, but needing supervision. Check important outputs, protect confidential information, and be clear about who is responsible for the final decision. Employees may also worry about their jobs, so managers should explain how tools will be used and offer training. The best results usually come from humans and machines working together.</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digital helpers good at?</a:t>
            </a:r>
          </a:p>
          <a:p>
            <a:r>
              <a:t>A: Fast, never tired, repetitive tasks.</a:t>
            </a:r>
          </a:p>
          <a:p>
            <a:r>
              <a:t>Q2. What are their limits?</a:t>
            </a:r>
          </a:p>
          <a:p>
            <a:r>
              <a:t>A: Confident but wrong answers, bias from data, missing context.</a:t>
            </a:r>
          </a:p>
          <a:p>
            <a:r>
              <a:t>Q3. How should we treat them, according to experts?</a:t>
            </a:r>
          </a:p>
          <a:p>
            <a:r>
              <a:t>A: Like a new junior colleague: useful but needing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Tools 工具</a:t>
            </a:r>
          </a:p>
          <a:p>
            <a:r>
              <a:t>领读 → 学员跟读 → 请学员用表达造一个和自己工作相关的句子。</a:t>
            </a:r>
          </a:p>
          <a:p>
            <a:r>
              <a:t>AI assistant (noun) AI 助手 — “My AI assistant drafts emails.”</a:t>
            </a:r>
          </a:p>
          <a:p>
            <a:r>
              <a:t>chatbot (noun) 聊天机器人 — “A chatbot answers questions.”</a:t>
            </a:r>
          </a:p>
          <a:p>
            <a:r>
              <a:t>automate (verb) 自动化 — “We automated invoicing.”</a:t>
            </a:r>
          </a:p>
          <a:p>
            <a:r>
              <a:t>★ co-pilot (noun) 协作助手 — “AI works as my co-pilot.”</a:t>
            </a:r>
          </a:p>
          <a:p>
            <a:r>
              <a:t>★ robotic process automation (RPA) (noun) 流程自动化 — “RPA handles data entry.”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Benefits and limits 好处与局限</a:t>
            </a:r>
          </a:p>
          <a:p>
            <a:r>
              <a:t>领读 → 学员跟读 → 请学员用表达造一个和自己工作相关的句子。</a:t>
            </a:r>
          </a:p>
          <a:p>
            <a:r>
              <a:t>free up time (collocation) 腾出时间 — “It frees up time for strategy.”</a:t>
            </a:r>
          </a:p>
          <a:p>
            <a:r>
              <a:t>repetitive tasks (noun) 重复性任务 — “Robots do repetitive tasks.”</a:t>
            </a:r>
          </a:p>
          <a:p>
            <a:r>
              <a:t>accuracy (noun) 准确性 — “Check accuracy.”</a:t>
            </a:r>
          </a:p>
          <a:p>
            <a:r>
              <a:t>★ hallucinate (verb) (AI)编造信息 — “The AI hallucinated a source.”</a:t>
            </a:r>
          </a:p>
          <a:p>
            <a:r>
              <a:t>★ human in the loop (phrase) 人工参与 — “Keep a human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Working together 人机协作</a:t>
            </a:r>
          </a:p>
          <a:p>
            <a:r>
              <a:t>领读 → 学员跟读 → 请学员用表达造一个和自己工作相关的句子。</a:t>
            </a:r>
          </a:p>
          <a:p>
            <a:r>
              <a:t>rely on (verb phrase) 依赖 — “Don’t rely on it blindly.”</a:t>
            </a:r>
          </a:p>
          <a:p>
            <a:r>
              <a:t>oversight / supervision (noun) 监督 — “Tools need supervision.”</a:t>
            </a:r>
          </a:p>
          <a:p>
            <a:r>
              <a:t>confidential (adjective) 保密的 — “Don’t paste confidential data.”</a:t>
            </a:r>
          </a:p>
          <a:p>
            <a:r>
              <a:t>★ augment (verb) 增强 — “AI augments human work.”</a:t>
            </a:r>
          </a:p>
          <a:p>
            <a:r>
              <a:t>★ upskill (verb) 提升技能 — “We upskill staff to use new tools.”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assistant / chatbot / repetitive / accuracy / supervision / confidential</a:t>
            </a:r>
          </a:p>
          <a:p>
            <a:r>
              <a:t>1. My AI _______ drafts my emails. → assistant</a:t>
            </a:r>
          </a:p>
          <a:p>
            <a:r>
              <a:t>2. A _______ answers customers’ questions. → chatbot</a:t>
            </a:r>
          </a:p>
          <a:p>
            <a:r>
              <a:t>3. Robots do _______ tasks well. → repetitive</a:t>
            </a:r>
          </a:p>
          <a:p>
            <a:r>
              <a:t>4. Always check the _______ of the results. → accuracy</a:t>
            </a:r>
          </a:p>
          <a:p>
            <a:r>
              <a:t>5. These tools need human _______. → supervision</a:t>
            </a:r>
          </a:p>
          <a:p>
            <a:r>
              <a:t>6. Don’t paste _______ data into public tools. → confidential</a:t>
            </a:r>
          </a:p>
          <a:p>
            <a:r>
              <a:t>Mistake Watch: (搭配) rely ON,free up time,work alongside;software 不可数。</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how you use an AI tool 分享使用 AI 的方式</a:t>
            </a:r>
          </a:p>
          <a:p>
            <a:r>
              <a:t>情景：Colleagues compare notes.</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use an AI assistant to summarise meetings. It saves me an hour a day.</a:t>
            </a:r>
          </a:p>
          <a:p>
            <a:r>
              <a:t>B: Is it accurate?</a:t>
            </a:r>
          </a:p>
          <a:p>
            <a:r>
              <a:t>A: Mostly. But I always check important points.</a:t>
            </a:r>
          </a:p>
          <a:p>
            <a:r>
              <a:t>B: Does it handle confidential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don’t put sensitive details in. We have a company rule.</a:t>
            </a:r>
          </a:p>
          <a:p>
            <a:r>
              <a:t>B: Makes sense. I use it for first drafts.</a:t>
            </a:r>
          </a:p>
          <a:p>
            <a:r>
              <a:t>A: Same. It’s like a junior colleague. Useful, but needs checking.</a:t>
            </a:r>
          </a:p>
          <a:p>
            <a:r>
              <a:t>B: I like that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compare AI use.</a:t>
            </a:r>
          </a:p>
          <a:p>
            <a:r>
              <a:t>Your role (A) | Colleague.</a:t>
            </a:r>
          </a:p>
          <a:p>
            <a:r>
              <a:t>Partner’s role (B) | Colleague. Tool: ______________</a:t>
            </a:r>
          </a:p>
          <a:p>
            <a:r>
              <a:t>Must use (3 or more) | saves me an hour · accurate · confidential · first drafts · like a junior colleague</a:t>
            </a:r>
          </a:p>
          <a:p>
            <a:r>
              <a:t>Goal | Describe a tool, a benefit and a limit.</a:t>
            </a:r>
          </a:p>
          <a:p>
            <a:r>
              <a:t>My notes | ____________________________________________</a:t>
            </a:r>
          </a:p>
          <a:p>
            <a:r>
              <a:t>Mention a mistake it made.</a:t>
            </a:r>
          </a:p>
          <a:p>
            <a:r>
              <a:t>Mention a company rule.</a:t>
            </a:r>
          </a:p>
          <a:p>
            <a:r>
              <a:t>Suggest a training session.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job worries 回应对工作的担忧</a:t>
            </a:r>
          </a:p>
          <a:p>
            <a:r>
              <a:t>情景：A manager speaks to the team.</a:t>
            </a:r>
          </a:p>
          <a:p>
            <a:r>
              <a:t>Role A: Manager Role B: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We’re introducing an AI tool for routine reports.</a:t>
            </a:r>
          </a:p>
          <a:p>
            <a:r>
              <a:t>B: Will it replace our jobs?</a:t>
            </a:r>
          </a:p>
          <a:p>
            <a:r>
              <a:t>A: The aim is to free up your time for analysis, not to cut staff.</a:t>
            </a:r>
          </a:p>
          <a:p>
            <a:r>
              <a:t>B: Can we be sure?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can’t promise the future, but we’ll train everyone and review roles openly.</a:t>
            </a:r>
          </a:p>
          <a:p>
            <a:r>
              <a:t>B: That’s reassuring.</a:t>
            </a:r>
          </a:p>
          <a:p>
            <a:r>
              <a:t>A: We’ll also keep a human in the loop for important decisions.</a:t>
            </a:r>
          </a:p>
          <a:p>
            <a:r>
              <a:t>B: Thank you for being honest.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discuss AI at work.</a:t>
            </a:r>
          </a:p>
          <a:p>
            <a:r>
              <a:t>Your role (A) | Manager.</a:t>
            </a:r>
          </a:p>
          <a:p>
            <a:r>
              <a:t>Partner’s role (B) | Employee. Concern: ______________</a:t>
            </a:r>
          </a:p>
          <a:p>
            <a:r>
              <a:t>Must use (3 or more) | free up your time · replace · train · review openly · human in the loop</a:t>
            </a:r>
          </a:p>
          <a:p>
            <a:r>
              <a:t>Goal | Be honest, avoid false promises and explain support.</a:t>
            </a:r>
          </a:p>
          <a:p>
            <a:r>
              <a:t>My notes | ____________________________________________</a:t>
            </a:r>
          </a:p>
          <a:p>
            <a:r>
              <a:t>Describe a pilot.</a:t>
            </a:r>
          </a:p>
          <a:p>
            <a:r>
              <a:t>Ask for ideas.</a:t>
            </a:r>
          </a:p>
          <a:p>
            <a:r>
              <a:t>Set a feedback date.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tasks should never be automated? | “Tasks requiring…”</a:t>
            </a:r>
          </a:p>
          <a:p>
            <a:r>
              <a:t>2. Can AI be trusted? | “Only if…”</a:t>
            </a:r>
          </a:p>
          <a:p>
            <a:r>
              <a:t>3. Will AI change your job in five years? | “It might…”</a:t>
            </a:r>
          </a:p>
          <a:p>
            <a:r>
              <a:t>4. How should companies train staff? | “By…”</a:t>
            </a:r>
          </a:p>
          <a:p>
            <a:r>
              <a:t>5. Is working with AI more enjoyable? | “It depends…”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tasks that need empathy or ethical judgement shouldn’t be automated, such as giving bad news or deciding someone’s future. A tool can help prepare, but a person should make the final call. People want to feel that another human understands them.”</a:t>
            </a:r>
          </a:p>
          <a:p>
            <a:r>
              <a:t>“make the final call” 拍板;“ethical judgement” 道德判断。</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how a tool helps 解释工具如何帮忙</a:t>
            </a:r>
          </a:p>
          <a:p>
            <a:r>
              <a:t>Structure | Example</a:t>
            </a:r>
          </a:p>
          <a:p>
            <a:r>
              <a:t>It allows/enables sb to… | It allows me to summarise meetings quickly.</a:t>
            </a:r>
          </a:p>
          <a:p>
            <a:r>
              <a:t>It helps me + base | It helps me write faster.</a:t>
            </a:r>
          </a:p>
          <a:p>
            <a:r>
              <a:t>It works by + -ing | It works by analysing patterns.</a:t>
            </a:r>
          </a:p>
          <a:p>
            <a:r>
              <a:t>You can use it to + base | You can use it to draft emails.</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how a tool helps 解释工具如何帮忙</a:t>
            </a:r>
          </a:p>
          <a:p>
            <a:r>
              <a:t>After allow / enable, use object + to + base; after help, base or to + base.</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allows me summarise.  →  ✓ It allows me to summarise.  (allow sb to)</a:t>
            </a:r>
          </a:p>
          <a:p>
            <a:r>
              <a:t>✗ AI is helpful to save time.  →  ✓ AI helps (us) save time.  (help)</a:t>
            </a:r>
          </a:p>
          <a:p>
            <a:r>
              <a:t>✗ I rely in AI.  →  ✓ I rely on AI.  (rely on)</a:t>
            </a:r>
          </a:p>
          <a:p>
            <a:r>
              <a:t>Mistake Watch: Check allow sb to, rely on, uncountable software, adjectives.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software are useful.  →  ✓ The software is useful.  (不可数)</a:t>
            </a:r>
          </a:p>
          <a:p>
            <a:r>
              <a:t>✗ It is very convenience.  →  ✓ It is very convenient.  (形容词)</a:t>
            </a:r>
          </a:p>
          <a:p>
            <a:r>
              <a:t>✗ I afraid AI will replace me.  →  ✓ I’m afraid AI will replace me.  (be 动词)</a:t>
            </a:r>
          </a:p>
          <a:p>
            <a:r>
              <a:t>Mistake Watch: Check allow sb to, rely on, uncountable software, adjectives.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Know your company’s AI policy. Many firms set rules on data and tools.</a:t>
            </a:r>
          </a:p>
          <a:p>
            <a:r>
              <a:t>Disclose AI use where required.</a:t>
            </a:r>
          </a:p>
          <a:p>
            <a:r>
              <a:t>Keep it human. Personal messages often need a human touch.</a:t>
            </a:r>
          </a:p>
          <a:p>
            <a:r>
              <a:t>Fact-check. Treat AI output as a draft, not a final answer.</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AI and software helpers at work.</a:t>
            </a:r>
          </a:p>
          <a:p>
            <a:r>
              <a:t>I can explain benefits and limits.</a:t>
            </a:r>
          </a:p>
          <a:p>
            <a:r>
              <a:t>I can address job worries honestly.</a:t>
            </a:r>
          </a:p>
          <a:p>
            <a:r>
              <a:t>I use allow sb to, rely on and uncountable software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tool you use and its limits in 60 seconds.</a:t>
            </a:r>
          </a:p>
          <a:p>
            <a:r>
              <a:t>8–10 | Listen to your recording. Check: allow sb to, rely on, software uncountable.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94 · Living a digital nomad lifestyle 数字游民的生活方式</a:t>
            </a:r>
          </a:p>
          <a:p>
            <a:r>
              <a:t>Goal: talk about working remotely while travelling, with pros, cons, practicalities, and advice.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“digital nomad” 数字游民;“co-working space” 共享办公空间;“visa” 签证。第 1 题 “Would you like to” 愿望。</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the pros and cons of a digital nomad lifestyle.</a:t>
            </a:r>
          </a:p>
          <a:p>
            <a:r>
              <a:t>Say: what it is → advantages → challenges → your view.</a:t>
            </a:r>
          </a:p>
          <a:p>
            <a:r>
              <a:t>Useful starters: “A digital nomad is someone who…” / “The big advantage is…” / “On the downside, …” / “It’s best suited to…”</a:t>
            </a:r>
          </a:p>
          <a:p>
            <a:r>
              <a:t>“someone who + 动词” 定义;“suited to” 适合于。</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Digital nomads are people who work online while living in different places, often changing countries every few months. The attraction is freedom: they choose their surroundings, may reduce living costs, and meet new cultures. In practice, the lifestyle takes careful planning. Reliable internet is essential, as are time-zone overlaps with colleagues or clients. Visas and tax rules are complicated, and some countries now offer special visas for remote workers. Loneliness and lack of routine can also be problems, which is why many nomads use co-working spaces and local communities. Employers are divided: some embrace flexibility, others worry about security and legal issues. The lifestyle suits independent, organised people who are comfortable with uncertainty, but it is not for everyone. Anyone considering it should test the idea with a short trip before committing to a full-time change.</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attracts people to the lifestyle?</a:t>
            </a:r>
          </a:p>
          <a:p>
            <a:r>
              <a:t>A: Freedom to choose surroundings, lower living costs, new cultures.</a:t>
            </a:r>
          </a:p>
          <a:p>
            <a:r>
              <a:t>Q2. Name two practical challenges.</a:t>
            </a:r>
          </a:p>
          <a:p>
            <a:r>
              <a:t>A: Internet reliability, time zones, visas and tax rules, loneliness.</a:t>
            </a:r>
          </a:p>
          <a:p>
            <a:r>
              <a:t>Q3. Who is the lifestyle suited to?</a:t>
            </a:r>
          </a:p>
          <a:p>
            <a:r>
              <a:t>A: Independent, organised people comfortable with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Lifestyle 生活方式</a:t>
            </a:r>
          </a:p>
          <a:p>
            <a:r>
              <a:t>领读 → 学员跟读 → 请学员用表达造一个和自己工作相关的句子。</a:t>
            </a:r>
          </a:p>
          <a:p>
            <a:r>
              <a:t>digital nomad (noun) 数字游民 — “She’s a digital nomad.”</a:t>
            </a:r>
          </a:p>
          <a:p>
            <a:r>
              <a:t>work remotely (collocation) 远程工作 — “I work remotely from Bali.”</a:t>
            </a:r>
          </a:p>
          <a:p>
            <a:r>
              <a:t>location-independent (adjective) 不受地点限制的 — “A location-independent career.”</a:t>
            </a:r>
          </a:p>
          <a:p>
            <a:r>
              <a:t>★ workation (noun) 度假式办公 — “We took a workation.”</a:t>
            </a:r>
          </a:p>
          <a:p>
            <a:r>
              <a:t>★ slowmad (noun) 慢游民(长期驻留) — “A slowmad stays months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Practicalities 实际问题</a:t>
            </a:r>
          </a:p>
          <a:p>
            <a:r>
              <a:t>领读 → 学员跟读 → 请学员用表达造一个和自己工作相关的句子。</a:t>
            </a:r>
          </a:p>
          <a:p>
            <a:r>
              <a:t>co-working space (noun) 共享办公空间 — “I work from a co-working space.”</a:t>
            </a:r>
          </a:p>
          <a:p>
            <a:r>
              <a:t>time-zone overlap (noun) 时差重叠 — “We need a time-zone overlap.”</a:t>
            </a:r>
          </a:p>
          <a:p>
            <a:r>
              <a:t>digital nomad visa (noun) 数字游民签证 — “Some countries offer a nomad visa.”</a:t>
            </a:r>
          </a:p>
          <a:p>
            <a:r>
              <a:t>★ tax residency (noun) 税务居民身份 — “Tax residency is complex.”</a:t>
            </a:r>
          </a:p>
          <a:p>
            <a:r>
              <a:t>★ stable connectivity (noun) 稳定网络 — “Stable connectivity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Pros and cons 利弊</a:t>
            </a:r>
          </a:p>
          <a:p>
            <a:r>
              <a:t>领读 → 学员跟读 → 请学员用表达造一个和自己工作相关的句子。</a:t>
            </a:r>
          </a:p>
          <a:p>
            <a:r>
              <a:t>freedom and flexibility (noun) 自由与灵活 — “I value freedom and flexibility.”</a:t>
            </a:r>
          </a:p>
          <a:p>
            <a:r>
              <a:t>feel isolated (collocation) 感到孤立 — “Nomads can feel isolated.”</a:t>
            </a:r>
          </a:p>
          <a:p>
            <a:r>
              <a:t>work-life blur (noun) 工作生活界限模糊 — “Work-life blur is common.”</a:t>
            </a:r>
          </a:p>
          <a:p>
            <a:r>
              <a:t>★ burn out (phrasal verb) 精疲力竭 — “Some nomads burn out.”</a:t>
            </a:r>
          </a:p>
          <a:p>
            <a:r>
              <a:t>★ put down roots (idiom) 安顿下来 — “Eventually she wanted to put down roots.”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nomad / remotely / co-working / overlap / visa / isolated</a:t>
            </a:r>
          </a:p>
          <a:p>
            <a:r>
              <a:t>1. She works as a digital _______. → nomad</a:t>
            </a:r>
          </a:p>
          <a:p>
            <a:r>
              <a:t>2. He works _______ from Portugal. → remotely</a:t>
            </a:r>
          </a:p>
          <a:p>
            <a:r>
              <a:t>3. I rent a desk in a _______ space. → co-working</a:t>
            </a:r>
          </a:p>
          <a:p>
            <a:r>
              <a:t>4. We need a time-zone _______. → overlap</a:t>
            </a:r>
          </a:p>
          <a:p>
            <a:r>
              <a:t>5. Some countries offer a special _______. → visa</a:t>
            </a:r>
          </a:p>
          <a:p>
            <a:r>
              <a:t>6. Nomads can feel _______ at times. → isolated</a:t>
            </a:r>
          </a:p>
          <a:p>
            <a:r>
              <a:t>Mistake Watch: (搭配) work remotely(不加 from remote),a nomad visa,feel isolated;co-working 带连字符。</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to a friend about the lifestyle 与朋友聊这种生活</a:t>
            </a:r>
          </a:p>
          <a:p>
            <a:r>
              <a:t>情景：A casual chat.</a:t>
            </a:r>
          </a:p>
          <a:p>
            <a:r>
              <a:t>Role A: Friend Role B: Nomad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 you work from a different country every few months?</a:t>
            </a:r>
          </a:p>
          <a:p>
            <a:r>
              <a:t>B: Yes. I’m in Lisbon now. I work remotely for a software company.</a:t>
            </a:r>
          </a:p>
          <a:p>
            <a:r>
              <a:t>A: What’s the best part?</a:t>
            </a:r>
          </a:p>
          <a:p>
            <a:r>
              <a:t>B: The freedom, and meeting people from everywhere.</a:t>
            </a:r>
          </a:p>
          <a:p>
            <a:r>
              <a:t>A: And the downside?</a:t>
            </a:r>
          </a:p>
          <a:p>
            <a:r>
              <a:t>B: Loneliness sometimes, and time differences with my team.</a:t>
            </a:r>
          </a:p>
          <a:p>
            <a:r>
              <a:t>A: How do you cope?</a:t>
            </a:r>
          </a:p>
          <a:p>
            <a:r>
              <a:t>B: I use a co-working space and keep a regular routine.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describe a nomad lifestyle.</a:t>
            </a:r>
          </a:p>
          <a:p>
            <a:r>
              <a:t>Your role (A) | Friend.</a:t>
            </a:r>
          </a:p>
          <a:p>
            <a:r>
              <a:t>Partner’s role (B) | Nomad. Place: ______________</a:t>
            </a:r>
          </a:p>
          <a:p>
            <a:r>
              <a:t>Must use (3 or more) | work remotely · the best part · downside · co-working space · routine</a:t>
            </a:r>
          </a:p>
          <a:p>
            <a:r>
              <a:t>Goal | Ask and answer about benefits and challenges.</a:t>
            </a:r>
          </a:p>
          <a:p>
            <a:r>
              <a:t>My notes | ____________________________________________</a:t>
            </a:r>
          </a:p>
          <a:p>
            <a:r>
              <a:t>Talk about costs.</a:t>
            </a:r>
          </a:p>
          <a:p>
            <a:r>
              <a:t>Mention visas.</a:t>
            </a:r>
          </a:p>
          <a:p>
            <a:r>
              <a:t>Say whether you’d do it.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Negotiating remote work abroad 就海外远程办公协商</a:t>
            </a:r>
          </a:p>
          <a:p>
            <a:r>
              <a:t>情景：You ask your manager.</a:t>
            </a:r>
          </a:p>
          <a:p>
            <a:r>
              <a:t>Role A: Employee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ask about working remotely from abroad for two months.</a:t>
            </a:r>
          </a:p>
          <a:p>
            <a:r>
              <a:t>B: Which country, and why?</a:t>
            </a:r>
          </a:p>
          <a:p>
            <a:r>
              <a:t>A: Spain. My partner has a project there. I’d keep the same working hours.</a:t>
            </a:r>
          </a:p>
          <a:p>
            <a:r>
              <a:t>B: Our concern is tax and security. We’d need to check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understand. I’ll research the visa and use a secure VPN.</a:t>
            </a:r>
          </a:p>
          <a:p>
            <a:r>
              <a:t>B: And your time zone?</a:t>
            </a:r>
          </a:p>
          <a:p>
            <a:r>
              <a:t>A: Only one hour ahead, so there’s full overlap.</a:t>
            </a:r>
          </a:p>
          <a:p>
            <a:r>
              <a:t>B: Let me check with HR and come back to you.</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request remote work abroad.</a:t>
            </a:r>
          </a:p>
          <a:p>
            <a:r>
              <a:t>Your role (A) | Employee. Country: ______________</a:t>
            </a:r>
          </a:p>
          <a:p>
            <a:r>
              <a:t>Partner’s role (B) | Manager.</a:t>
            </a:r>
          </a:p>
          <a:p>
            <a:r>
              <a:t>Must use (3 or more) | working remotely from abroad · time-zone · tax · security · come back to you</a:t>
            </a:r>
          </a:p>
          <a:p>
            <a:r>
              <a:t>Goal | Make a request, address concerns and agree next steps.</a:t>
            </a:r>
          </a:p>
          <a:p>
            <a:r>
              <a:t>My notes | ____________________________________________</a:t>
            </a:r>
          </a:p>
          <a:p>
            <a:r>
              <a:t>Offer a trial period.</a:t>
            </a:r>
          </a:p>
          <a:p>
            <a:r>
              <a:t>Provide a written plan.</a:t>
            </a:r>
          </a:p>
          <a:p>
            <a:r>
              <a:t>Accept possible “no”.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work as a digital nomad? | “I might, if…”</a:t>
            </a:r>
          </a:p>
          <a:p>
            <a:r>
              <a:t>2. What are the risks for employers? | “They worry about…”</a:t>
            </a:r>
          </a:p>
          <a:p>
            <a:r>
              <a:t>3. How can nomads stay productive? | “By…”</a:t>
            </a:r>
          </a:p>
          <a:p>
            <a:r>
              <a:t>4. Does remote work benefit local communities? | “It can, but…”</a:t>
            </a:r>
          </a:p>
          <a:p>
            <a:r>
              <a:t>5. What skills do nomads need? | “Self-discipline…”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might try it for a few months, but not long-term. I like the idea of experiencing new places while working, but I value routines and being close to family. A trial period would help me find out if it suits me. I’d also need a stable job with a supportive employer.”</a:t>
            </a:r>
          </a:p>
          <a:p>
            <a:r>
              <a:t>“find out if” 弄清楚是否;“suits me” 适合我。</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Pros, cons and suitability 利弊与适合度</a:t>
            </a:r>
          </a:p>
          <a:p>
            <a:r>
              <a:t>Structure | Example</a:t>
            </a:r>
          </a:p>
          <a:p>
            <a:r>
              <a:t>The big advantage is… | The big advantage is freedom.</a:t>
            </a:r>
          </a:p>
          <a:p>
            <a:r>
              <a:t>On the downside, … | On the downside, it can be lonely.</a:t>
            </a:r>
          </a:p>
          <a:p>
            <a:r>
              <a:t>It’s best suited to… | It’s best suited to independent people.</a:t>
            </a:r>
          </a:p>
          <a:p>
            <a:r>
              <a:t>It depends on whether… | It depends on whether your employer agrees.</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Pros, cons and suitability 利弊与适合度</a:t>
            </a:r>
          </a:p>
          <a:p>
            <a:r>
              <a:t>Suited to / suitable for: It’s suited to people who… / It’s suitable for freelancers.</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work from remote.  →  ✓ I work remotely.  (remotely)</a:t>
            </a:r>
          </a:p>
          <a:p>
            <a:r>
              <a:t>✗ I am digital nomad.  →  ✓ I’m a digital nomad.  (a)</a:t>
            </a:r>
          </a:p>
          <a:p>
            <a:r>
              <a:t>✗ The lifestyle is suitable to me.  →  ✓ The lifestyle suits me. / is suitable for me.  (suit/suitable for)</a:t>
            </a:r>
          </a:p>
          <a:p>
            <a:r>
              <a:t>Mistake Watch: Check remotely, articles, suit vs suitable for, travel to.</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travelled many countries.  →  ✓ I’ve travelled to many countries.  (travel to)</a:t>
            </a:r>
          </a:p>
          <a:p>
            <a:r>
              <a:t>✗ I want to know the visa.  →  ✓ I want to find out about the visa.  (find out about)</a:t>
            </a:r>
          </a:p>
          <a:p>
            <a:r>
              <a:t>✗ I feel lonely, so I joining a community.  →  ✓ …so I joined / I join a community.  (动词形式)</a:t>
            </a:r>
          </a:p>
          <a:p>
            <a:r>
              <a:t>Mistake Watch: Check remotely, articles, suit vs suitable for, travel to.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Tell your employer. Working abroad without permission can have tax and legal consequences.</a:t>
            </a:r>
          </a:p>
          <a:p>
            <a:r>
              <a:t>Check local rules. Visa and tax rules vary.</a:t>
            </a:r>
          </a:p>
          <a:p>
            <a:r>
              <a:t>Respect local communities. Be aware of the impact on housing and prices.</a:t>
            </a:r>
          </a:p>
          <a:p>
            <a:r>
              <a:t>Time-zone etiquette. Offer overlap hours.</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the digital nomad lifestyle.</a:t>
            </a:r>
          </a:p>
          <a:p>
            <a:r>
              <a:t>I can discuss pros and cons using the big advantage / on the downside.</a:t>
            </a:r>
          </a:p>
          <a:p>
            <a:r>
              <a:t>I can ask my manager about remote work abroad.</a:t>
            </a:r>
          </a:p>
          <a:p>
            <a:r>
              <a:t>I use remotely, suit/suitable for and travel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Plan a remote-work trip and present it in 90 seconds.</a:t>
            </a:r>
          </a:p>
          <a:p>
            <a:r>
              <a:t>8–10 | Listen to your recording. Check: remotely, suit vs suitable for, travel to.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95 · Going cashless? 走向无现金社会?</a:t>
            </a:r>
          </a:p>
          <a:p>
            <a:r>
              <a:t>Goal: discuss cashless payments, their benefits and risks, and explain preferences with reasons.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“cashless” 无现金的;“contactless” 非接触式;“digital wallet” 电子钱包。注意各国普及程度不同。</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opinion on a cashless society.</a:t>
            </a:r>
          </a:p>
          <a:p>
            <a:r>
              <a:t>Say: benefits → risks → who’s affected → your view.</a:t>
            </a:r>
          </a:p>
          <a:p>
            <a:r>
              <a:t>Useful starters: “The main benefit is…” / “However, … could be left out” / “One concern is…” / “I believe we should keep…”</a:t>
            </a:r>
          </a:p>
          <a:p>
            <a:r>
              <a:t>“be left out” 被排除在外。</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many places, cash use has fallen as cards, phone payments and QR codes have become faster and more convenient. Cashless payments reduce queues, make accounting easier for businesses and can lower the risk of theft. However, going completely cashless raises concerns. Older people, tourists, people without bank accounts, and those on low incomes may be left out. Power cuts or network failures can stop payments entirely. Privacy is another issue, because digital payments leave a record. Some governments have therefore required shops to accept cash, and others support digital inclusion through simple payment options. Most experts suggest that a mixed system, in which digital payments grow but cash remains available, is the safest and fairest approach for the near future.</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Name two benefits of cashless payments.</a:t>
            </a:r>
          </a:p>
          <a:p>
            <a:r>
              <a:t>A: Fewer queues, easier accounting, lower theft risk.</a:t>
            </a:r>
          </a:p>
          <a:p>
            <a:r>
              <a:t>Q2. Who may be left out?</a:t>
            </a:r>
          </a:p>
          <a:p>
            <a:r>
              <a:t>A: Older people, tourists, people without bank accounts, people on low incomes.</a:t>
            </a:r>
          </a:p>
          <a:p>
            <a:r>
              <a:t>Q3. What do experts suggest?</a:t>
            </a:r>
          </a:p>
          <a:p>
            <a:r>
              <a:t>A: A mixed system where digital grows but cash remains available.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Payments 支付方式</a:t>
            </a:r>
          </a:p>
          <a:p>
            <a:r>
              <a:t>领读 → 学员跟读 → 请学员用表达造一个和自己工作相关的句子。</a:t>
            </a:r>
          </a:p>
          <a:p>
            <a:r>
              <a:t>cashless / contactless (adjective) 无现金/非接触的 — “A cashless café.”</a:t>
            </a:r>
          </a:p>
          <a:p>
            <a:r>
              <a:t>digital wallet (noun) 电子钱包 — “Pay with a digital wallet.”</a:t>
            </a:r>
          </a:p>
          <a:p>
            <a:r>
              <a:t>QR code payment (noun) 二维码支付 — “QR code payments are common.”</a:t>
            </a:r>
          </a:p>
          <a:p>
            <a:r>
              <a:t>★ tap to pay (phrase) 轻触支付 — “Tap to pay is quick.”</a:t>
            </a:r>
          </a:p>
          <a:p>
            <a:r>
              <a:t>★ peer-to-peer payment (noun) 点对点转账 — “Peer-to-peer apps split bills.”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Benefits and risks 利弊</a:t>
            </a:r>
          </a:p>
          <a:p>
            <a:r>
              <a:t>领读 → 学员跟读 → 请学员用表达造一个和自己工作相关的句子。</a:t>
            </a:r>
          </a:p>
          <a:p>
            <a:r>
              <a:t>convenient / hassle-free (adjective) 方便的 — “It’s hassle-free.”</a:t>
            </a:r>
          </a:p>
          <a:p>
            <a:r>
              <a:t>fraud (noun) 欺诈 — “Fraud is a risk.”</a:t>
            </a:r>
          </a:p>
          <a:p>
            <a:r>
              <a:t>digital divide (noun) 数字鸿沟 — “The digital divide excludes some.”</a:t>
            </a:r>
          </a:p>
          <a:p>
            <a:r>
              <a:t>★ financial inclusion (noun) 金融普惠 — “Financial inclusion matters.”</a:t>
            </a:r>
          </a:p>
          <a:p>
            <a:r>
              <a:t>★ single point of failure (phrase) 单点故障 — “A network outage is a single point of failure.”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Policy 政策</a:t>
            </a:r>
          </a:p>
          <a:p>
            <a:r>
              <a:t>领读 → 学员跟读 → 请学员用表达造一个和自己工作相关的句子。</a:t>
            </a:r>
          </a:p>
          <a:p>
            <a:r>
              <a:t>legal tender (noun) 法定货币 — “Cash is legal tender.”</a:t>
            </a:r>
          </a:p>
          <a:p>
            <a:r>
              <a:t>accept cash (collocation) 接受现金 — “Shops must accept cash.”</a:t>
            </a:r>
          </a:p>
          <a:p>
            <a:r>
              <a:t>transaction fee (noun) 交易手续费 — “Transaction fees add up.”</a:t>
            </a:r>
          </a:p>
          <a:p>
            <a:r>
              <a:t>★ digital footprint (noun) 数字足迹 — “Payments leave a digital footprint.”</a:t>
            </a:r>
          </a:p>
          <a:p>
            <a:r>
              <a:t>★ mixed system (noun) 混合体系 — “A mixed system is safer.”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cashless / wallet / fraud / divide / tender / fee</a:t>
            </a:r>
          </a:p>
          <a:p>
            <a:r>
              <a:t>1. The café has gone completely _______. → cashless</a:t>
            </a:r>
          </a:p>
          <a:p>
            <a:r>
              <a:t>2. I pay with my digital _______. → wallet</a:t>
            </a:r>
          </a:p>
          <a:p>
            <a:r>
              <a:t>3. _______ is a risk with online payments. → Fraud</a:t>
            </a:r>
          </a:p>
          <a:p>
            <a:r>
              <a:t>4. The digital _______ excludes some people. → divide</a:t>
            </a:r>
          </a:p>
          <a:p>
            <a:r>
              <a:t>5. Cash is legal _______. → tender</a:t>
            </a:r>
          </a:p>
          <a:p>
            <a:r>
              <a:t>6. Each transaction has a small _______. → fee</a:t>
            </a:r>
          </a:p>
          <a:p>
            <a:r>
              <a:t>Mistake Watch: (搭配) pay by card / in cash / by phone,accept cash,go cashless;cash 不可数。</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Paying at a shop 在店里付款</a:t>
            </a:r>
          </a:p>
          <a:p>
            <a:r>
              <a:t>情景：A short exchange.</a:t>
            </a:r>
          </a:p>
          <a:p>
            <a:r>
              <a:t>Role A: Customer Role B: Shop assistant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I pay by card?</a:t>
            </a:r>
          </a:p>
          <a:p>
            <a:r>
              <a:t>B: Of course. Or you can tap your phone.</a:t>
            </a:r>
          </a:p>
          <a:p>
            <a:r>
              <a:t>A: Do you accept cash too?</a:t>
            </a:r>
          </a:p>
          <a:p>
            <a:r>
              <a:t>B: Yes, but we encourage card payments. They’re quicker.</a:t>
            </a:r>
          </a:p>
          <a:p>
            <a:r>
              <a:t>A: I carry a bit of cash just in case.</a:t>
            </a:r>
          </a:p>
          <a:p>
            <a:r>
              <a:t>B: That’s wise. Network outages happen.</a:t>
            </a:r>
          </a:p>
          <a:p>
            <a:r>
              <a:t>A: Could I have a receipt?</a:t>
            </a:r>
          </a:p>
          <a:p>
            <a:r>
              <a:t>B: Sure. Here you are.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pay in a shop.</a:t>
            </a:r>
          </a:p>
          <a:p>
            <a:r>
              <a:t>Your role (A) | Customer.</a:t>
            </a:r>
          </a:p>
          <a:p>
            <a:r>
              <a:t>Partner’s role (B) | Shop assistant. Item: ______________</a:t>
            </a:r>
          </a:p>
          <a:p>
            <a:r>
              <a:t>Must use (3 or more) | pay by card · tap your phone · accept cash · just in case · receipt</a:t>
            </a:r>
          </a:p>
          <a:p>
            <a:r>
              <a:t>Goal | Ask about payment and handle a small problem.</a:t>
            </a:r>
          </a:p>
          <a:p>
            <a:r>
              <a:t>My notes | ____________________________________________</a:t>
            </a:r>
          </a:p>
          <a:p>
            <a:r>
              <a:t>Card declined.</a:t>
            </a:r>
          </a:p>
          <a:p>
            <a:r>
              <a:t>Split the bill.</a:t>
            </a:r>
          </a:p>
          <a:p>
            <a:r>
              <a:t>Ask for a refund.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Debating cashless society 辩论无现金社会</a:t>
            </a:r>
          </a:p>
          <a:p>
            <a:r>
              <a:t>情景：A panel discussion.</a:t>
            </a:r>
          </a:p>
          <a:p>
            <a:r>
              <a:t>Role A: Supporter Role B: Sceptic</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Cashless payments are convenient and reduce theft.</a:t>
            </a:r>
          </a:p>
          <a:p>
            <a:r>
              <a:t>B: True, but they can leave older people and low-income groups out.</a:t>
            </a:r>
          </a:p>
          <a:p>
            <a:r>
              <a:t>A: How could we include them?</a:t>
            </a:r>
          </a:p>
          <a:p>
            <a:r>
              <a:t>B: By requiring shops to accept cash, and offering simple payment tools.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Privacy is another issue.</a:t>
            </a:r>
          </a:p>
          <a:p>
            <a:r>
              <a:t>B: Right. Digital payments leave a footprint.</a:t>
            </a:r>
          </a:p>
          <a:p>
            <a:r>
              <a:t>A: So a mixed system might be best.</a:t>
            </a:r>
          </a:p>
          <a:p>
            <a:r>
              <a:t>B: I agree.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debate going cashless.</a:t>
            </a:r>
          </a:p>
          <a:p>
            <a:r>
              <a:t>Your role (A) | Supporter.</a:t>
            </a:r>
          </a:p>
          <a:p>
            <a:r>
              <a:t>Partner’s role (B) | Sceptic. Country: ______________</a:t>
            </a:r>
          </a:p>
          <a:p>
            <a:r>
              <a:t>Must use (3 or more) | convenient · left out · mixed system · footprint · I agree</a:t>
            </a:r>
          </a:p>
          <a:p>
            <a:r>
              <a:t>Goal | Present benefits, risks and a compromise.</a:t>
            </a:r>
          </a:p>
          <a:p>
            <a:r>
              <a:t>My notes | ____________________________________________</a:t>
            </a:r>
          </a:p>
          <a:p>
            <a:r>
              <a:t>Mention a power cut.</a:t>
            </a:r>
          </a:p>
          <a:p>
            <a:r>
              <a:t>Mention tourists.</a:t>
            </a:r>
          </a:p>
          <a:p>
            <a:r>
              <a:t>Suggest a policy.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cash or cards? | “I prefer… because…”</a:t>
            </a:r>
          </a:p>
          <a:p>
            <a:r>
              <a:t>2. Should shops be forced to accept cash? | “I think so, because…”</a:t>
            </a:r>
          </a:p>
          <a:p>
            <a:r>
              <a:t>3. What are the risks of digital payments? | “One risk is…”</a:t>
            </a:r>
          </a:p>
          <a:p>
            <a:r>
              <a:t>4. Will cash disappear? | “Not entirely, since…”</a:t>
            </a:r>
          </a:p>
          <a:p>
            <a:r>
              <a:t>5. How can we help people left behind? | “By…”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shops should accept cash, at least in places where many people still use it. Otherwise, some people can’t buy basic goods. It’s also a matter of choice: customers should decide how to pay. A mixed system is fairer and more resilient during outages.”</a:t>
            </a:r>
          </a:p>
          <a:p>
            <a:r>
              <a:t>“a matter of choice” 选择问题;“resilient” 有韧性的。</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preferences and reasons 表达偏好与理由</a:t>
            </a:r>
          </a:p>
          <a:p>
            <a:r>
              <a:t>Structure | Example</a:t>
            </a:r>
          </a:p>
          <a:p>
            <a:r>
              <a:t>I prefer A to B | I prefer cards to cash.</a:t>
            </a:r>
          </a:p>
          <a:p>
            <a:r>
              <a:t>I’d rather + base | I’d rather pay by phone.</a:t>
            </a:r>
          </a:p>
          <a:p>
            <a:r>
              <a:t>because / since / as | I use cash because it’s private.</a:t>
            </a:r>
          </a:p>
          <a:p>
            <a:r>
              <a:t>That’s why… | That’s why I carry some cash.</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preferences and reasons 表达偏好与理由</a:t>
            </a:r>
          </a:p>
          <a:p>
            <a:r>
              <a:t>Prefer + -ing to + -ing: I prefer paying by card to paying cash.</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pay by the card.  →  ✓ I pay by card.  (by card 无冠词)</a:t>
            </a:r>
          </a:p>
          <a:p>
            <a:r>
              <a:t>✗ I pay with cash.  →  ✓ I pay in cash.  (in cash)</a:t>
            </a:r>
          </a:p>
          <a:p>
            <a:r>
              <a:t>✗ Cashless is convenience.  →  ✓ Cashless payment is convenient.  (形容词)</a:t>
            </a:r>
          </a:p>
          <a:p>
            <a:r>
              <a:t>Mistake Watch: Check by card / in cash, uncountable money / cash, prefer… to, accept (transitive).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Money are important.  →  ✓ Money is important.  (不可数)</a:t>
            </a:r>
          </a:p>
          <a:p>
            <a:r>
              <a:t>✗ I prefer paying by card than cash.  →  ✓ I prefer paying by card to paying in cash.  (prefer… to)</a:t>
            </a:r>
          </a:p>
          <a:p>
            <a:r>
              <a:t>✗ The shop doesn’t accept for cash.  →  ✓ The shop doesn’t accept cash.  (accept 及物)</a:t>
            </a:r>
          </a:p>
          <a:p>
            <a:r>
              <a:t>Mistake Watch: Check by card / in cash, uncountable money / cash, prefer… to, accept (transitive).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Habits differ. Mobile payments dominate in some countries; cards in others.</a:t>
            </a:r>
          </a:p>
          <a:p>
            <a:r>
              <a:t>Tipping. In some countries, tips are expected even for card payments.</a:t>
            </a:r>
          </a:p>
          <a:p>
            <a:r>
              <a:t>Carry some cash when travelling. Not every place takes cards.</a:t>
            </a:r>
          </a:p>
          <a:p>
            <a:r>
              <a:t>Ask politely. “Do you take cards?” is a common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payment methods naturally.</a:t>
            </a:r>
          </a:p>
          <a:p>
            <a:r>
              <a:t>I can discuss benefits and risks of cashless payments.</a:t>
            </a:r>
          </a:p>
          <a:p>
            <a:r>
              <a:t>I can state preferences with reasons.</a:t>
            </a:r>
          </a:p>
          <a:p>
            <a:r>
              <a:t>I use by card / in cash, uncountable cash and prefer…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your view on cash vs cards in 60 seconds.</a:t>
            </a:r>
          </a:p>
          <a:p>
            <a:r>
              <a:t>8–10 | Listen to your recording. Check: by card, in cash, prefer to, accept transitive.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96 · NFTs: It’s so hot right now! NFT 现在火爆!</a:t>
            </a:r>
          </a:p>
          <a:p>
            <a:r>
              <a:t>Goal: explain what NFTs are in simple terms, discuss the hype, risks and uses, and give a cautious opinion.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NFT = non-fungible token(非同质化代币)。本课偏重概念与风险,不构成投资建议。“hot right now” 现在很火。</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what an NFT is and give your opinion.</a:t>
            </a:r>
          </a:p>
          <a:p>
            <a:r>
              <a:t>Say: what it is → why people buy → risks → your view.</a:t>
            </a:r>
          </a:p>
          <a:p>
            <a:r>
              <a:t>Useful starters: “An NFT is a digital record that…” / “People buy them because…” / “The risk is that…” / “Personally, I’d…”</a:t>
            </a:r>
          </a:p>
          <a:p>
            <a:r>
              <a:t>“non-fungible” 不可互换的。“a digital record” 数字记录。</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An NFT, or non-fungible token, is a digital record, stored on a blockchain, that shows who owns a particular digital item such as an image, a video or a ticket. Unlike a coin, each token is unique. Supporters say it allows artists and creators to sell digital work directly and earn money when it is resold. Collectors may buy for enjoyment, community membership or the hope that the price will rise. Prices have been very volatile, however, and many items have lost value after periods of excitement. Critics also note issues such as scams, copyright confusion and energy use in some systems. A sensible approach is to treat NFTs as a speculative area: learn how they work, never invest more than you can afford to lose, and be careful with offers that promise quick profits.</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does an NFT show?</a:t>
            </a:r>
          </a:p>
          <a:p>
            <a:r>
              <a:t>A: Who owns a particular digital item.</a:t>
            </a:r>
          </a:p>
          <a:p>
            <a:r>
              <a:t>Q2. Why do some people buy NFTs?</a:t>
            </a:r>
          </a:p>
          <a:p>
            <a:r>
              <a:t>A: Enjoyment, community membership, or hoping the price will rise.</a:t>
            </a:r>
          </a:p>
          <a:p>
            <a:r>
              <a:t>Q3. What is the sensible approach?</a:t>
            </a:r>
          </a:p>
          <a:p>
            <a:r>
              <a:t>A: Treat as speculative; learn how they work; invest only what you can afford to lose; be careful with quick-profit offers.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NFT basics 基础概念</a:t>
            </a:r>
          </a:p>
          <a:p>
            <a:r>
              <a:t>领读 → 学员跟读 → 请学员用表达造一个和自己工作相关的句子。</a:t>
            </a:r>
          </a:p>
          <a:p>
            <a:r>
              <a:t>NFT (non-fungible token) (noun) 非同质化代币 — “She sold an NFT.”</a:t>
            </a:r>
          </a:p>
          <a:p>
            <a:r>
              <a:t>blockchain (noun) 区块链 — “Ownership is stored on a blockchain.”</a:t>
            </a:r>
          </a:p>
          <a:p>
            <a:r>
              <a:t>digital collectible (noun) 数字藏品 — “He collects digital collectibles.”</a:t>
            </a:r>
          </a:p>
          <a:p>
            <a:r>
              <a:t>★ mint (verb) 铸造(NFT) — “She minted a series of NFTs.”</a:t>
            </a:r>
          </a:p>
          <a:p>
            <a:r>
              <a:t>★ smart contract (noun) 智能合约 — “A smart contract pays royalties.”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Market 市场</a:t>
            </a:r>
          </a:p>
          <a:p>
            <a:r>
              <a:t>领读 → 学员跟读 → 请学员用表达造一个和自己工作相关的句子。</a:t>
            </a:r>
          </a:p>
          <a:p>
            <a:r>
              <a:t>volatile (adjective) 波动大的 — “Prices are volatile.”</a:t>
            </a:r>
          </a:p>
          <a:p>
            <a:r>
              <a:t>speculative (adjective) 投机的 — “It’s a speculative market.”</a:t>
            </a:r>
          </a:p>
          <a:p>
            <a:r>
              <a:t>resale (noun) 转售 — “Artists earn from resale.”</a:t>
            </a:r>
          </a:p>
          <a:p>
            <a:r>
              <a:t>★ hype cycle (noun) 炒作周期 — “It followed a hype cycle.”</a:t>
            </a:r>
          </a:p>
          <a:p>
            <a:r>
              <a:t>★ FOMO (fear of missing out) (noun) 错失恐惧 — “FOMO drove buyers.”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Risks 风险</a:t>
            </a:r>
          </a:p>
          <a:p>
            <a:r>
              <a:t>领读 → 学员跟读 → 请学员用表达造一个和自己工作相关的句子。</a:t>
            </a:r>
          </a:p>
          <a:p>
            <a:r>
              <a:t>scam (noun) 骗局 — “Beware of scams.”</a:t>
            </a:r>
          </a:p>
          <a:p>
            <a:r>
              <a:t>copyright (noun) 版权 — “Copyright can be unclear.”</a:t>
            </a:r>
          </a:p>
          <a:p>
            <a:r>
              <a:t>lose value (collocation) 贬值 — “Many items lost value.”</a:t>
            </a:r>
          </a:p>
          <a:p>
            <a:r>
              <a:t>★ get rich quick (phrase) 一夜暴富 — “Avoid get-rich-quick schemes.”</a:t>
            </a:r>
          </a:p>
          <a:p>
            <a:r>
              <a:t>★ it’s too good to be true (idiom) 好得难以置信 — “If it sounds too good to be true, it probably is.”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blockchain / collectible / volatile / speculative / scam / copyright</a:t>
            </a:r>
          </a:p>
          <a:p>
            <a:r>
              <a:t>1. Ownership is recorded on a _______. → blockchain</a:t>
            </a:r>
          </a:p>
          <a:p>
            <a:r>
              <a:t>2. He collects digital _______. → collectibles</a:t>
            </a:r>
          </a:p>
          <a:p>
            <a:r>
              <a:t>3. Prices in this market are very _______. → volatile</a:t>
            </a:r>
          </a:p>
          <a:p>
            <a:r>
              <a:t>4. It’s a _______ investment. → speculative</a:t>
            </a:r>
          </a:p>
          <a:p>
            <a:r>
              <a:t>5. Be careful of every _______. → scam</a:t>
            </a:r>
          </a:p>
          <a:p>
            <a:r>
              <a:t>6. Artists worry about _______ issues. → copyright</a:t>
            </a:r>
          </a:p>
          <a:p>
            <a:r>
              <a:t>Mistake Watch: (搭配) lose value,mint an NFT,invest IN;NFT 读字母 “en-eff-tee”;“blockchain” 一个词。</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NFTs to a colleague 向同事解释 NFT</a:t>
            </a:r>
          </a:p>
          <a:p>
            <a:r>
              <a:t>情景：A casual chat.</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Everyone’s talking about NFTs. What actually are they?</a:t>
            </a:r>
          </a:p>
          <a:p>
            <a:r>
              <a:t>B: An NFT is a digital record on a blockchain that shows who owns a unique item.</a:t>
            </a:r>
          </a:p>
          <a:p>
            <a:r>
              <a:t>A: So people buy images?</a:t>
            </a:r>
          </a:p>
          <a:p>
            <a:r>
              <a:t>B: Often, yes, or videos, music or tickets. Some buy for enjoyment, others to resell.</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Is it a good investment?</a:t>
            </a:r>
          </a:p>
          <a:p>
            <a:r>
              <a:t>B: It’s very speculative. Prices are volatile and scams exist.</a:t>
            </a:r>
          </a:p>
          <a:p>
            <a:r>
              <a:t>A: Would you buy one?</a:t>
            </a:r>
          </a:p>
          <a:p>
            <a:r>
              <a:t>B: Maybe a small amount for fun. Never more than I can afford to lose.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explain NFTs.</a:t>
            </a:r>
          </a:p>
          <a:p>
            <a:r>
              <a:t>Your role (A) | Curious colleague.</a:t>
            </a:r>
          </a:p>
          <a:p>
            <a:r>
              <a:t>Partner’s role (B) | Explainer. Opinion: ______________</a:t>
            </a:r>
          </a:p>
          <a:p>
            <a:r>
              <a:t>Must use (3 or more) | digital record · blockchain · speculative · volatile · afford to lose</a:t>
            </a:r>
          </a:p>
          <a:p>
            <a:r>
              <a:t>Goal | Explain simply and give a cautious view.</a:t>
            </a:r>
          </a:p>
          <a:p>
            <a:r>
              <a:t>My notes | ____________________________________________</a:t>
            </a:r>
          </a:p>
          <a:p>
            <a:r>
              <a:t>Add a use besides art.</a:t>
            </a:r>
          </a:p>
          <a:p>
            <a:r>
              <a:t>Mention copyright.</a:t>
            </a:r>
          </a:p>
          <a:p>
            <a:r>
              <a:t>Warn about scams.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Evaluating an offer 评估一个提议</a:t>
            </a:r>
          </a:p>
          <a:p>
            <a:r>
              <a:t>情景：A friend urges you to buy.</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This NFT is about to go up. You should buy now!</a:t>
            </a:r>
          </a:p>
          <a:p>
            <a:r>
              <a:t>B: Who says so?</a:t>
            </a:r>
          </a:p>
          <a:p>
            <a:r>
              <a:t>A: People in the group chat. It’s hot right now.</a:t>
            </a:r>
          </a:p>
          <a:p>
            <a:r>
              <a:t>B: That sounds like hype. If it’s too good to be true, it probably is.</a:t>
            </a:r>
          </a:p>
          <a:p>
            <a:r>
              <a:t>A: But I don’t want to miss out.</a:t>
            </a:r>
          </a:p>
          <a:p>
            <a:r>
              <a:t>B: FOMO is a bad adviser. Let’s research first.</a:t>
            </a:r>
          </a:p>
          <a:p>
            <a:r>
              <a:t>A: OK. What should we check?</a:t>
            </a:r>
          </a:p>
          <a:p>
            <a:r>
              <a:t>B: The creator, the fees, and what we actually own.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question a hot tip.</a:t>
            </a:r>
          </a:p>
          <a:p>
            <a:r>
              <a:t>Your role (A) | Excited friend.</a:t>
            </a:r>
          </a:p>
          <a:p>
            <a:r>
              <a:t>Partner’s role (B) | Careful friend. Item: ______________</a:t>
            </a:r>
          </a:p>
          <a:p>
            <a:r>
              <a:t>Must use (3 or more) | about to go up · hype · too good to be true · FOMO · research first</a:t>
            </a:r>
          </a:p>
          <a:p>
            <a:r>
              <a:t>Goal | Slow down the decision with questions.</a:t>
            </a:r>
          </a:p>
          <a:p>
            <a:r>
              <a:t>My notes | ____________________________________________</a:t>
            </a:r>
          </a:p>
          <a:p>
            <a:r>
              <a:t>Set a maximum budget.</a:t>
            </a:r>
          </a:p>
          <a:p>
            <a:r>
              <a:t>Check for legal terms.</a:t>
            </a:r>
          </a:p>
          <a:p>
            <a:r>
              <a:t>Walk away politely.</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an NFT worth real money? | “It’s worth what…”</a:t>
            </a:r>
          </a:p>
          <a:p>
            <a:r>
              <a:t>2. Who benefits most from NFTs? | “Probably…”</a:t>
            </a:r>
          </a:p>
          <a:p>
            <a:r>
              <a:t>3. What are valid uses of NFTs? | “Tickets, …”</a:t>
            </a:r>
          </a:p>
          <a:p>
            <a:r>
              <a:t>4. How can people avoid scams? | “By…”</a:t>
            </a:r>
          </a:p>
          <a:p>
            <a:r>
              <a:t>5. Will NFTs last? | “It remains to be seen…”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something is worth what someone is willing to pay, so an NFT can have value for a while. But the price can fall suddenly if interest fades. I wouldn’t treat it as a safe investment, only as a collectible or fun purchase. I’d never spend money I couldn’t afford to lose.”</a:t>
            </a:r>
          </a:p>
          <a:p>
            <a:r>
              <a:t>“is worth what someone is willing to pay” 价值取决于愿付价格。</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new concepts simply 简单解释新概念</a:t>
            </a:r>
          </a:p>
          <a:p>
            <a:r>
              <a:t>Structure | Example</a:t>
            </a:r>
          </a:p>
          <a:p>
            <a:r>
              <a:t>X is a Y that… | An NFT is a record that shows ownership.</a:t>
            </a:r>
          </a:p>
          <a:p>
            <a:r>
              <a:t>It’s like… | It’s like a certificate of authenticity.</a:t>
            </a:r>
          </a:p>
          <a:p>
            <a:r>
              <a:t>In other words, … | In other words, it proves who owns the item.</a:t>
            </a:r>
          </a:p>
          <a:p>
            <a:r>
              <a:t>For example, … | For example, an artist can sell a digital painting.</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new concepts simply 简单解释新概念</a:t>
            </a:r>
          </a:p>
          <a:p>
            <a:r>
              <a:t>Use “is a… that…” with relative clauses to define: A blockchain is a database that…</a:t>
            </a:r>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NFT is a thing who shows ownership.  →  ✓ An NFT is a record that shows ownership.  (that/which)</a:t>
            </a:r>
          </a:p>
          <a:p>
            <a:r>
              <a:t>✗ I never invested NFT.  →  ✓ I’ve never invested in NFTs.  (invest in)</a:t>
            </a:r>
          </a:p>
          <a:p>
            <a:r>
              <a:t>✗ The prices are going up and down very much.  →  ✓ Prices are very volatile.  (表达)</a:t>
            </a:r>
          </a:p>
          <a:p>
            <a:r>
              <a:t>Mistake Watch: Check relative pronouns, invest in, adjective position.</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invested in NFT last year and I lost money.  →  ✓ I invested in NFTs last year and lost money.  (NFTs 复数;省略重复主语)</a:t>
            </a:r>
          </a:p>
          <a:p>
            <a:r>
              <a:t>✗ It is a scam, I’m sure 100%.  →  ✓ I’m 100 per cent sure it’s a scam.  (sure 位置)</a:t>
            </a:r>
          </a:p>
          <a:p>
            <a:r>
              <a:t>✗ I can’t afford lose so much money.  →  ✓ I can’t afford to lose so much money.  (afford to + 原形)</a:t>
            </a:r>
          </a:p>
          <a:p>
            <a:r>
              <a:t>Mistake Watch: Check relative pronouns, invest in, adjective position.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cautious in public. Avoid giving investment advice to colleagues.</a:t>
            </a:r>
          </a:p>
          <a:p>
            <a:r>
              <a:t>Use “speculative”. It signals risk in serious conversation.</a:t>
            </a:r>
          </a:p>
          <a:p>
            <a:r>
              <a:t>Slang. “FOMO”, “hype”, “to the moon” are informal.</a:t>
            </a:r>
          </a:p>
          <a:p>
            <a:r>
              <a:t>Check regulations. Rules for digital assets vary.</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NFTs in plain English.</a:t>
            </a:r>
          </a:p>
          <a:p>
            <a:r>
              <a:t>I can discuss hype and risk cautiously.</a:t>
            </a:r>
          </a:p>
          <a:p>
            <a:r>
              <a:t>I can question a hot tip politely.</a:t>
            </a:r>
          </a:p>
          <a:p>
            <a:r>
              <a:t>I use relative clauses and invest in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a new technology in 60 seconds using “is a… that…”.</a:t>
            </a:r>
          </a:p>
          <a:p>
            <a:r>
              <a:t>8–10 | Listen to your recording. Check: relative clauses, invest in.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97 · AI and inequality 人工智能与不平等</a:t>
            </a:r>
          </a:p>
          <a:p>
            <a:r>
              <a:t>Goal: discuss how AI may affect jobs, wages and access to opportunity, and suggest fair approaches.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“inequality” 不平等;“digital divide” 数字鸿沟。讨论时多用 may/could/tend to,避免绝对预测。</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view on whether AI will increase inequality.</a:t>
            </a:r>
          </a:p>
          <a:p>
            <a:r>
              <a:t>Say: possible benefits → possible risks → who is affected → what to do.</a:t>
            </a:r>
          </a:p>
          <a:p>
            <a:r>
              <a:t>Useful starters: “AI could… but it may also…” / “Those with… are likely to…” / “To make AI fairer, we should…” / “It depends on…”</a:t>
            </a:r>
          </a:p>
          <a:p>
            <a:r>
              <a:t>“It depends on how AI is used” 取决于使用方式。</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Artificial intelligence could raise productivity and create new kinds of work, but economists warn that its benefits may not be shared equally. Workers who use AI tools to extend their abilities may become more valuable, while those doing routine tasks could face pressure on wages or job security. Countries and companies with data, computing power and skills may pull ahead of those without. On the other hand, AI tools can also help people with fewer resources, for example by providing translation, tutoring or advice at low cost. Which outcome prevails depends on policy and choices: access to education and training, rules that protect workers, and fair competition between firms. A common view is that technology does not decide the result by itself; people, institutions and values do.</a:t>
            </a:r>
          </a:p>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Who may become more valuable?</a:t>
            </a:r>
          </a:p>
          <a:p>
            <a:r>
              <a:t>A: Workers who use AI tools to extend their abilities.</a:t>
            </a:r>
          </a:p>
          <a:p>
            <a:r>
              <a:t>Q2. How could AI help people with fewer resources?</a:t>
            </a:r>
          </a:p>
          <a:p>
            <a:r>
              <a:t>A: Translation, tutoring or advice at low cost.</a:t>
            </a:r>
          </a:p>
          <a:p>
            <a:r>
              <a:t>Q3. What decides the outcome?</a:t>
            </a:r>
          </a:p>
          <a:p>
            <a:r>
              <a:t>A: Policy and choices: education, worker protection, fair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Impact 影响</a:t>
            </a:r>
          </a:p>
          <a:p>
            <a:r>
              <a:t>领读 → 学员跟读 → 请学员用表达造一个和自己工作相关的句子。</a:t>
            </a:r>
          </a:p>
          <a:p>
            <a:r>
              <a:t>automation (noun) 自动化 — “Automation affects routine jobs.”</a:t>
            </a:r>
          </a:p>
          <a:p>
            <a:r>
              <a:t>job displacement (noun) 岗位替代 — “Job displacement worries workers.”</a:t>
            </a:r>
          </a:p>
          <a:p>
            <a:r>
              <a:t>productivity gains (noun) 生产率提升 — “AI brings productivity gains.”</a:t>
            </a:r>
          </a:p>
          <a:p>
            <a:r>
              <a:t>★ widen the gap (collocation) 拉大差距 — “AI may widen the gap.”</a:t>
            </a:r>
          </a:p>
          <a:p>
            <a:r>
              <a:t>★ skill-biased (adjective) 偏向技能的 — “Technology can be skill-biased.”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Inequality 不平等</a:t>
            </a:r>
          </a:p>
          <a:p>
            <a:r>
              <a:t>领读 → 学员跟读 → 请学员用表达造一个和自己工作相关的句子。</a:t>
            </a:r>
          </a:p>
          <a:p>
            <a:r>
              <a:t>income inequality (noun) 收入不平等 — “Income inequality is rising.”</a:t>
            </a:r>
          </a:p>
          <a:p>
            <a:r>
              <a:t>digital divide (noun) 数字鸿沟 — “The digital divide limits access.”</a:t>
            </a:r>
          </a:p>
          <a:p>
            <a:r>
              <a:t>access to technology (noun) 技术可及性 — “Access to technology varies.”</a:t>
            </a:r>
          </a:p>
          <a:p>
            <a:r>
              <a:t>★ winner-takes-all (adjective) 赢者通吃的 — “A winner-takes-all market.”</a:t>
            </a:r>
          </a:p>
          <a:p>
            <a:r>
              <a:t>★ level the playing field (idiom) 公平竞争 — “AI can level the playing field.”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Responses 应对</a:t>
            </a:r>
          </a:p>
          <a:p>
            <a:r>
              <a:t>领读 → 学员跟读 → 请学员用表达造一个和自己工作相关的句子。</a:t>
            </a:r>
          </a:p>
          <a:p>
            <a:r>
              <a:t>reskilling (noun) 技能再培训 — “Reskilling programmes help.”</a:t>
            </a:r>
          </a:p>
          <a:p>
            <a:r>
              <a:t>safety net (noun) 社会安全网 — “A safety net supports workers.”</a:t>
            </a:r>
          </a:p>
          <a:p>
            <a:r>
              <a:t>regulation (noun) 监管 — “Regulation can protect workers.”</a:t>
            </a:r>
          </a:p>
          <a:p>
            <a:r>
              <a:t>★ inclusive growth (noun) 包容性增长 — “We want inclusive growth.”</a:t>
            </a:r>
          </a:p>
          <a:p>
            <a:r>
              <a:t>★ share the gains (collocation) 分享收益 — “Share the gains fairly.”</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automation / displacement / divide / inequality / reskilling / gap</a:t>
            </a:r>
          </a:p>
          <a:p>
            <a:r>
              <a:t>1. _______ affects routine jobs first. → Automation</a:t>
            </a:r>
          </a:p>
          <a:p>
            <a:r>
              <a:t>2. Job _______ is a concern for many. → displacement</a:t>
            </a:r>
          </a:p>
          <a:p>
            <a:r>
              <a:t>3. The digital _______ limits access. → divide</a:t>
            </a:r>
          </a:p>
          <a:p>
            <a:r>
              <a:t>4. Income _______ is rising in many places. → inequality</a:t>
            </a:r>
          </a:p>
          <a:p>
            <a:r>
              <a:t>5. _______ programmes help workers change roles. → Reskilling</a:t>
            </a:r>
          </a:p>
          <a:p>
            <a:r>
              <a:t>6. AI may widen the _______ between firms. → gap</a:t>
            </a:r>
          </a:p>
          <a:p>
            <a:r>
              <a:t>Mistake Watch: (搭配) widen / narrow the gap,share the gains,access TO technology;AI 读字母。</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AI’s impact 讨论 AI 的影响</a:t>
            </a:r>
          </a:p>
          <a:p>
            <a:r>
              <a:t>情景：Colleagues share views.</a:t>
            </a:r>
          </a:p>
          <a:p>
            <a:r>
              <a:t>Role A: Optimist Role B: Realist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AI could help everyone. It lowers the cost of services like translation.</a:t>
            </a:r>
          </a:p>
          <a:p>
            <a:r>
              <a:t>B: True, but those with skills may gain more than others.</a:t>
            </a:r>
          </a:p>
          <a:p>
            <a:r>
              <a:t>A: You think it will widen the gap?</a:t>
            </a:r>
          </a:p>
          <a:p>
            <a:r>
              <a:t>B: It might, unless we invest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would you suggest?</a:t>
            </a:r>
          </a:p>
          <a:p>
            <a:r>
              <a:t>B: Reskilling programmes and access to technology for all.</a:t>
            </a:r>
          </a:p>
          <a:p>
            <a:r>
              <a:t>A: I agree. It depends on the choices we make.</a:t>
            </a:r>
          </a:p>
          <a:p>
            <a:r>
              <a:t>B: Exactly.</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11 | </a:t>
            </a:r>
          </a:p>
          <a:p>
            <a:r>
              <a:t>Situation | You discuss AI and fairness.</a:t>
            </a:r>
          </a:p>
          <a:p>
            <a:r>
              <a:t>Your role (A) | Optimist.</a:t>
            </a:r>
          </a:p>
          <a:p>
            <a:r>
              <a:t>Partner’s role (B) | Realist. Issue: ______________</a:t>
            </a:r>
          </a:p>
          <a:p>
            <a:r>
              <a:t>Must use (3 or more) | could help · widen the gap · might · reskilling · depends on</a:t>
            </a:r>
          </a:p>
          <a:p>
            <a:r>
              <a:t>Goal | Balance benefits and risks and propose a policy.</a:t>
            </a:r>
          </a:p>
          <a:p>
            <a:r>
              <a:t>My notes | ____________________________________________</a:t>
            </a:r>
          </a:p>
          <a:p>
            <a:r>
              <a:t>Give an example in your industry.</a:t>
            </a:r>
          </a:p>
          <a:p>
            <a:r>
              <a:t>Mention education.</a:t>
            </a:r>
          </a:p>
          <a:p>
            <a:r>
              <a:t>Question an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Advising a company 给公司建议</a:t>
            </a:r>
          </a:p>
          <a:p>
            <a:r>
              <a:t>情景：A consultant speaks to a manager.</a:t>
            </a:r>
          </a:p>
          <a:p>
            <a:r>
              <a:t>Role A: Manager Role B: Consultant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We’re adding AI tools. How do we make sure it’s fair for staff?</a:t>
            </a:r>
          </a:p>
          <a:p>
            <a:r>
              <a:t>B: Involve staff early, and explain how roles will change.</a:t>
            </a:r>
          </a:p>
          <a:p>
            <a:r>
              <a:t>A: Should we train everyone?</a:t>
            </a:r>
          </a:p>
          <a:p>
            <a:r>
              <a:t>B: Yes, not just technical staff. Otherwise, some will be left behind.</a:t>
            </a:r>
          </a:p>
          <a:p>
            <a:r>
              <a:t>A: What about jobs that disappear?</a:t>
            </a:r>
          </a:p>
          <a:p>
            <a:r>
              <a:t>B: Offer reskilling and internal moves before considering layoffs.</a:t>
            </a:r>
          </a:p>
          <a:p>
            <a:r>
              <a:t>A: That seems fair.</a:t>
            </a:r>
          </a:p>
          <a:p>
            <a:r>
              <a:t>B: And share the productivity gains, for example through bonuses.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12 | </a:t>
            </a:r>
          </a:p>
          <a:p>
            <a:r>
              <a:t>Situation | You plan fair AI adoption.</a:t>
            </a:r>
          </a:p>
          <a:p>
            <a:r>
              <a:t>Your role (A) | Manager.</a:t>
            </a:r>
          </a:p>
          <a:p>
            <a:r>
              <a:t>Partner’s role (B) | Consultant. Company: ______________</a:t>
            </a:r>
          </a:p>
          <a:p>
            <a:r>
              <a:t>Must use (3 or more) | involve staff early · left behind · reskilling · internal moves · share the gains</a:t>
            </a:r>
          </a:p>
          <a:p>
            <a:r>
              <a:t>Goal | Recommend a fair adoption plan.</a:t>
            </a:r>
          </a:p>
          <a:p>
            <a:r>
              <a:t>My notes | ____________________________________________</a:t>
            </a:r>
          </a:p>
          <a:p>
            <a:r>
              <a:t>Measure impact on pay.</a:t>
            </a:r>
          </a:p>
          <a:p>
            <a:r>
              <a:t>Consult employee reps.</a:t>
            </a:r>
          </a:p>
          <a:p>
            <a:r>
              <a:t>Review after six months.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Will AI increase inequality? | “It could, if…”</a:t>
            </a:r>
          </a:p>
          <a:p>
            <a:r>
              <a:t>2. Which workers are most vulnerable? | “Those who…”</a:t>
            </a:r>
          </a:p>
          <a:p>
            <a:r>
              <a:t>3. How can governments respond? | “They could…”</a:t>
            </a:r>
          </a:p>
          <a:p>
            <a:r>
              <a:t>4. How can individuals prepare? | “By…”</a:t>
            </a:r>
          </a:p>
          <a:p>
            <a:r>
              <a:t>5. Can AI make education fairer? | “Possibly, since…”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“AI could make education fairer if students everywhere can access good tutoring tools at low cost. A learner without a private tutor could ask an AI for explanations. However, it needs internet access, devices and guidance, so schools still matter. It could help narrow gaps, but only if access is shared fairly.”</a:t>
            </a:r>
          </a:p>
          <a:p>
            <a:r>
              <a:t>“narrow gaps” 缩小差距;“only if” 只有…时。</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Conditionals and modals for prediction 条件句与情态预测</a:t>
            </a:r>
          </a:p>
          <a:p>
            <a:r>
              <a:t>Structure | Example</a:t>
            </a:r>
          </a:p>
          <a:p>
            <a:r>
              <a:t>could / may / might | AI could widen the gap.</a:t>
            </a:r>
          </a:p>
          <a:p>
            <a:r>
              <a:t>if + present, will | If we invest, more people will benefit.</a:t>
            </a:r>
          </a:p>
          <a:p>
            <a:r>
              <a:t>unless | Unless we reskill workers, some will be left behind.</a:t>
            </a:r>
          </a:p>
          <a:p>
            <a:r>
              <a:t>It depends on… | It depends on how AI is used.</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Conditionals and modals for prediction 条件句与情态预测</a:t>
            </a:r>
          </a:p>
          <a:p>
            <a:r>
              <a:t>Use unless = if not. Do not add another negative: unless we act (not unless we don’t act).</a:t>
            </a:r>
          </a:p>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AI will surely widen the gap.  →  ✓ AI may well widen the gap.  (谨慎)</a:t>
            </a:r>
          </a:p>
          <a:p>
            <a:r>
              <a:t>✗ Unless we don’t train workers, …  →  ✓ Unless we train workers, …  (unless 含否定)</a:t>
            </a:r>
          </a:p>
          <a:p>
            <a:r>
              <a:t>✗ The AI is replacing the workers.  →  ✓ AI is replacing some workers.  (无冠词)</a:t>
            </a:r>
          </a:p>
          <a:p>
            <a:r>
              <a:t>Mistake Watch: Check unless, no article before AI / inequality,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AI make jobs disappear.  →  ✓ AI makes some jobs disappear.  (三单)</a:t>
            </a:r>
          </a:p>
          <a:p>
            <a:r>
              <a:t>✗ The inequality between rich and poor are growing.  →  ✓ Inequality between rich and poor is growing.  (单数)</a:t>
            </a:r>
          </a:p>
          <a:p>
            <a:r>
              <a:t>✗ People must be trained for AI.  →  ✓ People should be trained to use AI.  (to use)</a:t>
            </a:r>
          </a:p>
          <a:p>
            <a:r>
              <a:t>Mistake Watch: Check unless, no article before AI / inequality,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Avoid doom or hype. Balanced language is respected.</a:t>
            </a:r>
          </a:p>
          <a:p>
            <a:r>
              <a:t>Cite sources. “According to a report…” is better than “everyone says…”.</a:t>
            </a:r>
          </a:p>
          <a:p>
            <a:r>
              <a:t>Be careful about job predictions. Say “may” and “could”.</a:t>
            </a:r>
          </a:p>
          <a:p>
            <a:r>
              <a:t>Ask about the human impact. Employers value that.</a:t>
            </a:r>
          </a:p>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AI and inequality in a balanced way.</a:t>
            </a:r>
          </a:p>
          <a:p>
            <a:r>
              <a:t>I can use could / may / unless to predict.</a:t>
            </a:r>
          </a:p>
          <a:p>
            <a:r>
              <a:t>I can suggest fair approaches.</a:t>
            </a:r>
          </a:p>
          <a:p>
            <a:r>
              <a:t>I use unless and zero article with AI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a balanced view on AI and fairness in 90 seconds.</a:t>
            </a:r>
          </a:p>
          <a:p>
            <a:r>
              <a:t>8–10 | Listen to your recording. Check: unless, no article with AI, agreement.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98 · Virtual people industry booms 虚拟人产业蓬勃发展</a:t>
            </a:r>
          </a:p>
          <a:p>
            <a:r>
              <a:t>Goal: discuss virtual humans and influencers, their uses in business, and the ethical questions they raise.</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“virtual human / virtual influencer” 虚拟人/虚拟网红;“avatar” 虚拟形象。本课讨论商业用途与伦理,不涉及具体品牌。</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how and why companies use virtual people.</a:t>
            </a:r>
          </a:p>
          <a:p>
            <a:r>
              <a:t>Say: what they are → uses → benefits → concerns.</a:t>
            </a:r>
          </a:p>
          <a:p>
            <a:r>
              <a:t>Useful starters: “Virtual people are…” / “Companies use them to…” / “The advantage is…” / “One concern is…”</a:t>
            </a:r>
          </a:p>
          <a:p>
            <a:r>
              <a:t>“use sth to + 动词原形” 用来…。</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Virtual people are computer-generated characters that look and sometimes talk like humans. They appear as influencers, news presenters, brand ambassadors, customer service agents and game characters. Companies like them because they can work around the clock, never age, and keep a consistent image. A brand can control exactly what the character says and does, which lowers some risks associated with human celebrities. The market has grown quickly as graphics and AI improve. However, there are concerns. Audiences may feel misled if they do not realise a person is not real. Virtual people can promote unrealistic looks, and they raise questions about who is responsible for their words. Many experts therefore suggest clear labelling and responsible guidelines, so that innovation does not damage trust.</a:t>
            </a:r>
          </a:p>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Where do virtual people appear?</a:t>
            </a:r>
          </a:p>
          <a:p>
            <a:r>
              <a:t>A: As influencers, news presenters, brand ambassadors, customer service agents and game characters.</a:t>
            </a:r>
          </a:p>
          <a:p>
            <a:r>
              <a:t>Q2. Why do companies like them?</a:t>
            </a:r>
          </a:p>
          <a:p>
            <a:r>
              <a:t>A: They work around the clock, never age, and keep a consistent image under full control.</a:t>
            </a:r>
          </a:p>
          <a:p>
            <a:r>
              <a:t>Q3. What do experts suggest?</a:t>
            </a:r>
          </a:p>
          <a:p>
            <a:r>
              <a:t>A: Clear labelling and responsible guidelines.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Virtual people 虚拟人</a:t>
            </a:r>
          </a:p>
          <a:p>
            <a:r>
              <a:t>领读 → 学员跟读 → 请学员用表达造一个和自己工作相关的句子。</a:t>
            </a:r>
          </a:p>
          <a:p>
            <a:r>
              <a:t>virtual human / influencer (noun) 虚拟人/虚拟网红 — “She follows a virtual influencer.”</a:t>
            </a:r>
          </a:p>
          <a:p>
            <a:r>
              <a:t>computer-generated (adjective) 电脑生成的 — “A computer-generated host.”</a:t>
            </a:r>
          </a:p>
          <a:p>
            <a:r>
              <a:t>brand ambassador (noun) 品牌代言人 — “A virtual brand ambassador.”</a:t>
            </a:r>
          </a:p>
          <a:p>
            <a:r>
              <a:t>★ digital double (noun) 数字分身 — “The actor has a digital double.”</a:t>
            </a:r>
          </a:p>
          <a:p>
            <a:r>
              <a:t>★ uncanny valley (noun) 恐怖谷 — “It falls into the uncanny valley.”</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Business uses 商业应用</a:t>
            </a:r>
          </a:p>
          <a:p>
            <a:r>
              <a:t>领读 → 学员跟读 → 请学员用表达造一个和自己工作相关的句子。</a:t>
            </a:r>
          </a:p>
          <a:p>
            <a:r>
              <a:t>around the clock (idiom) 全天候 — “They work around the clock.”</a:t>
            </a:r>
          </a:p>
          <a:p>
            <a:r>
              <a:t>consistent image (noun) 一致形象 — “Keep a consistent image.”</a:t>
            </a:r>
          </a:p>
          <a:p>
            <a:r>
              <a:t>customer engagement (noun) 客户互动 — “They boost customer engagement.”</a:t>
            </a:r>
          </a:p>
          <a:p>
            <a:r>
              <a:t>★ monetise (verb) 变现 — “They monetise their audience.”</a:t>
            </a:r>
          </a:p>
          <a:p>
            <a:r>
              <a:t>★ control the narrative (idiom) 掌控叙事 — “Brands control the narrative.”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Ethics 伦理</a:t>
            </a:r>
          </a:p>
          <a:p>
            <a:r>
              <a:t>领读 → 学员跟读 → 请学员用表达造一个和自己工作相关的句子。</a:t>
            </a:r>
          </a:p>
          <a:p>
            <a:r>
              <a:t>disclose (verb) 披露 — “Brands must disclose AI use.”</a:t>
            </a:r>
          </a:p>
          <a:p>
            <a:r>
              <a:t>misleading (adjective) 误导的 — “It could be misleading.”</a:t>
            </a:r>
          </a:p>
          <a:p>
            <a:r>
              <a:t>unrealistic standards (noun) 不切实际的标准 — “They promote unrealistic standards.”</a:t>
            </a:r>
          </a:p>
          <a:p>
            <a:r>
              <a:t>★ authenticity (noun) 真实性 — “Authenticity matters to audiences.”</a:t>
            </a:r>
          </a:p>
          <a:p>
            <a:r>
              <a:t>★ accountability (noun) 问责 — “Who has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virtual / generated / ambassador / engagement / disclose / authenticity</a:t>
            </a:r>
          </a:p>
          <a:p>
            <a:r>
              <a:t>1. She follows a _______ influencer. → virtual</a:t>
            </a:r>
          </a:p>
          <a:p>
            <a:r>
              <a:t>2. It’s a computer-_______ character. → generated</a:t>
            </a:r>
          </a:p>
          <a:p>
            <a:r>
              <a:t>3. The brand uses a virtual _______. → ambassador</a:t>
            </a:r>
          </a:p>
          <a:p>
            <a:r>
              <a:t>4. Customer _______ increased. → engagement</a:t>
            </a:r>
          </a:p>
          <a:p>
            <a:r>
              <a:t>5. Brands should _______ when AI is used. → disclose</a:t>
            </a:r>
          </a:p>
          <a:p>
            <a:r>
              <a:t>6. Audiences value _______. → authenticity</a:t>
            </a:r>
          </a:p>
          <a:p>
            <a:r>
              <a:t>Mistake Watch: (搭配) around the clock,disclose sth TO sb,customer engagement;virtual 与 digital。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virtual influencers 谈虚拟网红</a:t>
            </a:r>
          </a:p>
          <a:p>
            <a:r>
              <a:t>情景：A casual chat.</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Have you seen the virtual influencer everyone’s talking about?</a:t>
            </a:r>
          </a:p>
          <a:p>
            <a:r>
              <a:t>B: Yes. It’s a computer-generated character with millions of followers.</a:t>
            </a:r>
          </a:p>
          <a:p>
            <a:r>
              <a:t>A: Why do brands use them?</a:t>
            </a:r>
          </a:p>
          <a:p>
            <a:r>
              <a:t>B: They’re consistent and available around the clock.</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Don’t people feel misled?</a:t>
            </a:r>
          </a:p>
          <a:p>
            <a:r>
              <a:t>B: Some do, if they don’t realise it’s not real. That’s why labelling matters.</a:t>
            </a:r>
          </a:p>
          <a:p>
            <a:r>
              <a:t>A: Would you trust their recommendations?</a:t>
            </a:r>
          </a:p>
          <a:p>
            <a:r>
              <a:t>B: Not completely. I’d want to know who’s behind them.</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13 | </a:t>
            </a:r>
          </a:p>
          <a:p>
            <a:r>
              <a:t>Situation | You discuss virtual influencers.</a:t>
            </a:r>
          </a:p>
          <a:p>
            <a:r>
              <a:t>Your role (A) | Friend.</a:t>
            </a:r>
          </a:p>
          <a:p>
            <a:r>
              <a:t>Partner’s role (B) | You. Opinion: ______________</a:t>
            </a:r>
          </a:p>
          <a:p>
            <a:r>
              <a:t>Must use (3 or more) | computer-generated · around the clock · misled · labelling · who’s behind them</a:t>
            </a:r>
          </a:p>
          <a:p>
            <a:r>
              <a:t>Goal | Describe, explain benefits and raise a concern.</a:t>
            </a:r>
          </a:p>
          <a:p>
            <a:r>
              <a:t>My notes | ____________________________________________</a:t>
            </a:r>
          </a:p>
          <a:p>
            <a:r>
              <a:t>Mention unrealistic standards.</a:t>
            </a:r>
          </a:p>
          <a:p>
            <a:r>
              <a:t>Mention cost.</a:t>
            </a:r>
          </a:p>
          <a:p>
            <a:r>
              <a:t>Mention jobs.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Proposing a virtual host 提议使用虚拟主持人</a:t>
            </a:r>
          </a:p>
          <a:p>
            <a:r>
              <a:t>情景：A marketing meeting.</a:t>
            </a:r>
          </a:p>
          <a:p>
            <a:r>
              <a:t>Role A: Marketer Role B: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propose a virtual host for our online events.</a:t>
            </a:r>
          </a:p>
          <a:p>
            <a:r>
              <a:t>B: What are the advantages?</a:t>
            </a:r>
          </a:p>
          <a:p>
            <a:r>
              <a:t>A: It can work around the clock and speak several languages.</a:t>
            </a:r>
          </a:p>
          <a:p>
            <a:r>
              <a:t>B: What about the risks?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Some customers may feel uncomfortable. We’d disclose clearly that it’s virtual.</a:t>
            </a:r>
          </a:p>
          <a:p>
            <a:r>
              <a:t>B: And the cost?</a:t>
            </a:r>
          </a:p>
          <a:p>
            <a:r>
              <a:t>A: Higher at first, but lower in the long run.</a:t>
            </a:r>
          </a:p>
          <a:p>
            <a:r>
              <a:t>B: Let’s try a pilot and measure customer engagement.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14 | </a:t>
            </a:r>
          </a:p>
          <a:p>
            <a:r>
              <a:t>Situation | You propose a virtual host.</a:t>
            </a:r>
          </a:p>
          <a:p>
            <a:r>
              <a:t>Your role (A) | Marketer.</a:t>
            </a:r>
          </a:p>
          <a:p>
            <a:r>
              <a:t>Partner’s role (B) | Director. Event: ______________</a:t>
            </a:r>
          </a:p>
          <a:p>
            <a:r>
              <a:t>Must use (3 or more) | around the clock · disclose · in the long run · pilot · customer engagement</a:t>
            </a:r>
          </a:p>
          <a:p>
            <a:r>
              <a:t>Goal | Present benefits, risks and a test.</a:t>
            </a:r>
          </a:p>
          <a:p>
            <a:r>
              <a:t>My notes | ____________________________________________</a:t>
            </a:r>
          </a:p>
          <a:p>
            <a:r>
              <a:t>Add a plan to gather feedback.</a:t>
            </a:r>
          </a:p>
          <a:p>
            <a:r>
              <a:t>Mention data privacy.</a:t>
            </a:r>
          </a:p>
          <a:p>
            <a:r>
              <a:t>Compare with a human host.</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virtual people be labelled? | “Yes, because…”</a:t>
            </a:r>
          </a:p>
          <a:p>
            <a:r>
              <a:t>2. Could virtual people replace human presenters? | “In some cases…”</a:t>
            </a:r>
          </a:p>
          <a:p>
            <a:r>
              <a:t>3. Are virtual influencers authentic? | “Not really, since…”</a:t>
            </a:r>
          </a:p>
          <a:p>
            <a:r>
              <a:t>4. What risks do they bring? | “One risk is…”</a:t>
            </a:r>
          </a:p>
          <a:p>
            <a:r>
              <a:t>5. Would you work with a virtual colleague? | “I might, if…”</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they should be labelled clearly, because people have a right to know whether they’re interacting with a real person. Without labelling, audiences may feel misled and lose trust. A simple”virtual character” tag would be enough, and it would protect both the audience and the brand.”</a:t>
            </a:r>
          </a:p>
          <a:p>
            <a:r>
              <a:t>“have a right to know” 有权知道;“lose trust” 失去信任。</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uses and purposes 描述用途与目的</a:t>
            </a:r>
          </a:p>
          <a:p>
            <a:r>
              <a:t>Structure | Example</a:t>
            </a:r>
          </a:p>
          <a:p>
            <a:r>
              <a:t>use X to + base | Companies use them to promote products.</a:t>
            </a:r>
          </a:p>
          <a:p>
            <a:r>
              <a:t>be used for + -ing | They are used for answering questions.</a:t>
            </a:r>
          </a:p>
          <a:p>
            <a:r>
              <a:t>in order to | In order to save money, they use virtual hosts.</a:t>
            </a:r>
          </a:p>
          <a:p>
            <a:r>
              <a:t>so that | They label them so that audiences aren’t misled.</a:t>
            </a:r>
          </a:p>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uses and purposes 描述用途与目的</a:t>
            </a:r>
          </a:p>
          <a:p>
            <a:r>
              <a:t>use X to do Y = purpose; be used for + noun/-ing = function.</a:t>
            </a:r>
          </a:p>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use for promote products.  →  ✓ They use them to promote products.  (use sth to)</a:t>
            </a:r>
          </a:p>
          <a:p>
            <a:r>
              <a:t>✗ Virtual people is popular.  →  ✓ Virtual people are popular.  (people 复数)</a:t>
            </a:r>
          </a:p>
          <a:p>
            <a:r>
              <a:t>✗ The virtual influencers are not real person.  →  ✓ Virtual influencers are not real people.  (复数)</a:t>
            </a:r>
          </a:p>
          <a:p>
            <a:r>
              <a:t>Mistake Watch: Check use X to, people are, third-person -s, make + base.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work 24 hours.  →  ✓ It works 24 hours a day. / around the clock.  (三单)</a:t>
            </a:r>
          </a:p>
          <a:p>
            <a:r>
              <a:t>✗ We have to disclose to customers about AI.  →  ✓ We have to tell customers about AI. / disclose AI use to customers.  (disclose)</a:t>
            </a:r>
          </a:p>
          <a:p>
            <a:r>
              <a:t>✗ It makes people feeling cheated.  →  ✓ It makes people feel cheated.  (make + 原形)</a:t>
            </a:r>
          </a:p>
          <a:p>
            <a:r>
              <a:t>Mistake Watch: Check use X to, people are, third-person -s, make + base.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Disclosure rules. Some regions require labels for AI-generated content.</a:t>
            </a:r>
          </a:p>
          <a:p>
            <a:r>
              <a:t>Influencer rules. Paid promotions must be marked “ad” or “sponsored” in many markets.</a:t>
            </a:r>
          </a:p>
          <a:p>
            <a:r>
              <a:t>Authenticity. Audiences value honesty; avoid pretending.</a:t>
            </a:r>
          </a:p>
          <a:p>
            <a:r>
              <a:t>Cultural attitudes to virtual characters vary widely.</a:t>
            </a:r>
          </a:p>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virtual people and their uses.</a:t>
            </a:r>
          </a:p>
          <a:p>
            <a:r>
              <a:t>I can discuss ethical issues politely.</a:t>
            </a:r>
          </a:p>
          <a:p>
            <a:r>
              <a:t>I can propose a pilot and address risks.</a:t>
            </a:r>
          </a:p>
          <a:p>
            <a:r>
              <a:t>I use use X to… and people are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virtual humans in 60 seconds using “use X to”.</a:t>
            </a:r>
          </a:p>
          <a:p>
            <a:r>
              <a:t>8–10 | Listen to your recording. Check: use X to, people are, make + base.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“监控” in English? → surveillance</a:t>
            </a:r>
          </a:p>
          <a:p>
            <a:r>
              <a:t>“金融普惠” in English? → financial inclusion</a:t>
            </a:r>
          </a:p>
          <a:p>
            <a:r>
              <a:t>“不受地点限制的” in English? → location-independent</a:t>
            </a:r>
          </a:p>
          <a:p>
            <a:r>
              <a:t>Fix it: Critics claim to slow innovation. → Critics claim that it slows innovation.</a:t>
            </a:r>
          </a:p>
          <a:p>
            <a:r>
              <a:t>Fix it: The shop doesn’t accept for cash. → The shop doesn’t accept cash.</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4.xml"/><Relationship Id="rId7" Type="http://schemas.openxmlformats.org/officeDocument/2006/relationships/slide" Target="slide110.xml"/><Relationship Id="rId8" Type="http://schemas.openxmlformats.org/officeDocument/2006/relationships/slide" Target="slide136.xml"/><Relationship Id="rId9" Type="http://schemas.openxmlformats.org/officeDocument/2006/relationships/slide" Target="slide16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 Id="rId4" Type="http://schemas.openxmlformats.org/officeDocument/2006/relationships/slide" Target="slide190.xml"/><Relationship Id="rId5" Type="http://schemas.openxmlformats.org/officeDocument/2006/relationships/slide" Target="slide191.xml"/><Relationship Id="rId6" Type="http://schemas.openxmlformats.org/officeDocument/2006/relationships/slide" Target="slide192.xml"/><Relationship Id="rId7" Type="http://schemas.openxmlformats.org/officeDocument/2006/relationships/slide" Target="slide193.xml"/><Relationship Id="rId8" Type="http://schemas.openxmlformats.org/officeDocument/2006/relationships/slide" Target="slide194.xml"/><Relationship Id="rId9" Type="http://schemas.openxmlformats.org/officeDocument/2006/relationships/slide" Target="slide195.xml"/><Relationship Id="rId10" Type="http://schemas.openxmlformats.org/officeDocument/2006/relationships/slide" Target="slide196.xml"/><Relationship Id="rId11" Type="http://schemas.openxmlformats.org/officeDocument/2006/relationships/slide" Target="slide197.xml"/><Relationship Id="rId12" Type="http://schemas.openxmlformats.org/officeDocument/2006/relationships/slide" Target="slide198.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21</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Technology and Society</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7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L92 Regulating big tech · L93 Technology work buddies · L94 Living a digital nomad lifestyle · L95 Going cashless? · L96 NFTs: It’s so hot right now! NFT · L97 AI and inequality · L98 Virtual people industry booms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92</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Regulating big tech</a:t>
            </a:r>
          </a:p>
          <a:p>
            <a:pPr algn="l">
              <a:lnSpc>
                <a:spcPct val="100000"/>
              </a:lnSpc>
              <a:spcAft>
                <a:spcPts val="800"/>
              </a:spcAft>
            </a:pPr>
            <a:r>
              <a:rPr sz="1400" b="0">
                <a:solidFill>
                  <a:srgbClr val="5F677A"/>
                </a:solidFill>
                <a:latin typeface="Arial"/>
                <a:ea typeface="Microsoft YaHei"/>
              </a:rPr>
              <a:t>监管大型科技公司</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93</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Technology work buddies</a:t>
            </a:r>
          </a:p>
          <a:p>
            <a:pPr algn="l">
              <a:lnSpc>
                <a:spcPct val="100000"/>
              </a:lnSpc>
              <a:spcAft>
                <a:spcPts val="800"/>
              </a:spcAft>
            </a:pPr>
            <a:r>
              <a:rPr sz="1400" b="0">
                <a:solidFill>
                  <a:srgbClr val="5F677A"/>
                </a:solidFill>
                <a:latin typeface="Arial"/>
                <a:ea typeface="Microsoft YaHei"/>
              </a:rPr>
              <a:t>科技工作伙伴</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94</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Living a digital nomad lifestyle</a:t>
            </a:r>
          </a:p>
          <a:p>
            <a:pPr algn="l">
              <a:lnSpc>
                <a:spcPct val="100000"/>
              </a:lnSpc>
              <a:spcAft>
                <a:spcPts val="800"/>
              </a:spcAft>
            </a:pPr>
            <a:r>
              <a:rPr sz="1400" b="0">
                <a:solidFill>
                  <a:srgbClr val="5F677A"/>
                </a:solidFill>
                <a:latin typeface="Arial"/>
                <a:ea typeface="Microsoft YaHei"/>
              </a:rPr>
              <a:t>数字游民的生活方式</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95</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Going cashless?</a:t>
            </a:r>
          </a:p>
          <a:p>
            <a:pPr algn="l">
              <a:lnSpc>
                <a:spcPct val="100000"/>
              </a:lnSpc>
              <a:spcAft>
                <a:spcPts val="800"/>
              </a:spcAft>
            </a:pPr>
            <a:r>
              <a:rPr sz="1400" b="0">
                <a:solidFill>
                  <a:srgbClr val="5F677A"/>
                </a:solidFill>
                <a:latin typeface="Arial"/>
                <a:ea typeface="Microsoft YaHei"/>
              </a:rPr>
              <a:t>走向无现金社会?</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96</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NFTs: It’s so hot right now! NFT</a:t>
            </a:r>
          </a:p>
          <a:p>
            <a:pPr algn="l">
              <a:lnSpc>
                <a:spcPct val="100000"/>
              </a:lnSpc>
              <a:spcAft>
                <a:spcPts val="800"/>
              </a:spcAft>
            </a:pPr>
            <a:r>
              <a:rPr sz="1400" b="0">
                <a:solidFill>
                  <a:srgbClr val="5F677A"/>
                </a:solidFill>
                <a:latin typeface="Arial"/>
                <a:ea typeface="Microsoft YaHei"/>
              </a:rPr>
              <a:t>现在火爆!</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97</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AI and inequality</a:t>
            </a:r>
          </a:p>
          <a:p>
            <a:pPr algn="l">
              <a:lnSpc>
                <a:spcPct val="100000"/>
              </a:lnSpc>
              <a:spcAft>
                <a:spcPts val="800"/>
              </a:spcAft>
            </a:pPr>
            <a:r>
              <a:rPr sz="1400" b="0">
                <a:solidFill>
                  <a:srgbClr val="5F677A"/>
                </a:solidFill>
                <a:latin typeface="Arial"/>
                <a:ea typeface="Microsoft YaHei"/>
              </a:rPr>
              <a:t>人工智能与不平等</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98</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Virtual people industry booms</a:t>
            </a:r>
          </a:p>
          <a:p>
            <a:pPr algn="l">
              <a:lnSpc>
                <a:spcPct val="100000"/>
              </a:lnSpc>
              <a:spcAft>
                <a:spcPts val="800"/>
              </a:spcAft>
            </a:pPr>
            <a:r>
              <a:rPr sz="1400" b="0">
                <a:solidFill>
                  <a:srgbClr val="5F677A"/>
                </a:solidFill>
                <a:latin typeface="Arial"/>
                <a:ea typeface="Microsoft YaHei"/>
              </a:rPr>
              <a:t>虚拟人产业蓬勃发展</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 · Lesson 92 Regulating big tech</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Regulating big tech</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监管大型科技公司</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debate whether and how large technology companies should be regulated, using balanced argument language.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tech companies do you use every day?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large tech companies have too much power?</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governments regulate them? How?</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know about data privacy rules?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regulation affect innovation?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“regulate” 监管;“antitrust / competition law” 反垄断;“data privacy” 数据隐私。本课不对具体公司作事实判断。</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your view on regulating large technology companies.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issue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arguments for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arguments against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Supporters argue that…   💬 Critics claim that…   💬 A middle path would be to…   💬 On balance, I believe…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“argue that” 后接从句;“A middle path” 折中方案。</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Rules for giants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 handful of technology companies now provide search, shopping, social networks, cloud computing and mobile software to billions of people. Supporters of stronger regulation argue that such concentration reduces competition, lets firms collect huge amounts of personal data, and gives them influence over what people see and buy. They propose rules on privacy, fair competition and transparency about algorithms. Opponents reply that heavy regulation could slow innovation, raise costs and hurt smaller companies that cannot afford compliance teams. They also say that many services are free or cheap and that users benefit. A middle path would be targeted rules: clear standards for data protection and competition, regular independent audits, and quick processes for dealing with abuses. The debate continues in many countries, and approaches differ widely.</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supporters of regulation worry about?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Reduced competition, huge personal data collection and influence over what people see and buy.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opponents fear?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Slower innovation, higher costs, harm to smaller companies.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middle path?</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Targeted rules, regular audits and quick processes for abuses.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Regulation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监管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regulate / regulation</a:t>
            </a:r>
          </a:p>
          <a:p>
            <a:pPr algn="l">
              <a:lnSpc>
                <a:spcPct val="115000"/>
              </a:lnSpc>
              <a:spcAft>
                <a:spcPts val="800"/>
              </a:spcAft>
            </a:pPr>
            <a:r>
              <a:rPr sz="1300" b="0">
                <a:solidFill>
                  <a:srgbClr val="5F677A"/>
                </a:solidFill>
                <a:latin typeface="Arial"/>
                <a:ea typeface="Microsoft YaHei"/>
              </a:rPr>
              <a:t>verb/noun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监管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government regulates banks.”</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antitrust / competition law</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反垄断法</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“Antitrust law aims to protect competition.”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data protection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数据保护</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“Data protection rules apply.”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compliance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合规</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“Compliance costs are high.”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oversight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监督</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industry needs more oversight.”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Power and competition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权力与竞争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market dominance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市场主导地位</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“Market dominance reduces choice.”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monopoly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垄断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are accused of a monopoly.”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stifle innovation</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扼杀创新</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“Rules may stifle innovation.”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gatekeeper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把关者</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platform acts as a gatekeeper.”</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the playing field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公平竞争</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“Regulation can level the playing field.”</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Privacy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隐私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personal data</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个人数据</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“Personal data is collected.”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consent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同意</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“Users must give consent.”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transparency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透明度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transparency about algorithms.”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data breach</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数据泄露</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data breach exposed accounts.”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surveillance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监控</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“Online surveillance worries some.”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扼杀创新</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stifle innovation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透明度</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transparency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监控</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surveillance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市场主导地位</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 dominance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合规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compliance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监督</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oversight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把关者</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gatekeeper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数据保护</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data protection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regulate</a:t>
            </a:r>
          </a:p>
        </p:txBody>
      </p:sp>
      <p:sp>
        <p:nvSpPr>
          <p:cNvPr id="10" name="Rounded Rectangle 9"/>
          <p:cNvSpPr/>
          <p:nvPr/>
        </p:nvSpPr>
        <p:spPr>
          <a:xfrm>
            <a:off x="3346704"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antitrust</a:t>
            </a:r>
          </a:p>
        </p:txBody>
      </p:sp>
      <p:sp>
        <p:nvSpPr>
          <p:cNvPr id="11" name="Rounded Rectangle 10"/>
          <p:cNvSpPr/>
          <p:nvPr/>
        </p:nvSpPr>
        <p:spPr>
          <a:xfrm>
            <a:off x="4791456"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compliance</a:t>
            </a:r>
          </a:p>
        </p:txBody>
      </p:sp>
      <p:sp>
        <p:nvSpPr>
          <p:cNvPr id="12" name="Rounded Rectangle 11"/>
          <p:cNvSpPr/>
          <p:nvPr/>
        </p:nvSpPr>
        <p:spPr>
          <a:xfrm>
            <a:off x="6345936"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monopoly</a:t>
            </a:r>
          </a:p>
        </p:txBody>
      </p:sp>
      <p:sp>
        <p:nvSpPr>
          <p:cNvPr id="13" name="Rounded Rectangle 12"/>
          <p:cNvSpPr/>
          <p:nvPr/>
        </p:nvSpPr>
        <p:spPr>
          <a:xfrm>
            <a:off x="7680960"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consent</a:t>
            </a:r>
          </a:p>
        </p:txBody>
      </p:sp>
      <p:sp>
        <p:nvSpPr>
          <p:cNvPr id="14" name="Rounded Rectangle 13"/>
          <p:cNvSpPr/>
          <p:nvPr/>
        </p:nvSpPr>
        <p:spPr>
          <a:xfrm>
            <a:off x="8906256"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breach</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Governments often _______ banks closely.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regulate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law protects competition.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Antitrust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costs can be high for small firms.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Compliance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_______ gives one firm control of the market.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monopoly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Users must give _______ before data is collected.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consent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 data _______ exposed customer details.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breach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regulate sth / regulation OF,stifle innovation,give consent TO;data 现多作不可数。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balanced debate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平衡辩论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discuss regulation.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Supporter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Sceptic</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A balanced debate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believe big tech companies need stronger regulation. They hold too much personal data.</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your point, but heavy rules could stifle innovation.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if they’re targeted. For example, clear privacy standards.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might work. My concern is that small firms can’t afford compliance.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A balanced debate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enough. Rules could scale with company size.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more reasonable.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we agree on a middle path?</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balance, yes.</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balanced debate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debate regulation.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Supporter.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Sceptic. Issue: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see your point · stifle innovation · targeted · middle path · on balance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Argue, concede a point and find common ground.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Bring an example.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 clarifying question.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where you disagree.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Explaining a privacy rule to a customer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向客户解释隐私规则</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customer service call.</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Customer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Agent</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privacy rule to a customer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do you need my consent to store my data?</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 data protection rules, we must ask permission before collecting personal information.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do with 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use it to provide the service and, if you agree, to send offers.</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privacy rule to a customer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withdraw consent later?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You can change your settings at any time.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to know.</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take transparency seriously.</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Explaining a privacy rule to a customer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privacy.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Agent. Question: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consent · must ask permission · personal information · withdraw · transparency</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data rules clearly and politely.</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an angry customer.</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a data breach.</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written summary.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tech companies be broken up?</a:t>
            </a:r>
          </a:p>
          <a:p>
            <a:pPr algn="l">
              <a:lnSpc>
                <a:spcPct val="115000"/>
              </a:lnSpc>
              <a:spcAft>
                <a:spcPts val="800"/>
              </a:spcAft>
            </a:pPr>
            <a:r>
              <a:rPr sz="1400" b="0">
                <a:solidFill>
                  <a:srgbClr val="5F677A"/>
                </a:solidFill>
                <a:latin typeface="Arial"/>
                <a:ea typeface="Microsoft YaHei"/>
              </a:rPr>
              <a:t>💬 “Some argue…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regulate technology: governments or industry?</a:t>
            </a:r>
          </a:p>
          <a:p>
            <a:pPr algn="l">
              <a:lnSpc>
                <a:spcPct val="115000"/>
              </a:lnSpc>
              <a:spcAft>
                <a:spcPts val="800"/>
              </a:spcAft>
            </a:pPr>
            <a:r>
              <a:rPr sz="1400" b="0">
                <a:solidFill>
                  <a:srgbClr val="5F677A"/>
                </a:solidFill>
                <a:latin typeface="Arial"/>
                <a:ea typeface="Microsoft YaHei"/>
              </a:rPr>
              <a:t>💬 “I think…”</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data privacy more important than convenience?</a:t>
            </a:r>
          </a:p>
          <a:p>
            <a:pPr algn="l">
              <a:lnSpc>
                <a:spcPct val="115000"/>
              </a:lnSpc>
              <a:spcAft>
                <a:spcPts val="800"/>
              </a:spcAft>
            </a:pPr>
            <a:r>
              <a:rPr sz="1400" b="0">
                <a:solidFill>
                  <a:srgbClr val="5F677A"/>
                </a:solidFill>
                <a:latin typeface="Arial"/>
                <a:ea typeface="Microsoft YaHei"/>
              </a:rPr>
              <a:t>💬 “It depends on…”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small firms compete with giants?</a:t>
            </a:r>
          </a:p>
          <a:p>
            <a:pPr algn="l">
              <a:lnSpc>
                <a:spcPct val="115000"/>
              </a:lnSpc>
              <a:spcAft>
                <a:spcPts val="800"/>
              </a:spcAft>
            </a:pPr>
            <a:r>
              <a:rPr sz="1400" b="0">
                <a:solidFill>
                  <a:srgbClr val="5F677A"/>
                </a:solidFill>
                <a:latin typeface="Arial"/>
                <a:ea typeface="Microsoft YaHei"/>
              </a:rPr>
              <a:t>💬 “By…”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regulation would you introduce?</a:t>
            </a:r>
          </a:p>
          <a:p>
            <a:pPr algn="l">
              <a:lnSpc>
                <a:spcPct val="115000"/>
              </a:lnSpc>
              <a:spcAft>
                <a:spcPts val="800"/>
              </a:spcAft>
            </a:pPr>
            <a:r>
              <a:rPr sz="1400" b="0">
                <a:solidFill>
                  <a:srgbClr val="5F677A"/>
                </a:solidFill>
                <a:latin typeface="Arial"/>
                <a:ea typeface="Microsoft YaHei"/>
              </a:rPr>
              <a:t>💬 “I’d introduce…”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privacy matters more than convenience, but the choice shouldn’t be forced. Users should know what data is collected and be able to refuse without losing basic services. Companies often hide this in long documents, so clearer, shorter explanations would help people make real choices.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“forced” 被迫;“make real choices” 做真正的选择。</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Debating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辩论用语</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Supporters argue that…</a:t>
                      </a:r>
                    </a:p>
                  </a:txBody>
                  <a:tcPr anchor="ctr">
                    <a:solidFill>
                      <a:srgbClr val="FFFFFF"/>
                    </a:solidFill>
                  </a:tcPr>
                </a:tc>
                <a:tc>
                  <a:txBody>
                    <a:bodyPr wrap="square"/>
                    <a:lstStyle/>
                    <a:p>
                      <a:r>
                        <a:rPr sz="1600" b="0">
                          <a:solidFill>
                            <a:srgbClr val="1F2A44"/>
                          </a:solidFill>
                          <a:latin typeface="Arial"/>
                          <a:ea typeface="Microsoft YaHei"/>
                        </a:rPr>
                        <a:t>Supporters argue that rules protect users.</a:t>
                      </a:r>
                    </a:p>
                  </a:txBody>
                  <a:tcPr anchor="ctr">
                    <a:solidFill>
                      <a:srgbClr val="FFFFFF"/>
                    </a:solidFill>
                  </a:tcPr>
                </a:tc>
              </a:tr>
              <a:tr h="408432">
                <a:tc>
                  <a:txBody>
                    <a:bodyPr wrap="square"/>
                    <a:lstStyle/>
                    <a:p>
                      <a:r>
                        <a:rPr sz="1600" b="1">
                          <a:solidFill>
                            <a:srgbClr val="1F2A44"/>
                          </a:solidFill>
                          <a:latin typeface="Arial"/>
                          <a:ea typeface="Microsoft YaHei"/>
                        </a:rPr>
                        <a:t>Critics claim that…</a:t>
                      </a:r>
                    </a:p>
                  </a:txBody>
                  <a:tcPr anchor="ctr">
                    <a:solidFill>
                      <a:srgbClr val="FFEFD9"/>
                    </a:solidFill>
                  </a:tcPr>
                </a:tc>
                <a:tc>
                  <a:txBody>
                    <a:bodyPr wrap="square"/>
                    <a:lstStyle/>
                    <a:p>
                      <a:r>
                        <a:rPr sz="1600" b="0">
                          <a:solidFill>
                            <a:srgbClr val="1F2A44"/>
                          </a:solidFill>
                          <a:latin typeface="Arial"/>
                          <a:ea typeface="Microsoft YaHei"/>
                        </a:rPr>
                        <a:t>Critics claim that it slows innovation.</a:t>
                      </a:r>
                    </a:p>
                  </a:txBody>
                  <a:tcPr anchor="ctr">
                    <a:solidFill>
                      <a:srgbClr val="FFEFD9"/>
                    </a:solidFill>
                  </a:tcPr>
                </a:tc>
              </a:tr>
              <a:tr h="408432">
                <a:tc>
                  <a:txBody>
                    <a:bodyPr wrap="square"/>
                    <a:lstStyle/>
                    <a:p>
                      <a:r>
                        <a:rPr sz="1600" b="1">
                          <a:solidFill>
                            <a:srgbClr val="1F2A44"/>
                          </a:solidFill>
                          <a:latin typeface="Arial"/>
                          <a:ea typeface="Microsoft YaHei"/>
                        </a:rPr>
                        <a:t>Concede</a:t>
                      </a:r>
                    </a:p>
                  </a:txBody>
                  <a:tcPr anchor="ctr">
                    <a:solidFill>
                      <a:srgbClr val="FFFFFF"/>
                    </a:solidFill>
                  </a:tcPr>
                </a:tc>
                <a:tc>
                  <a:txBody>
                    <a:bodyPr wrap="square"/>
                    <a:lstStyle/>
                    <a:p>
                      <a:r>
                        <a:rPr sz="1600" b="0">
                          <a:solidFill>
                            <a:srgbClr val="1F2A44"/>
                          </a:solidFill>
                          <a:latin typeface="Arial"/>
                          <a:ea typeface="Microsoft YaHei"/>
                        </a:rPr>
                        <a:t>I see your point, but…</a:t>
                      </a:r>
                    </a:p>
                  </a:txBody>
                  <a:tcPr anchor="ctr">
                    <a:solidFill>
                      <a:srgbClr val="FFFFFF"/>
                    </a:solidFill>
                  </a:tcPr>
                </a:tc>
              </a:tr>
              <a:tr h="408432">
                <a:tc>
                  <a:txBody>
                    <a:bodyPr wrap="square"/>
                    <a:lstStyle/>
                    <a:p>
                      <a:r>
                        <a:rPr sz="1600" b="1">
                          <a:solidFill>
                            <a:srgbClr val="1F2A44"/>
                          </a:solidFill>
                          <a:latin typeface="Arial"/>
                          <a:ea typeface="Microsoft YaHei"/>
                        </a:rPr>
                        <a:t>Conclude</a:t>
                      </a:r>
                    </a:p>
                  </a:txBody>
                  <a:tcPr anchor="ctr">
                    <a:solidFill>
                      <a:srgbClr val="FFEFD9"/>
                    </a:solidFill>
                  </a:tcPr>
                </a:tc>
                <a:tc>
                  <a:txBody>
                    <a:bodyPr wrap="square"/>
                    <a:lstStyle/>
                    <a:p>
                      <a:r>
                        <a:rPr sz="1600" b="0">
                          <a:solidFill>
                            <a:srgbClr val="1F2A44"/>
                          </a:solidFill>
                          <a:latin typeface="Arial"/>
                          <a:ea typeface="Microsoft YaHei"/>
                        </a:rPr>
                        <a:t>On balance, I’d support targeted rules.</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Debating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辩论用语</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After argue / claim / suggest, use a that-clause: </a:t>
            </a:r>
            <a:r>
              <a:rPr sz="1700" b="0">
                <a:solidFill>
                  <a:srgbClr val="1F2A44"/>
                </a:solidFill>
                <a:latin typeface="Arial"/>
                <a:ea typeface="Microsoft YaHei"/>
              </a:rPr>
              <a:t>argue that rules protect users.</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government should regulate to big tech.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government should regulate big tech.</a:t>
            </a:r>
          </a:p>
          <a:p>
            <a:pPr algn="l">
              <a:spcAft>
                <a:spcPts val="200"/>
              </a:spcAft>
            </a:pPr>
            <a:r>
              <a:rPr sz="1200" b="0">
                <a:solidFill>
                  <a:srgbClr val="FFFFFF"/>
                </a:solidFill>
                <a:latin typeface="Arial"/>
                <a:ea typeface="Microsoft YaHei"/>
              </a:rPr>
              <a:t>regulate 及物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Many datas are collected.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lot of data is collected.</a:t>
            </a:r>
          </a:p>
          <a:p>
            <a:pPr algn="l">
              <a:spcAft>
                <a:spcPts val="200"/>
              </a:spcAft>
            </a:pPr>
            <a:r>
              <a:rPr sz="1200" b="0">
                <a:solidFill>
                  <a:srgbClr val="FFFFFF"/>
                </a:solidFill>
                <a:latin typeface="Arial"/>
                <a:ea typeface="Microsoft YaHei"/>
              </a:rPr>
              <a:t>data 不可数(现代)</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agree with regulation.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regulation.</a:t>
            </a:r>
          </a:p>
          <a:p>
            <a:pPr algn="l">
              <a:spcAft>
                <a:spcPts val="200"/>
              </a:spcAft>
            </a:pPr>
            <a:r>
              <a:rPr sz="1200" b="0">
                <a:solidFill>
                  <a:srgbClr val="FFFFFF"/>
                </a:solidFill>
                <a:latin typeface="Arial"/>
                <a:ea typeface="Microsoft YaHei"/>
              </a:rPr>
              <a:t>agree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Critics claim to slow innovation.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Critics claim that it slows innovation.</a:t>
            </a:r>
          </a:p>
          <a:p>
            <a:pPr algn="l">
              <a:spcAft>
                <a:spcPts val="200"/>
              </a:spcAft>
            </a:pPr>
            <a:r>
              <a:rPr sz="1200" b="0">
                <a:solidFill>
                  <a:srgbClr val="FFFFFF"/>
                </a:solidFill>
                <a:latin typeface="Arial"/>
                <a:ea typeface="Microsoft YaHei"/>
              </a:rPr>
              <a:t>that 从句</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against of the law.</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against the law.</a:t>
            </a:r>
          </a:p>
          <a:p>
            <a:pPr algn="l">
              <a:spcAft>
                <a:spcPts val="200"/>
              </a:spcAft>
            </a:pPr>
            <a:r>
              <a:rPr sz="1200" b="0">
                <a:solidFill>
                  <a:srgbClr val="FFFFFF"/>
                </a:solidFill>
                <a:latin typeface="Arial"/>
                <a:ea typeface="Microsoft YaHei"/>
              </a:rPr>
              <a:t>against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Tech companies have too big power.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Tech companies have too much power.</a:t>
            </a:r>
          </a:p>
          <a:p>
            <a:pPr algn="l">
              <a:spcAft>
                <a:spcPts val="200"/>
              </a:spcAft>
            </a:pPr>
            <a:r>
              <a:rPr sz="1200" b="0">
                <a:solidFill>
                  <a:srgbClr val="FFFFFF"/>
                </a:solidFill>
                <a:latin typeface="Arial"/>
                <a:ea typeface="Microsoft YaHei"/>
              </a:rPr>
              <a:t>too much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regulate (transitive), uncountable data / power, agree with, that-clauses.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Rules differ. EU, US and other regions regulate data differently; mention “in the EU” when relevant.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Respect disagreement. “I see your point, but…” keeps debate civil.</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Avoid conspiracy language. Stay with evidence.</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Use “personal data” rather than “private things”.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debate regulation using balanced language.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privacy rules simply.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concede and find a middle path.</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regulate (transitive), data (uncountable) and agree with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92 Regulating big tech</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both sides of the regulation debate and your view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regulate transitive, data uncountable, agree with.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 · Lesson 93 Technology work buddies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Technology work buddies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科技工作伙伴</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working alongside AI assistants, robots and software “colleagues”, and discuss benefits, limits and trust.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use AI tools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tasks would you hand to a robot or AI assistant?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a machine be a good “colleague”?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relying on AI?</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we check AI’s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“buddy” 搭档(口语);“AI assistant” AI 助手。第 3 题用 can 问可能性。</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technology helps you at work and its limits.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tool</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it does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benefits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limits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use… to…   💬 It helps me…   💬 However, it can’t…   💬 I always check…</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“help sb (to) + 动词原形”;“rely on” 依赖。</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A colleague that never sleeps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Many workplaces now include digital helpers: chatbots answer customer questions, software drafts emails, robots move boxes in warehouses, and AI tools summarise meetings. These systems are fast, never get tired and can handle repetitive tasks, which frees people for work that needs judgement and empathy. However, they are not perfect. They can produce confident but wrong answers, reflect bias in the data they were trained on, and miss context. Experts recommend treating them like a new junior colleague: useful, but needing supervision. Check important outputs, protect confidential information, and be clear about who is responsible for the final decision. Employees may also worry about their jobs, so managers should explain how tools will be used and offer training. The best results usually come from humans and machines working together.</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digital helpers good at?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Fast, never tired, repetitive tasks.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their limits?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Confident but wrong answers, bias from data, missing context.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should we treat them, according to experts?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Like a new junior colleague: useful but needing supervision.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Tools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工具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AI assistant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AI 助手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AI assistant drafts emails.”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chatbot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聊天机器人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chatbot answers questions.”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automate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自动化</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automated invoicing.”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co-pilot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协作助手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works as my co-pilot.”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robotic process automation (RPA)</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流程自动化</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“RPA handles data entry.”</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Benefits and limits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好处与局限</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free up time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腾出时间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frees up time for strategy.”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repetitive tasks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重复性任务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“Robots do repetitive tasks.”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accuracy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准确性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“Check accuracy.”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hallucinate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(AI)编造信息</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AI hallucinated a source.”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human in the loop</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人工参与</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a human in the loop.”</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Working together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人机协作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rely on</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依赖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rely on it blindly.”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oversight / supervision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监督</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“Tools need supervision.”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confidential</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保密的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paste confidential data.”</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augment</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增强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augments human work.”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upskill</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提升技能</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upskill staff to use new tools.”</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人工参与</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human in the loop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AI 助手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AI assistant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重复性任务</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repetitive tasks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增强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augment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协作助手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co-pilot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腾出时间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 up time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保密的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confidential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自动化</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automate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assistant</a:t>
            </a:r>
          </a:p>
        </p:txBody>
      </p:sp>
      <p:sp>
        <p:nvSpPr>
          <p:cNvPr id="10" name="Rounded Rectangle 9"/>
          <p:cNvSpPr/>
          <p:nvPr/>
        </p:nvSpPr>
        <p:spPr>
          <a:xfrm>
            <a:off x="3456432"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chatbot</a:t>
            </a:r>
          </a:p>
        </p:txBody>
      </p:sp>
      <p:sp>
        <p:nvSpPr>
          <p:cNvPr id="11" name="Rounded Rectangle 10"/>
          <p:cNvSpPr/>
          <p:nvPr/>
        </p:nvSpPr>
        <p:spPr>
          <a:xfrm>
            <a:off x="4681728"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repetitive</a:t>
            </a:r>
          </a:p>
        </p:txBody>
      </p:sp>
      <p:sp>
        <p:nvSpPr>
          <p:cNvPr id="12" name="Rounded Rectangle 11"/>
          <p:cNvSpPr/>
          <p:nvPr/>
        </p:nvSpPr>
        <p:spPr>
          <a:xfrm>
            <a:off x="6236208"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accuracy</a:t>
            </a:r>
          </a:p>
        </p:txBody>
      </p:sp>
      <p:sp>
        <p:nvSpPr>
          <p:cNvPr id="13" name="Rounded Rectangle 12"/>
          <p:cNvSpPr/>
          <p:nvPr/>
        </p:nvSpPr>
        <p:spPr>
          <a:xfrm>
            <a:off x="7571232"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supervision</a:t>
            </a:r>
          </a:p>
        </p:txBody>
      </p:sp>
      <p:sp>
        <p:nvSpPr>
          <p:cNvPr id="14" name="Rounded Rectangle 13"/>
          <p:cNvSpPr/>
          <p:nvPr/>
        </p:nvSpPr>
        <p:spPr>
          <a:xfrm>
            <a:off x="9235439"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confidential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My AI _______ drafts my emails.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assistant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_______ answers customers’ questions.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chatbot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Robots do _______ tasks well.</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repetitive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Always check the _______ of the results.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accuracy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These tools need human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supervision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Don’t paste _______ data into public tools.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confidential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rely ON,free up time,work alongside;software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Sharing how you use an AI tool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分享使用 AI 的方式</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compare notes.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Sharing how you use an AI tool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 an AI assistant to summarise meetings. It saves me an hour a day.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accurate?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But I always check important points.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Does it handle confidential information?</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Sharing how you use an AI tool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put sensitive details in. We have a company rule.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Makes sense. I use it for first drafts.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Same. It’s like a junior colleague. Useful, but needs checking.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 that comparison.</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Sharing how you use an AI tool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AI use.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Tool: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saves me an hour · accurate · confidential · first drafts · like a junior colleague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a tool, a benefit and a limit.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mistake it made.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company rule.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training session.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Addressing job worries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回应对工作的担忧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speaks to the team.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Employee</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Addressing job worries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introducing an AI tool for routine reports.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it replace our jobs?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aim is to free up your time for analysis, not to cut staff.</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we be sure?</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Addressing job worries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can’t promise the future, but we’ll train everyone and review roles openly.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reassuring.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also keep a human in the loop for important decisions.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honest.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Addressing job worries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AI at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Concern: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free up your time · replace · train · review openly · human in the loop</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honest, avoid false promises and explain support.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pilot.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ideas.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feedback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tasks should never be automated?</a:t>
            </a:r>
          </a:p>
          <a:p>
            <a:pPr algn="l">
              <a:lnSpc>
                <a:spcPct val="115000"/>
              </a:lnSpc>
              <a:spcAft>
                <a:spcPts val="800"/>
              </a:spcAft>
            </a:pPr>
            <a:r>
              <a:rPr sz="1400" b="0">
                <a:solidFill>
                  <a:srgbClr val="5F677A"/>
                </a:solidFill>
                <a:latin typeface="Arial"/>
                <a:ea typeface="Microsoft YaHei"/>
              </a:rPr>
              <a:t>💬 “Tasks requiring…”</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AI be trusted?</a:t>
            </a:r>
          </a:p>
          <a:p>
            <a:pPr algn="l">
              <a:lnSpc>
                <a:spcPct val="115000"/>
              </a:lnSpc>
              <a:spcAft>
                <a:spcPts val="800"/>
              </a:spcAft>
            </a:pPr>
            <a:r>
              <a:rPr sz="1400" b="0">
                <a:solidFill>
                  <a:srgbClr val="5F677A"/>
                </a:solidFill>
                <a:latin typeface="Arial"/>
                <a:ea typeface="Microsoft YaHei"/>
              </a:rPr>
              <a:t>💬 “Only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AI change your job in five years?</a:t>
            </a:r>
          </a:p>
          <a:p>
            <a:pPr algn="l">
              <a:lnSpc>
                <a:spcPct val="115000"/>
              </a:lnSpc>
              <a:spcAft>
                <a:spcPts val="800"/>
              </a:spcAft>
            </a:pPr>
            <a:r>
              <a:rPr sz="1400" b="0">
                <a:solidFill>
                  <a:srgbClr val="5F677A"/>
                </a:solidFill>
                <a:latin typeface="Arial"/>
                <a:ea typeface="Microsoft YaHei"/>
              </a:rPr>
              <a:t>💬 “It might…”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companies train staff?</a:t>
            </a:r>
          </a:p>
          <a:p>
            <a:pPr algn="l">
              <a:lnSpc>
                <a:spcPct val="115000"/>
              </a:lnSpc>
              <a:spcAft>
                <a:spcPts val="800"/>
              </a:spcAft>
            </a:pPr>
            <a:r>
              <a:rPr sz="1400" b="0">
                <a:solidFill>
                  <a:srgbClr val="5F677A"/>
                </a:solidFill>
                <a:latin typeface="Arial"/>
                <a:ea typeface="Microsoft YaHei"/>
              </a:rPr>
              <a:t>💬 “By…”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working with AI more enjoyable?</a:t>
            </a:r>
          </a:p>
          <a:p>
            <a:pPr algn="l">
              <a:lnSpc>
                <a:spcPct val="115000"/>
              </a:lnSpc>
              <a:spcAft>
                <a:spcPts val="800"/>
              </a:spcAft>
            </a:pPr>
            <a:r>
              <a:rPr sz="1400" b="0">
                <a:solidFill>
                  <a:srgbClr val="5F677A"/>
                </a:solidFill>
                <a:latin typeface="Arial"/>
                <a:ea typeface="Microsoft YaHei"/>
              </a:rPr>
              <a:t>💬 “It depends…”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tasks that need empathy or ethical judgement shouldn’t be automated, such as giving bad news or deciding someone’s future. A tool can help prepare, but a person should make the final call. People want to feel that another human understands them.</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“make the final call” 拍板;“ethical judgement” 道德判断。</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Explaining how a tool helps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解释工具如何帮忙</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It allows/enables sb to…</a:t>
                      </a:r>
                    </a:p>
                  </a:txBody>
                  <a:tcPr anchor="ctr">
                    <a:solidFill>
                      <a:srgbClr val="FFFFFF"/>
                    </a:solidFill>
                  </a:tcPr>
                </a:tc>
                <a:tc>
                  <a:txBody>
                    <a:bodyPr wrap="square"/>
                    <a:lstStyle/>
                    <a:p>
                      <a:r>
                        <a:rPr sz="1600" b="0">
                          <a:solidFill>
                            <a:srgbClr val="1F2A44"/>
                          </a:solidFill>
                          <a:latin typeface="Arial"/>
                          <a:ea typeface="Microsoft YaHei"/>
                        </a:rPr>
                        <a:t>It allows me to summarise meetings quickly.</a:t>
                      </a:r>
                    </a:p>
                  </a:txBody>
                  <a:tcPr anchor="ctr">
                    <a:solidFill>
                      <a:srgbClr val="FFFFFF"/>
                    </a:solidFill>
                  </a:tcPr>
                </a:tc>
              </a:tr>
              <a:tr h="408432">
                <a:tc>
                  <a:txBody>
                    <a:bodyPr wrap="square"/>
                    <a:lstStyle/>
                    <a:p>
                      <a:r>
                        <a:rPr sz="1600" b="1">
                          <a:solidFill>
                            <a:srgbClr val="1F2A44"/>
                          </a:solidFill>
                          <a:latin typeface="Arial"/>
                          <a:ea typeface="Microsoft YaHei"/>
                        </a:rPr>
                        <a:t>It helps me + base</a:t>
                      </a:r>
                    </a:p>
                  </a:txBody>
                  <a:tcPr anchor="ctr">
                    <a:solidFill>
                      <a:srgbClr val="FFEFD9"/>
                    </a:solidFill>
                  </a:tcPr>
                </a:tc>
                <a:tc>
                  <a:txBody>
                    <a:bodyPr wrap="square"/>
                    <a:lstStyle/>
                    <a:p>
                      <a:r>
                        <a:rPr sz="1600" b="0">
                          <a:solidFill>
                            <a:srgbClr val="1F2A44"/>
                          </a:solidFill>
                          <a:latin typeface="Arial"/>
                          <a:ea typeface="Microsoft YaHei"/>
                        </a:rPr>
                        <a:t>It helps me write faster.</a:t>
                      </a:r>
                    </a:p>
                  </a:txBody>
                  <a:tcPr anchor="ctr">
                    <a:solidFill>
                      <a:srgbClr val="FFEFD9"/>
                    </a:solidFill>
                  </a:tcPr>
                </a:tc>
              </a:tr>
              <a:tr h="408432">
                <a:tc>
                  <a:txBody>
                    <a:bodyPr wrap="square"/>
                    <a:lstStyle/>
                    <a:p>
                      <a:r>
                        <a:rPr sz="1600" b="1">
                          <a:solidFill>
                            <a:srgbClr val="1F2A44"/>
                          </a:solidFill>
                          <a:latin typeface="Arial"/>
                          <a:ea typeface="Microsoft YaHei"/>
                        </a:rPr>
                        <a:t>It works by + -ing</a:t>
                      </a:r>
                    </a:p>
                  </a:txBody>
                  <a:tcPr anchor="ctr">
                    <a:solidFill>
                      <a:srgbClr val="FFFFFF"/>
                    </a:solidFill>
                  </a:tcPr>
                </a:tc>
                <a:tc>
                  <a:txBody>
                    <a:bodyPr wrap="square"/>
                    <a:lstStyle/>
                    <a:p>
                      <a:r>
                        <a:rPr sz="1600" b="0">
                          <a:solidFill>
                            <a:srgbClr val="1F2A44"/>
                          </a:solidFill>
                          <a:latin typeface="Arial"/>
                          <a:ea typeface="Microsoft YaHei"/>
                        </a:rPr>
                        <a:t>It works by analysing patterns.</a:t>
                      </a:r>
                    </a:p>
                  </a:txBody>
                  <a:tcPr anchor="ctr">
                    <a:solidFill>
                      <a:srgbClr val="FFFFFF"/>
                    </a:solidFill>
                  </a:tcPr>
                </a:tc>
              </a:tr>
              <a:tr h="408432">
                <a:tc>
                  <a:txBody>
                    <a:bodyPr wrap="square"/>
                    <a:lstStyle/>
                    <a:p>
                      <a:r>
                        <a:rPr sz="1600" b="1">
                          <a:solidFill>
                            <a:srgbClr val="1F2A44"/>
                          </a:solidFill>
                          <a:latin typeface="Arial"/>
                          <a:ea typeface="Microsoft YaHei"/>
                        </a:rPr>
                        <a:t>You can use it to + base</a:t>
                      </a:r>
                    </a:p>
                  </a:txBody>
                  <a:tcPr anchor="ctr">
                    <a:solidFill>
                      <a:srgbClr val="FFEFD9"/>
                    </a:solidFill>
                  </a:tcPr>
                </a:tc>
                <a:tc>
                  <a:txBody>
                    <a:bodyPr wrap="square"/>
                    <a:lstStyle/>
                    <a:p>
                      <a:r>
                        <a:rPr sz="1600" b="0">
                          <a:solidFill>
                            <a:srgbClr val="1F2A44"/>
                          </a:solidFill>
                          <a:latin typeface="Arial"/>
                          <a:ea typeface="Microsoft YaHei"/>
                        </a:rPr>
                        <a:t>You can use it to draft emails.</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Explaining how a tool helps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解释工具如何帮忙</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After allow / enable, use object + to + base; after help, base or to + base.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allows me summarise.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allows me to summarise.</a:t>
            </a:r>
          </a:p>
          <a:p>
            <a:pPr algn="l">
              <a:spcAft>
                <a:spcPts val="200"/>
              </a:spcAft>
            </a:pPr>
            <a:r>
              <a:rPr sz="1200" b="0">
                <a:solidFill>
                  <a:srgbClr val="FFFFFF"/>
                </a:solidFill>
                <a:latin typeface="Arial"/>
                <a:ea typeface="Microsoft YaHei"/>
              </a:rPr>
              <a:t>allow sb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is helpful to save time.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helps (us) save time.</a:t>
            </a:r>
          </a:p>
          <a:p>
            <a:pPr algn="l">
              <a:spcAft>
                <a:spcPts val="200"/>
              </a:spcAft>
            </a:pPr>
            <a:r>
              <a:rPr sz="1200" b="0">
                <a:solidFill>
                  <a:srgbClr val="FFFFFF"/>
                </a:solidFill>
                <a:latin typeface="Arial"/>
                <a:ea typeface="Microsoft YaHei"/>
              </a:rPr>
              <a:t>help</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rely in AI.</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rely on AI.</a:t>
            </a:r>
          </a:p>
          <a:p>
            <a:pPr algn="l">
              <a:spcAft>
                <a:spcPts val="200"/>
              </a:spcAft>
            </a:pPr>
            <a:r>
              <a:rPr sz="1200" b="0">
                <a:solidFill>
                  <a:srgbClr val="FFFFFF"/>
                </a:solidFill>
                <a:latin typeface="Arial"/>
                <a:ea typeface="Microsoft YaHei"/>
              </a:rPr>
              <a:t>rely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software are useful.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software is useful.</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very convenience.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is very convenient.</a:t>
            </a:r>
          </a:p>
          <a:p>
            <a:pPr algn="l">
              <a:spcAft>
                <a:spcPts val="200"/>
              </a:spcAft>
            </a:pPr>
            <a:r>
              <a:rPr sz="1200" b="0">
                <a:solidFill>
                  <a:srgbClr val="FFFFFF"/>
                </a:solidFill>
                <a:latin typeface="Arial"/>
                <a:ea typeface="Microsoft YaHei"/>
              </a:rPr>
              <a:t>形容词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afraid AI will replace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AI will replace me.</a:t>
            </a:r>
          </a:p>
          <a:p>
            <a:pPr algn="l">
              <a:spcAft>
                <a:spcPts val="200"/>
              </a:spcAft>
            </a:pPr>
            <a:r>
              <a:rPr sz="1200" b="0">
                <a:solidFill>
                  <a:srgbClr val="FFFFFF"/>
                </a:solidFill>
                <a:latin typeface="Arial"/>
                <a:ea typeface="Microsoft YaHei"/>
              </a:rPr>
              <a:t>be 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allow sb to, rely on, uncountable software, adjectives.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Know your company’s AI policy. Many firms set rules on data and tools.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Disclose AI use where required.</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Keep it human. Personal messages often need a human touch.</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Fact-check. Treat AI output as a draft, not a final answer.</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AI and software helpers at work.</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benefits and limits.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address job worries honestly.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allow sb to, rely on and uncountable software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93 Technology work buddies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tool you use and its limits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allow sb to, rely on, software uncountable.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 · Lesson 94 Living a digital nomad lifestyle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Living a digital nomad lifestyle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数字游民的生活方式</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working remotely while travelling, with pros, cons, practicalities, and advice.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like to work from different countries?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need to work well while travelling?</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challenges of being a digital nomad?</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countries would be good bases for nomads?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a lifestyle for everyone?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“digital nomad” 数字游民;“co-working space” 共享办公空间;“visa” 签证。第 1 题 “Would you like to” 愿望。</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the pros and cons of a digital nomad lifestyle.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advantages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challenges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digital nomad is someone who…   💬 The big advantage is…   💬 On the downside, …   💬 It’s best suited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“someone who + 动词” 定义;“suited to” 适合于。</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office with a 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Digital nomads are people who work online while living in different places, often changing countries every few months. The attraction is freedom: they choose their surroundings, may reduce living costs, and meet new cultures. In practice, the lifestyle takes careful planning. Reliable internet is essential, as are time-zone overlaps with colleagues or clients. Visas and tax rules are complicated, and some countries now offer special visas for remote workers. Loneliness and lack of routine can also be problems, which is why many nomads use co-working spaces and local communities. Employers are divided: some embrace flexibility, others worry about security and legal issues. The lifestyle suits independent, organised people who are comfortable with uncertainty, but it is not for everyone. Anyone considering it should test the idea with a short trip before committing to a full-time change.</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attracts people to the lifestyle?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Freedom to choose surroundings, lower living costs, new cultures.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practical challenges.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Internet reliability, time zones, visas and tax rules, loneliness.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Who is the lifestyle suited to?</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Independent, organised people comfortable with uncertainty.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Lifestyle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生活方式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digital nomad</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数字游民</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digital nomad.”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 remotely</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远程工作</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work remotely from Bali.”</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location-independent</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不受地点限制的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location-independent career.”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workation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度假式办公</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took a workation.”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slowmad</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慢游民(长期驻留)</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slowmad stays months in one place.”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Practicalities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实际问题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co-working space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共享办公空间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work from a co-working space.”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time-zone overlap</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时差重叠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a time-zone overlap.”</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digital nomad visa</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数字游民签证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countries offer a nomad visa.”</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tax residency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税务居民身份</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“Tax residency is complex.”</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stable connectivity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稳定网络</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“Stable connectivity is essential.”</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Pros and cons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利弊</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freedom and flexibility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自由与灵活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value freedom and flexibility.”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feel isolated</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感到孤立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“Nomads can feel isolated.”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work-life blur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工作生活界限模糊</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“Work-life blur is common.”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out</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nomads burn out.”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down roots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安顿下来</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“Eventually she wanted to put down roots.”</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安顿下来</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down roots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共享办公空间</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co-working space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税务居民身份</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tax residency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精疲力竭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out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不受地点限制的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location-independent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自由与灵活</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freedom and flexibility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远程工作</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remotely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数字游民</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digital nomad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nomad</a:t>
            </a:r>
          </a:p>
        </p:txBody>
      </p:sp>
      <p:sp>
        <p:nvSpPr>
          <p:cNvPr id="10" name="Rounded Rectangle 9"/>
          <p:cNvSpPr/>
          <p:nvPr/>
        </p:nvSpPr>
        <p:spPr>
          <a:xfrm>
            <a:off x="301752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remotely</a:t>
            </a:r>
          </a:p>
        </p:txBody>
      </p:sp>
      <p:sp>
        <p:nvSpPr>
          <p:cNvPr id="11" name="Rounded Rectangle 10"/>
          <p:cNvSpPr/>
          <p:nvPr/>
        </p:nvSpPr>
        <p:spPr>
          <a:xfrm>
            <a:off x="435254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co-working</a:t>
            </a:r>
          </a:p>
        </p:txBody>
      </p:sp>
      <p:sp>
        <p:nvSpPr>
          <p:cNvPr id="12" name="Rounded Rectangle 11"/>
          <p:cNvSpPr/>
          <p:nvPr/>
        </p:nvSpPr>
        <p:spPr>
          <a:xfrm>
            <a:off x="5907024"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overlap</a:t>
            </a:r>
          </a:p>
        </p:txBody>
      </p:sp>
      <p:sp>
        <p:nvSpPr>
          <p:cNvPr id="13" name="Rounded Rectangle 12"/>
          <p:cNvSpPr/>
          <p:nvPr/>
        </p:nvSpPr>
        <p:spPr>
          <a:xfrm>
            <a:off x="7132320"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visa</a:t>
            </a:r>
          </a:p>
        </p:txBody>
      </p:sp>
      <p:sp>
        <p:nvSpPr>
          <p:cNvPr id="14" name="Rounded Rectangle 13"/>
          <p:cNvSpPr/>
          <p:nvPr/>
        </p:nvSpPr>
        <p:spPr>
          <a:xfrm>
            <a:off x="8028432"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isolated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works as a digital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nomad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He works _______ from Portugal.</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remotely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rent a desk in a _______ space.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co-working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need a time-zone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overlap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Some countries offer a special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visa</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Nomads can feel _______ at times.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isolated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work remotely(不加 from remote),a nomad visa,feel isolated;co-working 带连字符。</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Talking to a friend about the lifestyle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与朋友聊这种生活</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casual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Nomad</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to a friend about the lifestyle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you work from a different country every few months?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I’m in Lisbon now. I work remotely for a software company.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best part?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freedom, and meeting people from everywhere.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downside?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Loneliness sometimes, and time differences with my team.</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 you cope?</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 a co-working space and keep a regular routine.</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Talking to a friend about the lifestyle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a nomad lifestyle.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Nomad. Place: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work remotely · the best part · downside · co-working space · routine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and answer about benefits and challenges.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Talk about costs.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visas.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whether you’d do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Negotiating remote work abroad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就海外远程办公协商</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Negotiating remote work abroad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ask about working remotely from abroad for two months.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Which country, and why?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Spain. My partner has a project there. I’d keep the same working hours.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concern is tax and security. We’d need to check regulations.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Negotiating remote work abroad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I’ll research the visa and use a secure VPN.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your time zone?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Only one hour ahead, so there’s full overlap.</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check with HR and come back to you.</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Negotiating remote work abroad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request remote work abroad.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Country: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working remotely from abroad · time-zone · tax · security · come back to you</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a request, address concerns and agree next steps.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trial period.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Provide a written plan.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Accept possible “no”.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work as a digital nomad?</a:t>
            </a:r>
          </a:p>
          <a:p>
            <a:pPr algn="l">
              <a:lnSpc>
                <a:spcPct val="115000"/>
              </a:lnSpc>
              <a:spcAft>
                <a:spcPts val="800"/>
              </a:spcAft>
            </a:pPr>
            <a:r>
              <a:rPr sz="1400" b="0">
                <a:solidFill>
                  <a:srgbClr val="5F677A"/>
                </a:solidFill>
                <a:latin typeface="Arial"/>
                <a:ea typeface="Microsoft YaHei"/>
              </a:rPr>
              <a:t>💬 “I might,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for employers?</a:t>
            </a:r>
          </a:p>
          <a:p>
            <a:pPr algn="l">
              <a:lnSpc>
                <a:spcPct val="115000"/>
              </a:lnSpc>
              <a:spcAft>
                <a:spcPts val="800"/>
              </a:spcAft>
            </a:pPr>
            <a:r>
              <a:rPr sz="1400" b="0">
                <a:solidFill>
                  <a:srgbClr val="5F677A"/>
                </a:solidFill>
                <a:latin typeface="Arial"/>
                <a:ea typeface="Microsoft YaHei"/>
              </a:rPr>
              <a:t>💬 “They worry about…”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nomads stay productive?</a:t>
            </a:r>
          </a:p>
          <a:p>
            <a:pPr algn="l">
              <a:lnSpc>
                <a:spcPct val="115000"/>
              </a:lnSpc>
              <a:spcAft>
                <a:spcPts val="800"/>
              </a:spcAft>
            </a:pPr>
            <a:r>
              <a:rPr sz="1400" b="0">
                <a:solidFill>
                  <a:srgbClr val="5F677A"/>
                </a:solidFill>
                <a:latin typeface="Arial"/>
                <a:ea typeface="Microsoft YaHei"/>
              </a:rPr>
              <a:t>💬 “By…”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Does remote work benefit local communities?</a:t>
            </a:r>
          </a:p>
          <a:p>
            <a:pPr algn="l">
              <a:lnSpc>
                <a:spcPct val="115000"/>
              </a:lnSpc>
              <a:spcAft>
                <a:spcPts val="800"/>
              </a:spcAft>
            </a:pPr>
            <a:r>
              <a:rPr sz="1400" b="0">
                <a:solidFill>
                  <a:srgbClr val="5F677A"/>
                </a:solidFill>
                <a:latin typeface="Arial"/>
                <a:ea typeface="Microsoft YaHei"/>
              </a:rPr>
              <a:t>💬 “It can, but…”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do nomads need?</a:t>
            </a:r>
          </a:p>
          <a:p>
            <a:pPr algn="l">
              <a:lnSpc>
                <a:spcPct val="115000"/>
              </a:lnSpc>
              <a:spcAft>
                <a:spcPts val="800"/>
              </a:spcAft>
            </a:pPr>
            <a:r>
              <a:rPr sz="1400" b="0">
                <a:solidFill>
                  <a:srgbClr val="5F677A"/>
                </a:solidFill>
                <a:latin typeface="Arial"/>
                <a:ea typeface="Microsoft YaHei"/>
              </a:rPr>
              <a:t>💬 “Self-discipline…”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might try it for a few months, but not long-term. I like the idea of experiencing new places while working, but I value routines and being close to family. A trial period would help me find out if it suits me. I’d also need a stable job with a supportive employer.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“find out if” 弄清楚是否;“suits me” 适合我。</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Pros, cons and suitability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利弊与适合度</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The big advantage is…</a:t>
                      </a:r>
                    </a:p>
                  </a:txBody>
                  <a:tcPr anchor="ctr">
                    <a:solidFill>
                      <a:srgbClr val="FFFFFF"/>
                    </a:solidFill>
                  </a:tcPr>
                </a:tc>
                <a:tc>
                  <a:txBody>
                    <a:bodyPr wrap="square"/>
                    <a:lstStyle/>
                    <a:p>
                      <a:r>
                        <a:rPr sz="1600" b="0">
                          <a:solidFill>
                            <a:srgbClr val="1F2A44"/>
                          </a:solidFill>
                          <a:latin typeface="Arial"/>
                          <a:ea typeface="Microsoft YaHei"/>
                        </a:rPr>
                        <a:t>The big advantage is freedom.</a:t>
                      </a:r>
                    </a:p>
                  </a:txBody>
                  <a:tcPr anchor="ctr">
                    <a:solidFill>
                      <a:srgbClr val="FFFFFF"/>
                    </a:solidFill>
                  </a:tcPr>
                </a:tc>
              </a:tr>
              <a:tr h="408432">
                <a:tc>
                  <a:txBody>
                    <a:bodyPr wrap="square"/>
                    <a:lstStyle/>
                    <a:p>
                      <a:r>
                        <a:rPr sz="1600" b="1">
                          <a:solidFill>
                            <a:srgbClr val="1F2A44"/>
                          </a:solidFill>
                          <a:latin typeface="Arial"/>
                          <a:ea typeface="Microsoft YaHei"/>
                        </a:rPr>
                        <a:t>On the downside, …</a:t>
                      </a:r>
                    </a:p>
                  </a:txBody>
                  <a:tcPr anchor="ctr">
                    <a:solidFill>
                      <a:srgbClr val="FFEFD9"/>
                    </a:solidFill>
                  </a:tcPr>
                </a:tc>
                <a:tc>
                  <a:txBody>
                    <a:bodyPr wrap="square"/>
                    <a:lstStyle/>
                    <a:p>
                      <a:r>
                        <a:rPr sz="1600" b="0">
                          <a:solidFill>
                            <a:srgbClr val="1F2A44"/>
                          </a:solidFill>
                          <a:latin typeface="Arial"/>
                          <a:ea typeface="Microsoft YaHei"/>
                        </a:rPr>
                        <a:t>On the downside, it can be lonely.</a:t>
                      </a:r>
                    </a:p>
                  </a:txBody>
                  <a:tcPr anchor="ctr">
                    <a:solidFill>
                      <a:srgbClr val="FFEFD9"/>
                    </a:solidFill>
                  </a:tcPr>
                </a:tc>
              </a:tr>
              <a:tr h="408432">
                <a:tc>
                  <a:txBody>
                    <a:bodyPr wrap="square"/>
                    <a:lstStyle/>
                    <a:p>
                      <a:r>
                        <a:rPr sz="1600" b="1">
                          <a:solidFill>
                            <a:srgbClr val="1F2A44"/>
                          </a:solidFill>
                          <a:latin typeface="Arial"/>
                          <a:ea typeface="Microsoft YaHei"/>
                        </a:rPr>
                        <a:t>It’s best suited to…</a:t>
                      </a:r>
                    </a:p>
                  </a:txBody>
                  <a:tcPr anchor="ctr">
                    <a:solidFill>
                      <a:srgbClr val="FFFFFF"/>
                    </a:solidFill>
                  </a:tcPr>
                </a:tc>
                <a:tc>
                  <a:txBody>
                    <a:bodyPr wrap="square"/>
                    <a:lstStyle/>
                    <a:p>
                      <a:r>
                        <a:rPr sz="1600" b="0">
                          <a:solidFill>
                            <a:srgbClr val="1F2A44"/>
                          </a:solidFill>
                          <a:latin typeface="Arial"/>
                          <a:ea typeface="Microsoft YaHei"/>
                        </a:rPr>
                        <a:t>It’s best suited to independent people.</a:t>
                      </a:r>
                    </a:p>
                  </a:txBody>
                  <a:tcPr anchor="ctr">
                    <a:solidFill>
                      <a:srgbClr val="FFFFFF"/>
                    </a:solidFill>
                  </a:tcPr>
                </a:tc>
              </a:tr>
              <a:tr h="408432">
                <a:tc>
                  <a:txBody>
                    <a:bodyPr wrap="square"/>
                    <a:lstStyle/>
                    <a:p>
                      <a:r>
                        <a:rPr sz="1600" b="1">
                          <a:solidFill>
                            <a:srgbClr val="1F2A44"/>
                          </a:solidFill>
                          <a:latin typeface="Arial"/>
                          <a:ea typeface="Microsoft YaHei"/>
                        </a:rPr>
                        <a:t>It depends on whether…</a:t>
                      </a:r>
                    </a:p>
                  </a:txBody>
                  <a:tcPr anchor="ctr">
                    <a:solidFill>
                      <a:srgbClr val="FFEFD9"/>
                    </a:solidFill>
                  </a:tcPr>
                </a:tc>
                <a:tc>
                  <a:txBody>
                    <a:bodyPr wrap="square"/>
                    <a:lstStyle/>
                    <a:p>
                      <a:r>
                        <a:rPr sz="1600" b="0">
                          <a:solidFill>
                            <a:srgbClr val="1F2A44"/>
                          </a:solidFill>
                          <a:latin typeface="Arial"/>
                          <a:ea typeface="Microsoft YaHei"/>
                        </a:rPr>
                        <a:t>It depends on whether your employer agrees.</a:t>
                      </a:r>
                    </a:p>
                  </a:txBody>
                  <a:tcPr anchor="ctr">
                    <a:solidFill>
                      <a:srgbClr val="FFEFD9"/>
                    </a:solidFill>
                  </a:tcPr>
                </a:tc>
              </a:tr>
            </a:tbl>
          </a:graphicData>
        </a:graphic>
      </p:graphicFrame>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Pros, cons and suitability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利弊与适合度</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Suited to / suitable for: </a:t>
            </a:r>
            <a:r>
              <a:rPr sz="1700" b="0">
                <a:solidFill>
                  <a:srgbClr val="1F2A44"/>
                </a:solidFill>
                <a:latin typeface="Arial"/>
                <a:ea typeface="Microsoft YaHei"/>
              </a:rPr>
              <a:t>It’s suited to people who… / It’s suitable for freelancers.</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from remote.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remotely.</a:t>
            </a:r>
          </a:p>
          <a:p>
            <a:pPr algn="l">
              <a:spcAft>
                <a:spcPts val="200"/>
              </a:spcAft>
            </a:pPr>
            <a:r>
              <a:rPr sz="1200" b="0">
                <a:solidFill>
                  <a:srgbClr val="FFFFFF"/>
                </a:solidFill>
                <a:latin typeface="Arial"/>
                <a:ea typeface="Microsoft YaHei"/>
              </a:rPr>
              <a:t>remotely</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digital nomad.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 digital nomad.</a:t>
            </a:r>
          </a:p>
          <a:p>
            <a:pPr algn="l">
              <a:spcAft>
                <a:spcPts val="200"/>
              </a:spcAft>
            </a:pPr>
            <a:r>
              <a:rPr sz="1200" b="0">
                <a:solidFill>
                  <a:srgbClr val="FFFFFF"/>
                </a:solidFill>
                <a:latin typeface="Arial"/>
                <a:ea typeface="Microsoft YaHei"/>
              </a:rPr>
              <a:t>a</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lifestyle is suitable to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lifestyle suits me. / is suitable for me.</a:t>
            </a:r>
          </a:p>
          <a:p>
            <a:pPr algn="l">
              <a:spcAft>
                <a:spcPts val="200"/>
              </a:spcAft>
            </a:pPr>
            <a:r>
              <a:rPr sz="1200" b="0">
                <a:solidFill>
                  <a:srgbClr val="FFFFFF"/>
                </a:solidFill>
                <a:latin typeface="Arial"/>
                <a:ea typeface="Microsoft YaHei"/>
              </a:rPr>
              <a:t>suit/suitable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travelled many countries.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travelled to many countries.</a:t>
            </a:r>
          </a:p>
          <a:p>
            <a:pPr algn="l">
              <a:spcAft>
                <a:spcPts val="200"/>
              </a:spcAft>
            </a:pPr>
            <a:r>
              <a:rPr sz="1200" b="0">
                <a:solidFill>
                  <a:srgbClr val="FFFFFF"/>
                </a:solidFill>
                <a:latin typeface="Arial"/>
                <a:ea typeface="Microsoft YaHei"/>
              </a:rPr>
              <a:t>travel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know the visa.</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find out about the visa.</a:t>
            </a:r>
          </a:p>
          <a:p>
            <a:pPr algn="l">
              <a:spcAft>
                <a:spcPts val="200"/>
              </a:spcAft>
            </a:pPr>
            <a:r>
              <a:rPr sz="1200" b="0">
                <a:solidFill>
                  <a:srgbClr val="FFFFFF"/>
                </a:solidFill>
                <a:latin typeface="Arial"/>
                <a:ea typeface="Microsoft YaHei"/>
              </a:rPr>
              <a:t>find out about</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lonely, so I joining a community.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 I joined / I join a community.</a:t>
            </a:r>
          </a:p>
          <a:p>
            <a:pPr algn="l">
              <a:spcAft>
                <a:spcPts val="200"/>
              </a:spcAft>
            </a:pPr>
            <a:r>
              <a:rPr sz="1200" b="0">
                <a:solidFill>
                  <a:srgbClr val="FFFFFF"/>
                </a:solidFill>
                <a:latin typeface="Arial"/>
                <a:ea typeface="Microsoft YaHei"/>
              </a:rPr>
              <a:t>动词形式</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remotely, articles, suit vs suitable for, travel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Tell your employer. Working abroad without permission can have tax and legal consequences.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Check local rules. Visa and tax rules vary.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Respect local communities. Be aware of the impact on housing and prices.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Time-zone etiquette. Offer overlap hours.</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the digital nomad lifestyle.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pros and cons using the big advantage / on the downside.</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my manager about remote work abroad.</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remotely, suit/suitable for and travel to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94 Living a digital nomad lifestyle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Plan a remote-work trip and present it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remotely, suit vs suitable for, travel to.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 · Lesson 95 Going cashless?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Going cashless?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走向无现金社会?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cashless payments, their benefits and risks, and explain preferences with reasons.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often do you use cash?</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payment methods do you use?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there risks in going fully cashless?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might be left out in a cashless society?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feel safer using cash or cards?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“cashless” 无现金的;“contactless” 非接触式;“digital wallet” 电子钱包。注意各国普及程度不同。</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your opinion on a cashless society.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benefits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risks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who’s affected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benefit is…   💬 However, … could be left out   💬 One concern is…   💬 I believe we should keep…</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left out” 被排除在外。</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Tap, scan, pay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In many places, cash use has fallen as cards, phone payments and QR codes have become faster and more convenient. Cashless payments reduce queues, make accounting easier for businesses and can lower the risk of theft. However, going completely cashless raises concerns. Older people, tourists, people without bank accounts, and those on low incomes may be left out. Power cuts or network failures can stop payments entirely. Privacy is another issue, because digital payments leave a record. Some governments have therefore required shops to accept cash, and others support digital inclusion through simple payment options. Most experts suggest that a mixed system, in which digital payments grow but cash remains available, is the safest and fairest approach for the near future.</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Name two benefits of cashless payments.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Fewer queues, easier accounting, lower theft risk.</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Who may be left out?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Older people, tourists, people without bank accounts, people on low incomes.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experts suggest?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mixed system where digital grows but cash remains available.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Payments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支付方式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cashless / contactless</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无现金/非接触的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cashless café.”</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digital wallet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电子钱包</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“Pay with a digital wallet.”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QR code payment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二维码支付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“QR code payments are common.”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tap to pay</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轻触支付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“Tap to pay is quick.”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peer-to-peer payment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点对点转账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“Peer-to-peer apps split bills.”</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Benefits and risks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利弊</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convenient / hassle-free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方便的</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hassle-free.”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fraud</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欺诈</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“Fraud is a risk.”</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digital divide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数字鸿沟</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digital divide excludes some.”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financial inclusion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金融普惠</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“Financial inclusion matters.”</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single point of failure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单点故障</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network outage is a single point of failure.”</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Policy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政策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legal tender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法定货币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“Cash is legal tender.”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accept cash</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接受现金</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“Shops must accept cash.”</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transaction fee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交易手续费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“Transaction fees add up.”</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digital footprint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数字足迹</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“Payments leave a digital footprint.”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mixed system</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混合体系</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mixed system is safer.”</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方便的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convenient / hassle-free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数字鸿沟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digital divide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数字足迹</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digital footprint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点对点转账</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peer-to-peer payment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欺诈</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fraud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法定货币</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legal tender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轻触支付</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tap to pay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接受现金</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accept cash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cashless</a:t>
            </a:r>
          </a:p>
        </p:txBody>
      </p:sp>
      <p:sp>
        <p:nvSpPr>
          <p:cNvPr id="10" name="Rounded Rectangle 9"/>
          <p:cNvSpPr/>
          <p:nvPr/>
        </p:nvSpPr>
        <p:spPr>
          <a:xfrm>
            <a:off x="3346704"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wallet</a:t>
            </a:r>
          </a:p>
        </p:txBody>
      </p:sp>
      <p:sp>
        <p:nvSpPr>
          <p:cNvPr id="11" name="Rounded Rectangle 10"/>
          <p:cNvSpPr/>
          <p:nvPr/>
        </p:nvSpPr>
        <p:spPr>
          <a:xfrm>
            <a:off x="4462272"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fraud</a:t>
            </a:r>
          </a:p>
        </p:txBody>
      </p:sp>
      <p:sp>
        <p:nvSpPr>
          <p:cNvPr id="12" name="Rounded Rectangle 11"/>
          <p:cNvSpPr/>
          <p:nvPr/>
        </p:nvSpPr>
        <p:spPr>
          <a:xfrm>
            <a:off x="5468112"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divide</a:t>
            </a:r>
          </a:p>
        </p:txBody>
      </p:sp>
      <p:sp>
        <p:nvSpPr>
          <p:cNvPr id="13" name="Rounded Rectangle 12"/>
          <p:cNvSpPr/>
          <p:nvPr/>
        </p:nvSpPr>
        <p:spPr>
          <a:xfrm>
            <a:off x="6583680"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tender</a:t>
            </a:r>
          </a:p>
        </p:txBody>
      </p:sp>
      <p:sp>
        <p:nvSpPr>
          <p:cNvPr id="14" name="Rounded Rectangle 13"/>
          <p:cNvSpPr/>
          <p:nvPr/>
        </p:nvSpPr>
        <p:spPr>
          <a:xfrm>
            <a:off x="7699248"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fee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café has gone completely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cashless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pay with my digital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wallet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is a risk with online payments.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Fraud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digital _______ excludes some people.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divide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Cash is legal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tender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Each transaction has a small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pay by card / in cash / by phone,accept cash,go cashless;cash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Paying at a shop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在店里付款</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short exchange.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Customer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Shop assistant</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Paying at a shop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pay by card?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Or you can tap your phone.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accept cash too?</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but we encourage card payments. They’re quicker.</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carry a bit of cash just in case.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wise. Network outages happen.</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I have a receipt?</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Here you are.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Paying at a shop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pay in a shop.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Shop assistant. Item: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pay by card · tap your phone · accept cash · just in case · receipt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about payment and handle a small problem.</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Card declined.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Split the bill.</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 refund.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Debating cashless society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辩论无现金社会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panel discussion.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Supporter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Sceptic</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Debating cashless society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Cashless payments are convenient and reduce theft.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but they can leave older people and low-income groups out.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could we include them?</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 requiring shops to accept cash, and offering simple payment tools.</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Debating cashless society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Privacy is another issue.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Digital payments leave a footprint.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a mixed system might be best.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Debating cashless society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debate going cashless.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Supporter.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Sceptic. Country: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convenient · left out · mixed system · footprint · I agree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benefits, risks and a compromise.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power cut.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tourists.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policy.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cash or cards?</a:t>
            </a:r>
          </a:p>
          <a:p>
            <a:pPr algn="l">
              <a:lnSpc>
                <a:spcPct val="115000"/>
              </a:lnSpc>
              <a:spcAft>
                <a:spcPts val="800"/>
              </a:spcAft>
            </a:pPr>
            <a:r>
              <a:rPr sz="1400" b="0">
                <a:solidFill>
                  <a:srgbClr val="5F677A"/>
                </a:solidFill>
                <a:latin typeface="Arial"/>
                <a:ea typeface="Microsoft YaHei"/>
              </a:rPr>
              <a:t>💬 “I prefer…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shops be forced to accept cash?</a:t>
            </a:r>
          </a:p>
          <a:p>
            <a:pPr algn="l">
              <a:lnSpc>
                <a:spcPct val="115000"/>
              </a:lnSpc>
              <a:spcAft>
                <a:spcPts val="800"/>
              </a:spcAft>
            </a:pPr>
            <a:r>
              <a:rPr sz="1400" b="0">
                <a:solidFill>
                  <a:srgbClr val="5F677A"/>
                </a:solidFill>
                <a:latin typeface="Arial"/>
                <a:ea typeface="Microsoft YaHei"/>
              </a:rPr>
              <a:t>💬 “I think so,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digital payments?</a:t>
            </a:r>
          </a:p>
          <a:p>
            <a:pPr algn="l">
              <a:lnSpc>
                <a:spcPct val="115000"/>
              </a:lnSpc>
              <a:spcAft>
                <a:spcPts val="800"/>
              </a:spcAft>
            </a:pPr>
            <a:r>
              <a:rPr sz="1400" b="0">
                <a:solidFill>
                  <a:srgbClr val="5F677A"/>
                </a:solidFill>
                <a:latin typeface="Arial"/>
                <a:ea typeface="Microsoft YaHei"/>
              </a:rPr>
              <a:t>💬 “One risk is…”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cash disappear?</a:t>
            </a:r>
          </a:p>
          <a:p>
            <a:pPr algn="l">
              <a:lnSpc>
                <a:spcPct val="115000"/>
              </a:lnSpc>
              <a:spcAft>
                <a:spcPts val="800"/>
              </a:spcAft>
            </a:pPr>
            <a:r>
              <a:rPr sz="1400" b="0">
                <a:solidFill>
                  <a:srgbClr val="5F677A"/>
                </a:solidFill>
                <a:latin typeface="Arial"/>
                <a:ea typeface="Microsoft YaHei"/>
              </a:rPr>
              <a:t>💬 “Not entirely, since…”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we help people left behind?</a:t>
            </a:r>
          </a:p>
          <a:p>
            <a:pPr algn="l">
              <a:lnSpc>
                <a:spcPct val="115000"/>
              </a:lnSpc>
              <a:spcAft>
                <a:spcPts val="800"/>
              </a:spcAft>
            </a:pPr>
            <a:r>
              <a:rPr sz="1400" b="0">
                <a:solidFill>
                  <a:srgbClr val="5F677A"/>
                </a:solidFill>
                <a:latin typeface="Arial"/>
                <a:ea typeface="Microsoft YaHei"/>
              </a:rPr>
              <a:t>💬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shops should accept cash, at least in places where many people still use it. Otherwise, some people can’t buy basic goods. It’s also a matter of choice: customers should decide how to pay. A mixed system is fairer and more resilient during outages.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matter of choice” 选择问题;“resilient” 有韧性的。</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preferences and reasons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表达偏好与理由</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 prefer A to B</a:t>
                      </a:r>
                    </a:p>
                  </a:txBody>
                  <a:tcPr anchor="ctr">
                    <a:solidFill>
                      <a:srgbClr val="FFFFFF"/>
                    </a:solidFill>
                  </a:tcPr>
                </a:tc>
                <a:tc>
                  <a:txBody>
                    <a:bodyPr wrap="square"/>
                    <a:lstStyle/>
                    <a:p>
                      <a:r>
                        <a:rPr sz="1600" b="0">
                          <a:solidFill>
                            <a:srgbClr val="1F2A44"/>
                          </a:solidFill>
                          <a:latin typeface="Arial"/>
                          <a:ea typeface="Microsoft YaHei"/>
                        </a:rPr>
                        <a:t>I prefer cards to cash.</a:t>
                      </a:r>
                    </a:p>
                  </a:txBody>
                  <a:tcPr anchor="ctr">
                    <a:solidFill>
                      <a:srgbClr val="FFFFFF"/>
                    </a:solidFill>
                  </a:tcPr>
                </a:tc>
              </a:tr>
              <a:tr h="408432">
                <a:tc>
                  <a:txBody>
                    <a:bodyPr wrap="square"/>
                    <a:lstStyle/>
                    <a:p>
                      <a:r>
                        <a:rPr sz="1600" b="1">
                          <a:solidFill>
                            <a:srgbClr val="1F2A44"/>
                          </a:solidFill>
                          <a:latin typeface="Arial"/>
                          <a:ea typeface="Microsoft YaHei"/>
                        </a:rPr>
                        <a:t>I’d rather + base</a:t>
                      </a:r>
                    </a:p>
                  </a:txBody>
                  <a:tcPr anchor="ctr">
                    <a:solidFill>
                      <a:srgbClr val="FFEFD9"/>
                    </a:solidFill>
                  </a:tcPr>
                </a:tc>
                <a:tc>
                  <a:txBody>
                    <a:bodyPr wrap="square"/>
                    <a:lstStyle/>
                    <a:p>
                      <a:r>
                        <a:rPr sz="1600" b="0">
                          <a:solidFill>
                            <a:srgbClr val="1F2A44"/>
                          </a:solidFill>
                          <a:latin typeface="Arial"/>
                          <a:ea typeface="Microsoft YaHei"/>
                        </a:rPr>
                        <a:t>I’d rather pay by phone.</a:t>
                      </a:r>
                    </a:p>
                  </a:txBody>
                  <a:tcPr anchor="ctr">
                    <a:solidFill>
                      <a:srgbClr val="FFEFD9"/>
                    </a:solidFill>
                  </a:tcPr>
                </a:tc>
              </a:tr>
              <a:tr h="408432">
                <a:tc>
                  <a:txBody>
                    <a:bodyPr wrap="square"/>
                    <a:lstStyle/>
                    <a:p>
                      <a:r>
                        <a:rPr sz="1600" b="1">
                          <a:solidFill>
                            <a:srgbClr val="1F2A44"/>
                          </a:solidFill>
                          <a:latin typeface="Arial"/>
                          <a:ea typeface="Microsoft YaHei"/>
                        </a:rPr>
                        <a:t>because / since / as</a:t>
                      </a:r>
                    </a:p>
                  </a:txBody>
                  <a:tcPr anchor="ctr">
                    <a:solidFill>
                      <a:srgbClr val="FFFFFF"/>
                    </a:solidFill>
                  </a:tcPr>
                </a:tc>
                <a:tc>
                  <a:txBody>
                    <a:bodyPr wrap="square"/>
                    <a:lstStyle/>
                    <a:p>
                      <a:r>
                        <a:rPr sz="1600" b="0">
                          <a:solidFill>
                            <a:srgbClr val="1F2A44"/>
                          </a:solidFill>
                          <a:latin typeface="Arial"/>
                          <a:ea typeface="Microsoft YaHei"/>
                        </a:rPr>
                        <a:t>I use cash because it’s private.</a:t>
                      </a:r>
                    </a:p>
                  </a:txBody>
                  <a:tcPr anchor="ctr">
                    <a:solidFill>
                      <a:srgbClr val="FFFFFF"/>
                    </a:solidFill>
                  </a:tcPr>
                </a:tc>
              </a:tr>
              <a:tr h="408432">
                <a:tc>
                  <a:txBody>
                    <a:bodyPr wrap="square"/>
                    <a:lstStyle/>
                    <a:p>
                      <a:r>
                        <a:rPr sz="1600" b="1">
                          <a:solidFill>
                            <a:srgbClr val="1F2A44"/>
                          </a:solidFill>
                          <a:latin typeface="Arial"/>
                          <a:ea typeface="Microsoft YaHei"/>
                        </a:rPr>
                        <a:t>That’s why…</a:t>
                      </a:r>
                    </a:p>
                  </a:txBody>
                  <a:tcPr anchor="ctr">
                    <a:solidFill>
                      <a:srgbClr val="FFEFD9"/>
                    </a:solidFill>
                  </a:tcPr>
                </a:tc>
                <a:tc>
                  <a:txBody>
                    <a:bodyPr wrap="square"/>
                    <a:lstStyle/>
                    <a:p>
                      <a:r>
                        <a:rPr sz="1600" b="0">
                          <a:solidFill>
                            <a:srgbClr val="1F2A44"/>
                          </a:solidFill>
                          <a:latin typeface="Arial"/>
                          <a:ea typeface="Microsoft YaHei"/>
                        </a:rPr>
                        <a:t>That’s why I carry some cash.</a:t>
                      </a:r>
                    </a:p>
                  </a:txBody>
                  <a:tcPr anchor="ctr">
                    <a:solidFill>
                      <a:srgbClr val="FFEFD9"/>
                    </a:solidFill>
                  </a:tcPr>
                </a:tc>
              </a:tr>
            </a:tbl>
          </a:graphicData>
        </a:graphic>
      </p:graphicFrame>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preferences and reasons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表达偏好与理由</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Prefer + -ing to + -ing: </a:t>
            </a:r>
            <a:r>
              <a:rPr sz="1700" b="0">
                <a:solidFill>
                  <a:srgbClr val="1F2A44"/>
                </a:solidFill>
                <a:latin typeface="Arial"/>
                <a:ea typeface="Microsoft YaHei"/>
              </a:rPr>
              <a:t>I prefer paying by card to paying cash.</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pay by the card.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pay by card.</a:t>
            </a:r>
          </a:p>
          <a:p>
            <a:pPr algn="l">
              <a:spcAft>
                <a:spcPts val="200"/>
              </a:spcAft>
            </a:pPr>
            <a:r>
              <a:rPr sz="1200" b="0">
                <a:solidFill>
                  <a:srgbClr val="FFFFFF"/>
                </a:solidFill>
                <a:latin typeface="Arial"/>
                <a:ea typeface="Microsoft YaHei"/>
              </a:rPr>
              <a:t>by card 无冠词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pay with cash.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pay in cash.</a:t>
            </a:r>
          </a:p>
          <a:p>
            <a:pPr algn="l">
              <a:spcAft>
                <a:spcPts val="200"/>
              </a:spcAft>
            </a:pPr>
            <a:r>
              <a:rPr sz="1200" b="0">
                <a:solidFill>
                  <a:srgbClr val="FFFFFF"/>
                </a:solidFill>
                <a:latin typeface="Arial"/>
                <a:ea typeface="Microsoft YaHei"/>
              </a:rPr>
              <a:t>in cash</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Cashless is convenience.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Cashless payment is convenient.</a:t>
            </a:r>
          </a:p>
          <a:p>
            <a:pPr algn="l">
              <a:spcAft>
                <a:spcPts val="200"/>
              </a:spcAft>
            </a:pPr>
            <a:r>
              <a:rPr sz="1200" b="0">
                <a:solidFill>
                  <a:srgbClr val="FFFFFF"/>
                </a:solidFill>
                <a:latin typeface="Arial"/>
                <a:ea typeface="Microsoft YaHei"/>
              </a:rPr>
              <a:t>形容词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Money are important.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Money is important.</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prefer paying by card than cash.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prefer paying by card to paying in cash.</a:t>
            </a:r>
          </a:p>
          <a:p>
            <a:pPr algn="l">
              <a:spcAft>
                <a:spcPts val="200"/>
              </a:spcAft>
            </a:pPr>
            <a:r>
              <a:rPr sz="1200" b="0">
                <a:solidFill>
                  <a:srgbClr val="FFFFFF"/>
                </a:solidFill>
                <a:latin typeface="Arial"/>
                <a:ea typeface="Microsoft YaHei"/>
              </a:rPr>
              <a:t>prefer… to</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shop doesn’t accept for cash.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shop doesn’t accept cash.</a:t>
            </a:r>
          </a:p>
          <a:p>
            <a:pPr algn="l">
              <a:spcAft>
                <a:spcPts val="200"/>
              </a:spcAft>
            </a:pPr>
            <a:r>
              <a:rPr sz="1200" b="0">
                <a:solidFill>
                  <a:srgbClr val="FFFFFF"/>
                </a:solidFill>
                <a:latin typeface="Arial"/>
                <a:ea typeface="Microsoft YaHei"/>
              </a:rPr>
              <a:t>accept 及物</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by card / in cash, uncountable money / cash, prefer… to, accept (transitive).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Habits differ. Mobile payments dominate in some countries; cards in others.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Tipping. In some countries, tips are expected even for card payments.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Carry some cash when travelling. Not every place takes cards.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Ask politely. “Do you take cards?” is a common question.</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payment methods naturally.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benefits and risks of cashless payments.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state preferences with reasons.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by card / in cash, uncountable cash and prefer… to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95 Going cashless?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your view on cash vs cards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by card, in cash, prefer to, accept transitive.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 · Lesson 96 NFTs: It’s so hot right now! NFT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NFTs: It’s so hot right now! NFT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现在火爆!</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what NFTs are in simple terms, discuss the hype, risks and uses, and give a cautious opinion.</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heard of NFTs? What do you know about them?</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people buy digital items?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a digital collectible “worth” real money?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trendy investments?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buy an NFT?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NFT = non-fungible token(非同质化代币)。本课偏重概念与风险,不构成投资建议。“hot right now” 现在很火。</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what an NFT is and give your opinion.</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people buy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risks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An NFT is a digital record that…   💬 People buy them because…   💬 The risk is that…   💬 Personally, I’d…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“non-fungible” 不可互换的。“a digital record” 数字记录。</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Owning a digital item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An NFT, or non-fungible token, is a digital record, stored on a blockchain, that shows who owns a particular digital item such as an image, a video or a ticket. Unlike a coin, each token is unique. Supporters say it allows artists and creators to sell digital work directly and earn money when it is resold. Collectors may buy for enjoyment, community membership or the hope that the price will rise. Prices have been very volatile, however, and many items have lost value after periods of excitement. Critics also note issues such as scams, copyright confusion and energy use in some systems. A sensible approach is to treat NFTs as a speculative area: learn how they work, never invest more than you can afford to lose, and be careful with offers that promise quick profits.</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does an NFT show?</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Who owns a particular digital item.</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 some people buy NFTs?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Enjoyment, community membership, or hoping the price will rise.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sensible approach?</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Treat as speculative; learn how they work; invest only what you can afford to lose; be careful with quick-profit offers.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NFT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基础概念</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NFT (non-fungible token)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非同质化代币</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sold an NFT.”</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blockchain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区块链</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“Ownership is stored on a blockchain.”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digital collectible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数字藏品</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collects digital collectibles.”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mint</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铸造(NFT)</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minted a series of NFTs.”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smart contract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智能合约</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smart contract pays royalties.”</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Market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市场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volatile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波动大的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“Prices are volatile.”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speculative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投机的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speculative market.”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resale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转售</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“Artists earn from resale.”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hype cycle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炒作周期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followed a hype cycle.”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FOMO (fear of missing out)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错失恐惧</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“FOMO drove buyers.”</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Risks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风险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scam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骗局</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“Beware of scams.”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copyright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版权</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“Copyright can be unclear.”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lose value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贬值</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items lost value.”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rich quick</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一夜暴富</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“Avoid get-rich-quick schemes.”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it’s too good to be true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好得难以置信</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it sounds too good to be true, it probably is.”</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版权</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copyright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转售</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resale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波动大的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volatile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区块链</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blockchain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一夜暴富</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rich quick</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智能合约</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smart contract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错失恐惧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FOMO (fear of missing out)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骗局</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blockchain</a:t>
            </a:r>
          </a:p>
        </p:txBody>
      </p:sp>
      <p:sp>
        <p:nvSpPr>
          <p:cNvPr id="10" name="Rounded Rectangle 9"/>
          <p:cNvSpPr/>
          <p:nvPr/>
        </p:nvSpPr>
        <p:spPr>
          <a:xfrm>
            <a:off x="3566160"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collectible</a:t>
            </a:r>
          </a:p>
        </p:txBody>
      </p:sp>
      <p:sp>
        <p:nvSpPr>
          <p:cNvPr id="11" name="Rounded Rectangle 10"/>
          <p:cNvSpPr/>
          <p:nvPr/>
        </p:nvSpPr>
        <p:spPr>
          <a:xfrm>
            <a:off x="5230367"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volatile</a:t>
            </a:r>
          </a:p>
        </p:txBody>
      </p:sp>
      <p:sp>
        <p:nvSpPr>
          <p:cNvPr id="12" name="Rounded Rectangle 11"/>
          <p:cNvSpPr/>
          <p:nvPr/>
        </p:nvSpPr>
        <p:spPr>
          <a:xfrm>
            <a:off x="6565391"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speculative</a:t>
            </a:r>
          </a:p>
        </p:txBody>
      </p:sp>
      <p:sp>
        <p:nvSpPr>
          <p:cNvPr id="13" name="Rounded Rectangle 12"/>
          <p:cNvSpPr/>
          <p:nvPr/>
        </p:nvSpPr>
        <p:spPr>
          <a:xfrm>
            <a:off x="8229598"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scam</a:t>
            </a:r>
          </a:p>
        </p:txBody>
      </p:sp>
      <p:sp>
        <p:nvSpPr>
          <p:cNvPr id="14" name="Rounded Rectangle 13"/>
          <p:cNvSpPr/>
          <p:nvPr/>
        </p:nvSpPr>
        <p:spPr>
          <a:xfrm>
            <a:off x="912571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copyright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Ownership is recorded on a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blockchain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He collects digital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collectibles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Prices in this market are very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volatile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It’s a _______ investment.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speculative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Be careful of every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scam</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Artists worry about _______ issues.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copyright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lose value,mint an NFT,invest IN;NFT 读字母 “en-eff-tee”;“blockchain” 一个词。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Explaining NFTs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向同事解释 NFT</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casual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Explaining NFTs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Everyone’s talking about NFTs. What actually are they?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 NFT is a digital record on a blockchain that shows who owns a unique item.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people buy images?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Often, yes, or videos, music or tickets. Some buy for enjoyment, others to resell.</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NFTs to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a good investment?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very speculative. Prices are volatile and scams exist.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you buy one?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a small amount for fun. Never more than I can afford to lose.</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Explaining NFTs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NFTs.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Curious 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Explainer. Opinion: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digital record · blockchain · speculative · volatile · afford to lose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simply and give a cautious view.</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use besides art.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copyright.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Warn about scams.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Evaluating an offer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评估一个提议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 urges you to buy.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Evaluating an offer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This NFT is about to go up. You should buy now!</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Who says so?</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People in the group chat. It’s hot right now.</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like hype. If it’s too good to be true, it probably is.</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I don’t want to miss out.</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FOMO is a bad adviser. Let’s research first.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What should we check?</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creator, the fees, and what we actually own.</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Evaluating an offer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question a hot tip.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Excited 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Careful friend. Item: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about to go up · hype · too good to be true · FOMO · research first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Slow down the decision with questions.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maximum budget.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for legal terms.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Walk away politely.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an NFT worth real money?</a:t>
            </a:r>
          </a:p>
          <a:p>
            <a:pPr algn="l">
              <a:lnSpc>
                <a:spcPct val="115000"/>
              </a:lnSpc>
              <a:spcAft>
                <a:spcPts val="800"/>
              </a:spcAft>
            </a:pPr>
            <a:r>
              <a:rPr sz="1400" b="0">
                <a:solidFill>
                  <a:srgbClr val="5F677A"/>
                </a:solidFill>
                <a:latin typeface="Arial"/>
                <a:ea typeface="Microsoft YaHei"/>
              </a:rPr>
              <a:t>💬 “It’s worth what…”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benefits most from NFTs?</a:t>
            </a:r>
          </a:p>
          <a:p>
            <a:pPr algn="l">
              <a:lnSpc>
                <a:spcPct val="115000"/>
              </a:lnSpc>
              <a:spcAft>
                <a:spcPts val="800"/>
              </a:spcAft>
            </a:pPr>
            <a:r>
              <a:rPr sz="1400" b="0">
                <a:solidFill>
                  <a:srgbClr val="5F677A"/>
                </a:solidFill>
                <a:latin typeface="Arial"/>
                <a:ea typeface="Microsoft YaHei"/>
              </a:rPr>
              <a:t>💬 “Probably…”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valid uses of NFTs?</a:t>
            </a:r>
          </a:p>
          <a:p>
            <a:pPr algn="l">
              <a:lnSpc>
                <a:spcPct val="115000"/>
              </a:lnSpc>
              <a:spcAft>
                <a:spcPts val="800"/>
              </a:spcAft>
            </a:pPr>
            <a:r>
              <a:rPr sz="1400" b="0">
                <a:solidFill>
                  <a:srgbClr val="5F677A"/>
                </a:solidFill>
                <a:latin typeface="Arial"/>
                <a:ea typeface="Microsoft YaHei"/>
              </a:rPr>
              <a:t>💬 “Tickets, …”</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people avoid scams?</a:t>
            </a:r>
          </a:p>
          <a:p>
            <a:pPr algn="l">
              <a:lnSpc>
                <a:spcPct val="115000"/>
              </a:lnSpc>
              <a:spcAft>
                <a:spcPts val="800"/>
              </a:spcAft>
            </a:pPr>
            <a:r>
              <a:rPr sz="1400" b="0">
                <a:solidFill>
                  <a:srgbClr val="5F677A"/>
                </a:solidFill>
                <a:latin typeface="Arial"/>
                <a:ea typeface="Microsoft YaHei"/>
              </a:rPr>
              <a:t>💬 “By…”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NFTs last?</a:t>
            </a:r>
          </a:p>
          <a:p>
            <a:pPr algn="l">
              <a:lnSpc>
                <a:spcPct val="115000"/>
              </a:lnSpc>
              <a:spcAft>
                <a:spcPts val="800"/>
              </a:spcAft>
            </a:pPr>
            <a:r>
              <a:rPr sz="1400" b="0">
                <a:solidFill>
                  <a:srgbClr val="5F677A"/>
                </a:solidFill>
                <a:latin typeface="Arial"/>
                <a:ea typeface="Microsoft YaHei"/>
              </a:rPr>
              <a:t>💬 “It remains to be seen…”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something is worth what someone is willing to pay, so an NFT can have value for a while. But the price can fall suddenly if interest fades. I wouldn’t treat it as a safe investment, only as a collectible or fun purchase. I’d never spend money I couldn’t afford to lose.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“is worth what someone is willing to pay” 价值取决于愿付价格。</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Explaining new concepts simply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简单解释新概念</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X is a Y that…</a:t>
                      </a:r>
                    </a:p>
                  </a:txBody>
                  <a:tcPr anchor="ctr">
                    <a:solidFill>
                      <a:srgbClr val="FFFFFF"/>
                    </a:solidFill>
                  </a:tcPr>
                </a:tc>
                <a:tc>
                  <a:txBody>
                    <a:bodyPr wrap="square"/>
                    <a:lstStyle/>
                    <a:p>
                      <a:r>
                        <a:rPr sz="1600" b="0">
                          <a:solidFill>
                            <a:srgbClr val="1F2A44"/>
                          </a:solidFill>
                          <a:latin typeface="Arial"/>
                          <a:ea typeface="Microsoft YaHei"/>
                        </a:rPr>
                        <a:t>An NFT is a record that shows ownership.</a:t>
                      </a:r>
                    </a:p>
                  </a:txBody>
                  <a:tcPr anchor="ctr">
                    <a:solidFill>
                      <a:srgbClr val="FFFFFF"/>
                    </a:solidFill>
                  </a:tcPr>
                </a:tc>
              </a:tr>
              <a:tr h="408432">
                <a:tc>
                  <a:txBody>
                    <a:bodyPr wrap="square"/>
                    <a:lstStyle/>
                    <a:p>
                      <a:r>
                        <a:rPr sz="1600" b="1">
                          <a:solidFill>
                            <a:srgbClr val="1F2A44"/>
                          </a:solidFill>
                          <a:latin typeface="Arial"/>
                          <a:ea typeface="Microsoft YaHei"/>
                        </a:rPr>
                        <a:t>It’s like…</a:t>
                      </a:r>
                    </a:p>
                  </a:txBody>
                  <a:tcPr anchor="ctr">
                    <a:solidFill>
                      <a:srgbClr val="FFEFD9"/>
                    </a:solidFill>
                  </a:tcPr>
                </a:tc>
                <a:tc>
                  <a:txBody>
                    <a:bodyPr wrap="square"/>
                    <a:lstStyle/>
                    <a:p>
                      <a:r>
                        <a:rPr sz="1600" b="0">
                          <a:solidFill>
                            <a:srgbClr val="1F2A44"/>
                          </a:solidFill>
                          <a:latin typeface="Arial"/>
                          <a:ea typeface="Microsoft YaHei"/>
                        </a:rPr>
                        <a:t>It’s like a certificate of authenticity.</a:t>
                      </a:r>
                    </a:p>
                  </a:txBody>
                  <a:tcPr anchor="ctr">
                    <a:solidFill>
                      <a:srgbClr val="FFEFD9"/>
                    </a:solidFill>
                  </a:tcPr>
                </a:tc>
              </a:tr>
              <a:tr h="408432">
                <a:tc>
                  <a:txBody>
                    <a:bodyPr wrap="square"/>
                    <a:lstStyle/>
                    <a:p>
                      <a:r>
                        <a:rPr sz="1600" b="1">
                          <a:solidFill>
                            <a:srgbClr val="1F2A44"/>
                          </a:solidFill>
                          <a:latin typeface="Arial"/>
                          <a:ea typeface="Microsoft YaHei"/>
                        </a:rPr>
                        <a:t>In other words, …</a:t>
                      </a:r>
                    </a:p>
                  </a:txBody>
                  <a:tcPr anchor="ctr">
                    <a:solidFill>
                      <a:srgbClr val="FFFFFF"/>
                    </a:solidFill>
                  </a:tcPr>
                </a:tc>
                <a:tc>
                  <a:txBody>
                    <a:bodyPr wrap="square"/>
                    <a:lstStyle/>
                    <a:p>
                      <a:r>
                        <a:rPr sz="1600" b="0">
                          <a:solidFill>
                            <a:srgbClr val="1F2A44"/>
                          </a:solidFill>
                          <a:latin typeface="Arial"/>
                          <a:ea typeface="Microsoft YaHei"/>
                        </a:rPr>
                        <a:t>In other words, it proves who owns the item.</a:t>
                      </a:r>
                    </a:p>
                  </a:txBody>
                  <a:tcPr anchor="ctr">
                    <a:solidFill>
                      <a:srgbClr val="FFFFFF"/>
                    </a:solidFill>
                  </a:tcPr>
                </a:tc>
              </a:tr>
              <a:tr h="408432">
                <a:tc>
                  <a:txBody>
                    <a:bodyPr wrap="square"/>
                    <a:lstStyle/>
                    <a:p>
                      <a:r>
                        <a:rPr sz="1600" b="1">
                          <a:solidFill>
                            <a:srgbClr val="1F2A44"/>
                          </a:solidFill>
                          <a:latin typeface="Arial"/>
                          <a:ea typeface="Microsoft YaHei"/>
                        </a:rPr>
                        <a:t>For example, …</a:t>
                      </a:r>
                    </a:p>
                  </a:txBody>
                  <a:tcPr anchor="ctr">
                    <a:solidFill>
                      <a:srgbClr val="FFEFD9"/>
                    </a:solidFill>
                  </a:tcPr>
                </a:tc>
                <a:tc>
                  <a:txBody>
                    <a:bodyPr wrap="square"/>
                    <a:lstStyle/>
                    <a:p>
                      <a:r>
                        <a:rPr sz="1600" b="0">
                          <a:solidFill>
                            <a:srgbClr val="1F2A44"/>
                          </a:solidFill>
                          <a:latin typeface="Arial"/>
                          <a:ea typeface="Microsoft YaHei"/>
                        </a:rPr>
                        <a:t>For example, an artist can sell a digital painting.</a:t>
                      </a:r>
                    </a:p>
                  </a:txBody>
                  <a:tcPr anchor="ctr">
                    <a:solidFill>
                      <a:srgbClr val="FFEFD9"/>
                    </a:solidFill>
                  </a:tcPr>
                </a:tc>
              </a:tr>
            </a:tbl>
          </a:graphicData>
        </a:graphic>
      </p:graphicFrame>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Explaining new concepts simply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简单解释新概念</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“is a… that…” with relative clauses to define: A blockchain is a database that…</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NFT is a thing who shows ownership.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An NFT is a record that shows ownership.</a:t>
            </a:r>
          </a:p>
          <a:p>
            <a:pPr algn="l">
              <a:spcAft>
                <a:spcPts val="200"/>
              </a:spcAft>
            </a:pPr>
            <a:r>
              <a:rPr sz="1200" b="0">
                <a:solidFill>
                  <a:srgbClr val="FFFFFF"/>
                </a:solidFill>
                <a:latin typeface="Arial"/>
                <a:ea typeface="Microsoft YaHei"/>
              </a:rPr>
              <a:t>that/which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never invested NFT.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never invested in NFTs.</a:t>
            </a:r>
          </a:p>
          <a:p>
            <a:pPr algn="l">
              <a:spcAft>
                <a:spcPts val="200"/>
              </a:spcAft>
            </a:pPr>
            <a:r>
              <a:rPr sz="1200" b="0">
                <a:solidFill>
                  <a:srgbClr val="FFFFFF"/>
                </a:solidFill>
                <a:latin typeface="Arial"/>
                <a:ea typeface="Microsoft YaHei"/>
              </a:rPr>
              <a:t>invest in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prices are going up and down very much.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Prices are very volatile.</a:t>
            </a:r>
          </a:p>
          <a:p>
            <a:pPr algn="l">
              <a:spcAft>
                <a:spcPts val="200"/>
              </a:spcAft>
            </a:pPr>
            <a:r>
              <a:rPr sz="1200" b="0">
                <a:solidFill>
                  <a:srgbClr val="FFFFFF"/>
                </a:solidFill>
                <a:latin typeface="Arial"/>
                <a:ea typeface="Microsoft YaHei"/>
              </a:rPr>
              <a:t>表达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invested in NFT last year and I lost money.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invested in NFTs last year and lost money.</a:t>
            </a:r>
          </a:p>
          <a:p>
            <a:pPr algn="l">
              <a:spcAft>
                <a:spcPts val="200"/>
              </a:spcAft>
            </a:pPr>
            <a:r>
              <a:rPr sz="1200" b="0">
                <a:solidFill>
                  <a:srgbClr val="FFFFFF"/>
                </a:solidFill>
                <a:latin typeface="Arial"/>
                <a:ea typeface="Microsoft YaHei"/>
              </a:rPr>
              <a:t>NFTs 复数;省略重复主语</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a scam, I’m sure 100%.</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100 per cent sure it’s a scam.</a:t>
            </a:r>
          </a:p>
          <a:p>
            <a:pPr algn="l">
              <a:spcAft>
                <a:spcPts val="200"/>
              </a:spcAft>
            </a:pPr>
            <a:r>
              <a:rPr sz="1200" b="0">
                <a:solidFill>
                  <a:srgbClr val="FFFFFF"/>
                </a:solidFill>
                <a:latin typeface="Arial"/>
                <a:ea typeface="Microsoft YaHei"/>
              </a:rPr>
              <a:t>sure 位置</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afford lose so much money.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afford to lose so much money.</a:t>
            </a:r>
          </a:p>
          <a:p>
            <a:pPr algn="l">
              <a:spcAft>
                <a:spcPts val="200"/>
              </a:spcAft>
            </a:pPr>
            <a:r>
              <a:rPr sz="1200" b="0">
                <a:solidFill>
                  <a:srgbClr val="FFFFFF"/>
                </a:solidFill>
                <a:latin typeface="Arial"/>
                <a:ea typeface="Microsoft YaHei"/>
              </a:rPr>
              <a:t>afford to + 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relative pronouns, invest in, adjective position.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cautious in public. Avoid giving investment advice to colleagues.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Use “speculative”. It signals risk in serious conversation.</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Slang. “FOMO”, “hype”, “to the moon” are informal.</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Check regulations. Rules for digital assets vary.</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NFTs in plain English.</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hype and risk cautiously.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question a hot tip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relative clauses and invest in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96 NFTs: It’s so hot right now! NFT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a new technology in 60 seconds using “is a… that…”.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relative clauses, invest in.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 · Lesson 97 AI and inequality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AI and inequality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人工智能与不平等</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AI may affect jobs, wages and access to opportunity, and suggest fair approaches.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will benefit most from AI?</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jobs are most at risk, and which are safe?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Could AI make inequality worse or better?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skills will be valuable?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governments and companies do?</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“inequality” 不平等;“digital divide” 数字鸿沟。讨论时多用 may/could/tend to,避免绝对预测。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your view on whether AI will increase inequality.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possible benefits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possible risks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who is affected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to do</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AI could… but it may also…   💬 Those with… are likely to…   💬 To make AI fairer, we should…   💬 It depends on…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depends on how AI is used” 取决于使用方式。</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Who gains from AI?</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Artificial intelligence could raise productivity and create new kinds of work, but economists warn that its benefits may not be shared equally. Workers who use AI tools to extend their abilities may become more valuable, while those doing routine tasks could face pressure on wages or job security. Countries and companies with data, computing power and skills may pull ahead of those without. On the other hand, AI tools can also help people with fewer resources, for example by providing translation, tutoring or advice at low cost. Which outcome prevails depends on policy and choices: access to education and training, rules that protect workers, and fair competition between firms. A common view is that technology does not decide the result by itself; people, institutions and values do.</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Who may become more valuable?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Workers who use AI tools to extend their abilities.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could AI help people with fewer resources?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Translation, tutoring or advice at low cost.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decides the outcome?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Policy and choices: education, worker protection, fair competition.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影响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automation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自动化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“Automation affects routine jobs.”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displacement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岗位替代</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displacement worries workers.”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productivity gains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生产率提升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brings productivity gains.”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widen the gap</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拉大差距</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may widen the gap.”</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skill-biased</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偏向技能的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“Technology can be skill-biased.”</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Inequality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不平等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income inequality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收入不平等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“Income inequality is rising.”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digital divide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数字鸿沟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digital divide limits access.”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access to technology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技术可及性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“Access to technology varies.”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winner-takes-all</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赢者通吃的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winner-takes-all market.”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the playing field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公平竞争</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“AI can level the playing field.”</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Responses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reskilling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技能再培训</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“Reskilling programmes help.”</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safety net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社会安全网</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safety net supports workers.”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regulation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监管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“Regulation can protect workers.”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inclusive growth</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包容性增长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inclusive growth.”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share the gains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分享收益</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“Share the gains fairly.”</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拉大差距</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widen the gap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赢者通吃的</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winner-takes-all</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分享收益</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share the gains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自动化</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automation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公平竞争</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level the playing field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社会安全网</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safety net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技能再培训</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reskilling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岗位替代</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displacement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automation</a:t>
            </a:r>
          </a:p>
        </p:txBody>
      </p:sp>
      <p:sp>
        <p:nvSpPr>
          <p:cNvPr id="10" name="Rounded Rectangle 9"/>
          <p:cNvSpPr/>
          <p:nvPr/>
        </p:nvSpPr>
        <p:spPr>
          <a:xfrm>
            <a:off x="3566160"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displacement</a:t>
            </a:r>
          </a:p>
        </p:txBody>
      </p:sp>
      <p:sp>
        <p:nvSpPr>
          <p:cNvPr id="11" name="Rounded Rectangle 10"/>
          <p:cNvSpPr/>
          <p:nvPr/>
        </p:nvSpPr>
        <p:spPr>
          <a:xfrm>
            <a:off x="5340095"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divide</a:t>
            </a:r>
          </a:p>
        </p:txBody>
      </p:sp>
      <p:sp>
        <p:nvSpPr>
          <p:cNvPr id="12" name="Rounded Rectangle 11"/>
          <p:cNvSpPr/>
          <p:nvPr/>
        </p:nvSpPr>
        <p:spPr>
          <a:xfrm>
            <a:off x="6455663"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inequality</a:t>
            </a:r>
          </a:p>
        </p:txBody>
      </p:sp>
      <p:sp>
        <p:nvSpPr>
          <p:cNvPr id="13" name="Rounded Rectangle 12"/>
          <p:cNvSpPr/>
          <p:nvPr/>
        </p:nvSpPr>
        <p:spPr>
          <a:xfrm>
            <a:off x="8010143"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reskilling</a:t>
            </a:r>
          </a:p>
        </p:txBody>
      </p:sp>
      <p:sp>
        <p:nvSpPr>
          <p:cNvPr id="14" name="Rounded Rectangle 13"/>
          <p:cNvSpPr/>
          <p:nvPr/>
        </p:nvSpPr>
        <p:spPr>
          <a:xfrm>
            <a:off x="9564623"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affects routine jobs first.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Automation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Job _______ is a concern for many.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displacement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digital _______ limits access.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divide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Income _______ is rising in many places.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inequality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programmes help workers change roles.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Reskilling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AI may widen the _______ between firms.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widen / narrow the gap,share the gains,access TO technology;AI 读字母。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Discussing AI’s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 AI 的影响</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share views.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Optimist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Realist</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Discussing AI’s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AI could help everyone. It lowers the cost of services like translation.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but those with skills may gain more than others.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think it will widen the gap?</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might, unless we invest in training.</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Discussing AI’s impact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suggest?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Reskilling programmes and access to technology for all.</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It depends on the choices we make.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Discussing AI’s impact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AI and fairness.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Optimist.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Realist. Issue: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could help · widen the gap · might · reskilling · depends 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Balance benefits and risks and propose a policy.</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an example in your industry.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education.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Question an assumption.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Advising a company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给公司建议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consultant speaks to a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Consultant</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Advising a company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adding AI tools. How do we make sure it’s fair for staff?</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Involve staff early, and explain how roles will change.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 we train everyone?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not just technical staff. Otherwise, some will be left behind.</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jobs that disappear?</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Offer reskilling and internal moves before considering layoffs.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seems fair.</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share the productivity gains, for example through bonuses.</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Advising a company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plan fair AI adoption.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Consultant. Company: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involve staff early · left behind · reskilling · internal moves · share the gains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Recommend a fair adoption plan.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Measure impact on pay.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Consult employee reps.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Review after six months.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AI increase inequality?</a:t>
            </a:r>
          </a:p>
          <a:p>
            <a:pPr algn="l">
              <a:lnSpc>
                <a:spcPct val="115000"/>
              </a:lnSpc>
              <a:spcAft>
                <a:spcPts val="800"/>
              </a:spcAft>
            </a:pPr>
            <a:r>
              <a:rPr sz="1400" b="0">
                <a:solidFill>
                  <a:srgbClr val="5F677A"/>
                </a:solidFill>
                <a:latin typeface="Arial"/>
                <a:ea typeface="Microsoft YaHei"/>
              </a:rPr>
              <a:t>💬 “It could,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workers are most vulnerable?</a:t>
            </a:r>
          </a:p>
          <a:p>
            <a:pPr algn="l">
              <a:lnSpc>
                <a:spcPct val="115000"/>
              </a:lnSpc>
              <a:spcAft>
                <a:spcPts val="800"/>
              </a:spcAft>
            </a:pPr>
            <a:r>
              <a:rPr sz="1400" b="0">
                <a:solidFill>
                  <a:srgbClr val="5F677A"/>
                </a:solidFill>
                <a:latin typeface="Arial"/>
                <a:ea typeface="Microsoft YaHei"/>
              </a:rPr>
              <a:t>💬 “Those who…”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governments respond?</a:t>
            </a:r>
          </a:p>
          <a:p>
            <a:pPr algn="l">
              <a:lnSpc>
                <a:spcPct val="115000"/>
              </a:lnSpc>
              <a:spcAft>
                <a:spcPts val="800"/>
              </a:spcAft>
            </a:pPr>
            <a:r>
              <a:rPr sz="1400" b="0">
                <a:solidFill>
                  <a:srgbClr val="5F677A"/>
                </a:solidFill>
                <a:latin typeface="Arial"/>
                <a:ea typeface="Microsoft YaHei"/>
              </a:rPr>
              <a:t>💬 “They could…”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individuals prepare?</a:t>
            </a:r>
          </a:p>
          <a:p>
            <a:pPr algn="l">
              <a:lnSpc>
                <a:spcPct val="115000"/>
              </a:lnSpc>
              <a:spcAft>
                <a:spcPts val="800"/>
              </a:spcAft>
            </a:pPr>
            <a:r>
              <a:rPr sz="1400" b="0">
                <a:solidFill>
                  <a:srgbClr val="5F677A"/>
                </a:solidFill>
                <a:latin typeface="Arial"/>
                <a:ea typeface="Microsoft YaHei"/>
              </a:rPr>
              <a:t>💬 “By…”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AI make education fairer?</a:t>
            </a:r>
          </a:p>
          <a:p>
            <a:pPr algn="l">
              <a:lnSpc>
                <a:spcPct val="115000"/>
              </a:lnSpc>
              <a:spcAft>
                <a:spcPts val="800"/>
              </a:spcAft>
            </a:pPr>
            <a:r>
              <a:rPr sz="1400" b="0">
                <a:solidFill>
                  <a:srgbClr val="5F677A"/>
                </a:solidFill>
                <a:latin typeface="Arial"/>
                <a:ea typeface="Microsoft YaHei"/>
              </a:rPr>
              <a:t>💬 “Possibly, since…”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AI could make education fairer if students everywhere can access good tutoring tools at low cost. A learner without a private tutor could ask an AI for explanations. However, it needs internet access, devices and guidance, so schools still matter. It could help narrow gaps, but only if access is shared fairly.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“narrow gaps” 缩小差距;“only if” 只有…时。</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Conditionals and modals for prediction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条件句与情态预测</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could / may / might</a:t>
                      </a:r>
                    </a:p>
                  </a:txBody>
                  <a:tcPr anchor="ctr">
                    <a:solidFill>
                      <a:srgbClr val="FFFFFF"/>
                    </a:solidFill>
                  </a:tcPr>
                </a:tc>
                <a:tc>
                  <a:txBody>
                    <a:bodyPr wrap="square"/>
                    <a:lstStyle/>
                    <a:p>
                      <a:r>
                        <a:rPr sz="1600" b="0">
                          <a:solidFill>
                            <a:srgbClr val="1F2A44"/>
                          </a:solidFill>
                          <a:latin typeface="Arial"/>
                          <a:ea typeface="Microsoft YaHei"/>
                        </a:rPr>
                        <a:t>AI could widen the gap.</a:t>
                      </a:r>
                    </a:p>
                  </a:txBody>
                  <a:tcPr anchor="ctr">
                    <a:solidFill>
                      <a:srgbClr val="FFFFFF"/>
                    </a:solidFill>
                  </a:tcPr>
                </a:tc>
              </a:tr>
              <a:tr h="408432">
                <a:tc>
                  <a:txBody>
                    <a:bodyPr wrap="square"/>
                    <a:lstStyle/>
                    <a:p>
                      <a:r>
                        <a:rPr sz="1600" b="1">
                          <a:solidFill>
                            <a:srgbClr val="1F2A44"/>
                          </a:solidFill>
                          <a:latin typeface="Arial"/>
                          <a:ea typeface="Microsoft YaHei"/>
                        </a:rPr>
                        <a:t>if + present, will</a:t>
                      </a:r>
                    </a:p>
                  </a:txBody>
                  <a:tcPr anchor="ctr">
                    <a:solidFill>
                      <a:srgbClr val="FFEFD9"/>
                    </a:solidFill>
                  </a:tcPr>
                </a:tc>
                <a:tc>
                  <a:txBody>
                    <a:bodyPr wrap="square"/>
                    <a:lstStyle/>
                    <a:p>
                      <a:r>
                        <a:rPr sz="1600" b="0">
                          <a:solidFill>
                            <a:srgbClr val="1F2A44"/>
                          </a:solidFill>
                          <a:latin typeface="Arial"/>
                          <a:ea typeface="Microsoft YaHei"/>
                        </a:rPr>
                        <a:t>If we invest, more people will benefit.</a:t>
                      </a:r>
                    </a:p>
                  </a:txBody>
                  <a:tcPr anchor="ctr">
                    <a:solidFill>
                      <a:srgbClr val="FFEFD9"/>
                    </a:solidFill>
                  </a:tcPr>
                </a:tc>
              </a:tr>
              <a:tr h="652272">
                <a:tc>
                  <a:txBody>
                    <a:bodyPr wrap="square"/>
                    <a:lstStyle/>
                    <a:p>
                      <a:r>
                        <a:rPr sz="1600" b="1">
                          <a:solidFill>
                            <a:srgbClr val="1F2A44"/>
                          </a:solidFill>
                          <a:latin typeface="Arial"/>
                          <a:ea typeface="Microsoft YaHei"/>
                        </a:rPr>
                        <a:t>unless</a:t>
                      </a:r>
                    </a:p>
                  </a:txBody>
                  <a:tcPr anchor="ctr">
                    <a:solidFill>
                      <a:srgbClr val="FFFFFF"/>
                    </a:solidFill>
                  </a:tcPr>
                </a:tc>
                <a:tc>
                  <a:txBody>
                    <a:bodyPr wrap="square"/>
                    <a:lstStyle/>
                    <a:p>
                      <a:r>
                        <a:rPr sz="1600" b="0">
                          <a:solidFill>
                            <a:srgbClr val="1F2A44"/>
                          </a:solidFill>
                          <a:latin typeface="Arial"/>
                          <a:ea typeface="Microsoft YaHei"/>
                        </a:rPr>
                        <a:t>Unless we reskill workers, some will be left behind.</a:t>
                      </a:r>
                    </a:p>
                  </a:txBody>
                  <a:tcPr anchor="ctr">
                    <a:solidFill>
                      <a:srgbClr val="FFFFFF"/>
                    </a:solidFill>
                  </a:tcPr>
                </a:tc>
              </a:tr>
              <a:tr h="408432">
                <a:tc>
                  <a:txBody>
                    <a:bodyPr wrap="square"/>
                    <a:lstStyle/>
                    <a:p>
                      <a:r>
                        <a:rPr sz="1600" b="1">
                          <a:solidFill>
                            <a:srgbClr val="1F2A44"/>
                          </a:solidFill>
                          <a:latin typeface="Arial"/>
                          <a:ea typeface="Microsoft YaHei"/>
                        </a:rPr>
                        <a:t>It depends on…</a:t>
                      </a:r>
                    </a:p>
                  </a:txBody>
                  <a:tcPr anchor="ctr">
                    <a:solidFill>
                      <a:srgbClr val="FFEFD9"/>
                    </a:solidFill>
                  </a:tcPr>
                </a:tc>
                <a:tc>
                  <a:txBody>
                    <a:bodyPr wrap="square"/>
                    <a:lstStyle/>
                    <a:p>
                      <a:r>
                        <a:rPr sz="1600" b="0">
                          <a:solidFill>
                            <a:srgbClr val="1F2A44"/>
                          </a:solidFill>
                          <a:latin typeface="Arial"/>
                          <a:ea typeface="Microsoft YaHei"/>
                        </a:rPr>
                        <a:t>It depends on how AI is used.</a:t>
                      </a:r>
                    </a:p>
                  </a:txBody>
                  <a:tcPr anchor="ctr">
                    <a:solidFill>
                      <a:srgbClr val="FFEFD9"/>
                    </a:solidFill>
                  </a:tcPr>
                </a:tc>
              </a:tr>
            </a:tbl>
          </a:graphicData>
        </a:graphic>
      </p:graphicFrame>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Conditionals and modals for prediction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条件句与情态预测</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unless = if not. Do not add another negative: </a:t>
            </a:r>
            <a:r>
              <a:rPr sz="1700" b="0">
                <a:solidFill>
                  <a:srgbClr val="1F2A44"/>
                </a:solidFill>
                <a:latin typeface="Arial"/>
                <a:ea typeface="Microsoft YaHei"/>
              </a:rPr>
              <a:t>unless we act (not unless we don’t act).</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will surely widen the gap.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may well widen the gap.</a:t>
            </a:r>
          </a:p>
          <a:p>
            <a:pPr algn="l">
              <a:spcAft>
                <a:spcPts val="200"/>
              </a:spcAft>
            </a:pPr>
            <a:r>
              <a:rPr sz="1200" b="0">
                <a:solidFill>
                  <a:srgbClr val="FFFFFF"/>
                </a:solidFill>
                <a:latin typeface="Arial"/>
                <a:ea typeface="Microsoft YaHei"/>
              </a:rPr>
              <a:t>谨慎</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Unless we don’t train workers, …</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Unless we train workers, …</a:t>
            </a:r>
          </a:p>
          <a:p>
            <a:pPr algn="l">
              <a:spcAft>
                <a:spcPts val="200"/>
              </a:spcAft>
            </a:pPr>
            <a:r>
              <a:rPr sz="1200" b="0">
                <a:solidFill>
                  <a:srgbClr val="FFFFFF"/>
                </a:solidFill>
                <a:latin typeface="Arial"/>
                <a:ea typeface="Microsoft YaHei"/>
              </a:rPr>
              <a:t>unless 含否定</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AI is replacing the workers.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is replacing some workers.</a:t>
            </a:r>
          </a:p>
          <a:p>
            <a:pPr algn="l">
              <a:spcAft>
                <a:spcPts val="200"/>
              </a:spcAft>
            </a:pPr>
            <a:r>
              <a:rPr sz="1200" b="0">
                <a:solidFill>
                  <a:srgbClr val="FFFFFF"/>
                </a:solidFill>
                <a:latin typeface="Arial"/>
                <a:ea typeface="Microsoft YaHei"/>
              </a:rPr>
              <a:t>无冠词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AI make jobs disappear.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AI makes some jobs disappear.</a:t>
            </a:r>
          </a:p>
          <a:p>
            <a:pPr algn="l">
              <a:spcAft>
                <a:spcPts val="200"/>
              </a:spcAft>
            </a:pPr>
            <a:r>
              <a:rPr sz="1200" b="0">
                <a:solidFill>
                  <a:srgbClr val="FFFFFF"/>
                </a:solidFill>
                <a:latin typeface="Arial"/>
                <a:ea typeface="Microsoft YaHei"/>
              </a:rPr>
              <a:t>三单</a:t>
            </a:r>
          </a:p>
        </p:txBody>
      </p:sp>
      <p:sp>
        <p:nvSpPr>
          <p:cNvPr id="11" name="Rounded Rectangle 10"/>
          <p:cNvSpPr/>
          <p:nvPr/>
        </p:nvSpPr>
        <p:spPr>
          <a:xfrm>
            <a:off x="548640" y="216407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inequality between rich and poor are growing.</a:t>
            </a:r>
          </a:p>
        </p:txBody>
      </p:sp>
      <p:sp>
        <p:nvSpPr>
          <p:cNvPr id="12" name="Rounded Rectangle 11"/>
          <p:cNvSpPr/>
          <p:nvPr/>
        </p:nvSpPr>
        <p:spPr>
          <a:xfrm>
            <a:off x="6187287" y="216407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Inequality between rich and poor is growing.</a:t>
            </a:r>
          </a:p>
          <a:p>
            <a:pPr algn="l">
              <a:spcAft>
                <a:spcPts val="200"/>
              </a:spcAft>
            </a:pPr>
            <a:r>
              <a:rPr sz="1200" b="0">
                <a:solidFill>
                  <a:srgbClr val="FFFFFF"/>
                </a:solidFill>
                <a:latin typeface="Arial"/>
                <a:ea typeface="Microsoft YaHei"/>
              </a:rPr>
              <a:t>单数</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People must be trained for AI.</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should be trained to use AI.</a:t>
            </a:r>
          </a:p>
          <a:p>
            <a:pPr algn="l">
              <a:spcAft>
                <a:spcPts val="200"/>
              </a:spcAft>
            </a:pPr>
            <a:r>
              <a:rPr sz="1200" b="0">
                <a:solidFill>
                  <a:srgbClr val="FFFFFF"/>
                </a:solidFill>
                <a:latin typeface="Arial"/>
                <a:ea typeface="Microsoft YaHei"/>
              </a:rPr>
              <a:t>to use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unless, no article before AI / inequality, subject-verb agreement.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Avoid doom or hype. Balanced language is respected.</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Cite sources. “According to a report…” is better than “everyone says…”.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Be careful about job predictions. Say “may” and “could”.</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Ask about the human impact. Employers value that.</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AI and inequality in a balanced way.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could / may / unless to predict.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fair approaches.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unless and zero article with AI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97 AI and inequality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a balanced view on AI and fairness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unless, no article with AI, agreement.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 · Lesson 98 Virtual people industry booms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98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Virtual people industry booms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虚拟人产业蓬勃发展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virtual humans and influencers, their uses in business, and the ethical questions they raise.</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seen a virtual influencer or digital host?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might companies use virtual people?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trust advice from a virtual person?</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virtual people be labelled as such?</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jobs might virtual people change?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“virtual human / virtual influencer” 虚拟人/虚拟网红;“avatar” 虚拟形象。本课讨论商业用途与伦理,不涉及具体品牌。</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how and why companies use virtual people.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they are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benefits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concerns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Virtual people are…   💬 Companies use them to…   💬 The advantage is…   💬 One concern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“use sth to + 动词原形” 用来…。</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Digital faces, real money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Virtual people are computer-generated characters that look and sometimes talk like humans. They appear as influencers, news presenters, brand ambassadors, customer service agents and game characters. Companies like them because they can work around the clock, never age, and keep a consistent image. A brand can control exactly what the character says and does, which lowers some risks associated with human celebrities. The market has grown quickly as graphics and AI improve. However, there are concerns. Audiences may feel misled if they do not realise a person is not real. Virtual people can promote unrealistic looks, and they raise questions about who is responsible for their words. Many experts therefore suggest clear labelling and responsible guidelines, so that innovation does not damage trust.</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Where do virtual people appear?</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 influencers, news presenters, brand ambassadors, customer service agents and game characters.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 companies like them?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work around the clock, never age, and keep a consistent image under full control.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experts suggest?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Clear labelling and responsible guidelines.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Virtual people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虚拟人</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virtual human / influencer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虚拟人/虚拟网红</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follows a virtual influencer.”</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computer-generated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电脑生成的</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computer-generated host.”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brand ambassador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品牌代言人</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virtual brand ambassador.”</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digital double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数字分身</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actor has a digital double.”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uncanny valley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恐怖谷</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falls into the uncanny valley.”</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Business 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商业应用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around the clock</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全天候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work around the clock.”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consistent image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一致形象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a consistent image.”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customer engagement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客户互动</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boost customer engagement.”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monetise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变现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monetise their audience.”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control the narrative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掌控叙事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“Brands control the narrative.”</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Ethics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伦理</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disclose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披露</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“Brands must disclose AI use.”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misleading</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误导的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could be misleading.”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unrealistic standards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不切实际的标准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promote unrealistic standards.”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authenticity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真实性</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“Authenticity matters to audiences.”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accountability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 has accountability?”</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恐怖谷</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uncanny valley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真实性</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authenticity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数字分身</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digital double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虚拟人/虚拟网红</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virtual human / influencer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误导的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misleading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品牌代言人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 ambassador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问责</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accountability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披露</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disclose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virtual</a:t>
            </a:r>
          </a:p>
        </p:txBody>
      </p:sp>
      <p:sp>
        <p:nvSpPr>
          <p:cNvPr id="10" name="Rounded Rectangle 9"/>
          <p:cNvSpPr/>
          <p:nvPr/>
        </p:nvSpPr>
        <p:spPr>
          <a:xfrm>
            <a:off x="3236976"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generated</a:t>
            </a:r>
          </a:p>
        </p:txBody>
      </p:sp>
      <p:sp>
        <p:nvSpPr>
          <p:cNvPr id="11" name="Rounded Rectangle 10"/>
          <p:cNvSpPr/>
          <p:nvPr/>
        </p:nvSpPr>
        <p:spPr>
          <a:xfrm>
            <a:off x="4681728"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ambassador</a:t>
            </a:r>
          </a:p>
        </p:txBody>
      </p:sp>
      <p:sp>
        <p:nvSpPr>
          <p:cNvPr id="12" name="Rounded Rectangle 11"/>
          <p:cNvSpPr/>
          <p:nvPr/>
        </p:nvSpPr>
        <p:spPr>
          <a:xfrm>
            <a:off x="6236208"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engagement</a:t>
            </a:r>
          </a:p>
        </p:txBody>
      </p:sp>
      <p:sp>
        <p:nvSpPr>
          <p:cNvPr id="13" name="Rounded Rectangle 12"/>
          <p:cNvSpPr/>
          <p:nvPr/>
        </p:nvSpPr>
        <p:spPr>
          <a:xfrm>
            <a:off x="779068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disclose</a:t>
            </a:r>
          </a:p>
        </p:txBody>
      </p:sp>
      <p:sp>
        <p:nvSpPr>
          <p:cNvPr id="14" name="Rounded Rectangle 13"/>
          <p:cNvSpPr/>
          <p:nvPr/>
        </p:nvSpPr>
        <p:spPr>
          <a:xfrm>
            <a:off x="9125712"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authenticity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follows a _______ influencer.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virtual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It’s a computer-_______ character.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generated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brand uses a virtual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ambassador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Customer _______ increased.</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engagement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Brands should _______ when AI is used.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disclose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Audiences value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authenticity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around the clock,disclose sth TO sb,customer engagement;virtual 与 digital。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Talking about virtual influencers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谈虚拟网红</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casual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virtual influencers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Have you seen the virtual influencer everyone’s talking about?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It’s a computer-generated character with millions of followers.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do brands use them?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They’re consistent and available around the clock.</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virtual influencers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people feel misled?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do, if they don’t realise it’s not real. That’s why labelling matters.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you trust their recommendations?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completely. I’d want to know who’s behind them.</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Talking about virtual influencers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virtual influencers.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Opinion: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computer-generated · around the clock · misled · labelling · who’s behind them</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explain benefits and raise a concern.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unrealistic standards.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cost.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jobs.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Proposing a virtual host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提议使用虚拟主持人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marketing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Marketer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Director</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Proposing a virtual host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propose a virtual host for our online events.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 advantages?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can work around the clock and speak several languages.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the risks?</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Proposing a virtual host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customers may feel uncomfortable. We’d disclose clearly that it’s virtual.</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cost?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Higher at first, but lower in the long run.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try a pilot and measure customer engagement.</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Proposing a virtual host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a virtual host.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Event: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around the clock · disclose · in the long run · pilot · customer engagement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benefits, risks and a test.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plan to gather feedback.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data privacy.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with a human host.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virtual people be labelled?</a:t>
            </a:r>
          </a:p>
          <a:p>
            <a:pPr algn="l">
              <a:lnSpc>
                <a:spcPct val="115000"/>
              </a:lnSpc>
              <a:spcAft>
                <a:spcPts val="800"/>
              </a:spcAft>
            </a:pPr>
            <a:r>
              <a:rPr sz="1400" b="0">
                <a:solidFill>
                  <a:srgbClr val="5F677A"/>
                </a:solidFill>
                <a:latin typeface="Arial"/>
                <a:ea typeface="Microsoft YaHei"/>
              </a:rPr>
              <a:t>💬 “Yes,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Could virtual people replace human presenters?</a:t>
            </a:r>
          </a:p>
          <a:p>
            <a:pPr algn="l">
              <a:lnSpc>
                <a:spcPct val="115000"/>
              </a:lnSpc>
              <a:spcAft>
                <a:spcPts val="800"/>
              </a:spcAft>
            </a:pPr>
            <a:r>
              <a:rPr sz="1400" b="0">
                <a:solidFill>
                  <a:srgbClr val="5F677A"/>
                </a:solidFill>
                <a:latin typeface="Arial"/>
                <a:ea typeface="Microsoft YaHei"/>
              </a:rPr>
              <a:t>💬 “In some cases…”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virtual influencers authentic?</a:t>
            </a:r>
          </a:p>
          <a:p>
            <a:pPr algn="l">
              <a:lnSpc>
                <a:spcPct val="115000"/>
              </a:lnSpc>
              <a:spcAft>
                <a:spcPts val="800"/>
              </a:spcAft>
            </a:pPr>
            <a:r>
              <a:rPr sz="1400" b="0">
                <a:solidFill>
                  <a:srgbClr val="5F677A"/>
                </a:solidFill>
                <a:latin typeface="Arial"/>
                <a:ea typeface="Microsoft YaHei"/>
              </a:rPr>
              <a:t>💬 “Not really, since…”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risks do they bring?</a:t>
            </a:r>
          </a:p>
          <a:p>
            <a:pPr algn="l">
              <a:lnSpc>
                <a:spcPct val="115000"/>
              </a:lnSpc>
              <a:spcAft>
                <a:spcPts val="800"/>
              </a:spcAft>
            </a:pPr>
            <a:r>
              <a:rPr sz="1400" b="0">
                <a:solidFill>
                  <a:srgbClr val="5F677A"/>
                </a:solidFill>
                <a:latin typeface="Arial"/>
                <a:ea typeface="Microsoft YaHei"/>
              </a:rPr>
              <a:t>💬 “One risk is…”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work with a virtual colleague?</a:t>
            </a:r>
          </a:p>
          <a:p>
            <a:pPr algn="l">
              <a:lnSpc>
                <a:spcPct val="115000"/>
              </a:lnSpc>
              <a:spcAft>
                <a:spcPts val="800"/>
              </a:spcAft>
            </a:pPr>
            <a:r>
              <a:rPr sz="1400" b="0">
                <a:solidFill>
                  <a:srgbClr val="5F677A"/>
                </a:solidFill>
                <a:latin typeface="Arial"/>
                <a:ea typeface="Microsoft YaHei"/>
              </a:rPr>
              <a:t>💬 “I might, 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they should be labelled clearly, because people have a right to know whether they’re interacting with a real person. Without labelling, audiences may feel misled and lose trust. A simple”virtual character” tag would be enough, and it would protect both the audience and the brand.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“have a right to know” 有权知道;“lose trust” 失去信任。</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uses and purposes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描述用途与目的</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use X to + base</a:t>
                      </a:r>
                    </a:p>
                  </a:txBody>
                  <a:tcPr anchor="ctr">
                    <a:solidFill>
                      <a:srgbClr val="FFFFFF"/>
                    </a:solidFill>
                  </a:tcPr>
                </a:tc>
                <a:tc>
                  <a:txBody>
                    <a:bodyPr wrap="square"/>
                    <a:lstStyle/>
                    <a:p>
                      <a:r>
                        <a:rPr sz="1600" b="0">
                          <a:solidFill>
                            <a:srgbClr val="1F2A44"/>
                          </a:solidFill>
                          <a:latin typeface="Arial"/>
                          <a:ea typeface="Microsoft YaHei"/>
                        </a:rPr>
                        <a:t>Companies use them to promote products.</a:t>
                      </a:r>
                    </a:p>
                  </a:txBody>
                  <a:tcPr anchor="ctr">
                    <a:solidFill>
                      <a:srgbClr val="FFFFFF"/>
                    </a:solidFill>
                  </a:tcPr>
                </a:tc>
              </a:tr>
              <a:tr h="408432">
                <a:tc>
                  <a:txBody>
                    <a:bodyPr wrap="square"/>
                    <a:lstStyle/>
                    <a:p>
                      <a:r>
                        <a:rPr sz="1600" b="1">
                          <a:solidFill>
                            <a:srgbClr val="1F2A44"/>
                          </a:solidFill>
                          <a:latin typeface="Arial"/>
                          <a:ea typeface="Microsoft YaHei"/>
                        </a:rPr>
                        <a:t>be used for + -ing</a:t>
                      </a:r>
                    </a:p>
                  </a:txBody>
                  <a:tcPr anchor="ctr">
                    <a:solidFill>
                      <a:srgbClr val="FFEFD9"/>
                    </a:solidFill>
                  </a:tcPr>
                </a:tc>
                <a:tc>
                  <a:txBody>
                    <a:bodyPr wrap="square"/>
                    <a:lstStyle/>
                    <a:p>
                      <a:r>
                        <a:rPr sz="1600" b="0">
                          <a:solidFill>
                            <a:srgbClr val="1F2A44"/>
                          </a:solidFill>
                          <a:latin typeface="Arial"/>
                          <a:ea typeface="Microsoft YaHei"/>
                        </a:rPr>
                        <a:t>They are used for answering questions.</a:t>
                      </a:r>
                    </a:p>
                  </a:txBody>
                  <a:tcPr anchor="ctr">
                    <a:solidFill>
                      <a:srgbClr val="FFEFD9"/>
                    </a:solidFill>
                  </a:tcPr>
                </a:tc>
              </a:tr>
              <a:tr h="408432">
                <a:tc>
                  <a:txBody>
                    <a:bodyPr wrap="square"/>
                    <a:lstStyle/>
                    <a:p>
                      <a:r>
                        <a:rPr sz="1600" b="1">
                          <a:solidFill>
                            <a:srgbClr val="1F2A44"/>
                          </a:solidFill>
                          <a:latin typeface="Arial"/>
                          <a:ea typeface="Microsoft YaHei"/>
                        </a:rPr>
                        <a:t>in order to</a:t>
                      </a:r>
                    </a:p>
                  </a:txBody>
                  <a:tcPr anchor="ctr">
                    <a:solidFill>
                      <a:srgbClr val="FFFFFF"/>
                    </a:solidFill>
                  </a:tcPr>
                </a:tc>
                <a:tc>
                  <a:txBody>
                    <a:bodyPr wrap="square"/>
                    <a:lstStyle/>
                    <a:p>
                      <a:r>
                        <a:rPr sz="1600" b="0">
                          <a:solidFill>
                            <a:srgbClr val="1F2A44"/>
                          </a:solidFill>
                          <a:latin typeface="Arial"/>
                          <a:ea typeface="Microsoft YaHei"/>
                        </a:rPr>
                        <a:t>In order to save money, they use virtual hosts.</a:t>
                      </a:r>
                    </a:p>
                  </a:txBody>
                  <a:tcPr anchor="ctr">
                    <a:solidFill>
                      <a:srgbClr val="FFFFFF"/>
                    </a:solidFill>
                  </a:tcPr>
                </a:tc>
              </a:tr>
              <a:tr h="408432">
                <a:tc>
                  <a:txBody>
                    <a:bodyPr wrap="square"/>
                    <a:lstStyle/>
                    <a:p>
                      <a:r>
                        <a:rPr sz="1600" b="1">
                          <a:solidFill>
                            <a:srgbClr val="1F2A44"/>
                          </a:solidFill>
                          <a:latin typeface="Arial"/>
                          <a:ea typeface="Microsoft YaHei"/>
                        </a:rPr>
                        <a:t>so that</a:t>
                      </a:r>
                    </a:p>
                  </a:txBody>
                  <a:tcPr anchor="ctr">
                    <a:solidFill>
                      <a:srgbClr val="FFEFD9"/>
                    </a:solidFill>
                  </a:tcPr>
                </a:tc>
                <a:tc>
                  <a:txBody>
                    <a:bodyPr wrap="square"/>
                    <a:lstStyle/>
                    <a:p>
                      <a:r>
                        <a:rPr sz="1600" b="0">
                          <a:solidFill>
                            <a:srgbClr val="1F2A44"/>
                          </a:solidFill>
                          <a:latin typeface="Arial"/>
                          <a:ea typeface="Microsoft YaHei"/>
                        </a:rPr>
                        <a:t>They label them so that audiences aren’t misled.</a:t>
                      </a:r>
                    </a:p>
                  </a:txBody>
                  <a:tcPr anchor="ctr">
                    <a:solidFill>
                      <a:srgbClr val="FFEFD9"/>
                    </a:solidFill>
                  </a:tcPr>
                </a:tc>
              </a:tr>
            </a:tbl>
          </a:graphicData>
        </a:graphic>
      </p:graphicFrame>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uses and purposes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描述用途与目的</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X to do Y = purpose; be used for + noun/-ing = function.</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use for promote products.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use them to promote products.</a:t>
            </a:r>
          </a:p>
          <a:p>
            <a:pPr algn="l">
              <a:spcAft>
                <a:spcPts val="200"/>
              </a:spcAft>
            </a:pPr>
            <a:r>
              <a:rPr sz="1200" b="0">
                <a:solidFill>
                  <a:srgbClr val="FFFFFF"/>
                </a:solidFill>
                <a:latin typeface="Arial"/>
                <a:ea typeface="Microsoft YaHei"/>
              </a:rPr>
              <a:t>use sth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Virtual people is popular.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Virtual people are popular.</a:t>
            </a:r>
          </a:p>
          <a:p>
            <a:pPr algn="l">
              <a:spcAft>
                <a:spcPts val="200"/>
              </a:spcAft>
            </a:pPr>
            <a:r>
              <a:rPr sz="1200" b="0">
                <a:solidFill>
                  <a:srgbClr val="FFFFFF"/>
                </a:solidFill>
                <a:latin typeface="Arial"/>
                <a:ea typeface="Microsoft YaHei"/>
              </a:rPr>
              <a:t>people 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virtual influencers are not real person.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Virtual influencers are not real people.</a:t>
            </a:r>
          </a:p>
          <a:p>
            <a:pPr algn="l">
              <a:spcAft>
                <a:spcPts val="200"/>
              </a:spcAft>
            </a:pPr>
            <a:r>
              <a:rPr sz="1200" b="0">
                <a:solidFill>
                  <a:srgbClr val="FFFFFF"/>
                </a:solidFill>
                <a:latin typeface="Arial"/>
                <a:ea typeface="Microsoft YaHei"/>
              </a:rPr>
              <a:t>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work 24 hours.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works 24 hours a day. / around the clock.</a:t>
            </a:r>
          </a:p>
          <a:p>
            <a:pPr algn="l">
              <a:spcAft>
                <a:spcPts val="200"/>
              </a:spcAft>
            </a:pPr>
            <a:r>
              <a:rPr sz="1200" b="0">
                <a:solidFill>
                  <a:srgbClr val="FFFFFF"/>
                </a:solidFill>
                <a:latin typeface="Arial"/>
                <a:ea typeface="Microsoft YaHei"/>
              </a:rPr>
              <a:t>三单</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to disclose to customers about AI.</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to tell customers about AI. / disclose AI use to customers.</a:t>
            </a:r>
          </a:p>
          <a:p>
            <a:pPr algn="l">
              <a:spcAft>
                <a:spcPts val="200"/>
              </a:spcAft>
            </a:pPr>
            <a:r>
              <a:rPr sz="1200" b="0">
                <a:solidFill>
                  <a:srgbClr val="FFFFFF"/>
                </a:solidFill>
                <a:latin typeface="Arial"/>
                <a:ea typeface="Microsoft YaHei"/>
              </a:rPr>
              <a:t>disclose</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makes people feeling cheated.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makes people feel cheated.</a:t>
            </a:r>
          </a:p>
          <a:p>
            <a:pPr algn="l">
              <a:spcAft>
                <a:spcPts val="200"/>
              </a:spcAft>
            </a:pPr>
            <a:r>
              <a:rPr sz="1200" b="0">
                <a:solidFill>
                  <a:srgbClr val="FFFFFF"/>
                </a:solidFill>
                <a:latin typeface="Arial"/>
                <a:ea typeface="Microsoft YaHei"/>
              </a:rPr>
              <a:t>make + 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use X to, people are, third-person -s, make + base.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Disclosure rules. Some regions require labels for AI-generated content.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Influencer rules. Paid promotions must be marked “ad” or “sponsored” in many markets.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Authenticity. Audiences value honesty; avoid pretending.</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Cultural attitudes to virtual characters vary widely.</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98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virtual people and their uses.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ethical issues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a pilot and address risks.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use X to… and people are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 · Lesson 98 Virtual people industry booms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virtual humans in 60 seconds using “use X to”.</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use X to, people are, make + base.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生产率提升</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productivity gains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AI 助手</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AI assistant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virtual human / influencer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She follows a virtual influencer.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digital double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actor has a digital double.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变现</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monetise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Critics claim to slow innovation.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Critics claim that it slows innovation.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“监控”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surveillance</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“金融普惠”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financial inclusion</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“不受地点限制的”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location-independent</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Critics claim to slow innovation.</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Critics claim that it slows innovation.</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The shop doesn’t accept for cash.</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shop doesn’t accept cash.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21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