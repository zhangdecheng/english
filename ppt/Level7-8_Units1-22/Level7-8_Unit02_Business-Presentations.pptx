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2: Business Presentations — Self-Study Workbook (Lessons 06–09)</a:t>
            </a:r>
          </a:p>
          <a:p/>
          <a:p>
            <a:r>
              <a:t>开场：简单介绍本单元的主题和要完成的 4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06 · Giving business presentations 商务演讲</a:t>
            </a:r>
          </a:p>
          <a:p>
            <a:r>
              <a:t>Goal: open, structure, deliver and close a short business presentation with clear signposting and confident answers to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1 题讲过去的事,用过去式;第 3 题 “the best presenter you have seen” 用现在完成时(问经历)。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 60-second opening for a presentation on a topic you know well.</a:t>
            </a:r>
          </a:p>
          <a:p>
            <a:r>
              <a:t>Say: greeting → topic and aim → structure → why it matters.</a:t>
            </a:r>
          </a:p>
          <a:p>
            <a:r>
              <a:t>Useful starters: “Good morning, everyone. Thank you for coming.” / “Today I’d like to talk about…” / “I’ll cover three points: first…, second…, and finally…”</a:t>
            </a:r>
          </a:p>
          <a:p>
            <a:r>
              <a:t>“I’ll cover three points” 是路标语(signposting),帮听众跟上结构。first / second / finally 后面要加逗号。</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Dev had ten minutes to present a new pricing idea to the leadership team. In rehearsal, he talked for fifteen, and every slide had about two hundred words. A colleague, Sue, gave him advice he still remembers: “Tell them what you’ll say, say it, then tell them what you said.” Dev rewrote his opening: one sentence on the problem, one on the proposal, and the three points he would cover. Each slide now had a single idea and a short headline. He practised out loud with a timer and cut everything that didn’t support his main message. On the day, he spoke slowly and paused after each key number. When a director interrupted with a question, he said, “Good question. I’ll come to that in a moment,” and he did. The team approved the pricing test that afternoon. “The slides were never the problem,” Dev said afterwards. “I was trying to say too much.”</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was wrong with Dev’s first version?</a:t>
            </a:r>
          </a:p>
          <a:p>
            <a:r>
              <a:t>A: He talked for fifteen minutes instead of ten and his slides were overloaded.</a:t>
            </a:r>
          </a:p>
          <a:p>
            <a:r>
              <a:t>Q2. What did he change?</a:t>
            </a:r>
          </a:p>
          <a:p>
            <a:r>
              <a:t>A: A clear three-point opening, one idea per slide, practice with a timer, cutting content.</a:t>
            </a:r>
          </a:p>
          <a:p>
            <a:r>
              <a:t>Q3. How did he deal with the director’s interruption?</a:t>
            </a:r>
          </a:p>
          <a:p>
            <a:r>
              <a:t>A: He promised to answer later (“I’ll come to that in a moment”) and did.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Opening and structure 开场与结构</a:t>
            </a:r>
          </a:p>
          <a:p>
            <a:r>
              <a:t>领读 → 学员跟读 → 请学员用表达造一个和自己工作相关的句子。</a:t>
            </a:r>
          </a:p>
          <a:p>
            <a:r>
              <a:t>give a presentation (collocation) 做演讲 — “I’m giving a presentation to the board on Friday.”</a:t>
            </a:r>
          </a:p>
          <a:p>
            <a:r>
              <a:t>Today I’d like to talk about… (phrase) 今天我想谈谈… — “Today I’d like to talk about our new pricing plan.”</a:t>
            </a:r>
          </a:p>
          <a:p>
            <a:r>
              <a:t>★ The aim of my talk is to… (phrase) 我这次演讲的目的是… — “The aim of my talk is to show how we can cut costs.”</a:t>
            </a:r>
          </a:p>
          <a:p>
            <a:r>
              <a:t>I’ll cover three main points. (phrase) 我会讲三个要点 — “I’ll cover three main points: the problem, the plan and the risks.”</a:t>
            </a:r>
          </a:p>
          <a:p>
            <a:r>
              <a:t>★ walk you through (phrasal verb) 带你们过一遍 — “Let me walk you through the plan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Signposting and emphasis 衔接与强调</a:t>
            </a:r>
          </a:p>
          <a:p>
            <a:r>
              <a:t>领读 → 学员跟读 → 请学员用表达造一个和自己工作相关的句子。</a:t>
            </a:r>
          </a:p>
          <a:p>
            <a:r>
              <a:t>Let’s move on to… (phrase) 我们接着讲… — “Let’s move on to the budget.”</a:t>
            </a:r>
          </a:p>
          <a:p>
            <a:r>
              <a:t>★ As you can see from this chart… (phrase) 从这张图可以看出… — “As you can see from this chart, sales dipped in March.”</a:t>
            </a:r>
          </a:p>
          <a:p>
            <a:r>
              <a:t>★ I’d like to highlight… (phrase) 我想特别强调… — “I’d like to highlight one figure: customer retention.”</a:t>
            </a:r>
          </a:p>
          <a:p>
            <a:r>
              <a:t>★ Turning to… (phrase) 说到/转到… — “Turning to costs, the picture is more mixed.”</a:t>
            </a:r>
          </a:p>
          <a:p>
            <a:r>
              <a:t>★ grab people’s attention (collocation) 吸引听众注意 — “A surprising number is a good way to grab people’s attention.”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Closing and questions 收尾与提问</a:t>
            </a:r>
          </a:p>
          <a:p>
            <a:r>
              <a:t>领读 → 学员跟读 → 请学员用表达造一个和自己工作相关的句子。</a:t>
            </a:r>
          </a:p>
          <a:p>
            <a:r>
              <a:t>To sum up, … (phrase) 总结一下… — “To sum up, we need approval, budget and three months.”</a:t>
            </a:r>
          </a:p>
          <a:p>
            <a:r>
              <a:t>Thank you for your attention. (phrase) 感谢聆听 — “That’s all from me. Thank you for your attention.”</a:t>
            </a:r>
          </a:p>
          <a:p>
            <a:r>
              <a:t>take questions (collocation) 回答提问 — “I’m happy to take questions at the end.”</a:t>
            </a:r>
          </a:p>
          <a:p>
            <a:r>
              <a:t>★ I’ll come to that in a moment. (phrase) 我稍后会讲到 — “Good point. I’ll come to that in a moment.”</a:t>
            </a:r>
          </a:p>
          <a:p>
            <a:r>
              <a:t>★ concise (adjective) 简明扼要的 — “Keep your slides concise: one idea per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aim / cover / walk / highlight / sum / concise</a:t>
            </a:r>
          </a:p>
          <a:p>
            <a:r>
              <a:t>1. The _______ of my talk is to ask for approval. → aim</a:t>
            </a:r>
          </a:p>
          <a:p>
            <a:r>
              <a:t>2. I’ll _______ three main points today. → cover</a:t>
            </a:r>
          </a:p>
          <a:p>
            <a:r>
              <a:t>3. Let me _______ you through the plan. → walk</a:t>
            </a:r>
          </a:p>
          <a:p>
            <a:r>
              <a:t>4. I’d like to _______ one important figure. → highlight</a:t>
            </a:r>
          </a:p>
          <a:p>
            <a:r>
              <a:t>5. To _______ up, we need budget and time. → sum</a:t>
            </a:r>
          </a:p>
          <a:p>
            <a:r>
              <a:t>6. Keep your slides _______: one idea per slide. → concise</a:t>
            </a:r>
          </a:p>
          <a:p>
            <a:r>
              <a:t>Mistake Watch: (介词与搭配) give / make / deliver a presentation (not “do”); talk ABOUT, present TO the board; spelling: presentation, audience, concise.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a presentation to senior managers 向管理层开场</a:t>
            </a:r>
          </a:p>
          <a:p>
            <a:r>
              <a:t>情景：You open a ten-minute presentation to the leadership team and answer a question about timing.</a:t>
            </a:r>
          </a:p>
          <a:p>
            <a:r>
              <a:t>Role A: Dev Patel, presenter Role B: Ms Carter, finance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(Dev): Good morning, everyone, and thank you for making time. I’m Dev Patel from the pricing team.</a:t>
            </a:r>
          </a:p>
          <a:p>
            <a:r>
              <a:t>A: Today I’d like to talk about a simple idea that could add four per cent to our revenue. The aim of my talk is to ask for your approval for a three-month pilot.</a:t>
            </a:r>
          </a:p>
          <a:p>
            <a:r>
              <a:t>A: I’ll cover three points: first, the problem; second, the proposal; and finally, the risks.</a:t>
            </a:r>
          </a:p>
          <a:p>
            <a:r>
              <a:t>B (Ms Carter): Dev, how long will this take? We have a hard stop at ten.</a:t>
            </a:r>
          </a:p>
          <a:p>
            <a:r>
              <a:t>A: Ten minutes, and then I’ll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Let me start with the problem. As you can see from this chart, our prices haven’t changed in four years.</a:t>
            </a:r>
          </a:p>
          <a:p>
            <a:r>
              <a:t>B: Sorry, can I just check the vertical axis? Is that in euros?</a:t>
            </a:r>
          </a:p>
          <a:p>
            <a:r>
              <a:t>A: Good question. Yes, it’s in euros. Thank you for checking.</a:t>
            </a:r>
          </a:p>
          <a:p>
            <a:r>
              <a:t>A: Turning to the proposal, I’d like to highlight one number: a two per cent increase would add 300,000 a year.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open a short presentation to senior people.</a:t>
            </a:r>
          </a:p>
          <a:p>
            <a:r>
              <a:t>Your role (A) | Presenter. Topic: ______________</a:t>
            </a:r>
          </a:p>
          <a:p>
            <a:r>
              <a:t>Partner’s role (B) | Senior listener who asks about time and a chart.</a:t>
            </a:r>
          </a:p>
          <a:p>
            <a:r>
              <a:t>Must use (4 or more) | Today I’d like to talk about… · The aim of my talk is to… · I’ll cover… · As you can see… · I’d like to highlight…</a:t>
            </a:r>
          </a:p>
          <a:p>
            <a:r>
              <a:t>Goal | Give a 60-second opening with greeting, aim, structure and one chart reference.</a:t>
            </a:r>
          </a:p>
          <a:p>
            <a:r>
              <a:t>My notes | ____________________________________________</a:t>
            </a:r>
          </a:p>
          <a:p>
            <a:r>
              <a:t>Open with a surprising number or question to grab attention.</a:t>
            </a:r>
          </a:p>
          <a:p>
            <a:r>
              <a:t>A listener interrupts. Reply: “Good question. I’ll come to that in a moment.”</a:t>
            </a:r>
          </a:p>
          <a:p>
            <a:r>
              <a:t>Say your three points again at the end: “To sum up…”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and taking questions 收尾与答疑</a:t>
            </a:r>
          </a:p>
          <a:p>
            <a:r>
              <a:t>情景：You finish your presentation and handle two questions, one of which you cannot answer yet.</a:t>
            </a:r>
          </a:p>
          <a:p>
            <a:r>
              <a:t>Role A: Dev Patel, presenter Role B: Mr Lopez,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(Dev): To sum up, we need your approval, a small budget and three months. Thank you for your attention. I’m happy to take questions.</a:t>
            </a:r>
          </a:p>
          <a:p>
            <a:r>
              <a:t>B (Mr Lopez): Thanks, Dev. What happens if customers react badly to the price rise?</a:t>
            </a:r>
          </a:p>
          <a:p>
            <a:r>
              <a:t>A: That’s a fair concern. We’d see it in the first month, and we could reverse the change within a week.</a:t>
            </a:r>
          </a:p>
          <a:p>
            <a:r>
              <a:t>B: And how do your numbers compare with last year’s competitor data?</a:t>
            </a:r>
          </a:p>
          <a:p>
            <a:r>
              <a:t>A: I don’t have that comparison with me, I’m afraid. I’ll check and send it to you by tomorrow morning.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Fine. One more: who would run the pilot?</a:t>
            </a:r>
          </a:p>
          <a:p>
            <a:r>
              <a:t>A: Priya Shah from my team would take the lead, with weekly reports to you.</a:t>
            </a:r>
          </a:p>
          <a:p>
            <a:r>
              <a:t>B: Good. Please send the slides afterwards.</a:t>
            </a:r>
          </a:p>
          <a:p>
            <a:r>
              <a:t>A: Of course. Thank you all for your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handle questions after a presentation.</a:t>
            </a:r>
          </a:p>
          <a:p>
            <a:r>
              <a:t>Your role (A) | Presenter. Topic: ______________</a:t>
            </a:r>
          </a:p>
          <a:p>
            <a:r>
              <a:t>Partner’s role (B) | Director who asks one easy and one difficult question.</a:t>
            </a:r>
          </a:p>
          <a:p>
            <a:r>
              <a:t>Must use (3 or more) | That’s a fair concern · I don’t have that with me, I’m afraid · I’ll check and send it to you · take the lead · Thank you for your time</a:t>
            </a:r>
          </a:p>
          <a:p>
            <a:r>
              <a:t>Goal | Answer two questions honestly, including one you can’t answer yet.</a:t>
            </a:r>
          </a:p>
          <a:p>
            <a:r>
              <a:t>My notes | ____________________________________________</a:t>
            </a:r>
          </a:p>
          <a:p>
            <a:r>
              <a:t>The question is hostile: “Why should we trust these numbers?” Stay calm: “That’s a fair challenge. Here’s how we collected them…”</a:t>
            </a:r>
          </a:p>
          <a:p>
            <a:r>
              <a:t>Repeat the question first to buy time: “So you’re asking whether…”</a:t>
            </a:r>
          </a:p>
          <a:p>
            <a:r>
              <a:t>Keep each answer under 20 seconds.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presentation memorable? | “For me, it’s…” / “People remember stories more than…”</a:t>
            </a:r>
          </a:p>
          <a:p>
            <a:r>
              <a:t>2. How many slides are too many? | “I’d say anything over… is too much.” / “It depends on…”</a:t>
            </a:r>
          </a:p>
          <a:p>
            <a:r>
              <a:t>3. How do you deal with nerves? | “What helps me is…” / “Before I start, I…”</a:t>
            </a:r>
          </a:p>
          <a:p>
            <a:r>
              <a:t>4. Should you read from your slides? Why (not)? | “I’d avoid it because…” / “Slides should support, not replace…”</a:t>
            </a:r>
          </a:p>
          <a:p>
            <a:r>
              <a:t>5. How do you handle a question you can’t answer? | “I’d be honest and say…” / “It’s better to promise…”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avoid reading from slides, because people can read faster than you can talk. If you read, the audience stops listening to you. The slides should support what I say, not replace it: a headline, a chart, maybe three words. I add the explanation myself. That way, people look at me and listen, and I look more confident.”</a:t>
            </a:r>
          </a:p>
          <a:p>
            <a:r>
              <a:t>“read from” = 照着念;“support, not replace” 是并列对比结构;“That way, …” = 这样一来。</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Signposting language 路标语</a:t>
            </a:r>
          </a:p>
          <a:p>
            <a:r>
              <a:t>Purpose | Phrases</a:t>
            </a:r>
          </a:p>
          <a:p>
            <a:r>
              <a:t>Starting | Today I’d like to talk about… / I’ll begin by…</a:t>
            </a:r>
          </a:p>
          <a:p>
            <a:r>
              <a:t>Moving on | Let’s move on to… / Turning to…</a:t>
            </a:r>
          </a:p>
          <a:p>
            <a:r>
              <a:t>Emphasis | I’d like to highlight… / The key point here is…</a:t>
            </a:r>
          </a:p>
          <a:p>
            <a:r>
              <a:t>Ending | To sum up, … / In conclusion, … / That brings me to the end.</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Signposting language 路标语</a:t>
            </a:r>
          </a:p>
          <a:p>
            <a:r>
              <a:t>Use a comma after sequencing words: First,… Second,… Finally,…</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will do a presentation about sales.  →  ✓ I’ll give a presentation on sales.  (give a presentation;on / about)</a:t>
            </a:r>
          </a:p>
          <a:p>
            <a:r>
              <a:t>✗ Today I want to introduce about our plan.  →  ✓ Today I’d like to introduce our plan.  (introduce 后不加 about)</a:t>
            </a:r>
          </a:p>
          <a:p>
            <a:r>
              <a:t>✗ I will talk you about three points.  →  ✓ I’ll talk about three points. / I’ll tell you about three points.  (talk about)</a:t>
            </a:r>
          </a:p>
          <a:p>
            <a:r>
              <a:t>Mistake Watch: Check three things: give a presentation (not “do”), no about after introduce, and questions (plural).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Please look this chart.  →  ✓ Please look at this chart.  (look at)</a:t>
            </a:r>
          </a:p>
          <a:p>
            <a:r>
              <a:t>✗ Any question?  →  ✓ Are there any questions?  (question 要用复数)</a:t>
            </a:r>
          </a:p>
          <a:p>
            <a:r>
              <a:t>✗ Thank you for listening to me.  →  ✓ Thank you for your attention.  (更正式自然的结尾)</a:t>
            </a:r>
          </a:p>
          <a:p>
            <a:r>
              <a:t>Mistake Watch: Check three things: give a presentation (not “do”), no about after introduce, and questions (plural).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Open with the point, not an apology. Avoid “My English is poor” or “I’m not good at presenting.” Start with your aim.</a:t>
            </a:r>
          </a:p>
          <a:p>
            <a:r>
              <a:t>Pause. English-speaking audiences like short pauses after key points. Silence is not a problem.</a:t>
            </a:r>
          </a:p>
          <a:p>
            <a:r>
              <a:t>Be direct about numbers and requests. Say clearly what you want: “I’m asking for your approval today.”</a:t>
            </a:r>
          </a:p>
          <a:p>
            <a:r>
              <a:t>Questions are a good sign. They show interest, not criticism.</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open a presentation with a greeting, my aim and a clear structure.</a:t>
            </a:r>
          </a:p>
          <a:p>
            <a:r>
              <a:t>I can use signposting language to move between points.</a:t>
            </a:r>
          </a:p>
          <a:p>
            <a:r>
              <a:t>I can close with a summary and invite questions.</a:t>
            </a:r>
          </a:p>
          <a:p>
            <a:r>
              <a:t>I can answer a question I can’t yet answer without losing credibility.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Deliver your 60-second opening, then your closing with two questions. Record both.</a:t>
            </a:r>
          </a:p>
          <a:p>
            <a:r>
              <a:t>8–10 | Listen to your recording. Check: signposting, “give a presentation”, “introduce” (no about), stress on key words.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07 · Virtual presentations 虚拟演示</a:t>
            </a:r>
          </a:p>
          <a:p>
            <a:r>
              <a:t>Goal: present effectively online: prepare the technology, keep people engaged, manage the chat and questions, and recover from technical problems.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题讲过去的事,用过去式(kept, did)。第 5 题可以用 “I’d check…”。</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you keep an online audience engaged.</a:t>
            </a:r>
          </a:p>
          <a:p>
            <a:r>
              <a:t>Say: the problem → three techniques → the result.</a:t>
            </a:r>
          </a:p>
          <a:p>
            <a:r>
              <a:t>Useful starters: “The challenge online is that…” / “One thing that works is…” / “That way, people…”</a:t>
            </a:r>
          </a:p>
          <a:p>
            <a:r>
              <a:t>“The challenge is that…” 引出问题。注意 that 后面是完整的句子:The challenge is that people multitask.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Mara used to dread online presentations. She couldn’t see faces, so she had no idea whether anyone was listening. Then a trainer suggested three habits. First, begin with a question in the chat: “What’s your biggest challenge with reporting?” Second, change something every few minutes: a new slide, a poll, a quick question. Third, stop talking at the end of each section and wait. Mara hated the third one most. Seven seconds of silence felt like an hour. But on her next call, someone finally typed an answer, then another, and soon the chat was full. She also tested her microphone, closed her email, and put a backup copy of the slides on her phone. “Online, you have to work harder for attention,” she says. “But when people do respond, you can really tell.” She no longer dreads the screen.</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did Mara dislike online presentations?</a:t>
            </a:r>
          </a:p>
          <a:p>
            <a:r>
              <a:t>A: She couldn’t see faces, so she didn’t know if anyone was listening.</a:t>
            </a:r>
          </a:p>
          <a:p>
            <a:r>
              <a:t>Q2. Name two of the trainer’s habits.</a:t>
            </a:r>
          </a:p>
          <a:p>
            <a:r>
              <a:t>A: Any two of: opening with a chat question, changing something every few minutes, pausing and waiting.</a:t>
            </a:r>
          </a:p>
          <a:p>
            <a:r>
              <a:t>Q3. What happened when she waited in silence?</a:t>
            </a:r>
          </a:p>
          <a:p>
            <a:r>
              <a:t>A: People began to answer in the chat.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Technology and set-up 技术与准备</a:t>
            </a:r>
          </a:p>
          <a:p>
            <a:r>
              <a:t>领读 → 学员跟读 → 请学员用表达造一个和自己工作相关的句子。</a:t>
            </a:r>
          </a:p>
          <a:p>
            <a:r>
              <a:t>screen share (noun / verb) 屏幕共享 — “I’ll screen share my slides in a minute.”</a:t>
            </a:r>
          </a:p>
          <a:p>
            <a:r>
              <a:t>Can you see my slides? (phrase) 你们能看到我的幻灯片吗? — “Can you see my slides? Please say yes in the chat.”</a:t>
            </a:r>
          </a:p>
          <a:p>
            <a:r>
              <a:t>sound check (noun) 试音 — “Let’s do a quick sound check before we start.”</a:t>
            </a:r>
          </a:p>
          <a:p>
            <a:r>
              <a:t>★ have a backup (copy) (collocation) 准备备份 — “I always have a backup copy of my slides on my phone.”</a:t>
            </a:r>
          </a:p>
          <a:p>
            <a:r>
              <a:t>★ the connection is shaky (phrase) 网络不稳定 — “The connection is shaky, so I’ll turn my camera off.”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Engaging the audience 与听众互动</a:t>
            </a:r>
          </a:p>
          <a:p>
            <a:r>
              <a:t>领读 → 学员跟读 → 请学员用表达造一个和自己工作相关的句子。</a:t>
            </a:r>
          </a:p>
          <a:p>
            <a:r>
              <a:t>the chat (noun) 聊天窗口 — “Please put your questions in the chat.”</a:t>
            </a:r>
          </a:p>
          <a:p>
            <a:r>
              <a:t>poll (noun / verb) 投票 — “Let’s run a quick poll before the next section.”</a:t>
            </a:r>
          </a:p>
          <a:p>
            <a:r>
              <a:t>★ break up the talk (phrasal verb) 把演讲分成小段 — “Break up the talk with a question every five minutes.”</a:t>
            </a:r>
          </a:p>
          <a:p>
            <a:r>
              <a:t>★ keep people engaged (collocation) 让听众保持投入 — “Short stories help keep people engaged.”</a:t>
            </a:r>
          </a:p>
          <a:p>
            <a:r>
              <a:t>★ read the room (idiom) 观察现场气氛 — “Online, it is hard to read the room, so ask for feedback.”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Managing Q&amp;A and problems 答疑与应对问题</a:t>
            </a:r>
          </a:p>
          <a:p>
            <a:r>
              <a:t>领读 → 学员跟读 → 请学员用表达造一个和自己工作相关的句子。</a:t>
            </a:r>
          </a:p>
          <a:p>
            <a:r>
              <a:t>unmute yourself (verb phrase) 取消静音 — “Please unmute yourself if you’d like to ask something.”</a:t>
            </a:r>
          </a:p>
          <a:p>
            <a:r>
              <a:t>raise a hand (verb phrase) 举手(示意) — “Use the ‘raise hand’ button and I’ll call on you.”</a:t>
            </a:r>
          </a:p>
          <a:p>
            <a:r>
              <a:t>★ bear with me (phrase) 请稍等,请耐心 — “Bear with me for a moment while I find the slide.”</a:t>
            </a:r>
          </a:p>
          <a:p>
            <a:r>
              <a:t>★ lose the thread (idiom) 说话离题 / 找不到思路 — “Sorry, I lost the thread. Where was I?”</a:t>
            </a:r>
          </a:p>
          <a:p>
            <a:r>
              <a:t>★ recap (noun / verb) 回顾,概括 — “Let me recap the three main points.”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screen / poll / engaged / shaky / bear / recap</a:t>
            </a:r>
          </a:p>
          <a:p>
            <a:r>
              <a:t>1. I’ll _______ share my slides in a moment. → screen</a:t>
            </a:r>
          </a:p>
          <a:p>
            <a:r>
              <a:t>2. Let’s run a quick _______ before the next section. → poll</a:t>
            </a:r>
          </a:p>
          <a:p>
            <a:r>
              <a:t>3. Short stories help keep people _______. → engaged</a:t>
            </a:r>
          </a:p>
          <a:p>
            <a:r>
              <a:t>4. My connection is _______, so I’ll turn my camera off. → shaky</a:t>
            </a:r>
          </a:p>
          <a:p>
            <a:r>
              <a:t>5. Please _______ with me while I find the slide. → bear</a:t>
            </a:r>
          </a:p>
          <a:p>
            <a:r>
              <a:t>6. Let me _______ the three main points. → recap</a:t>
            </a:r>
          </a:p>
          <a:p>
            <a:r>
              <a:t>Mistake Watch: (拼写与词性) screen share (noun) / share your screen (verb phrase); engaged (not “engage” after “keep people”); recap has one 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Starting an online presentation 开始线上演示</a:t>
            </a:r>
          </a:p>
          <a:p>
            <a:r>
              <a:t>情景：You start a webinar for 30 clients and check that everyone can see and hear you.</a:t>
            </a:r>
          </a:p>
          <a:p>
            <a:r>
              <a:t>Role A: Tom Hughes, presenter Role B: Anna Silva,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(Tom): Good afternoon, everyone. Can you all hear me OK? If so, please say yes in the chat.</a:t>
            </a:r>
          </a:p>
          <a:p>
            <a:r>
              <a:t>B (Anna): Yes, loud and clear.</a:t>
            </a:r>
          </a:p>
          <a:p>
            <a:r>
              <a:t>A: Great. Let me share my screen. Can you see my slides?</a:t>
            </a:r>
          </a:p>
          <a:p>
            <a:r>
              <a:t>B: I can see the title slide, but it’s a bit small.</a:t>
            </a:r>
          </a:p>
          <a:p>
            <a:r>
              <a:t>A: Thanks, Anna. Is that better now?</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Much better.</a:t>
            </a:r>
          </a:p>
          <a:p>
            <a:r>
              <a:t>A: Wonderful. Before we start, a quick poll: what’s your biggest challenge with online meetings? Please put your answer in the chat.</a:t>
            </a:r>
          </a:p>
          <a:p>
            <a:r>
              <a:t>B: Mine is people talking over each other!</a:t>
            </a:r>
          </a:p>
          <a:p>
            <a:r>
              <a:t>A: Ha, that’s a classic. We’ll come back to that in part two.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start an online presentation and check the technology.</a:t>
            </a:r>
          </a:p>
          <a:p>
            <a:r>
              <a:t>Your role (A) | Presenter. Topic: ______________</a:t>
            </a:r>
          </a:p>
          <a:p>
            <a:r>
              <a:t>Partner’s role (B) | Client who reports small technical problems.</a:t>
            </a:r>
          </a:p>
          <a:p>
            <a:r>
              <a:t>Must use (4 or more) | Can you all hear me OK? · share my screen · Can you see my slides? · poll · the chat</a:t>
            </a:r>
          </a:p>
          <a:p>
            <a:r>
              <a:t>Goal | Start the call, fix two technical issues and run one interactive question.</a:t>
            </a:r>
          </a:p>
          <a:p>
            <a:r>
              <a:t>My notes | ____________________________________________</a:t>
            </a:r>
          </a:p>
          <a:p>
            <a:r>
              <a:t>The slides won’t load: “Bear with me for a moment while I fix this. Meanwhile, please tell me in the chat what you’d like to learn today.”</a:t>
            </a:r>
          </a:p>
          <a:p>
            <a:r>
              <a:t>Your connection drops. Rejoin and recap: “Sorry about that. I think I lost you for a minute. Let me recap where we were.”</a:t>
            </a:r>
          </a:p>
          <a:p>
            <a:r>
              <a:t>Check the audience’s energy: “Is this pace OK? Please react with a thumbs-up if it is.”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questions online 线上答疑</a:t>
            </a:r>
          </a:p>
          <a:p>
            <a:r>
              <a:t>情景：During your talk, three questions arrive at the same time in the chat and one person speaks without being unmuted.</a:t>
            </a:r>
          </a:p>
          <a:p>
            <a:r>
              <a:t>Role A: Tom Hughes, presenter Role B: Anna Silva, client</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(Tom): I see a few questions in the chat. Anna, would you like to ask yours out loud?</a:t>
            </a:r>
          </a:p>
          <a:p>
            <a:r>
              <a:t>B (Anna): Yes, thanks. Sorry, I was on mute. How long does the free trial last?</a:t>
            </a:r>
          </a:p>
          <a:p>
            <a:r>
              <a:t>A: Thirty days, and there’s no credit card needed. Does that answer your question?</a:t>
            </a:r>
          </a:p>
          <a:p>
            <a:r>
              <a:t>B: Yes, thank you. And is there a mobile version?</a:t>
            </a:r>
          </a:p>
          <a:p>
            <a:r>
              <a:t>A: There is, but only for iPhones at the moment. Android is coming in the spring.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Great. One more: can we get the slides afterwards?</a:t>
            </a:r>
          </a:p>
          <a:p>
            <a:r>
              <a:t>A: Of course. I’ll email them to everyone this afternoon, with the recording.</a:t>
            </a:r>
          </a:p>
          <a:p>
            <a:r>
              <a:t>B: Perfect, thanks.</a:t>
            </a:r>
          </a:p>
          <a:p>
            <a:r>
              <a:t>A: Right, I’ll read out the next question from the chat. Bear with me: “Do you offer discounts for small teams?”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take live questions in an online presentation.</a:t>
            </a:r>
          </a:p>
          <a:p>
            <a:r>
              <a:t>Your role (A) | Presenter. Topic: ______________</a:t>
            </a:r>
          </a:p>
          <a:p>
            <a:r>
              <a:t>Partner’s role (B) | Participant who asks questions by voice.</a:t>
            </a:r>
          </a:p>
          <a:p>
            <a:r>
              <a:t>Must use (3 or more) | Would you like to ask yours out loud? · Does that answer your question? · I’ll email the slides · Bear with me · read out</a:t>
            </a:r>
          </a:p>
          <a:p>
            <a:r>
              <a:t>Goal | Answer three questions, one by voice and one from the chat.</a:t>
            </a:r>
          </a:p>
          <a:p>
            <a:r>
              <a:t>My notes | ____________________________________________</a:t>
            </a:r>
          </a:p>
          <a:p>
            <a:r>
              <a:t>Two people speak at once: “Let’s take one question at a time. Anna first, then Mark.”</a:t>
            </a:r>
          </a:p>
          <a:p>
            <a:r>
              <a:t>A question is too long: “Let me make sure I’ve understood. You’re asking whether…”</a:t>
            </a:r>
          </a:p>
          <a:p>
            <a:r>
              <a:t>End with a recap in under 30 seconds.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biggest differences between online and face-to-face presentations? | “The biggest difference is…” / “Online, you can’t…”</a:t>
            </a:r>
          </a:p>
          <a:p>
            <a:r>
              <a:t>2. How do you keep people from checking their emails during a call? | “I try to…” / “It helps to ask…”</a:t>
            </a:r>
          </a:p>
          <a:p>
            <a:r>
              <a:t>3. Should you share the slides in advance? | “On the one hand… On the other hand…”</a:t>
            </a:r>
          </a:p>
          <a:p>
            <a:r>
              <a:t>4. What tools do you use for online presentations? | “I usually use…” / “I like it because…”</a:t>
            </a:r>
          </a:p>
          <a:p>
            <a:r>
              <a:t>5. How do you prepare for technical problems? | “I always have…” / “Before I start, I check…”</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“The most effective way is to ask a question every few minutes. People can’t check their emails if they might be asked something. I also use a short poll or a chat question to get everyone involved. It also helps to keep the sections short. If the talk lasts 40 minutes, I break it into four parts of ten minutes, each with a different activity.”</a:t>
            </a:r>
          </a:p>
          <a:p>
            <a:r>
              <a:t>“might be asked” 是被动语态的情态动词形式;“get everyone involved” = 让大家都参与进来。</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instructions online 线上给出指示</a:t>
            </a:r>
          </a:p>
          <a:p>
            <a:r>
              <a:t>Too blunt | Clearer and friendlier</a:t>
            </a:r>
          </a:p>
          <a:p>
            <a:r>
              <a:t>Say yes. | Please type yes in the chat if you can hear me.</a:t>
            </a:r>
          </a:p>
          <a:p>
            <a:r>
              <a:t>Don’t talk now. | Please stay on mute until the Q&amp;A.</a:t>
            </a:r>
          </a:p>
          <a:p>
            <a:r>
              <a:t>I can’t hear. | I’m having trouble hearing you. Could you check your microphone?</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instructions online 线上给出指示</a:t>
            </a:r>
          </a:p>
          <a:p>
            <a:r>
              <a:t>Use please, could you, and feel free to: “Feel free to use the chat.”</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will share you my screen.  →  ✓ I’ll share my screen.  (share 后直接接物)</a:t>
            </a:r>
          </a:p>
          <a:p>
            <a:r>
              <a:t>✗ Can you see my screen clear?  →  ✓ Can you see my screen clearly?  (副词 clearly)</a:t>
            </a:r>
          </a:p>
          <a:p>
            <a:r>
              <a:t>✗ Please wait me a moment.  →  ✓ Please bear with me for a moment. / Please wait a moment.  (wait 后不接人)</a:t>
            </a:r>
          </a:p>
          <a:p>
            <a:r>
              <a:t>Mistake Watch: Check every you / your in the instructions you give: send you, share my screen, see my slides.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Is there any question in the chat?  →  ✓ Are there any questions in the chat?  (复数)</a:t>
            </a:r>
          </a:p>
          <a:p>
            <a:r>
              <a:t>✗ I’ll send the slides to your afterwards.  →  ✓ I’ll send you the slides afterwards.  (send you,不是 to your)</a:t>
            </a:r>
          </a:p>
          <a:p>
            <a:r>
              <a:t>✗ We use online to present.  →  ✓ We present online.  (online 是副词)</a:t>
            </a:r>
          </a:p>
          <a:p>
            <a:r>
              <a:t>Mistake Watch: Check every you / your in the instructions you give: send you, share my screen, see my slides.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Cameras and chat are part of the culture. Many international audiences answer in the chat first and speak later.</a:t>
            </a:r>
          </a:p>
          <a:p>
            <a:r>
              <a:t>Silence is normal. Wait 5–7 seconds after a question before you rescue people.</a:t>
            </a:r>
          </a:p>
          <a:p>
            <a:r>
              <a:t>Send the slides and recording afterwards. It is polite and expected.</a:t>
            </a:r>
          </a:p>
          <a:p>
            <a:r>
              <a:t>Time zones. Say the time clearly: “10 a.m. London, 6 p.m. Shanghai.”</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check that people can see and hear me.</a:t>
            </a:r>
          </a:p>
          <a:p>
            <a:r>
              <a:t>I can use the chat and polls to keep an audience engaged.</a:t>
            </a:r>
          </a:p>
          <a:p>
            <a:r>
              <a:t>I can handle questions online politely (Would you like to ask yours out loud?).</a:t>
            </a:r>
          </a:p>
          <a:p>
            <a:r>
              <a:t>I can recover from a technical problem (Bear with me, Let me recap).</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Present 60 seconds of a topic online (even to your phone), including one chat or poll question. Record it.</a:t>
            </a:r>
          </a:p>
          <a:p>
            <a:r>
              <a:t>8–10 | Listen to your recording. Check: instructions with please/could you, clearly vs clear, plural questions.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08 · Moving through your presentation 推动你的演讲</a:t>
            </a:r>
          </a:p>
          <a:p>
            <a:r>
              <a:t>Goal: move smoothly from one point to the next: signpost, link slides, manage time, and describe charts and trends.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2、5 题讲过去的事,用过去式 (lost, did, explained)。第 4 题用一般现在时。</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chart or trend from your work.</a:t>
            </a:r>
          </a:p>
          <a:p>
            <a:r>
              <a:t>Say: what the chart shows → the main trend → one reason → what it means.</a:t>
            </a:r>
          </a:p>
          <a:p>
            <a:r>
              <a:t>Useful starters: “This chart shows…” / “Sales rose by… between… and…” / “The main reason for this is…”</a:t>
            </a:r>
          </a:p>
          <a:p>
            <a:r>
              <a:t>描述变化的动词:rise / increase, fall / drop, stay stable。by 后接变化幅度,to 后接最终数值:rose BY 5%, rose TO 200。</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a quarterly review, Joel spent five minutes on a single slide. It showed twelve lines of data, and nobody could read it. The audience grew restless, and the chair finally asked, “So what’s the main point?” Joel realised he had been describing everything and explaining nothing. That evening, he rebuilt the slide with one line and a headline: “Sales in the north fell by 12 per cent in the second quarter.” Then he added a signpost to link it to the next section: “That brings me to the reason why.” The next day he presented again, this time in four minutes less. The audience followed easily. “The slide is not a report,” he told a colleague. “It’s a sign that points to one idea.” He now checks every slide with a simple test: can someone understand the point in five seconds?</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was wrong with Joel’s slide?</a:t>
            </a:r>
          </a:p>
          <a:p>
            <a:r>
              <a:t>A: It had twelve lines of data that nobody could read, and he described everything without making a point.</a:t>
            </a:r>
          </a:p>
          <a:p>
            <a:r>
              <a:t>Q2. What did he change in the new version?</a:t>
            </a:r>
          </a:p>
          <a:p>
            <a:r>
              <a:t>A: One line, a headline stating the point, and a signpost to the next section.</a:t>
            </a:r>
          </a:p>
          <a:p>
            <a:r>
              <a:t>Q3. What is his five-second test?</a:t>
            </a:r>
          </a:p>
          <a:p>
            <a:r>
              <a:t>A: Can someone understand the main point in five seconds?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Moving between points 衔接各部分</a:t>
            </a:r>
          </a:p>
          <a:p>
            <a:r>
              <a:t>领读 → 学员跟读 → 请学员用表达造一个和自己工作相关的句子。</a:t>
            </a:r>
          </a:p>
          <a:p>
            <a:r>
              <a:t>Let’s move on to… (phrase) 我们接着看… — “Let’s move on to the second quarter.”</a:t>
            </a:r>
          </a:p>
          <a:p>
            <a:r>
              <a:t>That brings me to… (phrase) 这就引出了… — “That brings me to my next point: cost.”</a:t>
            </a:r>
          </a:p>
          <a:p>
            <a:r>
              <a:t>★ Moving on to… / Turning to… (phrase) 接下来是… — “Turning to the regional figures, the picture is different.”</a:t>
            </a:r>
          </a:p>
          <a:p>
            <a:r>
              <a:t>★ Before I go on, … (phrase) 在继续之前… — “Before I go on, does anyone have a question?”</a:t>
            </a:r>
          </a:p>
          <a:p>
            <a:r>
              <a:t>★ I’ll come back to this later. (phrase) 我稍后会再讲 — “I’ll come back to this later, when we look at costs.”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Describing charts and trends 描述图表和趋势</a:t>
            </a:r>
          </a:p>
          <a:p>
            <a:r>
              <a:t>领读 → 学员跟读 → 请学员用表达造一个和自己工作相关的句子。</a:t>
            </a:r>
          </a:p>
          <a:p>
            <a:r>
              <a:t>rise / increase (by) (verb) 上升(幅度) — “Sales rose by 8 per cent last year.”</a:t>
            </a:r>
          </a:p>
          <a:p>
            <a:r>
              <a:t>fall / drop (to) (verb) 下降(到) — “Profits fell to 1.2 million.”</a:t>
            </a:r>
          </a:p>
          <a:p>
            <a:r>
              <a:t>remain stable / level off (verb phrase) 保持稳定 / 趋于平稳 — “Prices levelled off in May.”</a:t>
            </a:r>
          </a:p>
          <a:p>
            <a:r>
              <a:t>★ a sharp rise / a steady decline (collocation) 急剧上升 / 稳步下降 — “There was a sharp rise in costs in June.”</a:t>
            </a:r>
          </a:p>
          <a:p>
            <a:r>
              <a:t>★ peak at / bottom out (verb phrase) 达到峰值 / 触底 — “Sales peaked at 2 million in December.”</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Managing time and focus 掌控时间与重点</a:t>
            </a:r>
          </a:p>
          <a:p>
            <a:r>
              <a:t>领读 → 学员跟读 → 请学员用表达造一个和自己工作相关的句子。</a:t>
            </a:r>
          </a:p>
          <a:p>
            <a:r>
              <a:t>in the interest of time (phrase) 为节省时间 — “In the interest of time, I’ll skip this slide.”</a:t>
            </a:r>
          </a:p>
          <a:p>
            <a:r>
              <a:t>★ skim over (phrasal verb) 略过 — “I’ll skim over the details and focus on the result.”</a:t>
            </a:r>
          </a:p>
          <a:p>
            <a:r>
              <a:t>key point (noun) 要点 — “The key point is that costs are falling.”</a:t>
            </a:r>
          </a:p>
          <a:p>
            <a:r>
              <a:t>★ drive the point home (idiom) 把观点讲透 — “One example will drive the point home.”</a:t>
            </a:r>
          </a:p>
          <a:p>
            <a:r>
              <a:t>★ in a nutshell (idiom) 简而言之 — “In a nutshell, we need more time.”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brings / rose / fell / stable / interest / nutshell</a:t>
            </a:r>
          </a:p>
          <a:p>
            <a:r>
              <a:t>1. That _______ me to my next point. → brings</a:t>
            </a:r>
          </a:p>
          <a:p>
            <a:r>
              <a:t>2. Sales _______ by 8 per cent last year. → rose</a:t>
            </a:r>
          </a:p>
          <a:p>
            <a:r>
              <a:t>3. Profits _______ to 1.2 million in March. → fell</a:t>
            </a:r>
          </a:p>
          <a:p>
            <a:r>
              <a:t>4. Prices have remained _______ since June. → stable</a:t>
            </a:r>
          </a:p>
          <a:p>
            <a:r>
              <a:t>5. In the _______ of time, I’ll skip this slide. → interest</a:t>
            </a:r>
          </a:p>
          <a:p>
            <a:r>
              <a:t>6. In a _______, we need more time. → nutshell</a:t>
            </a:r>
          </a:p>
          <a:p>
            <a:r>
              <a:t>Mistake Watch: (介词) rose BY 5% (幅度) / rose TO 200 (终值) / rose FROM 100 TO 200; between 2023 and 2024; spelling: increase, decrease, steady.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Linking slides and managing time 衔接与控制时间</a:t>
            </a:r>
          </a:p>
          <a:p>
            <a:r>
              <a:t>情景：In the middle of your talk, you move between sections and realise you are running out of time.</a:t>
            </a:r>
          </a:p>
          <a:p>
            <a:r>
              <a:t>Role A: Joel Brown, presenter Role B: Sara Lin, chair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(Joel): That brings me to the second part: costs. As you can see, they rose sharply in June.</a:t>
            </a:r>
          </a:p>
          <a:p>
            <a:r>
              <a:t>B (Sara): Joel, just to let you know, you have about five minutes left.</a:t>
            </a:r>
          </a:p>
          <a:p>
            <a:r>
              <a:t>A: Thanks, Sara. In the interest of time, I’ll skim over the details and focus on the key point.</a:t>
            </a:r>
          </a:p>
          <a:p>
            <a:r>
              <a:t>A: In a nutshell, costs rose by 12 per cent, but sales grew by 18 per cent, so the margin actually improved.</a:t>
            </a:r>
          </a:p>
          <a:p>
            <a:r>
              <a:t>B: Can you say a bit more about June?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I’ll come back to this later, when we look at the regional figures. Is that OK?</a:t>
            </a:r>
          </a:p>
          <a:p>
            <a:r>
              <a:t>B: That’s fine.</a:t>
            </a:r>
          </a:p>
          <a:p>
            <a:r>
              <a:t>A: Turning to the last section, I’d like to highlight three risks.</a:t>
            </a:r>
          </a:p>
          <a:p>
            <a:r>
              <a:t>A: To sum up, the numbers are encouraging, but we need to watch costs.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move between sections and manage a time warning.</a:t>
            </a:r>
          </a:p>
          <a:p>
            <a:r>
              <a:t>Your role (A) | Presenter. Topic: ______________</a:t>
            </a:r>
          </a:p>
          <a:p>
            <a:r>
              <a:t>Partner’s role (B) | Chair who tells you your time is almost up.</a:t>
            </a:r>
          </a:p>
          <a:p>
            <a:r>
              <a:t>Must use (4 or more) | That brings me to… · In the interest of time · skim over · I’ll come back to this later · In a nutshell</a:t>
            </a:r>
          </a:p>
          <a:p>
            <a:r>
              <a:t>Goal | Cover three sections in 2 minutes, with a signpost between each.</a:t>
            </a:r>
          </a:p>
          <a:p>
            <a:r>
              <a:t>My notes | ____________________________________________</a:t>
            </a:r>
          </a:p>
          <a:p>
            <a:r>
              <a:t>Skip one slide gracefully: “I’ll leave this one with you; the details are in the handout.”</a:t>
            </a:r>
          </a:p>
          <a:p>
            <a:r>
              <a:t>Link two slides with a question: “So what does this mean for next year?”</a:t>
            </a:r>
          </a:p>
          <a:p>
            <a:r>
              <a:t>Finish exactly on time and say: “That’s my time, thank you.”</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a sales chart 描述销售图表</a:t>
            </a:r>
          </a:p>
          <a:p>
            <a:r>
              <a:t>情景：You explain a chart to your manager, who asks about a surprising drop.</a:t>
            </a:r>
          </a:p>
          <a:p>
            <a:r>
              <a:t>Role A: Joel Brown, analyst Role B: Mr Ford,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(Joel): This chart shows our monthly sales over the last year. As you can see, they rose steadily until October.</a:t>
            </a:r>
          </a:p>
          <a:p>
            <a:r>
              <a:t>B (Mr Ford): And then?</a:t>
            </a:r>
          </a:p>
          <a:p>
            <a:r>
              <a:t>A: They peaked at 2 million in October, and then dropped sharply to 1.4 million in November.</a:t>
            </a:r>
          </a:p>
          <a:p>
            <a:r>
              <a:t>B: Why did they fall so much?</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main reason is that a major customer postponed an order. It should come back in January.</a:t>
            </a:r>
          </a:p>
          <a:p>
            <a:r>
              <a:t>B: So the trend isn’t a real decline?</a:t>
            </a:r>
          </a:p>
          <a:p>
            <a:r>
              <a:t>A: Not really. If you exclude that order, sales remained fairly stable.</a:t>
            </a:r>
          </a:p>
          <a:p>
            <a:r>
              <a:t>B: Good. Put that in the headline, so that nobody panics.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explain a chart with a surprising change.</a:t>
            </a:r>
          </a:p>
          <a:p>
            <a:r>
              <a:t>Your role (A) | Analyst. Chart topic: ______________</a:t>
            </a:r>
          </a:p>
          <a:p>
            <a:r>
              <a:t>Partner’s role (B) | Manager who asks about a drop.</a:t>
            </a:r>
          </a:p>
          <a:p>
            <a:r>
              <a:t>Must use (3 or more) | This chart shows… · rose by… · peaked at… · dropped sharply to… · The main reason is…</a:t>
            </a:r>
          </a:p>
          <a:p>
            <a:r>
              <a:t>Goal | Describe a rise and a fall with numbers, and give one reason.</a:t>
            </a:r>
          </a:p>
          <a:p>
            <a:r>
              <a:t>My notes | ____________________________________________</a:t>
            </a:r>
          </a:p>
          <a:p>
            <a:r>
              <a:t>Add a comparison: “Compared with last year, that’s 6 per cent higher.”</a:t>
            </a:r>
          </a:p>
          <a:p>
            <a:r>
              <a:t>Hedge: “It seems that…, although we need more data.”</a:t>
            </a:r>
          </a:p>
          <a:p>
            <a:r>
              <a:t>Write a headline for your chart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makes a good chart? | “A good chart is one that…” / “It should show only…”</a:t>
            </a:r>
          </a:p>
          <a:p>
            <a:r>
              <a:t>2. How do you explain numbers to people who dislike data? | “I try to…” / “I compare it to…”</a:t>
            </a:r>
          </a:p>
          <a:p>
            <a:r>
              <a:t>3. How can you recover if you lose your place? | “I’d pause and…” / “It’s fine to say…”</a:t>
            </a:r>
          </a:p>
          <a:p>
            <a:r>
              <a:t>4. How do you decide what to leave out? | “I ask myself…” / “If it doesn’t support…, I cut it.”</a:t>
            </a:r>
          </a:p>
          <a:p>
            <a:r>
              <a:t>5. What do you do when you are running out of time? | “I’d skip…” / “I’d focus 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“A good chart is one that you can understand in five seconds. It should show only one idea, with a clear headline that says what the main point is. I’d remove extra lines, 3D effects and anything decorative. If people spend more time reading the chart than listening to me, it’s too complicated. The best charts need almost no explanation.”</a:t>
            </a:r>
          </a:p>
          <a:p>
            <a:r>
              <a:t>“one that…” 中的 one 指 chart;“spend time + -ing” 注意搭配;“the best… need almost no explanation” 用复数动词因为 charts 是复数。</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change: verbs and prepositions 描述变化</a:t>
            </a:r>
          </a:p>
          <a:p>
            <a:r>
              <a:t>Pattern | Example</a:t>
            </a:r>
          </a:p>
          <a:p>
            <a:r>
              <a:t>verb + by (amount) | Sales rose by 8%.</a:t>
            </a:r>
          </a:p>
          <a:p>
            <a:r>
              <a:t>verb + to (final figure) | Profit fell to 1.2 million.</a:t>
            </a:r>
          </a:p>
          <a:p>
            <a:r>
              <a:t>verb + from… to… | Costs increased from 100 to 120.</a:t>
            </a:r>
          </a:p>
          <a:p>
            <a:r>
              <a:t>adjective + noun | a sharp rise, a steady decline, a slight fall</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Describing change: verbs and prepositions 描述变化</a:t>
            </a:r>
          </a:p>
          <a:p>
            <a:r>
              <a:t>Use the past simple for finished periods (“rose in June”), the present perfect for change up to now (“Sales have risen since March”).</a:t>
            </a:r>
          </a:p>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Sales increased to 8 per cent last year. (growth of 8%)  →  ✓ Sales increased by 8 per cent last year.  (by 表示变化幅度,to 表示最终数值)</a:t>
            </a:r>
          </a:p>
          <a:p>
            <a:r>
              <a:t>✗ Profit is raised in March.  →  ✓ Profit rose in March.  (rise 是不及物动词,没有被动)</a:t>
            </a:r>
          </a:p>
          <a:p>
            <a:r>
              <a:t>✗ Costs were drop last year.  →  ✓ Costs dropped last year.  (不用 were + 动词原形)</a:t>
            </a:r>
          </a:p>
          <a:p>
            <a:r>
              <a:t>Mistake Watch: For every change you describe, check: rose / fell (past form), by or to, and the time word (in June, since May).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Sales have risen last month.  →  ✓ Sales rose last month.  (last month → 过去式)</a:t>
            </a:r>
          </a:p>
          <a:p>
            <a:r>
              <a:t>✗ The sharp rise of June.  →  ✓ The sharp rise in June.  (in + 时间)</a:t>
            </a:r>
          </a:p>
          <a:p>
            <a:r>
              <a:t>✗ The number is stable since May.  →  ✓ The number has been stable since May.  (since → 现在完成时)</a:t>
            </a:r>
          </a:p>
          <a:p>
            <a:r>
              <a:t>Mistake Watch: For every change you describe, check: rose / fell (past form), by or to, and the time word (in June, since May).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Say the number, then the meaning. “Sales fell 12 per cent. That means we missed our target.” Don’t leave the audience to guess.</a:t>
            </a:r>
          </a:p>
          <a:p>
            <a:r>
              <a:t>Round numbers. “About 2 million” is easier to hear than “1,987,432”.</a:t>
            </a:r>
          </a:p>
          <a:p>
            <a:r>
              <a:t>Say figures slowly. In British English “1.5” is “one point five”, and “0.5” is “nought point five” (US: “zero point five”).</a:t>
            </a:r>
          </a:p>
          <a:p>
            <a:r>
              <a:t>Headlines on slides. English slides usually carry a full-sentence headline that states the message.</a:t>
            </a:r>
          </a:p>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link sections with That brings me to… and Turning to….</a:t>
            </a:r>
          </a:p>
          <a:p>
            <a:r>
              <a:t>I can describe a rise, a fall and a stable period using the right prepositions.</a:t>
            </a:r>
          </a:p>
          <a:p>
            <a:r>
              <a:t>I can skip content and keep to time (In the interest of time, skim over).</a:t>
            </a:r>
          </a:p>
          <a:p>
            <a:r>
              <a:t>I can explain what a chart means in one sentence.</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a real chart or table from your work in 60 seconds with three numbers. Record it.</a:t>
            </a:r>
          </a:p>
          <a:p>
            <a:r>
              <a:t>8–10 | Listen to your recording. Check: by / to, past forms (rose, fell), time words, stress on numbers.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09 · Putting skills into action 将演讲技能付诸行动</a:t>
            </a:r>
          </a:p>
          <a:p>
            <a:r>
              <a:t>Goal: combine structure, signposting, data and Q&amp;A in a complete five-minute pitch for a real proposal.</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第 4 题讲过去的事,用过去式(received, learned)。第 1 题可用 “I’d like to propose…”。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Pitch an idea in 60 seconds: problem, solution, benefit, request.</a:t>
            </a:r>
          </a:p>
          <a:p>
            <a:r>
              <a:t>Say: problem → solution → benefit → what you want from the audience.</a:t>
            </a:r>
          </a:p>
          <a:p>
            <a:r>
              <a:t>Useful starters: “The problem we face is…” / “My proposal is to…” / “The main benefit is…” / “What I’m asking for today is…”</a:t>
            </a:r>
          </a:p>
          <a:p>
            <a:r>
              <a:t>pitch(推介)的关键是最后一句”请求”:What I’m asking for is… 要明确说出你要什么,而不是只说想法。</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Lena’s team wanted a budget for a new customer app. They had one chance: five minutes in front of the executive committee. Lena used a structure she had learned in training. She began with the problem: customers waited an average of eleven minutes for support. Then came the solution, a simple app with live chat, followed by a number: it could cut waiting times by half. She mentioned one risk and how the team would manage it. Finally, she asked clearly: “We’re requesting 80,000 for a six-month pilot.” When a manager challenged the cost, Lena stayed calm: “That’s a fair question. The pilot is the cheapest way to find out.” The committee approved the budget. Afterwards, Lena said the secret was simple. “I didn’t try to explain everything. I tried to make one decision easy for them.”</a:t>
            </a:r>
          </a:p>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problem did Lena start with?</a:t>
            </a:r>
          </a:p>
          <a:p>
            <a:r>
              <a:t>A: Customers waited eleven minutes on average for support.</a:t>
            </a:r>
          </a:p>
          <a:p>
            <a:r>
              <a:t>Q2. What exactly did she ask for?</a:t>
            </a:r>
          </a:p>
          <a:p>
            <a:r>
              <a:t>A: 80,000 for a six-month pilot.</a:t>
            </a:r>
          </a:p>
          <a:p>
            <a:r>
              <a:t>Q3. What does Lena say was the secret?</a:t>
            </a:r>
          </a:p>
          <a:p>
            <a:r>
              <a:t>A: She made one decision easy instead of explaining everything.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Pitching 推介提案</a:t>
            </a:r>
          </a:p>
          <a:p>
            <a:r>
              <a:t>领读 → 学员跟读 → 请学员用表达造一个和自己工作相关的句子。</a:t>
            </a:r>
          </a:p>
          <a:p>
            <a:r>
              <a:t>pitch (an idea) (verb / noun) 推介(想法) — “I’m pitching a new app to the board on Friday.”</a:t>
            </a:r>
          </a:p>
          <a:p>
            <a:r>
              <a:t>The problem we face is… (phrase) 我们面临的问题是… — “The problem we face is slow customer support.”</a:t>
            </a:r>
          </a:p>
          <a:p>
            <a:r>
              <a:t>★ My proposal is to… (phrase) 我的提议是… — “My proposal is to run a six-month pilot.”</a:t>
            </a:r>
          </a:p>
          <a:p>
            <a:r>
              <a:t>benefit (noun) 好处,益处 — “The main benefit is lower costs.”</a:t>
            </a:r>
          </a:p>
          <a:p>
            <a:r>
              <a:t>★ make a business case for (collocation) 论证…的商业价值 — “We need to make a business case for the new app.”</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Persuading and handling challenges 说服与应对质疑</a:t>
            </a:r>
          </a:p>
          <a:p>
            <a:r>
              <a:t>领读 → 学员跟读 → 请学员用表达造一个和自己工作相关的句子。</a:t>
            </a:r>
          </a:p>
          <a:p>
            <a:r>
              <a:t>★ back it up with data (collocation) 用数据支撑 — “Back up every claim with data.”</a:t>
            </a:r>
          </a:p>
          <a:p>
            <a:r>
              <a:t>★ address a concern (collocation) 回应担忧 — “Let me address the concern about cost.”</a:t>
            </a:r>
          </a:p>
          <a:p>
            <a:r>
              <a:t>That’s a fair question. (phrase) 问得好(合理的问题) — “That’s a fair question. The pilot is the cheapest way to find out.”</a:t>
            </a:r>
          </a:p>
          <a:p>
            <a:r>
              <a:t>★ pushback (noun) 反对意见 — “We expect some pushback from Finance.”</a:t>
            </a:r>
          </a:p>
          <a:p>
            <a:r>
              <a:t>★ win people over (phrasal verb) 说服,争取支持 — “A clear example will help win them over.”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Asking for action 提出请求</a:t>
            </a:r>
          </a:p>
          <a:p>
            <a:r>
              <a:t>领读 → 学员跟读 → 请学员用表达造一个和自己工作相关的句子。</a:t>
            </a:r>
          </a:p>
          <a:p>
            <a:r>
              <a:t>What I’m asking for is… (phrase) 我想请求的是… — “What I’m asking for is your approval today.”</a:t>
            </a:r>
          </a:p>
          <a:p>
            <a:r>
              <a:t>approval / sign-off (noun) 批准 — “We need sign-off by Friday.”</a:t>
            </a:r>
          </a:p>
          <a:p>
            <a:r>
              <a:t>next steps (noun) 下一步 — “The next steps are a pilot, a review and a decision.”</a:t>
            </a:r>
          </a:p>
          <a:p>
            <a:r>
              <a:t>★ the bottom line (idiom) 关键结论,底线 — “The bottom line is that we save 20 per cent.”</a:t>
            </a:r>
          </a:p>
          <a:p>
            <a:r>
              <a:t>★ ask for buy-in (collocation) 争取认同与支持 — “Ask for buy-in from the team before the meeting.”</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pitching / proposal / benefit / data / address / bottom</a:t>
            </a:r>
          </a:p>
          <a:p>
            <a:r>
              <a:t>1. I’m _______ a new app to the board on Friday. → pitching</a:t>
            </a:r>
          </a:p>
          <a:p>
            <a:r>
              <a:t>2. My _______ is to run a six-month pilot. → proposal</a:t>
            </a:r>
          </a:p>
          <a:p>
            <a:r>
              <a:t>3. The main _______ is lower costs. → benefit</a:t>
            </a:r>
          </a:p>
          <a:p>
            <a:r>
              <a:t>4. Back up every claim with _______. → data</a:t>
            </a:r>
          </a:p>
          <a:p>
            <a:r>
              <a:t>5. Let me _______ the concern about cost. → address</a:t>
            </a:r>
          </a:p>
          <a:p>
            <a:r>
              <a:t>6. The _______ line is that we save 20 per cent. → bottom</a:t>
            </a:r>
          </a:p>
          <a:p>
            <a:r>
              <a:t>Mistake Watch: (搭配) make a proposal / put forward a proposal; the benefit OF, a request FOR; spelling: proposal, approval, benefit.</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Pitching a proposal to an executive 向高管推介提案</a:t>
            </a:r>
          </a:p>
          <a:p>
            <a:r>
              <a:t>情景：You have five minutes to ask an executive for budget for a pilot project.</a:t>
            </a:r>
          </a:p>
          <a:p>
            <a:r>
              <a:t>Role A: Lena Qin, project lead Role B: Mr Harris, executive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(Lena): Thank you for seeing me, Mr Harris. The problem we face is long waiting times: customers wait eleven minutes on average.</a:t>
            </a:r>
          </a:p>
          <a:p>
            <a:r>
              <a:t>B (Mr Harris): That sounds bad. What’s your solution?</a:t>
            </a:r>
          </a:p>
          <a:p>
            <a:r>
              <a:t>A: My proposal is to launch a simple app with live chat. The main benefit is that waiting times could drop by half.</a:t>
            </a:r>
          </a:p>
          <a:p>
            <a:r>
              <a:t>B: And the cost?</a:t>
            </a:r>
          </a:p>
          <a:p>
            <a:r>
              <a:t>A: We’re requesting 80,000 for a six-month pilot. That’s less than one per cent of our support budget.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What if it doesn’t work?</a:t>
            </a:r>
          </a:p>
          <a:p>
            <a:r>
              <a:t>A: That’s a fair question. We’d see results within eight weeks and could stop at any time.</a:t>
            </a:r>
          </a:p>
          <a:p>
            <a:r>
              <a:t>B: Hmm. I’ll need to see data before I decide.</a:t>
            </a:r>
          </a:p>
          <a:p>
            <a:r>
              <a:t>A: Of course. I’ll send you the numbers by tomorrow. What I’m asking for today is your agreement in principle.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 | </a:t>
            </a:r>
          </a:p>
          <a:p>
            <a:r>
              <a:t>Situation | You pitch a proposal and ask for a decision.</a:t>
            </a:r>
          </a:p>
          <a:p>
            <a:r>
              <a:t>Your role (A) | Project lead. Your proposal: ______________</a:t>
            </a:r>
          </a:p>
          <a:p>
            <a:r>
              <a:t>Partner’s role (B) | Executive who asks about cost and risk.</a:t>
            </a:r>
          </a:p>
          <a:p>
            <a:r>
              <a:t>Must use (4 or more) | The problem we face is… · My proposal is to… · The main benefit is… · What I’m asking for is… · That’s a fair question</a:t>
            </a:r>
          </a:p>
          <a:p>
            <a:r>
              <a:t>Goal | Pitch in 90 seconds, answer two questions, and end with a clear request.</a:t>
            </a:r>
          </a:p>
          <a:p>
            <a:r>
              <a:t>My notes | ____________________________________________</a:t>
            </a:r>
          </a:p>
          <a:p>
            <a:r>
              <a:t>The executive says “Not now.” Ask: “Is it the timing or the budget? If it’s the budget, we could start smaller.”</a:t>
            </a:r>
          </a:p>
          <a:p>
            <a:r>
              <a:t>Use the bottom line: “The bottom line is that we lose more by waiting.”</a:t>
            </a:r>
          </a:p>
          <a:p>
            <a:r>
              <a:t>Prepare a one-sentence version of your pitch (30 words).</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a sceptical audience 应对怀疑的听众</a:t>
            </a:r>
          </a:p>
          <a:p>
            <a:r>
              <a:t>情景：A sceptical manager challenges your numbers during the Q&amp;A.</a:t>
            </a:r>
          </a:p>
          <a:p>
            <a:r>
              <a:t>Role A: Lena Qin, presenter Role B: Mr Davis, sceptical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(Mr Davis): Lena, I’m not convinced. Where do these figures come from?</a:t>
            </a:r>
          </a:p>
          <a:p>
            <a:r>
              <a:t>A (Lena): That’s a fair challenge. They come from our own support logs for the last twelve months.</a:t>
            </a:r>
          </a:p>
          <a:p>
            <a:r>
              <a:t>B: But the logs may not include phone calls.</a:t>
            </a:r>
          </a:p>
          <a:p>
            <a:r>
              <a:t>A: Good point. I should have made that clear. The phone data is separate, and I’ll add it to the analysis.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And what if customers don’t want an app?</a:t>
            </a:r>
          </a:p>
          <a:p>
            <a:r>
              <a:t>A: I understand that concern. That’s exactly why we propose a pilot, not a full launch. We’ll measure usage before we spend more.</a:t>
            </a:r>
          </a:p>
          <a:p>
            <a:r>
              <a:t>B: OK. That’s reasonable. Send me the revised figures.</a:t>
            </a:r>
          </a:p>
          <a:p>
            <a:r>
              <a:t>A: Will do. Thank you for pushing on that. It makes the proposal stronger.</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 | </a:t>
            </a:r>
          </a:p>
          <a:p>
            <a:r>
              <a:t>Situation | A sceptical manager challenges your data.</a:t>
            </a:r>
          </a:p>
          <a:p>
            <a:r>
              <a:t>Your role (A) | Presenter. Topic: ______________</a:t>
            </a:r>
          </a:p>
          <a:p>
            <a:r>
              <a:t>Partner’s role (B) | Manager who is not convinced.</a:t>
            </a:r>
          </a:p>
          <a:p>
            <a:r>
              <a:t>Must use (3 or more) | That’s a fair challenge · Good point · I understand that concern · That’s exactly why… · It makes the proposal stronger</a:t>
            </a:r>
          </a:p>
          <a:p>
            <a:r>
              <a:t>Goal | Respond to three challenges calmly with evidence, in under two minutes.</a:t>
            </a:r>
          </a:p>
          <a:p>
            <a:r>
              <a:t>My notes | ____________________________________________</a:t>
            </a:r>
          </a:p>
          <a:p>
            <a:r>
              <a:t>Don’t argue. Agree, then answer: “I see what you mean. At the same time…”</a:t>
            </a:r>
          </a:p>
          <a:p>
            <a:r>
              <a:t>Ask a question back: “What would convince you?”</a:t>
            </a:r>
          </a:p>
          <a:p>
            <a:r>
              <a:t>Summarise their concern before you answer it.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most important part of a pitch? | “I think it’s…” / “Without a clear request, …”</a:t>
            </a:r>
          </a:p>
          <a:p>
            <a:r>
              <a:t>2. How do you handle a sceptical audience? | “I’d start by…” / “It helps to agree first…”</a:t>
            </a:r>
          </a:p>
          <a:p>
            <a:r>
              <a:t>3. Should you use stories or data? | “Ideally both: …” / “Data convinces the head, stories the heart.”</a:t>
            </a:r>
          </a:p>
          <a:p>
            <a:r>
              <a:t>4. How do you prepare for tough questions? | “I list the five hardest questions and…” / “I ask a colleague to…”</a:t>
            </a:r>
          </a:p>
          <a:p>
            <a:r>
              <a:t>5. What have you learned from Units 1–2? | “The biggest thing I learned is…” / “I’m going to start…”</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“I’d start by agreeing with the part that is reasonable. For example,”That’s a fair concern.” Then I’d answer with evidence rather than opinion. If I can’t prove it, I say so and offer to find out. The aim is not to win the argument but to win trust. Once people trust me, they are much more open to my proposal.”</a:t>
            </a:r>
          </a:p>
          <a:p>
            <a:r>
              <a:t>“rather than” = 而不是;“The aim is not to…but to…” 是常用对比句型;“win trust” = 赢得信任。</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Persuasive structure 说服结构</a:t>
            </a:r>
          </a:p>
          <a:p>
            <a:r>
              <a:t>Step | Example</a:t>
            </a:r>
          </a:p>
          <a:p>
            <a:r>
              <a:t>Problem | The problem we face is slow support.</a:t>
            </a:r>
          </a:p>
          <a:p>
            <a:r>
              <a:t>Solution | My proposal is to launch a pilot.</a:t>
            </a:r>
          </a:p>
          <a:p>
            <a:r>
              <a:t>Evidence | In the test, waiting times fell by 40 per cent.</a:t>
            </a:r>
          </a:p>
          <a:p>
            <a:r>
              <a:t>Request | What I’m asking for is 80,000 for six months.</a:t>
            </a:r>
          </a:p>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Persuasive structure 说服结构</a:t>
            </a:r>
          </a:p>
          <a:p>
            <a:r>
              <a:t>Rule of three: three reasons, three steps, three examples. Short lists are easier to remember.</a:t>
            </a:r>
          </a:p>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ask you approve this plan.  →  ✓ I’d like to ask you to approve this plan.  (ask sb to do)</a:t>
            </a:r>
          </a:p>
          <a:p>
            <a:r>
              <a:t>✗ This will help us to saving money.  →  ✓ This will help us (to) save money.  (help + 动词原形)</a:t>
            </a:r>
          </a:p>
          <a:p>
            <a:r>
              <a:t>✗ We are requesting for 80,000.  →  ✓ We are requesting 80,000.  (request 后不加 for)</a:t>
            </a:r>
          </a:p>
          <a:p>
            <a:r>
              <a:t>Mistake Watch: Read your pitch script and underline the verbs after help, ask, depend and agree. Check each one.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has a lot of benefit.  →  ✓ It has a lot of benefits.  (benefit 可数)</a:t>
            </a:r>
          </a:p>
          <a:p>
            <a:r>
              <a:t>✗ The result is depend on the data.  →  ✓ The result depends on the data.  (depend on)</a:t>
            </a:r>
          </a:p>
          <a:p>
            <a:r>
              <a:t>✗ I’m agree with your concern.  →  ✓ I agree with your concern.  (agree 是动词)</a:t>
            </a:r>
          </a:p>
          <a:p>
            <a:r>
              <a:t>Mistake Watch: Read your pitch script and underline the verbs after help, ask, depend and agree. Check each one.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Make the ask explicit. In English-speaking business cultures, silence at the end is not a “yes”. State what you want.</a:t>
            </a:r>
          </a:p>
          <a:p>
            <a:r>
              <a:t>Welcome challenges. “That’s a fair question” shows confidence, not weakness.</a:t>
            </a:r>
          </a:p>
          <a:p>
            <a:r>
              <a:t>Answer briefly, then check. “Does that answer your question?” is a standard follow-up.</a:t>
            </a:r>
          </a:p>
          <a:p>
            <a:r>
              <a:t>Admit what you don’t know. “I don’t have that figure with me, but I’ll send it by tomorrow” builds more trust than guessing.</a:t>
            </a:r>
          </a:p>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pitch a proposal with problem, solution, benefit and request.</a:t>
            </a:r>
          </a:p>
          <a:p>
            <a:r>
              <a:t>I can answer challenges calmly with That’s a fair question and evidence.</a:t>
            </a:r>
          </a:p>
          <a:p>
            <a:r>
              <a:t>I can end with a clear ask and next steps.</a:t>
            </a:r>
          </a:p>
          <a:p>
            <a:r>
              <a:t>I can combine signposting, data and Q&amp;A in a five-minute presentation.</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Pitch your proposal in 90 seconds. Then answer two questions you wrote in advance. Record it.</a:t>
            </a:r>
          </a:p>
          <a:p>
            <a:r>
              <a:t>8–10 | Listen to your recording. Check: structure, signposting, benefit (countable), “ask sb to do”, clear request.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“达到峰值 / 触底” in English? → peak at / bottom out</a:t>
            </a:r>
          </a:p>
          <a:p>
            <a:r>
              <a:t>“我会讲三个要点” in English? → I’ll cover three main points.</a:t>
            </a:r>
          </a:p>
          <a:p>
            <a:r>
              <a:t>“下降(到)” in English? → fall / drop (to)</a:t>
            </a:r>
          </a:p>
          <a:p>
            <a:r>
              <a:t>Fix it: We use online to present. → We present online.</a:t>
            </a:r>
          </a:p>
          <a:p>
            <a:r>
              <a:t>Fix it: Profit is raised in March. → Profit rose in March.</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8.xml"/><Relationship Id="rId6" Type="http://schemas.openxmlformats.org/officeDocument/2006/relationships/slide" Target="slide8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 Id="rId4" Type="http://schemas.openxmlformats.org/officeDocument/2006/relationships/slide" Target="slide113.xml"/><Relationship Id="rId5" Type="http://schemas.openxmlformats.org/officeDocument/2006/relationships/slide" Target="slide114.xml"/><Relationship Id="rId6" Type="http://schemas.openxmlformats.org/officeDocument/2006/relationships/slide" Target="slide115.xml"/><Relationship Id="rId7" Type="http://schemas.openxmlformats.org/officeDocument/2006/relationships/slide" Target="slide116.xml"/><Relationship Id="rId8" Type="http://schemas.openxmlformats.org/officeDocument/2006/relationships/slide" Target="slide117.xml"/><Relationship Id="rId9" Type="http://schemas.openxmlformats.org/officeDocument/2006/relationships/slide" Target="slide118.xml"/><Relationship Id="rId10" Type="http://schemas.openxmlformats.org/officeDocument/2006/relationships/slide" Target="slide119.xml"/><Relationship Id="rId11" Type="http://schemas.openxmlformats.org/officeDocument/2006/relationships/slide" Target="slide120.xml"/><Relationship Id="rId12" Type="http://schemas.openxmlformats.org/officeDocument/2006/relationships/slide" Target="slide12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1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2</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Business Presentations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4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L06 Giving business presentations · L07 Virtual presentations · L08 Moving through your presentation · L09 Putting skills into action</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06</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Giving business presentations</a:t>
            </a:r>
          </a:p>
          <a:p>
            <a:pPr algn="l">
              <a:lnSpc>
                <a:spcPct val="100000"/>
              </a:lnSpc>
              <a:spcAft>
                <a:spcPts val="800"/>
              </a:spcAft>
            </a:pPr>
            <a:r>
              <a:rPr sz="1400" b="0">
                <a:solidFill>
                  <a:srgbClr val="5F677A"/>
                </a:solidFill>
                <a:latin typeface="Arial"/>
                <a:ea typeface="Microsoft YaHei"/>
              </a:rPr>
              <a:t>商务演讲</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07</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Virtual presentations</a:t>
            </a:r>
          </a:p>
          <a:p>
            <a:pPr algn="l">
              <a:lnSpc>
                <a:spcPct val="100000"/>
              </a:lnSpc>
              <a:spcAft>
                <a:spcPts val="800"/>
              </a:spcAft>
            </a:pPr>
            <a:r>
              <a:rPr sz="1400" b="0">
                <a:solidFill>
                  <a:srgbClr val="5F677A"/>
                </a:solidFill>
                <a:latin typeface="Arial"/>
                <a:ea typeface="Microsoft YaHei"/>
              </a:rPr>
              <a:t>虚拟演示</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08</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Moving through your presentation</a:t>
            </a:r>
          </a:p>
          <a:p>
            <a:pPr algn="l">
              <a:lnSpc>
                <a:spcPct val="100000"/>
              </a:lnSpc>
              <a:spcAft>
                <a:spcPts val="800"/>
              </a:spcAft>
            </a:pPr>
            <a:r>
              <a:rPr sz="1400" b="0">
                <a:solidFill>
                  <a:srgbClr val="5F677A"/>
                </a:solidFill>
                <a:latin typeface="Arial"/>
                <a:ea typeface="Microsoft YaHei"/>
              </a:rPr>
              <a:t>推动你的演讲</a:t>
            </a:r>
          </a:p>
        </p:txBody>
      </p:sp>
      <p:sp>
        <p:nvSpPr>
          <p:cNvPr id="16" name="Rounded Rectangle 15">
            <a:hlinkClick action="ppaction://hlinksldjump" r:id="rId6"/>
          </p:cNvPr>
          <p:cNvSpPr/>
          <p:nvPr/>
        </p:nvSpPr>
        <p:spPr>
          <a:xfrm>
            <a:off x="548640" y="2971800"/>
            <a:ext cx="3576218"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8368" y="3268980"/>
            <a:ext cx="8686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09</a:t>
            </a:r>
          </a:p>
        </p:txBody>
      </p:sp>
      <p:sp>
        <p:nvSpPr>
          <p:cNvPr id="18" name="TextBox 17"/>
          <p:cNvSpPr txBox="1"/>
          <p:nvPr/>
        </p:nvSpPr>
        <p:spPr>
          <a:xfrm>
            <a:off x="1645920" y="299923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Putting skills into action</a:t>
            </a:r>
          </a:p>
          <a:p>
            <a:pPr algn="l">
              <a:lnSpc>
                <a:spcPct val="100000"/>
              </a:lnSpc>
              <a:spcAft>
                <a:spcPts val="800"/>
              </a:spcAft>
            </a:pPr>
            <a:r>
              <a:rPr sz="1400" b="0">
                <a:solidFill>
                  <a:srgbClr val="5F677A"/>
                </a:solidFill>
                <a:latin typeface="Arial"/>
                <a:ea typeface="Microsoft YaHei"/>
              </a:rPr>
              <a:t>将演讲技能付诸行动</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 · Lesson 06 Giving business presentations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100" b="1">
                <a:solidFill>
                  <a:srgbClr val="FFFFFF"/>
                </a:solidFill>
                <a:latin typeface="Arial"/>
                <a:ea typeface="Microsoft YaHei"/>
              </a:rPr>
              <a:t>Giving business presentations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商务演讲</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open, structure, deliver and close a short business presentation with clear signposting and confident answers to questions.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give a presentation at work? What was it about?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you most nervous before a presentation?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Think of the best presenter you have seen. What did they do well?</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prepare your slides first, or your ideas first? Why?</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feel about taking questions at the end?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1 题讲过去的事,用过去式;第 3 题 “the best presenter you have seen” 用现在完成时(问经历)。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 60-second opening for a presentation on a topic you know well.</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greeting</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topic and aim</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structure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why it matters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Good morning, everyone. Thank you for coming.   💬 Today I’d like to talk about…   💬 I’ll cover three points: first…, second…, and finally…</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“I’ll cover three points” 是路标语(signposting),帮听众跟上结构。first / second / finally 后面要加逗号。</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Reading · Three points, ten minutes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154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Dev had ten minutes to present a new pricing idea to the leadership team. In rehearsal, he talked for fifteen, and every slide had about two hundred words. A colleague, Sue, gave him advice he still remembers: “Tell them what you’ll say, say it, then tell them what you said.” Dev rewrote his opening: one sentence on the problem, one on the proposal, and the three points he would cover. Each slide now had a single idea and a short headline. He practised out loud with a timer and cut everything that didn’t support his main message. On the day, he spoke slowly and paused after each key number. When a director interrupted with a question, he said, “Good question. I’ll come to that in a moment,” and he did. The team approved the pricing test that afternoon. “The slides were never the problem,” Dev said afterwards. “I was trying to say too much.”</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was wrong with Dev’s first version?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talked for fifteen minutes instead of ten and his slides were overloaded.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did he change?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 clear three-point opening, one idea per slide, practice with a timer, cutting content.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did he deal with the director’s interruption?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He promised to answer later (“I’ll come to that in a moment”) and did.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Opening and structure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开场与结构</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give a presentation</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做演讲</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giving a presentation to the board on Friday.”</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Today I’d like to talk about…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今天我想谈谈…</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“Today I’d like to talk about our new pricing plan.”</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aim of my talk is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我这次演讲的目的是…</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aim of my talk is to show how we can cut costs.”</a:t>
            </a:r>
          </a:p>
        </p:txBody>
      </p:sp>
      <p:sp>
        <p:nvSpPr>
          <p:cNvPr id="24" name="Rounded Rectangle 23"/>
          <p:cNvSpPr/>
          <p:nvPr/>
        </p:nvSpPr>
        <p:spPr>
          <a:xfrm>
            <a:off x="548640" y="41376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9352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I’ll cover three main points.</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我会讲三个要点</a:t>
            </a:r>
          </a:p>
        </p:txBody>
      </p:sp>
      <p:sp>
        <p:nvSpPr>
          <p:cNvPr id="28" name="TextBox 27"/>
          <p:cNvSpPr txBox="1"/>
          <p:nvPr/>
        </p:nvSpPr>
        <p:spPr>
          <a:xfrm>
            <a:off x="6675120" y="41833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cover three main points: the problem, the plan and the risks.”</a:t>
            </a:r>
          </a:p>
        </p:txBody>
      </p:sp>
      <p:sp>
        <p:nvSpPr>
          <p:cNvPr id="29" name="Rounded Rectangle 28"/>
          <p:cNvSpPr/>
          <p:nvPr/>
        </p:nvSpPr>
        <p:spPr>
          <a:xfrm>
            <a:off x="548640" y="51460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51460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51917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you through</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51917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带你们过一遍</a:t>
            </a:r>
          </a:p>
        </p:txBody>
      </p:sp>
      <p:sp>
        <p:nvSpPr>
          <p:cNvPr id="33" name="TextBox 32"/>
          <p:cNvSpPr txBox="1"/>
          <p:nvPr/>
        </p:nvSpPr>
        <p:spPr>
          <a:xfrm>
            <a:off x="6675120" y="51917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walk you through the plan step by step.”</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Signposting and emphasis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衔接与强调</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move on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我们接着讲…</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move on to the budget.”</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 you can see from this chart…</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从这张图可以看出…</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 you can see from this chart, sales dipped in March.”</a:t>
            </a:r>
          </a:p>
        </p:txBody>
      </p:sp>
      <p:sp>
        <p:nvSpPr>
          <p:cNvPr id="19" name="Rounded Rectangle 18"/>
          <p:cNvSpPr/>
          <p:nvPr/>
        </p:nvSpPr>
        <p:spPr>
          <a:xfrm>
            <a:off x="548640" y="31292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I’d like to highlight…</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31750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我想特别强调…</a:t>
            </a:r>
          </a:p>
        </p:txBody>
      </p:sp>
      <p:sp>
        <p:nvSpPr>
          <p:cNvPr id="23" name="TextBox 22"/>
          <p:cNvSpPr txBox="1"/>
          <p:nvPr/>
        </p:nvSpPr>
        <p:spPr>
          <a:xfrm>
            <a:off x="6675120" y="31750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“I’d like to highlight one figure: customer retention.”</a:t>
            </a:r>
          </a:p>
        </p:txBody>
      </p:sp>
      <p:sp>
        <p:nvSpPr>
          <p:cNvPr id="24" name="Rounded Rectangle 23"/>
          <p:cNvSpPr/>
          <p:nvPr/>
        </p:nvSpPr>
        <p:spPr>
          <a:xfrm>
            <a:off x="548640" y="41376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376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41833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Turning to…</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41833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说到/转到…</a:t>
            </a:r>
          </a:p>
        </p:txBody>
      </p:sp>
      <p:sp>
        <p:nvSpPr>
          <p:cNvPr id="28" name="TextBox 27"/>
          <p:cNvSpPr txBox="1"/>
          <p:nvPr/>
        </p:nvSpPr>
        <p:spPr>
          <a:xfrm>
            <a:off x="6675120" y="41833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“Turning to costs, the picture is more mixed.”</a:t>
            </a:r>
          </a:p>
        </p:txBody>
      </p:sp>
      <p:sp>
        <p:nvSpPr>
          <p:cNvPr id="29" name="Rounded Rectangle 28"/>
          <p:cNvSpPr/>
          <p:nvPr/>
        </p:nvSpPr>
        <p:spPr>
          <a:xfrm>
            <a:off x="548640" y="48412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grab people’s attention</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8869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吸引听众注意</a:t>
            </a:r>
          </a:p>
        </p:txBody>
      </p:sp>
      <p:sp>
        <p:nvSpPr>
          <p:cNvPr id="33" name="TextBox 32"/>
          <p:cNvSpPr txBox="1"/>
          <p:nvPr/>
        </p:nvSpPr>
        <p:spPr>
          <a:xfrm>
            <a:off x="6675120" y="48869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surprising number is a good way to grab people’s attention.”</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Closing and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收尾与提问</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To sum up, …</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总结一下…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“To sum up, we need approval, budget and three months.”</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Thank you for your attention.</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感谢聆听</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all from me. Thank you for your attention.”</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questions</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回答提问</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happy to take questions at the end.”</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come to that in a moment.</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我稍后会讲到</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“Good point. I’ll come to that in a moment.”</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concise</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简明扼要的</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“Keep your slides concise: one idea per slide.”</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今天我想谈谈…</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Today I’d like to talk about…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我会讲三个要点</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cover three main points.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吸引听众注意</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grab people’s attention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简明扼要的</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concise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回答提问</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questions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感谢聆听</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Thank you for your attention.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做演讲</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 a presentation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我这次演讲的目的是…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aim of my talk is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69494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aim</a:t>
            </a:r>
          </a:p>
        </p:txBody>
      </p:sp>
      <p:sp>
        <p:nvSpPr>
          <p:cNvPr id="10" name="Rounded Rectangle 9"/>
          <p:cNvSpPr/>
          <p:nvPr/>
        </p:nvSpPr>
        <p:spPr>
          <a:xfrm>
            <a:off x="2798064"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cover</a:t>
            </a:r>
          </a:p>
        </p:txBody>
      </p:sp>
      <p:sp>
        <p:nvSpPr>
          <p:cNvPr id="11" name="Rounded Rectangle 10"/>
          <p:cNvSpPr/>
          <p:nvPr/>
        </p:nvSpPr>
        <p:spPr>
          <a:xfrm>
            <a:off x="3803904"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walk</a:t>
            </a:r>
          </a:p>
        </p:txBody>
      </p:sp>
      <p:sp>
        <p:nvSpPr>
          <p:cNvPr id="12" name="Rounded Rectangle 11"/>
          <p:cNvSpPr/>
          <p:nvPr/>
        </p:nvSpPr>
        <p:spPr>
          <a:xfrm>
            <a:off x="4700016"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highlight</a:t>
            </a:r>
          </a:p>
        </p:txBody>
      </p:sp>
      <p:sp>
        <p:nvSpPr>
          <p:cNvPr id="13" name="Rounded Rectangle 12"/>
          <p:cNvSpPr/>
          <p:nvPr/>
        </p:nvSpPr>
        <p:spPr>
          <a:xfrm>
            <a:off x="6144768" y="987552"/>
            <a:ext cx="69494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sum</a:t>
            </a:r>
          </a:p>
        </p:txBody>
      </p:sp>
      <p:sp>
        <p:nvSpPr>
          <p:cNvPr id="14" name="Rounded Rectangle 13"/>
          <p:cNvSpPr/>
          <p:nvPr/>
        </p:nvSpPr>
        <p:spPr>
          <a:xfrm>
            <a:off x="6931152"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concise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_______ of my talk is to ask for approval.</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aim</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I’ll _______ three main points today.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Let me _______ you through the plan.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I’d like to _______ one important figure.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highlight</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To _______ up, we need budget and time.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sum</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Keep your slides _______: one idea per slide.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concise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(介词与搭配) give / make / deliver a presentation (not “do”); talk ABOUT, present TO the board; spelling: presentation, audience, concise.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Opening a presentation to senior managers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向管理层开场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open a ten-minute presentation to the leadership team and answer a question about timing.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Dev Patel,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Carter, finance director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 presentation to senior managers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Dev</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morning, everyone, and thank you for making time. I’m Dev Patel from the pricing team.</a:t>
            </a:r>
          </a:p>
        </p:txBody>
      </p:sp>
      <p:sp>
        <p:nvSpPr>
          <p:cNvPr id="11" name="Rounded Rectangle 10"/>
          <p:cNvSpPr/>
          <p:nvPr/>
        </p:nvSpPr>
        <p:spPr>
          <a:xfrm>
            <a:off x="548640" y="21976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2197608"/>
            <a:ext cx="8595360" cy="1069847"/>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Today I’d like to talk about a simple idea that could add four per cent to our revenue. The aim of my talk is to ask for your approval for a three-month pilot.</a:t>
            </a:r>
          </a:p>
        </p:txBody>
      </p:sp>
      <p:sp>
        <p:nvSpPr>
          <p:cNvPr id="14" name="Rounded Rectangle 13"/>
          <p:cNvSpPr/>
          <p:nvPr/>
        </p:nvSpPr>
        <p:spPr>
          <a:xfrm>
            <a:off x="548640" y="3358895"/>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797807"/>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358895"/>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cover three points: first, the problem; second, the proposal; and finally, the risks.</a:t>
            </a:r>
          </a:p>
        </p:txBody>
      </p:sp>
      <p:sp>
        <p:nvSpPr>
          <p:cNvPr id="17" name="Rounded Rectangle 16"/>
          <p:cNvSpPr/>
          <p:nvPr/>
        </p:nvSpPr>
        <p:spPr>
          <a:xfrm>
            <a:off x="10911535" y="4230623"/>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669535"/>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Carter</a:t>
            </a:r>
          </a:p>
        </p:txBody>
      </p:sp>
      <p:sp>
        <p:nvSpPr>
          <p:cNvPr id="19" name="Rounded Rectangle 18"/>
          <p:cNvSpPr/>
          <p:nvPr/>
        </p:nvSpPr>
        <p:spPr>
          <a:xfrm>
            <a:off x="2133295" y="4230623"/>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Dev, how long will this take? We have a hard stop at ten.</a:t>
            </a:r>
          </a:p>
        </p:txBody>
      </p:sp>
      <p:sp>
        <p:nvSpPr>
          <p:cNvPr id="20" name="Rounded Rectangle 19"/>
          <p:cNvSpPr/>
          <p:nvPr/>
        </p:nvSpPr>
        <p:spPr>
          <a:xfrm>
            <a:off x="548640" y="4812791"/>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5251703"/>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812791"/>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Ten minutes, and then I’ll take questions.</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Opening a presentation to senior managers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start with the problem. As you can see from this chart, our prices haven’t changed in four years.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Sorry, can I just check the vertical axis? Is that in euros?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question. Yes, it’s in euros. Thank you for checking.</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Turning to the proposal, I’d like to highlight one number: a two per cent increase would add 300,000 a year.</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Opening a presentation to senior managers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open a short presentation to senior people.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Senior listener who asks about time and a chart.</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Today I’d like to talk about… · The aim of my talk is to… · I’ll cover… · As you can see… · I’d like to highlight…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a 60-second opening with greeting, aim, structure and one chart reference.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Open with a surprising number or question to grab attention.</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listener interrupts. Reply: “Good question. I’ll come to that in a moment.”</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your three points again at the end: “To sum 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Closing and taking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收尾与答疑</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finish your presentation and handle two questions, one of which you cannot answer yet.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Dev Patel,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Lopez, director</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Closing and taking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Dev</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sum up, we need your approval, a small budget and three months. Thank you for your attention. I’m happy to take questions.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Lopez</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Dev. What happens if customers react badly to the price rise?</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concern. We’d see it in the first month, and we could reverse the change within a week.</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how do your numbers compare with last year’s competitor data?</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don’t have that comparison with me, I’m afraid. I’ll check and send it to you by tomorrow morning.</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Closing and taking questions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Fine. One more: who would run the pilot?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Priya Shah from my team would take the lead, with weekly reports to you.</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Please send the slides afterwards.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Thank you all for your time.</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Closing and taking questions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handle questions after a presentation.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Director who asks one easy and one difficult question.</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That’s a fair concern · I don’t have that with me, I’m afraid · I’ll check and send it to you · take the lead · Thank you for your time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Answer two questions honestly, including one you can’t answer yet.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The question is hostile: “Why should we trust these numbers?” Stay calm: “That’s a fair challenge. Here’s how we collected them…”</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Repeat the question first to buy time: “So you’re asking whether…”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FFFFFF"/>
                </a:solidFill>
                <a:latin typeface="Arial"/>
                <a:ea typeface="Microsoft YaHei"/>
              </a:rPr>
              <a:t>Keep each answer under 20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presentation memorable?</a:t>
            </a:r>
          </a:p>
          <a:p>
            <a:pPr algn="l">
              <a:lnSpc>
                <a:spcPct val="115000"/>
              </a:lnSpc>
              <a:spcAft>
                <a:spcPts val="800"/>
              </a:spcAft>
            </a:pPr>
            <a:r>
              <a:rPr sz="1400" b="0">
                <a:solidFill>
                  <a:srgbClr val="5F677A"/>
                </a:solidFill>
                <a:latin typeface="Arial"/>
                <a:ea typeface="Microsoft YaHei"/>
              </a:rPr>
              <a:t>💬 “For me, it’s…” / “People remember stories more than…”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many slides are too many?</a:t>
            </a:r>
          </a:p>
          <a:p>
            <a:pPr algn="l">
              <a:lnSpc>
                <a:spcPct val="115000"/>
              </a:lnSpc>
              <a:spcAft>
                <a:spcPts val="800"/>
              </a:spcAft>
            </a:pPr>
            <a:r>
              <a:rPr sz="1400" b="0">
                <a:solidFill>
                  <a:srgbClr val="5F677A"/>
                </a:solidFill>
                <a:latin typeface="Arial"/>
                <a:ea typeface="Microsoft YaHei"/>
              </a:rPr>
              <a:t>💬 “I’d say anything over… is too much.” / “It depends 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deal with nerves?</a:t>
            </a:r>
          </a:p>
          <a:p>
            <a:pPr algn="l">
              <a:lnSpc>
                <a:spcPct val="115000"/>
              </a:lnSpc>
              <a:spcAft>
                <a:spcPts val="800"/>
              </a:spcAft>
            </a:pPr>
            <a:r>
              <a:rPr sz="1400" b="0">
                <a:solidFill>
                  <a:srgbClr val="5F677A"/>
                </a:solidFill>
                <a:latin typeface="Arial"/>
                <a:ea typeface="Microsoft YaHei"/>
              </a:rPr>
              <a:t>💬 “What helps me is…” / “Before I start, I…”</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read from your slides? Why (not)?</a:t>
            </a:r>
          </a:p>
          <a:p>
            <a:pPr algn="l">
              <a:lnSpc>
                <a:spcPct val="115000"/>
              </a:lnSpc>
              <a:spcAft>
                <a:spcPts val="800"/>
              </a:spcAft>
            </a:pPr>
            <a:r>
              <a:rPr sz="1400" b="0">
                <a:solidFill>
                  <a:srgbClr val="5F677A"/>
                </a:solidFill>
                <a:latin typeface="Arial"/>
                <a:ea typeface="Microsoft YaHei"/>
              </a:rPr>
              <a:t>💬 “I’d avoid it because…” / “Slides should support, not replace…”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a question you can’t answer?</a:t>
            </a:r>
          </a:p>
          <a:p>
            <a:pPr algn="l">
              <a:lnSpc>
                <a:spcPct val="115000"/>
              </a:lnSpc>
              <a:spcAft>
                <a:spcPts val="800"/>
              </a:spcAft>
            </a:pPr>
            <a:r>
              <a:rPr sz="1400" b="0">
                <a:solidFill>
                  <a:srgbClr val="5F677A"/>
                </a:solidFill>
                <a:latin typeface="Arial"/>
                <a:ea typeface="Microsoft YaHei"/>
              </a:rPr>
              <a:t>💬 “I’d be honest and say…” / “It’s better to promise…”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avoid reading from slides, because people can read faster than you can talk. If you read, the audience stops listening to you. The slides should support what I say, not replace it: a headline, a chart, maybe three words. I add the explanation myself. That way, people look at me and listen, and I look more confident.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“read from” = 照着念;“support, not replace” 是并列对比结构;“That way, …” = 这样一来。</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Signposting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路标语</a:t>
            </a:r>
          </a:p>
        </p:txBody>
      </p:sp>
      <p:graphicFrame>
        <p:nvGraphicFramePr>
          <p:cNvPr id="9" name="Table 8"/>
          <p:cNvGraphicFramePr>
            <a:graphicFrameLocks noGrp="1"/>
          </p:cNvGraphicFramePr>
          <p:nvPr/>
        </p:nvGraphicFramePr>
        <p:xfrm>
          <a:off x="548640" y="1417320"/>
          <a:ext cx="11094415" cy="228600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Purpose</a:t>
                      </a:r>
                    </a:p>
                  </a:txBody>
                  <a:tcPr anchor="ctr">
                    <a:solidFill>
                      <a:srgbClr val="3CC49A"/>
                    </a:solidFill>
                  </a:tcPr>
                </a:tc>
                <a:tc>
                  <a:txBody>
                    <a:bodyPr wrap="square"/>
                    <a:lstStyle/>
                    <a:p>
                      <a:r>
                        <a:rPr sz="1600" b="1">
                          <a:solidFill>
                            <a:srgbClr val="FFFFFF"/>
                          </a:solidFill>
                          <a:latin typeface="Arial"/>
                          <a:ea typeface="Microsoft YaHei"/>
                        </a:rPr>
                        <a:t>Phrases</a:t>
                      </a:r>
                    </a:p>
                  </a:txBody>
                  <a:tcPr anchor="ctr">
                    <a:solidFill>
                      <a:srgbClr val="3CC49A"/>
                    </a:solidFill>
                  </a:tcPr>
                </a:tc>
              </a:tr>
              <a:tr h="408432">
                <a:tc>
                  <a:txBody>
                    <a:bodyPr wrap="square"/>
                    <a:lstStyle/>
                    <a:p>
                      <a:r>
                        <a:rPr sz="1600" b="1">
                          <a:solidFill>
                            <a:srgbClr val="1F2A44"/>
                          </a:solidFill>
                          <a:latin typeface="Arial"/>
                          <a:ea typeface="Microsoft YaHei"/>
                        </a:rPr>
                        <a:t>Starting</a:t>
                      </a:r>
                    </a:p>
                  </a:txBody>
                  <a:tcPr anchor="ctr">
                    <a:solidFill>
                      <a:srgbClr val="FFFFFF"/>
                    </a:solidFill>
                  </a:tcPr>
                </a:tc>
                <a:tc>
                  <a:txBody>
                    <a:bodyPr wrap="square"/>
                    <a:lstStyle/>
                    <a:p>
                      <a:r>
                        <a:rPr sz="1600" b="0">
                          <a:solidFill>
                            <a:srgbClr val="1F2A44"/>
                          </a:solidFill>
                          <a:latin typeface="Arial"/>
                          <a:ea typeface="Microsoft YaHei"/>
                        </a:rPr>
                        <a:t>Today I’d like to talk about… / I’ll begin by…</a:t>
                      </a:r>
                    </a:p>
                  </a:txBody>
                  <a:tcPr anchor="ctr">
                    <a:solidFill>
                      <a:srgbClr val="FFFFFF"/>
                    </a:solidFill>
                  </a:tcPr>
                </a:tc>
              </a:tr>
              <a:tr h="408432">
                <a:tc>
                  <a:txBody>
                    <a:bodyPr wrap="square"/>
                    <a:lstStyle/>
                    <a:p>
                      <a:r>
                        <a:rPr sz="1600" b="1">
                          <a:solidFill>
                            <a:srgbClr val="1F2A44"/>
                          </a:solidFill>
                          <a:latin typeface="Arial"/>
                          <a:ea typeface="Microsoft YaHei"/>
                        </a:rPr>
                        <a:t>Moving on</a:t>
                      </a:r>
                    </a:p>
                  </a:txBody>
                  <a:tcPr anchor="ctr">
                    <a:solidFill>
                      <a:srgbClr val="FFEFD9"/>
                    </a:solidFill>
                  </a:tcPr>
                </a:tc>
                <a:tc>
                  <a:txBody>
                    <a:bodyPr wrap="square"/>
                    <a:lstStyle/>
                    <a:p>
                      <a:r>
                        <a:rPr sz="1600" b="0">
                          <a:solidFill>
                            <a:srgbClr val="1F2A44"/>
                          </a:solidFill>
                          <a:latin typeface="Arial"/>
                          <a:ea typeface="Microsoft YaHei"/>
                        </a:rPr>
                        <a:t>Let’s move on to… / Turning to…</a:t>
                      </a:r>
                    </a:p>
                  </a:txBody>
                  <a:tcPr anchor="ctr">
                    <a:solidFill>
                      <a:srgbClr val="FFEFD9"/>
                    </a:solidFill>
                  </a:tcPr>
                </a:tc>
              </a:tr>
              <a:tr h="408432">
                <a:tc>
                  <a:txBody>
                    <a:bodyPr wrap="square"/>
                    <a:lstStyle/>
                    <a:p>
                      <a:r>
                        <a:rPr sz="1600" b="1">
                          <a:solidFill>
                            <a:srgbClr val="1F2A44"/>
                          </a:solidFill>
                          <a:latin typeface="Arial"/>
                          <a:ea typeface="Microsoft YaHei"/>
                        </a:rPr>
                        <a:t>Emphasis</a:t>
                      </a:r>
                    </a:p>
                  </a:txBody>
                  <a:tcPr anchor="ctr">
                    <a:solidFill>
                      <a:srgbClr val="FFFFFF"/>
                    </a:solidFill>
                  </a:tcPr>
                </a:tc>
                <a:tc>
                  <a:txBody>
                    <a:bodyPr wrap="square"/>
                    <a:lstStyle/>
                    <a:p>
                      <a:r>
                        <a:rPr sz="1600" b="0">
                          <a:solidFill>
                            <a:srgbClr val="1F2A44"/>
                          </a:solidFill>
                          <a:latin typeface="Arial"/>
                          <a:ea typeface="Microsoft YaHei"/>
                        </a:rPr>
                        <a:t>I’d like to highlight… / The key point here is…</a:t>
                      </a:r>
                    </a:p>
                  </a:txBody>
                  <a:tcPr anchor="ctr">
                    <a:solidFill>
                      <a:srgbClr val="FFFFFF"/>
                    </a:solidFill>
                  </a:tcPr>
                </a:tc>
              </a:tr>
              <a:tr h="652272">
                <a:tc>
                  <a:txBody>
                    <a:bodyPr wrap="square"/>
                    <a:lstStyle/>
                    <a:p>
                      <a:r>
                        <a:rPr sz="1600" b="1">
                          <a:solidFill>
                            <a:srgbClr val="1F2A44"/>
                          </a:solidFill>
                          <a:latin typeface="Arial"/>
                          <a:ea typeface="Microsoft YaHei"/>
                        </a:rPr>
                        <a:t>Ending</a:t>
                      </a:r>
                    </a:p>
                  </a:txBody>
                  <a:tcPr anchor="ctr">
                    <a:solidFill>
                      <a:srgbClr val="FFEFD9"/>
                    </a:solidFill>
                  </a:tcPr>
                </a:tc>
                <a:tc>
                  <a:txBody>
                    <a:bodyPr wrap="square"/>
                    <a:lstStyle/>
                    <a:p>
                      <a:r>
                        <a:rPr sz="1600" b="0">
                          <a:solidFill>
                            <a:srgbClr val="1F2A44"/>
                          </a:solidFill>
                          <a:latin typeface="Arial"/>
                          <a:ea typeface="Microsoft YaHei"/>
                        </a:rPr>
                        <a:t>To sum up, … / In conclusion, … / That brings me to the end.</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Signposting language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路标语</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a comma after sequencing words: </a:t>
            </a:r>
            <a:r>
              <a:rPr sz="1700" b="0">
                <a:solidFill>
                  <a:srgbClr val="1F2A44"/>
                </a:solidFill>
                <a:latin typeface="Arial"/>
                <a:ea typeface="Microsoft YaHei"/>
              </a:rPr>
              <a:t>First,… Second,… Finally,…</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do a presentation about sales.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give a presentation on sales.</a:t>
            </a:r>
          </a:p>
          <a:p>
            <a:pPr algn="l">
              <a:spcAft>
                <a:spcPts val="200"/>
              </a:spcAft>
            </a:pPr>
            <a:r>
              <a:rPr sz="1200" b="0">
                <a:solidFill>
                  <a:srgbClr val="FFFFFF"/>
                </a:solidFill>
                <a:latin typeface="Arial"/>
                <a:ea typeface="Microsoft YaHei"/>
              </a:rPr>
              <a:t>give a presentation;on / about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Today I want to introduce about our plan.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Today I’d like to introduce our plan.</a:t>
            </a:r>
          </a:p>
          <a:p>
            <a:pPr algn="l">
              <a:spcAft>
                <a:spcPts val="200"/>
              </a:spcAft>
            </a:pPr>
            <a:r>
              <a:rPr sz="1200" b="0">
                <a:solidFill>
                  <a:srgbClr val="FFFFFF"/>
                </a:solidFill>
                <a:latin typeface="Arial"/>
                <a:ea typeface="Microsoft YaHei"/>
              </a:rPr>
              <a:t>introduce 后不加 about</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talk you about three points.</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talk about three points. / I’ll tell you about three points.</a:t>
            </a:r>
          </a:p>
          <a:p>
            <a:pPr algn="l">
              <a:spcAft>
                <a:spcPts val="200"/>
              </a:spcAft>
            </a:pPr>
            <a:r>
              <a:rPr sz="1200" b="0">
                <a:solidFill>
                  <a:srgbClr val="FFFFFF"/>
                </a:solidFill>
                <a:latin typeface="Arial"/>
                <a:ea typeface="Microsoft YaHei"/>
              </a:rPr>
              <a:t>talk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look this chart.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look at this chart.</a:t>
            </a:r>
          </a:p>
          <a:p>
            <a:pPr algn="l">
              <a:spcAft>
                <a:spcPts val="200"/>
              </a:spcAft>
            </a:pPr>
            <a:r>
              <a:rPr sz="1200" b="0">
                <a:solidFill>
                  <a:srgbClr val="FFFFFF"/>
                </a:solidFill>
                <a:latin typeface="Arial"/>
                <a:ea typeface="Microsoft YaHei"/>
              </a:rPr>
              <a:t>look at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Any question?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Are there any questions?</a:t>
            </a:r>
          </a:p>
          <a:p>
            <a:pPr algn="l">
              <a:spcAft>
                <a:spcPts val="200"/>
              </a:spcAft>
            </a:pPr>
            <a:r>
              <a:rPr sz="1200" b="0">
                <a:solidFill>
                  <a:srgbClr val="FFFFFF"/>
                </a:solidFill>
                <a:latin typeface="Arial"/>
                <a:ea typeface="Microsoft YaHei"/>
              </a:rPr>
              <a:t>question 要用复数</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Thank you for listening to 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Thank you for your attention.</a:t>
            </a:r>
          </a:p>
          <a:p>
            <a:pPr algn="l">
              <a:spcAft>
                <a:spcPts val="200"/>
              </a:spcAft>
            </a:pPr>
            <a:r>
              <a:rPr sz="1200" b="0">
                <a:solidFill>
                  <a:srgbClr val="FFFFFF"/>
                </a:solidFill>
                <a:latin typeface="Arial"/>
                <a:ea typeface="Microsoft YaHei"/>
              </a:rPr>
              <a:t>更正式自然的结尾</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three things: give a presentation (not “do”), no about after introduce, and questions (plural).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Open with the point, not an apology. Avoid “My English is poor” or “I’m not good at presenting.” Start with your aim.</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Pause. English-speaking audiences like short pauses after key points. Silence is not a problem.</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0">
                <a:solidFill>
                  <a:srgbClr val="1F2A44"/>
                </a:solidFill>
                <a:latin typeface="Arial"/>
                <a:ea typeface="Microsoft YaHei"/>
              </a:rPr>
              <a:t>Be direct about numbers and requests. Say clearly what you want: “I’m asking for your approval today.”</a:t>
            </a:r>
          </a:p>
        </p:txBody>
      </p:sp>
      <p:sp>
        <p:nvSpPr>
          <p:cNvPr id="18" name="Rounded Rectangle 17"/>
          <p:cNvSpPr/>
          <p:nvPr/>
        </p:nvSpPr>
        <p:spPr>
          <a:xfrm>
            <a:off x="548640" y="353567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441959"/>
          </a:xfrm>
          <a:prstGeom prst="rect">
            <a:avLst/>
          </a:prstGeom>
          <a:noFill/>
        </p:spPr>
        <p:txBody>
          <a:bodyPr wrap="square" anchor="ctr">
            <a:spAutoFit/>
          </a:bodyPr>
          <a:lstStyle/>
          <a:p>
            <a:r>
              <a:rPr sz="1700" b="0">
                <a:solidFill>
                  <a:srgbClr val="1F2A44"/>
                </a:solidFill>
                <a:latin typeface="Arial"/>
                <a:ea typeface="Microsoft YaHei"/>
              </a:rPr>
              <a:t>Questions are a good sign. They show interest, not criticism.</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open a presentation with a greeting, my aim and a clear structure.</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signposting language to move between points.</a:t>
            </a:r>
          </a:p>
        </p:txBody>
      </p:sp>
      <p:sp>
        <p:nvSpPr>
          <p:cNvPr id="16" name="TextBox 15"/>
          <p:cNvSpPr txBox="1"/>
          <p:nvPr/>
        </p:nvSpPr>
        <p:spPr>
          <a:xfrm>
            <a:off x="9539935" y="24109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close with a summary and invite questions.</a:t>
            </a:r>
          </a:p>
        </p:txBody>
      </p:sp>
      <p:sp>
        <p:nvSpPr>
          <p:cNvPr id="20" name="TextBox 19"/>
          <p:cNvSpPr txBox="1"/>
          <p:nvPr/>
        </p:nvSpPr>
        <p:spPr>
          <a:xfrm>
            <a:off x="9539935" y="30083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answer a question I can’t yet answer without losing credibility.</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06 Giving business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Deliver your 60-second opening, then your closing with two questions. Record both.</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signposting, “give a presentation”, “introduce” (no about), stress on key words.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 · Lesson 07 Virtual presentations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Virtual presentations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虚拟演示</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present effectively online: prepare the technology, keep people engaged, manage the chat and questions, and recover from technical problems.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prefer presenting online or face to face? Why?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go wrong in an online presentation?</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know whether people are listening on a video call?</a:t>
            </a:r>
          </a:p>
        </p:txBody>
      </p:sp>
      <p:sp>
        <p:nvSpPr>
          <p:cNvPr id="18" name="Oval 17"/>
          <p:cNvSpPr/>
          <p:nvPr/>
        </p:nvSpPr>
        <p:spPr>
          <a:xfrm>
            <a:off x="548640" y="389534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attend an online presentation that kept your attention? What did the speaker do?</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would you check five minutes before you start?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题讲过去的事,用过去式(kept, did)。第 5 题可以用 “I’d check…”。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you keep an online audience engaged.</a:t>
            </a:r>
          </a:p>
        </p:txBody>
      </p:sp>
      <p:sp>
        <p:nvSpPr>
          <p:cNvPr id="10" name="Rounded Rectangle 9"/>
          <p:cNvSpPr/>
          <p:nvPr/>
        </p:nvSpPr>
        <p:spPr>
          <a:xfrm>
            <a:off x="548640" y="3017520"/>
            <a:ext cx="326136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problem</a:t>
            </a:r>
          </a:p>
        </p:txBody>
      </p:sp>
      <p:sp>
        <p:nvSpPr>
          <p:cNvPr id="11" name="Rounded Rectangle 10"/>
          <p:cNvSpPr/>
          <p:nvPr/>
        </p:nvSpPr>
        <p:spPr>
          <a:xfrm>
            <a:off x="3947160" y="3017520"/>
            <a:ext cx="326136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three techniques</a:t>
            </a:r>
          </a:p>
        </p:txBody>
      </p:sp>
      <p:sp>
        <p:nvSpPr>
          <p:cNvPr id="12" name="Rounded Rectangle 11"/>
          <p:cNvSpPr/>
          <p:nvPr/>
        </p:nvSpPr>
        <p:spPr>
          <a:xfrm>
            <a:off x="7345680" y="3017520"/>
            <a:ext cx="326136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result</a:t>
            </a:r>
          </a:p>
        </p:txBody>
      </p:sp>
      <p:sp>
        <p:nvSpPr>
          <p:cNvPr id="13" name="TextBox 12"/>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4" name="TextBox 13"/>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challenge online is that…   💬 One thing that works is…   💬 That way, people…</a:t>
            </a:r>
          </a:p>
        </p:txBody>
      </p:sp>
      <p:sp>
        <p:nvSpPr>
          <p:cNvPr id="15" name="Rounded Rectangle 14"/>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“The challenge is that…” 引出问题。注意 that 后面是完整的句子:The challenge is that people multitask.</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Seven seconds of silence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Mara used to dread online presentations. She couldn’t see faces, so she had no idea whether anyone was listening. Then a trainer suggested three habits. First, begin with a question in the chat: “What’s your biggest challenge with reporting?” Second, change something every few minutes: a new slide, a poll, a quick question. Third, stop talking at the end of each section and wait. Mara hated the third one most. Seven seconds of silence felt like an hour. But on her next call, someone finally typed an answer, then another, and soon the chat was full. She also tested her microphone, closed her email, and put a backup copy of the slides on her phone. “Online, you have to work harder for attention,” she says. “But when people do respond, you can really tell.” She no longer dreads the screen.</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did Mara dislike online presentations?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She couldn’t see faces, so she didn’t know if anyone was listening.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of the trainer’s habits.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Any two of: opening with a chat question, changing something every few minutes, pausing and waiting.</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happened when she waited in silence?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began to answer in the chat.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Technology and set-up</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技术与准备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screen share</a:t>
            </a:r>
          </a:p>
          <a:p>
            <a:pPr algn="l">
              <a:lnSpc>
                <a:spcPct val="115000"/>
              </a:lnSpc>
              <a:spcAft>
                <a:spcPts val="800"/>
              </a:spcAft>
            </a:pPr>
            <a:r>
              <a:rPr sz="1300" b="0">
                <a:solidFill>
                  <a:srgbClr val="5F677A"/>
                </a:solidFill>
                <a:latin typeface="Arial"/>
                <a:ea typeface="Microsoft YaHei"/>
              </a:rPr>
              <a:t>noun /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屏幕共享</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screen share my slides in a minute.”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Can you see my slides?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你们能看到我的幻灯片吗?</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“Can you see my slides? Please say yes in the chat.”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sound check</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试音</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do a quick sound check before we start.”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have a backup (copy)</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准备备份</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always have a backup copy of my slides on my phone.”</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connection is shaky</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网络不稳定</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connection is shaky, so I’ll turn my camera off.”</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Engaging the audience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与听众互动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chat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聊天窗口</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put your questions in the chat.”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poll</a:t>
            </a:r>
          </a:p>
          <a:p>
            <a:pPr algn="l">
              <a:lnSpc>
                <a:spcPct val="115000"/>
              </a:lnSpc>
              <a:spcAft>
                <a:spcPts val="800"/>
              </a:spcAft>
            </a:pPr>
            <a:r>
              <a:rPr sz="1300" b="0">
                <a:solidFill>
                  <a:srgbClr val="5F677A"/>
                </a:solidFill>
                <a:latin typeface="Arial"/>
                <a:ea typeface="Microsoft YaHei"/>
              </a:rPr>
              <a:t>noun /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run a quick poll before the next section.”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break up the talk</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把演讲分成小段</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“Break up the talk with a question every five minutes.”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 people engaged</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让听众保持投入</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“Short stories help keep people engaged.”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read the room</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观察现场气氛</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“Online, it is hard to read the room, so ask for feedback.”</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Managing Q&amp;A and problems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答疑与应对问题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unmute yourself</a:t>
            </a:r>
          </a:p>
          <a:p>
            <a:pPr algn="l">
              <a:lnSpc>
                <a:spcPct val="115000"/>
              </a:lnSpc>
              <a:spcAft>
                <a:spcPts val="800"/>
              </a:spcAft>
            </a:pPr>
            <a:r>
              <a:rPr sz="1300" b="0">
                <a:solidFill>
                  <a:srgbClr val="5F677A"/>
                </a:solidFill>
                <a:latin typeface="Arial"/>
                <a:ea typeface="Microsoft YaHei"/>
              </a:rPr>
              <a:t>verb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取消静音</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unmute yourself if you’d like to ask something.”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raise a hand</a:t>
            </a:r>
          </a:p>
          <a:p>
            <a:pPr algn="l">
              <a:lnSpc>
                <a:spcPct val="115000"/>
              </a:lnSpc>
              <a:spcAft>
                <a:spcPts val="800"/>
              </a:spcAft>
            </a:pPr>
            <a:r>
              <a:rPr sz="1300" b="0">
                <a:solidFill>
                  <a:srgbClr val="5F677A"/>
                </a:solidFill>
                <a:latin typeface="Arial"/>
                <a:ea typeface="Microsoft YaHei"/>
              </a:rPr>
              <a:t>verb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举手(示意)</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“Use the ‘raise hand’ button and I’ll call on you.”</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bear with me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请稍等,请耐心</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“Bear with me for a moment while I find the slide.”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lose the thread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说话离题 / 找不到思路</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“Sorry, I lost the thread. Where was I?”</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recap</a:t>
            </a:r>
          </a:p>
          <a:p>
            <a:pPr algn="l">
              <a:lnSpc>
                <a:spcPct val="115000"/>
              </a:lnSpc>
              <a:spcAft>
                <a:spcPts val="800"/>
              </a:spcAft>
            </a:pPr>
            <a:r>
              <a:rPr sz="1300" b="0">
                <a:solidFill>
                  <a:srgbClr val="5F677A"/>
                </a:solidFill>
                <a:latin typeface="Arial"/>
                <a:ea typeface="Microsoft YaHei"/>
              </a:rPr>
              <a:t>noun /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回顾,概括</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recap the three main points.”</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说话离题 / 找不到思路</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lose the thread</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你们能看到我的幻灯片吗?</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Can you see my slides?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观察现场气氛</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read the room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请稍等,请耐心</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bear with me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取消静音</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unmute yourself</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举手(示意)</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raise a hand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试音</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sound check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投票</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poll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screen</a:t>
            </a:r>
          </a:p>
        </p:txBody>
      </p:sp>
      <p:sp>
        <p:nvSpPr>
          <p:cNvPr id="10" name="Rounded Rectangle 9"/>
          <p:cNvSpPr/>
          <p:nvPr/>
        </p:nvSpPr>
        <p:spPr>
          <a:xfrm>
            <a:off x="3127248"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poll</a:t>
            </a:r>
          </a:p>
        </p:txBody>
      </p:sp>
      <p:sp>
        <p:nvSpPr>
          <p:cNvPr id="11" name="Rounded Rectangle 10"/>
          <p:cNvSpPr/>
          <p:nvPr/>
        </p:nvSpPr>
        <p:spPr>
          <a:xfrm>
            <a:off x="402336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engaged</a:t>
            </a:r>
          </a:p>
        </p:txBody>
      </p:sp>
      <p:sp>
        <p:nvSpPr>
          <p:cNvPr id="12" name="Rounded Rectangle 11"/>
          <p:cNvSpPr/>
          <p:nvPr/>
        </p:nvSpPr>
        <p:spPr>
          <a:xfrm>
            <a:off x="5248656"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shaky</a:t>
            </a:r>
          </a:p>
        </p:txBody>
      </p:sp>
      <p:sp>
        <p:nvSpPr>
          <p:cNvPr id="13" name="Rounded Rectangle 12"/>
          <p:cNvSpPr/>
          <p:nvPr/>
        </p:nvSpPr>
        <p:spPr>
          <a:xfrm>
            <a:off x="6254496" y="987552"/>
            <a:ext cx="80467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bear</a:t>
            </a:r>
          </a:p>
        </p:txBody>
      </p:sp>
      <p:sp>
        <p:nvSpPr>
          <p:cNvPr id="14" name="Rounded Rectangle 13"/>
          <p:cNvSpPr/>
          <p:nvPr/>
        </p:nvSpPr>
        <p:spPr>
          <a:xfrm>
            <a:off x="7150608"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recap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I’ll _______ share my slides in a moment.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screen</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Let’s run a quick _______ before the next section.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poll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Short stories help keep people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engaged</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My connection is _______, so I’ll turn my camera off.</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shaky</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Please _______ with me while I find the slide.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bear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Let me _______ the three main points.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recap</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(拼写与词性) screen share (noun) / share your screen (verb phrase); engaged (not “engage” after “keep people”); recap has one 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Starting an online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开始线上演示</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start a webinar for 30 clients and check that everyone can see and hear you.</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Tom Hughes,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Anna Silva, client</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Starting an online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afternoon, everyone. Can you all hear me OK? If so, please say yes in the chat.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loud and clear.</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Let me share my screen. Can you see my slides?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can see the title slide, but it’s a bit small.</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Anna. Is that better now?</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Starting an online presentation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Much better.</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Wonderful. Before we start, a quick poll: what’s your biggest challenge with online meetings? Please put your answer in the chat.</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Mine is people talking over each other!</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Ha, that’s a classic. We’ll come back to that in part two.</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Starting an online presentation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start an online presentation and check the technology.</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Client who reports small technical problems.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Can you all hear me OK? · share my screen · Can you see my slides? · poll · the chat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Start the call, fix two technical issues and run one interactive question.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The slides won’t load: “Bear with me for a moment while I fix this. Meanwhile, please tell me in the chat what you’d like to learn today.”</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Your connection drops. Rejoin and recap: “Sorry about that. I think I lost you for a minute. Let me recap where we were.”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FFFFFF"/>
                </a:solidFill>
                <a:latin typeface="Arial"/>
                <a:ea typeface="Microsoft YaHei"/>
              </a:rPr>
              <a:t>Check the audience’s energy: “Is this pace OK? Please react with a thumbs-up if it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Handling questions online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线上答疑</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During your talk, three questions arrive at the same time in the chat and one person speaks without being unmuted.</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Tom Hughes,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Anna Silva, client</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Handling questions online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Tom</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see a few questions in the chat. Anna, would you like to ask yours out loud?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Anna</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thanks. Sorry, I was on mute. How long does the free trial last?</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Thirty days, and there’s no credit card needed. Does that answer your question?</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thank you. And is there a mobile version?</a:t>
            </a:r>
          </a:p>
        </p:txBody>
      </p:sp>
      <p:sp>
        <p:nvSpPr>
          <p:cNvPr id="20" name="Rounded Rectangle 19"/>
          <p:cNvSpPr/>
          <p:nvPr/>
        </p:nvSpPr>
        <p:spPr>
          <a:xfrm>
            <a:off x="548640" y="452323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52323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There is, but only for iPhones at the moment. Android is coming in the spring.</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Handling questions online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One more: can we get the slides afterwards?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email them to everyone this afternoon, with the recording.</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thanks.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I’ll read out the next question from the chat. Bear with me: “Do you offer discounts for small teams?”</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Handling questions online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take live questions in an online presentation.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Participant who asks questions by voice.</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Would you like to ask yours out loud? · Does that answer your question? · I’ll email the slides · Bear with me · read out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Answer three questions, one by voice and one from the chat.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Two people speak at once: “Let’s take one question at a time. Anna first, then Mark.”</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 question is too long: “Let me make sure I’ve understood. You’re asking whether…”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End with a recap in under 30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975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92964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biggest differences between online and face-to-face presentations?</a:t>
            </a:r>
          </a:p>
          <a:p>
            <a:pPr algn="l">
              <a:lnSpc>
                <a:spcPct val="115000"/>
              </a:lnSpc>
              <a:spcAft>
                <a:spcPts val="800"/>
              </a:spcAft>
            </a:pPr>
            <a:r>
              <a:rPr sz="1400" b="0">
                <a:solidFill>
                  <a:srgbClr val="5F677A"/>
                </a:solidFill>
                <a:latin typeface="Arial"/>
                <a:ea typeface="Microsoft YaHei"/>
              </a:rPr>
              <a:t>💬 “The biggest difference is…” / “Online, you can’t…”</a:t>
            </a:r>
          </a:p>
        </p:txBody>
      </p:sp>
      <p:sp>
        <p:nvSpPr>
          <p:cNvPr id="12" name="Oval 11"/>
          <p:cNvSpPr/>
          <p:nvPr/>
        </p:nvSpPr>
        <p:spPr>
          <a:xfrm>
            <a:off x="548640" y="262128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5755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12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keep people from checking their emails during a call?</a:t>
            </a:r>
          </a:p>
          <a:p>
            <a:pPr algn="l">
              <a:lnSpc>
                <a:spcPct val="115000"/>
              </a:lnSpc>
              <a:spcAft>
                <a:spcPts val="800"/>
              </a:spcAft>
            </a:pPr>
            <a:r>
              <a:rPr sz="1400" b="0">
                <a:solidFill>
                  <a:srgbClr val="5F677A"/>
                </a:solidFill>
                <a:latin typeface="Arial"/>
                <a:ea typeface="Microsoft YaHei"/>
              </a:rPr>
              <a:t>💬 “I try to…” / “It helps to ask…”</a:t>
            </a:r>
          </a:p>
        </p:txBody>
      </p:sp>
      <p:sp>
        <p:nvSpPr>
          <p:cNvPr id="15" name="Oval 14"/>
          <p:cNvSpPr/>
          <p:nvPr/>
        </p:nvSpPr>
        <p:spPr>
          <a:xfrm>
            <a:off x="548640" y="339852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528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985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share the slides in advance?</a:t>
            </a:r>
          </a:p>
          <a:p>
            <a:pPr algn="l">
              <a:lnSpc>
                <a:spcPct val="115000"/>
              </a:lnSpc>
              <a:spcAft>
                <a:spcPts val="800"/>
              </a:spcAft>
            </a:pPr>
            <a:r>
              <a:rPr sz="1400" b="0">
                <a:solidFill>
                  <a:srgbClr val="5F677A"/>
                </a:solidFill>
                <a:latin typeface="Arial"/>
                <a:ea typeface="Microsoft YaHei"/>
              </a:rPr>
              <a:t>💬 “On the one hand… On the other hand…”</a:t>
            </a:r>
          </a:p>
        </p:txBody>
      </p:sp>
      <p:sp>
        <p:nvSpPr>
          <p:cNvPr id="18" name="Oval 17"/>
          <p:cNvSpPr/>
          <p:nvPr/>
        </p:nvSpPr>
        <p:spPr>
          <a:xfrm>
            <a:off x="548640" y="417576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1300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1757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tools do you use for online presentations?</a:t>
            </a:r>
          </a:p>
          <a:p>
            <a:pPr algn="l">
              <a:lnSpc>
                <a:spcPct val="115000"/>
              </a:lnSpc>
              <a:spcAft>
                <a:spcPts val="800"/>
              </a:spcAft>
            </a:pPr>
            <a:r>
              <a:rPr sz="1400" b="0">
                <a:solidFill>
                  <a:srgbClr val="5F677A"/>
                </a:solidFill>
                <a:latin typeface="Arial"/>
                <a:ea typeface="Microsoft YaHei"/>
              </a:rPr>
              <a:t>💬 “I usually use…” / “I like it because…”</a:t>
            </a:r>
          </a:p>
        </p:txBody>
      </p:sp>
      <p:sp>
        <p:nvSpPr>
          <p:cNvPr id="21" name="Oval 20"/>
          <p:cNvSpPr/>
          <p:nvPr/>
        </p:nvSpPr>
        <p:spPr>
          <a:xfrm>
            <a:off x="548640" y="495300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9072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9530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prepare for technical problems?</a:t>
            </a:r>
          </a:p>
          <a:p>
            <a:pPr algn="l">
              <a:lnSpc>
                <a:spcPct val="115000"/>
              </a:lnSpc>
              <a:spcAft>
                <a:spcPts val="800"/>
              </a:spcAft>
            </a:pPr>
            <a:r>
              <a:rPr sz="1400" b="0">
                <a:solidFill>
                  <a:srgbClr val="5F677A"/>
                </a:solidFill>
                <a:latin typeface="Arial"/>
                <a:ea typeface="Microsoft YaHei"/>
              </a:rPr>
              <a:t>💬 “I always have…” / “Before I start, I check…”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The most effective way is to ask a question every few minutes. People can’t check their emails if they might be asked something. I also use a short poll or a chat question to get everyone involved. It also helps to keep the sections short. If the talk lasts 40 minutes, I break it into four parts of ten minutes, each with a different activity.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“might be asked” 是被动语态的情态动词形式;“get everyone involved” = 让大家都参与进来。</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instructions online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线上给出指示</a:t>
            </a:r>
          </a:p>
        </p:txBody>
      </p:sp>
      <p:graphicFrame>
        <p:nvGraphicFramePr>
          <p:cNvPr id="9" name="Table 8"/>
          <p:cNvGraphicFramePr>
            <a:graphicFrameLocks noGrp="1"/>
          </p:cNvGraphicFramePr>
          <p:nvPr/>
        </p:nvGraphicFramePr>
        <p:xfrm>
          <a:off x="548640" y="1417320"/>
          <a:ext cx="11094415" cy="1877568"/>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blunt</a:t>
                      </a:r>
                    </a:p>
                  </a:txBody>
                  <a:tcPr anchor="ctr">
                    <a:solidFill>
                      <a:srgbClr val="3CC49A"/>
                    </a:solidFill>
                  </a:tcPr>
                </a:tc>
                <a:tc>
                  <a:txBody>
                    <a:bodyPr wrap="square"/>
                    <a:lstStyle/>
                    <a:p>
                      <a:r>
                        <a:rPr sz="1600" b="1">
                          <a:solidFill>
                            <a:srgbClr val="FFFFFF"/>
                          </a:solidFill>
                          <a:latin typeface="Arial"/>
                          <a:ea typeface="Microsoft YaHei"/>
                        </a:rPr>
                        <a:t>Clearer and friendlier</a:t>
                      </a:r>
                    </a:p>
                  </a:txBody>
                  <a:tcPr anchor="ctr">
                    <a:solidFill>
                      <a:srgbClr val="3CC49A"/>
                    </a:solidFill>
                  </a:tcPr>
                </a:tc>
              </a:tr>
              <a:tr h="408432">
                <a:tc>
                  <a:txBody>
                    <a:bodyPr wrap="square"/>
                    <a:lstStyle/>
                    <a:p>
                      <a:r>
                        <a:rPr sz="1600" b="1">
                          <a:solidFill>
                            <a:srgbClr val="1F2A44"/>
                          </a:solidFill>
                          <a:latin typeface="Arial"/>
                          <a:ea typeface="Microsoft YaHei"/>
                        </a:rPr>
                        <a:t>Say yes.</a:t>
                      </a:r>
                    </a:p>
                  </a:txBody>
                  <a:tcPr anchor="ctr">
                    <a:solidFill>
                      <a:srgbClr val="FFFFFF"/>
                    </a:solidFill>
                  </a:tcPr>
                </a:tc>
                <a:tc>
                  <a:txBody>
                    <a:bodyPr wrap="square"/>
                    <a:lstStyle/>
                    <a:p>
                      <a:r>
                        <a:rPr sz="1600" b="0">
                          <a:solidFill>
                            <a:srgbClr val="1F2A44"/>
                          </a:solidFill>
                          <a:latin typeface="Arial"/>
                          <a:ea typeface="Microsoft YaHei"/>
                        </a:rPr>
                        <a:t>Please type yes in the chat if you can hear me.</a:t>
                      </a:r>
                    </a:p>
                  </a:txBody>
                  <a:tcPr anchor="ctr">
                    <a:solidFill>
                      <a:srgbClr val="FFFFFF"/>
                    </a:solidFill>
                  </a:tcPr>
                </a:tc>
              </a:tr>
              <a:tr h="408432">
                <a:tc>
                  <a:txBody>
                    <a:bodyPr wrap="square"/>
                    <a:lstStyle/>
                    <a:p>
                      <a:r>
                        <a:rPr sz="1600" b="1">
                          <a:solidFill>
                            <a:srgbClr val="1F2A44"/>
                          </a:solidFill>
                          <a:latin typeface="Arial"/>
                          <a:ea typeface="Microsoft YaHei"/>
                        </a:rPr>
                        <a:t>Don’t talk now.</a:t>
                      </a:r>
                    </a:p>
                  </a:txBody>
                  <a:tcPr anchor="ctr">
                    <a:solidFill>
                      <a:srgbClr val="FFEFD9"/>
                    </a:solidFill>
                  </a:tcPr>
                </a:tc>
                <a:tc>
                  <a:txBody>
                    <a:bodyPr wrap="square"/>
                    <a:lstStyle/>
                    <a:p>
                      <a:r>
                        <a:rPr sz="1600" b="0">
                          <a:solidFill>
                            <a:srgbClr val="1F2A44"/>
                          </a:solidFill>
                          <a:latin typeface="Arial"/>
                          <a:ea typeface="Microsoft YaHei"/>
                        </a:rPr>
                        <a:t>Please stay on mute until the Q&amp;A.</a:t>
                      </a:r>
                    </a:p>
                  </a:txBody>
                  <a:tcPr anchor="ctr">
                    <a:solidFill>
                      <a:srgbClr val="FFEFD9"/>
                    </a:solidFill>
                  </a:tcPr>
                </a:tc>
              </a:tr>
              <a:tr h="652272">
                <a:tc>
                  <a:txBody>
                    <a:bodyPr wrap="square"/>
                    <a:lstStyle/>
                    <a:p>
                      <a:r>
                        <a:rPr sz="1600" b="1">
                          <a:solidFill>
                            <a:srgbClr val="1F2A44"/>
                          </a:solidFill>
                          <a:latin typeface="Arial"/>
                          <a:ea typeface="Microsoft YaHei"/>
                        </a:rPr>
                        <a:t>I can’t hear.</a:t>
                      </a:r>
                    </a:p>
                  </a:txBody>
                  <a:tcPr anchor="ctr">
                    <a:solidFill>
                      <a:srgbClr val="FFFFFF"/>
                    </a:solidFill>
                  </a:tcPr>
                </a:tc>
                <a:tc>
                  <a:txBody>
                    <a:bodyPr wrap="square"/>
                    <a:lstStyle/>
                    <a:p>
                      <a:r>
                        <a:rPr sz="1600" b="0">
                          <a:solidFill>
                            <a:srgbClr val="1F2A44"/>
                          </a:solidFill>
                          <a:latin typeface="Arial"/>
                          <a:ea typeface="Microsoft YaHei"/>
                        </a:rPr>
                        <a:t>I’m having trouble hearing you. Could you check your microphone?</a:t>
                      </a:r>
                    </a:p>
                  </a:txBody>
                  <a:tcPr anchor="ctr">
                    <a:solidFill>
                      <a:srgbClr val="FFFFFF"/>
                    </a:solidFill>
                  </a:tcPr>
                </a:tc>
              </a:tr>
            </a:tbl>
          </a:graphicData>
        </a:graphic>
      </p:graphicFrame>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instructions online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线上给出指示</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Use please, could you, and feel free to: </a:t>
            </a:r>
            <a:r>
              <a:rPr sz="1700" b="0">
                <a:solidFill>
                  <a:srgbClr val="1F2A44"/>
                </a:solidFill>
                <a:latin typeface="Arial"/>
                <a:ea typeface="Microsoft YaHei"/>
              </a:rPr>
              <a:t>“Feel free to use the chat.”</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share you my screen.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share my screen.</a:t>
            </a:r>
          </a:p>
          <a:p>
            <a:pPr algn="l">
              <a:spcAft>
                <a:spcPts val="200"/>
              </a:spcAft>
            </a:pPr>
            <a:r>
              <a:rPr sz="1200" b="0">
                <a:solidFill>
                  <a:srgbClr val="FFFFFF"/>
                </a:solidFill>
                <a:latin typeface="Arial"/>
                <a:ea typeface="Microsoft YaHei"/>
              </a:rPr>
              <a:t>share 后直接接物</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Can you see my screen clear?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Can you see my screen clearly?</a:t>
            </a:r>
          </a:p>
          <a:p>
            <a:pPr algn="l">
              <a:spcAft>
                <a:spcPts val="200"/>
              </a:spcAft>
            </a:pPr>
            <a:r>
              <a:rPr sz="1200" b="0">
                <a:solidFill>
                  <a:srgbClr val="FFFFFF"/>
                </a:solidFill>
                <a:latin typeface="Arial"/>
                <a:ea typeface="Microsoft YaHei"/>
              </a:rPr>
              <a:t>副词 clearly</a:t>
            </a:r>
          </a:p>
        </p:txBody>
      </p:sp>
      <p:sp>
        <p:nvSpPr>
          <p:cNvPr id="13" name="Rounded Rectangle 12"/>
          <p:cNvSpPr/>
          <p:nvPr/>
        </p:nvSpPr>
        <p:spPr>
          <a:xfrm>
            <a:off x="548640" y="2865118"/>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wait me a moment.</a:t>
            </a:r>
          </a:p>
        </p:txBody>
      </p:sp>
      <p:sp>
        <p:nvSpPr>
          <p:cNvPr id="14" name="Rounded Rectangle 13"/>
          <p:cNvSpPr/>
          <p:nvPr/>
        </p:nvSpPr>
        <p:spPr>
          <a:xfrm>
            <a:off x="6187287" y="2865118"/>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bear with me for a moment. / Please wait a moment.</a:t>
            </a:r>
          </a:p>
          <a:p>
            <a:pPr algn="l">
              <a:spcAft>
                <a:spcPts val="200"/>
              </a:spcAft>
            </a:pPr>
            <a:r>
              <a:rPr sz="1200" b="0">
                <a:solidFill>
                  <a:srgbClr val="FFFFFF"/>
                </a:solidFill>
                <a:latin typeface="Arial"/>
                <a:ea typeface="Microsoft YaHei"/>
              </a:rPr>
              <a:t>wait 后不接人</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Is there any question in the chat?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Are there any questions in the chat?</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I’ll send the slides to your afterwards.</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send you the slides afterwards.</a:t>
            </a:r>
          </a:p>
          <a:p>
            <a:pPr algn="l">
              <a:spcAft>
                <a:spcPts val="200"/>
              </a:spcAft>
            </a:pPr>
            <a:r>
              <a:rPr sz="1200" b="0">
                <a:solidFill>
                  <a:srgbClr val="FFFFFF"/>
                </a:solidFill>
                <a:latin typeface="Arial"/>
                <a:ea typeface="Microsoft YaHei"/>
              </a:rPr>
              <a:t>send you,不是 to your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use online to present.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present online.</a:t>
            </a:r>
          </a:p>
          <a:p>
            <a:pPr algn="l">
              <a:spcAft>
                <a:spcPts val="200"/>
              </a:spcAft>
            </a:pPr>
            <a:r>
              <a:rPr sz="1200" b="0">
                <a:solidFill>
                  <a:srgbClr val="FFFFFF"/>
                </a:solidFill>
                <a:latin typeface="Arial"/>
                <a:ea typeface="Microsoft YaHei"/>
              </a:rPr>
              <a:t>online 是副词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every you / your in the instructions you give: send you, share my screen, see my slides.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Cameras and chat are part of the culture. Many international audiences answer in the chat first and speak later.</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Silence is normal. Wait 5–7 seconds after a question before you rescue people.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Send the slides and recording afterwards. It is polite and expected.</a:t>
            </a:r>
          </a:p>
        </p:txBody>
      </p:sp>
      <p:sp>
        <p:nvSpPr>
          <p:cNvPr id="18" name="Rounded Rectangle 17"/>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Time zones. Say the time clearly: </a:t>
            </a:r>
            <a:r>
              <a:rPr sz="1700" b="0">
                <a:solidFill>
                  <a:srgbClr val="1F2A44"/>
                </a:solidFill>
                <a:latin typeface="Arial"/>
                <a:ea typeface="Microsoft YaHei"/>
              </a:rPr>
              <a:t>“10 a.m. London, 6 p.m. Shanghai.”</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check that people can see and hear me.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the chat and polls to keep an audience engaged.</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handle questions online politely (Would you like to ask yours out loud?).</a:t>
            </a:r>
          </a:p>
        </p:txBody>
      </p:sp>
      <p:sp>
        <p:nvSpPr>
          <p:cNvPr id="20" name="TextBox 19"/>
          <p:cNvSpPr txBox="1"/>
          <p:nvPr/>
        </p:nvSpPr>
        <p:spPr>
          <a:xfrm>
            <a:off x="9539935" y="27035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6057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6057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6057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recover from a technical problem (Bear with me, Let me recap).</a:t>
            </a:r>
          </a:p>
        </p:txBody>
      </p:sp>
      <p:sp>
        <p:nvSpPr>
          <p:cNvPr id="24" name="TextBox 23"/>
          <p:cNvSpPr txBox="1"/>
          <p:nvPr/>
        </p:nvSpPr>
        <p:spPr>
          <a:xfrm>
            <a:off x="9539935" y="36057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07 Virtual presentations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Present 60 seconds of a topic online (even to your phone), including one chat or poll question.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instructions with please/could you, clearly vs clear, plural questions.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 · Lesson 08 Moving through your presentation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700" b="1">
                <a:solidFill>
                  <a:srgbClr val="FFFFFF"/>
                </a:solidFill>
                <a:latin typeface="Arial"/>
                <a:ea typeface="Microsoft YaHei"/>
              </a:rPr>
              <a:t>Moving through your presentation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推动你的演讲</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move smoothly from one point to the next: signpost, link slides, manage time, and describe charts and trends.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know when to move on to the next slide?</a:t>
            </a:r>
          </a:p>
        </p:txBody>
      </p:sp>
      <p:sp>
        <p:nvSpPr>
          <p:cNvPr id="12" name="Oval 11"/>
          <p:cNvSpPr/>
          <p:nvPr/>
        </p:nvSpPr>
        <p:spPr>
          <a:xfrm>
            <a:off x="548640" y="248716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lost your place during a presentation? What did you do?</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much time do you give to each section of a talk?</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Which charts do you use most often in your job?</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When did you last present numbers? How did you explain them?</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2、5 题讲过去的事,用过去式 (lost, did, explained)。第 4 题用一般现在时。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chart or trend from your work.</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the chart shows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main trend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one reason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it means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This chart shows…   💬 Sales rose by… between… and…   💬 The main reason for this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描述变化的动词:rise / increase, fall / drop, stay stable。by 后接变化幅度,to 后接最终数值:rose BY 5%, rose TO 200。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Reading · The slide that took five minutes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142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In a quarterly review, Joel spent five minutes on a single slide. It showed twelve lines of data, and nobody could read it. The audience grew restless, and the chair finally asked, “So what’s the main point?” Joel realised he had been describing everything and explaining nothing. That evening, he rebuilt the slide with one line and a headline: “Sales in the north fell by 12 per cent in the second quarter.” Then he added a signpost to link it to the next section: “That brings me to the reason why.” The next day he presented again, this time in four minutes less. The audience followed easily. “The slide is not a report,” he told a colleague. “It’s a sign that points to one idea.” He now checks every slide with a simple test: can someone understand the point in five seconds?</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was wrong with Joel’s slide?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It had twelve lines of data that nobody could read, and he described everything without making a point.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did he change in the new version?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One line, a headline stating the point, and a signpost to the next section.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is his five-second test?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Can someone understand the main point in five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Moving between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衔接各部分</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Let’s move on to…</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我们接着看…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move on to the second quarter.”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 brings me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这就引出了…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 brings me to my next point: cost.”</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Moving on to… / Turning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接下来是…</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“Turning to the regional figures, the picture is different.”</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Before I go on, …</a:t>
            </a:r>
          </a:p>
          <a:p>
            <a:pPr algn="l">
              <a:lnSpc>
                <a:spcPct val="115000"/>
              </a:lnSpc>
              <a:spcAft>
                <a:spcPts val="800"/>
              </a:spcAft>
            </a:pPr>
            <a:r>
              <a:rPr sz="1300" b="0">
                <a:solidFill>
                  <a:srgbClr val="5F677A"/>
                </a:solidFill>
                <a:latin typeface="Arial"/>
                <a:ea typeface="Microsoft YaHei"/>
              </a:rPr>
              <a:t>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在继续之前…</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“Before I go on, does anyone have a question?”</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I’ll come back to this later.</a:t>
            </a:r>
          </a:p>
          <a:p>
            <a:pPr algn="l">
              <a:lnSpc>
                <a:spcPct val="115000"/>
              </a:lnSpc>
              <a:spcAft>
                <a:spcPts val="800"/>
              </a:spcAft>
            </a:pPr>
            <a:r>
              <a:rPr sz="1300" b="0">
                <a:solidFill>
                  <a:srgbClr val="5F677A"/>
                </a:solidFill>
                <a:latin typeface="Arial"/>
                <a:ea typeface="Microsoft YaHei"/>
              </a:rPr>
              <a:t>phrase</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我稍后会再讲</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come back to this later, when we look at costs.”</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Describing charts and trends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描述图表和趋势</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rise / increase (by)</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上升(幅度)</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rose by 8 per cent last year.”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fall / drop (to)</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下降(到)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“Profits fell to 1.2 million.”</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remain stable / level off</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保持稳定 / 趋于平稳</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“Prices levelled off in May.”</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sharp rise / a steady decline</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急剧上升 / 稳步下降</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 was a sharp rise in costs in June.”</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peak at / bottom out</a:t>
            </a:r>
          </a:p>
          <a:p>
            <a:pPr algn="l">
              <a:lnSpc>
                <a:spcPct val="115000"/>
              </a:lnSpc>
              <a:spcAft>
                <a:spcPts val="800"/>
              </a:spcAft>
            </a:pPr>
            <a:r>
              <a:rPr sz="1300" b="0">
                <a:solidFill>
                  <a:srgbClr val="5F677A"/>
                </a:solidFill>
                <a:latin typeface="Arial"/>
                <a:ea typeface="Microsoft YaHei"/>
              </a:rPr>
              <a:t>verb phrase</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达到峰值 / 触底</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“Sales peaked at 2 million in December.”</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Managing time and focus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掌控时间与重点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 the interest of time</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为节省时间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the interest of time, I’ll skip this slide.”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skim over</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略过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skim over the details and focus on the result.”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key point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要点</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key point is that costs are falling.”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drive the point home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把观点讲透</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“One example will drive the point home.”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a nutshell</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简而言之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 a nutshell, we need more time.”</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下降(到)</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 drop (to)</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上升(幅度)</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rise / increase (by)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在继续之前…</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Before I go on, …</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急剧上升 / 稳步下降</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sharp rise / a steady decline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为节省时间</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the interest of time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我们接着看…</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Let’s move on to…</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略过</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skim over</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我稍后会再讲</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come back to this later.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brings</a:t>
            </a:r>
          </a:p>
        </p:txBody>
      </p:sp>
      <p:sp>
        <p:nvSpPr>
          <p:cNvPr id="10" name="Rounded Rectangle 9"/>
          <p:cNvSpPr/>
          <p:nvPr/>
        </p:nvSpPr>
        <p:spPr>
          <a:xfrm>
            <a:off x="3127248"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rose</a:t>
            </a:r>
          </a:p>
        </p:txBody>
      </p:sp>
      <p:sp>
        <p:nvSpPr>
          <p:cNvPr id="11" name="Rounded Rectangle 10"/>
          <p:cNvSpPr/>
          <p:nvPr/>
        </p:nvSpPr>
        <p:spPr>
          <a:xfrm>
            <a:off x="4023360"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fell</a:t>
            </a:r>
          </a:p>
        </p:txBody>
      </p:sp>
      <p:sp>
        <p:nvSpPr>
          <p:cNvPr id="12" name="Rounded Rectangle 11"/>
          <p:cNvSpPr/>
          <p:nvPr/>
        </p:nvSpPr>
        <p:spPr>
          <a:xfrm>
            <a:off x="4919472"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stable</a:t>
            </a:r>
          </a:p>
        </p:txBody>
      </p:sp>
      <p:sp>
        <p:nvSpPr>
          <p:cNvPr id="13" name="Rounded Rectangle 12"/>
          <p:cNvSpPr/>
          <p:nvPr/>
        </p:nvSpPr>
        <p:spPr>
          <a:xfrm>
            <a:off x="6035040"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interest</a:t>
            </a:r>
          </a:p>
        </p:txBody>
      </p:sp>
      <p:sp>
        <p:nvSpPr>
          <p:cNvPr id="14" name="Rounded Rectangle 13"/>
          <p:cNvSpPr/>
          <p:nvPr/>
        </p:nvSpPr>
        <p:spPr>
          <a:xfrm>
            <a:off x="7370064"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nutshell</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That _______ me to my next point.</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brings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Sales _______ by 8 per cent last year.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rose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Profits _______ to 1.2 million in March.</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fell</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Prices have remained _______ since June.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stable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In the _______ of time, I’ll skip this slide.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interest</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In a _______, we need more time.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nutshell</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(介词) rose BY 5% (幅度) / rose TO 200 (终值) / rose FROM 100 TO 200; between 2023 and 2024; spelling: increase, decrease, steady.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Linking slides and managing time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衔接与控制时间</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In the middle of your talk, you move between sections and realise you are running out of time.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Joel Brown,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Sara Lin, chair</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Linking slides and managing time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Joel</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brings me to the second part: costs. As you can see, they rose sharply in June.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Sara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Joel, just to let you know, you have about five minutes left.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Sara. In the interest of time, I’ll skim over the details and focus on the key point.</a:t>
            </a:r>
          </a:p>
        </p:txBody>
      </p:sp>
      <p:sp>
        <p:nvSpPr>
          <p:cNvPr id="17" name="Rounded Rectangle 16"/>
          <p:cNvSpPr/>
          <p:nvPr/>
        </p:nvSpPr>
        <p:spPr>
          <a:xfrm>
            <a:off x="548640" y="365150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65150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a nutshell, costs rose by 12 per cent, but sales grew by 18 per cent, so the margin actually improved.</a:t>
            </a:r>
          </a:p>
        </p:txBody>
      </p:sp>
      <p:sp>
        <p:nvSpPr>
          <p:cNvPr id="20" name="Rounded Rectangle 19"/>
          <p:cNvSpPr/>
          <p:nvPr/>
        </p:nvSpPr>
        <p:spPr>
          <a:xfrm>
            <a:off x="10911535" y="452323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96214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52323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you say a bit more about June?</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Linking slides and managing time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come back to this later, when we look at the regional figures. Is that OK?</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Turning to the last section, I’d like to highlight three risks.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sum up, the numbers are encouraging, but we need to watch costs.</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Linking slides and managing time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move between sections and manage a time warning.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Chair who tells you your time is almost up.</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 brings me to… · In the interest of time · skim over · I’ll come back to this later · In a nutshell</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Cover three sections in 2 minutes, with a signpost between each.</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Skip one slide gracefully: “I’ll leave this one with you; the details are in the handout.”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Link two slides with a question: “So what does this mean for next year?”</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Finish exactly on time and say: “That’s my time, thank you.”</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Describing a sales chart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描述销售图表</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explain a chart to your manager, who asks about a surprising drop.</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Joel Brown, analyst</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Ford, manager</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Describing a sales chart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Joel</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This chart shows our monthly sales over the last year. As you can see, they rose steadily until October.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Ford</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peaked at 2 million in October, and then dropped sharply to 1.4 million in November.</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did they fall so much?</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Describing a sales chart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main reason is that a major customer postponed an order. It should come back in January.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the trend isn’t a real decline?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really. If you exclude that order, sales remained fairly stable.</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Put that in the headline, so that nobody panics.</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Describing a sales chart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chart with a surprising change.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Analyst. Chart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asks about a drop.</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This chart shows… · rose by… · peaked at… · dropped sharply to… · The main reason is…</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a rise and a fall with numbers, and give one reason.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 a comparison: “Compared with last year, that’s 6 per cent higher.”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Hedge: “It seems that…, although we need more data.”</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headline for your chart in one sentence.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good chart?</a:t>
            </a:r>
          </a:p>
          <a:p>
            <a:pPr algn="l">
              <a:lnSpc>
                <a:spcPct val="115000"/>
              </a:lnSpc>
              <a:spcAft>
                <a:spcPts val="800"/>
              </a:spcAft>
            </a:pPr>
            <a:r>
              <a:rPr sz="1400" b="0">
                <a:solidFill>
                  <a:srgbClr val="5F677A"/>
                </a:solidFill>
                <a:latin typeface="Arial"/>
                <a:ea typeface="Microsoft YaHei"/>
              </a:rPr>
              <a:t>💬 “A good chart is one that…” / “It should show only…”</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explain numbers to people who dislike data?</a:t>
            </a:r>
          </a:p>
          <a:p>
            <a:pPr algn="l">
              <a:lnSpc>
                <a:spcPct val="115000"/>
              </a:lnSpc>
              <a:spcAft>
                <a:spcPts val="800"/>
              </a:spcAft>
            </a:pPr>
            <a:r>
              <a:rPr sz="1400" b="0">
                <a:solidFill>
                  <a:srgbClr val="5F677A"/>
                </a:solidFill>
                <a:latin typeface="Arial"/>
                <a:ea typeface="Microsoft YaHei"/>
              </a:rPr>
              <a:t>💬 “I try to…” / “I compare it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recover if you lose your place?</a:t>
            </a:r>
          </a:p>
          <a:p>
            <a:pPr algn="l">
              <a:lnSpc>
                <a:spcPct val="115000"/>
              </a:lnSpc>
              <a:spcAft>
                <a:spcPts val="800"/>
              </a:spcAft>
            </a:pPr>
            <a:r>
              <a:rPr sz="1400" b="0">
                <a:solidFill>
                  <a:srgbClr val="5F677A"/>
                </a:solidFill>
                <a:latin typeface="Arial"/>
                <a:ea typeface="Microsoft YaHei"/>
              </a:rPr>
              <a:t>💬 “I’d pause and…” / “It’s fine to say…”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decide what to leave out?</a:t>
            </a:r>
          </a:p>
          <a:p>
            <a:pPr algn="l">
              <a:lnSpc>
                <a:spcPct val="115000"/>
              </a:lnSpc>
              <a:spcAft>
                <a:spcPts val="800"/>
              </a:spcAft>
            </a:pPr>
            <a:r>
              <a:rPr sz="1400" b="0">
                <a:solidFill>
                  <a:srgbClr val="5F677A"/>
                </a:solidFill>
                <a:latin typeface="Arial"/>
                <a:ea typeface="Microsoft YaHei"/>
              </a:rPr>
              <a:t>💬 “I ask myself…” / “If it doesn’t support…, I cut it.”</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do you do when you are running out of time?</a:t>
            </a:r>
          </a:p>
          <a:p>
            <a:pPr algn="l">
              <a:lnSpc>
                <a:spcPct val="115000"/>
              </a:lnSpc>
              <a:spcAft>
                <a:spcPts val="800"/>
              </a:spcAft>
            </a:pPr>
            <a:r>
              <a:rPr sz="1400" b="0">
                <a:solidFill>
                  <a:srgbClr val="5F677A"/>
                </a:solidFill>
                <a:latin typeface="Arial"/>
                <a:ea typeface="Microsoft YaHei"/>
              </a:rPr>
              <a:t>💬 “I’d skip…” / “I’d focus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A good chart is one that you can understand in five seconds. It should show only one idea, with a clear headline that says what the main point is. I’d remove extra lines, 3D effects and anything decorative. If people spend more time reading the chart than listening to me, it’s too complicated. The best charts need almost no explanation.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“one that…” 中的 one 指 chart;“spend time + -ing” 注意搭配;“the best… need almost no explanation” 用复数动词因为 charts 是复数。</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Describing change: verbs and prepositions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描述变化</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Pattern</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verb + by (amount)</a:t>
                      </a:r>
                    </a:p>
                  </a:txBody>
                  <a:tcPr anchor="ctr">
                    <a:solidFill>
                      <a:srgbClr val="FFFFFF"/>
                    </a:solidFill>
                  </a:tcPr>
                </a:tc>
                <a:tc>
                  <a:txBody>
                    <a:bodyPr wrap="square"/>
                    <a:lstStyle/>
                    <a:p>
                      <a:r>
                        <a:rPr sz="1600" b="0">
                          <a:solidFill>
                            <a:srgbClr val="1F2A44"/>
                          </a:solidFill>
                          <a:latin typeface="Arial"/>
                          <a:ea typeface="Microsoft YaHei"/>
                        </a:rPr>
                        <a:t>Sales rose by 8%.</a:t>
                      </a:r>
                    </a:p>
                  </a:txBody>
                  <a:tcPr anchor="ctr">
                    <a:solidFill>
                      <a:srgbClr val="FFFFFF"/>
                    </a:solidFill>
                  </a:tcPr>
                </a:tc>
              </a:tr>
              <a:tr h="408432">
                <a:tc>
                  <a:txBody>
                    <a:bodyPr wrap="square"/>
                    <a:lstStyle/>
                    <a:p>
                      <a:r>
                        <a:rPr sz="1600" b="1">
                          <a:solidFill>
                            <a:srgbClr val="1F2A44"/>
                          </a:solidFill>
                          <a:latin typeface="Arial"/>
                          <a:ea typeface="Microsoft YaHei"/>
                        </a:rPr>
                        <a:t>verb + to (final figure)</a:t>
                      </a:r>
                    </a:p>
                  </a:txBody>
                  <a:tcPr anchor="ctr">
                    <a:solidFill>
                      <a:srgbClr val="FFEFD9"/>
                    </a:solidFill>
                  </a:tcPr>
                </a:tc>
                <a:tc>
                  <a:txBody>
                    <a:bodyPr wrap="square"/>
                    <a:lstStyle/>
                    <a:p>
                      <a:r>
                        <a:rPr sz="1600" b="0">
                          <a:solidFill>
                            <a:srgbClr val="1F2A44"/>
                          </a:solidFill>
                          <a:latin typeface="Arial"/>
                          <a:ea typeface="Microsoft YaHei"/>
                        </a:rPr>
                        <a:t>Profit fell to 1.2 million.</a:t>
                      </a:r>
                    </a:p>
                  </a:txBody>
                  <a:tcPr anchor="ctr">
                    <a:solidFill>
                      <a:srgbClr val="FFEFD9"/>
                    </a:solidFill>
                  </a:tcPr>
                </a:tc>
              </a:tr>
              <a:tr h="408432">
                <a:tc>
                  <a:txBody>
                    <a:bodyPr wrap="square"/>
                    <a:lstStyle/>
                    <a:p>
                      <a:r>
                        <a:rPr sz="1600" b="1">
                          <a:solidFill>
                            <a:srgbClr val="1F2A44"/>
                          </a:solidFill>
                          <a:latin typeface="Arial"/>
                          <a:ea typeface="Microsoft YaHei"/>
                        </a:rPr>
                        <a:t>verb + from… to…</a:t>
                      </a:r>
                    </a:p>
                  </a:txBody>
                  <a:tcPr anchor="ctr">
                    <a:solidFill>
                      <a:srgbClr val="FFFFFF"/>
                    </a:solidFill>
                  </a:tcPr>
                </a:tc>
                <a:tc>
                  <a:txBody>
                    <a:bodyPr wrap="square"/>
                    <a:lstStyle/>
                    <a:p>
                      <a:r>
                        <a:rPr sz="1600" b="0">
                          <a:solidFill>
                            <a:srgbClr val="1F2A44"/>
                          </a:solidFill>
                          <a:latin typeface="Arial"/>
                          <a:ea typeface="Microsoft YaHei"/>
                        </a:rPr>
                        <a:t>Costs increased from 100 to 120.</a:t>
                      </a:r>
                    </a:p>
                  </a:txBody>
                  <a:tcPr anchor="ctr">
                    <a:solidFill>
                      <a:srgbClr val="FFFFFF"/>
                    </a:solidFill>
                  </a:tcPr>
                </a:tc>
              </a:tr>
              <a:tr h="408432">
                <a:tc>
                  <a:txBody>
                    <a:bodyPr wrap="square"/>
                    <a:lstStyle/>
                    <a:p>
                      <a:r>
                        <a:rPr sz="1600" b="1">
                          <a:solidFill>
                            <a:srgbClr val="1F2A44"/>
                          </a:solidFill>
                          <a:latin typeface="Arial"/>
                          <a:ea typeface="Microsoft YaHei"/>
                        </a:rPr>
                        <a:t>adjective + noun</a:t>
                      </a:r>
                    </a:p>
                  </a:txBody>
                  <a:tcPr anchor="ctr">
                    <a:solidFill>
                      <a:srgbClr val="FFEFD9"/>
                    </a:solidFill>
                  </a:tcPr>
                </a:tc>
                <a:tc>
                  <a:txBody>
                    <a:bodyPr wrap="square"/>
                    <a:lstStyle/>
                    <a:p>
                      <a:r>
                        <a:rPr sz="1600" b="0">
                          <a:solidFill>
                            <a:srgbClr val="1F2A44"/>
                          </a:solidFill>
                          <a:latin typeface="Arial"/>
                          <a:ea typeface="Microsoft YaHei"/>
                        </a:rPr>
                        <a:t>a sharp rise, a steady decline, a slight fall</a:t>
                      </a:r>
                    </a:p>
                  </a:txBody>
                  <a:tcPr anchor="ctr">
                    <a:solidFill>
                      <a:srgbClr val="FFEFD9"/>
                    </a:solidFill>
                  </a:tcPr>
                </a:tc>
              </a:tr>
            </a:tbl>
          </a:graphicData>
        </a:graphic>
      </p:graphicFrame>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Describing change: verbs and prepositions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描述变化</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Use the past simple for finished periods (“rose in June”), the present perfect for change up to now (“Sales have risen since March”).</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increased to 8 per cent last year. (growth of 8%)</a:t>
            </a:r>
          </a:p>
        </p:txBody>
      </p:sp>
      <p:sp>
        <p:nvSpPr>
          <p:cNvPr id="10" name="Rounded Rectangle 9"/>
          <p:cNvSpPr/>
          <p:nvPr/>
        </p:nvSpPr>
        <p:spPr>
          <a:xfrm>
            <a:off x="6187287" y="1463040"/>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increased by 8 per cent last year.</a:t>
            </a:r>
          </a:p>
          <a:p>
            <a:pPr algn="l">
              <a:spcAft>
                <a:spcPts val="200"/>
              </a:spcAft>
            </a:pPr>
            <a:r>
              <a:rPr sz="1200" b="0">
                <a:solidFill>
                  <a:srgbClr val="FFFFFF"/>
                </a:solidFill>
                <a:latin typeface="Arial"/>
                <a:ea typeface="Microsoft YaHei"/>
              </a:rPr>
              <a:t>by 表示变化幅度,to 表示最终数值</a:t>
            </a:r>
          </a:p>
        </p:txBody>
      </p:sp>
      <p:sp>
        <p:nvSpPr>
          <p:cNvPr id="11" name="Rounded Rectangle 10"/>
          <p:cNvSpPr/>
          <p:nvPr/>
        </p:nvSpPr>
        <p:spPr>
          <a:xfrm>
            <a:off x="548640" y="2225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Profit is raised in March.</a:t>
            </a:r>
          </a:p>
        </p:txBody>
      </p:sp>
      <p:sp>
        <p:nvSpPr>
          <p:cNvPr id="12" name="Rounded Rectangle 11"/>
          <p:cNvSpPr/>
          <p:nvPr/>
        </p:nvSpPr>
        <p:spPr>
          <a:xfrm>
            <a:off x="6187287" y="2225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Profit rose in March.</a:t>
            </a:r>
          </a:p>
          <a:p>
            <a:pPr algn="l">
              <a:spcAft>
                <a:spcPts val="200"/>
              </a:spcAft>
            </a:pPr>
            <a:r>
              <a:rPr sz="1200" b="0">
                <a:solidFill>
                  <a:srgbClr val="FFFFFF"/>
                </a:solidFill>
                <a:latin typeface="Arial"/>
                <a:ea typeface="Microsoft YaHei"/>
              </a:rPr>
              <a:t>rise 是不及物动词,没有被动</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Costs were drop last year.</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Costs dropped last year.</a:t>
            </a:r>
          </a:p>
          <a:p>
            <a:pPr algn="l">
              <a:spcAft>
                <a:spcPts val="200"/>
              </a:spcAft>
            </a:pPr>
            <a:r>
              <a:rPr sz="1200" b="0">
                <a:solidFill>
                  <a:srgbClr val="FFFFFF"/>
                </a:solidFill>
                <a:latin typeface="Arial"/>
                <a:ea typeface="Microsoft YaHei"/>
              </a:rPr>
              <a:t>不用 were + 动词原形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Sales have risen last month.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Sales rose last month.</a:t>
            </a:r>
          </a:p>
          <a:p>
            <a:pPr algn="l">
              <a:spcAft>
                <a:spcPts val="200"/>
              </a:spcAft>
            </a:pPr>
            <a:r>
              <a:rPr sz="1200" b="0">
                <a:solidFill>
                  <a:srgbClr val="FFFFFF"/>
                </a:solidFill>
                <a:latin typeface="Arial"/>
                <a:ea typeface="Microsoft YaHei"/>
              </a:rPr>
              <a:t>last month → 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sharp rise of June.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sharp rise in June.</a:t>
            </a:r>
          </a:p>
          <a:p>
            <a:pPr algn="l">
              <a:spcAft>
                <a:spcPts val="200"/>
              </a:spcAft>
            </a:pPr>
            <a:r>
              <a:rPr sz="1200" b="0">
                <a:solidFill>
                  <a:srgbClr val="FFFFFF"/>
                </a:solidFill>
                <a:latin typeface="Arial"/>
                <a:ea typeface="Microsoft YaHei"/>
              </a:rPr>
              <a:t>in + 时间</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number is stable since May.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number has been stable since May.</a:t>
            </a:r>
          </a:p>
          <a:p>
            <a:pPr algn="l">
              <a:spcAft>
                <a:spcPts val="200"/>
              </a:spcAft>
            </a:pPr>
            <a:r>
              <a:rPr sz="1200" b="0">
                <a:solidFill>
                  <a:srgbClr val="FFFFFF"/>
                </a:solidFill>
                <a:latin typeface="Arial"/>
                <a:ea typeface="Microsoft YaHei"/>
              </a:rPr>
              <a:t>since → 现在完成时</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For every change you describe, check: rose / fell (past form), by or to, and the time word (in June, since May).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Say the number, then the meaning. “Sales fell 12 per cent. That means we missed our target.” Don’t leave the audience to guess.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Round numbers. “About 2 million” is easier to hear than “1,987,432”.</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0">
                <a:solidFill>
                  <a:srgbClr val="1F2A44"/>
                </a:solidFill>
                <a:latin typeface="Arial"/>
                <a:ea typeface="Microsoft YaHei"/>
              </a:rPr>
              <a:t>Say figures slowly. In British English “1.5” is “one point five”, and “0.5” is “nought point five” (US: “zero point five”).</a:t>
            </a:r>
          </a:p>
        </p:txBody>
      </p:sp>
      <p:sp>
        <p:nvSpPr>
          <p:cNvPr id="18" name="Rounded Rectangle 17"/>
          <p:cNvSpPr/>
          <p:nvPr/>
        </p:nvSpPr>
        <p:spPr>
          <a:xfrm>
            <a:off x="548640" y="353567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53567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35677"/>
            <a:ext cx="10728655" cy="701039"/>
          </a:xfrm>
          <a:prstGeom prst="rect">
            <a:avLst/>
          </a:prstGeom>
          <a:noFill/>
        </p:spPr>
        <p:txBody>
          <a:bodyPr wrap="square" anchor="ctr">
            <a:spAutoFit/>
          </a:bodyPr>
          <a:lstStyle/>
          <a:p>
            <a:r>
              <a:rPr sz="1700" b="0">
                <a:solidFill>
                  <a:srgbClr val="1F2A44"/>
                </a:solidFill>
                <a:latin typeface="Arial"/>
                <a:ea typeface="Microsoft YaHei"/>
              </a:rPr>
              <a:t>Headlines on slides. English slides usually carry a full-sentence headline that states the message.</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link sections with That brings me to… and Turning to….</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rise, a fall and a stable period using the right prepositions.</a:t>
            </a:r>
          </a:p>
        </p:txBody>
      </p:sp>
      <p:sp>
        <p:nvSpPr>
          <p:cNvPr id="16" name="TextBox 15"/>
          <p:cNvSpPr txBox="1"/>
          <p:nvPr/>
        </p:nvSpPr>
        <p:spPr>
          <a:xfrm>
            <a:off x="9539935" y="21061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008376"/>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8376"/>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008376"/>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skip content and keep to time (In the interest of time, skim over).</a:t>
            </a:r>
          </a:p>
        </p:txBody>
      </p:sp>
      <p:sp>
        <p:nvSpPr>
          <p:cNvPr id="20" name="TextBox 19"/>
          <p:cNvSpPr txBox="1"/>
          <p:nvPr/>
        </p:nvSpPr>
        <p:spPr>
          <a:xfrm>
            <a:off x="9539935" y="3008376"/>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what a chart means in one sentence.</a:t>
            </a:r>
          </a:p>
        </p:txBody>
      </p:sp>
      <p:sp>
        <p:nvSpPr>
          <p:cNvPr id="24" name="TextBox 23"/>
          <p:cNvSpPr txBox="1"/>
          <p:nvPr/>
        </p:nvSpPr>
        <p:spPr>
          <a:xfrm>
            <a:off x="9539935" y="39105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5079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5079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5079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5079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08 Moving through your presentation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a real chart or table from your work in 60 seconds with three numbers.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by / to, past forms (rose, fell), time words, stress on numbers.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 · Lesson 09 Putting skills into action</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85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09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Putting skills into action</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将演讲技能付诸行动</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combine structure, signposting, data and Q&amp;A in a complete five-minute pitch for a real proposal.</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592580"/>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proposal would you like to make at work this year?</a:t>
            </a:r>
          </a:p>
        </p:txBody>
      </p:sp>
      <p:sp>
        <p:nvSpPr>
          <p:cNvPr id="12" name="Oval 11"/>
          <p:cNvSpPr/>
          <p:nvPr/>
        </p:nvSpPr>
        <p:spPr>
          <a:xfrm>
            <a:off x="548640" y="2281428"/>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43328"/>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43328"/>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Who is the toughest audience you present to? Why?</a:t>
            </a:r>
          </a:p>
        </p:txBody>
      </p:sp>
      <p:sp>
        <p:nvSpPr>
          <p:cNvPr id="15" name="Oval 14"/>
          <p:cNvSpPr/>
          <p:nvPr/>
        </p:nvSpPr>
        <p:spPr>
          <a:xfrm>
            <a:off x="548640" y="2970276"/>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32176"/>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32176"/>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What do you do to get ready on the day of an important presentation?</a:t>
            </a:r>
          </a:p>
        </p:txBody>
      </p:sp>
      <p:sp>
        <p:nvSpPr>
          <p:cNvPr id="18" name="Oval 17"/>
          <p:cNvSpPr/>
          <p:nvPr/>
        </p:nvSpPr>
        <p:spPr>
          <a:xfrm>
            <a:off x="548640" y="3834384"/>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21024"/>
            <a:ext cx="10408615" cy="92964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21024"/>
            <a:ext cx="10180015" cy="92964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When did you last receive feedback on a presentation? What did you learn?</a:t>
            </a:r>
          </a:p>
        </p:txBody>
      </p:sp>
      <p:sp>
        <p:nvSpPr>
          <p:cNvPr id="21" name="Oval 20"/>
          <p:cNvSpPr/>
          <p:nvPr/>
        </p:nvSpPr>
        <p:spPr>
          <a:xfrm>
            <a:off x="548640" y="4698492"/>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60392"/>
            <a:ext cx="10408615" cy="579120"/>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0392"/>
            <a:ext cx="10180015" cy="579120"/>
          </a:xfrm>
          <a:prstGeom prst="rect">
            <a:avLst/>
          </a:prstGeom>
          <a:noFill/>
        </p:spPr>
        <p:txBody>
          <a:bodyPr wrap="square" anchor="ctr">
            <a:spAutoFit/>
          </a:bodyPr>
          <a:lstStyle/>
          <a:p>
            <a:pPr algn="l">
              <a:lnSpc>
                <a:spcPct val="115000"/>
              </a:lnSpc>
              <a:spcAft>
                <a:spcPts val="800"/>
              </a:spcAft>
            </a:pPr>
            <a:r>
              <a:rPr sz="2300" b="0">
                <a:solidFill>
                  <a:srgbClr val="1F2A44"/>
                </a:solidFill>
                <a:latin typeface="Arial"/>
                <a:ea typeface="Microsoft YaHei"/>
              </a:rPr>
              <a:t>Which skill from Units 1–2 do you most want to improve?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第 4 题讲过去的事,用过去式(received, learned)。第 1 题可用 “I’d like to propose…”。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Pitch an idea in 60 seconds: problem, solution, benefit, request.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problem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solution</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benefit</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want from the audience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problem we face is…   💬 My proposal is to…   💬 The main benefit is…   💬 What I’m asking for today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pitch(推介)的关键是最后一句”请求”:What I’m asking for is… 要明确说出你要什么,而不是只说想法。</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five-minute pitch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Lena’s team wanted a budget for a new customer app. They had one chance: five minutes in front of the executive committee. Lena used a structure she had learned in training. She began with the problem: customers waited an average of eleven minutes for support. Then came the solution, a simple app with live chat, followed by a number: it could cut waiting times by half. She mentioned one risk and how the team would manage it. Finally, she asked clearly: “We’re requesting 80,000 for a six-month pilot.” When a manager challenged the cost, Lena stayed calm: “That’s a fair question. The pilot is the cheapest way to find out.” The committee approved the budget. Afterwards, Lena said the secret was simple. “I didn’t try to explain everything. I tried to make one decision easy for them.”</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problem did Lena start with?</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Customers waited eleven minutes on average for support.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exactly did she ask for?</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80,000 for a six-month pilot.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Lena say was the secret?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She made one decision easy instead of explaining everything.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Pitching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推介提案</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pitch (an idea)</a:t>
            </a:r>
          </a:p>
          <a:p>
            <a:pPr algn="l">
              <a:lnSpc>
                <a:spcPct val="115000"/>
              </a:lnSpc>
              <a:spcAft>
                <a:spcPts val="800"/>
              </a:spcAft>
            </a:pPr>
            <a:r>
              <a:rPr sz="1300" b="0">
                <a:solidFill>
                  <a:srgbClr val="5F677A"/>
                </a:solidFill>
                <a:latin typeface="Arial"/>
                <a:ea typeface="Microsoft YaHei"/>
              </a:rPr>
              <a:t>verb / 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推介(想法)</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“I’m pitching a new app to the board on Friday.”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problem we face is…</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我们面临的问题是…</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problem we face is slow customer support.”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My proposal is to…</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我的提议是…</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proposal is to run a six-month pilot.”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benefit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好处,益处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main benefit is lower costs.”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a business case for</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论证…的商业价值</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to make a business case for the new app.”</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Chunk 2: Persuading and handling challenges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说服与应对质疑</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back it up with data</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用数据支撑</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“Back up every claim with data.”</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address a concern</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回应担忧</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 me address the concern about cost.”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That’s a fair question.</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问得好(合理的问题)</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fair question. The pilot is the cheapest way to find out.”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pushback</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反对意见</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expect some pushback from Finance.”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win people over</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说服,争取支持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clear example will help win them over.”</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Asking for action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提出请求</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What I’m asking for is…</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我想请求的是…</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“What I’m asking for is your approval today.”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approval / sign-off</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批准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need sign-off by Friday.”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next steps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下一步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next steps are a pilot, a review and a decision.”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bottom line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关键结论,底线</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bottom line is that we save 20 per cent.”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ask for buy-in</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争取认同与支持</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“Ask for buy-in from the team before the meeting.”</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关键结论,底线</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bottom line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说服,争取支持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win people over</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争取认同与支持</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ask for buy-in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回应担忧</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address a concern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好处,益处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benefit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问得好(合理的问题)</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That’s a fair question.</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批准</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approval / sign-off</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我的提议是…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My proposal is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pitching</a:t>
            </a:r>
          </a:p>
        </p:txBody>
      </p:sp>
      <p:sp>
        <p:nvSpPr>
          <p:cNvPr id="10" name="Rounded Rectangle 9"/>
          <p:cNvSpPr/>
          <p:nvPr/>
        </p:nvSpPr>
        <p:spPr>
          <a:xfrm>
            <a:off x="3346704"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proposal</a:t>
            </a:r>
          </a:p>
        </p:txBody>
      </p:sp>
      <p:sp>
        <p:nvSpPr>
          <p:cNvPr id="11" name="Rounded Rectangle 10"/>
          <p:cNvSpPr/>
          <p:nvPr/>
        </p:nvSpPr>
        <p:spPr>
          <a:xfrm>
            <a:off x="4681728"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benefit</a:t>
            </a:r>
          </a:p>
        </p:txBody>
      </p:sp>
      <p:sp>
        <p:nvSpPr>
          <p:cNvPr id="12" name="Rounded Rectangle 11"/>
          <p:cNvSpPr/>
          <p:nvPr/>
        </p:nvSpPr>
        <p:spPr>
          <a:xfrm>
            <a:off x="5907024"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data</a:t>
            </a:r>
          </a:p>
        </p:txBody>
      </p:sp>
      <p:sp>
        <p:nvSpPr>
          <p:cNvPr id="13" name="Rounded Rectangle 12"/>
          <p:cNvSpPr/>
          <p:nvPr/>
        </p:nvSpPr>
        <p:spPr>
          <a:xfrm>
            <a:off x="6803136" y="987552"/>
            <a:ext cx="1133856"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address</a:t>
            </a:r>
          </a:p>
        </p:txBody>
      </p:sp>
      <p:sp>
        <p:nvSpPr>
          <p:cNvPr id="14" name="Rounded Rectangle 13"/>
          <p:cNvSpPr/>
          <p:nvPr/>
        </p:nvSpPr>
        <p:spPr>
          <a:xfrm>
            <a:off x="8028432"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bottom</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I’m _______ a new app to the board on Friday.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pitching</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My _______ is to run a six-month pilot.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proposal</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main _______ is lower costs.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benefit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Back up every claim with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data</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Let me _______ the concern about cost.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address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_______ line is that we save 20 per cent.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bottom</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(搭配) make a proposal / put forward a proposal; the benefit OF, a request FOR; spelling: proposal, approval, benefit.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Pitching a proposal to an executive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向高管推介提案</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have five minutes to ask an executive for budget for a pilot project.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Lena Qin, project lead</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Harris, executive</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Pitching a proposal to an executive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Lena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seeing me, Mr Harris. The problem we face is long waiting times: customers wait eleven minutes on average.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Harris</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bad. What’s your solution?</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My proposal is to launch a simple app with live chat. The main benefit is that waiting times could drop by half.</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cost?</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We’re requesting 80,000 for a six-month pilot. That’s less than one per cent of our support budget.</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Pitching a proposal to an executive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it doesn’t work?</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question. We’d see results within eight weeks and could stop at any time.</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I’ll need to see data before I decide.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Of course. I’ll send you the numbers by tomorrow. What I’m asking for today is your agreement in principle.</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Pitching a proposal to an executive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pitch a proposal and ask for a decision.</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Project lead. Your proposal: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Executive who asks about cost and risk.</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problem we face is… · My proposal is to… · The main benefit is… · What I’m asking for is… · That’s a fair question</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Pitch in 90 seconds, answer two questions, and end with a clear request.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The executive says “Not now.” Ask: “Is it the timing or the budget? If it’s the budget, we could start smaller.”</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the bottom line: “The bottom line is that we lose more by waiting.”</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Prepare a one-sentence version of your pitch (30 words).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Role Play · Handling a sceptical audience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应对怀疑的听众</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sceptical manager challenges your numbers during the Q&amp;A.</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Lena Qin, presenter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Davis, sceptical manager</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Model Dialogue · Handling a sceptical audience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Davis</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Lena, I’m not convinced. Where do these figures come from?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Lena</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challenge. They come from our own support logs for the last twelve months.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the logs may not include phone calls.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I should have made that clear. The phone data is separate, and I’ll add it to the analysis.</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Handling a sceptical audience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if customers don’t want an app?</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that concern. That’s exactly why we propose a pilot, not a full launch. We’ll measure usage before we spend more.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That’s reasonable. Send me the revised figures.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do. Thank you for pushing on that. It makes the proposal stronger.</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Your Turn · Handling a sceptical audience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 sceptical manager challenges your data.</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Presenter. Topic: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who is not convinced.</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That’s a fair challenge · Good point · I understand that concern · That’s exactly why… · It makes the proposal stronger</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Respond to three challenges calmly with evidence, in under two minutes.</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argue. Agree, then answer: “I see what you mean. At the same time…”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 question back: “What would convince you?”</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Summarise their concern before you answer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most important part of a pitch?</a:t>
            </a:r>
          </a:p>
          <a:p>
            <a:pPr algn="l">
              <a:lnSpc>
                <a:spcPct val="115000"/>
              </a:lnSpc>
              <a:spcAft>
                <a:spcPts val="800"/>
              </a:spcAft>
            </a:pPr>
            <a:r>
              <a:rPr sz="1400" b="0">
                <a:solidFill>
                  <a:srgbClr val="5F677A"/>
                </a:solidFill>
                <a:latin typeface="Arial"/>
                <a:ea typeface="Microsoft YaHei"/>
              </a:rPr>
              <a:t>💬 “I think it’s…” / “Without a clear request, …”</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handle a sceptical audience?</a:t>
            </a:r>
          </a:p>
          <a:p>
            <a:pPr algn="l">
              <a:lnSpc>
                <a:spcPct val="115000"/>
              </a:lnSpc>
              <a:spcAft>
                <a:spcPts val="800"/>
              </a:spcAft>
            </a:pPr>
            <a:r>
              <a:rPr sz="1400" b="0">
                <a:solidFill>
                  <a:srgbClr val="5F677A"/>
                </a:solidFill>
                <a:latin typeface="Arial"/>
                <a:ea typeface="Microsoft YaHei"/>
              </a:rPr>
              <a:t>💬 “I’d start by…” / “It helps to agree first…”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you use stories or data?</a:t>
            </a:r>
          </a:p>
          <a:p>
            <a:pPr algn="l">
              <a:lnSpc>
                <a:spcPct val="115000"/>
              </a:lnSpc>
              <a:spcAft>
                <a:spcPts val="800"/>
              </a:spcAft>
            </a:pPr>
            <a:r>
              <a:rPr sz="1400" b="0">
                <a:solidFill>
                  <a:srgbClr val="5F677A"/>
                </a:solidFill>
                <a:latin typeface="Arial"/>
                <a:ea typeface="Microsoft YaHei"/>
              </a:rPr>
              <a:t>💬 “Ideally both: …” / “Data convinces the head, stories the heart.”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prepare for tough questions?</a:t>
            </a:r>
          </a:p>
          <a:p>
            <a:pPr algn="l">
              <a:lnSpc>
                <a:spcPct val="115000"/>
              </a:lnSpc>
              <a:spcAft>
                <a:spcPts val="800"/>
              </a:spcAft>
            </a:pPr>
            <a:r>
              <a:rPr sz="1400" b="0">
                <a:solidFill>
                  <a:srgbClr val="5F677A"/>
                </a:solidFill>
                <a:latin typeface="Arial"/>
                <a:ea typeface="Microsoft YaHei"/>
              </a:rPr>
              <a:t>💬 “I list the five hardest questions and…” / “I ask a colleague to…”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have you learned from Units 1–2?</a:t>
            </a:r>
          </a:p>
          <a:p>
            <a:pPr algn="l">
              <a:lnSpc>
                <a:spcPct val="115000"/>
              </a:lnSpc>
              <a:spcAft>
                <a:spcPts val="800"/>
              </a:spcAft>
            </a:pPr>
            <a:r>
              <a:rPr sz="1400" b="0">
                <a:solidFill>
                  <a:srgbClr val="5F677A"/>
                </a:solidFill>
                <a:latin typeface="Arial"/>
                <a:ea typeface="Microsoft YaHei"/>
              </a:rPr>
              <a:t>💬 “The biggest thing I learned is…” / “I’m going to start…”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I’d start by agreeing with the part that is reasonable. For example,”That’s a fair concern.” Then I’d answer with evidence rather than opinion. If I can’t prove it, I say so and offer to find out. The aim is not to win the argument but to win trust. Once people trust me, they are much more open to my proposal.</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“rather than” = 而不是;“The aim is not to…but to…” 是常用对比句型;“win trust” = 赢得信任。</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Persuasive structure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说服结构</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Step</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Problem</a:t>
                      </a:r>
                    </a:p>
                  </a:txBody>
                  <a:tcPr anchor="ctr">
                    <a:solidFill>
                      <a:srgbClr val="FFFFFF"/>
                    </a:solidFill>
                  </a:tcPr>
                </a:tc>
                <a:tc>
                  <a:txBody>
                    <a:bodyPr wrap="square"/>
                    <a:lstStyle/>
                    <a:p>
                      <a:r>
                        <a:rPr sz="1600" b="0">
                          <a:solidFill>
                            <a:srgbClr val="1F2A44"/>
                          </a:solidFill>
                          <a:latin typeface="Arial"/>
                          <a:ea typeface="Microsoft YaHei"/>
                        </a:rPr>
                        <a:t>The problem we face is slow support.</a:t>
                      </a:r>
                    </a:p>
                  </a:txBody>
                  <a:tcPr anchor="ctr">
                    <a:solidFill>
                      <a:srgbClr val="FFFFFF"/>
                    </a:solidFill>
                  </a:tcPr>
                </a:tc>
              </a:tr>
              <a:tr h="408432">
                <a:tc>
                  <a:txBody>
                    <a:bodyPr wrap="square"/>
                    <a:lstStyle/>
                    <a:p>
                      <a:r>
                        <a:rPr sz="1600" b="1">
                          <a:solidFill>
                            <a:srgbClr val="1F2A44"/>
                          </a:solidFill>
                          <a:latin typeface="Arial"/>
                          <a:ea typeface="Microsoft YaHei"/>
                        </a:rPr>
                        <a:t>Solution</a:t>
                      </a:r>
                    </a:p>
                  </a:txBody>
                  <a:tcPr anchor="ctr">
                    <a:solidFill>
                      <a:srgbClr val="FFEFD9"/>
                    </a:solidFill>
                  </a:tcPr>
                </a:tc>
                <a:tc>
                  <a:txBody>
                    <a:bodyPr wrap="square"/>
                    <a:lstStyle/>
                    <a:p>
                      <a:r>
                        <a:rPr sz="1600" b="0">
                          <a:solidFill>
                            <a:srgbClr val="1F2A44"/>
                          </a:solidFill>
                          <a:latin typeface="Arial"/>
                          <a:ea typeface="Microsoft YaHei"/>
                        </a:rPr>
                        <a:t>My proposal is to launch a pilot.</a:t>
                      </a:r>
                    </a:p>
                  </a:txBody>
                  <a:tcPr anchor="ctr">
                    <a:solidFill>
                      <a:srgbClr val="FFEFD9"/>
                    </a:solidFill>
                  </a:tcPr>
                </a:tc>
              </a:tr>
              <a:tr h="408432">
                <a:tc>
                  <a:txBody>
                    <a:bodyPr wrap="square"/>
                    <a:lstStyle/>
                    <a:p>
                      <a:r>
                        <a:rPr sz="1600" b="1">
                          <a:solidFill>
                            <a:srgbClr val="1F2A44"/>
                          </a:solidFill>
                          <a:latin typeface="Arial"/>
                          <a:ea typeface="Microsoft YaHei"/>
                        </a:rPr>
                        <a:t>Evidence</a:t>
                      </a:r>
                    </a:p>
                  </a:txBody>
                  <a:tcPr anchor="ctr">
                    <a:solidFill>
                      <a:srgbClr val="FFFFFF"/>
                    </a:solidFill>
                  </a:tcPr>
                </a:tc>
                <a:tc>
                  <a:txBody>
                    <a:bodyPr wrap="square"/>
                    <a:lstStyle/>
                    <a:p>
                      <a:r>
                        <a:rPr sz="1600" b="0">
                          <a:solidFill>
                            <a:srgbClr val="1F2A44"/>
                          </a:solidFill>
                          <a:latin typeface="Arial"/>
                          <a:ea typeface="Microsoft YaHei"/>
                        </a:rPr>
                        <a:t>In the test, waiting times fell by 40 per cent.</a:t>
                      </a:r>
                    </a:p>
                  </a:txBody>
                  <a:tcPr anchor="ctr">
                    <a:solidFill>
                      <a:srgbClr val="FFFFFF"/>
                    </a:solidFill>
                  </a:tcPr>
                </a:tc>
              </a:tr>
              <a:tr h="408432">
                <a:tc>
                  <a:txBody>
                    <a:bodyPr wrap="square"/>
                    <a:lstStyle/>
                    <a:p>
                      <a:r>
                        <a:rPr sz="1600" b="1">
                          <a:solidFill>
                            <a:srgbClr val="1F2A44"/>
                          </a:solidFill>
                          <a:latin typeface="Arial"/>
                          <a:ea typeface="Microsoft YaHei"/>
                        </a:rPr>
                        <a:t>Request</a:t>
                      </a:r>
                    </a:p>
                  </a:txBody>
                  <a:tcPr anchor="ctr">
                    <a:solidFill>
                      <a:srgbClr val="FFEFD9"/>
                    </a:solidFill>
                  </a:tcPr>
                </a:tc>
                <a:tc>
                  <a:txBody>
                    <a:bodyPr wrap="square"/>
                    <a:lstStyle/>
                    <a:p>
                      <a:r>
                        <a:rPr sz="1600" b="0">
                          <a:solidFill>
                            <a:srgbClr val="1F2A44"/>
                          </a:solidFill>
                          <a:latin typeface="Arial"/>
                          <a:ea typeface="Microsoft YaHei"/>
                        </a:rPr>
                        <a:t>What I’m asking for is 80,000 for six months.</a:t>
                      </a:r>
                    </a:p>
                  </a:txBody>
                  <a:tcPr anchor="ctr">
                    <a:solidFill>
                      <a:srgbClr val="FFEFD9"/>
                    </a:solidFill>
                  </a:tcPr>
                </a:tc>
              </a:tr>
            </a:tbl>
          </a:graphicData>
        </a:graphic>
      </p:graphicFrame>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Persuasive structure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说服结构</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Rule of three: </a:t>
            </a:r>
            <a:r>
              <a:rPr sz="1700" b="0">
                <a:solidFill>
                  <a:srgbClr val="1F2A44"/>
                </a:solidFill>
                <a:latin typeface="Arial"/>
                <a:ea typeface="Microsoft YaHei"/>
              </a:rPr>
              <a:t>three reasons, three steps, three examples. Short lists are easier to remember.</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ask you approve this plan.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I’d like to ask you to approve this plan.</a:t>
            </a:r>
          </a:p>
          <a:p>
            <a:pPr algn="l">
              <a:spcAft>
                <a:spcPts val="200"/>
              </a:spcAft>
            </a:pPr>
            <a:r>
              <a:rPr sz="1200" b="0">
                <a:solidFill>
                  <a:srgbClr val="FFFFFF"/>
                </a:solidFill>
                <a:latin typeface="Arial"/>
                <a:ea typeface="Microsoft YaHei"/>
              </a:rPr>
              <a:t>ask sb to do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This will help us to saving money.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This will help us (to) save money.</a:t>
            </a:r>
          </a:p>
          <a:p>
            <a:pPr algn="l">
              <a:spcAft>
                <a:spcPts val="200"/>
              </a:spcAft>
            </a:pPr>
            <a:r>
              <a:rPr sz="1200" b="0">
                <a:solidFill>
                  <a:srgbClr val="FFFFFF"/>
                </a:solidFill>
                <a:latin typeface="Arial"/>
                <a:ea typeface="Microsoft YaHei"/>
              </a:rPr>
              <a:t>help + 动词原形</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requesting for 80,000.</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are requesting 80,000.</a:t>
            </a:r>
          </a:p>
          <a:p>
            <a:pPr algn="l">
              <a:spcAft>
                <a:spcPts val="200"/>
              </a:spcAft>
            </a:pPr>
            <a:r>
              <a:rPr sz="1200" b="0">
                <a:solidFill>
                  <a:srgbClr val="FFFFFF"/>
                </a:solidFill>
                <a:latin typeface="Arial"/>
                <a:ea typeface="Microsoft YaHei"/>
              </a:rPr>
              <a:t>request 后不加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has a lot of benefit.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has a lot of benefits.</a:t>
            </a:r>
          </a:p>
          <a:p>
            <a:pPr algn="l">
              <a:spcAft>
                <a:spcPts val="200"/>
              </a:spcAft>
            </a:pPr>
            <a:r>
              <a:rPr sz="1200" b="0">
                <a:solidFill>
                  <a:srgbClr val="FFFFFF"/>
                </a:solidFill>
                <a:latin typeface="Arial"/>
                <a:ea typeface="Microsoft YaHei"/>
              </a:rPr>
              <a:t>benefit 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result is depend on the data.</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result depends on the data.</a:t>
            </a:r>
          </a:p>
          <a:p>
            <a:pPr algn="l">
              <a:spcAft>
                <a:spcPts val="200"/>
              </a:spcAft>
            </a:pPr>
            <a:r>
              <a:rPr sz="1200" b="0">
                <a:solidFill>
                  <a:srgbClr val="FFFFFF"/>
                </a:solidFill>
                <a:latin typeface="Arial"/>
                <a:ea typeface="Microsoft YaHei"/>
              </a:rPr>
              <a:t>depend on</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agree with your concern.</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your concern.</a:t>
            </a:r>
          </a:p>
          <a:p>
            <a:pPr algn="l">
              <a:spcAft>
                <a:spcPts val="200"/>
              </a:spcAft>
            </a:pPr>
            <a:r>
              <a:rPr sz="1200" b="0">
                <a:solidFill>
                  <a:srgbClr val="FFFFFF"/>
                </a:solidFill>
                <a:latin typeface="Arial"/>
                <a:ea typeface="Microsoft YaHei"/>
              </a:rPr>
              <a:t>agree 是动词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Read your pitch script and underline the verbs after help, ask, depend and agree. Check each one.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Make the ask explicit. In English-speaking business cultures, silence at the end is not a “yes”. State what you want.</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0">
                <a:solidFill>
                  <a:srgbClr val="1F2A44"/>
                </a:solidFill>
                <a:latin typeface="Arial"/>
                <a:ea typeface="Microsoft YaHei"/>
              </a:rPr>
              <a:t>Welcome challenges. “That’s a fair question” shows confidence, not weakness.</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0">
                <a:solidFill>
                  <a:srgbClr val="1F2A44"/>
                </a:solidFill>
                <a:latin typeface="Arial"/>
                <a:ea typeface="Microsoft YaHei"/>
              </a:rPr>
              <a:t>Answer briefly, then check. “Does that answer your question?” is a standard follow-up.</a:t>
            </a:r>
          </a:p>
        </p:txBody>
      </p:sp>
      <p:sp>
        <p:nvSpPr>
          <p:cNvPr id="18" name="Rounded Rectangle 17"/>
          <p:cNvSpPr/>
          <p:nvPr/>
        </p:nvSpPr>
        <p:spPr>
          <a:xfrm>
            <a:off x="548640" y="327659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7659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76597"/>
            <a:ext cx="10728655" cy="701039"/>
          </a:xfrm>
          <a:prstGeom prst="rect">
            <a:avLst/>
          </a:prstGeom>
          <a:noFill/>
        </p:spPr>
        <p:txBody>
          <a:bodyPr wrap="square" anchor="ctr">
            <a:spAutoFit/>
          </a:bodyPr>
          <a:lstStyle/>
          <a:p>
            <a:r>
              <a:rPr sz="1700" b="0">
                <a:solidFill>
                  <a:srgbClr val="1F2A44"/>
                </a:solidFill>
                <a:latin typeface="Arial"/>
                <a:ea typeface="Microsoft YaHei"/>
              </a:rPr>
              <a:t>Admit what you don’t know. “I don’t have that figure with me, but I’ll send it by tomorrow” builds more trust than guessing.</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09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pitch a proposal with problem, solution, benefit and request.</a:t>
            </a:r>
          </a:p>
        </p:txBody>
      </p:sp>
      <p:sp>
        <p:nvSpPr>
          <p:cNvPr id="12" name="TextBox 11"/>
          <p:cNvSpPr txBox="1"/>
          <p:nvPr/>
        </p:nvSpPr>
        <p:spPr>
          <a:xfrm>
            <a:off x="9539935" y="1508760"/>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410968"/>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410968"/>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410968"/>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answer challenges calmly with That’s a fair question and evidence.</a:t>
            </a:r>
          </a:p>
        </p:txBody>
      </p:sp>
      <p:sp>
        <p:nvSpPr>
          <p:cNvPr id="16" name="TextBox 15"/>
          <p:cNvSpPr txBox="1"/>
          <p:nvPr/>
        </p:nvSpPr>
        <p:spPr>
          <a:xfrm>
            <a:off x="9539935" y="2410968"/>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33131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3131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33131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end with a clear ask and next steps.</a:t>
            </a:r>
          </a:p>
        </p:txBody>
      </p:sp>
      <p:sp>
        <p:nvSpPr>
          <p:cNvPr id="20" name="TextBox 19"/>
          <p:cNvSpPr txBox="1"/>
          <p:nvPr/>
        </p:nvSpPr>
        <p:spPr>
          <a:xfrm>
            <a:off x="9539935" y="33131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9105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9105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9105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combine signposting, data and Q&amp;A in a five-minute presentation.</a:t>
            </a:r>
          </a:p>
        </p:txBody>
      </p:sp>
      <p:sp>
        <p:nvSpPr>
          <p:cNvPr id="24" name="TextBox 23"/>
          <p:cNvSpPr txBox="1"/>
          <p:nvPr/>
        </p:nvSpPr>
        <p:spPr>
          <a:xfrm>
            <a:off x="9539935" y="39105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8127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8127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8127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48127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 · Lesson 09 Putting skills into action</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Pitch your proposal in 90 seconds. Then answer two questions you wrote in advance. Record it.</a:t>
            </a:r>
          </a:p>
        </p:txBody>
      </p:sp>
      <p:sp>
        <p:nvSpPr>
          <p:cNvPr id="14" name="Rounded Rectangle 13"/>
          <p:cNvSpPr/>
          <p:nvPr/>
        </p:nvSpPr>
        <p:spPr>
          <a:xfrm>
            <a:off x="548640" y="341071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41071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structure, signposting, benefit (countable), “ask sb to do”, clear request.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I’d like to highlight…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I’d like to highlight one figure: customer retention.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说服,争取支持</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win people over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Sales increased to 8 per cent last year. (growth of 8%)</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Sales increased by 8 per cent last year.</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我想请求的是…</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What I’m asking for is…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the bottom line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bottom line is that we save 20 per cent.</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你们能看到我的幻灯片吗?</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Can you see my slides?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2</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“达到峰值 / 触底”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peak at / bottom out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“我会讲三个要点”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I’ll cover three main points.</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“下降(到)”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fall / drop (to)</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We use online to present.</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present online.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Profit is raised in March.</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Profit rose in March.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2</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124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2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