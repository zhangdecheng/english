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9: Career Development — Self-Study Workbook (Lessons 42–45)</a:t>
            </a:r>
          </a:p>
          <a:p/>
          <a:p>
            <a:r>
              <a:t>开场：简单介绍本单元的主题和要完成的 4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42 · Competition 竞争</a:t>
            </a:r>
          </a:p>
          <a:p>
            <a:r>
              <a:t>Goal: discuss healthy and unhealthy competition at work and in the job market, and explain how to stand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 本课原图描述与第 32 课重复,按标题 “Competition/竞争” 编写:职场与求职竞争。“competitive” 既可褒也可贬。</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competition in your industry or workplace.</a:t>
            </a:r>
          </a:p>
          <a:p>
            <a:r>
              <a:t>Say: the situation → the pressure → how you respond → your view.</a:t>
            </a:r>
          </a:p>
          <a:p>
            <a:r>
              <a:t>Useful starters: “The market is very competitive, so…” / “To stand out, I…” / “On the plus side, competition… / On the downside, …”</a:t>
            </a:r>
          </a:p>
          <a:p>
            <a:r>
              <a:t>“stand out” = 脱颖而出;“on the plus side / downside” = 优点/缺点方面。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Competition can push people to do better work, but it can also damage trust. In a healthy competitive culture, colleagues compare results openly, celebrate wins and learn from the best performers. In an unhealthy one, people hide information, take credit for others’ ideas and see a colleague’s success as their own loss. Managers influence which type grows. They can reward shared goals as well as individual targets, and they can praise help given to others. For individuals, the best strategy is usually to compete with your own past performance rather than only with colleagues. Ask what you can do better than last quarter. This keeps you motivated without making enemies. In the job market, standing out comes from clear achievements, not just the longest list of duties.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happens in an unhealthy competitive culture?</a:t>
            </a:r>
          </a:p>
          <a:p>
            <a:r>
              <a:t>A: People hide information, take credit and see others’ success as their loss.</a:t>
            </a:r>
          </a:p>
          <a:p>
            <a:r>
              <a:t>Q2. How can managers support healthy competition?</a:t>
            </a:r>
          </a:p>
          <a:p>
            <a:r>
              <a:t>A: Reward shared goals and praise helping others.</a:t>
            </a:r>
          </a:p>
          <a:p>
            <a:r>
              <a:t>Q3. What does the writer suggest for individuals?</a:t>
            </a:r>
          </a:p>
          <a:p>
            <a:r>
              <a:t>A: Compete with your own past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Competition 竞争</a:t>
            </a:r>
          </a:p>
          <a:p>
            <a:r>
              <a:t>领读 → 学员跟读 → 请学员用表达造一个和自己工作相关的句子。</a:t>
            </a:r>
          </a:p>
          <a:p>
            <a:r>
              <a:t>competitive (adjective) 竞争激烈的/好胜的 — “It’s a competitive market.”</a:t>
            </a:r>
          </a:p>
          <a:p>
            <a:r>
              <a:t>rival (noun) 对手 — “Our main rival cut prices.”</a:t>
            </a:r>
          </a:p>
          <a:p>
            <a:r>
              <a:t>stand out (phrasal verb) 脱颖而出 — “How can you stand out?”</a:t>
            </a:r>
          </a:p>
          <a:p>
            <a:r>
              <a:t>★ cutthroat (adjective) 残酷的 — “Banking can be cutthroat.”</a:t>
            </a:r>
          </a:p>
          <a:p>
            <a:r>
              <a:t>★ edge (noun) 优势 — “Languages give you an edge.”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At work 职场竞争</a:t>
            </a:r>
          </a:p>
          <a:p>
            <a:r>
              <a:t>领读 → 学员跟读 → 请学员用表达造一个和自己工作相关的句子。</a:t>
            </a:r>
          </a:p>
          <a:p>
            <a:r>
              <a:t>compete for (verb phrase) 争夺 — “Three of us compete for one promotion.”</a:t>
            </a:r>
          </a:p>
          <a:p>
            <a:r>
              <a:t>get ahead (phrasal verb) 取得进步 — “She wants to get ahead.”</a:t>
            </a:r>
          </a:p>
          <a:p>
            <a:r>
              <a:t>keep up with (phrasal verb) 跟上 — “I try to keep up with trends.”</a:t>
            </a:r>
          </a:p>
          <a:p>
            <a:r>
              <a:t>★ rat race (idiom) 激烈的生存竞争 — “He left the rat race.”</a:t>
            </a:r>
          </a:p>
          <a:p>
            <a:r>
              <a:t>★ take credit for (collocation) 邀功 — “Don’t take credit for others’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Healthy competition 良性竞争</a:t>
            </a:r>
          </a:p>
          <a:p>
            <a:r>
              <a:t>领读 → 学员跟读 → 请学员用表达造一个和自己工作相关的句子。</a:t>
            </a:r>
          </a:p>
          <a:p>
            <a:r>
              <a:t>friendly competition (noun) 友好竞赛 — “We have a friendly competition.”</a:t>
            </a:r>
          </a:p>
          <a:p>
            <a:r>
              <a:t>benchmark yourself against (collocation) 以…为基准 — “Benchmark yourself against the best.”</a:t>
            </a:r>
          </a:p>
          <a:p>
            <a:r>
              <a:t>collaborate (verb) 合作 — “We collaborate across teams.”</a:t>
            </a:r>
          </a:p>
          <a:p>
            <a:r>
              <a:t>★ raise the bar (idiom) 提高标准 — “She raised the bar for everyone.”</a:t>
            </a:r>
          </a:p>
          <a:p>
            <a:r>
              <a:t>★ level the playing field (idiom) 公平竞争 — “Rules level the playing field.”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competitive / rival / stand / edge / credit / bar</a:t>
            </a:r>
          </a:p>
          <a:p>
            <a:r>
              <a:t>1. It’s a very _______ market. → competitive</a:t>
            </a:r>
          </a:p>
          <a:p>
            <a:r>
              <a:t>2. Our main _______ cut prices. → rival</a:t>
            </a:r>
          </a:p>
          <a:p>
            <a:r>
              <a:t>3. How can you _______ out in an interview? → stand</a:t>
            </a:r>
          </a:p>
          <a:p>
            <a:r>
              <a:t>4. Languages give you an _______. → edge</a:t>
            </a:r>
          </a:p>
          <a:p>
            <a:r>
              <a:t>5. Don’t take _______ for other people’s work. → credit</a:t>
            </a:r>
          </a:p>
          <a:p>
            <a:r>
              <a:t>6. She raised the _______ for the whole team. → bar</a:t>
            </a:r>
          </a:p>
          <a:p>
            <a:r>
              <a:t>Mistake Watch: (介词) compete FOR a job, compete WITH/AGAINST others, competition BETWEEN;competitive 与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promotion rivalry 谈升职竞争</a:t>
            </a:r>
          </a:p>
          <a:p>
            <a:r>
              <a:t>情景：Two colleagues compete for one role.</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heard we’re both going for the team lead job.</a:t>
            </a:r>
          </a:p>
          <a:p>
            <a:r>
              <a:t>B: Yes. I hope it won’t affect our working relationship.</a:t>
            </a:r>
          </a:p>
          <a:p>
            <a:r>
              <a:t>A: Me too. It’s friendly competition, as far as I’m concerned.</a:t>
            </a:r>
          </a:p>
          <a:p>
            <a:r>
              <a:t>B: Agreed. May the best person win.</a:t>
            </a:r>
          </a:p>
          <a:p>
            <a:r>
              <a:t>A: Whatever happens, we should keep sharing information.</a:t>
            </a:r>
          </a:p>
          <a:p>
            <a:r>
              <a:t>B: Definitely. It makes the whole team stronger.</a:t>
            </a:r>
          </a:p>
          <a:p>
            <a:r>
              <a:t>A: And if one of us gets it, the other will support them.</a:t>
            </a:r>
          </a:p>
          <a:p>
            <a:r>
              <a:t>B: Deal.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manage a promotion rivalry.</a:t>
            </a:r>
          </a:p>
          <a:p>
            <a:r>
              <a:t>Your role (A) | Colleague.</a:t>
            </a:r>
          </a:p>
          <a:p>
            <a:r>
              <a:t>Partner’s role (B) | Colleague. Role: ______________</a:t>
            </a:r>
          </a:p>
          <a:p>
            <a:r>
              <a:t>Must use (3 or more) | going for · friendly competition · May the best person win · keep sharing · support</a:t>
            </a:r>
          </a:p>
          <a:p>
            <a:r>
              <a:t>Goal | Keep the relationship positive and agree ground rules.</a:t>
            </a:r>
          </a:p>
          <a:p>
            <a:r>
              <a:t>My notes | ____________________________________________</a:t>
            </a:r>
          </a:p>
          <a:p>
            <a:r>
              <a:t>One colleague hints at a worry.</a:t>
            </a:r>
          </a:p>
          <a:p>
            <a:r>
              <a:t>Add what to do if it gets tense.</a:t>
            </a:r>
          </a:p>
          <a:p>
            <a:r>
              <a:t>Congratulate the winner.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Standing out in the job market 在求职市场脱颖而出</a:t>
            </a:r>
          </a:p>
          <a:p>
            <a:r>
              <a:t>情景：A coach advises a job seeker.</a:t>
            </a:r>
          </a:p>
          <a:p>
            <a:r>
              <a:t>Role A: Coach Role B: Job seeker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market is very competitive. What gives you an edge?</a:t>
            </a:r>
          </a:p>
          <a:p>
            <a:r>
              <a:t>B: I speak three languages, and I’ve led a project with a rival’s customers.</a:t>
            </a:r>
          </a:p>
          <a:p>
            <a:r>
              <a:t>A: Good. Put results on your CV, not just duties.</a:t>
            </a:r>
          </a:p>
          <a:p>
            <a:r>
              <a:t>B: Like “increased sales by 15 per cent”?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Exactly. Also, tailor each application.</a:t>
            </a:r>
          </a:p>
          <a:p>
            <a:r>
              <a:t>B: That takes time.</a:t>
            </a:r>
          </a:p>
          <a:p>
            <a:r>
              <a:t>A: It does, but it helps you stand out among hundreds of applicants.</a:t>
            </a:r>
          </a:p>
          <a:p>
            <a:r>
              <a:t>B: I’ll try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coach on standing out.</a:t>
            </a:r>
          </a:p>
          <a:p>
            <a:r>
              <a:t>Your role (A) | Coach.</a:t>
            </a:r>
          </a:p>
          <a:p>
            <a:r>
              <a:t>Partner’s role (B) | Job seeker. Strengths: ______________</a:t>
            </a:r>
          </a:p>
          <a:p>
            <a:r>
              <a:t>Must use (3 or more) | edge · stand out · results · tailor · competitive</a:t>
            </a:r>
          </a:p>
          <a:p>
            <a:r>
              <a:t>Goal | Identify strengths and give practical tips.</a:t>
            </a:r>
          </a:p>
          <a:p>
            <a:r>
              <a:t>My notes | ____________________________________________</a:t>
            </a:r>
          </a:p>
          <a:p>
            <a:r>
              <a:t>Discuss networking.</a:t>
            </a:r>
          </a:p>
          <a:p>
            <a:r>
              <a:t>Cover a weakness.</a:t>
            </a:r>
          </a:p>
          <a:p>
            <a:r>
              <a:t>Rehearse a one-minute pitch.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competition at work usually healthy? | “It can be, if… / It depends on…”</a:t>
            </a:r>
          </a:p>
          <a:p>
            <a:r>
              <a:t>2. What is the downside of a “winner-takes-all” culture? | “People might…”</a:t>
            </a:r>
          </a:p>
          <a:p>
            <a:r>
              <a:t>3. How can you compete without being aggressive? | “By focusing on…”</a:t>
            </a:r>
          </a:p>
          <a:p>
            <a:r>
              <a:t>4. Is it fair that some people have an edge, like contacts? | “Not entirely, but…”</a:t>
            </a:r>
          </a:p>
          <a:p>
            <a:r>
              <a:t>5. How competitive is your industry? | “It’s quite competitive because…”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can be healthy if the rules are fair and teamwork is rewarded. Competition pushes people to improve, and it can be fun. But if it turns into a fight for credit, trust disappears and people stop sharing ideas. So I think managers should balance individual targets with team goals.”</a:t>
            </a:r>
          </a:p>
          <a:p>
            <a:r>
              <a:t>“turns into” 变成;“balance A with B” 平衡。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and comparison in opinions 对比表达</a:t>
            </a:r>
          </a:p>
          <a:p>
            <a:r>
              <a:t>Structure | Example</a:t>
            </a:r>
          </a:p>
          <a:p>
            <a:r>
              <a:t>On the plus side / On the downside | On the plus side, it motivates people.</a:t>
            </a:r>
          </a:p>
          <a:p>
            <a:r>
              <a:t>whereas / while | Some thrive on competition, whereas others hate it.</a:t>
            </a:r>
          </a:p>
          <a:p>
            <a:r>
              <a:t>the more… the more… | The more competitive the market, the more you need an edge.</a:t>
            </a:r>
          </a:p>
          <a:p>
            <a:r>
              <a:t>as far as I’m concerned | As far as I’m concerned, teamwork matters more.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and comparison in opinions 对比表达</a:t>
            </a:r>
          </a:p>
          <a:p>
            <a:r>
              <a:t>Whereas and while connect two contrasting facts; use a comma.</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compete with each other for get the job.  →  ✓ We compete with each other for the job.  (for + 名词)</a:t>
            </a:r>
          </a:p>
          <a:p>
            <a:r>
              <a:t>✗ The market is very compete.  →  ✓ The market is very competitive.  (形容词)</a:t>
            </a:r>
          </a:p>
          <a:p>
            <a:r>
              <a:t>✗ He is a strong competition.  →  ✓ He is a strong competitor.  (competitor 指人)</a:t>
            </a:r>
          </a:p>
          <a:p>
            <a:r>
              <a:t>Mistake Watch: Check competition vs competitor vs competitive, credit for, than.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more competitive as him.  →  ✓ I’m more competitive than him.  (than)</a:t>
            </a:r>
          </a:p>
          <a:p>
            <a:r>
              <a:t>✗ We are in a hard competition.  →  ✓ We are in tough competition. / The competition is tough.  (tough)</a:t>
            </a:r>
          </a:p>
          <a:p>
            <a:r>
              <a:t>✗ She took the credit of my work.  →  ✓ She took credit for my work.  (credit for)</a:t>
            </a:r>
          </a:p>
          <a:p>
            <a:r>
              <a:t>Mistake Watch: Check competition vs competitor vs competitive, credit for, than.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Competition is normal but should stay respectful. Publicly criticising a rival is unprofessional.</a:t>
            </a:r>
          </a:p>
          <a:p>
            <a:r>
              <a:t>Share credit. Saying “the team did this” earns respect.</a:t>
            </a:r>
          </a:p>
          <a:p>
            <a:r>
              <a:t>Don’t compare salaries aggressively. It is considered private in many countries.</a:t>
            </a:r>
          </a:p>
          <a:p>
            <a:r>
              <a:t>Be honest about achievements. Confident, not boastful: “I led…” rather than “I’m the best.”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competition with stand out / get ahead / edge.</a:t>
            </a:r>
          </a:p>
          <a:p>
            <a:r>
              <a:t>I can explain pros and cons of competition.</a:t>
            </a:r>
          </a:p>
          <a:p>
            <a:r>
              <a:t>I can discuss rivalry with colleagues tactfully.</a:t>
            </a:r>
          </a:p>
          <a:p>
            <a:r>
              <a:t>I use competition / competitor / competitive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one-minute pitch on what gives you an edge.</a:t>
            </a:r>
          </a:p>
          <a:p>
            <a:r>
              <a:t>8–10 | Listen to your recording. Check: competitor vs competitive, credit for, than.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43 · Upskilling 提升技能</a:t>
            </a:r>
          </a:p>
          <a:p>
            <a:r>
              <a:t>Goal: talk about learning new skills, plan your development and explain why upskilling matters.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“upskill” = 提升技能;“reskill” = 转型学习新技能。第 4 题 “Have you taken” 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skill you want to learn and how you will learn it.</a:t>
            </a:r>
          </a:p>
          <a:p>
            <a:r>
              <a:t>Say: the skill → why → the plan → how you’ll find time.</a:t>
            </a:r>
          </a:p>
          <a:p>
            <a:r>
              <a:t>Useful starters: “I’d like to improve my…” / “It would help me to…” / “I’m planning to…” / “I’ll set aside…”</a:t>
            </a:r>
          </a:p>
          <a:p>
            <a:r>
              <a:t>“set aside time” = 留出时间;“It would help me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Technology is changing jobs faster than many organisations can train their staff, so more workers are taking charge of their own learning. Upskilling means improving the skills you already use. Reskilling means learning new ones for a different role. The difficulty for most people is not interest but time. One practical idea is the 20-minute habit: choose one skill, then study for twenty minutes at a fixed time every day. After three months you will have spent about thirty hours, which is enough to notice real progress. Another tip is to apply what you learn quickly, for example by using a new Excel function in next week’s report. Finally, tell your manager what you are learning, because they can often offer time, budget or a suitable project.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difference between upskilling and reskilling?</a:t>
            </a:r>
          </a:p>
          <a:p>
            <a:r>
              <a:t>A: Upskilling improves existing skills; reskilling learns new ones for a different role.</a:t>
            </a:r>
          </a:p>
          <a:p>
            <a:r>
              <a:t>Q2. What is the 20-minute habit?</a:t>
            </a:r>
          </a:p>
          <a:p>
            <a:r>
              <a:t>A: Studying one skill for twenty minutes at a fixed time every day.</a:t>
            </a:r>
          </a:p>
          <a:p>
            <a:r>
              <a:t>Q3. Why tell your manager about your learning?</a:t>
            </a:r>
          </a:p>
          <a:p>
            <a:r>
              <a:t>A: They can offer time, budget or a suitable project.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Skills 技能</a:t>
            </a:r>
          </a:p>
          <a:p>
            <a:r>
              <a:t>领读 → 学员跟读 → 请学员用表达造一个和自己工作相关的句子。</a:t>
            </a:r>
          </a:p>
          <a:p>
            <a:r>
              <a:t>upskill / reskill (verb) 提升/转型技能 — “We upskill staff every year.”</a:t>
            </a:r>
          </a:p>
          <a:p>
            <a:r>
              <a:t>skill gap (noun) 技能缺口 — “We need to close the skill gap.”</a:t>
            </a:r>
          </a:p>
          <a:p>
            <a:r>
              <a:t>in-demand skills (noun) 热门技能 — “Data skills are in demand.”</a:t>
            </a:r>
          </a:p>
          <a:p>
            <a:r>
              <a:t>★ future-proof (verb/adj) 面向未来 — “Learning keeps you future-proof.”</a:t>
            </a:r>
          </a:p>
          <a:p>
            <a:r>
              <a:t>★ keep (your skills) up to date (collocation) 保持技能更新 — “Keep your skills up to date.”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Learning 学习方式</a:t>
            </a:r>
          </a:p>
          <a:p>
            <a:r>
              <a:t>领读 → 学员跟读 → 请学员用表达造一个和自己工作相关的句子。</a:t>
            </a:r>
          </a:p>
          <a:p>
            <a:r>
              <a:t>sign up for a course (collocation) 报名课程 — “I signed up for a course.”</a:t>
            </a:r>
          </a:p>
          <a:p>
            <a:r>
              <a:t>on-the-job training (noun) 在职培训 — “I learned through on-the-job training.”</a:t>
            </a:r>
          </a:p>
          <a:p>
            <a:r>
              <a:t>self-paced (adjective) 自定进度的 — “It’s a self-paced course.”</a:t>
            </a:r>
          </a:p>
          <a:p>
            <a:r>
              <a:t>★ pick up (a skill) (phrasal verb) 学会 — “I picked up Python in a month.”</a:t>
            </a:r>
          </a:p>
          <a:p>
            <a:r>
              <a:t>★ brush up on (phrasal verb) 复习温习 — “I’m brushing up on my English.”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Development 发展</a:t>
            </a:r>
          </a:p>
          <a:p>
            <a:r>
              <a:t>领读 → 学员跟读 → 请学员用表达造一个和自己工作相关的句子。</a:t>
            </a:r>
          </a:p>
          <a:p>
            <a:r>
              <a:t>professional development (noun) 职业发展 — “The firm funds professional development.”</a:t>
            </a:r>
          </a:p>
          <a:p>
            <a:r>
              <a:t>certification (noun) 资格认证 — “She earned a certification.”</a:t>
            </a:r>
          </a:p>
          <a:p>
            <a:r>
              <a:t>mentor (noun) 导师 — “My mentor guides me.”</a:t>
            </a:r>
          </a:p>
          <a:p>
            <a:r>
              <a:t>★ stretch yourself (collocation) 挑战自己 — “Stretch yourself with new tasks.”</a:t>
            </a:r>
          </a:p>
          <a:p>
            <a:r>
              <a:t>★ a steep learning curve (noun) 陡峭曲线 — “Coding is a steep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upskill / gap / demand / sign / brush / certification</a:t>
            </a:r>
          </a:p>
          <a:p>
            <a:r>
              <a:t>1. We _______ our staff every year. → upskill</a:t>
            </a:r>
          </a:p>
          <a:p>
            <a:r>
              <a:t>2. We need to close the skill _______. → gap</a:t>
            </a:r>
          </a:p>
          <a:p>
            <a:r>
              <a:t>3. Data skills are in _______. → demand</a:t>
            </a:r>
          </a:p>
          <a:p>
            <a:r>
              <a:t>4. I’d like to _______ up for a course. → sign</a:t>
            </a:r>
          </a:p>
          <a:p>
            <a:r>
              <a:t>5. I’m _______ up on my English. → brushing</a:t>
            </a:r>
          </a:p>
          <a:p>
            <a:r>
              <a:t>6. She earned a _______ in project management. → certification</a:t>
            </a:r>
          </a:p>
          <a:p>
            <a:r>
              <a:t>Mistake Watch: (搭配) sign up for, brush up on, close the gap, in demand (不加 the);skill 可数,knowledge 不可数。</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your manager for training 向上司申请培训</a:t>
            </a:r>
          </a:p>
          <a:p>
            <a:r>
              <a:t>情景：You want support for a course.</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 you have a minute? I’d like to talk about my development.</a:t>
            </a:r>
          </a:p>
          <a:p>
            <a:r>
              <a:t>B: Of course. What do you have in mind?</a:t>
            </a:r>
          </a:p>
          <a:p>
            <a:r>
              <a:t>A: I’d like to sign up for a data analysis course. It would help me prepare reports faster.</a:t>
            </a:r>
          </a:p>
          <a:p>
            <a:r>
              <a:t>B: How long is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Eight weeks, self-paced, about three hours a week.</a:t>
            </a:r>
          </a:p>
          <a:p>
            <a:r>
              <a:t>B: And the cost?</a:t>
            </a:r>
          </a:p>
          <a:p>
            <a:r>
              <a:t>A: About 400 dollars. I’m happy to do it in my own time if the company covers the fee.</a:t>
            </a:r>
          </a:p>
          <a:p>
            <a:r>
              <a:t>B: That sounds reasonable. Send me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request training.</a:t>
            </a:r>
          </a:p>
          <a:p>
            <a:r>
              <a:t>Your role (A) | Employee. Course: ______________</a:t>
            </a:r>
          </a:p>
          <a:p>
            <a:r>
              <a:t>Partner’s role (B) | Manager.</a:t>
            </a:r>
          </a:p>
          <a:p>
            <a:r>
              <a:t>Must use (3 or more) | I’d like to sign up for… · It would help me to… · self-paced · cover the fee · Send me the details</a:t>
            </a:r>
          </a:p>
          <a:p>
            <a:r>
              <a:t>Goal | Explain benefits to the company, time and cost.</a:t>
            </a:r>
          </a:p>
          <a:p>
            <a:r>
              <a:t>My notes | ____________________________________________</a:t>
            </a:r>
          </a:p>
          <a:p>
            <a:r>
              <a:t>Offer to share what you learn.</a:t>
            </a:r>
          </a:p>
          <a:p>
            <a:r>
              <a:t>Handle “we have no budget”.</a:t>
            </a:r>
          </a:p>
          <a:p>
            <a:r>
              <a:t>Propose a trial first.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your learning 制定学习计划</a:t>
            </a:r>
          </a:p>
          <a:p>
            <a:r>
              <a:t>情景：You discuss a plan with a mentor.</a:t>
            </a:r>
          </a:p>
          <a:p>
            <a:r>
              <a:t>Role A: Mentor Role B: Mentee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Which skill would help you most this year?</a:t>
            </a:r>
          </a:p>
          <a:p>
            <a:r>
              <a:t>B: Presentation skills. I’m a bit nervous in front of groups.</a:t>
            </a:r>
          </a:p>
          <a:p>
            <a:r>
              <a:t>A: How could you build them?</a:t>
            </a:r>
          </a:p>
          <a:p>
            <a:r>
              <a:t>B: I could join a speaking club and volunteer to present weekly updates.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will you find the time?</a:t>
            </a:r>
          </a:p>
          <a:p>
            <a:r>
              <a:t>B: I’ll set aside twenty minutes a day to practise.</a:t>
            </a:r>
          </a:p>
          <a:p>
            <a:r>
              <a:t>A: Sounds manageable. Let’s review in three months.</a:t>
            </a:r>
          </a:p>
          <a:p>
            <a:r>
              <a:t>B: Thanks for the push.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make a learning plan.</a:t>
            </a:r>
          </a:p>
          <a:p>
            <a:r>
              <a:t>Your role (A) | Mentor.</a:t>
            </a:r>
          </a:p>
          <a:p>
            <a:r>
              <a:t>Partner’s role (B) | Mentee. Skill: ______________</a:t>
            </a:r>
          </a:p>
          <a:p>
            <a:r>
              <a:t>Must use (3 or more) | skill gap · set aside time · stretch yourself · review in three months · apply quickly</a:t>
            </a:r>
          </a:p>
          <a:p>
            <a:r>
              <a:t>Goal | Choose a skill, set a plan and agree a review date.</a:t>
            </a:r>
          </a:p>
          <a:p>
            <a:r>
              <a:t>My notes | ____________________________________________</a:t>
            </a:r>
          </a:p>
          <a:p>
            <a:r>
              <a:t>Add a measurable goal.</a:t>
            </a:r>
          </a:p>
          <a:p>
            <a:r>
              <a:t>Consider an obstacle.</a:t>
            </a:r>
          </a:p>
          <a:p>
            <a:r>
              <a:t>Get feedback from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Who is responsible for your learning? | “I think it’s mainly… but companies should…”</a:t>
            </a:r>
          </a:p>
          <a:p>
            <a:r>
              <a:t>2. What skill will be most valuable in ten years? | “I’d say… because…”</a:t>
            </a:r>
          </a:p>
          <a:p>
            <a:r>
              <a:t>3. Are online courses as good as classroom ones? | “In some ways, … but…”</a:t>
            </a:r>
          </a:p>
          <a:p>
            <a:r>
              <a:t>4. How can you apply new skills quickly? | “By… / I try to…”</a:t>
            </a:r>
          </a:p>
          <a:p>
            <a:r>
              <a:t>5. Should employers pay for training? | “In my view, they should if…”</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employers should pay if the training benefits the business directly. It’s a good investment, because trained staff are more productive and more likely to stay. However, if the course is for personal reasons, the employee should share the cost. A fair middle ground is for the company to cover the fee and the employee to give the time.”</a:t>
            </a:r>
          </a:p>
          <a:p>
            <a:r>
              <a:t>“middle ground” 折衷方案;“a good investment” 好的投资。</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and intentions 计划与意图</a:t>
            </a:r>
          </a:p>
          <a:p>
            <a:r>
              <a:t>Structure | Example</a:t>
            </a:r>
          </a:p>
          <a:p>
            <a:r>
              <a:t>I’m going to / I’m planning to | I’m planning to take a course.</a:t>
            </a:r>
          </a:p>
          <a:p>
            <a:r>
              <a:t>I’d like to / I want to | I’d like to improve my writing.</a:t>
            </a:r>
          </a:p>
          <a:p>
            <a:r>
              <a:t>It would help me to + verb | It would help me to practise daily.</a:t>
            </a:r>
          </a:p>
          <a:p>
            <a:r>
              <a:t>I’ll (spontaneous) | I’ll set aside twenty minutes.</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and intentions 计划与意图</a:t>
            </a:r>
          </a:p>
          <a:p>
            <a:r>
              <a:t>Use will for decisions made at the moment of speaking; be going to / be planning to for existing plans.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improve my English skill.  →  ✓ I want to improve my English skills.  (skills 复数)</a:t>
            </a:r>
          </a:p>
          <a:p>
            <a:r>
              <a:t>✗ I learn a new program last month.  →  ✓ I learned a new program last month.  (过去时间用过去式)</a:t>
            </a:r>
          </a:p>
          <a:p>
            <a:r>
              <a:t>✗ I’m planning to taking a course.  →  ✓ I’m planning to take a course.  (to + 动词原形)</a:t>
            </a:r>
          </a:p>
          <a:p>
            <a:r>
              <a:t>Mistake Watch: Check planning to + base, good at, and uncountable knowledge / software / training.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good in Excel.  →  ✓ I’m good at Excel.  (good at)</a:t>
            </a:r>
          </a:p>
          <a:p>
            <a:r>
              <a:t>✗ The company supports me to study.  →  ✓ The company supports me in my studies. / lets me study.  (句型)</a:t>
            </a:r>
          </a:p>
          <a:p>
            <a:r>
              <a:t>✗ I have no knowledges about it.  →  ✓ I have no knowledge of it.  (knowledge 不可数)</a:t>
            </a:r>
          </a:p>
          <a:p>
            <a:r>
              <a:t>Mistake Watch: Check planning to + base, good at, and uncountable knowledge / software / training.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Ownership of learning. Western employers expect you to drive your own development.</a:t>
            </a:r>
          </a:p>
          <a:p>
            <a:r>
              <a:t>Ask for training. Managers cannot guess; a clear request with benefits works best.</a:t>
            </a:r>
          </a:p>
          <a:p>
            <a:r>
              <a:t>Certifications matter. Especially in project management, IT and finance.</a:t>
            </a:r>
          </a:p>
          <a:p>
            <a:r>
              <a:t>Show off learning. Add courses to LinkedIn.</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skill I want to learn and my plan.</a:t>
            </a:r>
          </a:p>
          <a:p>
            <a:r>
              <a:t>I can request training from my manager.</a:t>
            </a:r>
          </a:p>
          <a:p>
            <a:r>
              <a:t>I can use upskill / reskill / skill gap correctly.</a:t>
            </a:r>
          </a:p>
          <a:p>
            <a:r>
              <a:t>I use planning to + base verb and uncountable knowledge.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Write a 3-sentence learning plan and say it aloud.</a:t>
            </a:r>
          </a:p>
          <a:p>
            <a:r>
              <a:t>8–10 | Listen to your recording. Check: planning to, knowledge uncountable, good at.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44 · Failing up 从失败中崛起</a:t>
            </a:r>
          </a:p>
          <a:p>
            <a:r>
              <a:t>Goal: talk about failure, setbacks and recovery, and use the idea of “failing up” and “failing forward” carefully.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 “failing up” 有两个含义:(1)贬义:犯错反而被提拔;(2)也常被用来说”从失败中获益向上走”(failing forward)。本课两种含义都讲。</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a setback and what you learned from it.</a:t>
            </a:r>
          </a:p>
          <a:p>
            <a:r>
              <a:t>Say: what happened → how you felt → what you did → what you learned.</a:t>
            </a:r>
          </a:p>
          <a:p>
            <a:r>
              <a:t>Useful starters: “It didn’t go as planned…” / “At the time, I felt…” / “What I learned was…” / “Looking back, it made me…”</a:t>
            </a:r>
          </a:p>
          <a:p>
            <a:r>
              <a:t>“go as planned” 按计划进行;“Looking back” 回头看。</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phrase “failing up” has two meanings. In its negative sense, it describes someone who makes serious mistakes but still gets promoted, often because they are well connected or good at presenting themselves. Many employees find this unfair, because the cost of failure falls on others. In its positive sense, it means using failure as a step towards growth. Some companies encourage this by running “failure reviews” in which teams discuss what went wrong without blame. People who talk openly about mistakes tend to learn faster and are trusted more. The difference lies in accountability. If you own your mistake, explain what you learned and change your behaviour, failure can build your reputation. If you hide it or blame others, it will damage it.</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negative meaning of “failing up”?</a:t>
            </a:r>
          </a:p>
          <a:p>
            <a:r>
              <a:t>A: Someone makes serious mistakes but is still promoted.</a:t>
            </a:r>
          </a:p>
          <a:p>
            <a:r>
              <a:t>Q2. What is a “failure review”?</a:t>
            </a:r>
          </a:p>
          <a:p>
            <a:r>
              <a:t>A: A meeting where teams discuss what went wrong without blame.</a:t>
            </a:r>
          </a:p>
          <a:p>
            <a:r>
              <a:t>Q3. What makes failure useful?</a:t>
            </a:r>
          </a:p>
          <a:p>
            <a:r>
              <a:t>A: Accountability: owning the mistake, learning and changing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Failure 失败</a:t>
            </a:r>
          </a:p>
          <a:p>
            <a:r>
              <a:t>领读 → 学员跟读 → 请学员用表达造一个和自己工作相关的句子。</a:t>
            </a:r>
          </a:p>
          <a:p>
            <a:r>
              <a:t>setback (noun) 挫折 — “He suffered a setback.”</a:t>
            </a:r>
          </a:p>
          <a:p>
            <a:r>
              <a:t>learn from your mistakes (collocation) 从错误中学习 — “We learn from our mistakes.”</a:t>
            </a:r>
          </a:p>
          <a:p>
            <a:r>
              <a:t>bounce back (phrasal verb) 恢复过来 — “She bounced back quickly.”</a:t>
            </a:r>
          </a:p>
          <a:p>
            <a:r>
              <a:t>★ fail forward (collocation) 从失败中前进 — “Great teams fail forward.”</a:t>
            </a:r>
          </a:p>
          <a:p>
            <a:r>
              <a:t>★ fall flat (idiom) 失败/没效果 — “The launch fell flat.”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Accountability 担责</a:t>
            </a:r>
          </a:p>
          <a:p>
            <a:r>
              <a:t>领读 → 学员跟读 → 请学员用表达造一个和自己工作相关的句子。</a:t>
            </a:r>
          </a:p>
          <a:p>
            <a:r>
              <a:t>take responsibility for (collocation) 为…负责 — “I take responsibility for the error.”</a:t>
            </a:r>
          </a:p>
          <a:p>
            <a:r>
              <a:t>own up to (phrasal verb) 坦白承认 — “He owned up to his mistake.”</a:t>
            </a:r>
          </a:p>
          <a:p>
            <a:r>
              <a:t>blame-free (adjective) 不追究责任的 — “We have a blame-free culture.”</a:t>
            </a:r>
          </a:p>
          <a:p>
            <a:r>
              <a:t>★ pass the buck (idiom) 推卸责任 — “Don’t pass the buck.”</a:t>
            </a:r>
          </a:p>
          <a:p>
            <a:r>
              <a:t>★ fall guy (noun) 替罪羊 — “He became the fall guy.”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Recovery 恢复</a:t>
            </a:r>
          </a:p>
          <a:p>
            <a:r>
              <a:t>领读 → 学员跟读 → 请学员用表达造一个和自己工作相关的句子。</a:t>
            </a:r>
          </a:p>
          <a:p>
            <a:r>
              <a:t>lessons learned (noun) 经验教训 — “We wrote up the lessons learned.”</a:t>
            </a:r>
          </a:p>
          <a:p>
            <a:r>
              <a:t>move on (phrasal verb) 翻篇 — “It’s time to move on.”</a:t>
            </a:r>
          </a:p>
          <a:p>
            <a:r>
              <a:t>rebuild trust (collocation) 重建信任 — “It takes time to rebuild trust.”</a:t>
            </a:r>
          </a:p>
          <a:p>
            <a:r>
              <a:t>★ turn (something) around (phrasal verb) 扭转局面 — “She turned the project around.”</a:t>
            </a:r>
          </a:p>
          <a:p>
            <a:r>
              <a:t>★ silver lining (idiom) 一线希望 — “There’s a silver lining to every failure.”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setback / bounce / responsibility / own / lessons / trust</a:t>
            </a:r>
          </a:p>
          <a:p>
            <a:r>
              <a:t>1. He suffered a major _______ last year. → setback</a:t>
            </a:r>
          </a:p>
          <a:p>
            <a:r>
              <a:t>2. She _______ back quickly after the failure. → bounced</a:t>
            </a:r>
          </a:p>
          <a:p>
            <a:r>
              <a:t>3. I take _______ for the error. → responsibility</a:t>
            </a:r>
          </a:p>
          <a:p>
            <a:r>
              <a:t>4. He _______ up to his mistake. → owned</a:t>
            </a:r>
          </a:p>
          <a:p>
            <a:r>
              <a:t>5. We wrote up the _______ learned. → lessons</a:t>
            </a:r>
          </a:p>
          <a:p>
            <a:r>
              <a:t>6. It takes time to rebuild _______. → trust</a:t>
            </a:r>
          </a:p>
          <a:p>
            <a:r>
              <a:t>Mistake Watch: (搭配) take responsibility FOR, own up TO, learn FROM;lessons learned 复数。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Owning a mistake 承认错误</a:t>
            </a:r>
          </a:p>
          <a:p>
            <a:r>
              <a:t>情景：You tell your manager about a failure.</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need to tell you about the client launch. It didn’t go as planned.</a:t>
            </a:r>
          </a:p>
          <a:p>
            <a:r>
              <a:t>B: What happened?</a:t>
            </a:r>
          </a:p>
          <a:p>
            <a:r>
              <a:t>A: I sent the wrong version of the file. I take full responsibility.</a:t>
            </a:r>
          </a:p>
          <a:p>
            <a:r>
              <a:t>B: How did the client react?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They were upset, but I’ve apologised and sent the right file.</a:t>
            </a:r>
          </a:p>
          <a:p>
            <a:r>
              <a:t>B: What have you learned?</a:t>
            </a:r>
          </a:p>
          <a:p>
            <a:r>
              <a:t>A: I now double-check every attachment, and we’ve added a review step.</a:t>
            </a:r>
          </a:p>
          <a:p>
            <a:r>
              <a:t>B: Thank you for being honest. Let’s rebuild trust with a quick call.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own a mistake.</a:t>
            </a:r>
          </a:p>
          <a:p>
            <a:r>
              <a:t>Your role (A) | Employee. Mistake: ______________</a:t>
            </a:r>
          </a:p>
          <a:p>
            <a:r>
              <a:t>Partner’s role (B) | Manager.</a:t>
            </a:r>
          </a:p>
          <a:p>
            <a:r>
              <a:t>Must use (3 or more) | didn’t go as planned · take responsibility · lessons learned · double-check · rebuild trust</a:t>
            </a:r>
          </a:p>
          <a:p>
            <a:r>
              <a:t>Goal | State what happened, own it, say what you did and learned.</a:t>
            </a:r>
          </a:p>
          <a:p>
            <a:r>
              <a:t>My notes | ____________________________________________</a:t>
            </a:r>
          </a:p>
          <a:p>
            <a:r>
              <a:t>Don’t make excuses.</a:t>
            </a:r>
          </a:p>
          <a:p>
            <a:r>
              <a:t>Offer a prevention plan.</a:t>
            </a:r>
          </a:p>
          <a:p>
            <a:r>
              <a:t>Ask for feedback.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failure review 失败复盘</a:t>
            </a:r>
          </a:p>
          <a:p>
            <a:r>
              <a:t>情景：A team meets after a failed project.</a:t>
            </a:r>
          </a:p>
          <a:p>
            <a:r>
              <a:t>Role A: Facilitator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Let’s look at what went wrong, without blame.</a:t>
            </a:r>
          </a:p>
          <a:p>
            <a:r>
              <a:t>B: We underestimated the timeline, and some of our ideas fell flat.</a:t>
            </a:r>
          </a:p>
          <a:p>
            <a:r>
              <a:t>A: What would you do differently?</a:t>
            </a:r>
          </a:p>
          <a:p>
            <a:r>
              <a:t>B: I’d test earlier and ask the client more questions.</a:t>
            </a:r>
          </a:p>
          <a:p>
            <a:r>
              <a:t>A: Is there a silver lining?</a:t>
            </a:r>
          </a:p>
          <a:p>
            <a:r>
              <a:t>B: We know the product better now, so we can fail forward next time.</a:t>
            </a:r>
          </a:p>
          <a:p>
            <a:r>
              <a:t>A: Let’s write up the lessons learned.</a:t>
            </a:r>
          </a:p>
          <a:p>
            <a:r>
              <a:t>B: I’ll draft them by Friday.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run a blame-free review.</a:t>
            </a:r>
          </a:p>
          <a:p>
            <a:r>
              <a:t>Your role (A) | Facilitator.</a:t>
            </a:r>
          </a:p>
          <a:p>
            <a:r>
              <a:t>Partner’s role (B) | Team member. Project: ______________</a:t>
            </a:r>
          </a:p>
          <a:p>
            <a:r>
              <a:t>Must use (3 or more) | what went wrong · without blame · differently · lessons learned · fail forward</a:t>
            </a:r>
          </a:p>
          <a:p>
            <a:r>
              <a:t>Goal | Review honestly and record three lessons.</a:t>
            </a:r>
          </a:p>
          <a:p>
            <a:r>
              <a:t>My notes | ____________________________________________</a:t>
            </a:r>
          </a:p>
          <a:p>
            <a:r>
              <a:t>Ask a question that avoids blame.</a:t>
            </a:r>
          </a:p>
          <a:p>
            <a:r>
              <a:t>Handle someone who becomes defensive.</a:t>
            </a:r>
          </a:p>
          <a:p>
            <a:r>
              <a:t>Share the lessons with others.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failure always a good teacher? | “Only if…”</a:t>
            </a:r>
          </a:p>
          <a:p>
            <a:r>
              <a:t>2. Should failure be punished? | “Not if…”</a:t>
            </a:r>
          </a:p>
          <a:p>
            <a:r>
              <a:t>3. Have you seen someone “fail up”? | “I’ve seen… and it was…”</a:t>
            </a:r>
          </a:p>
          <a:p>
            <a:r>
              <a:t>4. How can leaders create a safe place to fail? | “By… / They could…”</a:t>
            </a:r>
          </a:p>
          <a:p>
            <a:r>
              <a:t>5. What is the best way to bounce back? | “First, … then…”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“I’ve seen someone get promoted after a serious mistake, mostly because they were friendly with senior people. It was demotivating for the rest of us. I think failure should be treated honestly: learning from it is good, but accountability matters as well. Otherwise, people feel the system is unfair.”</a:t>
            </a:r>
          </a:p>
          <a:p>
            <a:r>
              <a:t>“demotivating” 打击积极性的;“Otherwise” 否则。</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events and reflection 过去事件与反思</a:t>
            </a:r>
          </a:p>
          <a:p>
            <a:r>
              <a:t>Structure | Example</a:t>
            </a:r>
          </a:p>
          <a:p>
            <a:r>
              <a:t>Past simple | The launch failed.</a:t>
            </a:r>
          </a:p>
          <a:p>
            <a:r>
              <a:t>Past perfect (earlier event) | We had underestimated the time.</a:t>
            </a:r>
          </a:p>
          <a:p>
            <a:r>
              <a:t>I should have + p.p. | I should have asked earlier.</a:t>
            </a:r>
          </a:p>
          <a:p>
            <a:r>
              <a:t>If I had…, I would have… | If I had tested, I’d have found the bug.</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events and reflection 过去事件与反思</a:t>
            </a:r>
          </a:p>
          <a:p>
            <a:r>
              <a:t>Past perfect shows an event before another past event: The client was upset because we had sent the wrong file.</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responsible of the mistake.  →  ✓ I am responsible for the mistake.  (responsible for)</a:t>
            </a:r>
          </a:p>
          <a:p>
            <a:r>
              <a:t>✗ I should have ask him earlier.  →  ✓ I should have asked him earlier.  (should have + 过去分词)</a:t>
            </a:r>
          </a:p>
          <a:p>
            <a:r>
              <a:t>✗ I learned a lot of my mistake.  →  ✓ I learned a lot from my mistake.  (learn from)</a:t>
            </a:r>
          </a:p>
          <a:p>
            <a:r>
              <a:t>Mistake Watch: Check responsible for, blame sb for, should/must have + past participle.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failed the last project.  →  ✓ We failed the last project.  (过去式)</a:t>
            </a:r>
          </a:p>
          <a:p>
            <a:r>
              <a:t>✗ He blamed it to me.  →  ✓ He blamed me for it.  (blame sb for)</a:t>
            </a:r>
          </a:p>
          <a:p>
            <a:r>
              <a:t>✗ I must have do it wrong.  →  ✓ I must have done it wrong.  (must have + p.p.)</a:t>
            </a:r>
          </a:p>
          <a:p>
            <a:r>
              <a:t>Mistake Watch: Check responsible for, blame sb for, should/must have + past participle.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Own mistakes quickly. Telling your manager first earns trust.</a:t>
            </a:r>
          </a:p>
          <a:p>
            <a:r>
              <a:t>Avoid excuses. Explain facts, then say what you will do.</a:t>
            </a:r>
          </a:p>
          <a:p>
            <a:r>
              <a:t>“Fail fast” culture. Silicon Valley celebrates quick, small failures.</a:t>
            </a:r>
          </a:p>
          <a:p>
            <a:r>
              <a:t>Don’t blame others. Even if true, blame damages relationships.</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setback and what I learned.</a:t>
            </a:r>
          </a:p>
          <a:p>
            <a:r>
              <a:t>I can own a mistake professionally.</a:t>
            </a:r>
          </a:p>
          <a:p>
            <a:r>
              <a:t>I understand both meanings of failing up.</a:t>
            </a:r>
          </a:p>
          <a:p>
            <a:r>
              <a:t>I use should/must have + past participle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a 90-second story of a failure and its lessons.</a:t>
            </a:r>
          </a:p>
          <a:p>
            <a:r>
              <a:t>8–10 | Listen to your recording. Check: responsible for, blame for, should have + p.p., past perfect.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45 · Changing careers 转换职业</a:t>
            </a:r>
          </a:p>
          <a:p>
            <a:r>
              <a:t>Goal: talk about changing careers, transferable skills, and explain your reasons in interviews and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“transferable skills” = 可迁移技能。第 2 题 “would be” 假设。</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someone might change careers and how to do it.</a:t>
            </a:r>
          </a:p>
          <a:p>
            <a:r>
              <a:t>Say: the reason → the risk → the preparation → the first step.</a:t>
            </a:r>
          </a:p>
          <a:p>
            <a:r>
              <a:t>Useful starters: “A key reason is…” / “The biggest risk is…” / “Before making the move, I’d…” / “The first step is to…”</a:t>
            </a:r>
          </a:p>
          <a:p>
            <a:r>
              <a:t>“make the move” = 迈出这一步;“A key reason 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people consider changing careers, they often feel they will be starting from zero. In fact, most have many transferable skills: communication, project management, problem-solving or customer care. A teacher moving into training, for example, already knows how to explain ideas and manage a room. The practical steps are straightforward. First, identify the skills that carry over. Second, speak to people already in the new field to learn what the work is really like. Third, test the idea cheaply, perhaps through a short course, volunteering or a side project. Finally, prepare for a possible drop in salary at the start, and plan your finances accordingly. A career change takes time, but small experiments reduce risk and build confidence, and each one teaches you something about whether the new field is really right for you.</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“starting from zero” not true?</a:t>
            </a:r>
          </a:p>
          <a:p>
            <a:r>
              <a:t>A: People have transferable skills like communication and project management.</a:t>
            </a:r>
          </a:p>
          <a:p>
            <a:r>
              <a:t>Q2. Why speak to people in the new field?</a:t>
            </a:r>
          </a:p>
          <a:p>
            <a:r>
              <a:t>A: To learn what the work is really like.</a:t>
            </a:r>
          </a:p>
          <a:p>
            <a:r>
              <a:t>Q3. How can you test the idea cheaply?</a:t>
            </a:r>
          </a:p>
          <a:p>
            <a:r>
              <a:t>A: Through a short course, volunteering or a side project.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Change 转变</a:t>
            </a:r>
          </a:p>
          <a:p>
            <a:r>
              <a:t>领读 → 学员跟读 → 请学员用表达造一个和自己工作相关的句子。</a:t>
            </a:r>
          </a:p>
          <a:p>
            <a:r>
              <a:t>switch careers / change fields (collocation) 转行 — “She switched careers at 38.”</a:t>
            </a:r>
          </a:p>
          <a:p>
            <a:r>
              <a:t>career change (noun) 职业转变 — “A career change is a big step.”</a:t>
            </a:r>
          </a:p>
          <a:p>
            <a:r>
              <a:t>transferable skills (noun) 可迁移技能 — “Teaching builds transferable skills.”</a:t>
            </a:r>
          </a:p>
          <a:p>
            <a:r>
              <a:t>★ take the plunge (idiom) 下定决心 — “I finally took the plunge.”</a:t>
            </a:r>
          </a:p>
          <a:p>
            <a:r>
              <a:t>★ pivot (verb) 转向 — “He pivoted from sales to product.”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Reasons 原因</a:t>
            </a:r>
          </a:p>
          <a:p>
            <a:r>
              <a:t>领读 → 学员跟读 → 请学员用表达造一个和自己工作相关的句子。</a:t>
            </a:r>
          </a:p>
          <a:p>
            <a:r>
              <a:t>burnout (noun) 倦怠 — “Burnout made her leave.”</a:t>
            </a:r>
          </a:p>
          <a:p>
            <a:r>
              <a:t>feel unfulfilled (collocation) 不满足 — “I felt unfulfilled.”</a:t>
            </a:r>
          </a:p>
          <a:p>
            <a:r>
              <a:t>outgrow (verb) 超越(现职) — “I outgrew my job.”</a:t>
            </a:r>
          </a:p>
          <a:p>
            <a:r>
              <a:t>★ at a crossroads (idiom) 面临抉择 — “I’m at a career crossroads.”</a:t>
            </a:r>
          </a:p>
          <a:p>
            <a:r>
              <a:t>★ a leap of faith (idiom) 冒险一试 — “It was a leap of faith.”</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Making it work 让转变成功</a:t>
            </a:r>
          </a:p>
          <a:p>
            <a:r>
              <a:t>领读 → 学员跟读 → 请学员用表达造一个和自己工作相关的句子。</a:t>
            </a:r>
          </a:p>
          <a:p>
            <a:r>
              <a:t>retrain (verb) 再培训 — “She retrained as a nurse.”</a:t>
            </a:r>
          </a:p>
          <a:p>
            <a:r>
              <a:t>take a pay cut (collocation) 降薪 — “I took a pay cut to switch.”</a:t>
            </a:r>
          </a:p>
          <a:p>
            <a:r>
              <a:t>start from scratch (idiom) 从头开始 — “I had to start from scratch.”</a:t>
            </a:r>
          </a:p>
          <a:p>
            <a:r>
              <a:t>★ test the water (idiom) 先试探 — “Test the water with a part-time role.”</a:t>
            </a:r>
          </a:p>
          <a:p>
            <a:r>
              <a:t>★ build a bridge (collocation) 搭建过渡 — “Build a bridge with freelance work.”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switched / transferable / plunge / crossroads / retrain / scratch</a:t>
            </a:r>
          </a:p>
          <a:p>
            <a:r>
              <a:t>1. She _______ careers at 38. → switched</a:t>
            </a:r>
          </a:p>
          <a:p>
            <a:r>
              <a:t>2. Teaching builds _______ skills. → transferable</a:t>
            </a:r>
          </a:p>
          <a:p>
            <a:r>
              <a:t>3. I finally took the _______. → plunge</a:t>
            </a:r>
          </a:p>
          <a:p>
            <a:r>
              <a:t>4. I’m at a career _______. → crossroads</a:t>
            </a:r>
          </a:p>
          <a:p>
            <a:r>
              <a:t>5. She decided to _______ as a nurse. → retrain</a:t>
            </a:r>
          </a:p>
          <a:p>
            <a:r>
              <a:t>6. He had to start from _______. → scratch</a:t>
            </a:r>
          </a:p>
          <a:p>
            <a:r>
              <a:t>Mistake Watch: (搭配) switch careers, change jobs, make a career change;take a pay cut (不是 do)。</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career change in an interview 面试中解释转行</a:t>
            </a:r>
          </a:p>
          <a:p>
            <a:r>
              <a:t>情景：You moved from teaching to training.</a:t>
            </a:r>
          </a:p>
          <a:p>
            <a:r>
              <a:t>Role A: Interviewer Role B: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did you leave teaching?</a:t>
            </a:r>
          </a:p>
          <a:p>
            <a:r>
              <a:t>B: I enjoyed it, but I outgrew it. I wanted to work with adults on business skills.</a:t>
            </a:r>
          </a:p>
          <a:p>
            <a:r>
              <a:t>A: What transferable skills do you bring?</a:t>
            </a:r>
          </a:p>
          <a:p>
            <a:r>
              <a:t>B: Communication, planning and managing groups. I’ve also completed a training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Wasn’t it a risk to take a pay cut?</a:t>
            </a:r>
          </a:p>
          <a:p>
            <a:r>
              <a:t>B: It was, but I saw it as a leap of faith. I tested the water with part-time workshops first.</a:t>
            </a:r>
          </a:p>
          <a:p>
            <a:r>
              <a:t>A: How did that go?</a:t>
            </a:r>
          </a:p>
          <a:p>
            <a:r>
              <a:t>B: Very well. That convinced me to take the plunge.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explain a career change.</a:t>
            </a:r>
          </a:p>
          <a:p>
            <a:r>
              <a:t>Your role (A) | Interviewer.</a:t>
            </a:r>
          </a:p>
          <a:p>
            <a:r>
              <a:t>Partner’s role (B) | Candidate. Old role → new role: ______________</a:t>
            </a:r>
          </a:p>
          <a:p>
            <a:r>
              <a:t>Must use (3 or more) | transferable skills · outgrew · took the plunge · tested the water · pay cut</a:t>
            </a:r>
          </a:p>
          <a:p>
            <a:r>
              <a:t>Goal | Explain why, what you bring and how you prepared.</a:t>
            </a:r>
          </a:p>
          <a:p>
            <a:r>
              <a:t>My notes | ____________________________________________</a:t>
            </a:r>
          </a:p>
          <a:p>
            <a:r>
              <a:t>Answer “What if you change your mind?”</a:t>
            </a:r>
          </a:p>
          <a:p>
            <a:r>
              <a:t>Show passion without criticising the old job.</a:t>
            </a:r>
          </a:p>
          <a:p>
            <a:r>
              <a:t>Add a concrete achievement.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Advice to a friend 给朋友建议</a:t>
            </a:r>
          </a:p>
          <a:p>
            <a:r>
              <a:t>情景：A friend is thinking about switching fields.</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at a crossroads. I’m thinking of leaving finance to join a tech start-up.</a:t>
            </a:r>
          </a:p>
          <a:p>
            <a:r>
              <a:t>B: That’s a big step. What attracts you to it?</a:t>
            </a:r>
          </a:p>
          <a:p>
            <a:r>
              <a:t>A: I feel unfulfilled at the bank, and I like building things.</a:t>
            </a:r>
          </a:p>
          <a:p>
            <a:r>
              <a:t>B: Have you tested the water, for example with a side project?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Not yet.</a:t>
            </a:r>
          </a:p>
          <a:p>
            <a:r>
              <a:t>B: I’d start there. Build a bridge before you leave.</a:t>
            </a:r>
          </a:p>
          <a:p>
            <a:r>
              <a:t>A: And the money?</a:t>
            </a:r>
          </a:p>
          <a:p>
            <a:r>
              <a:t>B: Be ready for a pay cut at the start. Do the maths first.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advise on a career change.</a:t>
            </a:r>
          </a:p>
          <a:p>
            <a:r>
              <a:t>Your role (A) | Friend at a crossroads.</a:t>
            </a:r>
          </a:p>
          <a:p>
            <a:r>
              <a:t>Partner’s role (B) | Adviser. Change: ______________</a:t>
            </a:r>
          </a:p>
          <a:p>
            <a:r>
              <a:t>Must use (3 or more) | at a crossroads · test the water · build a bridge · pay cut · start from scratch</a:t>
            </a:r>
          </a:p>
          <a:p>
            <a:r>
              <a:t>Goal | Ask questions and suggest a low-risk first step.</a:t>
            </a:r>
          </a:p>
          <a:p>
            <a:r>
              <a:t>My notes | ____________________________________________</a:t>
            </a:r>
          </a:p>
          <a:p>
            <a:r>
              <a:t>Discuss family responsibilities.</a:t>
            </a:r>
          </a:p>
          <a:p>
            <a:r>
              <a:t>Suggest talking to someone in the field.</a:t>
            </a:r>
          </a:p>
          <a:p>
            <a:r>
              <a:t>Set a three-month review.</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At what age is it too late to switch careers? | “I don’t think there is… because…”</a:t>
            </a:r>
          </a:p>
          <a:p>
            <a:r>
              <a:t>2. What are the biggest risks of changing careers? | “The main risk is…”</a:t>
            </a:r>
          </a:p>
          <a:p>
            <a:r>
              <a:t>3. Which of your skills could move to another field? | “I could use my… in…”</a:t>
            </a:r>
          </a:p>
          <a:p>
            <a:r>
              <a:t>4. Should companies hire career-changers? | “Yes, because they bring…”</a:t>
            </a:r>
          </a:p>
          <a:p>
            <a:r>
              <a:t>5. What would you change to if you could start again? | “I’d probably…”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think companies should hire career-changers. They bring fresh perspectives and often have strong motivation because they chose the new field. They may need some training, but they also bring transferable skills and life experience. Hiring only people with a traditional background can limit creativity.”</a:t>
            </a:r>
          </a:p>
          <a:p>
            <a:r>
              <a:t>“fresh perspectives” 新视角;“traditional background” 传统背景。</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reasons and talking about change 原因与变化</a:t>
            </a:r>
          </a:p>
          <a:p>
            <a:r>
              <a:t>Structure | Example</a:t>
            </a:r>
          </a:p>
          <a:p>
            <a:r>
              <a:t>because / since / as | I left because I felt unfulfilled.</a:t>
            </a:r>
          </a:p>
          <a:p>
            <a:r>
              <a:t>so / that’s why | I felt stuck, so I retrained.</a:t>
            </a:r>
          </a:p>
          <a:p>
            <a:r>
              <a:t>used to / now | I used to teach. Now I train adults.</a:t>
            </a:r>
          </a:p>
          <a:p>
            <a:r>
              <a:t>have become | I’ve become more confident.</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reasons and talking about change 原因与变化</a:t>
            </a:r>
          </a:p>
          <a:p>
            <a:r>
              <a:t>Used to + verb for past states that are no longer true; have become for change up to now.</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changed my career to marketing.  →  ✓ I switched to a career in marketing. / I changed careers.  (搭配)</a:t>
            </a:r>
          </a:p>
          <a:p>
            <a:r>
              <a:t>✗ I used to teaching.  →  ✓ I used to teach.  (used to + 动词原形)</a:t>
            </a:r>
          </a:p>
          <a:p>
            <a:r>
              <a:t>✗ I’m used to teach.  →  ✓ I’m used to teaching.  (be used to + -ing)</a:t>
            </a:r>
          </a:p>
          <a:p>
            <a:r>
              <a:t>Mistake Watch: Check used to / be used to, adapt (no reflexive), afraid of + -ing, experience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need to adapt myself to the new job.  →  ✓ I need to adapt to the new job.  (adapt 不加 myself)</a:t>
            </a:r>
          </a:p>
          <a:p>
            <a:r>
              <a:t>✗ I’m afraid of to fail.  →  ✓ I’m afraid of failing.  (of + -ing)</a:t>
            </a:r>
          </a:p>
          <a:p>
            <a:r>
              <a:t>✗ I have no experiences in tech.  →  ✓ I have no experience in tech.  (experience 不可数)</a:t>
            </a:r>
          </a:p>
          <a:p>
            <a:r>
              <a:t>Mistake Watch: Check used to / be used to, adapt (no reflexive), afraid of + -ing, experience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Career changes are common. Many people change fields 3–5 times.</a:t>
            </a:r>
          </a:p>
          <a:p>
            <a:r>
              <a:t>Tell a positive story. “I’m moving towards…” rather than “I’m escaping…”.</a:t>
            </a:r>
          </a:p>
          <a:p>
            <a:r>
              <a:t>Volunteer or freelance first. It’s the usual way to gain experience.</a:t>
            </a:r>
          </a:p>
          <a:p>
            <a:r>
              <a:t>Network. Informational interviews are common (“May I ask you a few questions about your work?”).</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 career change with outgrew / took the plunge.</a:t>
            </a:r>
          </a:p>
          <a:p>
            <a:r>
              <a:t>I can list my transferable skills.</a:t>
            </a:r>
          </a:p>
          <a:p>
            <a:r>
              <a:t>I can advise a friend with test the water / build a bridge.</a:t>
            </a:r>
          </a:p>
          <a:p>
            <a:r>
              <a:t>I use used to / be used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Answer: “Why do you want to change careers?” in 60 seconds.</a:t>
            </a:r>
          </a:p>
          <a:p>
            <a:r>
              <a:t>8–10 | Listen to your recording. Check: used to, afraid of -ing, experience uncountable.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“邀功” in English? → take credit for</a:t>
            </a:r>
          </a:p>
          <a:p>
            <a:r>
              <a:t>“保持技能更新” in English? → keep (your skills) up to date</a:t>
            </a:r>
          </a:p>
          <a:p>
            <a:r>
              <a:t>“提高标准” in English? → raise the bar</a:t>
            </a:r>
          </a:p>
          <a:p>
            <a:r>
              <a:t>Fix it: I’m planning to taking a course. → I’m planning to take a course.</a:t>
            </a:r>
          </a:p>
          <a:p>
            <a:r>
              <a:t>Fix it: I’m afraid of to fail. → I’m afraid of failing.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 Id="rId5" Type="http://schemas.openxmlformats.org/officeDocument/2006/relationships/slide" Target="slide57.xml"/><Relationship Id="rId6" Type="http://schemas.openxmlformats.org/officeDocument/2006/relationships/slide" Target="slide8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 Id="rId4" Type="http://schemas.openxmlformats.org/officeDocument/2006/relationships/slide" Target="slide111.xml"/><Relationship Id="rId5" Type="http://schemas.openxmlformats.org/officeDocument/2006/relationships/slide" Target="slide112.xml"/><Relationship Id="rId6" Type="http://schemas.openxmlformats.org/officeDocument/2006/relationships/slide" Target="slide113.xml"/><Relationship Id="rId7" Type="http://schemas.openxmlformats.org/officeDocument/2006/relationships/slide" Target="slide114.xml"/><Relationship Id="rId8" Type="http://schemas.openxmlformats.org/officeDocument/2006/relationships/slide" Target="slide115.xml"/><Relationship Id="rId9" Type="http://schemas.openxmlformats.org/officeDocument/2006/relationships/slide" Target="slide116.xml"/><Relationship Id="rId10" Type="http://schemas.openxmlformats.org/officeDocument/2006/relationships/slide" Target="slide117.xml"/><Relationship Id="rId11" Type="http://schemas.openxmlformats.org/officeDocument/2006/relationships/slide" Target="slide118.xml"/><Relationship Id="rId12" Type="http://schemas.openxmlformats.org/officeDocument/2006/relationships/slide" Target="slide11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9</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Career Development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L42 Competition · L43 Upskilling · L44 Failing up · L45 Changing careers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42</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Competition</a:t>
            </a:r>
          </a:p>
          <a:p>
            <a:pPr algn="l">
              <a:lnSpc>
                <a:spcPct val="100000"/>
              </a:lnSpc>
              <a:spcAft>
                <a:spcPts val="800"/>
              </a:spcAft>
            </a:pPr>
            <a:r>
              <a:rPr sz="1400" b="0">
                <a:solidFill>
                  <a:srgbClr val="5F677A"/>
                </a:solidFill>
                <a:latin typeface="Arial"/>
                <a:ea typeface="Microsoft YaHei"/>
              </a:rPr>
              <a:t>竞争</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43</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Upskilling</a:t>
            </a:r>
          </a:p>
          <a:p>
            <a:pPr algn="l">
              <a:lnSpc>
                <a:spcPct val="100000"/>
              </a:lnSpc>
              <a:spcAft>
                <a:spcPts val="800"/>
              </a:spcAft>
            </a:pPr>
            <a:r>
              <a:rPr sz="1400" b="0">
                <a:solidFill>
                  <a:srgbClr val="5F677A"/>
                </a:solidFill>
                <a:latin typeface="Arial"/>
                <a:ea typeface="Microsoft YaHei"/>
              </a:rPr>
              <a:t>提升技能</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44</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Failing up</a:t>
            </a:r>
          </a:p>
          <a:p>
            <a:pPr algn="l">
              <a:lnSpc>
                <a:spcPct val="100000"/>
              </a:lnSpc>
              <a:spcAft>
                <a:spcPts val="800"/>
              </a:spcAft>
            </a:pPr>
            <a:r>
              <a:rPr sz="1400" b="0">
                <a:solidFill>
                  <a:srgbClr val="5F677A"/>
                </a:solidFill>
                <a:latin typeface="Arial"/>
                <a:ea typeface="Microsoft YaHei"/>
              </a:rPr>
              <a:t>从失败中崛起</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45</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Changing careers</a:t>
            </a:r>
          </a:p>
          <a:p>
            <a:pPr algn="l">
              <a:lnSpc>
                <a:spcPct val="100000"/>
              </a:lnSpc>
              <a:spcAft>
                <a:spcPts val="800"/>
              </a:spcAft>
            </a:pPr>
            <a:r>
              <a:rPr sz="1400" b="0">
                <a:solidFill>
                  <a:srgbClr val="5F677A"/>
                </a:solidFill>
                <a:latin typeface="Arial"/>
                <a:ea typeface="Microsoft YaHei"/>
              </a:rPr>
              <a:t>转换职业</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 · Lesson 42 Competition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Competition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竞争</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healthy and unhealthy competition at work and in the job market, and explain how to stand out.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you a competitive person?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competition at work good or bad for a team?</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stand out in a crowded job market?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competed with a colleague for a promotion?</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stay calm when competition is tough?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 本课原图描述与第 32 课重复,按标题 “Competition/竞争” 编写:职场与求职竞争。“competitive” 既可褒也可贬。</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competition in your industry or workplace.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situation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pressure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respond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market is very competitive, so…   💬 To stand out, I…   💬 On the plus side, competition… / On the downside,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“stand out” = 脱颖而出;“on the plus side / downside” = 优点/缺点方面。</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Compete without hurting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Competition can push people to do better work, but it can also damage trust. In a healthy competitive culture, colleagues compare results openly, celebrate wins and learn from the best performers. In an unhealthy one, people hide information, take credit for others’ ideas and see a colleague’s success as their own loss. Managers influence which type grows. They can reward shared goals as well as individual targets, and they can praise help given to others. For individuals, the best strategy is usually to compete with your own past performance rather than only with colleagues. Ask what you can do better than last quarter. This keeps you motivated without making enemies. In the job market, standing out comes from clear achievements, not just the longest list of duties.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happens in an unhealthy competitive culture?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hide information, take credit and see others’ success as their loss.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managers support healthy competition?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Reward shared goals and praise helping others.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suggest for individuals?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Compete with your own past performance.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Competition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competitive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竞争激烈的/好胜的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competitive market.”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rival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main rival cut prices.”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stand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脱颖而出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can you stand out?”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cutthroat</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残酷的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“Banking can be cutthroat.”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edge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“Languages give you an edge.”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At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职场竞争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compete for</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争夺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“Three of us compete for one promotion.”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ahead</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取得进步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wants to get ahead.”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keep up with</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keep up with trends.”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rat race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激烈的生存竞争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left the rat race.”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credit for</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邀功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take credit for others’ work.”</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Healthy competition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良性竞争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friendly competition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友好竞赛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friendly competition.”</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benchmark yourself against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以…为基准</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“Benchmark yourself against the best.”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collaborate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合作</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collaborate across teams.”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raise the bar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提高标准</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raised the bar for everyone.”</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the playing field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“Rules level the playing field.”</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残酷的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cutthroat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提高标准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the bar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脱颖而出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合作</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collaborate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对手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rival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激烈的生存竞争</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rat race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优势</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edge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公平竞争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the playing field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competitive</a:t>
            </a:r>
          </a:p>
        </p:txBody>
      </p:sp>
      <p:sp>
        <p:nvSpPr>
          <p:cNvPr id="10" name="Rounded Rectangle 9"/>
          <p:cNvSpPr/>
          <p:nvPr/>
        </p:nvSpPr>
        <p:spPr>
          <a:xfrm>
            <a:off x="3675887"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rival</a:t>
            </a:r>
          </a:p>
        </p:txBody>
      </p:sp>
      <p:sp>
        <p:nvSpPr>
          <p:cNvPr id="11" name="Rounded Rectangle 10"/>
          <p:cNvSpPr/>
          <p:nvPr/>
        </p:nvSpPr>
        <p:spPr>
          <a:xfrm>
            <a:off x="4681727"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stand</a:t>
            </a:r>
          </a:p>
        </p:txBody>
      </p:sp>
      <p:sp>
        <p:nvSpPr>
          <p:cNvPr id="12" name="Rounded Rectangle 11"/>
          <p:cNvSpPr/>
          <p:nvPr/>
        </p:nvSpPr>
        <p:spPr>
          <a:xfrm>
            <a:off x="5687567"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edge</a:t>
            </a:r>
          </a:p>
        </p:txBody>
      </p:sp>
      <p:sp>
        <p:nvSpPr>
          <p:cNvPr id="13" name="Rounded Rectangle 12"/>
          <p:cNvSpPr/>
          <p:nvPr/>
        </p:nvSpPr>
        <p:spPr>
          <a:xfrm>
            <a:off x="6583679"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credit</a:t>
            </a:r>
          </a:p>
        </p:txBody>
      </p:sp>
      <p:sp>
        <p:nvSpPr>
          <p:cNvPr id="14" name="Rounded Rectangle 13"/>
          <p:cNvSpPr/>
          <p:nvPr/>
        </p:nvSpPr>
        <p:spPr>
          <a:xfrm>
            <a:off x="7699247"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It’s a very _______ market.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competitive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main _______ cut prices.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rival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How can you _______ out in an interview?</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Languages give you an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edge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Don’t take _______ for other people’s work.</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credit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raised the _______ for the whole team.</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(介词) compete FOR a job, compete WITH/AGAINST others, competition BETWEEN;competitive 与 competition。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Discussing a promotion rivalry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谈升职竞争</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compete for one role.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Discussing a promotion rivalry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heard we’re both going for the team lead job.</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hope it won’t affect our working relationship.</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 too. It’s friendly competition, as far as I’m concerned.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May the best person win.</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Whatever happens, we should keep sharing information.</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It makes the whole team stronger.</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one of us gets it, the other will support them.</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Deal.</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Discussing a promotion rivalry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manage a promotion rivalry.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Role: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going for · friendly competition · May the best person win · keep sharing · support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Keep the relationship positive and agree ground rules.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One colleague hints at a worry.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what to do if it gets tense.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Congratulate the winner.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Standing out in the job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在求职市场脱颖而出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coach advises a job seeker.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Coach</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Job seeker</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Standing out in the job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market is very competitive. What gives you an edge?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speak three languages, and I’ve led a project with a rival’s customers.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Put results on your CV, not just duties.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Like “increased sales by 15 per cent”?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Standing out in the job market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Also, tailor each application.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takes 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 but it helps you stand out among hundreds of applicants.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try that.</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Standing out in the job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coach on standing out.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Coach.</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Job seeker. Strengths: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edge · stand out · results · tailor · competitive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Identify strengths and give practical tips.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networking.</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Cover a weakness.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Rehearse a one-minute pitch.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competition at work usually healthy?</a:t>
            </a:r>
          </a:p>
          <a:p>
            <a:pPr algn="l">
              <a:lnSpc>
                <a:spcPct val="115000"/>
              </a:lnSpc>
              <a:spcAft>
                <a:spcPts val="800"/>
              </a:spcAft>
            </a:pPr>
            <a:r>
              <a:rPr sz="1400" b="0">
                <a:solidFill>
                  <a:srgbClr val="5F677A"/>
                </a:solidFill>
                <a:latin typeface="Arial"/>
                <a:ea typeface="Microsoft YaHei"/>
              </a:rPr>
              <a:t>💬 “It can be, if… / It depends 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downside of a “winner-takes-all” culture?</a:t>
            </a:r>
          </a:p>
          <a:p>
            <a:pPr algn="l">
              <a:lnSpc>
                <a:spcPct val="115000"/>
              </a:lnSpc>
              <a:spcAft>
                <a:spcPts val="800"/>
              </a:spcAft>
            </a:pPr>
            <a:r>
              <a:rPr sz="1400" b="0">
                <a:solidFill>
                  <a:srgbClr val="5F677A"/>
                </a:solidFill>
                <a:latin typeface="Arial"/>
                <a:ea typeface="Microsoft YaHei"/>
              </a:rPr>
              <a:t>💬 “People might…”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compete without being aggressive?</a:t>
            </a:r>
          </a:p>
          <a:p>
            <a:pPr algn="l">
              <a:lnSpc>
                <a:spcPct val="115000"/>
              </a:lnSpc>
              <a:spcAft>
                <a:spcPts val="800"/>
              </a:spcAft>
            </a:pPr>
            <a:r>
              <a:rPr sz="1400" b="0">
                <a:solidFill>
                  <a:srgbClr val="5F677A"/>
                </a:solidFill>
                <a:latin typeface="Arial"/>
                <a:ea typeface="Microsoft YaHei"/>
              </a:rPr>
              <a:t>💬 “By focusing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that some people have an edge, like contacts?</a:t>
            </a:r>
          </a:p>
          <a:p>
            <a:pPr algn="l">
              <a:lnSpc>
                <a:spcPct val="115000"/>
              </a:lnSpc>
              <a:spcAft>
                <a:spcPts val="800"/>
              </a:spcAft>
            </a:pPr>
            <a:r>
              <a:rPr sz="1400" b="0">
                <a:solidFill>
                  <a:srgbClr val="5F677A"/>
                </a:solidFill>
                <a:latin typeface="Arial"/>
                <a:ea typeface="Microsoft YaHei"/>
              </a:rPr>
              <a:t>💬 “Not entirely, but…”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competitive is your industry?</a:t>
            </a:r>
          </a:p>
          <a:p>
            <a:pPr algn="l">
              <a:lnSpc>
                <a:spcPct val="115000"/>
              </a:lnSpc>
              <a:spcAft>
                <a:spcPts val="800"/>
              </a:spcAft>
            </a:pPr>
            <a:r>
              <a:rPr sz="1400" b="0">
                <a:solidFill>
                  <a:srgbClr val="5F677A"/>
                </a:solidFill>
                <a:latin typeface="Arial"/>
                <a:ea typeface="Microsoft YaHei"/>
              </a:rPr>
              <a:t>💬 “It’s quite competitive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can be healthy if the rules are fair and teamwork is rewarded. Competition pushes people to improve, and it can be fun. But if it turns into a fight for credit, trust disappears and people stop sharing ideas. So I think managers should balance individual targets with team goals.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“turns into” 变成;“balance A with B” 平衡。</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Contrast and comparison in opinions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对比表达</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On the plus side / On the downside</a:t>
                      </a:r>
                    </a:p>
                  </a:txBody>
                  <a:tcPr anchor="ctr">
                    <a:solidFill>
                      <a:srgbClr val="FFFFFF"/>
                    </a:solidFill>
                  </a:tcPr>
                </a:tc>
                <a:tc>
                  <a:txBody>
                    <a:bodyPr wrap="square"/>
                    <a:lstStyle/>
                    <a:p>
                      <a:r>
                        <a:rPr sz="1600" b="0">
                          <a:solidFill>
                            <a:srgbClr val="1F2A44"/>
                          </a:solidFill>
                          <a:latin typeface="Arial"/>
                          <a:ea typeface="Microsoft YaHei"/>
                        </a:rPr>
                        <a:t>On the plus side, it motivates people.</a:t>
                      </a:r>
                    </a:p>
                  </a:txBody>
                  <a:tcPr anchor="ctr">
                    <a:solidFill>
                      <a:srgbClr val="FFFFFF"/>
                    </a:solidFill>
                  </a:tcPr>
                </a:tc>
              </a:tr>
              <a:tr h="408432">
                <a:tc>
                  <a:txBody>
                    <a:bodyPr wrap="square"/>
                    <a:lstStyle/>
                    <a:p>
                      <a:r>
                        <a:rPr sz="1600" b="1">
                          <a:solidFill>
                            <a:srgbClr val="1F2A44"/>
                          </a:solidFill>
                          <a:latin typeface="Arial"/>
                          <a:ea typeface="Microsoft YaHei"/>
                        </a:rPr>
                        <a:t>whereas / while</a:t>
                      </a:r>
                    </a:p>
                  </a:txBody>
                  <a:tcPr anchor="ctr">
                    <a:solidFill>
                      <a:srgbClr val="FFEFD9"/>
                    </a:solidFill>
                  </a:tcPr>
                </a:tc>
                <a:tc>
                  <a:txBody>
                    <a:bodyPr wrap="square"/>
                    <a:lstStyle/>
                    <a:p>
                      <a:r>
                        <a:rPr sz="1600" b="0">
                          <a:solidFill>
                            <a:srgbClr val="1F2A44"/>
                          </a:solidFill>
                          <a:latin typeface="Arial"/>
                          <a:ea typeface="Microsoft YaHei"/>
                        </a:rPr>
                        <a:t>Some thrive on competition, whereas others hate it.</a:t>
                      </a:r>
                    </a:p>
                  </a:txBody>
                  <a:tcPr anchor="ctr">
                    <a:solidFill>
                      <a:srgbClr val="FFEFD9"/>
                    </a:solidFill>
                  </a:tcPr>
                </a:tc>
              </a:tr>
              <a:tr h="652272">
                <a:tc>
                  <a:txBody>
                    <a:bodyPr wrap="square"/>
                    <a:lstStyle/>
                    <a:p>
                      <a:r>
                        <a:rPr sz="1600" b="1">
                          <a:solidFill>
                            <a:srgbClr val="1F2A44"/>
                          </a:solidFill>
                          <a:latin typeface="Arial"/>
                          <a:ea typeface="Microsoft YaHei"/>
                        </a:rPr>
                        <a:t>the more… the more…</a:t>
                      </a:r>
                    </a:p>
                  </a:txBody>
                  <a:tcPr anchor="ctr">
                    <a:solidFill>
                      <a:srgbClr val="FFFFFF"/>
                    </a:solidFill>
                  </a:tcPr>
                </a:tc>
                <a:tc>
                  <a:txBody>
                    <a:bodyPr wrap="square"/>
                    <a:lstStyle/>
                    <a:p>
                      <a:r>
                        <a:rPr sz="1600" b="0">
                          <a:solidFill>
                            <a:srgbClr val="1F2A44"/>
                          </a:solidFill>
                          <a:latin typeface="Arial"/>
                          <a:ea typeface="Microsoft YaHei"/>
                        </a:rPr>
                        <a:t>The more competitive the market, the more you need an edge.</a:t>
                      </a:r>
                    </a:p>
                  </a:txBody>
                  <a:tcPr anchor="ctr">
                    <a:solidFill>
                      <a:srgbClr val="FFFFFF"/>
                    </a:solidFill>
                  </a:tcPr>
                </a:tc>
              </a:tr>
              <a:tr h="408432">
                <a:tc>
                  <a:txBody>
                    <a:bodyPr wrap="square"/>
                    <a:lstStyle/>
                    <a:p>
                      <a:r>
                        <a:rPr sz="1600" b="1">
                          <a:solidFill>
                            <a:srgbClr val="1F2A44"/>
                          </a:solidFill>
                          <a:latin typeface="Arial"/>
                          <a:ea typeface="Microsoft YaHei"/>
                        </a:rPr>
                        <a:t>as far as I’m concerned</a:t>
                      </a:r>
                    </a:p>
                  </a:txBody>
                  <a:tcPr anchor="ctr">
                    <a:solidFill>
                      <a:srgbClr val="FFEFD9"/>
                    </a:solidFill>
                  </a:tcPr>
                </a:tc>
                <a:tc>
                  <a:txBody>
                    <a:bodyPr wrap="square"/>
                    <a:lstStyle/>
                    <a:p>
                      <a:r>
                        <a:rPr sz="1600" b="0">
                          <a:solidFill>
                            <a:srgbClr val="1F2A44"/>
                          </a:solidFill>
                          <a:latin typeface="Arial"/>
                          <a:ea typeface="Microsoft YaHei"/>
                        </a:rPr>
                        <a:t>As far as I’m concerned, teamwork matters more.</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Contrast and comparison in opinions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对比表达</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Whereas and while connect two contrasting facts; use a comma.</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compete with each other for get the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compete with each other for the job.</a:t>
            </a:r>
          </a:p>
          <a:p>
            <a:pPr algn="l">
              <a:spcAft>
                <a:spcPts val="200"/>
              </a:spcAft>
            </a:pPr>
            <a:r>
              <a:rPr sz="1200" b="0">
                <a:solidFill>
                  <a:srgbClr val="FFFFFF"/>
                </a:solidFill>
                <a:latin typeface="Arial"/>
                <a:ea typeface="Microsoft YaHei"/>
              </a:rPr>
              <a:t>for + 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market is very compete.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market is very competitive.</a:t>
            </a:r>
          </a:p>
          <a:p>
            <a:pPr algn="l">
              <a:spcAft>
                <a:spcPts val="200"/>
              </a:spcAft>
            </a:pPr>
            <a:r>
              <a:rPr sz="1200" b="0">
                <a:solidFill>
                  <a:srgbClr val="FFFFFF"/>
                </a:solidFill>
                <a:latin typeface="Arial"/>
                <a:ea typeface="Microsoft YaHei"/>
              </a:rPr>
              <a:t>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strong competition.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a strong competitor.</a:t>
            </a:r>
          </a:p>
          <a:p>
            <a:pPr algn="l">
              <a:spcAft>
                <a:spcPts val="200"/>
              </a:spcAft>
            </a:pPr>
            <a:r>
              <a:rPr sz="1200" b="0">
                <a:solidFill>
                  <a:srgbClr val="FFFFFF"/>
                </a:solidFill>
                <a:latin typeface="Arial"/>
                <a:ea typeface="Microsoft YaHei"/>
              </a:rPr>
              <a:t>competitor 指人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more competitive as him.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more competitive than him.</a:t>
            </a:r>
          </a:p>
          <a:p>
            <a:pPr algn="l">
              <a:spcAft>
                <a:spcPts val="200"/>
              </a:spcAft>
            </a:pPr>
            <a:r>
              <a:rPr sz="1200" b="0">
                <a:solidFill>
                  <a:srgbClr val="FFFFFF"/>
                </a:solidFill>
                <a:latin typeface="Arial"/>
                <a:ea typeface="Microsoft YaHei"/>
              </a:rPr>
              <a:t>than</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in a hard competition.</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in tough competition. / The competition is tough.</a:t>
            </a:r>
          </a:p>
          <a:p>
            <a:pPr algn="l">
              <a:spcAft>
                <a:spcPts val="200"/>
              </a:spcAft>
            </a:pPr>
            <a:r>
              <a:rPr sz="1200" b="0">
                <a:solidFill>
                  <a:srgbClr val="FFFFFF"/>
                </a:solidFill>
                <a:latin typeface="Arial"/>
                <a:ea typeface="Microsoft YaHei"/>
              </a:rPr>
              <a:t>tough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took the credit of my work.</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took credit for my work.</a:t>
            </a:r>
          </a:p>
          <a:p>
            <a:pPr algn="l">
              <a:spcAft>
                <a:spcPts val="200"/>
              </a:spcAft>
            </a:pPr>
            <a:r>
              <a:rPr sz="1200" b="0">
                <a:solidFill>
                  <a:srgbClr val="FFFFFF"/>
                </a:solidFill>
                <a:latin typeface="Arial"/>
                <a:ea typeface="Microsoft YaHei"/>
              </a:rPr>
              <a:t>credit for</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competition vs competitor vs competitive, credit for, than.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Competition is normal but should stay respectful. Publicly criticising a rival is unprofessional.</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Share credit. Saying “the team did this” earns respect.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Don’t compare salaries aggressively. It is considered private in many countries.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honest about achievements. Confident, not boastful: “I led…” rather than “I’m the best.”</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competition with stand out / get ahead / edge.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pros and cons of competition.</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rivalry with colleagues tactfully.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competition / competitor / competitive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42 Competition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one-minute pitch on what gives you an edge.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competitor vs competitive, credit for, than.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 · Lesson 43 Upskilling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Upskilling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提升技能</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learning new skills, plan your development and explain why upskilling matters.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new skill would help you most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usually learn new things?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your company support training?</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taken any online course recently?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find time to learn?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“upskill” = 提升技能;“reskill” = 转型学习新技能。第 4 题 “Have you taken” 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skill you want to learn and how you will learn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skill</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plan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you’ll find time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improve my…   💬 It would help me to…   💬 I’m planning to…   💬 I’ll set aside…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“set aside time” = 留出时间;“It would help me to + 动词原形”。</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20-minute habit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Technology is changing jobs faster than many organisations can train their staff, so more workers are taking charge of their own learning. Upskilling means improving the skills you already use. Reskilling means learning new ones for a different role. The difficulty for most people is not interest but time. One practical idea is the 20-minute habit: choose one skill, then study for twenty minutes at a fixed time every day. After three months you will have spent about thirty hours, which is enough to notice real progress. Another tip is to apply what you learn quickly, for example by using a new Excel function in next week’s report. Finally, tell your manager what you are learning, because they can often offer time, budget or a suitable project.</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difference between upskilling and reskilling?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Upskilling improves existing skills; reskilling learns new ones for a different role.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20-minute habit?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Studying one skill for twenty minutes at a fixed time every day.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tell your manager about your learning?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can offer time, budget or a suitable project.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Skills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技能</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upskill / reskill</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提升/转型技能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upskill staff every year.”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 gap</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技能缺口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close the skill gap.”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in-demand skills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热门技能</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skills are in demand.”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future-proof</a:t>
            </a:r>
          </a:p>
          <a:p>
            <a:pPr algn="l">
              <a:lnSpc>
                <a:spcPct val="115000"/>
              </a:lnSpc>
              <a:spcAft>
                <a:spcPts val="800"/>
              </a:spcAft>
            </a:pPr>
            <a:r>
              <a:rPr sz="1300" b="0">
                <a:solidFill>
                  <a:srgbClr val="5F677A"/>
                </a:solidFill>
                <a:latin typeface="Arial"/>
                <a:ea typeface="Microsoft YaHei"/>
              </a:rPr>
              <a:t>verb/adj</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面向未来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“Learning keeps you future-proof.”</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(your skills) up to date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保持技能更新</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your skills up to date.”</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Learning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学习方式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sign up for a course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报名课程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signed up for a course.”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on-the-job training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在职培训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learned through on-the-job training.”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self-paced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自定进度的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self-paced course.”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pick up (a skill)</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picked up Python in a month.”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brush up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复习温习</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brushing up on my English.”</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professional development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职业发展</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funds professional development.”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certification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资格认证</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earned a certification.”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mentor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导师</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mentor guides me.”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stretch yourself</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挑战自己</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“Stretch yourself with new tasks.”</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steep learning curve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陡峭曲线</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“Coding is a steep learning curve.”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面向未来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future-proof</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导师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复习温习</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brush up 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陡峭曲线</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steep learning curve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职业发展</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professional development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资格认证</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certification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自定进度的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self-paced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在职培训</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on-the-job training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upskill</a:t>
            </a:r>
          </a:p>
        </p:txBody>
      </p:sp>
      <p:sp>
        <p:nvSpPr>
          <p:cNvPr id="10" name="Rounded Rectangle 9"/>
          <p:cNvSpPr/>
          <p:nvPr/>
        </p:nvSpPr>
        <p:spPr>
          <a:xfrm>
            <a:off x="3236976"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gap</a:t>
            </a:r>
          </a:p>
        </p:txBody>
      </p:sp>
      <p:sp>
        <p:nvSpPr>
          <p:cNvPr id="11" name="Rounded Rectangle 10"/>
          <p:cNvSpPr/>
          <p:nvPr/>
        </p:nvSpPr>
        <p:spPr>
          <a:xfrm>
            <a:off x="4023360"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demand</a:t>
            </a:r>
          </a:p>
        </p:txBody>
      </p:sp>
      <p:sp>
        <p:nvSpPr>
          <p:cNvPr id="12" name="Rounded Rectangle 11"/>
          <p:cNvSpPr/>
          <p:nvPr/>
        </p:nvSpPr>
        <p:spPr>
          <a:xfrm>
            <a:off x="5138928"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sign</a:t>
            </a:r>
          </a:p>
        </p:txBody>
      </p:sp>
      <p:sp>
        <p:nvSpPr>
          <p:cNvPr id="13" name="Rounded Rectangle 12"/>
          <p:cNvSpPr/>
          <p:nvPr/>
        </p:nvSpPr>
        <p:spPr>
          <a:xfrm>
            <a:off x="6035040"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brush</a:t>
            </a:r>
          </a:p>
        </p:txBody>
      </p:sp>
      <p:sp>
        <p:nvSpPr>
          <p:cNvPr id="14" name="Rounded Rectangle 13"/>
          <p:cNvSpPr/>
          <p:nvPr/>
        </p:nvSpPr>
        <p:spPr>
          <a:xfrm>
            <a:off x="70408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certification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_______ our staff every year.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upskill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need to close the skill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Data skills are in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demand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I’d like to _______ up for a course.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_______ up on my English.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brushing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earned a _______ in project management.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certification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sign up for, brush up on, close the gap, in demand (不加 the);skill 可数,knowledge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Asking your manager for training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向上司申请培训</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want support for a course.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Asking your manager for training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a minute? I’d like to talk about my development.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 do you have in mind?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sign up for a data analysis course. It would help me prepare reports faster.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long is it?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for training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Eight weeks, self-paced, about three hours a week.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cost?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400 dollars. I’m happy to do it in my own time if the company covers the fee.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reasonable. Send me the details.</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Asking your manager for training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request training.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Course: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sign up for… · It would help me to… · self-paced · cover the fee · Send me the details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benefits to the company, time and cost.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share what you learn.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“we have no budget”.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a trial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Planning your learning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制定学习计划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a plan with a mentor.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Mentor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Mentee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Planning your learning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skill would help you most this year?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Presentation skills. I’m a bit nervous in front of groups.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could you build them?</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join a speaking club and volunteer to present weekly updates.</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Planning your learning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will you find the time?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set aside twenty minutes a day to practise.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manageable. Let’s review in three months.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the push.</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Planning your learning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make a learning plan.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Mentee. Skill: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skill gap · set aside time · stretch yourself · review in three months · apply quickly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Choose a skill, set a plan and agree a review date.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measurable goal.</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Consider an obstacle.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Get feedback from a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your learning?</a:t>
            </a:r>
          </a:p>
          <a:p>
            <a:pPr algn="l">
              <a:lnSpc>
                <a:spcPct val="115000"/>
              </a:lnSpc>
              <a:spcAft>
                <a:spcPts val="800"/>
              </a:spcAft>
            </a:pPr>
            <a:r>
              <a:rPr sz="1400" b="0">
                <a:solidFill>
                  <a:srgbClr val="5F677A"/>
                </a:solidFill>
                <a:latin typeface="Arial"/>
                <a:ea typeface="Microsoft YaHei"/>
              </a:rPr>
              <a:t>💬 “I think it’s mainly… but companies should…”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 will be most valuable in ten years?</a:t>
            </a:r>
          </a:p>
          <a:p>
            <a:pPr algn="l">
              <a:lnSpc>
                <a:spcPct val="115000"/>
              </a:lnSpc>
              <a:spcAft>
                <a:spcPts val="800"/>
              </a:spcAft>
            </a:pPr>
            <a:r>
              <a:rPr sz="1400" b="0">
                <a:solidFill>
                  <a:srgbClr val="5F677A"/>
                </a:solidFill>
                <a:latin typeface="Arial"/>
                <a:ea typeface="Microsoft YaHei"/>
              </a:rPr>
              <a:t>💬 “I’d say…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online courses as good as classroom ones?</a:t>
            </a:r>
          </a:p>
          <a:p>
            <a:pPr algn="l">
              <a:lnSpc>
                <a:spcPct val="115000"/>
              </a:lnSpc>
              <a:spcAft>
                <a:spcPts val="800"/>
              </a:spcAft>
            </a:pPr>
            <a:r>
              <a:rPr sz="1400" b="0">
                <a:solidFill>
                  <a:srgbClr val="5F677A"/>
                </a:solidFill>
                <a:latin typeface="Arial"/>
                <a:ea typeface="Microsoft YaHei"/>
              </a:rPr>
              <a:t>💬 “In some ways, …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apply new skills quickly?</a:t>
            </a:r>
          </a:p>
          <a:p>
            <a:pPr algn="l">
              <a:lnSpc>
                <a:spcPct val="115000"/>
              </a:lnSpc>
              <a:spcAft>
                <a:spcPts val="800"/>
              </a:spcAft>
            </a:pPr>
            <a:r>
              <a:rPr sz="1400" b="0">
                <a:solidFill>
                  <a:srgbClr val="5F677A"/>
                </a:solidFill>
                <a:latin typeface="Arial"/>
                <a:ea typeface="Microsoft YaHei"/>
              </a:rPr>
              <a:t>💬 “By… / I try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pay for training?</a:t>
            </a:r>
          </a:p>
          <a:p>
            <a:pPr algn="l">
              <a:lnSpc>
                <a:spcPct val="115000"/>
              </a:lnSpc>
              <a:spcAft>
                <a:spcPts val="800"/>
              </a:spcAft>
            </a:pPr>
            <a:r>
              <a:rPr sz="1400" b="0">
                <a:solidFill>
                  <a:srgbClr val="5F677A"/>
                </a:solidFill>
                <a:latin typeface="Arial"/>
                <a:ea typeface="Microsoft YaHei"/>
              </a:rPr>
              <a:t>💬 “In my view, they should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employers should pay if the training benefits the business directly. It’s a good investment, because trained staff are more productive and more likely to stay. However, if the course is for personal reasons, the employee should share the cost. A fair middle ground is for the company to cover the fee and the employee to give the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“middle ground” 折衷方案;“a good investment” 好的投资。</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Plans and intentions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计划与意图</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I’m going to / I’m planning to</a:t>
                      </a:r>
                    </a:p>
                  </a:txBody>
                  <a:tcPr anchor="ctr">
                    <a:solidFill>
                      <a:srgbClr val="FFFFFF"/>
                    </a:solidFill>
                  </a:tcPr>
                </a:tc>
                <a:tc>
                  <a:txBody>
                    <a:bodyPr wrap="square"/>
                    <a:lstStyle/>
                    <a:p>
                      <a:r>
                        <a:rPr sz="1600" b="0">
                          <a:solidFill>
                            <a:srgbClr val="1F2A44"/>
                          </a:solidFill>
                          <a:latin typeface="Arial"/>
                          <a:ea typeface="Microsoft YaHei"/>
                        </a:rPr>
                        <a:t>I’m planning to take a course.</a:t>
                      </a:r>
                    </a:p>
                  </a:txBody>
                  <a:tcPr anchor="ctr">
                    <a:solidFill>
                      <a:srgbClr val="FFFFFF"/>
                    </a:solidFill>
                  </a:tcPr>
                </a:tc>
              </a:tr>
              <a:tr h="408432">
                <a:tc>
                  <a:txBody>
                    <a:bodyPr wrap="square"/>
                    <a:lstStyle/>
                    <a:p>
                      <a:r>
                        <a:rPr sz="1600" b="1">
                          <a:solidFill>
                            <a:srgbClr val="1F2A44"/>
                          </a:solidFill>
                          <a:latin typeface="Arial"/>
                          <a:ea typeface="Microsoft YaHei"/>
                        </a:rPr>
                        <a:t>I’d like to / I want to</a:t>
                      </a:r>
                    </a:p>
                  </a:txBody>
                  <a:tcPr anchor="ctr">
                    <a:solidFill>
                      <a:srgbClr val="FFEFD9"/>
                    </a:solidFill>
                  </a:tcPr>
                </a:tc>
                <a:tc>
                  <a:txBody>
                    <a:bodyPr wrap="square"/>
                    <a:lstStyle/>
                    <a:p>
                      <a:r>
                        <a:rPr sz="1600" b="0">
                          <a:solidFill>
                            <a:srgbClr val="1F2A44"/>
                          </a:solidFill>
                          <a:latin typeface="Arial"/>
                          <a:ea typeface="Microsoft YaHei"/>
                        </a:rPr>
                        <a:t>I’d like to improve my writing.</a:t>
                      </a:r>
                    </a:p>
                  </a:txBody>
                  <a:tcPr anchor="ctr">
                    <a:solidFill>
                      <a:srgbClr val="FFEFD9"/>
                    </a:solidFill>
                  </a:tcPr>
                </a:tc>
              </a:tr>
              <a:tr h="408432">
                <a:tc>
                  <a:txBody>
                    <a:bodyPr wrap="square"/>
                    <a:lstStyle/>
                    <a:p>
                      <a:r>
                        <a:rPr sz="1600" b="1">
                          <a:solidFill>
                            <a:srgbClr val="1F2A44"/>
                          </a:solidFill>
                          <a:latin typeface="Arial"/>
                          <a:ea typeface="Microsoft YaHei"/>
                        </a:rPr>
                        <a:t>It would help me to + verb</a:t>
                      </a:r>
                    </a:p>
                  </a:txBody>
                  <a:tcPr anchor="ctr">
                    <a:solidFill>
                      <a:srgbClr val="FFFFFF"/>
                    </a:solidFill>
                  </a:tcPr>
                </a:tc>
                <a:tc>
                  <a:txBody>
                    <a:bodyPr wrap="square"/>
                    <a:lstStyle/>
                    <a:p>
                      <a:r>
                        <a:rPr sz="1600" b="0">
                          <a:solidFill>
                            <a:srgbClr val="1F2A44"/>
                          </a:solidFill>
                          <a:latin typeface="Arial"/>
                          <a:ea typeface="Microsoft YaHei"/>
                        </a:rPr>
                        <a:t>It would help me to practise daily.</a:t>
                      </a:r>
                    </a:p>
                  </a:txBody>
                  <a:tcPr anchor="ctr">
                    <a:solidFill>
                      <a:srgbClr val="FFFFFF"/>
                    </a:solidFill>
                  </a:tcPr>
                </a:tc>
              </a:tr>
              <a:tr h="408432">
                <a:tc>
                  <a:txBody>
                    <a:bodyPr wrap="square"/>
                    <a:lstStyle/>
                    <a:p>
                      <a:r>
                        <a:rPr sz="1600" b="1">
                          <a:solidFill>
                            <a:srgbClr val="1F2A44"/>
                          </a:solidFill>
                          <a:latin typeface="Arial"/>
                          <a:ea typeface="Microsoft YaHei"/>
                        </a:rPr>
                        <a:t>I’ll (spontaneous)</a:t>
                      </a:r>
                    </a:p>
                  </a:txBody>
                  <a:tcPr anchor="ctr">
                    <a:solidFill>
                      <a:srgbClr val="FFEFD9"/>
                    </a:solidFill>
                  </a:tcPr>
                </a:tc>
                <a:tc>
                  <a:txBody>
                    <a:bodyPr wrap="square"/>
                    <a:lstStyle/>
                    <a:p>
                      <a:r>
                        <a:rPr sz="1600" b="0">
                          <a:solidFill>
                            <a:srgbClr val="1F2A44"/>
                          </a:solidFill>
                          <a:latin typeface="Arial"/>
                          <a:ea typeface="Microsoft YaHei"/>
                        </a:rPr>
                        <a:t>I’ll set aside twenty minutes.</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Plans and intentions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计划与意图</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will for decisions made at the moment of speaking; be going to / be planning to for existing plans.</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improve my English skill.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improve my English skills.</a:t>
            </a:r>
          </a:p>
          <a:p>
            <a:pPr algn="l">
              <a:spcAft>
                <a:spcPts val="200"/>
              </a:spcAft>
            </a:pPr>
            <a:r>
              <a:rPr sz="1200" b="0">
                <a:solidFill>
                  <a:srgbClr val="FFFFFF"/>
                </a:solidFill>
                <a:latin typeface="Arial"/>
                <a:ea typeface="Microsoft YaHei"/>
              </a:rPr>
              <a:t>skills 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learn a new program last month.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learned a new program last month.</a:t>
            </a:r>
          </a:p>
          <a:p>
            <a:pPr algn="l">
              <a:spcAft>
                <a:spcPts val="200"/>
              </a:spcAft>
            </a:pPr>
            <a:r>
              <a:rPr sz="1200" b="0">
                <a:solidFill>
                  <a:srgbClr val="FFFFFF"/>
                </a:solidFill>
                <a:latin typeface="Arial"/>
                <a:ea typeface="Microsoft YaHei"/>
              </a:rPr>
              <a:t>过去时间用过去式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planning to taking a course.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planning to take a course.</a:t>
            </a:r>
          </a:p>
          <a:p>
            <a:pPr algn="l">
              <a:spcAft>
                <a:spcPts val="200"/>
              </a:spcAft>
            </a:pPr>
            <a:r>
              <a:rPr sz="1200" b="0">
                <a:solidFill>
                  <a:srgbClr val="FFFFFF"/>
                </a:solidFill>
                <a:latin typeface="Arial"/>
                <a:ea typeface="Microsoft YaHei"/>
              </a:rPr>
              <a:t>to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good in Excel.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good at Excel.</a:t>
            </a:r>
          </a:p>
          <a:p>
            <a:pPr algn="l">
              <a:spcAft>
                <a:spcPts val="200"/>
              </a:spcAft>
            </a:pPr>
            <a:r>
              <a:rPr sz="1200" b="0">
                <a:solidFill>
                  <a:srgbClr val="FFFFFF"/>
                </a:solidFill>
                <a:latin typeface="Arial"/>
                <a:ea typeface="Microsoft YaHei"/>
              </a:rPr>
              <a:t>good at</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supports me to study.</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supports me in my studies. / lets me study.</a:t>
            </a:r>
          </a:p>
          <a:p>
            <a:pPr algn="l">
              <a:spcAft>
                <a:spcPts val="200"/>
              </a:spcAft>
            </a:pPr>
            <a:r>
              <a:rPr sz="1200" b="0">
                <a:solidFill>
                  <a:srgbClr val="FFFFFF"/>
                </a:solidFill>
                <a:latin typeface="Arial"/>
                <a:ea typeface="Microsoft YaHei"/>
              </a:rPr>
              <a:t>句型</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no knowledges about 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no knowledge of it.</a:t>
            </a:r>
          </a:p>
          <a:p>
            <a:pPr algn="l">
              <a:spcAft>
                <a:spcPts val="200"/>
              </a:spcAft>
            </a:pPr>
            <a:r>
              <a:rPr sz="1200" b="0">
                <a:solidFill>
                  <a:srgbClr val="FFFFFF"/>
                </a:solidFill>
                <a:latin typeface="Arial"/>
                <a:ea typeface="Microsoft YaHei"/>
              </a:rPr>
              <a:t>knowledge 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planning to + base, good at, and uncountable knowledge / software / training.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Ownership of learning. Western employers expect you to drive your own development.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Ask for training. Managers cannot guess; a clear request with benefits works best.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Certifications matter. Especially in project management, IT and finance.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Show off learning. Add courses to LinkedIn.</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skill I want to learn and my plan.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request training from my manager.</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upskill / reskill / skill gap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planning to + base verb and uncountable knowledge.</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43 Upskilling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Write a 3-sentence learning plan and say it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planning to, knowledge uncountable, good at.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 · Lesson 44 Failing up</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Failing up</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从失败中崛起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failure, setbacks and recovery, and use the idea of “failing up” and “failing forward” carefully.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biggest failure you have learned from?</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failure is necessary for success?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your colleagues react to mistakes?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seen someone get promoted after a failure? Was it fair?</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bounce back after a setback?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 “failing up” 有两个含义:(1)贬义:犯错反而被提拔;(2)也常被用来说”从失败中获益向上走”(failing forward)。本课两种含义都讲。</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a setback and what you learned from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you felt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did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learned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didn’t go as planned…   💬 At the time, I felt…   💬 What I learned was…   💬 Looking back, it made me…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“go as planned” 按计划进行;“Looking back” 回头看。</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Two meanings of failing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phrase “failing up” has two meanings. In its negative sense, it describes someone who makes serious mistakes but still gets promoted, often because they are well connected or good at presenting themselves. Many employees find this unfair, because the cost of failure falls on others. In its positive sense, it means using failure as a step towards growth. Some companies encourage this by running “failure reviews” in which teams discuss what went wrong without blame. People who talk openly about mistakes tend to learn faster and are trusted more. The difference lies in accountability. If you own your mistake, explain what you learned and change your behaviour, failure can build your reputation. If you hide it or blame others, it will damage it.</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negative meaning of “failing up”?</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Someone makes serious mistakes but is still promoted.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“failure review”?</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meeting where teams discuss what went wrong without blame.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makes failure useful?</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Accountability: owning the mistake, learning and changing behaviour.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Failure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失败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setback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挫折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suffered a setback.”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learn from your mistakes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从错误中学习</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learn from our mistakes.”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bounce back</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恢复过来</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bounced back quickly.”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fail forward</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从失败中前进</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“Great teams fail forward.”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flat</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失败/没效果</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launch fell flat.”</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Accountability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担责</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responsibility for</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为…负责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take responsibility for the error.”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own up to</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坦白承认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owned up to his mistake.”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blame-free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不追究责任的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blame-free culture.”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pass the buck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推卸责任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pass the buck.”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guy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替罪羊</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became the fall guy.”</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Recovery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恢复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lessons learned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经验教训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wrote up the lessons learned.”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move on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翻篇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time to move 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rebuild trust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重建信任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takes time to rebuild trust.”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(something) around</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扭转局面</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turned the project around.”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silver lining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一线希望</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silver lining to every failure.”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从错误中学习</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from your mistakes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推卸责任</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pass the buck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重建信任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rebuild trust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从失败中前进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fail forward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为…负责</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responsibility for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不追究责任的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blame-free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挫折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setback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坦白承认</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own up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setback</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bounce</a:t>
            </a:r>
          </a:p>
        </p:txBody>
      </p:sp>
      <p:sp>
        <p:nvSpPr>
          <p:cNvPr id="11" name="Rounded Rectangle 10"/>
          <p:cNvSpPr/>
          <p:nvPr/>
        </p:nvSpPr>
        <p:spPr>
          <a:xfrm>
            <a:off x="4352544" y="987552"/>
            <a:ext cx="190195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responsibility</a:t>
            </a:r>
          </a:p>
        </p:txBody>
      </p:sp>
      <p:sp>
        <p:nvSpPr>
          <p:cNvPr id="12" name="Rounded Rectangle 11"/>
          <p:cNvSpPr/>
          <p:nvPr/>
        </p:nvSpPr>
        <p:spPr>
          <a:xfrm>
            <a:off x="6345936"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own</a:t>
            </a:r>
          </a:p>
        </p:txBody>
      </p:sp>
      <p:sp>
        <p:nvSpPr>
          <p:cNvPr id="13" name="Rounded Rectangle 12"/>
          <p:cNvSpPr/>
          <p:nvPr/>
        </p:nvSpPr>
        <p:spPr>
          <a:xfrm>
            <a:off x="7132320"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lessons</a:t>
            </a:r>
          </a:p>
        </p:txBody>
      </p:sp>
      <p:sp>
        <p:nvSpPr>
          <p:cNvPr id="14" name="Rounded Rectangle 13"/>
          <p:cNvSpPr/>
          <p:nvPr/>
        </p:nvSpPr>
        <p:spPr>
          <a:xfrm>
            <a:off x="835761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trust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 suffered a major _______ last year.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setback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_______ back quickly after the failure.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bounced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take _______ for the error.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responsibility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 _______ up to his mistake.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owned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wrote up the _______ learned.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lessons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 takes time to rebuild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trust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responsibility FOR, own up TO, learn FROM;lessons learned 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Owning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承认错误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tell your manager about a failure.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Owning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need to tell you about the client launch. It didn’t go as planned.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sent the wrong version of the file. I take full responsibility.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the client react?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Owning a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were upset, but I’ve apologised and sent the right file.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have you learned?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now double-check every attachment, and we’ve added a review step.</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honest. Let’s rebuild trust with a quick call.</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Owning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own a mistake.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Mistake: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didn’t go as planned · take responsibility · lessons learned · double-check · rebuild trust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what happened, own it, say what you did and learned.</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make excuses.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prevention plan.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feedback.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failure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失败复盘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meets after a failed project.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Facilitator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A failure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look at what went wrong, without blame.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underestimated the timeline, and some of our ideas fell flat.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do differently?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test earlier and ask the client more questions.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there a silver lining?</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know the product better now, so we can fail forward next time.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write up the lessons learned.</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draft them by Friday.</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failure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run a blame-free review.</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Facilitator.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Project: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went wrong · without blame · differently · lessons learned · fail forward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Review honestly and record three lessons.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question that avoids blame.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someone who becomes defensive.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the lessons with others.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failure always a good teacher?</a:t>
            </a:r>
          </a:p>
          <a:p>
            <a:pPr algn="l">
              <a:lnSpc>
                <a:spcPct val="115000"/>
              </a:lnSpc>
              <a:spcAft>
                <a:spcPts val="800"/>
              </a:spcAft>
            </a:pPr>
            <a:r>
              <a:rPr sz="1400" b="0">
                <a:solidFill>
                  <a:srgbClr val="5F677A"/>
                </a:solidFill>
                <a:latin typeface="Arial"/>
                <a:ea typeface="Microsoft YaHei"/>
              </a:rPr>
              <a:t>💬 “Only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failure be punished?</a:t>
            </a:r>
          </a:p>
          <a:p>
            <a:pPr algn="l">
              <a:lnSpc>
                <a:spcPct val="115000"/>
              </a:lnSpc>
              <a:spcAft>
                <a:spcPts val="800"/>
              </a:spcAft>
            </a:pPr>
            <a:r>
              <a:rPr sz="1400" b="0">
                <a:solidFill>
                  <a:srgbClr val="5F677A"/>
                </a:solidFill>
                <a:latin typeface="Arial"/>
                <a:ea typeface="Microsoft YaHei"/>
              </a:rPr>
              <a:t>💬 “Not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seen someone “fail up”?</a:t>
            </a:r>
          </a:p>
          <a:p>
            <a:pPr algn="l">
              <a:lnSpc>
                <a:spcPct val="115000"/>
              </a:lnSpc>
              <a:spcAft>
                <a:spcPts val="800"/>
              </a:spcAft>
            </a:pPr>
            <a:r>
              <a:rPr sz="1400" b="0">
                <a:solidFill>
                  <a:srgbClr val="5F677A"/>
                </a:solidFill>
                <a:latin typeface="Arial"/>
                <a:ea typeface="Microsoft YaHei"/>
              </a:rPr>
              <a:t>💬 “I’ve seen… and it was…”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leaders create a safe place to fail?</a:t>
            </a:r>
          </a:p>
          <a:p>
            <a:pPr algn="l">
              <a:lnSpc>
                <a:spcPct val="115000"/>
              </a:lnSpc>
              <a:spcAft>
                <a:spcPts val="800"/>
              </a:spcAft>
            </a:pPr>
            <a:r>
              <a:rPr sz="1400" b="0">
                <a:solidFill>
                  <a:srgbClr val="5F677A"/>
                </a:solidFill>
                <a:latin typeface="Arial"/>
                <a:ea typeface="Microsoft YaHei"/>
              </a:rPr>
              <a:t>💬 “By… / They could…”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bounce back?</a:t>
            </a:r>
          </a:p>
          <a:p>
            <a:pPr algn="l">
              <a:lnSpc>
                <a:spcPct val="115000"/>
              </a:lnSpc>
              <a:spcAft>
                <a:spcPts val="800"/>
              </a:spcAft>
            </a:pPr>
            <a:r>
              <a:rPr sz="1400" b="0">
                <a:solidFill>
                  <a:srgbClr val="5F677A"/>
                </a:solidFill>
                <a:latin typeface="Arial"/>
                <a:ea typeface="Microsoft YaHei"/>
              </a:rPr>
              <a:t>💬 “First, … then…”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I’ve seen someone get promoted after a serious mistake, mostly because they were friendly with senior people. It was demotivating for the rest of us. I think failure should be treated honestly: learning from it is good, but accountability matters as well. Otherwise, people feel the system is unfair.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“demotivating” 打击积极性的;“Otherwise” 否则。</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events and reflection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过去事件与反思</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Past simple</a:t>
                      </a:r>
                    </a:p>
                  </a:txBody>
                  <a:tcPr anchor="ctr">
                    <a:solidFill>
                      <a:srgbClr val="FFFFFF"/>
                    </a:solidFill>
                  </a:tcPr>
                </a:tc>
                <a:tc>
                  <a:txBody>
                    <a:bodyPr wrap="square"/>
                    <a:lstStyle/>
                    <a:p>
                      <a:r>
                        <a:rPr sz="1600" b="0">
                          <a:solidFill>
                            <a:srgbClr val="1F2A44"/>
                          </a:solidFill>
                          <a:latin typeface="Arial"/>
                          <a:ea typeface="Microsoft YaHei"/>
                        </a:rPr>
                        <a:t>The launch failed.</a:t>
                      </a:r>
                    </a:p>
                  </a:txBody>
                  <a:tcPr anchor="ctr">
                    <a:solidFill>
                      <a:srgbClr val="FFFFFF"/>
                    </a:solidFill>
                  </a:tcPr>
                </a:tc>
              </a:tr>
              <a:tr h="408432">
                <a:tc>
                  <a:txBody>
                    <a:bodyPr wrap="square"/>
                    <a:lstStyle/>
                    <a:p>
                      <a:r>
                        <a:rPr sz="1600" b="1">
                          <a:solidFill>
                            <a:srgbClr val="1F2A44"/>
                          </a:solidFill>
                          <a:latin typeface="Arial"/>
                          <a:ea typeface="Microsoft YaHei"/>
                        </a:rPr>
                        <a:t>Past perfect (earlier event)</a:t>
                      </a:r>
                    </a:p>
                  </a:txBody>
                  <a:tcPr anchor="ctr">
                    <a:solidFill>
                      <a:srgbClr val="FFEFD9"/>
                    </a:solidFill>
                  </a:tcPr>
                </a:tc>
                <a:tc>
                  <a:txBody>
                    <a:bodyPr wrap="square"/>
                    <a:lstStyle/>
                    <a:p>
                      <a:r>
                        <a:rPr sz="1600" b="0">
                          <a:solidFill>
                            <a:srgbClr val="1F2A44"/>
                          </a:solidFill>
                          <a:latin typeface="Arial"/>
                          <a:ea typeface="Microsoft YaHei"/>
                        </a:rPr>
                        <a:t>We had underestimated the time.</a:t>
                      </a:r>
                    </a:p>
                  </a:txBody>
                  <a:tcPr anchor="ctr">
                    <a:solidFill>
                      <a:srgbClr val="FFEFD9"/>
                    </a:solidFill>
                  </a:tcPr>
                </a:tc>
              </a:tr>
              <a:tr h="408432">
                <a:tc>
                  <a:txBody>
                    <a:bodyPr wrap="square"/>
                    <a:lstStyle/>
                    <a:p>
                      <a:r>
                        <a:rPr sz="1600" b="1">
                          <a:solidFill>
                            <a:srgbClr val="1F2A44"/>
                          </a:solidFill>
                          <a:latin typeface="Arial"/>
                          <a:ea typeface="Microsoft YaHei"/>
                        </a:rPr>
                        <a:t>I should have + p.p.</a:t>
                      </a:r>
                    </a:p>
                  </a:txBody>
                  <a:tcPr anchor="ctr">
                    <a:solidFill>
                      <a:srgbClr val="FFFFFF"/>
                    </a:solidFill>
                  </a:tcPr>
                </a:tc>
                <a:tc>
                  <a:txBody>
                    <a:bodyPr wrap="square"/>
                    <a:lstStyle/>
                    <a:p>
                      <a:r>
                        <a:rPr sz="1600" b="0">
                          <a:solidFill>
                            <a:srgbClr val="1F2A44"/>
                          </a:solidFill>
                          <a:latin typeface="Arial"/>
                          <a:ea typeface="Microsoft YaHei"/>
                        </a:rPr>
                        <a:t>I should have asked earlier.</a:t>
                      </a:r>
                    </a:p>
                  </a:txBody>
                  <a:tcPr anchor="ctr">
                    <a:solidFill>
                      <a:srgbClr val="FFFFFF"/>
                    </a:solidFill>
                  </a:tcPr>
                </a:tc>
              </a:tr>
              <a:tr h="408432">
                <a:tc>
                  <a:txBody>
                    <a:bodyPr wrap="square"/>
                    <a:lstStyle/>
                    <a:p>
                      <a:r>
                        <a:rPr sz="1600" b="1">
                          <a:solidFill>
                            <a:srgbClr val="1F2A44"/>
                          </a:solidFill>
                          <a:latin typeface="Arial"/>
                          <a:ea typeface="Microsoft YaHei"/>
                        </a:rPr>
                        <a:t>If I had…, I would have…</a:t>
                      </a:r>
                    </a:p>
                  </a:txBody>
                  <a:tcPr anchor="ctr">
                    <a:solidFill>
                      <a:srgbClr val="FFEFD9"/>
                    </a:solidFill>
                  </a:tcPr>
                </a:tc>
                <a:tc>
                  <a:txBody>
                    <a:bodyPr wrap="square"/>
                    <a:lstStyle/>
                    <a:p>
                      <a:r>
                        <a:rPr sz="1600" b="0">
                          <a:solidFill>
                            <a:srgbClr val="1F2A44"/>
                          </a:solidFill>
                          <a:latin typeface="Arial"/>
                          <a:ea typeface="Microsoft YaHei"/>
                        </a:rPr>
                        <a:t>If I had tested, I’d have found the bug.</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events and reflection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过去事件与反思</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Past perfect shows an event before another past event: The client was upset because we had sent the wrong file.</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responsible of the mistake.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responsible for the mistake.</a:t>
            </a:r>
          </a:p>
          <a:p>
            <a:pPr algn="l">
              <a:spcAft>
                <a:spcPts val="200"/>
              </a:spcAft>
            </a:pPr>
            <a:r>
              <a:rPr sz="1200" b="0">
                <a:solidFill>
                  <a:srgbClr val="FFFFFF"/>
                </a:solidFill>
                <a:latin typeface="Arial"/>
                <a:ea typeface="Microsoft YaHei"/>
              </a:rPr>
              <a:t>responsible for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should have ask him earlier.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should have asked him earlier.</a:t>
            </a:r>
          </a:p>
          <a:p>
            <a:pPr algn="l">
              <a:spcAft>
                <a:spcPts val="200"/>
              </a:spcAft>
            </a:pPr>
            <a:r>
              <a:rPr sz="1200" b="0">
                <a:solidFill>
                  <a:srgbClr val="FFFFFF"/>
                </a:solidFill>
                <a:latin typeface="Arial"/>
                <a:ea typeface="Microsoft YaHei"/>
              </a:rPr>
              <a:t>should have + 过去分词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learned a lot of my mistake.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learned a lot from my mistake.</a:t>
            </a:r>
          </a:p>
          <a:p>
            <a:pPr algn="l">
              <a:spcAft>
                <a:spcPts val="200"/>
              </a:spcAft>
            </a:pPr>
            <a:r>
              <a:rPr sz="1200" b="0">
                <a:solidFill>
                  <a:srgbClr val="FFFFFF"/>
                </a:solidFill>
                <a:latin typeface="Arial"/>
                <a:ea typeface="Microsoft YaHei"/>
              </a:rPr>
              <a:t>learn from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failed the last project.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failed the last project.</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blamed it to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blamed me for it.</a:t>
            </a:r>
          </a:p>
          <a:p>
            <a:pPr algn="l">
              <a:spcAft>
                <a:spcPts val="200"/>
              </a:spcAft>
            </a:pPr>
            <a:r>
              <a:rPr sz="1200" b="0">
                <a:solidFill>
                  <a:srgbClr val="FFFFFF"/>
                </a:solidFill>
                <a:latin typeface="Arial"/>
                <a:ea typeface="Microsoft YaHei"/>
              </a:rPr>
              <a:t>blame sb for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have do it wrong.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must have done it wrong.</a:t>
            </a:r>
          </a:p>
          <a:p>
            <a:pPr algn="l">
              <a:spcAft>
                <a:spcPts val="200"/>
              </a:spcAft>
            </a:pPr>
            <a:r>
              <a:rPr sz="1200" b="0">
                <a:solidFill>
                  <a:srgbClr val="FFFFFF"/>
                </a:solidFill>
                <a:latin typeface="Arial"/>
                <a:ea typeface="Microsoft YaHei"/>
              </a:rPr>
              <a:t>must have + p.p.</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responsible for, blame sb for, should/must have + past participle.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Own mistakes quickly. Telling your manager first earns trust.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excuses. Explain facts, then say what you will do.</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“Fail fast” culture. Silicon Valley celebrates quick, small failures.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Don’t blame others. Even if true, blame damages relationships.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setback and what I learned.</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own a mistake professionally.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understand both meanings of failing up.</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should/must have + past participle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44 Failing up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a 90-second story of a failure and its lessons.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responsible for, blame for, should have + p.p., past perfect.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 · Lesson 45 Changing careers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Changing careers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转换职业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changing careers, transferable skills, and explain your reasons in interviews and conversations.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ever change careers completely?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be the hardest part of starting again?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transferable skills do you have?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ever too late to switch careers?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would you talk to before making such a move?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“transferable skills” = 可迁移技能。第 2 题 “would be” 假设。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someone might change careers and how to do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reason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risk</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preparation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first step</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key reason is…   💬 The biggest risk is…   💬 Before making the move, I’d…   💬 The first step is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“make the move” = 迈出这一步;“A key reason is…”。</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Starting again, but not from zero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 people consider changing careers, they often feel they will be starting from zero. In fact, most have many transferable skills: communication, project management, problem-solving or customer care. A teacher moving into training, for example, already knows how to explain ideas and manage a room. The practical steps are straightforward. First, identify the skills that carry over. Second, speak to people already in the new field to learn what the work is really like. Third, test the idea cheaply, perhaps through a short course, volunteering or a side project. Finally, prepare for a possible drop in salary at the start, and plan your finances accordingly. A career change takes time, but small experiments reduce risk and build confidence, and each one teaches you something about whether the new field is really right for you.</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“starting from zero” not true?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have transferable skills like communication and project management.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speak to people in the new field?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learn what the work is really like.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you test the idea cheaply?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Through a short course, volunteering or a side project.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switch careers / change fields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转行</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switched careers at 38.”</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change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职业转变</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career change is a big step.”</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transferable skills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可迁移技能</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“Teaching builds transferable skills.”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the plunge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下定决心</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finally took the plunge.”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pivot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转向</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pivoted from sales to product.”</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Reasons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burnout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倦怠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“Burnout made her leave.”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feel unfulfilled</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不满足</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unfulfilled.”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outgrow</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超越(现职)</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outgrew my job.”</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a crossroads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面临抉择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at a career crossroads.”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leap of faith</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冒险一试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leap of faith.”</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Making it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让转变成功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retrain</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再培训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retrained as a nurse.”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pay cut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降薪</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a pay cut to switch.”</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start from scratch</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从头开始</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had to start from scratch.”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test the water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先试探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“Test the water with a part-time role.”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build a bridge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搭建过渡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“Build a bridge with freelance work.”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倦怠</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下定决心</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the plunge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超越(现职)</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outgrow</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面临抉择</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 a crossroads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降薪</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pay cut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先试探</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test the water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搭建过渡</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 a bridge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冒险一试</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leap of faith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switched</a:t>
            </a:r>
          </a:p>
        </p:txBody>
      </p:sp>
      <p:sp>
        <p:nvSpPr>
          <p:cNvPr id="10" name="Rounded Rectangle 9"/>
          <p:cNvSpPr/>
          <p:nvPr/>
        </p:nvSpPr>
        <p:spPr>
          <a:xfrm>
            <a:off x="3346704"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transferable</a:t>
            </a:r>
          </a:p>
        </p:txBody>
      </p:sp>
      <p:sp>
        <p:nvSpPr>
          <p:cNvPr id="11" name="Rounded Rectangle 10"/>
          <p:cNvSpPr/>
          <p:nvPr/>
        </p:nvSpPr>
        <p:spPr>
          <a:xfrm>
            <a:off x="5120639"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plunge</a:t>
            </a:r>
          </a:p>
        </p:txBody>
      </p:sp>
      <p:sp>
        <p:nvSpPr>
          <p:cNvPr id="12" name="Rounded Rectangle 11"/>
          <p:cNvSpPr/>
          <p:nvPr/>
        </p:nvSpPr>
        <p:spPr>
          <a:xfrm>
            <a:off x="6236207"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crossroads</a:t>
            </a:r>
          </a:p>
        </p:txBody>
      </p:sp>
      <p:sp>
        <p:nvSpPr>
          <p:cNvPr id="13" name="Rounded Rectangle 12"/>
          <p:cNvSpPr/>
          <p:nvPr/>
        </p:nvSpPr>
        <p:spPr>
          <a:xfrm>
            <a:off x="7790687"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retrain</a:t>
            </a:r>
          </a:p>
        </p:txBody>
      </p:sp>
      <p:sp>
        <p:nvSpPr>
          <p:cNvPr id="14" name="Rounded Rectangle 13"/>
          <p:cNvSpPr/>
          <p:nvPr/>
        </p:nvSpPr>
        <p:spPr>
          <a:xfrm>
            <a:off x="9015983"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scratch</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_______ careers at 38.</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Teaching builds _______ skills.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transferable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finally took the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plunge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at a career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crossroads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She decided to _______ as a nurse.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retrain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He had to start from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scratch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switch careers, change jobs, make a career change;take a pay cut (不是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Explaining a career change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面试中解释转行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moved from teaching to training.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Candidate</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career change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did you leave teaching?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enjoyed it, but I outgrew it. I wanted to work with adults on business skills.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transferable skills do you bring?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Communication, planning and managing groups. I’ve also completed a training certificate.</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career change in an interview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Wasn’t it a risk to take a pay cut?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but I saw it as a leap of faith. I tested the water with part-time workshops first.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that go?</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well. That convinced me to take the plunge.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Explaining a career change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career change.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Old role → new role: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transferable skills · outgrew · took the plunge · tested the water · pay cut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why, what you bring and how you prepared.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Answer “What if you change your mind?”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Show passion without criticising the old job.</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concrete achievement.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Advice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给朋友建议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is thinking about switching fields.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Advice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at a crossroads. I’m thinking of leaving finance to join a tech start-up.</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big step. What attracts you to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feel unfulfilled at the bank, and I like building things.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Have you tested the water, for example with a side project?</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Advice to a friend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start there. Build a bridge before you leave.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money?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 ready for a pay cut at the start. Do the maths first.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Advice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a career change.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at a crossroads.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 Change: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at a crossroads · test the water · build a bridge · pay cut · start from scratch</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questions and suggest a low-risk first step.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family responsibilities.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talking to someone in the field.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three-month review.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At what age is it too late to switch careers?</a:t>
            </a:r>
          </a:p>
          <a:p>
            <a:pPr algn="l">
              <a:lnSpc>
                <a:spcPct val="115000"/>
              </a:lnSpc>
              <a:spcAft>
                <a:spcPts val="800"/>
              </a:spcAft>
            </a:pPr>
            <a:r>
              <a:rPr sz="1400" b="0">
                <a:solidFill>
                  <a:srgbClr val="5F677A"/>
                </a:solidFill>
                <a:latin typeface="Arial"/>
                <a:ea typeface="Microsoft YaHei"/>
              </a:rPr>
              <a:t>💬 “I don’t think there is…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biggest risks of changing careers?</a:t>
            </a:r>
          </a:p>
          <a:p>
            <a:pPr algn="l">
              <a:lnSpc>
                <a:spcPct val="115000"/>
              </a:lnSpc>
              <a:spcAft>
                <a:spcPts val="800"/>
              </a:spcAft>
            </a:pPr>
            <a:r>
              <a:rPr sz="1400" b="0">
                <a:solidFill>
                  <a:srgbClr val="5F677A"/>
                </a:solidFill>
                <a:latin typeface="Arial"/>
                <a:ea typeface="Microsoft YaHei"/>
              </a:rPr>
              <a:t>💬 “The main risk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of your skills could move to another field?</a:t>
            </a:r>
          </a:p>
          <a:p>
            <a:pPr algn="l">
              <a:lnSpc>
                <a:spcPct val="115000"/>
              </a:lnSpc>
              <a:spcAft>
                <a:spcPts val="800"/>
              </a:spcAft>
            </a:pPr>
            <a:r>
              <a:rPr sz="1400" b="0">
                <a:solidFill>
                  <a:srgbClr val="5F677A"/>
                </a:solidFill>
                <a:latin typeface="Arial"/>
                <a:ea typeface="Microsoft YaHei"/>
              </a:rPr>
              <a:t>💬 “I could use my… in…”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hire career-changers?</a:t>
            </a:r>
          </a:p>
          <a:p>
            <a:pPr algn="l">
              <a:lnSpc>
                <a:spcPct val="115000"/>
              </a:lnSpc>
              <a:spcAft>
                <a:spcPts val="800"/>
              </a:spcAft>
            </a:pPr>
            <a:r>
              <a:rPr sz="1400" b="0">
                <a:solidFill>
                  <a:srgbClr val="5F677A"/>
                </a:solidFill>
                <a:latin typeface="Arial"/>
                <a:ea typeface="Microsoft YaHei"/>
              </a:rPr>
              <a:t>💬 “Yes, because they bring…”</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change to if you could start again?</a:t>
            </a:r>
          </a:p>
          <a:p>
            <a:pPr algn="l">
              <a:lnSpc>
                <a:spcPct val="115000"/>
              </a:lnSpc>
              <a:spcAft>
                <a:spcPts val="800"/>
              </a:spcAft>
            </a:pPr>
            <a:r>
              <a:rPr sz="1400" b="0">
                <a:solidFill>
                  <a:srgbClr val="5F677A"/>
                </a:solidFill>
                <a:latin typeface="Arial"/>
                <a:ea typeface="Microsoft YaHei"/>
              </a:rPr>
              <a:t>💬 “I’d probably…”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think companies should hire career-changers. They bring fresh perspectives and often have strong motivation because they chose the new field. They may need some training, but they also bring transferable skills and life experience. Hiring only people with a traditional background can limit creativity.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“fresh perspectives” 新视角;“traditional background” 传统背景。</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Giving reasons and talking about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原因与变化</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because / since / as</a:t>
                      </a:r>
                    </a:p>
                  </a:txBody>
                  <a:tcPr anchor="ctr">
                    <a:solidFill>
                      <a:srgbClr val="FFFFFF"/>
                    </a:solidFill>
                  </a:tcPr>
                </a:tc>
                <a:tc>
                  <a:txBody>
                    <a:bodyPr wrap="square"/>
                    <a:lstStyle/>
                    <a:p>
                      <a:r>
                        <a:rPr sz="1600" b="0">
                          <a:solidFill>
                            <a:srgbClr val="1F2A44"/>
                          </a:solidFill>
                          <a:latin typeface="Arial"/>
                          <a:ea typeface="Microsoft YaHei"/>
                        </a:rPr>
                        <a:t>I left because I felt unfulfilled.</a:t>
                      </a:r>
                    </a:p>
                  </a:txBody>
                  <a:tcPr anchor="ctr">
                    <a:solidFill>
                      <a:srgbClr val="FFFFFF"/>
                    </a:solidFill>
                  </a:tcPr>
                </a:tc>
              </a:tr>
              <a:tr h="408432">
                <a:tc>
                  <a:txBody>
                    <a:bodyPr wrap="square"/>
                    <a:lstStyle/>
                    <a:p>
                      <a:r>
                        <a:rPr sz="1600" b="1">
                          <a:solidFill>
                            <a:srgbClr val="1F2A44"/>
                          </a:solidFill>
                          <a:latin typeface="Arial"/>
                          <a:ea typeface="Microsoft YaHei"/>
                        </a:rPr>
                        <a:t>so / that’s why</a:t>
                      </a:r>
                    </a:p>
                  </a:txBody>
                  <a:tcPr anchor="ctr">
                    <a:solidFill>
                      <a:srgbClr val="FFEFD9"/>
                    </a:solidFill>
                  </a:tcPr>
                </a:tc>
                <a:tc>
                  <a:txBody>
                    <a:bodyPr wrap="square"/>
                    <a:lstStyle/>
                    <a:p>
                      <a:r>
                        <a:rPr sz="1600" b="0">
                          <a:solidFill>
                            <a:srgbClr val="1F2A44"/>
                          </a:solidFill>
                          <a:latin typeface="Arial"/>
                          <a:ea typeface="Microsoft YaHei"/>
                        </a:rPr>
                        <a:t>I felt stuck, so I retrained.</a:t>
                      </a:r>
                    </a:p>
                  </a:txBody>
                  <a:tcPr anchor="ctr">
                    <a:solidFill>
                      <a:srgbClr val="FFEFD9"/>
                    </a:solidFill>
                  </a:tcPr>
                </a:tc>
              </a:tr>
              <a:tr h="408432">
                <a:tc>
                  <a:txBody>
                    <a:bodyPr wrap="square"/>
                    <a:lstStyle/>
                    <a:p>
                      <a:r>
                        <a:rPr sz="1600" b="1">
                          <a:solidFill>
                            <a:srgbClr val="1F2A44"/>
                          </a:solidFill>
                          <a:latin typeface="Arial"/>
                          <a:ea typeface="Microsoft YaHei"/>
                        </a:rPr>
                        <a:t>used to / now</a:t>
                      </a:r>
                    </a:p>
                  </a:txBody>
                  <a:tcPr anchor="ctr">
                    <a:solidFill>
                      <a:srgbClr val="FFFFFF"/>
                    </a:solidFill>
                  </a:tcPr>
                </a:tc>
                <a:tc>
                  <a:txBody>
                    <a:bodyPr wrap="square"/>
                    <a:lstStyle/>
                    <a:p>
                      <a:r>
                        <a:rPr sz="1600" b="0">
                          <a:solidFill>
                            <a:srgbClr val="1F2A44"/>
                          </a:solidFill>
                          <a:latin typeface="Arial"/>
                          <a:ea typeface="Microsoft YaHei"/>
                        </a:rPr>
                        <a:t>I used to teach. Now I train adults.</a:t>
                      </a:r>
                    </a:p>
                  </a:txBody>
                  <a:tcPr anchor="ctr">
                    <a:solidFill>
                      <a:srgbClr val="FFFFFF"/>
                    </a:solidFill>
                  </a:tcPr>
                </a:tc>
              </a:tr>
              <a:tr h="408432">
                <a:tc>
                  <a:txBody>
                    <a:bodyPr wrap="square"/>
                    <a:lstStyle/>
                    <a:p>
                      <a:r>
                        <a:rPr sz="1600" b="1">
                          <a:solidFill>
                            <a:srgbClr val="1F2A44"/>
                          </a:solidFill>
                          <a:latin typeface="Arial"/>
                          <a:ea typeface="Microsoft YaHei"/>
                        </a:rPr>
                        <a:t>have become</a:t>
                      </a:r>
                    </a:p>
                  </a:txBody>
                  <a:tcPr anchor="ctr">
                    <a:solidFill>
                      <a:srgbClr val="FFEFD9"/>
                    </a:solidFill>
                  </a:tcPr>
                </a:tc>
                <a:tc>
                  <a:txBody>
                    <a:bodyPr wrap="square"/>
                    <a:lstStyle/>
                    <a:p>
                      <a:r>
                        <a:rPr sz="1600" b="0">
                          <a:solidFill>
                            <a:srgbClr val="1F2A44"/>
                          </a:solidFill>
                          <a:latin typeface="Arial"/>
                          <a:ea typeface="Microsoft YaHei"/>
                        </a:rPr>
                        <a:t>I’ve become more confident.</a:t>
                      </a:r>
                    </a:p>
                  </a:txBody>
                  <a:tcPr anchor="ctr">
                    <a:solidFill>
                      <a:srgbClr val="FFEFD9"/>
                    </a:solidFill>
                  </a:tcPr>
                </a:tc>
              </a:tr>
            </a:tbl>
          </a:graphicData>
        </a:graphic>
      </p:graphicFrame>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Giving reasons and talking about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原因与变化</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Used to + verb for past states that are no longer true; have become for change up to now.</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changed my career to marketing.</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switched to a career in marketing. / I changed careers.</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used to teaching.</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used to teach.</a:t>
            </a:r>
          </a:p>
          <a:p>
            <a:pPr algn="l">
              <a:spcAft>
                <a:spcPts val="200"/>
              </a:spcAft>
            </a:pPr>
            <a:r>
              <a:rPr sz="1200" b="0">
                <a:solidFill>
                  <a:srgbClr val="FFFFFF"/>
                </a:solidFill>
                <a:latin typeface="Arial"/>
                <a:ea typeface="Microsoft YaHei"/>
              </a:rPr>
              <a:t>used to + 动词原形</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used to teach.</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used to teaching.</a:t>
            </a:r>
          </a:p>
          <a:p>
            <a:pPr algn="l">
              <a:spcAft>
                <a:spcPts val="200"/>
              </a:spcAft>
            </a:pPr>
            <a:r>
              <a:rPr sz="1200" b="0">
                <a:solidFill>
                  <a:srgbClr val="FFFFFF"/>
                </a:solidFill>
                <a:latin typeface="Arial"/>
                <a:ea typeface="Microsoft YaHei"/>
              </a:rPr>
              <a:t>be used to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need to adapt myself to the new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need to adapt to the new job.</a:t>
            </a:r>
          </a:p>
          <a:p>
            <a:pPr algn="l">
              <a:spcAft>
                <a:spcPts val="200"/>
              </a:spcAft>
            </a:pPr>
            <a:r>
              <a:rPr sz="1200" b="0">
                <a:solidFill>
                  <a:srgbClr val="FFFFFF"/>
                </a:solidFill>
                <a:latin typeface="Arial"/>
                <a:ea typeface="Microsoft YaHei"/>
              </a:rPr>
              <a:t>adapt 不加 myself</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afraid of to fail.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of failing.</a:t>
            </a:r>
          </a:p>
          <a:p>
            <a:pPr algn="l">
              <a:spcAft>
                <a:spcPts val="200"/>
              </a:spcAft>
            </a:pPr>
            <a:r>
              <a:rPr sz="1200" b="0">
                <a:solidFill>
                  <a:srgbClr val="FFFFFF"/>
                </a:solidFill>
                <a:latin typeface="Arial"/>
                <a:ea typeface="Microsoft YaHei"/>
              </a:rPr>
              <a:t>of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no experiences in tech.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no experience in tech.</a:t>
            </a:r>
          </a:p>
          <a:p>
            <a:pPr algn="l">
              <a:spcAft>
                <a:spcPts val="200"/>
              </a:spcAft>
            </a:pPr>
            <a:r>
              <a:rPr sz="1200" b="0">
                <a:solidFill>
                  <a:srgbClr val="FFFFFF"/>
                </a:solidFill>
                <a:latin typeface="Arial"/>
                <a:ea typeface="Microsoft YaHei"/>
              </a:rPr>
              <a:t>experience 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used to / be used to, adapt (no reflexive), afraid of + -ing, experience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Career changes are common. Many people change fields 3–5 times.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Tell a positive story. “I’m moving towards…” rather than “I’m escaping…”.</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Volunteer or freelance first. It’s the usual way to gain experience.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Network. Informational interviews are common (“May I ask you a few questions about your work?”).</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career change with outgrew / took the plunge.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list my transferable skills.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advise a friend with test the water / build a bridge.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used to / be used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 · Lesson 45 Changing careers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Answer: “Why do you want to change careers?”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used to, afraid of -ing, experience uncountable.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从错误中学习</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learn from your mistakes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learned a lot of my mistake.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learned a lot from my mistake.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move 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It’s time to move 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友好竞赛</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friendly competition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热门技能</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in-demand skills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transferable skills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Teaching builds transferable skills.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“邀功”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credit for</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“保持技能更新”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(your skills) up to date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“提高标准”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the bar</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I’m planning to taking a course.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planning to take a course.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I’m afraid of to fail.</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of failing.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9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