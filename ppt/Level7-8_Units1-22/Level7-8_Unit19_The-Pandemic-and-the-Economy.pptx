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7–8</a:t>
            </a:r>
          </a:p>
          <a:p>
            <a:r>
              <a:t>Unit 19: The Pandemic and the Economy — Self-Study Workbook (Lessons 87–88)</a:t>
            </a:r>
          </a:p>
          <a:p/>
          <a:p>
            <a:r>
              <a:t>开场：简单介绍本单元的主题和要完成的 2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87 · Lessons the pandemic taught us 疫情给我们的教训</a:t>
            </a:r>
          </a:p>
          <a:p>
            <a:r>
              <a:t>Goal: reflect on how work and business changed during and after the pandemic, and discuss lessons learned.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“pandemic” 疫情大流行;“lockdown” 封控。第 4 题 “wish had not happened” 对过去的遗憾。</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what the pandemic taught you about work.</a:t>
            </a:r>
          </a:p>
          <a:p>
            <a:r>
              <a:t>Say: before → during → what changed → lessons.</a:t>
            </a:r>
          </a:p>
          <a:p>
            <a:r>
              <a:t>Useful starters: “Before the pandemic, …” / “Suddenly, we had to…” / “One lesson was…” / “Looking back, …”</a:t>
            </a:r>
          </a:p>
          <a:p>
            <a:r>
              <a:t>“Looking back” 回顾;“we had to + 动词原形”。</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The pandemic forced businesses to adapt faster than they thought possible. Companies that had resisted remote work for years found that many tasks could be done from home. Meetings moved online, customers shopped digitally, and supply chains showed how fragile they were. At the same time, employees realised how much they valued flexibility, but also how much they missed spontaneous conversations. Many leaders learned that trust and clear communication matter more than physical presence. Organisations that had cash reserves and flexible plans coped better than those that did not. Not all lessons were positive: inequalities widened, and mental health suffered for many. Looking back, the most useful lesson may be simple: prepare for uncertainty by building resilience, in people, in processes and in finances.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did companies find about remote work?</a:t>
            </a:r>
          </a:p>
          <a:p>
            <a:r>
              <a:t>A: Many tasks could be done from home.</a:t>
            </a:r>
          </a:p>
          <a:p>
            <a:r>
              <a:t>Q2. Which organisations coped better?</a:t>
            </a:r>
          </a:p>
          <a:p>
            <a:r>
              <a:t>A: Those with cash reserves and flexible plans.</a:t>
            </a:r>
          </a:p>
          <a:p>
            <a:r>
              <a:t>Q3. What is the most useful lesson, according to the passage?</a:t>
            </a:r>
          </a:p>
          <a:p>
            <a:r>
              <a:t>A: Prepare for uncertainty by building resilience in people, processes and finances.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Looking back 回顾</a:t>
            </a:r>
          </a:p>
          <a:p>
            <a:r>
              <a:t>领读 → 学员跟读 → 请学员用表达造一个和自己工作相关的句子。</a:t>
            </a:r>
          </a:p>
          <a:p>
            <a:r>
              <a:t>in hindsight (phrase) 事后看来 — “In hindsight, we should have prepared.”</a:t>
            </a:r>
          </a:p>
          <a:p>
            <a:r>
              <a:t>lessons learned (noun) 经验教训 — “We wrote up lessons learned.”</a:t>
            </a:r>
          </a:p>
          <a:p>
            <a:r>
              <a:t>unprecedented (adjective) 前所未有的 — “These were unprecedented times.”</a:t>
            </a:r>
          </a:p>
          <a:p>
            <a:r>
              <a:t>★ the new normal (noun) 新常态 — “Hybrid work is the new normal.”</a:t>
            </a:r>
          </a:p>
          <a:p>
            <a:r>
              <a:t>★ pivot (verb) 迅速转型 — “We pivoted to online sales.”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Business impact 商业影响</a:t>
            </a:r>
          </a:p>
          <a:p>
            <a:r>
              <a:t>领读 → 学员跟读 → 请学员用表达造一个和自己工作相关的句子。</a:t>
            </a:r>
          </a:p>
          <a:p>
            <a:r>
              <a:t>lockdown (noun) 封控 — “During lockdown, sales fell.”</a:t>
            </a:r>
          </a:p>
          <a:p>
            <a:r>
              <a:t>supply chain disruption (noun) 供应链中断 — “Supply chain disruption raised prices.”</a:t>
            </a:r>
          </a:p>
          <a:p>
            <a:r>
              <a:t>furlough (noun/verb) 休假(政府补贴) — “Staff were furloughed.”</a:t>
            </a:r>
          </a:p>
          <a:p>
            <a:r>
              <a:t>★ cash reserves (noun) 现金储备 — “Cash reserves saved us.”</a:t>
            </a:r>
          </a:p>
          <a:p>
            <a:r>
              <a:t>★ weather the storm (idiom) 渡过难关 — “We weathered the storm.”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Lessons 经验</a:t>
            </a:r>
          </a:p>
          <a:p>
            <a:r>
              <a:t>领读 → 学员跟读 → 请学员用表达造一个和自己工作相关的句子。</a:t>
            </a:r>
          </a:p>
          <a:p>
            <a:r>
              <a:t>resilience (noun) 韧性 — “Resilience is vital.”</a:t>
            </a:r>
          </a:p>
          <a:p>
            <a:r>
              <a:t>agility (noun) 敏捷性 — “Agility helped us adapt.”</a:t>
            </a:r>
          </a:p>
          <a:p>
            <a:r>
              <a:t>contingency plan (noun) 应急预案 — “We need a contingency plan.”</a:t>
            </a:r>
          </a:p>
          <a:p>
            <a:r>
              <a:t>★ future-proof (verb) 面向未来 — “Future-proof your business.”</a:t>
            </a:r>
          </a:p>
          <a:p>
            <a:r>
              <a:t>★ a wake-up call (idiom) 警钟 — “It was a wake-up call.”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hindsight / unprecedented / lockdown / reserves / resilience / contingency</a:t>
            </a:r>
          </a:p>
          <a:p>
            <a:r>
              <a:t>1. In _______, we should have prepared. → hindsight</a:t>
            </a:r>
          </a:p>
          <a:p>
            <a:r>
              <a:t>2. These were _______ times for everyone. → unprecedented</a:t>
            </a:r>
          </a:p>
          <a:p>
            <a:r>
              <a:t>3. During _______, our sales dropped. → lockdown</a:t>
            </a:r>
          </a:p>
          <a:p>
            <a:r>
              <a:t>4. Cash _______ helped us survive. → reserves</a:t>
            </a:r>
          </a:p>
          <a:p>
            <a:r>
              <a:t>5. We built more _______ after the crisis. → resilience</a:t>
            </a:r>
          </a:p>
          <a:p>
            <a:r>
              <a:t>6. We need a _______ plan for emergencies. → contingency</a:t>
            </a:r>
          </a:p>
          <a:p>
            <a:r>
              <a:t>Mistake Watch: (词形) resilience(名词)/ resilient(形容词);unprecedented 拼写易错(pre-ce-dent-ed)。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Reflecting on remote work 回顾远程办公</a:t>
            </a:r>
          </a:p>
          <a:p>
            <a:r>
              <a:t>情景：Two colleagues talk.</a:t>
            </a:r>
          </a:p>
          <a:p>
            <a:r>
              <a:t>Role A: Colleague 1 Role B: Colleague 2</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Looking back, what surprised you most about the pandemic?</a:t>
            </a:r>
          </a:p>
          <a:p>
            <a:r>
              <a:t>B: How quickly we adapted. We moved everything online in two weeks.</a:t>
            </a:r>
          </a:p>
          <a:p>
            <a:r>
              <a:t>A: Which change would you keep?</a:t>
            </a:r>
          </a:p>
          <a:p>
            <a:r>
              <a:t>B: Flexible hours. What about you?</a:t>
            </a:r>
          </a:p>
          <a:p>
            <a:r>
              <a:t>A: Online meetings for short updates. They save a lot of time.</a:t>
            </a:r>
          </a:p>
          <a:p>
            <a:r>
              <a:t>B: Is there anything you miss?</a:t>
            </a:r>
          </a:p>
          <a:p>
            <a:r>
              <a:t>A: Casual chats at the office. Video calls don’t replace them.</a:t>
            </a:r>
          </a:p>
          <a:p>
            <a:r>
              <a:t>B: Agreed. A mix works best.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 | </a:t>
            </a:r>
          </a:p>
          <a:p>
            <a:r>
              <a:t>Situation | You reflect on the pandemic at work.</a:t>
            </a:r>
          </a:p>
          <a:p>
            <a:r>
              <a:t>Your role (A) | Colleague.</a:t>
            </a:r>
          </a:p>
          <a:p>
            <a:r>
              <a:t>Partner’s role (B) | Colleague. Change: ______________</a:t>
            </a:r>
          </a:p>
          <a:p>
            <a:r>
              <a:t>Must use (3 or more) | looking back · adapted · keep · miss · a mix works best</a:t>
            </a:r>
          </a:p>
          <a:p>
            <a:r>
              <a:t>Goal | Share a surprise, a change to keep and one you miss.</a:t>
            </a:r>
          </a:p>
          <a:p>
            <a:r>
              <a:t>My notes | ____________________________________________</a:t>
            </a:r>
          </a:p>
          <a:p>
            <a:r>
              <a:t>Mention a mistake.</a:t>
            </a:r>
          </a:p>
          <a:p>
            <a:r>
              <a:t>Mention a positive effect.</a:t>
            </a:r>
          </a:p>
          <a:p>
            <a:r>
              <a:t>Compare with now.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Planning for the next crisis 为下一次危机做准备</a:t>
            </a:r>
          </a:p>
          <a:p>
            <a:r>
              <a:t>情景：A leadership meeting.</a:t>
            </a:r>
          </a:p>
          <a:p>
            <a:r>
              <a:t>Role A: CEO Role B: Operations director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did we learn from the last crisis?</a:t>
            </a:r>
          </a:p>
          <a:p>
            <a:r>
              <a:t>B: We were too dependent on one supplier.</a:t>
            </a:r>
          </a:p>
          <a:p>
            <a:r>
              <a:t>A: And how do we prevent that?</a:t>
            </a:r>
          </a:p>
          <a:p>
            <a:r>
              <a:t>B: We should diversify suppliers and keep larger cash reserves.</a:t>
            </a:r>
          </a:p>
          <a:p>
            <a:r>
              <a:t>A: Anything else?</a:t>
            </a:r>
          </a:p>
          <a:p>
            <a:r>
              <a:t>B: A clear contingency plan, with roles and communication.</a:t>
            </a:r>
          </a:p>
          <a:p>
            <a:r>
              <a:t>A: Let’s draft it this quarter.</a:t>
            </a:r>
          </a:p>
          <a:p>
            <a:r>
              <a:t>B: I’ll prepare an outline for the next meeting.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 | </a:t>
            </a:r>
          </a:p>
          <a:p>
            <a:r>
              <a:t>Situation | You plan for a crisis.</a:t>
            </a:r>
          </a:p>
          <a:p>
            <a:r>
              <a:t>Your role (A) | CEO.</a:t>
            </a:r>
          </a:p>
          <a:p>
            <a:r>
              <a:t>Partner’s role (B) | Operations director. Risk: ______________</a:t>
            </a:r>
          </a:p>
          <a:p>
            <a:r>
              <a:t>Must use (3 or more) | dependent on · diversify · reserves · contingency plan · draft</a:t>
            </a:r>
          </a:p>
          <a:p>
            <a:r>
              <a:t>Goal | Identify risks and agree actions.</a:t>
            </a:r>
          </a:p>
          <a:p>
            <a:r>
              <a:t>My notes | ____________________________________________</a:t>
            </a:r>
          </a:p>
          <a:p>
            <a:r>
              <a:t>Add a communication plan.</a:t>
            </a:r>
          </a:p>
          <a:p>
            <a:r>
              <a:t>Estimate cost.</a:t>
            </a:r>
          </a:p>
          <a:p>
            <a:r>
              <a:t>Assign owners.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was the biggest lesson for your company? | “We learned that…”</a:t>
            </a:r>
          </a:p>
          <a:p>
            <a:r>
              <a:t>2. Has remote work changed the economy? | “In some ways, yes. For example…”</a:t>
            </a:r>
          </a:p>
          <a:p>
            <a:r>
              <a:t>3. Which industries suffered most? | “Travel and…”</a:t>
            </a:r>
          </a:p>
          <a:p>
            <a:r>
              <a:t>4. Which industries gained? | “Delivery and…”</a:t>
            </a:r>
          </a:p>
          <a:p>
            <a:r>
              <a:t>5. Are we better prepared now? | “To some extent, …”</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“The biggest lesson was that we can adapt quickly when we have to. Before the pandemic, we thought certain things couldn’t change. Then we changed them in weeks. It showed that flexibility is possible, and it made us more willing to try new ways of working.”</a:t>
            </a:r>
          </a:p>
          <a:p>
            <a:r>
              <a:t>“more willing to” 更愿意;“try new ways” 尝试新方法。</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about the past and regrets 谈过去与遗憾</a:t>
            </a:r>
          </a:p>
          <a:p>
            <a:r>
              <a:t>Structure | Example</a:t>
            </a:r>
          </a:p>
          <a:p>
            <a:r>
              <a:t>past simple | We moved online in two weeks.</a:t>
            </a:r>
          </a:p>
          <a:p>
            <a:r>
              <a:t>past perfect | We had never worked remotely before.</a:t>
            </a:r>
          </a:p>
          <a:p>
            <a:r>
              <a:t>should have + p.p. | We should have prepared.</a:t>
            </a:r>
          </a:p>
          <a:p>
            <a:r>
              <a:t>If we had…, we would have… | If we had diversified, we would have coped better.</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about the past and regrets 谈过去与遗憾</a:t>
            </a:r>
          </a:p>
          <a:p>
            <a:r>
              <a:t>Third conditional for unreal past: If + had + p.p., would have + p.p..</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Before the pandemic, we work in the office.  →  ✓ Before the pandemic, we worked in the office.  (过去式)</a:t>
            </a:r>
          </a:p>
          <a:p>
            <a:r>
              <a:t>✗ If we would have planned, we would have been fine.  →  ✓ If we had planned, we would have been fine.  (had planned)</a:t>
            </a:r>
          </a:p>
          <a:p>
            <a:r>
              <a:t>✗ The pandemic was start in 2020.  →  ✓ The pandemic started in 2020.  (过去式)</a:t>
            </a:r>
          </a:p>
          <a:p>
            <a:r>
              <a:t>Mistake Watch: Check past simple vs present perfect, third conditional, the way we work, miss + -ing.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have learned a lot during the lockdown.  →  ✓ We learned a lot during the lockdown.  (过去事件)</a:t>
            </a:r>
          </a:p>
          <a:p>
            <a:r>
              <a:t>✗ It changed the way how we work.  →  ✓ It changed the way we work.  (不重复)</a:t>
            </a:r>
          </a:p>
          <a:p>
            <a:r>
              <a:t>✗ I miss to see my colleagues.  →  ✓ I miss seeing my colleagues.  (miss + -ing)</a:t>
            </a:r>
          </a:p>
          <a:p>
            <a:r>
              <a:t>Mistake Watch: Check past simple vs present perfect, third conditional, the way we work, miss + -ing.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Be sensitive. People experienced the pandemic very differently; avoid assuming.</a:t>
            </a:r>
          </a:p>
          <a:p>
            <a:r>
              <a:t>Don’t blame. Focus on lessons, not on who was right.</a:t>
            </a:r>
          </a:p>
          <a:p>
            <a:r>
              <a:t>“The new normal” is overused. Use it sparingly.</a:t>
            </a:r>
          </a:p>
          <a:p>
            <a:r>
              <a:t>Talk about well-being. It’s a normal part of work conversations now.</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reflect on past events with in hindsight / looking back.</a:t>
            </a:r>
          </a:p>
          <a:p>
            <a:r>
              <a:t>I can name lessons and changes.</a:t>
            </a:r>
          </a:p>
          <a:p>
            <a:r>
              <a:t>I can use third conditional for past regrets.</a:t>
            </a:r>
          </a:p>
          <a:p>
            <a:r>
              <a:t>I use past simple, the way we work and miss + -ing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Describe a lesson you learned from a crisis in 90 seconds.</a:t>
            </a:r>
          </a:p>
          <a:p>
            <a:r>
              <a:t>8–10 | Listen to your recording. Check: past simple, third conditional, miss -ing.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88 · Pandemic millionaires 疫情造就的百万富翁</a:t>
            </a:r>
          </a:p>
          <a:p>
            <a:r>
              <a:t>Goal: discuss how some people and businesses benefited financially from the pandemic, and debate fairness and opportunity in a balanced way.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“pandemic millionaires” 泛指因疫情而致富的人。本课是原则性讨论,不涉及具体个人;讨论”受益与公平”。</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Discuss who benefited from the pandemic economy and whether it was fair.</a:t>
            </a:r>
          </a:p>
          <a:p>
            <a:r>
              <a:t>Say: winners → why → losers → fairness.</a:t>
            </a:r>
          </a:p>
          <a:p>
            <a:r>
              <a:t>Useful starters: “Some sectors, such as…, boomed because…” / “While some people gained, others…” / “Is it fair that…?” / “In my view, …”</a:t>
            </a:r>
          </a:p>
          <a:p>
            <a:r>
              <a:t>“while” 对比两种情况;“boom” = 繁荣,激增。</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The pandemic reshaped the economy in uneven ways. While travel, hospitality and live events suffered sharply, other sectors boomed. Online retail, home delivery, video conferencing, gaming and digital health saw unusual demand. Some entrepreneurs spotted needs early and built successful businesses, and investors in certain technologies saw their wealth grow quickly. Others benefited simply from timing or luck. This raises difficult questions. Is it fair for individuals to profit from a crisis? Many argue that meeting a real need, such as delivering food to isolated people, is legitimate, while exploiting shortages with extreme prices is not. Meanwhile, millions lost income. Economists note that recovery has been uneven, and that policies to support affected workers and small businesses remain important. In the end, the question is not only who gained, but whether the benefits and the costs of a crisis are shared in a way that most people consider reasonable.</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Which sectors suffered and which boomed?</a:t>
            </a:r>
          </a:p>
          <a:p>
            <a:r>
              <a:t>A: Suffered: travel, hospitality, live events; boomed: online retail, delivery, video conferencing, gaming, digital health.</a:t>
            </a:r>
          </a:p>
          <a:p>
            <a:r>
              <a:t>Q2. Where do many people draw the line on fairness?</a:t>
            </a:r>
          </a:p>
          <a:p>
            <a:r>
              <a:t>A: Meeting a real need is legitimate; exploiting shortages with extreme prices is not.</a:t>
            </a:r>
          </a:p>
          <a:p>
            <a:r>
              <a:t>Q3. What do economists say about recovery?</a:t>
            </a:r>
          </a:p>
          <a:p>
            <a:r>
              <a:t>A: Recovery has been uneven and support policies remain important.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Winners 受益者</a:t>
            </a:r>
          </a:p>
          <a:p>
            <a:r>
              <a:t>领读 → 学员跟读 → 请学员用表达造一个和自己工作相关的句子。</a:t>
            </a:r>
          </a:p>
          <a:p>
            <a:r>
              <a:t>boom (verb/noun) 激增/繁荣 — “Online sales boomed.”</a:t>
            </a:r>
          </a:p>
          <a:p>
            <a:r>
              <a:t>windfall (noun) 意外之财 — “It was a windfall.”</a:t>
            </a:r>
          </a:p>
          <a:p>
            <a:r>
              <a:t>spot an opportunity (collocation) 发现机会 — “She spotted an opportunity.”</a:t>
            </a:r>
          </a:p>
          <a:p>
            <a:r>
              <a:t>★ strike gold (idiom) 发大财 — “They struck gold with the app.”</a:t>
            </a:r>
          </a:p>
          <a:p>
            <a:r>
              <a:t>★ ride the wave (idiom) 乘势而上 — “They rode the wave of demand.”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Losers 受损者</a:t>
            </a:r>
          </a:p>
          <a:p>
            <a:r>
              <a:t>领读 → 学员跟读 → 请学员用表达造一个和自己工作相关的句子。</a:t>
            </a:r>
          </a:p>
          <a:p>
            <a:r>
              <a:t>slump (noun/verb) 暴跌 — “Travel slumped.”</a:t>
            </a:r>
          </a:p>
          <a:p>
            <a:r>
              <a:t>go under (phrasal verb) 倒闭 — “Many small shops went under.”</a:t>
            </a:r>
          </a:p>
          <a:p>
            <a:r>
              <a:t>lose income (collocation) 失去收入 — “Millions lost income.”</a:t>
            </a:r>
          </a:p>
          <a:p>
            <a:r>
              <a:t>★ be hit hard (phrase) 受到重创 — “Hospitality was hit hard.”</a:t>
            </a:r>
          </a:p>
          <a:p>
            <a:r>
              <a:t>★ a K-shaped recovery (noun) K 型复苏 — “The recovery was K-shaped.”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Fairness 公平</a:t>
            </a:r>
          </a:p>
          <a:p>
            <a:r>
              <a:t>领读 → 学员跟读 → 请学员用表达造一个和自己工作相关的句子。</a:t>
            </a:r>
          </a:p>
          <a:p>
            <a:r>
              <a:t>profit from (verb phrase) 从…获利 — “Don’t profit from others’ suffering.”</a:t>
            </a:r>
          </a:p>
          <a:p>
            <a:r>
              <a:t>price gouging (noun) 哄抬物价 — “Price gouging is illegal in some places.”</a:t>
            </a:r>
          </a:p>
          <a:p>
            <a:r>
              <a:t>inequality (noun) 不平等 — “Inequality widened.”</a:t>
            </a:r>
          </a:p>
          <a:p>
            <a:r>
              <a:t>★ windfall tax (noun) 暴利税 — “Some proposed a windfall tax.”</a:t>
            </a:r>
          </a:p>
          <a:p>
            <a:r>
              <a:t>★ capitalise on (phrasal verb) 利用 — “She capitalised on demand.”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boomed / spot / slumped / inequality / profit / gouging</a:t>
            </a:r>
          </a:p>
          <a:p>
            <a:r>
              <a:t>1. Online retail _______ during the pandemic. → boomed</a:t>
            </a:r>
          </a:p>
          <a:p>
            <a:r>
              <a:t>2. She was able to _______ an opportunity early. → spot</a:t>
            </a:r>
          </a:p>
          <a:p>
            <a:r>
              <a:t>3. Travel _______ sharply. → slumped</a:t>
            </a:r>
          </a:p>
          <a:p>
            <a:r>
              <a:t>4. _______ widened between sectors. → Inequality</a:t>
            </a:r>
          </a:p>
          <a:p>
            <a:r>
              <a:t>5. Is it fair to _______ from a crisis? → profit</a:t>
            </a:r>
          </a:p>
          <a:p>
            <a:r>
              <a:t>6. Price _______ is illegal in some countries. → gouging</a:t>
            </a:r>
          </a:p>
          <a:p>
            <a:r>
              <a:t>Mistake Watch: (搭配) profit FROM,capitalise ON,spot an opportunity;boom 与 slump 对应。</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balanced conversation 平衡的对话</a:t>
            </a:r>
          </a:p>
          <a:p>
            <a:r>
              <a:t>情景：Colleagues discuss the topic.</a:t>
            </a:r>
          </a:p>
          <a:p>
            <a:r>
              <a:t>Role A: Colleague 1 Role B: Colleague 2</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Some people became millionaires during the pandemic. Is that fair?</a:t>
            </a:r>
          </a:p>
          <a:p>
            <a:r>
              <a:t>B: It depends. If they met a real need, I think it’s fair.</a:t>
            </a:r>
          </a:p>
          <a:p>
            <a:r>
              <a:t>A: But others lost their jobs.</a:t>
            </a:r>
          </a:p>
          <a:p>
            <a:r>
              <a:t>B: True. That’s why policies to support affected people matter.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about price gouging?</a:t>
            </a:r>
          </a:p>
          <a:p>
            <a:r>
              <a:t>B: That’s different. Charging extreme prices for essentials is exploitation.</a:t>
            </a:r>
          </a:p>
          <a:p>
            <a:r>
              <a:t>A: I agree. There’s a line between opportunity and exploitation.</a:t>
            </a:r>
          </a:p>
          <a:p>
            <a:r>
              <a:t>B: Exactly.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 | </a:t>
            </a:r>
          </a:p>
          <a:p>
            <a:r>
              <a:t>Situation | You discuss fairness.</a:t>
            </a:r>
          </a:p>
          <a:p>
            <a:r>
              <a:t>Your role (A) | Colleague.</a:t>
            </a:r>
          </a:p>
          <a:p>
            <a:r>
              <a:t>Partner’s role (B) | Colleague. Issue: ______________</a:t>
            </a:r>
          </a:p>
          <a:p>
            <a:r>
              <a:t>Must use (3 or more) | It depends · met a real need · price gouging · exploitation · there’s a line</a:t>
            </a:r>
          </a:p>
          <a:p>
            <a:r>
              <a:t>Goal | Give a balanced view and agree on where to draw the line.</a:t>
            </a:r>
          </a:p>
          <a:p>
            <a:r>
              <a:t>My notes | ____________________________________________</a:t>
            </a:r>
          </a:p>
          <a:p>
            <a:r>
              <a:t>Give an example.</a:t>
            </a:r>
          </a:p>
          <a:p>
            <a:r>
              <a:t>Acknowledge the other view.</a:t>
            </a:r>
          </a:p>
          <a:p>
            <a:r>
              <a:t>Suggest a policy.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an opportunity 解释一个商机</a:t>
            </a:r>
          </a:p>
          <a:p>
            <a:r>
              <a:t>情景：An entrepreneur tells their story.</a:t>
            </a:r>
          </a:p>
          <a:p>
            <a:r>
              <a:t>Role A: Interviewer Role B: Entrepreneur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How did you spot the opportunity?</a:t>
            </a:r>
          </a:p>
          <a:p>
            <a:r>
              <a:t>B: During lockdown, local restaurants needed delivery but had no website.</a:t>
            </a:r>
          </a:p>
          <a:p>
            <a:r>
              <a:t>A: So you built a platform?</a:t>
            </a:r>
          </a:p>
          <a:p>
            <a:r>
              <a:t>B: Yes, within a month. Demand boomed.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Was it luck?</a:t>
            </a:r>
          </a:p>
          <a:p>
            <a:r>
              <a:t>B: Partly. Timing helped, but we also worked very hard.</a:t>
            </a:r>
          </a:p>
          <a:p>
            <a:r>
              <a:t>A: What have you done since?</a:t>
            </a:r>
          </a:p>
          <a:p>
            <a:r>
              <a:t>B: We kept fees low and gave a share of profits to a community fund.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 | </a:t>
            </a:r>
          </a:p>
          <a:p>
            <a:r>
              <a:t>Situation | You tell a business story.</a:t>
            </a:r>
          </a:p>
          <a:p>
            <a:r>
              <a:t>Your role (A) | Interviewer.</a:t>
            </a:r>
          </a:p>
          <a:p>
            <a:r>
              <a:t>Partner’s role (B) | Entrepreneur. Idea: ______________</a:t>
            </a:r>
          </a:p>
          <a:p>
            <a:r>
              <a:t>Must use (3 or more) | spot an opportunity · demand boomed · partly luck · timing · community fund</a:t>
            </a:r>
          </a:p>
          <a:p>
            <a:r>
              <a:t>Goal | Tell the story honestly, including luck.</a:t>
            </a:r>
          </a:p>
          <a:p>
            <a:r>
              <a:t>My notes | ____________________________________________</a:t>
            </a:r>
          </a:p>
          <a:p>
            <a:r>
              <a:t>Admit a risk you took.</a:t>
            </a:r>
          </a:p>
          <a:p>
            <a:r>
              <a:t>Mention a lesson.</a:t>
            </a:r>
          </a:p>
          <a:p>
            <a:r>
              <a:t>Describe the future.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Which industries gained most? | “I’d say…”</a:t>
            </a:r>
          </a:p>
          <a:p>
            <a:r>
              <a:t>2. Is it right to profit from a crisis? | “It depends on…”</a:t>
            </a:r>
          </a:p>
          <a:p>
            <a:r>
              <a:t>3. What could governments do about inequality? | “They could…”</a:t>
            </a:r>
          </a:p>
          <a:p>
            <a:r>
              <a:t>4. Would you start a business in a crisis? | “I might, if…”</a:t>
            </a:r>
          </a:p>
          <a:p>
            <a:r>
              <a:t>5. Was timing or skill more important? | “Probably both, since…”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it depends on how the profit is made. If a company meets a real need at a fair price, I see nothing wrong. But if it exploits shortages or puts others at risk, that’s unethical. Fairness is about both the way you earn money and what you do afterwards, such as paying taxes and treating staff well.”</a:t>
            </a:r>
          </a:p>
          <a:p>
            <a:r>
              <a:t>“nothing wrong” 没什么不妥;“depends on how” 取决于如何…</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Balanced contrast 平衡对比</a:t>
            </a:r>
          </a:p>
          <a:p>
            <a:r>
              <a:t>Structure | Example</a:t>
            </a:r>
          </a:p>
          <a:p>
            <a:r>
              <a:t>While A, B | While travel slumped, delivery boomed.</a:t>
            </a:r>
          </a:p>
          <a:p>
            <a:r>
              <a:t>whereas | Some sectors lost income, whereas others gained.</a:t>
            </a:r>
          </a:p>
          <a:p>
            <a:r>
              <a:t>on the other hand | On the other hand, many small shops went under.</a:t>
            </a:r>
          </a:p>
          <a:p>
            <a:r>
              <a:t>it depends on… | It depends on how the profit is made.</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Balanced contrast 平衡对比</a:t>
            </a:r>
          </a:p>
          <a:p>
            <a:r>
              <a:t>While/whereas at the start of a sentence connect two contrasting clauses with a comma.</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Travel was slump.  →  ✓ Travel slumped.  (动词)</a:t>
            </a:r>
          </a:p>
          <a:p>
            <a:r>
              <a:t>✗ The online shops were boomed.  →  ✓ Online shops boomed.  (不及物)</a:t>
            </a:r>
          </a:p>
          <a:p>
            <a:r>
              <a:t>✗ Some people become rich by the pandemic.  →  ✓ Some people became rich because of the pandemic.  (because of)</a:t>
            </a:r>
          </a:p>
          <a:p>
            <a:r>
              <a:t>Mistake Watch: Check intransitive boom/slump, because of, depend on, uncountable inequality.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It’s not fair that they earn lots money.  →  ✓ It’s not fair that they earned so much.  (时态/表达)</a:t>
            </a:r>
          </a:p>
          <a:p>
            <a:r>
              <a:t>✗ I think it depends of the situation.  →  ✓ I think it depends on the situation.  (depend on)</a:t>
            </a:r>
          </a:p>
          <a:p>
            <a:r>
              <a:t>✗ The inequality are growing.  →  ✓ Inequality is growing.  (不可数)</a:t>
            </a:r>
          </a:p>
          <a:p>
            <a:r>
              <a:t>Mistake Watch: Check intransitive boom/slump, because of, depend on, uncountable inequality.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Be careful with names. Avoid accusing specific people in discussion.</a:t>
            </a:r>
          </a:p>
          <a:p>
            <a:r>
              <a:t>Use facts. “According to reports…” adds credibility.</a:t>
            </a:r>
          </a:p>
          <a:p>
            <a:r>
              <a:t>Money talk. People rarely discuss personal wealth in casual conversation.</a:t>
            </a:r>
          </a:p>
          <a:p>
            <a:r>
              <a:t>Acknowledge hardship. Many people suffered; show empathy.</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sectors that gained and lost.</a:t>
            </a:r>
          </a:p>
          <a:p>
            <a:r>
              <a:t>I can discuss fairness in a balanced way.</a:t>
            </a:r>
          </a:p>
          <a:p>
            <a:r>
              <a:t>I can tell a business opportunity story.</a:t>
            </a:r>
          </a:p>
          <a:p>
            <a:r>
              <a:t>I use boom/slump (intransitive) and depend on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Give a balanced view on “profiting from a crisis” in 90 seconds.</a:t>
            </a:r>
          </a:p>
          <a:p>
            <a:r>
              <a:t>8–10 | Listen to your recording. Check: boom/slump intransitive, depend on, because of.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“暴利税” in English? → windfall tax</a:t>
            </a:r>
          </a:p>
          <a:p>
            <a:r>
              <a:t>“K 型复苏” in English? → a K-shaped recovery</a:t>
            </a:r>
          </a:p>
          <a:p>
            <a:r>
              <a:t>“失去收入” in English? → lose income</a:t>
            </a:r>
          </a:p>
          <a:p>
            <a:r>
              <a:t>Fix it: The pandemic was start in 2020. → The pandemic started in 2020.</a:t>
            </a:r>
          </a:p>
          <a:p>
            <a:r>
              <a:t>Fix it: I think it depends of the situation. → I think it depends on the situation.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 Id="rId4" Type="http://schemas.openxmlformats.org/officeDocument/2006/relationships/slide" Target="slide57.xml"/><Relationship Id="rId5" Type="http://schemas.openxmlformats.org/officeDocument/2006/relationships/slide" Target="slide58.xml"/><Relationship Id="rId6" Type="http://schemas.openxmlformats.org/officeDocument/2006/relationships/slide" Target="slide59.xml"/><Relationship Id="rId7" Type="http://schemas.openxmlformats.org/officeDocument/2006/relationships/slide" Target="slide60.xml"/><Relationship Id="rId8" Type="http://schemas.openxmlformats.org/officeDocument/2006/relationships/slide" Target="slide61.xml"/><Relationship Id="rId9" Type="http://schemas.openxmlformats.org/officeDocument/2006/relationships/slide" Target="slide62.xml"/><Relationship Id="rId10" Type="http://schemas.openxmlformats.org/officeDocument/2006/relationships/slide" Target="slide63.xml"/><Relationship Id="rId11" Type="http://schemas.openxmlformats.org/officeDocument/2006/relationships/slide" Target="slide64.xml"/><Relationship Id="rId12" Type="http://schemas.openxmlformats.org/officeDocument/2006/relationships/slide" Target="slide6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19</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7–8 · UNIT 19</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5200" b="1">
                <a:solidFill>
                  <a:srgbClr val="FFFFFF"/>
                </a:solidFill>
                <a:latin typeface="Arial"/>
                <a:ea typeface="Microsoft YaHei"/>
              </a:rPr>
              <a:t>The Pandemic and the Economy</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2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L87 Lessons the pandemic taught us · L88 Pandemic millionaires</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87</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Lessons the pandemic taught us</a:t>
            </a:r>
          </a:p>
          <a:p>
            <a:pPr algn="l">
              <a:lnSpc>
                <a:spcPct val="100000"/>
              </a:lnSpc>
              <a:spcAft>
                <a:spcPts val="800"/>
              </a:spcAft>
            </a:pPr>
            <a:r>
              <a:rPr sz="1400" b="0">
                <a:solidFill>
                  <a:srgbClr val="5F677A"/>
                </a:solidFill>
                <a:latin typeface="Arial"/>
                <a:ea typeface="Microsoft YaHei"/>
              </a:rPr>
              <a:t>疫情给我们的教训</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88</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Pandemic millionaires</a:t>
            </a:r>
          </a:p>
          <a:p>
            <a:pPr algn="l">
              <a:lnSpc>
                <a:spcPct val="100000"/>
              </a:lnSpc>
              <a:spcAft>
                <a:spcPts val="800"/>
              </a:spcAft>
            </a:pPr>
            <a:r>
              <a:rPr sz="1400" b="0">
                <a:solidFill>
                  <a:srgbClr val="5F677A"/>
                </a:solidFill>
                <a:latin typeface="Arial"/>
                <a:ea typeface="Microsoft YaHei"/>
              </a:rPr>
              <a:t>疫情造就的百万富翁</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19 · Lesson 87 Lessons the pandemic taught us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87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000" b="1">
                <a:solidFill>
                  <a:srgbClr val="FFFFFF"/>
                </a:solidFill>
                <a:latin typeface="Arial"/>
                <a:ea typeface="Microsoft YaHei"/>
              </a:rPr>
              <a:t>Lessons the pandemic taught us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疫情给我们的教训</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reflect on how work and business changed during and after the pandemic, and discuss lessons learned.</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did your work change during the pandemic?</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did you learn about yourself or your company?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changes do you want to keep?</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changes do you wish had not happened?</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would you do differently if another crisis came?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“pandemic” 疫情大流行;“lockdown” 封控。第 4 题 “wish had not happened” 对过去的遗憾。</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what the pandemic taught you about work.</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before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during</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 changed</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lessons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Before the pandemic, …   💬 Suddenly, we had to…   💬 One lesson was…   💬 Looking back, …</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“Looking back” 回顾;“we had to + 动词原形”。</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What changed for good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124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The pandemic forced businesses to adapt faster than they thought possible. Companies that had resisted remote work for years found that many tasks could be done from home. Meetings moved online, customers shopped digitally, and supply chains showed how fragile they were. At the same time, employees realised how much they valued flexibility, but also how much they missed spontaneous conversations. Many leaders learned that trust and clear communication matter more than physical presence. Organisations that had cash reserves and flexible plans coped better than those that did not. Not all lessons were positive: inequalities widened, and mental health suffered for many. Looking back, the most useful lesson may be simple: prepare for uncertainty by building resilience, in people, in processes and in finances.</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did companies find about remote work?</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Many tasks could be done from home.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Which organisations coped better?</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Those with cash reserves and flexible plans.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the most useful lesson, according to the passage?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Prepare for uncertainty by building resilience in people, processes and finances.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Looking 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回顾</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 hindsight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事后看来</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 hindsight, we should have prepared.”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lessons learned</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经验教训</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wrote up lessons learned.”</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unprecedented</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前所未有的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“These were unprecedented times.”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new normal</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新常态</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“Hybrid work is the new normal.”</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pivot</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迅速转型</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pivoted to online sales.”</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Business impact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商业影响</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lockdown</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封控</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“During lockdown, sales fell.”</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supply chain disruption</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供应链中断</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“Supply chain disruption raised prices.”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furlough</a:t>
            </a:r>
          </a:p>
          <a:p>
            <a:pPr algn="l">
              <a:lnSpc>
                <a:spcPct val="115000"/>
              </a:lnSpc>
              <a:spcAft>
                <a:spcPts val="800"/>
              </a:spcAft>
            </a:pPr>
            <a:r>
              <a:rPr sz="1300" b="0">
                <a:solidFill>
                  <a:srgbClr val="5F677A"/>
                </a:solidFill>
                <a:latin typeface="Arial"/>
                <a:ea typeface="Microsoft YaHei"/>
              </a:rPr>
              <a:t>noun/verb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休假(政府补贴)</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“Staff were furloughed.”</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cash reserves</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现金储备</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“Cash reserves saved us.”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weather the storm</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渡过难关</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weathered the storm.”</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Lessons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经验</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resilience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韧性</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“Resilience is vital.”</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agility</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敏捷性</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“Agility helped us adapt.”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contingency plan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应急预案</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a contingency plan.”</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future-proof</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面向未来</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“Future-proof your business.”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wake-up call</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警钟</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was a wake-up call.”</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休假(政府补贴)</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furlough</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面向未来</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future-proof</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新常态</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new normal</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供应链中断</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supply chain disruption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韧性</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resilience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应急预案</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contingency plan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事后看来</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 hindsight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敏捷性</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agility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hindsight</a:t>
            </a:r>
          </a:p>
        </p:txBody>
      </p:sp>
      <p:sp>
        <p:nvSpPr>
          <p:cNvPr id="10" name="Rounded Rectangle 9"/>
          <p:cNvSpPr/>
          <p:nvPr/>
        </p:nvSpPr>
        <p:spPr>
          <a:xfrm>
            <a:off x="3456432" y="987552"/>
            <a:ext cx="179222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unprecedented</a:t>
            </a:r>
          </a:p>
        </p:txBody>
      </p:sp>
      <p:sp>
        <p:nvSpPr>
          <p:cNvPr id="11" name="Rounded Rectangle 10"/>
          <p:cNvSpPr/>
          <p:nvPr/>
        </p:nvSpPr>
        <p:spPr>
          <a:xfrm>
            <a:off x="5340096"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lockdown</a:t>
            </a:r>
          </a:p>
        </p:txBody>
      </p:sp>
      <p:sp>
        <p:nvSpPr>
          <p:cNvPr id="12" name="Rounded Rectangle 11"/>
          <p:cNvSpPr/>
          <p:nvPr/>
        </p:nvSpPr>
        <p:spPr>
          <a:xfrm>
            <a:off x="6675120"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reserves</a:t>
            </a:r>
          </a:p>
        </p:txBody>
      </p:sp>
      <p:sp>
        <p:nvSpPr>
          <p:cNvPr id="13" name="Rounded Rectangle 12"/>
          <p:cNvSpPr/>
          <p:nvPr/>
        </p:nvSpPr>
        <p:spPr>
          <a:xfrm>
            <a:off x="8010144" y="987552"/>
            <a:ext cx="146304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resilience</a:t>
            </a:r>
          </a:p>
        </p:txBody>
      </p:sp>
      <p:sp>
        <p:nvSpPr>
          <p:cNvPr id="14" name="Rounded Rectangle 13"/>
          <p:cNvSpPr/>
          <p:nvPr/>
        </p:nvSpPr>
        <p:spPr>
          <a:xfrm>
            <a:off x="9564624"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contingency</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In _______, we should have prepared.</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hindsight</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These were _______ times for everyone.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unprecedented</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During _______, our sales dropped.</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lockdown</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Cash _______ helped us survive.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reserves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 built more _______ after the crisis.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resilience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We need a _______ plan for emergencies.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contingency</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(词形) resilience(名词)/ resilient(形容词);unprecedented 拼写易错(pre-ce-dent-ed)。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Reflecting on remote work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回顾远程办公</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Two colleagues talk.</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 1</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Colleague 2</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Reflecting on remote work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Looking back, what surprised you most about the pandemic?</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quickly we adapted. We moved everything online in two weeks.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Which change would you keep?</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Flexible hours. What about you?</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Online meetings for short updates. They save a lot of time.</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there anything you miss?</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Casual chats at the office. Video calls don’t replace them.</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A mix works best.</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Reflecting on remote work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reflect on the pandemic at work.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Change: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looking back · adapted · keep · miss · a mix works best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Share a surprise, a change to keep and one you miss.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 mistake.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 positive effect.</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Compare with now.</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Planning for the next crisis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为下一次危机做准备</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leadership meeting.</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CEO</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Operations director</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Planning for the next crisis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did we learn from the last crisis?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were too dependent on one supplier.</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how do we prevent that?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should diversify suppliers and keep larger cash reserves.</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Anything else?</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clear contingency plan, with roles and communication.</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draft it this quarter.</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prepare an outline for the next meeting.</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Planning for the next crisis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plan for a crisis.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CEO.</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Operations director. Risk: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dependent on · diversify · reserves · contingency plan · draft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Identify risks and agree actions.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communication plan.</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Estimate cost.</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Assign owners.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was the biggest lesson for your company?</a:t>
            </a:r>
          </a:p>
          <a:p>
            <a:pPr algn="l">
              <a:lnSpc>
                <a:spcPct val="115000"/>
              </a:lnSpc>
              <a:spcAft>
                <a:spcPts val="800"/>
              </a:spcAft>
            </a:pPr>
            <a:r>
              <a:rPr sz="1400" b="0">
                <a:solidFill>
                  <a:srgbClr val="5F677A"/>
                </a:solidFill>
                <a:latin typeface="Arial"/>
                <a:ea typeface="Microsoft YaHei"/>
              </a:rPr>
              <a:t>💬 “We learned that…”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Has remote work changed the economy?</a:t>
            </a:r>
          </a:p>
          <a:p>
            <a:pPr algn="l">
              <a:lnSpc>
                <a:spcPct val="115000"/>
              </a:lnSpc>
              <a:spcAft>
                <a:spcPts val="800"/>
              </a:spcAft>
            </a:pPr>
            <a:r>
              <a:rPr sz="1400" b="0">
                <a:solidFill>
                  <a:srgbClr val="5F677A"/>
                </a:solidFill>
                <a:latin typeface="Arial"/>
                <a:ea typeface="Microsoft YaHei"/>
              </a:rPr>
              <a:t>💬 “In some ways, yes. For example…”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industries suffered most?</a:t>
            </a:r>
          </a:p>
          <a:p>
            <a:pPr algn="l">
              <a:lnSpc>
                <a:spcPct val="115000"/>
              </a:lnSpc>
              <a:spcAft>
                <a:spcPts val="800"/>
              </a:spcAft>
            </a:pPr>
            <a:r>
              <a:rPr sz="1400" b="0">
                <a:solidFill>
                  <a:srgbClr val="5F677A"/>
                </a:solidFill>
                <a:latin typeface="Arial"/>
                <a:ea typeface="Microsoft YaHei"/>
              </a:rPr>
              <a:t>💬 “Travel and…”</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industries gained?</a:t>
            </a:r>
          </a:p>
          <a:p>
            <a:pPr algn="l">
              <a:lnSpc>
                <a:spcPct val="115000"/>
              </a:lnSpc>
              <a:spcAft>
                <a:spcPts val="800"/>
              </a:spcAft>
            </a:pPr>
            <a:r>
              <a:rPr sz="1400" b="0">
                <a:solidFill>
                  <a:srgbClr val="5F677A"/>
                </a:solidFill>
                <a:latin typeface="Arial"/>
                <a:ea typeface="Microsoft YaHei"/>
              </a:rPr>
              <a:t>💬 “Delivery and…”</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Are we better prepared now?</a:t>
            </a:r>
          </a:p>
          <a:p>
            <a:pPr algn="l">
              <a:lnSpc>
                <a:spcPct val="115000"/>
              </a:lnSpc>
              <a:spcAft>
                <a:spcPts val="800"/>
              </a:spcAft>
            </a:pPr>
            <a:r>
              <a:rPr sz="1400" b="0">
                <a:solidFill>
                  <a:srgbClr val="5F677A"/>
                </a:solidFill>
                <a:latin typeface="Arial"/>
                <a:ea typeface="Microsoft YaHei"/>
              </a:rPr>
              <a:t>💬 “To some extent,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The biggest lesson was that we can adapt quickly when we have to. Before the pandemic, we thought certain things couldn’t change. Then we changed them in weeks. It showed that flexibility is possible, and it made us more willing to try new ways of working.</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“more willing to” 更愿意;“try new ways” 尝试新方法。</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Talking about the past and regrets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谈过去与遗憾</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past simple</a:t>
                      </a:r>
                    </a:p>
                  </a:txBody>
                  <a:tcPr anchor="ctr">
                    <a:solidFill>
                      <a:srgbClr val="FFFFFF"/>
                    </a:solidFill>
                  </a:tcPr>
                </a:tc>
                <a:tc>
                  <a:txBody>
                    <a:bodyPr wrap="square"/>
                    <a:lstStyle/>
                    <a:p>
                      <a:r>
                        <a:rPr sz="1600" b="0">
                          <a:solidFill>
                            <a:srgbClr val="1F2A44"/>
                          </a:solidFill>
                          <a:latin typeface="Arial"/>
                          <a:ea typeface="Microsoft YaHei"/>
                        </a:rPr>
                        <a:t>We moved online in two weeks.</a:t>
                      </a:r>
                    </a:p>
                  </a:txBody>
                  <a:tcPr anchor="ctr">
                    <a:solidFill>
                      <a:srgbClr val="FFFFFF"/>
                    </a:solidFill>
                  </a:tcPr>
                </a:tc>
              </a:tr>
              <a:tr h="408432">
                <a:tc>
                  <a:txBody>
                    <a:bodyPr wrap="square"/>
                    <a:lstStyle/>
                    <a:p>
                      <a:r>
                        <a:rPr sz="1600" b="1">
                          <a:solidFill>
                            <a:srgbClr val="1F2A44"/>
                          </a:solidFill>
                          <a:latin typeface="Arial"/>
                          <a:ea typeface="Microsoft YaHei"/>
                        </a:rPr>
                        <a:t>past perfect</a:t>
                      </a:r>
                    </a:p>
                  </a:txBody>
                  <a:tcPr anchor="ctr">
                    <a:solidFill>
                      <a:srgbClr val="FFEFD9"/>
                    </a:solidFill>
                  </a:tcPr>
                </a:tc>
                <a:tc>
                  <a:txBody>
                    <a:bodyPr wrap="square"/>
                    <a:lstStyle/>
                    <a:p>
                      <a:r>
                        <a:rPr sz="1600" b="0">
                          <a:solidFill>
                            <a:srgbClr val="1F2A44"/>
                          </a:solidFill>
                          <a:latin typeface="Arial"/>
                          <a:ea typeface="Microsoft YaHei"/>
                        </a:rPr>
                        <a:t>We had never worked remotely before.</a:t>
                      </a:r>
                    </a:p>
                  </a:txBody>
                  <a:tcPr anchor="ctr">
                    <a:solidFill>
                      <a:srgbClr val="FFEFD9"/>
                    </a:solidFill>
                  </a:tcPr>
                </a:tc>
              </a:tr>
              <a:tr h="408432">
                <a:tc>
                  <a:txBody>
                    <a:bodyPr wrap="square"/>
                    <a:lstStyle/>
                    <a:p>
                      <a:r>
                        <a:rPr sz="1600" b="1">
                          <a:solidFill>
                            <a:srgbClr val="1F2A44"/>
                          </a:solidFill>
                          <a:latin typeface="Arial"/>
                          <a:ea typeface="Microsoft YaHei"/>
                        </a:rPr>
                        <a:t>should have + p.p.</a:t>
                      </a:r>
                    </a:p>
                  </a:txBody>
                  <a:tcPr anchor="ctr">
                    <a:solidFill>
                      <a:srgbClr val="FFFFFF"/>
                    </a:solidFill>
                  </a:tcPr>
                </a:tc>
                <a:tc>
                  <a:txBody>
                    <a:bodyPr wrap="square"/>
                    <a:lstStyle/>
                    <a:p>
                      <a:r>
                        <a:rPr sz="1600" b="0">
                          <a:solidFill>
                            <a:srgbClr val="1F2A44"/>
                          </a:solidFill>
                          <a:latin typeface="Arial"/>
                          <a:ea typeface="Microsoft YaHei"/>
                        </a:rPr>
                        <a:t>We should have prepared.</a:t>
                      </a:r>
                    </a:p>
                  </a:txBody>
                  <a:tcPr anchor="ctr">
                    <a:solidFill>
                      <a:srgbClr val="FFFFFF"/>
                    </a:solidFill>
                  </a:tcPr>
                </a:tc>
              </a:tr>
              <a:tr h="408432">
                <a:tc>
                  <a:txBody>
                    <a:bodyPr wrap="square"/>
                    <a:lstStyle/>
                    <a:p>
                      <a:r>
                        <a:rPr sz="1600" b="1">
                          <a:solidFill>
                            <a:srgbClr val="1F2A44"/>
                          </a:solidFill>
                          <a:latin typeface="Arial"/>
                          <a:ea typeface="Microsoft YaHei"/>
                        </a:rPr>
                        <a:t>If we had…, we would have…</a:t>
                      </a:r>
                    </a:p>
                  </a:txBody>
                  <a:tcPr anchor="ctr">
                    <a:solidFill>
                      <a:srgbClr val="FFEFD9"/>
                    </a:solidFill>
                  </a:tcPr>
                </a:tc>
                <a:tc>
                  <a:txBody>
                    <a:bodyPr wrap="square"/>
                    <a:lstStyle/>
                    <a:p>
                      <a:r>
                        <a:rPr sz="1600" b="0">
                          <a:solidFill>
                            <a:srgbClr val="1F2A44"/>
                          </a:solidFill>
                          <a:latin typeface="Arial"/>
                          <a:ea typeface="Microsoft YaHei"/>
                        </a:rPr>
                        <a:t>If we had diversified, we would have coped better.</a:t>
                      </a:r>
                    </a:p>
                  </a:txBody>
                  <a:tcPr anchor="ctr">
                    <a:solidFill>
                      <a:srgbClr val="FFEFD9"/>
                    </a:solidFill>
                  </a:tcPr>
                </a:tc>
              </a:tr>
            </a:tbl>
          </a:graphicData>
        </a:graphic>
      </p:graphicFrame>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Talking about the past and regrets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谈过去与遗憾</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Third conditional for unreal past: </a:t>
            </a:r>
            <a:r>
              <a:rPr sz="1700" b="0">
                <a:solidFill>
                  <a:srgbClr val="1F2A44"/>
                </a:solidFill>
                <a:latin typeface="Arial"/>
                <a:ea typeface="Microsoft YaHei"/>
              </a:rPr>
              <a:t>If + had + p.p., would have + p.p..</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Before the pandemic, we work in the office.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Before the pandemic, we worked in the office.</a:t>
            </a:r>
          </a:p>
          <a:p>
            <a:pPr algn="l">
              <a:spcAft>
                <a:spcPts val="200"/>
              </a:spcAft>
            </a:pPr>
            <a:r>
              <a:rPr sz="1200" b="0">
                <a:solidFill>
                  <a:srgbClr val="FFFFFF"/>
                </a:solidFill>
                <a:latin typeface="Arial"/>
                <a:ea typeface="Microsoft YaHei"/>
              </a:rPr>
              <a:t>过去式</a:t>
            </a:r>
          </a:p>
        </p:txBody>
      </p:sp>
      <p:sp>
        <p:nvSpPr>
          <p:cNvPr id="11" name="Rounded Rectangle 10"/>
          <p:cNvSpPr/>
          <p:nvPr/>
        </p:nvSpPr>
        <p:spPr>
          <a:xfrm>
            <a:off x="548640" y="2164079"/>
            <a:ext cx="5455767" cy="670560"/>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If we would have planned, we would have been fine.</a:t>
            </a:r>
          </a:p>
        </p:txBody>
      </p:sp>
      <p:sp>
        <p:nvSpPr>
          <p:cNvPr id="12" name="Rounded Rectangle 11"/>
          <p:cNvSpPr/>
          <p:nvPr/>
        </p:nvSpPr>
        <p:spPr>
          <a:xfrm>
            <a:off x="6187287" y="2164079"/>
            <a:ext cx="5455767" cy="67056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If we had planned, we would have been fine.</a:t>
            </a:r>
          </a:p>
          <a:p>
            <a:pPr algn="l">
              <a:spcAft>
                <a:spcPts val="200"/>
              </a:spcAft>
            </a:pPr>
            <a:r>
              <a:rPr sz="1200" b="0">
                <a:solidFill>
                  <a:srgbClr val="FFFFFF"/>
                </a:solidFill>
                <a:latin typeface="Arial"/>
                <a:ea typeface="Microsoft YaHei"/>
              </a:rPr>
              <a:t>had planned</a:t>
            </a:r>
          </a:p>
        </p:txBody>
      </p:sp>
      <p:sp>
        <p:nvSpPr>
          <p:cNvPr id="13" name="Rounded Rectangle 12"/>
          <p:cNvSpPr/>
          <p:nvPr/>
        </p:nvSpPr>
        <p:spPr>
          <a:xfrm>
            <a:off x="548640" y="2926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pandemic was start in 2020.</a:t>
            </a:r>
          </a:p>
        </p:txBody>
      </p:sp>
      <p:sp>
        <p:nvSpPr>
          <p:cNvPr id="14" name="Rounded Rectangle 13"/>
          <p:cNvSpPr/>
          <p:nvPr/>
        </p:nvSpPr>
        <p:spPr>
          <a:xfrm>
            <a:off x="6187287" y="2926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pandemic started in 2020.</a:t>
            </a:r>
          </a:p>
          <a:p>
            <a:pPr algn="l">
              <a:spcAft>
                <a:spcPts val="200"/>
              </a:spcAft>
            </a:pPr>
            <a:r>
              <a:rPr sz="1200" b="0">
                <a:solidFill>
                  <a:srgbClr val="FFFFFF"/>
                </a:solidFill>
                <a:latin typeface="Arial"/>
                <a:ea typeface="Microsoft YaHei"/>
              </a:rPr>
              <a:t>过去式</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learned a lot during the lockdown.</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learned a lot during the lockdown.</a:t>
            </a:r>
          </a:p>
          <a:p>
            <a:pPr algn="l">
              <a:spcAft>
                <a:spcPts val="200"/>
              </a:spcAft>
            </a:pPr>
            <a:r>
              <a:rPr sz="1200" b="0">
                <a:solidFill>
                  <a:srgbClr val="FFFFFF"/>
                </a:solidFill>
                <a:latin typeface="Arial"/>
                <a:ea typeface="Microsoft YaHei"/>
              </a:rPr>
              <a:t>过去事件</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changed the way how we work.</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changed the way we work.</a:t>
            </a:r>
          </a:p>
          <a:p>
            <a:pPr algn="l">
              <a:spcAft>
                <a:spcPts val="200"/>
              </a:spcAft>
            </a:pPr>
            <a:r>
              <a:rPr sz="1200" b="0">
                <a:solidFill>
                  <a:srgbClr val="FFFFFF"/>
                </a:solidFill>
                <a:latin typeface="Arial"/>
                <a:ea typeface="Microsoft YaHei"/>
              </a:rPr>
              <a:t>不重复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miss to see my colleagues.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miss seeing my colleagues.</a:t>
            </a:r>
          </a:p>
          <a:p>
            <a:pPr algn="l">
              <a:spcAft>
                <a:spcPts val="200"/>
              </a:spcAft>
            </a:pPr>
            <a:r>
              <a:rPr sz="1200" b="0">
                <a:solidFill>
                  <a:srgbClr val="FFFFFF"/>
                </a:solidFill>
                <a:latin typeface="Arial"/>
                <a:ea typeface="Microsoft YaHei"/>
              </a:rPr>
              <a:t>miss + -ing</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past simple vs present perfect, third conditional, the way we work, miss +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Be sensitive. People experienced the pandemic very differently; avoid assuming.</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Don’t blame. Focus on lessons, not on who was right.</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“The new normal” is overused. Use it sparingly.</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Talk about well-being. It’s a normal part of work conversations now.</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87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reflect on past events with in hindsight / looking back.</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name lessons and changes.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third conditional for past regrets.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past simple, the way we work and miss + -ing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87 Lessons the pandemic taught us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Describe a lesson you learned from a crisis in 90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past simple, third conditional, miss -ing.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19 · Lesson 88 Pandemic millionaires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88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Pandemic millionaires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疫情造就的百万富翁</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how some people and businesses benefited financially from the pandemic, and debate fairness and opportunity in a balanced way.</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businesses did well during the pandemic?</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fair for some people to profit from a crisis?</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opportunities did the pandemic create?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know anyone who started a business during that time?</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you spot a real opportunity?</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“pandemic millionaires” 泛指因疫情而致富的人。本课是原则性讨论,不涉及具体个人;讨论”受益与公平”。</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Discuss who benefited from the pandemic economy and whether it was fair.</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winners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why</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losers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fairness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Some sectors, such as…, boomed because…   💬 While some people gained, others…   💬 Is it fair that…?   💬 In my view, …</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“while” 对比两种情况;“boom” = 繁荣,激增。</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Winners and losers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000" b="0">
                <a:solidFill>
                  <a:srgbClr val="1F2A44"/>
                </a:solidFill>
                <a:latin typeface="Arial"/>
                <a:ea typeface="Microsoft YaHei"/>
              </a:rPr>
              <a:t>The pandemic reshaped the economy in uneven ways. While travel, hospitality and live events suffered sharply, other sectors boomed. Online retail, home delivery, video conferencing, gaming and digital health saw unusual demand. Some entrepreneurs spotted needs early and built successful businesses, and investors in certain technologies saw their wealth grow quickly. Others benefited simply from timing or luck. This raises difficult questions. Is it fair for individuals to profit from a crisis? Many argue that meeting a real need, such as delivering food to isolated people, is legitimate, while exploiting shortages with extreme prices is not. Meanwhile, millions lost income. Economists note that recovery has been uneven, and that policies to support affected workers and small businesses remain important. In the end, the question is not only who gained, but whether the benefits and the costs of a crisis are shared in a way that most people consider reasonable.</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Which sectors suffered and which boomed?</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Suffered: travel, hospitality, live events; boomed: online retail, delivery, video conferencing, gaming, digital health.</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Where do many people draw the line on fairness?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Meeting a real need is legitimate; exploiting shortages with extreme prices is not.</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 economists say about recovery?</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Recovery has been uneven and support policies remain important.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Winners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受益者</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boom</a:t>
            </a:r>
          </a:p>
          <a:p>
            <a:pPr algn="l">
              <a:lnSpc>
                <a:spcPct val="115000"/>
              </a:lnSpc>
              <a:spcAft>
                <a:spcPts val="800"/>
              </a:spcAft>
            </a:pPr>
            <a:r>
              <a:rPr sz="1300" b="0">
                <a:solidFill>
                  <a:srgbClr val="5F677A"/>
                </a:solidFill>
                <a:latin typeface="Arial"/>
                <a:ea typeface="Microsoft YaHei"/>
              </a:rPr>
              <a:t>verb/noun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激增/繁荣</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“Online sales boomed.”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windfall</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意外之财</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was a windfall.”</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spot an opportunity</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发现机会</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spotted an opportunity.”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strike gold</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发大财</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struck gold with the app.”</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ride the wave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乘势而上</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rode the wave of demand.”</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Losers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受损者</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slump</a:t>
            </a:r>
          </a:p>
          <a:p>
            <a:pPr algn="l">
              <a:lnSpc>
                <a:spcPct val="115000"/>
              </a:lnSpc>
              <a:spcAft>
                <a:spcPts val="800"/>
              </a:spcAft>
            </a:pPr>
            <a:r>
              <a:rPr sz="1300" b="0">
                <a:solidFill>
                  <a:srgbClr val="5F677A"/>
                </a:solidFill>
                <a:latin typeface="Arial"/>
                <a:ea typeface="Microsoft YaHei"/>
              </a:rPr>
              <a:t>noun/verb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暴跌</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“Travel slumped.”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go under</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倒闭</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“Many small shops went under.”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lose income</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失去收入</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“Millions lost income.”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 hit hard</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受到重创</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“Hospitality was hit hard.”</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K-shaped recovery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K 型复苏</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recovery was K-shaped.”</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Fairness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公平</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profit from</a:t>
            </a:r>
          </a:p>
          <a:p>
            <a:pPr algn="l">
              <a:lnSpc>
                <a:spcPct val="115000"/>
              </a:lnSpc>
              <a:spcAft>
                <a:spcPts val="800"/>
              </a:spcAft>
            </a:pPr>
            <a:r>
              <a:rPr sz="1300" b="0">
                <a:solidFill>
                  <a:srgbClr val="5F677A"/>
                </a:solidFill>
                <a:latin typeface="Arial"/>
                <a:ea typeface="Microsoft YaHei"/>
              </a:rPr>
              <a:t>verb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从…获利</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profit from others’ suffering.”</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price gouging</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哄抬物价</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“Price gouging is illegal in some places.”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inequality</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不平等</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“Inequality widened.”</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windfall tax</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暴利税</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“Some proposed a windfall tax.”</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capitalise on</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利用</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capitalised on demand.”</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激增/繁荣</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boom</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乘势而上</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ride the wave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暴利税</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windfall tax</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受到重创</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hit hard</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利用</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capitalise on</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从…获利</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profit from</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倒闭</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go under</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暴跌</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slump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boomed</a:t>
            </a:r>
          </a:p>
        </p:txBody>
      </p:sp>
      <p:sp>
        <p:nvSpPr>
          <p:cNvPr id="10" name="Rounded Rectangle 9"/>
          <p:cNvSpPr/>
          <p:nvPr/>
        </p:nvSpPr>
        <p:spPr>
          <a:xfrm>
            <a:off x="3127248" y="987552"/>
            <a:ext cx="80467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spot</a:t>
            </a:r>
          </a:p>
        </p:txBody>
      </p:sp>
      <p:sp>
        <p:nvSpPr>
          <p:cNvPr id="11" name="Rounded Rectangle 10"/>
          <p:cNvSpPr/>
          <p:nvPr/>
        </p:nvSpPr>
        <p:spPr>
          <a:xfrm>
            <a:off x="4023360"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slumped</a:t>
            </a:r>
          </a:p>
        </p:txBody>
      </p:sp>
      <p:sp>
        <p:nvSpPr>
          <p:cNvPr id="12" name="Rounded Rectangle 11"/>
          <p:cNvSpPr/>
          <p:nvPr/>
        </p:nvSpPr>
        <p:spPr>
          <a:xfrm>
            <a:off x="5248656" y="987552"/>
            <a:ext cx="146304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inequality</a:t>
            </a:r>
          </a:p>
        </p:txBody>
      </p:sp>
      <p:sp>
        <p:nvSpPr>
          <p:cNvPr id="13" name="Rounded Rectangle 12"/>
          <p:cNvSpPr/>
          <p:nvPr/>
        </p:nvSpPr>
        <p:spPr>
          <a:xfrm>
            <a:off x="6803136"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profit</a:t>
            </a:r>
          </a:p>
        </p:txBody>
      </p:sp>
      <p:sp>
        <p:nvSpPr>
          <p:cNvPr id="14" name="Rounded Rectangle 13"/>
          <p:cNvSpPr/>
          <p:nvPr/>
        </p:nvSpPr>
        <p:spPr>
          <a:xfrm>
            <a:off x="7918704"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gouging</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Online retail _______ during the pandemic.</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boomed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She was able to _______ an opportunity early.</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spot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Travel _______ sharply.</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slumped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_______ widened between sectors.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Inequality</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Is it fair to _______ from a crisis?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profit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Price _______ is illegal in some countries.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gouging</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profit FROM,capitalise ON,spot an opportunity;boom 与 slump 对应。</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Role Play · A balanced conversation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平衡的对话</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Colleagues discuss the topic.</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 1</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Colleague 2</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A balanced conversation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Some people became millionaires during the pandemic. Is that fair?</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depends. If they met a real need, I think it’s fair.</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But others lost their jobs.</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True. That’s why policies to support affected people matter.</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A balanced conversation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price gouging?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different. Charging extreme prices for essentials is exploitation.</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agree. There’s a line between opportunity and exploitation.</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Your Turn · A balanced conversation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fairness.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Issue: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It depends · met a real need · price gouging · exploitation · there’s a line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a balanced view and agree on where to draw the line.</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Give an example.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Acknowledge the other view.</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 policy.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Explaining an opportunity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解释一个商机</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An entrepreneur tells their story.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Interviewer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Entrepreneur</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Explaining an opportunity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did you spot the opportunity?</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During lockdown, local restaurants needed delivery but had no website.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you built a platform?</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within a month. Demand boomed.</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Explaining an opportunity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Was it luck?</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Partly. Timing helped, but we also worked very hard.</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have you done since?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kept fees low and gave a share of profits to a community fund.</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Explaining an opportunity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tell a business story.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Interviewer.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Entrepreneur. Idea: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spot an opportunity · demand boomed · partly luck · timing · community fund</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Tell the story honestly, including luck.</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Admit a risk you took.</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 lesson.</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the future.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industries gained most?</a:t>
            </a:r>
          </a:p>
          <a:p>
            <a:pPr algn="l">
              <a:lnSpc>
                <a:spcPct val="115000"/>
              </a:lnSpc>
              <a:spcAft>
                <a:spcPts val="800"/>
              </a:spcAft>
            </a:pPr>
            <a:r>
              <a:rPr sz="1400" b="0">
                <a:solidFill>
                  <a:srgbClr val="5F677A"/>
                </a:solidFill>
                <a:latin typeface="Arial"/>
                <a:ea typeface="Microsoft YaHei"/>
              </a:rPr>
              <a:t>💬 “I’d say…”</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right to profit from a crisis?</a:t>
            </a:r>
          </a:p>
          <a:p>
            <a:pPr algn="l">
              <a:lnSpc>
                <a:spcPct val="115000"/>
              </a:lnSpc>
              <a:spcAft>
                <a:spcPts val="800"/>
              </a:spcAft>
            </a:pPr>
            <a:r>
              <a:rPr sz="1400" b="0">
                <a:solidFill>
                  <a:srgbClr val="5F677A"/>
                </a:solidFill>
                <a:latin typeface="Arial"/>
                <a:ea typeface="Microsoft YaHei"/>
              </a:rPr>
              <a:t>💬 “It depends on…”</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could governments do about inequality?</a:t>
            </a:r>
          </a:p>
          <a:p>
            <a:pPr algn="l">
              <a:lnSpc>
                <a:spcPct val="115000"/>
              </a:lnSpc>
              <a:spcAft>
                <a:spcPts val="800"/>
              </a:spcAft>
            </a:pPr>
            <a:r>
              <a:rPr sz="1400" b="0">
                <a:solidFill>
                  <a:srgbClr val="5F677A"/>
                </a:solidFill>
                <a:latin typeface="Arial"/>
                <a:ea typeface="Microsoft YaHei"/>
              </a:rPr>
              <a:t>💬 “They could…”</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Would you start a business in a crisis?</a:t>
            </a:r>
          </a:p>
          <a:p>
            <a:pPr algn="l">
              <a:lnSpc>
                <a:spcPct val="115000"/>
              </a:lnSpc>
              <a:spcAft>
                <a:spcPts val="800"/>
              </a:spcAft>
            </a:pPr>
            <a:r>
              <a:rPr sz="1400" b="0">
                <a:solidFill>
                  <a:srgbClr val="5F677A"/>
                </a:solidFill>
                <a:latin typeface="Arial"/>
                <a:ea typeface="Microsoft YaHei"/>
              </a:rPr>
              <a:t>💬 “I might, if…”</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Was timing or skill more important?</a:t>
            </a:r>
          </a:p>
          <a:p>
            <a:pPr algn="l">
              <a:lnSpc>
                <a:spcPct val="115000"/>
              </a:lnSpc>
              <a:spcAft>
                <a:spcPts val="800"/>
              </a:spcAft>
            </a:pPr>
            <a:r>
              <a:rPr sz="1400" b="0">
                <a:solidFill>
                  <a:srgbClr val="5F677A"/>
                </a:solidFill>
                <a:latin typeface="Arial"/>
                <a:ea typeface="Microsoft YaHei"/>
              </a:rPr>
              <a:t>💬 “Probably both, since…”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it depends on how the profit is made. If a company meets a real need at a fair price, I see nothing wrong. But if it exploits shortages or puts others at risk, that’s unethical. Fairness is about both the way you earn money and what you do afterwards, such as paying taxes and treating staff well.</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“nothing wrong” 没什么不妥;“depends on how” 取决于如何…</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Balanced contrast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平衡对比</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While A, B</a:t>
                      </a:r>
                    </a:p>
                  </a:txBody>
                  <a:tcPr anchor="ctr">
                    <a:solidFill>
                      <a:srgbClr val="FFFFFF"/>
                    </a:solidFill>
                  </a:tcPr>
                </a:tc>
                <a:tc>
                  <a:txBody>
                    <a:bodyPr wrap="square"/>
                    <a:lstStyle/>
                    <a:p>
                      <a:r>
                        <a:rPr sz="1600" b="0">
                          <a:solidFill>
                            <a:srgbClr val="1F2A44"/>
                          </a:solidFill>
                          <a:latin typeface="Arial"/>
                          <a:ea typeface="Microsoft YaHei"/>
                        </a:rPr>
                        <a:t>While travel slumped, delivery boomed.</a:t>
                      </a:r>
                    </a:p>
                  </a:txBody>
                  <a:tcPr anchor="ctr">
                    <a:solidFill>
                      <a:srgbClr val="FFFFFF"/>
                    </a:solidFill>
                  </a:tcPr>
                </a:tc>
              </a:tr>
              <a:tr h="408432">
                <a:tc>
                  <a:txBody>
                    <a:bodyPr wrap="square"/>
                    <a:lstStyle/>
                    <a:p>
                      <a:r>
                        <a:rPr sz="1600" b="1">
                          <a:solidFill>
                            <a:srgbClr val="1F2A44"/>
                          </a:solidFill>
                          <a:latin typeface="Arial"/>
                          <a:ea typeface="Microsoft YaHei"/>
                        </a:rPr>
                        <a:t>whereas</a:t>
                      </a:r>
                    </a:p>
                  </a:txBody>
                  <a:tcPr anchor="ctr">
                    <a:solidFill>
                      <a:srgbClr val="FFEFD9"/>
                    </a:solidFill>
                  </a:tcPr>
                </a:tc>
                <a:tc>
                  <a:txBody>
                    <a:bodyPr wrap="square"/>
                    <a:lstStyle/>
                    <a:p>
                      <a:r>
                        <a:rPr sz="1600" b="0">
                          <a:solidFill>
                            <a:srgbClr val="1F2A44"/>
                          </a:solidFill>
                          <a:latin typeface="Arial"/>
                          <a:ea typeface="Microsoft YaHei"/>
                        </a:rPr>
                        <a:t>Some sectors lost income, whereas others gained.</a:t>
                      </a:r>
                    </a:p>
                  </a:txBody>
                  <a:tcPr anchor="ctr">
                    <a:solidFill>
                      <a:srgbClr val="FFEFD9"/>
                    </a:solidFill>
                  </a:tcPr>
                </a:tc>
              </a:tr>
              <a:tr h="408432">
                <a:tc>
                  <a:txBody>
                    <a:bodyPr wrap="square"/>
                    <a:lstStyle/>
                    <a:p>
                      <a:r>
                        <a:rPr sz="1600" b="1">
                          <a:solidFill>
                            <a:srgbClr val="1F2A44"/>
                          </a:solidFill>
                          <a:latin typeface="Arial"/>
                          <a:ea typeface="Microsoft YaHei"/>
                        </a:rPr>
                        <a:t>on the other hand</a:t>
                      </a:r>
                    </a:p>
                  </a:txBody>
                  <a:tcPr anchor="ctr">
                    <a:solidFill>
                      <a:srgbClr val="FFFFFF"/>
                    </a:solidFill>
                  </a:tcPr>
                </a:tc>
                <a:tc>
                  <a:txBody>
                    <a:bodyPr wrap="square"/>
                    <a:lstStyle/>
                    <a:p>
                      <a:r>
                        <a:rPr sz="1600" b="0">
                          <a:solidFill>
                            <a:srgbClr val="1F2A44"/>
                          </a:solidFill>
                          <a:latin typeface="Arial"/>
                          <a:ea typeface="Microsoft YaHei"/>
                        </a:rPr>
                        <a:t>On the other hand, many small shops went under.</a:t>
                      </a:r>
                    </a:p>
                  </a:txBody>
                  <a:tcPr anchor="ctr">
                    <a:solidFill>
                      <a:srgbClr val="FFFFFF"/>
                    </a:solidFill>
                  </a:tcPr>
                </a:tc>
              </a:tr>
              <a:tr h="408432">
                <a:tc>
                  <a:txBody>
                    <a:bodyPr wrap="square"/>
                    <a:lstStyle/>
                    <a:p>
                      <a:r>
                        <a:rPr sz="1600" b="1">
                          <a:solidFill>
                            <a:srgbClr val="1F2A44"/>
                          </a:solidFill>
                          <a:latin typeface="Arial"/>
                          <a:ea typeface="Microsoft YaHei"/>
                        </a:rPr>
                        <a:t>it depends on…</a:t>
                      </a:r>
                    </a:p>
                  </a:txBody>
                  <a:tcPr anchor="ctr">
                    <a:solidFill>
                      <a:srgbClr val="FFEFD9"/>
                    </a:solidFill>
                  </a:tcPr>
                </a:tc>
                <a:tc>
                  <a:txBody>
                    <a:bodyPr wrap="square"/>
                    <a:lstStyle/>
                    <a:p>
                      <a:r>
                        <a:rPr sz="1600" b="0">
                          <a:solidFill>
                            <a:srgbClr val="1F2A44"/>
                          </a:solidFill>
                          <a:latin typeface="Arial"/>
                          <a:ea typeface="Microsoft YaHei"/>
                        </a:rPr>
                        <a:t>It depends on how the profit is made.</a:t>
                      </a:r>
                    </a:p>
                  </a:txBody>
                  <a:tcPr anchor="ctr">
                    <a:solidFill>
                      <a:srgbClr val="FFEFD9"/>
                    </a:solidFill>
                  </a:tcPr>
                </a:tc>
              </a:tr>
            </a:tbl>
          </a:graphicData>
        </a:graphic>
      </p:graphicFrame>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Balanced contrast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平衡对比</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While/whereas at the start of a sentence connect two contrasting clauses with a comma.</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Travel was slump.</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Travel slumped.</a:t>
            </a:r>
          </a:p>
          <a:p>
            <a:pPr algn="l">
              <a:spcAft>
                <a:spcPts val="200"/>
              </a:spcAft>
            </a:pPr>
            <a:r>
              <a:rPr sz="1200" b="0">
                <a:solidFill>
                  <a:srgbClr val="FFFFFF"/>
                </a:solidFill>
                <a:latin typeface="Arial"/>
                <a:ea typeface="Microsoft YaHei"/>
              </a:rPr>
              <a:t>动词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online shops were boomed.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Online shops boomed.</a:t>
            </a:r>
          </a:p>
          <a:p>
            <a:pPr algn="l">
              <a:spcAft>
                <a:spcPts val="200"/>
              </a:spcAft>
            </a:pPr>
            <a:r>
              <a:rPr sz="1200" b="0">
                <a:solidFill>
                  <a:srgbClr val="FFFFFF"/>
                </a:solidFill>
                <a:latin typeface="Arial"/>
                <a:ea typeface="Microsoft YaHei"/>
              </a:rPr>
              <a:t>不及物</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Some people become rich by the pandemic.</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Some people became rich because of the pandemic.</a:t>
            </a:r>
          </a:p>
          <a:p>
            <a:pPr algn="l">
              <a:spcAft>
                <a:spcPts val="200"/>
              </a:spcAft>
            </a:pPr>
            <a:r>
              <a:rPr sz="1200" b="0">
                <a:solidFill>
                  <a:srgbClr val="FFFFFF"/>
                </a:solidFill>
                <a:latin typeface="Arial"/>
                <a:ea typeface="Microsoft YaHei"/>
              </a:rPr>
              <a:t>because of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not fair that they earn lots money.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not fair that they earned so much.</a:t>
            </a:r>
          </a:p>
          <a:p>
            <a:pPr algn="l">
              <a:spcAft>
                <a:spcPts val="200"/>
              </a:spcAft>
            </a:pPr>
            <a:r>
              <a:rPr sz="1200" b="0">
                <a:solidFill>
                  <a:srgbClr val="FFFFFF"/>
                </a:solidFill>
                <a:latin typeface="Arial"/>
                <a:ea typeface="Microsoft YaHei"/>
              </a:rPr>
              <a:t>时态/表达</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think it depends of the situation.</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think it depends on the situation.</a:t>
            </a:r>
          </a:p>
          <a:p>
            <a:pPr algn="l">
              <a:spcAft>
                <a:spcPts val="200"/>
              </a:spcAft>
            </a:pPr>
            <a:r>
              <a:rPr sz="1200" b="0">
                <a:solidFill>
                  <a:srgbClr val="FFFFFF"/>
                </a:solidFill>
                <a:latin typeface="Arial"/>
                <a:ea typeface="Microsoft YaHei"/>
              </a:rPr>
              <a:t>depend on</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inequality are growing.</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Inequality is growing.</a:t>
            </a:r>
          </a:p>
          <a:p>
            <a:pPr algn="l">
              <a:spcAft>
                <a:spcPts val="200"/>
              </a:spcAft>
            </a:pPr>
            <a:r>
              <a:rPr sz="1200" b="0">
                <a:solidFill>
                  <a:srgbClr val="FFFFFF"/>
                </a:solidFill>
                <a:latin typeface="Arial"/>
                <a:ea typeface="Microsoft YaHei"/>
              </a:rPr>
              <a:t>不可数</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intransitive boom/slump, because of, depend on, uncountable inequality.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Be careful with names. Avoid accusing specific people in discussion.</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Use facts. “According to reports…” adds credibility.</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Money talk. People rarely discuss personal wealth in casual conversation.</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Acknowledge hardship. Many people suffered; show empathy.</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88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sectors that gained and lost.</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fairness in a balanced way.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tell a business opportunity story.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boom/slump (intransitive) and depend on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 · Lesson 88 Pandemic millionaires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Give a balanced view on “profiting from a crisis” in 90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boom/slump intransitive, depend on, because of.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It changed the way how we work.</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It changed the way we work.</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boom</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Online sales boomed.</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resilience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Resilience is vital.</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韧性</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resilience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激增/繁荣</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boom</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面向未来</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future-proof</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“暴利税”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windfall tax</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“K 型复苏”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K-shaped recovery</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“失去收入”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lose income</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The pandemic was start in 2020.</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pandemic started in 2020.</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I think it depends of the situation.</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think it depends on the situation.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19</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67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19</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68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19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