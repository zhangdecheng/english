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3: Remote Work — Self-Study Workbook (Lessons 10–13)</a:t>
            </a:r>
          </a:p>
          <a:p/>
          <a:p>
            <a:r>
              <a:t>开场：简单介绍本单元的主题和要完成的 4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10 · Working from home 在家工作</a:t>
            </a:r>
          </a:p>
          <a:p>
            <a:r>
              <a:t>Goal: talk about working from home: set up a routine, ask for flexibility, and protect your working hours.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 “I’d like to…”(想要)。第 4 题讲过去的事,用过去式(felt, was)。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your ideal working-from-home day.</a:t>
            </a:r>
          </a:p>
          <a:p>
            <a:r>
              <a:t>Say: morning routine → how you organise your work → breaks → how you finish.</a:t>
            </a:r>
          </a:p>
          <a:p>
            <a:r>
              <a:t>Useful starters: “I start my day by…” / “I try to stick to…” / “At six o’clock I switch off by…”</a:t>
            </a:r>
          </a:p>
          <a:p>
            <a:r>
              <a:t>“stick to” 意为”坚持(计划)“,”switch off” 是”下班后让大脑休息”,两者都是 B2 常用搭配。</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Omar started working from home, he rolled out of bed at 8:55 and opened his laptop at nine. For a week, it felt like a miracle. By week three, the lines between work and home had disappeared. He answered emails at 10 p.m. and ate lunch at his desk. His wife joked that he was “commuting to the spare room”, and he realised she was right. So he introduced a simple routine. Every morning, he went for a ten-minute walk, which acted as his journey to work. He put his laptop away in a drawer at six o’clock. And he told his manager which hours he was reachable. “At first I thought I’d look lazy,” he says. “In fact, my work improved, because I wasn’t tired all the time.” Omar’s advice for newcomers is to create a ritual that tells your brain when the day starts and ends.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did Omar’s wife joke about a “commute”?</a:t>
            </a:r>
          </a:p>
          <a:p>
            <a:r>
              <a:t>A: He went straight from bed to the spare room with no break between home and work.</a:t>
            </a:r>
          </a:p>
          <a:p>
            <a:r>
              <a:t>Q2. What three changes did he make?</a:t>
            </a:r>
          </a:p>
          <a:p>
            <a:r>
              <a:t>A: A morning walk, putting the laptop away at six, and telling his manager when he was reachable.</a:t>
            </a:r>
          </a:p>
          <a:p>
            <a:r>
              <a:t>Q3. What was the effect on his work?</a:t>
            </a:r>
          </a:p>
          <a:p>
            <a:r>
              <a:t>A: His work improved because he was less tired.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Setting up and routine 工作环境与作息</a:t>
            </a:r>
          </a:p>
          <a:p>
            <a:r>
              <a:t>领读 → 学员跟读 → 请学员用表达造一个和自己工作相关的句子。</a:t>
            </a:r>
          </a:p>
          <a:p>
            <a:r>
              <a:t>work from home (verb phrase) 在家办公 — “I work from home on Mondays and Fridays.”</a:t>
            </a:r>
          </a:p>
          <a:p>
            <a:r>
              <a:t>home office (noun) 家庭办公室 — “I’ve set up a small home office in the spare room.”</a:t>
            </a:r>
          </a:p>
          <a:p>
            <a:r>
              <a:t>routine (noun) 日常作息 — “A morning routine helps me focus.”</a:t>
            </a:r>
          </a:p>
          <a:p>
            <a:r>
              <a:t>★ stick to a schedule (collocation) 坚持日程 — “It’s easier to stick to a schedule when you plan breaks.”</a:t>
            </a:r>
          </a:p>
          <a:p>
            <a:r>
              <a:t>★ ease into the day (phrasal verb) 慢慢进入工作状态 — “I like to ease into the day with a short walk.”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Boundaries and availability 边界与可联系时间</a:t>
            </a:r>
          </a:p>
          <a:p>
            <a:r>
              <a:t>领读 → 学员跟读 → 请学员用表达造一个和自己工作相关的句子。</a:t>
            </a:r>
          </a:p>
          <a:p>
            <a:r>
              <a:t>working hours (noun) 工作时间 — “My working hours are 9 to 5:30.”</a:t>
            </a:r>
          </a:p>
          <a:p>
            <a:r>
              <a:t>★ set boundaries (collocation) 设定界限 — “It’s important to set boundaries with colleagues and family.”</a:t>
            </a:r>
          </a:p>
          <a:p>
            <a:r>
              <a:t>★ switch off (phrasal verb) 彻底放松,下班断开 — “I find it hard to switch off after a long day.”</a:t>
            </a:r>
          </a:p>
          <a:p>
            <a:r>
              <a:t>be reachable / available (adjective) 可联系的 — “I’m reachable by phone until six.”</a:t>
            </a:r>
          </a:p>
          <a:p>
            <a:r>
              <a:t>out of the office (phrase) 不在办公室 — “I’ll be out of the office on Thursday.”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Requesting flexibility 申请灵活安排</a:t>
            </a:r>
          </a:p>
          <a:p>
            <a:r>
              <a:t>领读 → 学员跟读 → 请学员用表达造一个和自己工作相关的句子。</a:t>
            </a:r>
          </a:p>
          <a:p>
            <a:r>
              <a:t>flexible working (noun) 灵活办公 — “Our company offers flexible working.”</a:t>
            </a:r>
          </a:p>
          <a:p>
            <a:r>
              <a:t>hybrid (adjective) 混合办公(部分在家) — “We’re moving to a hybrid model: three days in, two days at home.”</a:t>
            </a:r>
          </a:p>
          <a:p>
            <a:r>
              <a:t>Would it be possible to…? (phrase) 能否…? — “Would it be possible to work from home on Fridays?”</a:t>
            </a:r>
          </a:p>
          <a:p>
            <a:r>
              <a:t>★ on a trial basis (phrase) 试行 — “Could we try it on a trial basis for three months?”</a:t>
            </a:r>
          </a:p>
          <a:p>
            <a:r>
              <a:t>★ a win-win (noun) 双赢 — “I think it could be a win-win for the team and for 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routine / boundaries / switch / reachable / hybrid / trial</a:t>
            </a:r>
          </a:p>
          <a:p>
            <a:r>
              <a:t>1. A morning _______ helps me focus. → routine</a:t>
            </a:r>
          </a:p>
          <a:p>
            <a:r>
              <a:t>2. It’s important to set _______ with colleagues and family. → boundaries</a:t>
            </a:r>
          </a:p>
          <a:p>
            <a:r>
              <a:t>3. I find it hard to _______ off after a long day. → switch</a:t>
            </a:r>
          </a:p>
          <a:p>
            <a:r>
              <a:t>4. I’m _______ by phone until six. → reachable</a:t>
            </a:r>
          </a:p>
          <a:p>
            <a:r>
              <a:t>5. We’re moving to a _______ model: three days in, two at home. → hybrid</a:t>
            </a:r>
          </a:p>
          <a:p>
            <a:r>
              <a:t>6. Could we try it on a _______ basis for three months? → trial</a:t>
            </a:r>
          </a:p>
          <a:p>
            <a:r>
              <a:t>Mistake Watch: (介词与搭配) work from home (not “work at home”); on Fridays, in the evening, at night; spelling: flexible, schedule, boundary.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your manager to work from home 向经理申请在家办公</a:t>
            </a:r>
          </a:p>
          <a:p>
            <a:r>
              <a:t>情景：You ask your manager for two days a week at home and explain how you will stay productive.</a:t>
            </a:r>
          </a:p>
          <a:p>
            <a:r>
              <a:t>Role A: Wei Zhang, employee Role B: Ms Roberts,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(Wei): Ms Roberts, do you have a minute? I’d like to talk about my working pattern.</a:t>
            </a:r>
          </a:p>
          <a:p>
            <a:r>
              <a:t>B (Ms Roberts): Of course. What’s on your mind?</a:t>
            </a:r>
          </a:p>
          <a:p>
            <a:r>
              <a:t>A: Would it be possible to work from home two days a week, say Tuesdays and Thursdays?</a:t>
            </a:r>
          </a:p>
          <a:p>
            <a:r>
              <a:t>B: Hmm. What’s behind the request?</a:t>
            </a:r>
          </a:p>
          <a:p>
            <a:r>
              <a:t>A: I do a lot of focused work, such as reports and analysis, and I’m easily interrupted in the office. At home, I’d be more productive.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And how would the team reach you?</a:t>
            </a:r>
          </a:p>
          <a:p>
            <a:r>
              <a:t>A: I’d be reachable on Teams and by phone during normal hours, and I’d come in for all team meetings.</a:t>
            </a:r>
          </a:p>
          <a:p>
            <a:r>
              <a:t>B: Could we try it on a trial basis for three months?</a:t>
            </a:r>
          </a:p>
          <a:p>
            <a:r>
              <a:t>A: Absolutely. I think it could be a win-win. We can review it in September.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ask your manager for a flexible working pattern.</a:t>
            </a:r>
          </a:p>
          <a:p>
            <a:r>
              <a:t>Your role (A) | Employee. Your job: ______________</a:t>
            </a:r>
          </a:p>
          <a:p>
            <a:r>
              <a:t>Partner’s role (B) | Manager who is open but wants details.</a:t>
            </a:r>
          </a:p>
          <a:p>
            <a:r>
              <a:t>Must use (4 or more) | Would it be possible to…? · reachable · on a trial basis · a win-win · working hours</a:t>
            </a:r>
          </a:p>
          <a:p>
            <a:r>
              <a:t>Goal | Make the request, give two reasons, address one worry, agree a trial.</a:t>
            </a:r>
          </a:p>
          <a:p>
            <a:r>
              <a:t>My notes | ____________________________________________</a:t>
            </a:r>
          </a:p>
          <a:p>
            <a:r>
              <a:t>The manager says “I’m worried about team spirit.” Reply: “I understand. I’d still come in for meetings, and we could keep Fridays as a team day.”</a:t>
            </a:r>
          </a:p>
          <a:p>
            <a:r>
              <a:t>Propose a measure of success: “We could compare my output over three months.”</a:t>
            </a:r>
          </a:p>
          <a:p>
            <a:r>
              <a:t>Thank your manager and confirm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 boundaries after hours 设定下班后的界限</a:t>
            </a:r>
          </a:p>
          <a:p>
            <a:r>
              <a:t>情景：A colleague messages you at 9 p.m. and expects an answer.</a:t>
            </a:r>
          </a:p>
          <a:p>
            <a:r>
              <a:t>Role A: Nadia Hassan, colleague Role B: Chen Yu,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(Nadia): Hi Chen, sorry to bother you so late, but are you still up? I need the figures for tomorrow.</a:t>
            </a:r>
          </a:p>
          <a:p>
            <a:r>
              <a:t>B (Chen): Hi Nadia. I’m offline for the evening, but I can look at it first thing tomorrow.</a:t>
            </a:r>
          </a:p>
          <a:p>
            <a:r>
              <a:t>A: It’s a bit urgent. The client call is at 8:30.</a:t>
            </a:r>
          </a:p>
          <a:p>
            <a:r>
              <a:t>B: I see. In that case, I can do it at 8:00 before the call. Would that 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cutting it fine, but OK.</a:t>
            </a:r>
          </a:p>
          <a:p>
            <a:r>
              <a:t>B: I know it’s tight. For the future, could we agree to send urgent requests by 5 p.m.? That would help me plan.</a:t>
            </a:r>
          </a:p>
          <a:p>
            <a:r>
              <a:t>A: Fair enough. I’ll try to remember.</a:t>
            </a:r>
          </a:p>
          <a:p>
            <a:r>
              <a:t>B: Thanks, Nadia. I really want to switch off in the evenings so I can do my best work in the 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A colleague contacts you outside working hours.</a:t>
            </a:r>
          </a:p>
          <a:p>
            <a:r>
              <a:t>Your role (B) | Employee who wants to protect evenings. Colleague: ______________</a:t>
            </a:r>
          </a:p>
          <a:p>
            <a:r>
              <a:t>Partner’s role (A) | Colleague who has an urgent request.</a:t>
            </a:r>
          </a:p>
          <a:p>
            <a:r>
              <a:t>Must use (3 or more) | I’m offline… · first thing tomorrow · Would that work? · could we agree to…? · switch off</a:t>
            </a:r>
          </a:p>
          <a:p>
            <a:r>
              <a:t>Goal | Set a boundary politely and offer an alternative.</a:t>
            </a:r>
          </a:p>
          <a:p>
            <a:r>
              <a:t>My notes | ____________________________________________</a:t>
            </a:r>
          </a:p>
          <a:p>
            <a:r>
              <a:t>Your boss asks, not a colleague. Respond more carefully: “I’m happy to help if it’s an emergency. Otherwise, could it wait until the morning?”</a:t>
            </a:r>
          </a:p>
          <a:p>
            <a:r>
              <a:t>Use “I” statements: “I need time to rest, so I’d prefer…”</a:t>
            </a:r>
          </a:p>
          <a:p>
            <a:r>
              <a:t>Suggest a team rule for urgent messages.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best things about working from home? | “The biggest advantage is…” / “I can finally…”</a:t>
            </a:r>
          </a:p>
          <a:p>
            <a:r>
              <a:t>2. How do you separate work and home life? | “I try to…” / “A ritual that helps me is…”</a:t>
            </a:r>
          </a:p>
          <a:p>
            <a:r>
              <a:t>3. Is it fair to expect people to answer messages in the evening? | “I don’t think it’s fair because…” / “It depends on…”</a:t>
            </a:r>
          </a:p>
          <a:p>
            <a:r>
              <a:t>4. Which jobs can’t be done from home? | “Jobs that need… can’t…” / “For instance, …”</a:t>
            </a:r>
          </a:p>
          <a:p>
            <a:r>
              <a:t>5. Will hybrid work become the norm? | “I think so, because…” / “Companies will probably…”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try to create a clear start and end to the day. In the morning I go for a short walk, and at six I close the laptop and put it away. That tells my brain that work is over. I’ve also turned off work notifications on my phone after seven. It sounds simple, but it makes a big difference to how well I sleep.”</a:t>
            </a:r>
          </a:p>
          <a:p>
            <a:r>
              <a:t>“turn off” 关闭;“It makes a big difference to…” = 对…影响很大(to 后接名词或 -ing)。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Polite requests and indirect questions 礼貌请求</a:t>
            </a:r>
          </a:p>
          <a:p>
            <a:r>
              <a:t>Direct | Polite and natural</a:t>
            </a:r>
          </a:p>
          <a:p>
            <a:r>
              <a:t>I want to work from home. | Would it be possible to work from home on Fridays?</a:t>
            </a:r>
          </a:p>
          <a:p>
            <a:r>
              <a:t>Answer me now. | When you have a moment, could you let me know?</a:t>
            </a:r>
          </a:p>
          <a:p>
            <a:r>
              <a:t>I won’t do it tonight. | I’m afraid I’m not available this evening. Could it wait until tomorrow?</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Polite requests and indirect questions 礼貌请求</a:t>
            </a:r>
          </a:p>
          <a:p>
            <a:r>
              <a:t>Use would / could and soft openers: I was wondering if…, Would you mind…? (followed by -ing).</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a meeting in Friday morning.  →  ✓ I have a meeting on Friday morning.  (on + 星期/日期)</a:t>
            </a:r>
          </a:p>
          <a:p>
            <a:r>
              <a:t>✗ I’m used to work from home.  →  ✓ I’m used to working from home.  (be used to + -ing)</a:t>
            </a:r>
          </a:p>
          <a:p>
            <a:r>
              <a:t>✗ I have difficulty to concentrate.  →  ✓ I have difficulty concentrating.  (difficulty + -ing)</a:t>
            </a:r>
          </a:p>
          <a:p>
            <a:r>
              <a:t>Mistake Watch: Check: work from home, be used to + -ing, mind + -ing, and at night / in the evening.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Would you mind to send it?  →  ✓ Would you mind sending it?  (mind + -ing)</a:t>
            </a:r>
          </a:p>
          <a:p>
            <a:r>
              <a:t>✗ I can’t switch off me.  →  ✓ I can’t switch off.  (switch off 不及物时不加宾语)</a:t>
            </a:r>
          </a:p>
          <a:p>
            <a:r>
              <a:t>✗ I answer emails in the night.  →  ✓ I answer emails at night.  (at night)</a:t>
            </a:r>
          </a:p>
          <a:p>
            <a:r>
              <a:t>Mistake Watch: Check: work from home, be used to + -ing, mind + -ing, and at night / in the evening.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“Right to disconnect.” Some countries, such as France and Australia, give employees a legal right not to answer work messages after hours.</a:t>
            </a:r>
          </a:p>
          <a:p>
            <a:r>
              <a:t>Explain your availability. Put your hours in your calendar and in your status message: “Online 9–5 CST.”</a:t>
            </a:r>
          </a:p>
          <a:p>
            <a:r>
              <a:t>Visibility. Remote workers sometimes feel unseen. Give regular short updates to your manager.</a:t>
            </a:r>
          </a:p>
          <a:p>
            <a:r>
              <a:t>Asking for flexibility is normal in many UK/US companies. Present benefits for the company, not only for yourself.</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my work-from-home routine and boundaries.</a:t>
            </a:r>
          </a:p>
          <a:p>
            <a:r>
              <a:t>I can ask for flexible working politely (Would it be possible to…?).</a:t>
            </a:r>
          </a:p>
          <a:p>
            <a:r>
              <a:t>I can protect my evenings politely with I’m offline and an alternative.</a:t>
            </a:r>
          </a:p>
          <a:p>
            <a:r>
              <a:t>I can use work from home, used to + -ing, mind + -ing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Record a 60-second talk: “My ideal working-from-home day.” Then record the request to your manager.</a:t>
            </a:r>
          </a:p>
          <a:p>
            <a:r>
              <a:t>8–10 | Listen to your recording. Check: work from home, used to + -ing, mind + -ing, polite modals.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11 · Master working from home 掌握在家工作的方法</a:t>
            </a:r>
          </a:p>
          <a:p>
            <a:r>
              <a:t>Goal: work productively at home: plan your day, communicate clearly in writing, run virtual stand-ups and avoid common remote-work traps.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题讲过去的事,用过去式(caused, went)。第 5 题可用 “My advice would be to…”。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three tips for staying productive when you work from home.</a:t>
            </a:r>
          </a:p>
          <a:p>
            <a:r>
              <a:t>Say: tip 1 with reason → tip 2 with reason → tip 3 with reason → summary.</a:t>
            </a:r>
          </a:p>
          <a:p>
            <a:r>
              <a:t>Useful starters: “My first tip is to…” / “The reason is that…” / “Last but not least, …” / “If you do these, you’ll…”</a:t>
            </a:r>
          </a:p>
          <a:p>
            <a:r>
              <a:t>“Last but not least” = 最后但同样重要。tip 后面接 to + 动词原形:My first tip is to plan your day。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Chloe’s team lived in four time zones, and most of their work happened in chat. At first, messages like “Can we talk?” caused panic. Was it urgent? Had she done something wrong? Chloe suggested three rules. First, say what you need and by when: “Could you review this draft by Thursday?” Second, put the key information at the top, so people don’t have to scroll. Third, if a message goes back and forth more than three times, switch to a call. Within a month, the team noticed fewer misunderstandings and fewer late-night messages. Chloe also introduced a ten-minute video stand-up on Mondays. “Chat is great for facts,” she says. “For feelings and for hard conversations, you need a voice.” The rules are now pinned at the top of the team channel.</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did “Can we talk?” cause panic?</a:t>
            </a:r>
          </a:p>
          <a:p>
            <a:r>
              <a:t>A: People didn’t know if it was urgent or if they’d done something wrong.</a:t>
            </a:r>
          </a:p>
          <a:p>
            <a:r>
              <a:t>Q2. What are two of Chloe’s rules?</a:t>
            </a:r>
          </a:p>
          <a:p>
            <a:r>
              <a:t>A: Any two of: say what you need and by when; put key information at the top; switch to a call after three exchanges.</a:t>
            </a:r>
          </a:p>
          <a:p>
            <a:r>
              <a:t>Q3. When does her team switch from chat to a call?</a:t>
            </a:r>
          </a:p>
          <a:p>
            <a:r>
              <a:t>A: When a message goes back and forth more than three times.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Planning and focus 计划与专注</a:t>
            </a:r>
          </a:p>
          <a:p>
            <a:r>
              <a:t>领读 → 学员跟读 → 请学员用表达造一个和自己工作相关的句子。</a:t>
            </a:r>
          </a:p>
          <a:p>
            <a:r>
              <a:t>plan your day (verb phrase) 规划一天 — “I plan my day the evening before.”</a:t>
            </a:r>
          </a:p>
          <a:p>
            <a:r>
              <a:t>prioritise (verb) 确定优先级 — “I prioritise the three most important tasks.”</a:t>
            </a:r>
          </a:p>
          <a:p>
            <a:r>
              <a:t>★ block out time (phrasal verb) 预留(整块)时间 — “I block out two hours each morning for focused work.”</a:t>
            </a:r>
          </a:p>
          <a:p>
            <a:r>
              <a:t>★ stay on top of (collocation) 掌控,不落后 — “I use a task list to stay on top of everything.”</a:t>
            </a:r>
          </a:p>
          <a:p>
            <a:r>
              <a:t>★ minimise distractions (collocation) 减少干扰 — “I mute notifications to minimise distractions.”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Written communication 书面沟通</a:t>
            </a:r>
          </a:p>
          <a:p>
            <a:r>
              <a:t>领读 → 学员跟读 → 请学员用表达造一个和自己工作相关的句子。</a:t>
            </a:r>
          </a:p>
          <a:p>
            <a:r>
              <a:t>status update (noun) 进度更新 — “Please post a short status update by 5 p.m.”</a:t>
            </a:r>
          </a:p>
          <a:p>
            <a:r>
              <a:t>by the end of the day (EOD) (phrase) 今天下班前 — “Could you send it by EOD?”</a:t>
            </a:r>
          </a:p>
          <a:p>
            <a:r>
              <a:t>★ keep (someone) in the loop (idiom) 让某人随时了解情况 — “I’ll keep you in the loop as things develop.”</a:t>
            </a:r>
          </a:p>
          <a:p>
            <a:r>
              <a:t>★ loop (someone) in (phrasal verb) 把某人加入沟通 — “Let’s loop in Finance before we decide.”</a:t>
            </a:r>
          </a:p>
          <a:p>
            <a:r>
              <a:t>★ ping (someone) (verb (informal)) 给某人发消息 — “I’ll ping you when I’m done.”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Stand-ups and teamwork 站会与协作</a:t>
            </a:r>
          </a:p>
          <a:p>
            <a:r>
              <a:t>领读 → 学员跟读 → 请学员用表达造一个和自己工作相关的句子。</a:t>
            </a:r>
          </a:p>
          <a:p>
            <a:r>
              <a:t>stand-up (noun) 站会,简短例会 — “We have a ten-minute stand-up every morning.”</a:t>
            </a:r>
          </a:p>
          <a:p>
            <a:r>
              <a:t>blocker (noun) 阻碍(进度的事) — “My only blocker is the missing data.”</a:t>
            </a:r>
          </a:p>
          <a:p>
            <a:r>
              <a:t>★ touch base (phrasal verb) 简单沟通一下 — “Let’s touch base on Thursday.”</a:t>
            </a:r>
          </a:p>
          <a:p>
            <a:r>
              <a:t>★ asynchronous (async) (adjective) 异步的(不同时在线) — “Most of our work is async, so people in other time zones can contribute.”</a:t>
            </a:r>
          </a:p>
          <a:p>
            <a:r>
              <a:t>★ offline (adverb) 会后私下沟通 — “Let’s discuss this offline.”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prioritise / block / loop / blocker / base / async</a:t>
            </a:r>
          </a:p>
          <a:p>
            <a:r>
              <a:t>1. I _______ the three most important tasks first. → prioritise</a:t>
            </a:r>
          </a:p>
          <a:p>
            <a:r>
              <a:t>2. I _______ out two hours each morning for focused work. → block</a:t>
            </a:r>
          </a:p>
          <a:p>
            <a:r>
              <a:t>3. Let’s _______ in Finance before we decide. → loop</a:t>
            </a:r>
          </a:p>
          <a:p>
            <a:r>
              <a:t>4. My only _______ is the missing data. → blocker</a:t>
            </a:r>
          </a:p>
          <a:p>
            <a:r>
              <a:t>5. Let’s touch _______ on Thursday. → base</a:t>
            </a:r>
          </a:p>
          <a:p>
            <a:r>
              <a:t>6. Most of our work is _______, so people in other time zones can join. → async</a:t>
            </a:r>
          </a:p>
          <a:p>
            <a:r>
              <a:t>Mistake Watch: (拼写与用法) prioritise (US prioritize); a blocker (noun) vs to block (verb); EOD = end of day; “ping” is informal, so use it in chat but not in formal emails.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Agreeing team rules for chat 商定聊天规则</a:t>
            </a:r>
          </a:p>
          <a:p>
            <a:r>
              <a:t>情景：Two colleagues agree simple rules for written communication in their team.</a:t>
            </a:r>
          </a:p>
          <a:p>
            <a:r>
              <a:t>Role A: Chloe Wang, team lead Role B: Marcus Reid,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(Chloe): Marcus, I’d like to agree a few rules for our channel. Some messages are confusing.</a:t>
            </a:r>
          </a:p>
          <a:p>
            <a:r>
              <a:t>B (Marcus): I agree. Yesterday I got “Can we talk?” and I panicked.</a:t>
            </a:r>
          </a:p>
          <a:p>
            <a:r>
              <a:t>A: Exactly. Rule one: say what you need and by when.</a:t>
            </a:r>
          </a:p>
          <a:p>
            <a:r>
              <a:t>B: Like “Could you review this draft by EOD Thursday?”</a:t>
            </a:r>
          </a:p>
          <a:p>
            <a:r>
              <a:t>A: Yes. Rule two: put the key information at the top.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And if it goes back and forth more than three times, we switch to a call?</a:t>
            </a:r>
          </a:p>
          <a:p>
            <a:r>
              <a:t>A: Exactly. I’ll pin the rules at the top of the channel.</a:t>
            </a:r>
          </a:p>
          <a:p>
            <a:r>
              <a:t>B: Good idea. Shall we also keep each other in the loop with a quick update on Fridays?</a:t>
            </a:r>
          </a:p>
          <a:p>
            <a:r>
              <a:t>A: Perfect. Let’s try it for a month and see.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agree rules for written communication with a colleague.</a:t>
            </a:r>
          </a:p>
          <a:p>
            <a:r>
              <a:t>Your role (A) | Team lead. Your team: ______________</a:t>
            </a:r>
          </a:p>
          <a:p>
            <a:r>
              <a:t>Partner’s role (B) | Colleague who suggests an extra rule.</a:t>
            </a:r>
          </a:p>
          <a:p>
            <a:r>
              <a:t>Must use (4 or more) | Rule one is… · by EOD · keep you in the loop · switch to a call · Let’s try it for a month</a:t>
            </a:r>
          </a:p>
          <a:p>
            <a:r>
              <a:t>Goal | Agree three rules and a review date.</a:t>
            </a:r>
          </a:p>
          <a:p>
            <a:r>
              <a:t>My notes | ____________________________________________</a:t>
            </a:r>
          </a:p>
          <a:p>
            <a:r>
              <a:t>A colleague objects: “That’s too formal for chat.” Reply: “I see your point, but clear messages save everyone time.”</a:t>
            </a:r>
          </a:p>
          <a:p>
            <a:r>
              <a:t>Rewrite one unclear message (“Can we talk?”) into a clear one.</a:t>
            </a:r>
          </a:p>
          <a:p>
            <a:r>
              <a:t>Propose how to mark urgent messages.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daily stand-up 每日站会</a:t>
            </a:r>
          </a:p>
          <a:p>
            <a:r>
              <a:t>情景：In a ten-minute stand-up, each person says what they did, what they will do, and any blockers.</a:t>
            </a:r>
          </a:p>
          <a:p>
            <a:r>
              <a:t>Role A: Eva, facilitator Role B: Raj,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(Eva): Morning, everyone. Let’s keep this to ten minutes. Raj, would you like to start?</a:t>
            </a:r>
          </a:p>
          <a:p>
            <a:r>
              <a:t>B (Raj): Sure. Yesterday I finished the first draft of the report. Today I’ll work on the charts. My only blocker is the missing sales data.</a:t>
            </a:r>
          </a:p>
          <a:p>
            <a:r>
              <a:t>A: Who has the sales data?</a:t>
            </a:r>
          </a:p>
          <a:p>
            <a:r>
              <a:t>B: I think Lucy does. I’ll ping her after the call.</a:t>
            </a:r>
          </a:p>
          <a:p>
            <a:r>
              <a:t>A: Great. Do you want me to loop in Finance as well?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Yes, please. That would speed things up.</a:t>
            </a:r>
          </a:p>
          <a:p>
            <a:r>
              <a:t>A: OK. Anything else, Raj?</a:t>
            </a:r>
          </a:p>
          <a:p>
            <a:r>
              <a:t>B: No, that’s it from me.</a:t>
            </a:r>
          </a:p>
          <a:p>
            <a:r>
              <a:t>A: Thanks. Next, Lucy.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run or join a ten-minute daily stand-up.</a:t>
            </a:r>
          </a:p>
          <a:p>
            <a:r>
              <a:t>Your role (B) | Team member. Your project: ______________</a:t>
            </a:r>
          </a:p>
          <a:p>
            <a:r>
              <a:t>Partner’s role (A) | Facilitator who keeps time.</a:t>
            </a:r>
          </a:p>
          <a:p>
            <a:r>
              <a:t>Must use (3 or more) | Yesterday I… · Today I’ll… · My only blocker is… · I’ll ping… · loop in</a:t>
            </a:r>
          </a:p>
          <a:p>
            <a:r>
              <a:t>Goal | Give a 30-second update with one blocker and one request for help.</a:t>
            </a:r>
          </a:p>
          <a:p>
            <a:r>
              <a:t>My notes | ____________________________________________</a:t>
            </a:r>
          </a:p>
          <a:p>
            <a:r>
              <a:t>Report a problem calmly: “I’m a bit behind on X because of Y. I’ll catch up by Friday.”</a:t>
            </a:r>
          </a:p>
          <a:p>
            <a:r>
              <a:t>Ask for help directly: “Could someone take a quick look at this?”</a:t>
            </a:r>
          </a:p>
          <a:p>
            <a:r>
              <a:t>Keep your update under 30 seconds.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best way to stay focused at home? | “What works for me is…” / “I find it easier to…”</a:t>
            </a:r>
          </a:p>
          <a:p>
            <a:r>
              <a:t>2. Is chat better than email? | “Chat is better for…, but…” / “Email is still useful for…”</a:t>
            </a:r>
          </a:p>
          <a:p>
            <a:r>
              <a:t>3. How can you avoid misunderstandings in writing? | “I try to be specific about…” / “I read my message again before…”</a:t>
            </a:r>
          </a:p>
          <a:p>
            <a:r>
              <a:t>4. How often should remote teams meet face to face? | “At least once a…” / “It depends on…”</a:t>
            </a:r>
          </a:p>
          <a:p>
            <a:r>
              <a:t>5. What is the biggest risk of working remotely? | “The biggest risk is…” / “People can feel…”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“In writing, you don’t have a face or a tone of voice, so people fill the gap with their own feelings. I try to be specific about what I need and when I need it. I also add a friendly line, like”Thanks!” or “No rush.” Before I send a difficult message, I read it again and ask myself how I would feel if I received it. If it’s still unclear, I switch to a call.”</a:t>
            </a:r>
          </a:p>
          <a:p>
            <a:r>
              <a:t>“fill the gap with” = 用…填补空白;“No rush.” = 不着急;“how I would feel if I received it” 是第二类条件。</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clear messages 写清楚的消息</a:t>
            </a:r>
          </a:p>
          <a:p>
            <a:r>
              <a:t>Unclear | Clear</a:t>
            </a:r>
          </a:p>
          <a:p>
            <a:r>
              <a:t>Can we talk? | Could we have a 10-minute call at 3 p.m. about the budget? It’s not urgent.</a:t>
            </a:r>
          </a:p>
          <a:p>
            <a:r>
              <a:t>Any news? | Do you have an update on the contract? I need it by EOD to reply to the client.</a:t>
            </a:r>
          </a:p>
          <a:p>
            <a:r>
              <a:t>Please check. | Could you check the figures in rows 3–5 by Thursday?</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clear messages 写清楚的消息</a:t>
            </a:r>
          </a:p>
          <a:p>
            <a:r>
              <a:t>The pattern: context + request + deadline. Add “No rush” or “It’s urgent” to show priority.</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keep me in loop.  →  ✓ Please keep me in the loop.  (in the loop)</a:t>
            </a:r>
          </a:p>
          <a:p>
            <a:r>
              <a:t>✗ I will inform you the result.  →  ✓ I’ll let you know the result. / I’ll inform you of the result.  (inform sb of sth)</a:t>
            </a:r>
          </a:p>
          <a:p>
            <a:r>
              <a:t>✗ I want to contact with you.  →  ✓ I want to contact you.  (contact 是及物动词)</a:t>
            </a:r>
          </a:p>
          <a:p>
            <a:r>
              <a:t>Mistake Watch: Look at the in “in the loop”, by in deadlines, and remotely (adverb) vs remote (adjective: “remote work”).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should discuss it by phone call.  →  ✓ We should discuss it on a call.  (on a call / by phone)</a:t>
            </a:r>
          </a:p>
          <a:p>
            <a:r>
              <a:t>✗ I’ll answer you till tomorrow.  →  ✓ I’ll answer you by tomorrow.  (截止用 by)</a:t>
            </a:r>
          </a:p>
          <a:p>
            <a:r>
              <a:t>✗ He is working remote.  →  ✓ He is working remotely.  (副词 remotely)</a:t>
            </a:r>
          </a:p>
          <a:p>
            <a:r>
              <a:t>Mistake Watch: Look at the in “in the loop”, by in deadlines, and remotely (adverb) vs remote (adjective: “remote work”).</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Chat tone. Emojis and “Thanks!” are normal in UK/US chat. They soften short messages.</a:t>
            </a:r>
          </a:p>
          <a:p>
            <a:r>
              <a:t>Time zones. Write the zone with the time: “3 p.m. GMT”.</a:t>
            </a:r>
          </a:p>
          <a:p>
            <a:r>
              <a:t>Over-communicate. Remote teams value short, regular updates. Silence is not seen as “no news”.</a:t>
            </a:r>
          </a:p>
          <a:p>
            <a:r>
              <a:t>Camera on for important talks. Hard topics are better by video than by text.</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plan my day and name three habits that keep me productive.</a:t>
            </a:r>
          </a:p>
          <a:p>
            <a:r>
              <a:t>I can write a clear message with context, request and deadline.</a:t>
            </a:r>
          </a:p>
          <a:p>
            <a:r>
              <a:t>I can give a stand-up update (yesterday, today, blockers).</a:t>
            </a:r>
          </a:p>
          <a:p>
            <a:r>
              <a:t>I can use keep in the loop, loop in, touch base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Rewrite five unclear messages you have sent. Then give a 30-second stand-up update aloud. Record it.</a:t>
            </a:r>
          </a:p>
          <a:p>
            <a:r>
              <a:t>8–10 | Listen to your recording. Check: in the loop, by/until, remotely, context + request + deadline.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12 · Stop remote work burnout 防止远程工作倦怠</a:t>
            </a:r>
          </a:p>
          <a:p>
            <a:r>
              <a:t>Goal: recognise signs of burnout in yourself and others, and talk about stress, limits and recovery with colleagues and managers.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题用现在完成时问经历,回答具体经历时用过去式。第 3 题用 “more likely / less likely”。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the signs of burnout and one way to prevent it.</a:t>
            </a:r>
          </a:p>
          <a:p>
            <a:r>
              <a:t>Say: what burnout is → three signs → one prevention tip → when to ask for help.</a:t>
            </a:r>
          </a:p>
          <a:p>
            <a:r>
              <a:t>Useful starters: “Burnout is a state of…” / “Typical signs include…” / “One way to prevent it is to…” / “If it continues, you should…”</a:t>
            </a:r>
          </a:p>
          <a:p>
            <a:r>
              <a:t>“Signs include…” 后接名词或 -ing 列举。prevent 后面接名词或 -ing:prevent burnout / prevent people from getting burnt out。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After eight months of remote work, Sam stopped enjoying anything. He felt tired even after sleeping, snapped at colleagues, and kept thinking, “What’s the point?” He didn’t take a holiday because “there was nowhere to go”. His manager, Dana, noticed he had stopped speaking in video meetings. Instead of sending an email, she called him. “I’m not checking up on you,” she said. “I just want to know how you are.” Sam admitted he was working twelve-hour days. Together they cut two projects, agreed that he would log off at six, and booked a week off. Three weeks later, Sam said he felt like himself again. Dana now asks every team member a simple question at the start of each one-to-one: “On a scale of one to ten, how is your energy this week?” The answers tell her more than any report. Burnout, she says, rarely announces itself. It creeps up.</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signs showed that Sam was struggling?</a:t>
            </a:r>
          </a:p>
          <a:p>
            <a:r>
              <a:t>A: Constant tiredness, snapping at colleagues, silence in meetings, no motivation.</a:t>
            </a:r>
          </a:p>
          <a:p>
            <a:r>
              <a:t>Q2. How did Dana approach him?</a:t>
            </a:r>
          </a:p>
          <a:p>
            <a:r>
              <a:t>A: She phoned him and asked how he was, without checking up on his work.</a:t>
            </a:r>
          </a:p>
          <a:p>
            <a:r>
              <a:t>Q3. What changes helped Sam?</a:t>
            </a:r>
          </a:p>
          <a:p>
            <a:r>
              <a:t>A: Fewer projects, logging off at six, a week off.</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Signs and causes 症状与原因</a:t>
            </a:r>
          </a:p>
          <a:p>
            <a:r>
              <a:t>领读 → 学员跟读 → 请学员用表达造一个和自己工作相关的句子。</a:t>
            </a:r>
          </a:p>
          <a:p>
            <a:r>
              <a:t>burnout (noun) 职业倦怠 — “She took three months off because of burnout.”</a:t>
            </a:r>
          </a:p>
          <a:p>
            <a:r>
              <a:t>exhausted (adjective) 筋疲力尽的 — “I felt completely exhausted by Friday.”</a:t>
            </a:r>
          </a:p>
          <a:p>
            <a:r>
              <a:t>workload (noun) 工作量 — “My workload doubled when two colleagues left.”</a:t>
            </a:r>
          </a:p>
          <a:p>
            <a:r>
              <a:t>★ be burnt out (adjective phrase) 精疲力竭,倦怠 — “I was burnt out after a year of working without a break.”</a:t>
            </a:r>
          </a:p>
          <a:p>
            <a:r>
              <a:t>★ stretched too thin (idiom) 精力被过度分散 — “I feel stretched too thin across four projects.”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Prevention and recovery 预防与恢复</a:t>
            </a:r>
          </a:p>
          <a:p>
            <a:r>
              <a:t>领读 → 学员跟读 → 请学员用表达造一个和自己工作相关的句子。</a:t>
            </a:r>
          </a:p>
          <a:p>
            <a:r>
              <a:t>take a break (collocation) 休息一下 — “Take a ten-minute break every hour.”</a:t>
            </a:r>
          </a:p>
          <a:p>
            <a:r>
              <a:t>log off (phrasal verb) 下线 — “I log off at six and don’t check messages.”</a:t>
            </a:r>
          </a:p>
          <a:p>
            <a:r>
              <a:t>★ recharge your batteries (idiom) 恢复精力 — “I need a week off to recharge my batteries.”</a:t>
            </a:r>
          </a:p>
          <a:p>
            <a:r>
              <a:t>★ unplug (verb) 断开(电子设备)休息 — “At weekends, I try to unplug completely.”</a:t>
            </a:r>
          </a:p>
          <a:p>
            <a:r>
              <a:t>★ build in time to rest (collocation) 留出休息时间 — “Build in time to rest between meetings.”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Asking for support 寻求支持</a:t>
            </a:r>
          </a:p>
          <a:p>
            <a:r>
              <a:t>领读 → 学员跟读 → 请学员用表达造一个和自己工作相关的句子。</a:t>
            </a:r>
          </a:p>
          <a:p>
            <a:r>
              <a:t>I’m struggling with… (phrase) 我在…上很吃力 — “I’m struggling with the deadline for the report.”</a:t>
            </a:r>
          </a:p>
          <a:p>
            <a:r>
              <a:t>I’ve taken on too much. (phrase) 我揽的事太多了 — “I’ve taken on too much and I need to talk about priorities.”</a:t>
            </a:r>
          </a:p>
          <a:p>
            <a:r>
              <a:t>★ push back (on) (phrasal verb) 提出异议,推辞 — “You can politely push back on unrealistic deadlines.”</a:t>
            </a:r>
          </a:p>
          <a:p>
            <a:r>
              <a:t>★ lighten the load (collocation) 减轻负担 — “Could we lighten the load by moving one deadline?”</a:t>
            </a:r>
          </a:p>
          <a:p>
            <a:r>
              <a:t>★ check in on (someone) (phrasal verb) 关心地询问某人情况 — “I just wanted to check in on you.”</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burnout / workload / break / log / recharge / lighten</a:t>
            </a:r>
          </a:p>
          <a:p>
            <a:r>
              <a:t>1. She took three months off because of _______. → burnout</a:t>
            </a:r>
          </a:p>
          <a:p>
            <a:r>
              <a:t>2. My _______ doubled when two colleagues left. → workload</a:t>
            </a:r>
          </a:p>
          <a:p>
            <a:r>
              <a:t>3. Take a short _______ every hour. → break</a:t>
            </a:r>
          </a:p>
          <a:p>
            <a:r>
              <a:t>4. I _______ off at six and don’t check messages. → log</a:t>
            </a:r>
          </a:p>
          <a:p>
            <a:r>
              <a:t>5. I need a week off to _______ my batteries. → recharge</a:t>
            </a:r>
          </a:p>
          <a:p>
            <a:r>
              <a:t>6. Could we _______ the load by moving one deadline? → lighten</a:t>
            </a:r>
          </a:p>
          <a:p>
            <a:r>
              <a:t>Mistake Watch: (词性与拼写) burnout (noun) / burn out (verb) / burnt-out (adjective; US burned-out); exhausted (not “exhaust” as adjective); spelling: workload, exhausted, recharge.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Telling your manager you are overwhelmed 向经理说明压力过大</a:t>
            </a:r>
          </a:p>
          <a:p>
            <a:r>
              <a:t>情景：You tell your manager that you have taken on too much and ask to adjust your workload.</a:t>
            </a:r>
          </a:p>
          <a:p>
            <a:r>
              <a:t>Role A: Dana Cole, manager Role B: Sam Li,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(Dana): Sam, thanks for making time. How are you doing, honestly?</a:t>
            </a:r>
          </a:p>
          <a:p>
            <a:r>
              <a:t>B (Sam): Honestly, I’m struggling. I feel stretched too thin across four projects.</a:t>
            </a:r>
          </a:p>
          <a:p>
            <a:r>
              <a:t>A: I’m sorry to hear that. What’s the hardest part?</a:t>
            </a:r>
          </a:p>
          <a:p>
            <a:r>
              <a:t>B: I’m working twelve-hour days and I can’t switch off. I’ve taken on too much, and I didn’t say anything earlier.</a:t>
            </a:r>
          </a:p>
          <a:p>
            <a:r>
              <a:t>A: I’m glad you’re telling me now. What would help?</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Could we lighten the load by moving one deadline, and maybe handing one project to someone else?</a:t>
            </a:r>
          </a:p>
          <a:p>
            <a:r>
              <a:t>A: Yes, let’s do that. Which project matters least this quarter?</a:t>
            </a:r>
          </a:p>
          <a:p>
            <a:r>
              <a:t>B: I think the dashboard. It could wait until next month.</a:t>
            </a:r>
          </a:p>
          <a:p>
            <a:r>
              <a:t>A: OK. And let’s agree that you’ll log off at six, starting tomorrow.</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talk to your manager about being overwhelmed.</a:t>
            </a:r>
          </a:p>
          <a:p>
            <a:r>
              <a:t>Your role (B) | Team member. Your workload: ______________</a:t>
            </a:r>
          </a:p>
          <a:p>
            <a:r>
              <a:t>Partner’s role (A) | Manager who listens and offers help.</a:t>
            </a:r>
          </a:p>
          <a:p>
            <a:r>
              <a:t>Must use (4 or more) | I’m struggling with… · stretched too thin · I’ve taken on too much · lighten the load · log off</a:t>
            </a:r>
          </a:p>
          <a:p>
            <a:r>
              <a:t>Goal | Describe the problem, say what you need, and agree two practical changes.</a:t>
            </a:r>
          </a:p>
          <a:p>
            <a:r>
              <a:t>My notes | ____________________________________________</a:t>
            </a:r>
          </a:p>
          <a:p>
            <a:r>
              <a:t>The manager says “Everyone is busy.” Reply: “I know, and I don’t want to complain. I’m raising it now so it doesn’t affect quality.”</a:t>
            </a:r>
          </a:p>
          <a:p>
            <a:r>
              <a:t>Offer a solution, not only a problem.</a:t>
            </a:r>
          </a:p>
          <a:p>
            <a:r>
              <a:t>Ask for a follow-up: “Could we check in again in two weeks?”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Checking in on a colleague 关心同事</a:t>
            </a:r>
          </a:p>
          <a:p>
            <a:r>
              <a:t>情景：You notice a colleague has been quiet and tired for weeks.</a:t>
            </a:r>
          </a:p>
          <a:p>
            <a:r>
              <a:t>Role A: Lucy Park, you Role B: Ben Hall,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(Lucy): Hi Ben, do you have five minutes? I just wanted to check in on you.</a:t>
            </a:r>
          </a:p>
          <a:p>
            <a:r>
              <a:t>B (Ben): Oh, thanks. I’m fine, just a bit tired.</a:t>
            </a:r>
          </a:p>
          <a:p>
            <a:r>
              <a:t>A: You seem to have been working late a lot. Is everything OK?</a:t>
            </a:r>
          </a:p>
          <a:p>
            <a:r>
              <a:t>B: To be honest, it’s been a tough month. The deadlines keep piling up.</a:t>
            </a:r>
          </a:p>
          <a:p>
            <a:r>
              <a:t>A: That sounds exhausting. Have you talked to Dana about it?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Not yet. I don’t want to look as if I can’t cope.</a:t>
            </a:r>
          </a:p>
          <a:p>
            <a:r>
              <a:t>A: I don’t think that’s how she’d see it. Asking for help is a sign you care about quality.</a:t>
            </a:r>
          </a:p>
          <a:p>
            <a:r>
              <a:t>B: You may be right. Maybe I’ll speak to her tomorrow.</a:t>
            </a:r>
          </a:p>
          <a:p>
            <a:r>
              <a:t>A: If it helps, I could look at the sales deck for you. Just say the word.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check in on a colleague who seems stressed.</a:t>
            </a:r>
          </a:p>
          <a:p>
            <a:r>
              <a:t>Your role (A) | Colleague. Your relationship: ______________</a:t>
            </a:r>
          </a:p>
          <a:p>
            <a:r>
              <a:t>Partner’s role (B) | Colleague who is reluctant to admit it.</a:t>
            </a:r>
          </a:p>
          <a:p>
            <a:r>
              <a:t>Must use (3 or more) | check in on · It sounds like… · Have you talked to…? · If it helps, I could… · Just say the word</a:t>
            </a:r>
          </a:p>
          <a:p>
            <a:r>
              <a:t>Goal | Show concern without pushing; offer one concrete help.</a:t>
            </a:r>
          </a:p>
          <a:p>
            <a:r>
              <a:t>My notes | ____________________________________________</a:t>
            </a:r>
          </a:p>
          <a:p>
            <a:r>
              <a:t>The colleague changes the subject. Respect it: “OK, I’m here if you want to talk.”</a:t>
            </a:r>
          </a:p>
          <a:p>
            <a:r>
              <a:t>Avoid advice too early. Ask first: “What would help most right now?”</a:t>
            </a:r>
          </a:p>
          <a:p>
            <a:r>
              <a:t>End with a small step: “Let’s have lunch on Thursday.”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signs of burnout? | “People may seem…” / “Common signs include…”</a:t>
            </a:r>
          </a:p>
          <a:p>
            <a:r>
              <a:t>2. Whose responsibility is it: the employee’s or the company’s? | “I think it’s both because…” / “A company can…”</a:t>
            </a:r>
          </a:p>
          <a:p>
            <a:r>
              <a:t>3. How do you say no to extra work politely? | “I’d say something like…” / “I’d explain my priorities…”</a:t>
            </a:r>
          </a:p>
          <a:p>
            <a:r>
              <a:t>4. How do you relax after work? | “I usually…” / “It helps me to…”</a:t>
            </a:r>
          </a:p>
          <a:p>
            <a:r>
              <a:t>5. Should companies offer mental-health days? | “I think they should because…” / “The risk is that…”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it’s both. A company can set realistic deadlines, offer flexibility and make sure managers check in regularly. But employees also need to speak up early and protect their own time. If a company expects 12-hour days, no individual can fix that alone. On the other hand, if nobody tells the manager they are struggling, the manager can’t help.”</a:t>
            </a:r>
          </a:p>
          <a:p>
            <a:r>
              <a:t>“speak up” = 大声说出意见/提出问题;“On the other hand” 引出对立面;“fix that alone” = 单靠个人解决。</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feelings and limits 谈论感受与限度</a:t>
            </a:r>
          </a:p>
          <a:p>
            <a:r>
              <a:t>Too vague | More natural</a:t>
            </a:r>
          </a:p>
          <a:p>
            <a:r>
              <a:t>I’m tired. | I’m running on empty. / I’m completely drained.</a:t>
            </a:r>
          </a:p>
          <a:p>
            <a:r>
              <a:t>I can’t do it. | I’m at capacity right now. / I won’t be able to take that on.</a:t>
            </a:r>
          </a:p>
          <a:p>
            <a:r>
              <a:t>Too much work! | My workload is unrealistic at the moment.</a:t>
            </a:r>
          </a:p>
          <a:p>
            <a:r>
              <a:t>Are you OK? | You seem a bit down lately. Is everything alright?</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feelings and limits 谈论感受与限度</a:t>
            </a:r>
          </a:p>
          <a:p>
            <a:r>
              <a:t>Seem + adjective is a polite way to notice: “You seem tired.”</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burn out.  →  ✓ I’m burnt out. / I’m burning out.  (burnt-out 是形容词)</a:t>
            </a:r>
          </a:p>
          <a:p>
            <a:r>
              <a:t>✗ I have stress.  →  ✓ I’m under a lot of stress. / I’m stressed.  (be under stress)</a:t>
            </a:r>
          </a:p>
          <a:p>
            <a:r>
              <a:t>✗ I feel very tired of my work.  →  ✓ I’m tired of my work. / I feel very tired.  (tired of(厌倦)vs tired(累))</a:t>
            </a:r>
          </a:p>
          <a:p>
            <a:r>
              <a:t>Mistake Watch: Say aloud: I’m stressed / I’m under stress, burnt out, tired of, take a break. Choose the correct form each time.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work makes me exhaust.  →  ✓ The work makes me exhausted.  (形容词 exhausted)</a:t>
            </a:r>
          </a:p>
          <a:p>
            <a:r>
              <a:t>✗ I can’t to catch up.  →  ✓ I can’t catch up.  (can’t + 原形)</a:t>
            </a:r>
          </a:p>
          <a:p>
            <a:r>
              <a:t>✗ Let’s take a rest for 5 minutes.  →  ✓ Let’s take a five-minute break.  (take a break)</a:t>
            </a:r>
          </a:p>
          <a:p>
            <a:r>
              <a:t>Mistake Watch: Say aloud: I’m stressed / I’m under stress, burnt out, tired of, take a break. Choose the correct form each time.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Talking about burnout is much more open in the UK and US than in many Asian workplaces. Using the word “burnout” is not a sign of weakness.</a:t>
            </a:r>
          </a:p>
          <a:p>
            <a:r>
              <a:t>Managers are trained to ask “How’s your energy?” Answer honestly, but without blaming others.</a:t>
            </a:r>
          </a:p>
          <a:p>
            <a:r>
              <a:t>Time off. Taking holiday is normal. Taking it before you are exhausted is smarter than after.</a:t>
            </a:r>
          </a:p>
          <a:p>
            <a:r>
              <a:t>Privacy. Don’t share a colleague’s stress with others without permission.</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the signs of burnout and ways to prevent it.</a:t>
            </a:r>
          </a:p>
          <a:p>
            <a:r>
              <a:t>I can tell a manager I’m struggling and propose changes.</a:t>
            </a:r>
          </a:p>
          <a:p>
            <a:r>
              <a:t>I can check in on a colleague kindly.</a:t>
            </a:r>
          </a:p>
          <a:p>
            <a:r>
              <a:t>I can use be burnt out, stretched too thin, lighten the load in context.</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Say the three-part answer: signs, prevention, when to ask for help. Then role-play the manager conversation. Record it.</a:t>
            </a:r>
          </a:p>
          <a:p>
            <a:r>
              <a:t>8–10 | Listen to your recording. Check: burnt out (adj), stressed / under stress, tired of, take a break.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13 · How to do an online job interview right 线上面试</a:t>
            </a:r>
          </a:p>
          <a:p>
            <a:r>
              <a:t>Goal: prepare for and perform in an online job interview: set up, introduce yourself, answer common questions and ask good ones.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题用现在完成时。回答具体面试经历用过去式。第 5 题可用 “I’d ask…”。</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Answer “Tell me about yourself” in 60 seconds for an online interview.</a:t>
            </a:r>
          </a:p>
          <a:p>
            <a:r>
              <a:t>Say: present job → relevant experience → one achievement → why this job.</a:t>
            </a:r>
          </a:p>
          <a:p>
            <a:r>
              <a:t>Useful starters: “I’m currently working as…” / “Before that, I…” / “One achievement I’m proud of is…” / “That’s why I’m excited about this role.”</a:t>
            </a:r>
          </a:p>
          <a:p>
            <a:r>
              <a:t>“I’m currently working as…” 比 “I work as…” 更正式。achievement 后接 of + 名词/-ing:proud of leading the team。</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Mia was well prepared for her online interview. She had researched the company, practised her answers, and tested her microphone. But five minutes in, she noticed that the interviewer looked uninterested. Then she realised why: she was looking at the interviewer’s face on screen, not at the camera, so it seemed to him as if she was looking down. On the next call, she put a sticker next to the camera and tried to look at it when she spoke. She also moved her laptop up on a pile of books so the camera was at eye level, and sat near a window for good light. In the second interview, she smiled more and paused before answers. The interviewer said later that she seemed “calm and clear”. She got the job. “The content was the same,” Mia said. “What changed was how it felt on the other side of the screen.”</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mistake did Mia make in her first interview?</a:t>
            </a:r>
          </a:p>
          <a:p>
            <a:r>
              <a:t>A: She looked at the interviewer’s face on screen instead of the camera, so it seemed she looked down.</a:t>
            </a:r>
          </a:p>
          <a:p>
            <a:r>
              <a:t>Q2. Name two things she changed.</a:t>
            </a:r>
          </a:p>
          <a:p>
            <a:r>
              <a:t>A: Any two of: looking at the camera, putting the laptop at eye level, sitting near a window, smiling and pausing.</a:t>
            </a:r>
          </a:p>
          <a:p>
            <a:r>
              <a:t>Q3. What was the result?</a:t>
            </a:r>
          </a:p>
          <a:p>
            <a:r>
              <a:t>A: The interviewer thought she was calm and clear, and she got the job.</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Preparing 面试准备</a:t>
            </a:r>
          </a:p>
          <a:p>
            <a:r>
              <a:t>领读 → 学员跟读 → 请学员用表达造一个和自己工作相关的句子。</a:t>
            </a:r>
          </a:p>
          <a:p>
            <a:r>
              <a:t>job interview (noun) 求职面试 — “I have a job interview tomorrow at ten.”</a:t>
            </a:r>
          </a:p>
          <a:p>
            <a:r>
              <a:t>do your research (collocation) 做功课 — “Do your research on the company before the interview.”</a:t>
            </a:r>
          </a:p>
          <a:p>
            <a:r>
              <a:t>test your equipment (collocation) 测试设备 — “Test your equipment 15 minutes before the call.”</a:t>
            </a:r>
          </a:p>
          <a:p>
            <a:r>
              <a:t>★ make eye contact (with the camera) (collocation) 保持目光接触(看镜头) — “Try to make eye contact with the camera, not the screen.”</a:t>
            </a:r>
          </a:p>
          <a:p>
            <a:r>
              <a:t>★ come across as (phrasal verb) 给人…的印象 — “You want to come across as confident, not nervous.”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Talking about yourself 介绍自己</a:t>
            </a:r>
          </a:p>
          <a:p>
            <a:r>
              <a:t>领读 → 学员跟读 → 请学员用表达造一个和自己工作相关的句子。</a:t>
            </a:r>
          </a:p>
          <a:p>
            <a:r>
              <a:t>I’m currently working as… (phrase) 我目前担任… — “I’m currently working as a project coordinator.”</a:t>
            </a:r>
          </a:p>
          <a:p>
            <a:r>
              <a:t>strengths / weaknesses (noun) 优点 / 缺点 — “My main weakness is that I sometimes take on too much.”</a:t>
            </a:r>
          </a:p>
          <a:p>
            <a:r>
              <a:t>★ achievement (noun) 成就 — “My biggest achievement was leading the product launch.”</a:t>
            </a:r>
          </a:p>
          <a:p>
            <a:r>
              <a:t>★ transferable skills (noun phrase) 可迁移技能 — “My transferable skills include project management and negotiation.”</a:t>
            </a:r>
          </a:p>
          <a:p>
            <a:r>
              <a:t>★ I thrive in… (phrase) 我在…环境中如鱼得水 — “I thrive in fast-moving teams.”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Answering and asking questions 回答与提问</a:t>
            </a:r>
          </a:p>
          <a:p>
            <a:r>
              <a:t>领读 → 学员跟读 → 请学员用表达造一个和自己工作相关的句子。</a:t>
            </a:r>
          </a:p>
          <a:p>
            <a:r>
              <a:t>Could you give me an example? (phrase) 你能举个例子吗? — “Could you give me an example of a time you led a team?”</a:t>
            </a:r>
          </a:p>
          <a:p>
            <a:r>
              <a:t>★ Walk me through… (phrase) 请带我过一遍… — “Walk me through your last project.”</a:t>
            </a:r>
          </a:p>
          <a:p>
            <a:r>
              <a:t>★ Where do you see yourself in five years? (phrase) 你五年后想在哪里? — “Where do you see yourself in five years? I hope to take on more responsibility.”</a:t>
            </a:r>
          </a:p>
          <a:p>
            <a:r>
              <a:t>What does a typical day look like? (phrase) 日常工作是怎样的? — “What does a typical day look like in this role?”</a:t>
            </a:r>
          </a:p>
          <a:p>
            <a:r>
              <a:t>★ the next steps (noun) 后续流程 — “Could you tell me about the next steps in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research / equipment / eye / currently / weakness / steps</a:t>
            </a:r>
          </a:p>
          <a:p>
            <a:r>
              <a:t>1. Do your _______ on the company before the interview. → research</a:t>
            </a:r>
          </a:p>
          <a:p>
            <a:r>
              <a:t>2. Test your _______ 15 minutes before the call. → equipment</a:t>
            </a:r>
          </a:p>
          <a:p>
            <a:r>
              <a:t>3. Try to make _______ contact with the camera. → eye</a:t>
            </a:r>
          </a:p>
          <a:p>
            <a:r>
              <a:t>4. I’m _______ working as a project coordinator. → currently</a:t>
            </a:r>
          </a:p>
          <a:p>
            <a:r>
              <a:t>5. My main _______ is that I sometimes take on too much. → weakness</a:t>
            </a:r>
          </a:p>
          <a:p>
            <a:r>
              <a:t>6. Could you tell me about the next _______ in the process? → steps</a:t>
            </a:r>
          </a:p>
          <a:p>
            <a:r>
              <a:t>Mistake Watch: (搭配与拼写) make eye contact (not “do”); do research (uncountable: not “researches”); spelling: achievement, equipment (uncountable), weakness.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 of an online interview 面试开场</a:t>
            </a:r>
          </a:p>
          <a:p>
            <a:r>
              <a:t>情景：The interviewer starts with technology checks and “Tell me about yourself”.</a:t>
            </a:r>
          </a:p>
          <a:p>
            <a:r>
              <a:t>Role A: Ms Gordon, interviewer Role B: Daniel Zhou, candidate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(Ms Gordon): Hello, Daniel. Can you hear me OK?</a:t>
            </a:r>
          </a:p>
          <a:p>
            <a:r>
              <a:t>B (Daniel): Yes, loud and clear. Thank you for seeing me today.</a:t>
            </a:r>
          </a:p>
          <a:p>
            <a:r>
              <a:t>A: Great. Let’s start with a simple question. Could you tell me about yourself?</a:t>
            </a:r>
          </a:p>
          <a:p>
            <a:r>
              <a:t>B: Of course. I’m currently working as a marketing coordinator at a software company. Before that, I worked in e-commerce for three years.</a:t>
            </a:r>
          </a:p>
          <a:p>
            <a:r>
              <a:t>A: And what are you most proud of?</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One achievement I’m proud of is a campaign I led last year. It increased online sales by 18 per cent.</a:t>
            </a:r>
          </a:p>
          <a:p>
            <a:r>
              <a:t>A: Impressive. What do you enjoy about your current role?</a:t>
            </a:r>
          </a:p>
          <a:p>
            <a:r>
              <a:t>B: I thrive in fast-moving teams, and I enjoy turning data into decisions.</a:t>
            </a:r>
          </a:p>
          <a:p>
            <a:r>
              <a:t>A: Good. Why are you interested in this position?</a:t>
            </a:r>
          </a:p>
          <a:p>
            <a:r>
              <a:t>B: It offers more responsibility, and I’m excited about your plans for Asia.</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answer the first questions in an online interview.</a:t>
            </a:r>
          </a:p>
          <a:p>
            <a:r>
              <a:t>Your role (B) | Candidate. The job you apply for: ______________</a:t>
            </a:r>
          </a:p>
          <a:p>
            <a:r>
              <a:t>Partner’s role (A) | Interviewer who asks open questions.</a:t>
            </a:r>
          </a:p>
          <a:p>
            <a:r>
              <a:t>Must use (4 or more) | I’m currently working as… · One achievement I’m proud of is… · I thrive in… · transferable skills · come across as</a:t>
            </a:r>
          </a:p>
          <a:p>
            <a:r>
              <a:t>Goal | Introduce yourself in 45 seconds, give one achievement and say why you want the job.</a:t>
            </a:r>
          </a:p>
          <a:p>
            <a:r>
              <a:t>My notes | ____________________________________________</a:t>
            </a:r>
          </a:p>
          <a:p>
            <a:r>
              <a:t>The connection drops. Handle it calmly: “Sorry, I think I lost you. Could you repeat the last question?”</a:t>
            </a:r>
          </a:p>
          <a:p>
            <a:r>
              <a:t>The interviewer asks for an example: “Could you give me an example?” Answer with a short story: situation → action → result.</a:t>
            </a:r>
          </a:p>
          <a:p>
            <a:r>
              <a:t>Look at the camera for the whole answer.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Difficult questions and your own questions 难题与提问</a:t>
            </a:r>
          </a:p>
          <a:p>
            <a:r>
              <a:t>情景：The interviewer asks about your weakness and a time you failed. Then you ask your questions.</a:t>
            </a:r>
          </a:p>
          <a:p>
            <a:r>
              <a:t>Role A: Ms Gordon, interviewer Role B: Daniel Zhou, candidate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(Ms Gordon): What would you say is your biggest weakness?</a:t>
            </a:r>
          </a:p>
          <a:p>
            <a:r>
              <a:t>B (Daniel): I tend to say yes to everything, which can lead to overload. I’ve learned to prioritise and push back politely.</a:t>
            </a:r>
          </a:p>
          <a:p>
            <a:r>
              <a:t>A: Walk me through a time something went wrong.</a:t>
            </a:r>
          </a:p>
          <a:p>
            <a:r>
              <a:t>B: Last spring, a supplier delayed a delivery. I told the client straight away, offered a discount and found another supplier. We kept the account.</a:t>
            </a:r>
          </a:p>
          <a:p>
            <a:r>
              <a:t>A: Where do you see yourself in five years?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 hope to be leading a small team and working across markets.</a:t>
            </a:r>
          </a:p>
          <a:p>
            <a:r>
              <a:t>A: Do you have any questions for us?</a:t>
            </a:r>
          </a:p>
          <a:p>
            <a:r>
              <a:t>B: Yes. What does a typical day look like in this role, and what are the next steps in the process?</a:t>
            </a:r>
          </a:p>
          <a:p>
            <a:r>
              <a:t>A: You’d work closely with Asia, and you’ll hear from us within a week.</a:t>
            </a:r>
          </a:p>
          <a:p>
            <a:r>
              <a:t>B: Thank you. I’m looking forward to hearing from you.</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handle hard questions and ask your own.</a:t>
            </a:r>
          </a:p>
          <a:p>
            <a:r>
              <a:t>Your role (B) | Candidate. Your target job: ______________</a:t>
            </a:r>
          </a:p>
          <a:p>
            <a:r>
              <a:t>Partner’s role (A) | Interviewer.</a:t>
            </a:r>
          </a:p>
          <a:p>
            <a:r>
              <a:t>Must use (3 or more) | My biggest weakness is… · Walk me through… · I hope to… · What does a typical day look like? · the next steps</a:t>
            </a:r>
          </a:p>
          <a:p>
            <a:r>
              <a:t>Goal | Answer two hard questions honestly and ask two good questions.</a:t>
            </a:r>
          </a:p>
          <a:p>
            <a:r>
              <a:t>My notes | ____________________________________________</a:t>
            </a:r>
          </a:p>
          <a:p>
            <a:r>
              <a:t>Turn a weakness into a lesson: “I used to…, but now I…”</a:t>
            </a:r>
          </a:p>
          <a:p>
            <a:r>
              <a:t>Use the STAR method: Situation, Task, Action, Result.</a:t>
            </a:r>
          </a:p>
          <a:p>
            <a:r>
              <a:t>End with a thank-you: “Thank you for your time. I’m very interested in the role.”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good first impression online? | “Lighting and sound are…” / “I think it’s important to…”</a:t>
            </a:r>
          </a:p>
          <a:p>
            <a:r>
              <a:t>2. Are online interviews fairer than face-to-face ones? | “They can be fairer because…” / “However, …”</a:t>
            </a:r>
          </a:p>
          <a:p>
            <a:r>
              <a:t>3. How honest should you be about your weaknesses? | “I’d be honest but…” / “The key is to show…”</a:t>
            </a:r>
          </a:p>
          <a:p>
            <a:r>
              <a:t>4. What would you ask the interviewer? | “I’d like to know…” / “I’d ask about the team and…”</a:t>
            </a:r>
          </a:p>
          <a:p>
            <a:r>
              <a:t>5. How should you follow up after an interview? | “I’d send a short thank-you email…” / “I’d mention…”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be honest, but I’d choose a weakness that isn’t essential to the job, and I’d always explain what I’m doing about it. For example,”I used to avoid public speaking, but I’ve joined a speaking club and I now present monthly.” That shows self-awareness and that I take responsibility for improving. The key is not to pretend I’m perfect.”</a:t>
            </a:r>
          </a:p>
          <a:p>
            <a:r>
              <a:t>“used to + 动词原形” 表示过去的习惯;“take responsibility for” = 为…负责;“The key is not to…” 是强调句。</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 method for answers 用 STAR 回答行为问题</a:t>
            </a:r>
          </a:p>
          <a:p>
            <a:r>
              <a:t>Step | Example</a:t>
            </a:r>
          </a:p>
          <a:p>
            <a:r>
              <a:t>Situation | Last spring, a supplier delayed a delivery.</a:t>
            </a:r>
          </a:p>
          <a:p>
            <a:r>
              <a:t>Task | I had to keep the client happy.</a:t>
            </a:r>
          </a:p>
          <a:p>
            <a:r>
              <a:t>Action | I informed the client at once and found another supplier.</a:t>
            </a:r>
          </a:p>
          <a:p>
            <a:r>
              <a:t>Result | We kept the account and sales grew by 5 per cent.</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 method for answers 用 STAR 回答行为问题</a:t>
            </a:r>
          </a:p>
          <a:p>
            <a:r>
              <a:t>Keep each answer to 60–90 seconds. Use past simple for stories and present perfect for experience (“I’ve led three projects”).</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looking forward to hear from you.  →  ✓ I’m looking forward to hearing from you.  (look forward to + -ing)</a:t>
            </a:r>
          </a:p>
          <a:p>
            <a:r>
              <a:t>✗ I have 3 years experience.  →  ✓ I have three years’ experience. / three years of experience.  (years of experience)</a:t>
            </a:r>
          </a:p>
          <a:p>
            <a:r>
              <a:t>✗ I am very interested about the job.  →  ✓ I’m very interested in the job.  (interested in)</a:t>
            </a:r>
          </a:p>
          <a:p>
            <a:r>
              <a:t>Mistake Watch: Before an interview, check look forward to + -ing, interested in, good at, graduated. These four are the most common slips.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good in marketing.  →  ✓ I’m good at marketing.  (good at)</a:t>
            </a:r>
          </a:p>
          <a:p>
            <a:r>
              <a:t>✗ My weakness is I am too perfect.  →  ✓ My weakness is that I can be a perfectionist.  (完整句;perfectionist)</a:t>
            </a:r>
          </a:p>
          <a:p>
            <a:r>
              <a:t>✗ I was graduated in 2020.  →  ✓ I graduated in 2020.  (graduate 主动)</a:t>
            </a:r>
          </a:p>
          <a:p>
            <a:r>
              <a:t>Mistake Watch: Before an interview, check look forward to + -ing, interested in, good at, graduated. These four are the most common slips.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specific. Numbers and examples beat general claims: “I raised sales by 18%.”</a:t>
            </a:r>
          </a:p>
          <a:p>
            <a:r>
              <a:t>Dress as for a face-to-face interview, at least on top. Plain background, good light, camera at eye level.</a:t>
            </a:r>
          </a:p>
          <a:p>
            <a:r>
              <a:t>Don’t ask about salary first. Wait until the interviewer raises it, or until an offer stage.</a:t>
            </a:r>
          </a:p>
          <a:p>
            <a:r>
              <a:t>Send a short thank-you email within 24 hours. It is standard in the UK and US.</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set up an online interview (camera, light, sound) and look natural.</a:t>
            </a:r>
          </a:p>
          <a:p>
            <a:r>
              <a:t>I can answer “Tell me about yourself” in 60 seconds.</a:t>
            </a:r>
          </a:p>
          <a:p>
            <a:r>
              <a:t>I can answer a weakness question honestly and give an example with STAR.</a:t>
            </a:r>
          </a:p>
          <a:p>
            <a:r>
              <a:t>I can ask two good questions at the end.</a:t>
            </a:r>
          </a:p>
          <a:p>
            <a:r>
              <a:t>I use look forward to + -ing, interested in, good at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Record “Tell me about yourself” (60 seconds), then one STAR story (90 seconds). Look at the camera.</a:t>
            </a:r>
          </a:p>
          <a:p>
            <a:r>
              <a:t>8–10 | Listen to your recording. Check: look forward to + -ing, interested in, good at, past simple in stories.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“预留(整块)时间” in English? → block out time</a:t>
            </a:r>
          </a:p>
          <a:p>
            <a:r>
              <a:t>“日常作息” in English? → routine</a:t>
            </a:r>
          </a:p>
          <a:p>
            <a:r>
              <a:t>“职业倦怠” in English? → burnout</a:t>
            </a:r>
          </a:p>
          <a:p>
            <a:r>
              <a:t>Fix it: I’m good in marketing. → I’m good at marketing.</a:t>
            </a:r>
          </a:p>
          <a:p>
            <a:r>
              <a:t>Fix it: I feel very tired of my work. → I’m tired of my work. / I feel very tired.</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 Id="rId6" Type="http://schemas.openxmlformats.org/officeDocument/2006/relationships/slide" Target="slide8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 Id="rId4" Type="http://schemas.openxmlformats.org/officeDocument/2006/relationships/slide" Target="slide113.xml"/><Relationship Id="rId5" Type="http://schemas.openxmlformats.org/officeDocument/2006/relationships/slide" Target="slide114.xml"/><Relationship Id="rId6" Type="http://schemas.openxmlformats.org/officeDocument/2006/relationships/slide" Target="slide115.xml"/><Relationship Id="rId7" Type="http://schemas.openxmlformats.org/officeDocument/2006/relationships/slide" Target="slide116.xml"/><Relationship Id="rId8" Type="http://schemas.openxmlformats.org/officeDocument/2006/relationships/slide" Target="slide117.xml"/><Relationship Id="rId9" Type="http://schemas.openxmlformats.org/officeDocument/2006/relationships/slide" Target="slide118.xml"/><Relationship Id="rId10" Type="http://schemas.openxmlformats.org/officeDocument/2006/relationships/slide" Target="slide119.xml"/><Relationship Id="rId11" Type="http://schemas.openxmlformats.org/officeDocument/2006/relationships/slide" Target="slide120.xml"/><Relationship Id="rId12" Type="http://schemas.openxmlformats.org/officeDocument/2006/relationships/slide" Target="slide12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3</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3</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Remote Work</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4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L10 Working from home · L11 Master working from home · L12 Stop remote work burnout · L13 How to do an online job interview right</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10</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Working from home</a:t>
            </a:r>
          </a:p>
          <a:p>
            <a:pPr algn="l">
              <a:lnSpc>
                <a:spcPct val="100000"/>
              </a:lnSpc>
              <a:spcAft>
                <a:spcPts val="800"/>
              </a:spcAft>
            </a:pPr>
            <a:r>
              <a:rPr sz="1400" b="0">
                <a:solidFill>
                  <a:srgbClr val="5F677A"/>
                </a:solidFill>
                <a:latin typeface="Arial"/>
                <a:ea typeface="Microsoft YaHei"/>
              </a:rPr>
              <a:t>在家工作</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11</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Master working from home</a:t>
            </a:r>
          </a:p>
          <a:p>
            <a:pPr algn="l">
              <a:lnSpc>
                <a:spcPct val="100000"/>
              </a:lnSpc>
              <a:spcAft>
                <a:spcPts val="800"/>
              </a:spcAft>
            </a:pPr>
            <a:r>
              <a:rPr sz="1400" b="0">
                <a:solidFill>
                  <a:srgbClr val="5F677A"/>
                </a:solidFill>
                <a:latin typeface="Arial"/>
                <a:ea typeface="Microsoft YaHei"/>
              </a:rPr>
              <a:t>掌握在家工作的方法</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12</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Stop remote work burnout</a:t>
            </a:r>
          </a:p>
          <a:p>
            <a:pPr algn="l">
              <a:lnSpc>
                <a:spcPct val="100000"/>
              </a:lnSpc>
              <a:spcAft>
                <a:spcPts val="800"/>
              </a:spcAft>
            </a:pPr>
            <a:r>
              <a:rPr sz="1400" b="0">
                <a:solidFill>
                  <a:srgbClr val="5F677A"/>
                </a:solidFill>
                <a:latin typeface="Arial"/>
                <a:ea typeface="Microsoft YaHei"/>
              </a:rPr>
              <a:t>防止远程工作倦怠</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13</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to do an online job interview right</a:t>
            </a:r>
          </a:p>
          <a:p>
            <a:pPr algn="l">
              <a:lnSpc>
                <a:spcPct val="100000"/>
              </a:lnSpc>
              <a:spcAft>
                <a:spcPts val="800"/>
              </a:spcAft>
            </a:pPr>
            <a:r>
              <a:rPr sz="1400" b="0">
                <a:solidFill>
                  <a:srgbClr val="5F677A"/>
                </a:solidFill>
                <a:latin typeface="Arial"/>
                <a:ea typeface="Microsoft YaHei"/>
              </a:rPr>
              <a:t>线上面试</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3 · Lesson 10 Working from home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Working from home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在家工作</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working from home: set up a routine, ask for flexibility, and protect your working hours.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many days a week do you work from home, or how many would you like to?</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best and the worst things about working from home?</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Where do you work at home? Is it a proper workspace?</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feel distracted at home? What was the cause?</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miss most about the office?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题用 “I’d like to…”(想要)。第 4 题讲过去的事,用过去式(felt, was)。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your ideal working-from-home day.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morning routine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how you organise your work</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breaks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you finish</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start my day by…   💬 I try to stick to…   💬 At six o’clock I switch off by…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“stick to” 意为”坚持(计划)“,”switch off” 是”下班后让大脑休息”,两者都是 B2 常用搭配。</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The commute to the spare room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Omar started working from home, he rolled out of bed at 8:55 and opened his laptop at nine. For a week, it felt like a miracle. By week three, the lines between work and home had disappeared. He answered emails at 10 p.m. and ate lunch at his desk. His wife joked that he was “commuting to the spare room”, and he realised she was right. So he introduced a simple routine. Every morning, he went for a ten-minute walk, which acted as his journey to work. He put his laptop away in a drawer at six o’clock. And he told his manager which hours he was reachable. “At first I thought I’d look lazy,” he says. “In fact, my work improved, because I wasn’t tired all the time.” Omar’s advice for newcomers is to create a ritual that tells your brain when the day starts and ends.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did Omar’s wife joke about a “commute”?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 went straight from bed to the spare room with no break between home and work.</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three changes did he make?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morning walk, putting the laptop away at six, and telling his manager when he was reachable.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was the effect on his work?</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His work improved because he was less tired.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Setting up and routine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工作环境与作息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 from home</a:t>
            </a:r>
          </a:p>
          <a:p>
            <a:pPr algn="l">
              <a:lnSpc>
                <a:spcPct val="115000"/>
              </a:lnSpc>
              <a:spcAft>
                <a:spcPts val="800"/>
              </a:spcAft>
            </a:pPr>
            <a:r>
              <a:rPr sz="1300" b="0">
                <a:solidFill>
                  <a:srgbClr val="5F677A"/>
                </a:solidFill>
                <a:latin typeface="Arial"/>
                <a:ea typeface="Microsoft YaHei"/>
              </a:rPr>
              <a:t>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在家办公</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work from home on Mondays and Fridays.”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home office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家庭办公室</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set up a small home office in the spare room.”</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routine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日常作息</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morning routine helps me focus.”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stick to a schedule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坚持日程</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easier to stick to a schedule when you plan breaks.”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ease into the day</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慢慢进入工作状态</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like to ease into the day with a short walk.”</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Boundaries and availability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边界与可联系时间</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working hours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工作时间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working hours are 9 to 5:30.”</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set boundaries</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设定界限</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important to set boundaries with colleagues and family.”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switch off</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彻底放松,下班断开</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find it hard to switch off after a long day.”</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reachable / available</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可联系的</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reachable by phone until six.”</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out of the office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不在办公室</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be out of the office on Thursday.”</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Requesting flexibility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申请灵活安排</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flexible working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灵活办公</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company offers flexible working.”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hybrid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混合办公(部分在家)</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moving to a hybrid model: three days in, two days at home.”</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Would it be possible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能否…?</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“Would it be possible to work from home on Fridays?”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a trial basis</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试行</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try it on a trial basis for three months?”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win-win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双赢</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think it could be a win-win for the team and for me.”</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可联系的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reachable / available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彻底放松,下班断开</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switch off</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灵活办公</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flexible working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双赢</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win-win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试行</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a trial basis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不在办公室</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 of the office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在家办公</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 from home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坚持日程</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stick to a schedule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routine</a:t>
            </a:r>
          </a:p>
        </p:txBody>
      </p:sp>
      <p:sp>
        <p:nvSpPr>
          <p:cNvPr id="10" name="Rounded Rectangle 9"/>
          <p:cNvSpPr/>
          <p:nvPr/>
        </p:nvSpPr>
        <p:spPr>
          <a:xfrm>
            <a:off x="3236976"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boundaries</a:t>
            </a:r>
          </a:p>
        </p:txBody>
      </p:sp>
      <p:sp>
        <p:nvSpPr>
          <p:cNvPr id="11" name="Rounded Rectangle 10"/>
          <p:cNvSpPr/>
          <p:nvPr/>
        </p:nvSpPr>
        <p:spPr>
          <a:xfrm>
            <a:off x="4791456"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switch</a:t>
            </a:r>
          </a:p>
        </p:txBody>
      </p:sp>
      <p:sp>
        <p:nvSpPr>
          <p:cNvPr id="12" name="Rounded Rectangle 11"/>
          <p:cNvSpPr/>
          <p:nvPr/>
        </p:nvSpPr>
        <p:spPr>
          <a:xfrm>
            <a:off x="5907024"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reachable</a:t>
            </a:r>
          </a:p>
        </p:txBody>
      </p:sp>
      <p:sp>
        <p:nvSpPr>
          <p:cNvPr id="13" name="Rounded Rectangle 12"/>
          <p:cNvSpPr/>
          <p:nvPr/>
        </p:nvSpPr>
        <p:spPr>
          <a:xfrm>
            <a:off x="7351776"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hybrid</a:t>
            </a:r>
          </a:p>
        </p:txBody>
      </p:sp>
      <p:sp>
        <p:nvSpPr>
          <p:cNvPr id="14" name="Rounded Rectangle 13"/>
          <p:cNvSpPr/>
          <p:nvPr/>
        </p:nvSpPr>
        <p:spPr>
          <a:xfrm>
            <a:off x="8467344"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trial</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 morning _______ helps me focus.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routine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It’s important to set _______ with colleagues and family.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boundaries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find it hard to _______ off after a long day.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switch</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I’m _______ by phone until six.</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reachable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We’re moving to a _______ model: three days in, two at home.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hybrid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Could we try it on a _______ basis for three months?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trial</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(介词与搭配) work from home (not “work at home”); on Fridays, in the evening, at night; spelling: flexible, schedule, boundary.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Asking your manager to work from home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向经理申请在家办公</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ask your manager for two days a week at home and explain how you will stay productive.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Wei Zhang, 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Roberts, manager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your manager to work from home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Roberts, do you have a minute? I’d like to talk about my working pattern.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Roberts</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What’s on your mind?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it be possible to work from home two days a week, say Tuesdays and Thursdays?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What’s behind the request?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 a lot of focused work, such as reports and analysis, and I’m easily interrupted in the office. At home, I’d be more productive.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your manager to work from home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would the team reach you?</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be reachable on Teams and by phone during normal hours, and I’d come in for all team meetings.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we try it on a trial basis for three months?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Absolutely. I think it could be a win-win. We can review it in September.</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Asking your manager to work from home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ask your manager for a flexible working pattern.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Your job: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is open but wants details.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Would it be possible to…? · reachable · on a trial basis · a win-win · working hours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Make the request, give two reasons, address one worry, agree a trial.</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manager says “I’m worried about team spirit.” Reply: “I understand. I’d still come in for meetings, and we could keep Fridays as a team day.”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Propose a measure of success: “We could compare my output over three months.”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Thank your manager and confirm in writing.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Setting boundaries after hours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设定下班后的界限</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messages you at 9 p.m. and expects an answer.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Nadia Hassan, 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Chen Yu, you</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Setting boundaries after hours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Nadia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Chen, sorry to bother you so late, but are you still up? I need the figures for tomorrow.</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Chen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Nadia. I’m offline for the evening, but I can look at it first thing tomorrow.</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 bit urgent. The client call is at 8:30.</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In that case, I can do it at 8:00 before the call. Would that work?</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Setting boundaries after hours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cutting it fine, but OK.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it’s tight. For the future, could we agree to send urgent requests by 5 p.m.? That would help me plan.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enough. I’ll try to remember.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Nadia. I really want to switch off in the evenings so I can do my best work in the day.</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Setting boundaries after hours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colleague contacts you outside working hours.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who wants to protect evenings. Colleague: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has an urgent request.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offline… · first thing tomorrow · Would that work? · could we agree to…? · switch off</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Set a boundary politely and offer an alternative.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Your boss asks, not a colleague. Respond more carefully: “I’m happy to help if it’s an emergency. Otherwise, could it wait until the morning?”</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Use “I” statements: “I need time to rest, so I’d prefer…”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Suggest a team rule for urgent messages.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best things about working from home?</a:t>
            </a:r>
          </a:p>
          <a:p>
            <a:pPr algn="l">
              <a:lnSpc>
                <a:spcPct val="115000"/>
              </a:lnSpc>
              <a:spcAft>
                <a:spcPts val="800"/>
              </a:spcAft>
            </a:pPr>
            <a:r>
              <a:rPr sz="1400" b="0">
                <a:solidFill>
                  <a:srgbClr val="5F677A"/>
                </a:solidFill>
                <a:latin typeface="Arial"/>
                <a:ea typeface="Microsoft YaHei"/>
              </a:rPr>
              <a:t>💬 “The biggest advantage is…” / “I can finally…”</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separate work and home life?</a:t>
            </a:r>
          </a:p>
          <a:p>
            <a:pPr algn="l">
              <a:lnSpc>
                <a:spcPct val="115000"/>
              </a:lnSpc>
              <a:spcAft>
                <a:spcPts val="800"/>
              </a:spcAft>
            </a:pPr>
            <a:r>
              <a:rPr sz="1400" b="0">
                <a:solidFill>
                  <a:srgbClr val="5F677A"/>
                </a:solidFill>
                <a:latin typeface="Arial"/>
                <a:ea typeface="Microsoft YaHei"/>
              </a:rPr>
              <a:t>💬 “I try to…” / “A ritual that helps me is…”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fair to expect people to answer messages in the evening?</a:t>
            </a:r>
          </a:p>
          <a:p>
            <a:pPr algn="l">
              <a:lnSpc>
                <a:spcPct val="115000"/>
              </a:lnSpc>
              <a:spcAft>
                <a:spcPts val="800"/>
              </a:spcAft>
            </a:pPr>
            <a:r>
              <a:rPr sz="1400" b="0">
                <a:solidFill>
                  <a:srgbClr val="5F677A"/>
                </a:solidFill>
                <a:latin typeface="Arial"/>
                <a:ea typeface="Microsoft YaHei"/>
              </a:rPr>
              <a:t>💬 “I don’t think it’s fair because…” / “It depends on…”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jobs can’t be done from home?</a:t>
            </a:r>
          </a:p>
          <a:p>
            <a:pPr algn="l">
              <a:lnSpc>
                <a:spcPct val="115000"/>
              </a:lnSpc>
              <a:spcAft>
                <a:spcPts val="800"/>
              </a:spcAft>
            </a:pPr>
            <a:r>
              <a:rPr sz="1400" b="0">
                <a:solidFill>
                  <a:srgbClr val="5F677A"/>
                </a:solidFill>
                <a:latin typeface="Arial"/>
                <a:ea typeface="Microsoft YaHei"/>
              </a:rPr>
              <a:t>💬 “Jobs that need… can’t…” / “For instance, …”</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hybrid work become the norm?</a:t>
            </a:r>
          </a:p>
          <a:p>
            <a:pPr algn="l">
              <a:lnSpc>
                <a:spcPct val="115000"/>
              </a:lnSpc>
              <a:spcAft>
                <a:spcPts val="800"/>
              </a:spcAft>
            </a:pPr>
            <a:r>
              <a:rPr sz="1400" b="0">
                <a:solidFill>
                  <a:srgbClr val="5F677A"/>
                </a:solidFill>
                <a:latin typeface="Arial"/>
                <a:ea typeface="Microsoft YaHei"/>
              </a:rPr>
              <a:t>💬 “I think so, because…” / “Companies will probably…”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try to create a clear start and end to the day. In the morning I go for a short walk, and at six I close the laptop and put it away. That tells my brain that work is over. I’ve also turned off work notifications on my phone after seven. It sounds simple, but it makes a big difference to how well I sleep.</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“turn off” 关闭;“It makes a big difference to…” = 对…影响很大(to 后接名词或 -ing)。</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Polite requests and indirect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礼貌请求</a:t>
            </a:r>
          </a:p>
        </p:txBody>
      </p:sp>
      <p:graphicFrame>
        <p:nvGraphicFramePr>
          <p:cNvPr id="9" name="Table 8"/>
          <p:cNvGraphicFramePr>
            <a:graphicFrameLocks noGrp="1"/>
          </p:cNvGraphicFramePr>
          <p:nvPr/>
        </p:nvGraphicFramePr>
        <p:xfrm>
          <a:off x="548640" y="1417320"/>
          <a:ext cx="11094415" cy="187756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a:t>
                      </a:r>
                    </a:p>
                  </a:txBody>
                  <a:tcPr anchor="ctr">
                    <a:solidFill>
                      <a:srgbClr val="3CC49A"/>
                    </a:solidFill>
                  </a:tcPr>
                </a:tc>
                <a:tc>
                  <a:txBody>
                    <a:bodyPr wrap="square"/>
                    <a:lstStyle/>
                    <a:p>
                      <a:r>
                        <a:rPr sz="1600" b="1">
                          <a:solidFill>
                            <a:srgbClr val="FFFFFF"/>
                          </a:solidFill>
                          <a:latin typeface="Arial"/>
                          <a:ea typeface="Microsoft YaHei"/>
                        </a:rPr>
                        <a:t>Polite and natural</a:t>
                      </a:r>
                    </a:p>
                  </a:txBody>
                  <a:tcPr anchor="ctr">
                    <a:solidFill>
                      <a:srgbClr val="3CC49A"/>
                    </a:solidFill>
                  </a:tcPr>
                </a:tc>
              </a:tr>
              <a:tr h="408432">
                <a:tc>
                  <a:txBody>
                    <a:bodyPr wrap="square"/>
                    <a:lstStyle/>
                    <a:p>
                      <a:r>
                        <a:rPr sz="1600" b="1">
                          <a:solidFill>
                            <a:srgbClr val="1F2A44"/>
                          </a:solidFill>
                          <a:latin typeface="Arial"/>
                          <a:ea typeface="Microsoft YaHei"/>
                        </a:rPr>
                        <a:t>I want to work from home.</a:t>
                      </a:r>
                    </a:p>
                  </a:txBody>
                  <a:tcPr anchor="ctr">
                    <a:solidFill>
                      <a:srgbClr val="FFFFFF"/>
                    </a:solidFill>
                  </a:tcPr>
                </a:tc>
                <a:tc>
                  <a:txBody>
                    <a:bodyPr wrap="square"/>
                    <a:lstStyle/>
                    <a:p>
                      <a:r>
                        <a:rPr sz="1600" b="0">
                          <a:solidFill>
                            <a:srgbClr val="1F2A44"/>
                          </a:solidFill>
                          <a:latin typeface="Arial"/>
                          <a:ea typeface="Microsoft YaHei"/>
                        </a:rPr>
                        <a:t>Would it be possible to work from home on Fridays?</a:t>
                      </a:r>
                    </a:p>
                  </a:txBody>
                  <a:tcPr anchor="ctr">
                    <a:solidFill>
                      <a:srgbClr val="FFFFFF"/>
                    </a:solidFill>
                  </a:tcPr>
                </a:tc>
              </a:tr>
              <a:tr h="408432">
                <a:tc>
                  <a:txBody>
                    <a:bodyPr wrap="square"/>
                    <a:lstStyle/>
                    <a:p>
                      <a:r>
                        <a:rPr sz="1600" b="1">
                          <a:solidFill>
                            <a:srgbClr val="1F2A44"/>
                          </a:solidFill>
                          <a:latin typeface="Arial"/>
                          <a:ea typeface="Microsoft YaHei"/>
                        </a:rPr>
                        <a:t>Answer me now.</a:t>
                      </a:r>
                    </a:p>
                  </a:txBody>
                  <a:tcPr anchor="ctr">
                    <a:solidFill>
                      <a:srgbClr val="FFEFD9"/>
                    </a:solidFill>
                  </a:tcPr>
                </a:tc>
                <a:tc>
                  <a:txBody>
                    <a:bodyPr wrap="square"/>
                    <a:lstStyle/>
                    <a:p>
                      <a:r>
                        <a:rPr sz="1600" b="0">
                          <a:solidFill>
                            <a:srgbClr val="1F2A44"/>
                          </a:solidFill>
                          <a:latin typeface="Arial"/>
                          <a:ea typeface="Microsoft YaHei"/>
                        </a:rPr>
                        <a:t>When you have a moment, could you let me know?</a:t>
                      </a:r>
                    </a:p>
                  </a:txBody>
                  <a:tcPr anchor="ctr">
                    <a:solidFill>
                      <a:srgbClr val="FFEFD9"/>
                    </a:solidFill>
                  </a:tcPr>
                </a:tc>
              </a:tr>
              <a:tr h="652272">
                <a:tc>
                  <a:txBody>
                    <a:bodyPr wrap="square"/>
                    <a:lstStyle/>
                    <a:p>
                      <a:r>
                        <a:rPr sz="1600" b="1">
                          <a:solidFill>
                            <a:srgbClr val="1F2A44"/>
                          </a:solidFill>
                          <a:latin typeface="Arial"/>
                          <a:ea typeface="Microsoft YaHei"/>
                        </a:rPr>
                        <a:t>I won’t do it tonight.</a:t>
                      </a:r>
                    </a:p>
                  </a:txBody>
                  <a:tcPr anchor="ctr">
                    <a:solidFill>
                      <a:srgbClr val="FFFFFF"/>
                    </a:solidFill>
                  </a:tcPr>
                </a:tc>
                <a:tc>
                  <a:txBody>
                    <a:bodyPr wrap="square"/>
                    <a:lstStyle/>
                    <a:p>
                      <a:r>
                        <a:rPr sz="1600" b="0">
                          <a:solidFill>
                            <a:srgbClr val="1F2A44"/>
                          </a:solidFill>
                          <a:latin typeface="Arial"/>
                          <a:ea typeface="Microsoft YaHei"/>
                        </a:rPr>
                        <a:t>I’m afraid I’m not available this evening. Could it wait until tomorrow?</a:t>
                      </a:r>
                    </a:p>
                  </a:txBody>
                  <a:tcPr anchor="ctr">
                    <a:solidFill>
                      <a:srgbClr val="FFFFFF"/>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Polite requests and indirect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礼貌请求</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would / could and soft openers: </a:t>
            </a:r>
            <a:r>
              <a:rPr sz="1700" b="0">
                <a:solidFill>
                  <a:srgbClr val="1F2A44"/>
                </a:solidFill>
                <a:latin typeface="Arial"/>
                <a:ea typeface="Microsoft YaHei"/>
              </a:rPr>
              <a:t>I was wondering if…, Would you mind…? (followed by -ing).</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meeting in Friday morning.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meeting on Friday morning.</a:t>
            </a:r>
          </a:p>
          <a:p>
            <a:pPr algn="l">
              <a:spcAft>
                <a:spcPts val="200"/>
              </a:spcAft>
            </a:pPr>
            <a:r>
              <a:rPr sz="1200" b="0">
                <a:solidFill>
                  <a:srgbClr val="FFFFFF"/>
                </a:solidFill>
                <a:latin typeface="Arial"/>
                <a:ea typeface="Microsoft YaHei"/>
              </a:rPr>
              <a:t>on + 星期/日期</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used to work from home.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used to working from home.</a:t>
            </a:r>
          </a:p>
          <a:p>
            <a:pPr algn="l">
              <a:spcAft>
                <a:spcPts val="200"/>
              </a:spcAft>
            </a:pPr>
            <a:r>
              <a:rPr sz="1200" b="0">
                <a:solidFill>
                  <a:srgbClr val="FFFFFF"/>
                </a:solidFill>
                <a:latin typeface="Arial"/>
                <a:ea typeface="Microsoft YaHei"/>
              </a:rPr>
              <a:t>be used to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difficulty to concentrate.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difficulty concentrating.</a:t>
            </a:r>
          </a:p>
          <a:p>
            <a:pPr algn="l">
              <a:spcAft>
                <a:spcPts val="200"/>
              </a:spcAft>
            </a:pPr>
            <a:r>
              <a:rPr sz="1200" b="0">
                <a:solidFill>
                  <a:srgbClr val="FFFFFF"/>
                </a:solidFill>
                <a:latin typeface="Arial"/>
                <a:ea typeface="Microsoft YaHei"/>
              </a:rPr>
              <a:t>difficulty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Would you mind to send 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Would you mind sending it?</a:t>
            </a:r>
          </a:p>
          <a:p>
            <a:pPr algn="l">
              <a:spcAft>
                <a:spcPts val="200"/>
              </a:spcAft>
            </a:pPr>
            <a:r>
              <a:rPr sz="1200" b="0">
                <a:solidFill>
                  <a:srgbClr val="FFFFFF"/>
                </a:solidFill>
                <a:latin typeface="Arial"/>
                <a:ea typeface="Microsoft YaHei"/>
              </a:rPr>
              <a:t>mind +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switch off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can’t switch off.</a:t>
            </a:r>
          </a:p>
          <a:p>
            <a:pPr algn="l">
              <a:spcAft>
                <a:spcPts val="200"/>
              </a:spcAft>
            </a:pPr>
            <a:r>
              <a:rPr sz="1200" b="0">
                <a:solidFill>
                  <a:srgbClr val="FFFFFF"/>
                </a:solidFill>
                <a:latin typeface="Arial"/>
                <a:ea typeface="Microsoft YaHei"/>
              </a:rPr>
              <a:t>switch off 不及物时不加宾语</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answer emails in the night.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answer emails at night.</a:t>
            </a:r>
          </a:p>
          <a:p>
            <a:pPr algn="l">
              <a:spcAft>
                <a:spcPts val="200"/>
              </a:spcAft>
            </a:pPr>
            <a:r>
              <a:rPr sz="1200" b="0">
                <a:solidFill>
                  <a:srgbClr val="FFFFFF"/>
                </a:solidFill>
                <a:latin typeface="Arial"/>
                <a:ea typeface="Microsoft YaHei"/>
              </a:rPr>
              <a:t>at night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work from home, be used to + -ing, mind + -ing, and at night / in the evening.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“Right to disconnect.” Some countries, such as France and Australia, give employees a legal right not to answer work messages after hours.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Explain your availability. Put your hours in your calendar and in your status message: “Online 9–5 CST.”</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Visibility. Remote workers sometimes feel unseen. Give regular short updates to your manager.</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Asking for flexibility is normal in many UK/US companies. Present benefits for the company, not only for yourself.</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my work-from-home routine and boundaries.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flexible working politely (Would it be possible to…?).</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protect my evenings politely with I’m offline and an alternative.</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work from home, used to + -ing, mind + -ing correctly.</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10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Record a 60-second talk: “My ideal working-from-home day.” Then record the request to your manager.</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work from home, used to + -ing, mind + -ing, polite modals.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3 · Lesson 11 Master working from home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Master working from home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掌握在家工作的方法</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work productively at home: plan your day, communicate clearly in writing, run virtual stand-ups and avoid common remote-work traps.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plan your working day at home?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when you can’t concentrate?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tools do you use to stay in touch with your team?</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a message in chat last cause a misunderstanding? What went wrong?</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advice would you give to someone new to remote work?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题讲过去的事,用过去式(caused, went)。第 5 题可用 “My advice would be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three tips for staying productive when you work from home.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tip 1 with reason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tip 2 with reason</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tip 3 with reason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summary</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My first tip is to…   💬 The reason is that…   💬 Last but not least, …   💬 If you do these, you’ll…</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“Last but not least” = 最后但同样重要。tip 后面接 to + 动词原形:My first tip is to plan your day。</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Reading · Write it so they can’t misread 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Chloe’s team lived in four time zones, and most of their work happened in chat. At first, messages like “Can we talk?” caused panic. Was it urgent? Had she done something wrong? Chloe suggested three rules. First, say what you need and by when: “Could you review this draft by Thursday?” Second, put the key information at the top, so people don’t have to scroll. Third, if a message goes back and forth more than three times, switch to a call. Within a month, the team noticed fewer misunderstandings and fewer late-night messages. Chloe also introduced a ten-minute video stand-up on Mondays. “Chat is great for facts,” she says. “For feelings and for hard conversations, you need a voice.” The rules are now pinned at the top of the team channel.</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did “Can we talk?” cause panic?</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People didn’t know if it was urgent or if they’d done something wrong.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two of Chloe’s rules?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Any two of: say what you need and by when; put key information at the top; switch to a call after three exchanges.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When does her team switch from chat to a call?</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When a message goes back and forth more than three times.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Planning and focus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计划与专注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plan your day</a:t>
            </a:r>
          </a:p>
          <a:p>
            <a:pPr algn="l">
              <a:lnSpc>
                <a:spcPct val="115000"/>
              </a:lnSpc>
              <a:spcAft>
                <a:spcPts val="800"/>
              </a:spcAft>
            </a:pPr>
            <a:r>
              <a:rPr sz="1300" b="0">
                <a:solidFill>
                  <a:srgbClr val="5F677A"/>
                </a:solidFill>
                <a:latin typeface="Arial"/>
                <a:ea typeface="Microsoft YaHei"/>
              </a:rPr>
              <a:t>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规划一天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plan my day the evening before.”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prioritise</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确定优先级</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prioritise the three most important tasks.”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block out time</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预留(整块)时间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block out two hours each morning for focused work.”</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stay on top of</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掌控,不落后</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use a task list to stay on top of everything.”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minimise distractions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减少干扰</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mute notifications to minimise distractions.”</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Written communication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书面沟通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status update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进度更新</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post a short status update by 5 p.m.”</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by the end of the day (EOD)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今天下班前</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send it by EOD?”</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(someone) in the loop</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让某人随时了解情况</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keep you in the loop as things develop.”</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loop (someone) in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把某人加入沟通</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loop in Finance before we decide.”</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ping (someone)</a:t>
            </a:r>
          </a:p>
          <a:p>
            <a:pPr algn="l">
              <a:lnSpc>
                <a:spcPct val="115000"/>
              </a:lnSpc>
              <a:spcAft>
                <a:spcPts val="800"/>
              </a:spcAft>
            </a:pPr>
            <a:r>
              <a:rPr sz="1300" b="0">
                <a:solidFill>
                  <a:srgbClr val="5F677A"/>
                </a:solidFill>
                <a:latin typeface="Arial"/>
                <a:ea typeface="Microsoft YaHei"/>
              </a:rPr>
              <a:t>verb (informal)</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给某人发消息</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ping you when I’m done.”</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Stand-ups and teamwork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站会与协作</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stand-up</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站会,简短例会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ten-minute stand-up every morning.”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blocker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阻碍(进度的事)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only blocker is the missing data.”</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touch base</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简单沟通一下</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touch base on Thursday.”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asynchronous (async)</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异步的(不同时在线)</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“Most of our work is async, so people in other time zones can contribute.”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offline</a:t>
            </a:r>
          </a:p>
          <a:p>
            <a:pPr algn="l">
              <a:lnSpc>
                <a:spcPct val="115000"/>
              </a:lnSpc>
              <a:spcAft>
                <a:spcPts val="800"/>
              </a:spcAft>
            </a:pPr>
            <a:r>
              <a:rPr sz="1300" b="0">
                <a:solidFill>
                  <a:srgbClr val="5F677A"/>
                </a:solidFill>
                <a:latin typeface="Arial"/>
                <a:ea typeface="Microsoft YaHei"/>
              </a:rPr>
              <a:t>adverb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会后私下沟通</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discuss this offline.”</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把某人加入沟通</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loop (someone) in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给某人发消息</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ping (someone)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简单沟通一下</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touch base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阻碍(进度的事)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减少干扰</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minimise distractions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今天下班前</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by the end of the day (EOD)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异步的(不同时在线)</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asynchronous (async)</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站会,简短例会</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stand-up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prioritise</a:t>
            </a:r>
          </a:p>
        </p:txBody>
      </p:sp>
      <p:sp>
        <p:nvSpPr>
          <p:cNvPr id="10" name="Rounded Rectangle 9"/>
          <p:cNvSpPr/>
          <p:nvPr/>
        </p:nvSpPr>
        <p:spPr>
          <a:xfrm>
            <a:off x="3566160"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block</a:t>
            </a:r>
          </a:p>
        </p:txBody>
      </p:sp>
      <p:sp>
        <p:nvSpPr>
          <p:cNvPr id="11" name="Rounded Rectangle 10"/>
          <p:cNvSpPr/>
          <p:nvPr/>
        </p:nvSpPr>
        <p:spPr>
          <a:xfrm>
            <a:off x="4572000"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loop</a:t>
            </a:r>
          </a:p>
        </p:txBody>
      </p:sp>
      <p:sp>
        <p:nvSpPr>
          <p:cNvPr id="12" name="Rounded Rectangle 11"/>
          <p:cNvSpPr/>
          <p:nvPr/>
        </p:nvSpPr>
        <p:spPr>
          <a:xfrm>
            <a:off x="5468112"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blocker</a:t>
            </a:r>
          </a:p>
        </p:txBody>
      </p:sp>
      <p:sp>
        <p:nvSpPr>
          <p:cNvPr id="13" name="Rounded Rectangle 12"/>
          <p:cNvSpPr/>
          <p:nvPr/>
        </p:nvSpPr>
        <p:spPr>
          <a:xfrm>
            <a:off x="6693408"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base</a:t>
            </a:r>
          </a:p>
        </p:txBody>
      </p:sp>
      <p:sp>
        <p:nvSpPr>
          <p:cNvPr id="14" name="Rounded Rectangle 13"/>
          <p:cNvSpPr/>
          <p:nvPr/>
        </p:nvSpPr>
        <p:spPr>
          <a:xfrm>
            <a:off x="758952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async</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I _______ the three most important tasks first.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prioritise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I _______ out two hours each morning for focused work.</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Let’s _______ in Finance before we decide.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loop</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My only _______ is the missing data.</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blocker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Let’s touch _______ on Thursday.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base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Most of our work is _______, so people in other time zones can join.</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async</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(拼写与用法) prioritise (US prioritize); a blocker (noun) vs to block (verb); EOD = end of day; “ping” is informal, so use it in chat but not in formal emails.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Agreeing team rules for chat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商定聊天规则</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agree simple rules for written communication in their team.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Chloe Wang, team lead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Marcus Reid, colleague</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Agreeing team rules for chat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Chloe</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Marcus, I’d like to agree a few rules for our channel. Some messages are confusing.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Marcus</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 Yesterday I got “Can we talk?” and I panicked.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Rule one: say what you need and by when.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Like “Could you review this draft by EOD Thursday?”</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Rule two: put the key information at the top.</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Agreeing team rules for chat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if it goes back and forth more than three times, we switch to a call?</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I’ll pin the rules at the top of the channel.</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Shall we also keep each other in the loop with a quick update on Fridays?</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Let’s try it for a month and see.</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Agreeing team rules for chat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agree rules for written communication with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 Your team: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suggests an extra rule.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Rule one is… · by EOD · keep you in the loop · switch to a call · Let’s try it for a month</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three rules and a review date.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colleague objects: “That’s too formal for chat.” Reply: “I see your point, but clear messages save everyone time.”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Rewrite one unclear message (“Can we talk?”) into a clear one.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Propose how to mark urgent messages.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 daily stand-up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每日站会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In a ten-minute stand-up, each person says what they did, what they will do, and any blockers.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Eva, facilitator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Raj, team member</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A daily stand-up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Eva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Morning, everyone. Let’s keep this to ten minutes. Raj, would you like to start?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Raj</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Yesterday I finished the first draft of the report. Today I’ll work on the charts. My only blocker is the missing sales data.</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Who has the sales data?</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Lucy does. I’ll ping her after the call.</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Do you want me to loop in Finance as well?</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A daily stand-up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That would speed things up.</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Anything else, Raj?</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that’s it from me.</a:t>
            </a:r>
          </a:p>
        </p:txBody>
      </p:sp>
      <p:sp>
        <p:nvSpPr>
          <p:cNvPr id="17" name="Rounded Rectangle 16"/>
          <p:cNvSpPr/>
          <p:nvPr/>
        </p:nvSpPr>
        <p:spPr>
          <a:xfrm>
            <a:off x="548640" y="307238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07238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Next, Lucy.</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 daily stand-up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run or join a ten-minute daily stand-up.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Your project: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Facilitator who keeps time.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Yesterday I… · Today I’ll… · My only blocker is… · I’ll ping… · loop in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a 30-second update with one blocker and one request for help.</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Report a problem calmly: “I’m a bit behind on X because of Y. I’ll catch up by Friday.”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help directly: “Could someone take a quick look at this?”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Keep your update under 30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stay focused at home?</a:t>
            </a:r>
          </a:p>
          <a:p>
            <a:pPr algn="l">
              <a:lnSpc>
                <a:spcPct val="115000"/>
              </a:lnSpc>
              <a:spcAft>
                <a:spcPts val="800"/>
              </a:spcAft>
            </a:pPr>
            <a:r>
              <a:rPr sz="1400" b="0">
                <a:solidFill>
                  <a:srgbClr val="5F677A"/>
                </a:solidFill>
                <a:latin typeface="Arial"/>
                <a:ea typeface="Microsoft YaHei"/>
              </a:rPr>
              <a:t>💬 “What works for me is…” / “I find it easier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chat better than email?</a:t>
            </a:r>
          </a:p>
          <a:p>
            <a:pPr algn="l">
              <a:lnSpc>
                <a:spcPct val="115000"/>
              </a:lnSpc>
              <a:spcAft>
                <a:spcPts val="800"/>
              </a:spcAft>
            </a:pPr>
            <a:r>
              <a:rPr sz="1400" b="0">
                <a:solidFill>
                  <a:srgbClr val="5F677A"/>
                </a:solidFill>
                <a:latin typeface="Arial"/>
                <a:ea typeface="Microsoft YaHei"/>
              </a:rPr>
              <a:t>💬 “Chat is better for…, but…” / “Email is still useful for…”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avoid misunderstandings in writing?</a:t>
            </a:r>
          </a:p>
          <a:p>
            <a:pPr algn="l">
              <a:lnSpc>
                <a:spcPct val="115000"/>
              </a:lnSpc>
              <a:spcAft>
                <a:spcPts val="800"/>
              </a:spcAft>
            </a:pPr>
            <a:r>
              <a:rPr sz="1400" b="0">
                <a:solidFill>
                  <a:srgbClr val="5F677A"/>
                </a:solidFill>
                <a:latin typeface="Arial"/>
                <a:ea typeface="Microsoft YaHei"/>
              </a:rPr>
              <a:t>💬 “I try to be specific about…” / “I read my message again before…”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often should remote teams meet face to face?</a:t>
            </a:r>
          </a:p>
          <a:p>
            <a:pPr algn="l">
              <a:lnSpc>
                <a:spcPct val="115000"/>
              </a:lnSpc>
              <a:spcAft>
                <a:spcPts val="800"/>
              </a:spcAft>
            </a:pPr>
            <a:r>
              <a:rPr sz="1400" b="0">
                <a:solidFill>
                  <a:srgbClr val="5F677A"/>
                </a:solidFill>
                <a:latin typeface="Arial"/>
                <a:ea typeface="Microsoft YaHei"/>
              </a:rPr>
              <a:t>💬 “At least once a…” / “It depends on…”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biggest risk of working remotely?</a:t>
            </a:r>
          </a:p>
          <a:p>
            <a:pPr algn="l">
              <a:lnSpc>
                <a:spcPct val="115000"/>
              </a:lnSpc>
              <a:spcAft>
                <a:spcPts val="800"/>
              </a:spcAft>
            </a:pPr>
            <a:r>
              <a:rPr sz="1400" b="0">
                <a:solidFill>
                  <a:srgbClr val="5F677A"/>
                </a:solidFill>
                <a:latin typeface="Arial"/>
                <a:ea typeface="Microsoft YaHei"/>
              </a:rPr>
              <a:t>💬 “The biggest risk is…” / “People can feel…”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In writing, you don’t have a face or a tone of voice, so people fill the gap with their own feelings. I try to be specific about what I need and when I need it. I also add a friendly line, like”Thanks!” or “No rush.” Before I send a difficult message, I read it again and ask myself how I would feel if I received it. If it’s still unclear, I switch to a call.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“fill the gap with” = 用…填补空白;“No rush.” = 不着急;“how I would feel if I received it” 是第二类条件。</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Writing clear messages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写清楚的消息</a:t>
            </a:r>
          </a:p>
        </p:txBody>
      </p:sp>
      <p:graphicFrame>
        <p:nvGraphicFramePr>
          <p:cNvPr id="9" name="Table 8"/>
          <p:cNvGraphicFramePr>
            <a:graphicFrameLocks noGrp="1"/>
          </p:cNvGraphicFramePr>
          <p:nvPr/>
        </p:nvGraphicFramePr>
        <p:xfrm>
          <a:off x="548640" y="1417320"/>
          <a:ext cx="11094415" cy="236524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Unclear</a:t>
                      </a:r>
                    </a:p>
                  </a:txBody>
                  <a:tcPr anchor="ctr">
                    <a:solidFill>
                      <a:srgbClr val="3CC49A"/>
                    </a:solidFill>
                  </a:tcPr>
                </a:tc>
                <a:tc>
                  <a:txBody>
                    <a:bodyPr wrap="square"/>
                    <a:lstStyle/>
                    <a:p>
                      <a:r>
                        <a:rPr sz="1600" b="1">
                          <a:solidFill>
                            <a:srgbClr val="FFFFFF"/>
                          </a:solidFill>
                          <a:latin typeface="Arial"/>
                          <a:ea typeface="Microsoft YaHei"/>
                        </a:rPr>
                        <a:t>Clear</a:t>
                      </a:r>
                    </a:p>
                  </a:txBody>
                  <a:tcPr anchor="ctr">
                    <a:solidFill>
                      <a:srgbClr val="3CC49A"/>
                    </a:solidFill>
                  </a:tcPr>
                </a:tc>
              </a:tr>
              <a:tr h="652272">
                <a:tc>
                  <a:txBody>
                    <a:bodyPr wrap="square"/>
                    <a:lstStyle/>
                    <a:p>
                      <a:r>
                        <a:rPr sz="1600" b="1">
                          <a:solidFill>
                            <a:srgbClr val="1F2A44"/>
                          </a:solidFill>
                          <a:latin typeface="Arial"/>
                          <a:ea typeface="Microsoft YaHei"/>
                        </a:rPr>
                        <a:t>Can we talk?</a:t>
                      </a:r>
                    </a:p>
                  </a:txBody>
                  <a:tcPr anchor="ctr">
                    <a:solidFill>
                      <a:srgbClr val="FFFFFF"/>
                    </a:solidFill>
                  </a:tcPr>
                </a:tc>
                <a:tc>
                  <a:txBody>
                    <a:bodyPr wrap="square"/>
                    <a:lstStyle/>
                    <a:p>
                      <a:r>
                        <a:rPr sz="1600" b="0">
                          <a:solidFill>
                            <a:srgbClr val="1F2A44"/>
                          </a:solidFill>
                          <a:latin typeface="Arial"/>
                          <a:ea typeface="Microsoft YaHei"/>
                        </a:rPr>
                        <a:t>Could we have a 10-minute call at 3 p.m. about the budget? It’s not urgent.</a:t>
                      </a:r>
                    </a:p>
                  </a:txBody>
                  <a:tcPr anchor="ctr">
                    <a:solidFill>
                      <a:srgbClr val="FFFFFF"/>
                    </a:solidFill>
                  </a:tcPr>
                </a:tc>
              </a:tr>
              <a:tr h="652272">
                <a:tc>
                  <a:txBody>
                    <a:bodyPr wrap="square"/>
                    <a:lstStyle/>
                    <a:p>
                      <a:r>
                        <a:rPr sz="1600" b="1">
                          <a:solidFill>
                            <a:srgbClr val="1F2A44"/>
                          </a:solidFill>
                          <a:latin typeface="Arial"/>
                          <a:ea typeface="Microsoft YaHei"/>
                        </a:rPr>
                        <a:t>Any news?</a:t>
                      </a:r>
                    </a:p>
                  </a:txBody>
                  <a:tcPr anchor="ctr">
                    <a:solidFill>
                      <a:srgbClr val="FFEFD9"/>
                    </a:solidFill>
                  </a:tcPr>
                </a:tc>
                <a:tc>
                  <a:txBody>
                    <a:bodyPr wrap="square"/>
                    <a:lstStyle/>
                    <a:p>
                      <a:r>
                        <a:rPr sz="1600" b="0">
                          <a:solidFill>
                            <a:srgbClr val="1F2A44"/>
                          </a:solidFill>
                          <a:latin typeface="Arial"/>
                          <a:ea typeface="Microsoft YaHei"/>
                        </a:rPr>
                        <a:t>Do you have an update on the contract? I need it by EOD to reply to the client.</a:t>
                      </a:r>
                    </a:p>
                  </a:txBody>
                  <a:tcPr anchor="ctr">
                    <a:solidFill>
                      <a:srgbClr val="FFEFD9"/>
                    </a:solidFill>
                  </a:tcPr>
                </a:tc>
              </a:tr>
              <a:tr h="652272">
                <a:tc>
                  <a:txBody>
                    <a:bodyPr wrap="square"/>
                    <a:lstStyle/>
                    <a:p>
                      <a:r>
                        <a:rPr sz="1600" b="1">
                          <a:solidFill>
                            <a:srgbClr val="1F2A44"/>
                          </a:solidFill>
                          <a:latin typeface="Arial"/>
                          <a:ea typeface="Microsoft YaHei"/>
                        </a:rPr>
                        <a:t>Please check.</a:t>
                      </a:r>
                    </a:p>
                  </a:txBody>
                  <a:tcPr anchor="ctr">
                    <a:solidFill>
                      <a:srgbClr val="FFFFFF"/>
                    </a:solidFill>
                  </a:tcPr>
                </a:tc>
                <a:tc>
                  <a:txBody>
                    <a:bodyPr wrap="square"/>
                    <a:lstStyle/>
                    <a:p>
                      <a:r>
                        <a:rPr sz="1600" b="0">
                          <a:solidFill>
                            <a:srgbClr val="1F2A44"/>
                          </a:solidFill>
                          <a:latin typeface="Arial"/>
                          <a:ea typeface="Microsoft YaHei"/>
                        </a:rPr>
                        <a:t>Could you check the figures in rows 3–5 by Thursday?</a:t>
                      </a:r>
                    </a:p>
                  </a:txBody>
                  <a:tcPr anchor="ctr">
                    <a:solidFill>
                      <a:srgbClr val="FFFFFF"/>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Writing clear messages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写清楚的消息</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The pattern: </a:t>
            </a:r>
            <a:r>
              <a:rPr sz="1700" b="0">
                <a:solidFill>
                  <a:srgbClr val="1F2A44"/>
                </a:solidFill>
                <a:latin typeface="Arial"/>
                <a:ea typeface="Microsoft YaHei"/>
              </a:rPr>
              <a:t>context + request + deadline. Add “No rush” or “It’s urgent” to show priority.</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keep me in loop.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keep me in the loop.</a:t>
            </a:r>
          </a:p>
          <a:p>
            <a:pPr algn="l">
              <a:spcAft>
                <a:spcPts val="200"/>
              </a:spcAft>
            </a:pPr>
            <a:r>
              <a:rPr sz="1200" b="0">
                <a:solidFill>
                  <a:srgbClr val="FFFFFF"/>
                </a:solidFill>
                <a:latin typeface="Arial"/>
                <a:ea typeface="Microsoft YaHei"/>
              </a:rPr>
              <a:t>in the loop</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inform you the result.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let you know the result. / I’ll inform you of the result.</a:t>
            </a:r>
          </a:p>
          <a:p>
            <a:pPr algn="l">
              <a:spcAft>
                <a:spcPts val="200"/>
              </a:spcAft>
            </a:pPr>
            <a:r>
              <a:rPr sz="1200" b="0">
                <a:solidFill>
                  <a:srgbClr val="FFFFFF"/>
                </a:solidFill>
                <a:latin typeface="Arial"/>
                <a:ea typeface="Microsoft YaHei"/>
              </a:rPr>
              <a:t>inform sb of sth</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contact with you.</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contact you.</a:t>
            </a:r>
          </a:p>
          <a:p>
            <a:pPr algn="l">
              <a:spcAft>
                <a:spcPts val="200"/>
              </a:spcAft>
            </a:pPr>
            <a:r>
              <a:rPr sz="1200" b="0">
                <a:solidFill>
                  <a:srgbClr val="FFFFFF"/>
                </a:solidFill>
                <a:latin typeface="Arial"/>
                <a:ea typeface="Microsoft YaHei"/>
              </a:rPr>
              <a:t>contact 是及物动词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discuss it by phone call.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discuss it on a call.</a:t>
            </a:r>
          </a:p>
          <a:p>
            <a:pPr algn="l">
              <a:spcAft>
                <a:spcPts val="200"/>
              </a:spcAft>
            </a:pPr>
            <a:r>
              <a:rPr sz="1200" b="0">
                <a:solidFill>
                  <a:srgbClr val="FFFFFF"/>
                </a:solidFill>
                <a:latin typeface="Arial"/>
                <a:ea typeface="Microsoft YaHei"/>
              </a:rPr>
              <a:t>on a call / by phone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answer you till tomorrow.</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answer you by tomorrow.</a:t>
            </a:r>
          </a:p>
          <a:p>
            <a:pPr algn="l">
              <a:spcAft>
                <a:spcPts val="200"/>
              </a:spcAft>
            </a:pPr>
            <a:r>
              <a:rPr sz="1200" b="0">
                <a:solidFill>
                  <a:srgbClr val="FFFFFF"/>
                </a:solidFill>
                <a:latin typeface="Arial"/>
                <a:ea typeface="Microsoft YaHei"/>
              </a:rPr>
              <a:t>截止用 by</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working remote.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working remotely.</a:t>
            </a:r>
          </a:p>
          <a:p>
            <a:pPr algn="l">
              <a:spcAft>
                <a:spcPts val="200"/>
              </a:spcAft>
            </a:pPr>
            <a:r>
              <a:rPr sz="1200" b="0">
                <a:solidFill>
                  <a:srgbClr val="FFFFFF"/>
                </a:solidFill>
                <a:latin typeface="Arial"/>
                <a:ea typeface="Microsoft YaHei"/>
              </a:rPr>
              <a:t>副词 remotely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Look at the in “in the loop”, by in deadlines, and remotely (adverb) vs remote (adjective: “remote work”).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Chat tone. Emojis and “Thanks!” are normal in UK/US chat. They soften short messages.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Time zones. Write the zone with the time: </a:t>
            </a:r>
            <a:r>
              <a:rPr sz="1700" b="0">
                <a:solidFill>
                  <a:srgbClr val="1F2A44"/>
                </a:solidFill>
                <a:latin typeface="Arial"/>
                <a:ea typeface="Microsoft YaHei"/>
              </a:rPr>
              <a:t>“3 p.m. GMT”.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Over-communicate. Remote teams value short, regular updates. Silence is not seen as “no news”.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Camera on for important talks. Hard topics are better by video than by text.</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plan my day and name three habits that keep me productive.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a clear message with context, request and deadline.</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stand-up update (yesterday, today, blockers).</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keep in the loop, loop in, touch base correctly.</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11 Master working from home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Rewrite five unclear messages you have sent. Then give a 30-second stand-up update aloud. Record it.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in the loop, by/until, remotely, context + request + deadline.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3 · Lesson 12 Stop remote work burnout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Stop remote work burnout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防止远程工作倦怠</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recognise signs of burnout in yourself and others, and talk about stress, limits and recovery with colleagues and managers.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felt exhausted by work? What were the signs?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take real breaks during the working day? What do you do?</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working from home makes burnout more or less likely?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helps you to recover after a stressful week?</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manager tell if someone is struggling at home?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题用现在完成时问经历,回答具体经历时用过去式。第 3 题用 “more likely / less likely”。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the signs of burnout and one way to prevent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burnout is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three signs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one prevention tip</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when to ask for help</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Burnout is a state of…   💬 Typical signs include…   💬 One way to prevent it is to…   💬 If it continues, you should…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“Signs include…” 后接名词或 -ing 列举。prevent 后面接名词或 -ing:prevent burnout / prevent people from getting burnt out。</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invisible workload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151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After eight months of remote work, Sam stopped enjoying anything. He felt tired even after sleeping, snapped at colleagues, and kept thinking, “What’s the point?” He didn’t take a holiday because “there was nowhere to go”. His manager, Dana, noticed he had stopped speaking in video meetings. Instead of sending an email, she called him. “I’m not checking up on you,” she said. “I just want to know how you are.” Sam admitted he was working twelve-hour days. Together they cut two projects, agreed that he would log off at six, and booked a week off. Three weeks later, Sam said he felt like himself again. Dana now asks every team member a simple question at the start of each one-to-one: “On a scale of one to ten, how is your energy this week?” The answers tell her more than any report. Burnout, she says, rarely announces itself. It creeps up.</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signs showed that Sam was struggling?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Constant tiredness, snapping at colleagues, silence in meetings, no motivation.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did Dana approach him?</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She phoned him and asked how he was, without checking up on his work.</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changes helped Sam?</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Fewer projects, logging off at six, a week off.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Signs and causes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症状与原因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burnout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职业倦怠</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took three months off because of burnout.”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exhausted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筋疲力尽的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felt completely exhausted by Friday.”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workload</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工作量</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workload doubled when two colleagues left.”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burnt out</a:t>
            </a:r>
          </a:p>
          <a:p>
            <a:pPr algn="l">
              <a:lnSpc>
                <a:spcPct val="115000"/>
              </a:lnSpc>
              <a:spcAft>
                <a:spcPts val="800"/>
              </a:spcAft>
            </a:pPr>
            <a:r>
              <a:rPr sz="1300" b="0">
                <a:solidFill>
                  <a:srgbClr val="5F677A"/>
                </a:solidFill>
                <a:latin typeface="Arial"/>
                <a:ea typeface="Microsoft YaHei"/>
              </a:rPr>
              <a:t>adjective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精疲力竭,倦怠</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was burnt out after a year of working without a break.”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stretched too thin</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精力被过度分散</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feel stretched too thin across four projects.”</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Prevention and recovery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预防与恢复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break</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休息一下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a ten-minute break every hour.”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log off</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下线</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log off at six and don’t check messages.”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recharge your batteries</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恢复精力</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need a week off to recharge my batteries.”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unplug</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断开(电子设备)休息</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“At weekends, I try to unplug completely.”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build in time to rest</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留出休息时间</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“Build in time to rest between meetings.”</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Asking for support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寻求支持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struggling with…</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我在…上很吃力</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struggling with the deadline for the report.”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I’ve taken on too much.</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我揽的事太多了</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taken on too much and I need to talk about priorities.”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push back (on)</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提出异议,推辞</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can politely push back on unrealistic deadlines.”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lighten the load</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减轻负担</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lighten the load by moving one deadline?”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check in on (someone)</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关心地询问某人情况</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just wanted to check in on you.”</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工作量</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workload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恢复精力</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recharge your batteries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关心地询问某人情况</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check in on (someone)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筋疲力尽的</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exhausted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断开(电子设备)休息</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unplug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职业倦怠</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burnout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留出休息时间</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build in time to rest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我在…上很吃力</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struggling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burnout</a:t>
            </a:r>
          </a:p>
        </p:txBody>
      </p:sp>
      <p:sp>
        <p:nvSpPr>
          <p:cNvPr id="10" name="Rounded Rectangle 9"/>
          <p:cNvSpPr/>
          <p:nvPr/>
        </p:nvSpPr>
        <p:spPr>
          <a:xfrm>
            <a:off x="3236976"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workload</a:t>
            </a:r>
          </a:p>
        </p:txBody>
      </p:sp>
      <p:sp>
        <p:nvSpPr>
          <p:cNvPr id="11" name="Rounded Rectangle 10"/>
          <p:cNvSpPr/>
          <p:nvPr/>
        </p:nvSpPr>
        <p:spPr>
          <a:xfrm>
            <a:off x="4572000"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a:t>
            </a:r>
          </a:p>
        </p:txBody>
      </p:sp>
      <p:sp>
        <p:nvSpPr>
          <p:cNvPr id="12" name="Rounded Rectangle 11"/>
          <p:cNvSpPr/>
          <p:nvPr/>
        </p:nvSpPr>
        <p:spPr>
          <a:xfrm>
            <a:off x="5577840" y="987552"/>
            <a:ext cx="69494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log</a:t>
            </a:r>
          </a:p>
        </p:txBody>
      </p:sp>
      <p:sp>
        <p:nvSpPr>
          <p:cNvPr id="13" name="Rounded Rectangle 12"/>
          <p:cNvSpPr/>
          <p:nvPr/>
        </p:nvSpPr>
        <p:spPr>
          <a:xfrm>
            <a:off x="6364224"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recharge</a:t>
            </a:r>
          </a:p>
        </p:txBody>
      </p:sp>
      <p:sp>
        <p:nvSpPr>
          <p:cNvPr id="14" name="Rounded Rectangle 13"/>
          <p:cNvSpPr/>
          <p:nvPr/>
        </p:nvSpPr>
        <p:spPr>
          <a:xfrm>
            <a:off x="7699248"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lighten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took three months off because of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burnout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My _______ doubled when two colleagues left.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workload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Take a short _______ every hour.</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_______ off at six and don’t check messages.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log</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 need a week off to _______ my batteries.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recharge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Could we _______ the load by moving one deadline?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lighten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(词性与拼写) burnout (noun) / burn out (verb) / burnt-out (adjective; US burned-out); exhausted (not “exhaust” as adjective); spelling: workload, exhausted, recharge.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Telling your manager you are overwhelmed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向经理说明压力过大</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tell your manager that you have taken on too much and ask to adjust your workload.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Dana Cole,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Sam Li, team member</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your manager you are overwhelmed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Sam, thanks for making time. How are you doing, honestly?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Sam</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I’m struggling. I feel stretched too thin across four projects.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to hear that. What’s the hardest part?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working twelve-hour days and I can’t switch off. I’ve taken on too much, and I didn’t say anything earlier.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glad you’re telling me now. What would help?</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your manager you are overwhelmed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we lighten the load by moving one deadline, and maybe handing one project to someone else?</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let’s do that. Which project matters least this quarter?</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the dashboard. It could wait until next month.</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And let’s agree that you’ll log off at six, starting tomorrow.</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Telling your manager you are overwhelmed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talk to your manager about being overwhelmed.</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Your workload: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listens and offers help.</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struggling with… · stretched too thin · I’ve taken on too much · lighten the load · log off</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problem, say what you need, and agree two practical changes.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The manager says “Everyone is busy.” Reply: “I know, and I don’t want to complain. I’m raising it now so it doesn’t affect quality.”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Offer a solution, not only a problem.</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Ask for a follow-up: “Could we check in again in two weeks?”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Checking in on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关心同事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notice a colleague has been quiet and tired for weeks.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Lucy Park,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Ben Hall, colleague</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Checking in on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Lucy</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Ben, do you have five minutes? I just wanted to check in on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Ben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thanks. I’m fine, just a bit tired.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seem to have been working late a lot. Is everything OK?</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be honest, it’s been a tough month. The deadlines keep piling up.</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exhausting. Have you talked to Dana about it?</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Checking in on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 I don’t want to look as if I can’t cope.</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think that’s how she’d see it. Asking for help is a sign you care about quality.</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may be right. Maybe I’ll speak to her tomorrow.</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it helps, I could look at the sales deck for you. Just say the word.</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Checking in on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check in on a colleague who seems stressed.</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Your relationship: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is reluctant to admit it.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check in on · It sounds like… · Have you talked to…? · If it helps, I could… · Just say the word</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Show concern without pushing; offer one concrete help.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colleague changes the subject. Respect it: “OK, I’m here if you want to talk.”</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advice too early. Ask first: “What would help most right now?”</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 small step: “Let’s have lunch on Thursday.”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signs of burnout?</a:t>
            </a:r>
          </a:p>
          <a:p>
            <a:pPr algn="l">
              <a:lnSpc>
                <a:spcPct val="115000"/>
              </a:lnSpc>
              <a:spcAft>
                <a:spcPts val="800"/>
              </a:spcAft>
            </a:pPr>
            <a:r>
              <a:rPr sz="1400" b="0">
                <a:solidFill>
                  <a:srgbClr val="5F677A"/>
                </a:solidFill>
                <a:latin typeface="Arial"/>
                <a:ea typeface="Microsoft YaHei"/>
              </a:rPr>
              <a:t>💬 “People may seem…” / “Common signs include…”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Whose responsibility is it: the employee’s or the company’s?</a:t>
            </a:r>
          </a:p>
          <a:p>
            <a:pPr algn="l">
              <a:lnSpc>
                <a:spcPct val="115000"/>
              </a:lnSpc>
              <a:spcAft>
                <a:spcPts val="800"/>
              </a:spcAft>
            </a:pPr>
            <a:r>
              <a:rPr sz="1400" b="0">
                <a:solidFill>
                  <a:srgbClr val="5F677A"/>
                </a:solidFill>
                <a:latin typeface="Arial"/>
                <a:ea typeface="Microsoft YaHei"/>
              </a:rPr>
              <a:t>💬 “I think it’s both because…” / “A company can…”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say no to extra work politely?</a:t>
            </a:r>
          </a:p>
          <a:p>
            <a:pPr algn="l">
              <a:lnSpc>
                <a:spcPct val="115000"/>
              </a:lnSpc>
              <a:spcAft>
                <a:spcPts val="800"/>
              </a:spcAft>
            </a:pPr>
            <a:r>
              <a:rPr sz="1400" b="0">
                <a:solidFill>
                  <a:srgbClr val="5F677A"/>
                </a:solidFill>
                <a:latin typeface="Arial"/>
                <a:ea typeface="Microsoft YaHei"/>
              </a:rPr>
              <a:t>💬 “I’d say something like…” / “I’d explain my priorities…”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relax after work?</a:t>
            </a:r>
          </a:p>
          <a:p>
            <a:pPr algn="l">
              <a:lnSpc>
                <a:spcPct val="115000"/>
              </a:lnSpc>
              <a:spcAft>
                <a:spcPts val="800"/>
              </a:spcAft>
            </a:pPr>
            <a:r>
              <a:rPr sz="1400" b="0">
                <a:solidFill>
                  <a:srgbClr val="5F677A"/>
                </a:solidFill>
                <a:latin typeface="Arial"/>
                <a:ea typeface="Microsoft YaHei"/>
              </a:rPr>
              <a:t>💬 “I usually…” / “It helps me to…”</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offer mental-health days?</a:t>
            </a:r>
          </a:p>
          <a:p>
            <a:pPr algn="l">
              <a:lnSpc>
                <a:spcPct val="115000"/>
              </a:lnSpc>
              <a:spcAft>
                <a:spcPts val="800"/>
              </a:spcAft>
            </a:pPr>
            <a:r>
              <a:rPr sz="1400" b="0">
                <a:solidFill>
                  <a:srgbClr val="5F677A"/>
                </a:solidFill>
                <a:latin typeface="Arial"/>
                <a:ea typeface="Microsoft YaHei"/>
              </a:rPr>
              <a:t>💬 “I think they should because…” / “The risk is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it’s both. A company can set realistic deadlines, offer flexibility and make sure managers check in regularly. But employees also need to speak up early and protect their own time. If a company expects 12-hour days, no individual can fix that alone. On the other hand, if nobody tells the manager they are struggling, the manager can’t help.</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“speak up” = 大声说出意见/提出问题;“On the other hand” 引出对立面;“fix that alone” = 单靠个人解决。</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feelings and limits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谈论感受与限度</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Too vague</a:t>
                      </a:r>
                    </a:p>
                  </a:txBody>
                  <a:tcPr anchor="ctr">
                    <a:solidFill>
                      <a:srgbClr val="3CC49A"/>
                    </a:solidFill>
                  </a:tcPr>
                </a:tc>
                <a:tc>
                  <a:txBody>
                    <a:bodyPr wrap="square"/>
                    <a:lstStyle/>
                    <a:p>
                      <a:r>
                        <a:rPr sz="1600" b="1">
                          <a:solidFill>
                            <a:srgbClr val="FFFFFF"/>
                          </a:solidFill>
                          <a:latin typeface="Arial"/>
                          <a:ea typeface="Microsoft YaHei"/>
                        </a:rPr>
                        <a:t>More natural</a:t>
                      </a:r>
                    </a:p>
                  </a:txBody>
                  <a:tcPr anchor="ctr">
                    <a:solidFill>
                      <a:srgbClr val="3CC49A"/>
                    </a:solidFill>
                  </a:tcPr>
                </a:tc>
              </a:tr>
              <a:tr h="408432">
                <a:tc>
                  <a:txBody>
                    <a:bodyPr wrap="square"/>
                    <a:lstStyle/>
                    <a:p>
                      <a:r>
                        <a:rPr sz="1600" b="1">
                          <a:solidFill>
                            <a:srgbClr val="1F2A44"/>
                          </a:solidFill>
                          <a:latin typeface="Arial"/>
                          <a:ea typeface="Microsoft YaHei"/>
                        </a:rPr>
                        <a:t>I’m tired.</a:t>
                      </a:r>
                    </a:p>
                  </a:txBody>
                  <a:tcPr anchor="ctr">
                    <a:solidFill>
                      <a:srgbClr val="FFFFFF"/>
                    </a:solidFill>
                  </a:tcPr>
                </a:tc>
                <a:tc>
                  <a:txBody>
                    <a:bodyPr wrap="square"/>
                    <a:lstStyle/>
                    <a:p>
                      <a:r>
                        <a:rPr sz="1600" b="0">
                          <a:solidFill>
                            <a:srgbClr val="1F2A44"/>
                          </a:solidFill>
                          <a:latin typeface="Arial"/>
                          <a:ea typeface="Microsoft YaHei"/>
                        </a:rPr>
                        <a:t>I’m running on empty. / I’m completely drained.</a:t>
                      </a:r>
                    </a:p>
                  </a:txBody>
                  <a:tcPr anchor="ctr">
                    <a:solidFill>
                      <a:srgbClr val="FFFFFF"/>
                    </a:solidFill>
                  </a:tcPr>
                </a:tc>
              </a:tr>
              <a:tr h="652272">
                <a:tc>
                  <a:txBody>
                    <a:bodyPr wrap="square"/>
                    <a:lstStyle/>
                    <a:p>
                      <a:r>
                        <a:rPr sz="1600" b="1">
                          <a:solidFill>
                            <a:srgbClr val="1F2A44"/>
                          </a:solidFill>
                          <a:latin typeface="Arial"/>
                          <a:ea typeface="Microsoft YaHei"/>
                        </a:rPr>
                        <a:t>I can’t do it.</a:t>
                      </a:r>
                    </a:p>
                  </a:txBody>
                  <a:tcPr anchor="ctr">
                    <a:solidFill>
                      <a:srgbClr val="FFEFD9"/>
                    </a:solidFill>
                  </a:tcPr>
                </a:tc>
                <a:tc>
                  <a:txBody>
                    <a:bodyPr wrap="square"/>
                    <a:lstStyle/>
                    <a:p>
                      <a:r>
                        <a:rPr sz="1600" b="0">
                          <a:solidFill>
                            <a:srgbClr val="1F2A44"/>
                          </a:solidFill>
                          <a:latin typeface="Arial"/>
                          <a:ea typeface="Microsoft YaHei"/>
                        </a:rPr>
                        <a:t>I’m at capacity right now. / I won’t be able to take that on.</a:t>
                      </a:r>
                    </a:p>
                  </a:txBody>
                  <a:tcPr anchor="ctr">
                    <a:solidFill>
                      <a:srgbClr val="FFEFD9"/>
                    </a:solidFill>
                  </a:tcPr>
                </a:tc>
              </a:tr>
              <a:tr h="408432">
                <a:tc>
                  <a:txBody>
                    <a:bodyPr wrap="square"/>
                    <a:lstStyle/>
                    <a:p>
                      <a:r>
                        <a:rPr sz="1600" b="1">
                          <a:solidFill>
                            <a:srgbClr val="1F2A44"/>
                          </a:solidFill>
                          <a:latin typeface="Arial"/>
                          <a:ea typeface="Microsoft YaHei"/>
                        </a:rPr>
                        <a:t>Too much work!</a:t>
                      </a:r>
                    </a:p>
                  </a:txBody>
                  <a:tcPr anchor="ctr">
                    <a:solidFill>
                      <a:srgbClr val="FFFFFF"/>
                    </a:solidFill>
                  </a:tcPr>
                </a:tc>
                <a:tc>
                  <a:txBody>
                    <a:bodyPr wrap="square"/>
                    <a:lstStyle/>
                    <a:p>
                      <a:r>
                        <a:rPr sz="1600" b="0">
                          <a:solidFill>
                            <a:srgbClr val="1F2A44"/>
                          </a:solidFill>
                          <a:latin typeface="Arial"/>
                          <a:ea typeface="Microsoft YaHei"/>
                        </a:rPr>
                        <a:t>My workload is unrealistic at the moment.</a:t>
                      </a:r>
                    </a:p>
                  </a:txBody>
                  <a:tcPr anchor="ctr">
                    <a:solidFill>
                      <a:srgbClr val="FFFFFF"/>
                    </a:solidFill>
                  </a:tcPr>
                </a:tc>
              </a:tr>
              <a:tr h="408432">
                <a:tc>
                  <a:txBody>
                    <a:bodyPr wrap="square"/>
                    <a:lstStyle/>
                    <a:p>
                      <a:r>
                        <a:rPr sz="1600" b="1">
                          <a:solidFill>
                            <a:srgbClr val="1F2A44"/>
                          </a:solidFill>
                          <a:latin typeface="Arial"/>
                          <a:ea typeface="Microsoft YaHei"/>
                        </a:rPr>
                        <a:t>Are you OK?</a:t>
                      </a:r>
                    </a:p>
                  </a:txBody>
                  <a:tcPr anchor="ctr">
                    <a:solidFill>
                      <a:srgbClr val="FFEFD9"/>
                    </a:solidFill>
                  </a:tcPr>
                </a:tc>
                <a:tc>
                  <a:txBody>
                    <a:bodyPr wrap="square"/>
                    <a:lstStyle/>
                    <a:p>
                      <a:r>
                        <a:rPr sz="1600" b="0">
                          <a:solidFill>
                            <a:srgbClr val="1F2A44"/>
                          </a:solidFill>
                          <a:latin typeface="Arial"/>
                          <a:ea typeface="Microsoft YaHei"/>
                        </a:rPr>
                        <a:t>You seem a bit down lately. Is everything alright?</a:t>
                      </a:r>
                    </a:p>
                  </a:txBody>
                  <a:tcPr anchor="ctr">
                    <a:solidFill>
                      <a:srgbClr val="FFEFD9"/>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feelings and limits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谈论感受与限度</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Seem + adjective is a polite way to notice: </a:t>
            </a:r>
            <a:r>
              <a:rPr sz="1700" b="0">
                <a:solidFill>
                  <a:srgbClr val="1F2A44"/>
                </a:solidFill>
                <a:latin typeface="Arial"/>
                <a:ea typeface="Microsoft YaHei"/>
              </a:rPr>
              <a:t>“You seem tired.”</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burn out.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burnt out. / I’m burning out.</a:t>
            </a:r>
          </a:p>
          <a:p>
            <a:pPr algn="l">
              <a:spcAft>
                <a:spcPts val="200"/>
              </a:spcAft>
            </a:pPr>
            <a:r>
              <a:rPr sz="1200" b="0">
                <a:solidFill>
                  <a:srgbClr val="FFFFFF"/>
                </a:solidFill>
                <a:latin typeface="Arial"/>
                <a:ea typeface="Microsoft YaHei"/>
              </a:rPr>
              <a:t>burnt-out 是形容词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stress.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under a lot of stress. / I’m stressed.</a:t>
            </a:r>
          </a:p>
          <a:p>
            <a:pPr algn="l">
              <a:spcAft>
                <a:spcPts val="200"/>
              </a:spcAft>
            </a:pPr>
            <a:r>
              <a:rPr sz="1200" b="0">
                <a:solidFill>
                  <a:srgbClr val="FFFFFF"/>
                </a:solidFill>
                <a:latin typeface="Arial"/>
                <a:ea typeface="Microsoft YaHei"/>
              </a:rPr>
              <a:t>be under stress</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feel very tired of my work.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tired of my work. / I feel very tired.</a:t>
            </a:r>
          </a:p>
          <a:p>
            <a:pPr algn="l">
              <a:spcAft>
                <a:spcPts val="200"/>
              </a:spcAft>
            </a:pPr>
            <a:r>
              <a:rPr sz="1200" b="0">
                <a:solidFill>
                  <a:srgbClr val="FFFFFF"/>
                </a:solidFill>
                <a:latin typeface="Arial"/>
                <a:ea typeface="Microsoft YaHei"/>
              </a:rPr>
              <a:t>tired of(厌倦)vs tired(累)</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work makes me exhaust.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work makes me exhausted.</a:t>
            </a:r>
          </a:p>
          <a:p>
            <a:pPr algn="l">
              <a:spcAft>
                <a:spcPts val="200"/>
              </a:spcAft>
            </a:pPr>
            <a:r>
              <a:rPr sz="1200" b="0">
                <a:solidFill>
                  <a:srgbClr val="FFFFFF"/>
                </a:solidFill>
                <a:latin typeface="Arial"/>
                <a:ea typeface="Microsoft YaHei"/>
              </a:rPr>
              <a:t>形容词 exhausted</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to catch up.</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can’t catch up.</a:t>
            </a:r>
          </a:p>
          <a:p>
            <a:pPr algn="l">
              <a:spcAft>
                <a:spcPts val="200"/>
              </a:spcAft>
            </a:pPr>
            <a:r>
              <a:rPr sz="1200" b="0">
                <a:solidFill>
                  <a:srgbClr val="FFFFFF"/>
                </a:solidFill>
                <a:latin typeface="Arial"/>
                <a:ea typeface="Microsoft YaHei"/>
              </a:rPr>
              <a:t>can’t + 原形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take a rest for 5 minutes.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take a five-minute break.</a:t>
            </a:r>
          </a:p>
          <a:p>
            <a:pPr algn="l">
              <a:spcAft>
                <a:spcPts val="200"/>
              </a:spcAft>
            </a:pPr>
            <a:r>
              <a:rPr sz="1200" b="0">
                <a:solidFill>
                  <a:srgbClr val="FFFFFF"/>
                </a:solidFill>
                <a:latin typeface="Arial"/>
                <a:ea typeface="Microsoft YaHei"/>
              </a:rPr>
              <a:t>take a break</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Say aloud: I’m stressed / I’m under stress, burnt out, tired of, take a break. Choose the correct form each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Talking about burnout is much more open in the UK and US than in many Asian workplaces. Using the word “burnout” is not a sign of weakness.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Managers are trained to ask “How’s your energy?” Answer honestly, but without blaming others.</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Time off. Taking holiday is normal. Taking it before you are exhausted is smarter than after.</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Privacy. Don’t share a colleague’s stress with others without permission.</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the signs of burnout and ways to prevent it.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tell a manager I’m struggling and propose changes.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check in on a colleague kindly.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be burnt out, stretched too thin, lighten the load in context.</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12 Stop remote work burnout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Say the three-part answer: signs, prevention, when to ask for help. Then role-play the manager conversation. Record it.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burnt out (adj), stressed / under stress, tired of, take a break.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3 · Lesson 13 How to do an online job interview right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3800" b="1">
                <a:solidFill>
                  <a:srgbClr val="FFFFFF"/>
                </a:solidFill>
                <a:latin typeface="Arial"/>
                <a:ea typeface="Microsoft YaHei"/>
              </a:rPr>
              <a:t>How to do an online job interview right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线上面试</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prepare for and perform in an online job interview: set up, introduce yourself, answer common questions and ask good ones.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had a job interview by video? How was it?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find hardest about interviews?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you dress for an online interview?</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questions do interviewers usually ask? Which is the hardest?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ask the interviewer at the end?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题用现在完成时。回答具体面试经历用过去式。第 5 题可用 “I’d ask…”。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Answer “Tell me about yourself” in 60 seconds for an online interview.</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present job</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relevant experience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one achievement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why this job</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I’m currently working as…   💬 Before that, I…   💬 One achievement I’m proud of is…   💬 That’s why I’m excited about this role.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“I’m currently working as…” 比 “I work as…” 更正式。achievement 后接 of + 名词/-ing:proud of leading the team。</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Eyes on the camera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151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Mia was well prepared for her online interview. She had researched the company, practised her answers, and tested her microphone. But five minutes in, she noticed that the interviewer looked uninterested. Then she realised why: she was looking at the interviewer’s face on screen, not at the camera, so it seemed to him as if she was looking down. On the next call, she put a sticker next to the camera and tried to look at it when she spoke. She also moved her laptop up on a pile of books so the camera was at eye level, and sat near a window for good light. In the second interview, she smiled more and paused before answers. The interviewer said later that she seemed “calm and clear”. She got the job. “The content was the same,” Mia said. “What changed was how it felt on the other side of the screen.”</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mistake did Mia make in her first interview?</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She looked at the interviewer’s face on screen instead of the camera, so it seemed she looked down.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things she changed.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Any two of: looking at the camera, putting the laptop at eye level, sitting near a window, smiling and pausing.</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was the result?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interviewer thought she was calm and clear, and she got the job.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Preparing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面试准备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interview</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求职面试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 job interview tomorrow at ten.”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 your research</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做功课</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your research on the company before the interview.”</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test your equipment</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测试设备</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“Test your equipment 15 minutes before the call.”</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eye contact (with the camera)</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保持目光接触(看镜头)</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“Try to make eye contact with the camera, not the screen.”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across as</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给人…的印象</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want to come across as confident, not nervous.”</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Talking about yourself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介绍自己</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currently working as…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我目前担任…</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currently working as a project coordinator.”</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strengths / weaknesses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优点 / 缺点</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main weakness is that I sometimes take on too much.”</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achievement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成就</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biggest achievement was leading the product launch.”</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transferable skills</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可迁移技能</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transferable skills include project management and negotiation.”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thrive in…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我在…环境中如鱼得水</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thrive in fast-moving teams.”</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3: Answering and asking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回答与提问</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give me an example?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你能举个例子吗?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give me an example of a time you led a team?”</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me through…</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请带我过一遍…</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“Walk me through your last project.”</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Where do you see yourself in five years?</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你五年后想在哪里?</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“Where do you see yourself in five years? I hope to take on more responsibility.”</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does a typical day look like?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日常工作是怎样的?</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does a typical day look like in this role?”</a:t>
            </a:r>
          </a:p>
        </p:txBody>
      </p:sp>
      <p:sp>
        <p:nvSpPr>
          <p:cNvPr id="29" name="Rounded Rectangle 28"/>
          <p:cNvSpPr/>
          <p:nvPr/>
        </p:nvSpPr>
        <p:spPr>
          <a:xfrm>
            <a:off x="548640" y="51460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next steps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51917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后续流程</a:t>
            </a:r>
          </a:p>
        </p:txBody>
      </p:sp>
      <p:sp>
        <p:nvSpPr>
          <p:cNvPr id="33" name="TextBox 32"/>
          <p:cNvSpPr txBox="1"/>
          <p:nvPr/>
        </p:nvSpPr>
        <p:spPr>
          <a:xfrm>
            <a:off x="6675120" y="51917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tell me about the next steps in the process?”</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可迁移技能</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transferable skills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优点 / 缺点</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strengths / weaknesses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你能举个例子吗?</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give me an example?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保持目光接触(看镜头)</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make eye contact (with the camera)</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我在…环境中如鱼得水</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thrive in…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成就</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achievement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测试设备</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test your equipment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日常工作是怎样的?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What does a typical day look like?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research</a:t>
            </a:r>
          </a:p>
        </p:txBody>
      </p:sp>
      <p:sp>
        <p:nvSpPr>
          <p:cNvPr id="10" name="Rounded Rectangle 9"/>
          <p:cNvSpPr/>
          <p:nvPr/>
        </p:nvSpPr>
        <p:spPr>
          <a:xfrm>
            <a:off x="3346704"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equipment</a:t>
            </a:r>
          </a:p>
        </p:txBody>
      </p:sp>
      <p:sp>
        <p:nvSpPr>
          <p:cNvPr id="11" name="Rounded Rectangle 10"/>
          <p:cNvSpPr/>
          <p:nvPr/>
        </p:nvSpPr>
        <p:spPr>
          <a:xfrm>
            <a:off x="4791456" y="987552"/>
            <a:ext cx="69494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eye</a:t>
            </a:r>
          </a:p>
        </p:txBody>
      </p:sp>
      <p:sp>
        <p:nvSpPr>
          <p:cNvPr id="12" name="Rounded Rectangle 11"/>
          <p:cNvSpPr/>
          <p:nvPr/>
        </p:nvSpPr>
        <p:spPr>
          <a:xfrm>
            <a:off x="5577840"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currently</a:t>
            </a:r>
          </a:p>
        </p:txBody>
      </p:sp>
      <p:sp>
        <p:nvSpPr>
          <p:cNvPr id="13" name="Rounded Rectangle 12"/>
          <p:cNvSpPr/>
          <p:nvPr/>
        </p:nvSpPr>
        <p:spPr>
          <a:xfrm>
            <a:off x="7022592"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weakness</a:t>
            </a:r>
          </a:p>
        </p:txBody>
      </p:sp>
      <p:sp>
        <p:nvSpPr>
          <p:cNvPr id="14" name="Rounded Rectangle 13"/>
          <p:cNvSpPr/>
          <p:nvPr/>
        </p:nvSpPr>
        <p:spPr>
          <a:xfrm>
            <a:off x="8357616"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steps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Do your _______ on the company before the interview.</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research</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Test your _______ 15 minutes before the call.</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equipment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Try to make _______ contact with the camera.</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eye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I’m _______ working as a project coordinator.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currently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My main _______ is that I sometimes take on too much.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weakness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Could you tell me about the next _______ in the process?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make eye contact (not “do”); do research (uncountable: not “researches”); spelling: achievement, equipment (uncountable), weakness.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The start of an online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面试开场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The interviewer starts with technology checks and “Tell me about yourself”.</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Ms Gordon, interviewer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Daniel Zhou, candidate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The start of an online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Gordon</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Daniel. Can you hear me OK?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Daniel</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loud and clear. Thank you for seeing me today.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Let’s start with a simple question. Could you tell me about yourself?</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1069847"/>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I’m currently working as a marketing coordinator at a software company. Before that, I worked in e-commerce for three years.</a:t>
            </a:r>
          </a:p>
        </p:txBody>
      </p:sp>
      <p:sp>
        <p:nvSpPr>
          <p:cNvPr id="20" name="Rounded Rectangle 19"/>
          <p:cNvSpPr/>
          <p:nvPr/>
        </p:nvSpPr>
        <p:spPr>
          <a:xfrm>
            <a:off x="548640" y="452323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1"/>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are you most proud of?</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The start of an online interview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achievement I’m proud of is a campaign I led last year. It increased online sales by 18 per cent.</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Impressive. What do you enjoy about your current role?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thrive in fast-moving teams, and I enjoy turning data into decisions.</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Why are you interested in this position?</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offers more responsibility, and I’m excited about your plans for Asia.</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The start of an online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answer the first questions in an online interview.</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 The job you apply for: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 who asks open questions.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currently working as… · One achievement I’m proud of is… · I thrive in… · transferable skills · come across as</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Introduce yourself in 45 seconds, give one achievement and say why you want the job.</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connection drops. Handle it calmly: “Sorry, I think I lost you. Could you repeat the last question?”</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interviewer asks for an example: “Could you give me an example?” Answer with a short story: situation → action → result.</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Look at the camera for the whole answer.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Difficult questions and your own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难题与提问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The interviewer asks about your weakness and a time you failed. Then you ask your questions.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Ms Gordon, interviewer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Daniel Zhou, candidate</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Difficult questions and your own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Gordon</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say is your biggest weakness?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Daniel</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tend to say yes to everything, which can lead to overload. I’ve learned to prioritise and push back politely.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Walk me through a time something went wrong.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1069847"/>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Last spring, a supplier delayed a delivery. I told the client straight away, offered a discount and found another supplier. We kept the account.</a:t>
            </a:r>
          </a:p>
        </p:txBody>
      </p:sp>
      <p:sp>
        <p:nvSpPr>
          <p:cNvPr id="20" name="Rounded Rectangle 19"/>
          <p:cNvSpPr/>
          <p:nvPr/>
        </p:nvSpPr>
        <p:spPr>
          <a:xfrm>
            <a:off x="548640" y="452323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1"/>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Where do you see yourself in five years?</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Difficult questions and your own questions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hope to be leading a small team and working across markets.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have any questions for us?</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What does a typical day look like in this role, and what are the next steps in the process?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You’d work closely with Asia, and you’ll hear from us within a week.</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I’m looking forward to hearing from you.</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Difficult questions and your own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handle hard questions and ask your own.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 Your target job: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My biggest weakness is… · Walk me through… · I hope to… · What does a typical day look like? · the next steps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Answer two hard questions honestly and ask two good questions.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Turn a weakness into a lesson: “I used to…, but now I…”</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the STAR method: Situation, Task, Action, Result.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 thank-you: “Thank you for your time. I’m very interested in the role.”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good first impression online?</a:t>
            </a:r>
          </a:p>
          <a:p>
            <a:pPr algn="l">
              <a:lnSpc>
                <a:spcPct val="115000"/>
              </a:lnSpc>
              <a:spcAft>
                <a:spcPts val="800"/>
              </a:spcAft>
            </a:pPr>
            <a:r>
              <a:rPr sz="1400" b="0">
                <a:solidFill>
                  <a:srgbClr val="5F677A"/>
                </a:solidFill>
                <a:latin typeface="Arial"/>
                <a:ea typeface="Microsoft YaHei"/>
              </a:rPr>
              <a:t>💬 “Lighting and sound are…” / “I think it’s important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online interviews fairer than face-to-face ones?</a:t>
            </a:r>
          </a:p>
          <a:p>
            <a:pPr algn="l">
              <a:lnSpc>
                <a:spcPct val="115000"/>
              </a:lnSpc>
              <a:spcAft>
                <a:spcPts val="800"/>
              </a:spcAft>
            </a:pPr>
            <a:r>
              <a:rPr sz="1400" b="0">
                <a:solidFill>
                  <a:srgbClr val="5F677A"/>
                </a:solidFill>
                <a:latin typeface="Arial"/>
                <a:ea typeface="Microsoft YaHei"/>
              </a:rPr>
              <a:t>💬 “They can be fairer because…” / “However, …”</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honest should you be about your weaknesses?</a:t>
            </a:r>
          </a:p>
          <a:p>
            <a:pPr algn="l">
              <a:lnSpc>
                <a:spcPct val="115000"/>
              </a:lnSpc>
              <a:spcAft>
                <a:spcPts val="800"/>
              </a:spcAft>
            </a:pPr>
            <a:r>
              <a:rPr sz="1400" b="0">
                <a:solidFill>
                  <a:srgbClr val="5F677A"/>
                </a:solidFill>
                <a:latin typeface="Arial"/>
                <a:ea typeface="Microsoft YaHei"/>
              </a:rPr>
              <a:t>💬 “I’d be honest but…” / “The key is to show…”</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ask the interviewer?</a:t>
            </a:r>
          </a:p>
          <a:p>
            <a:pPr algn="l">
              <a:lnSpc>
                <a:spcPct val="115000"/>
              </a:lnSpc>
              <a:spcAft>
                <a:spcPts val="800"/>
              </a:spcAft>
            </a:pPr>
            <a:r>
              <a:rPr sz="1400" b="0">
                <a:solidFill>
                  <a:srgbClr val="5F677A"/>
                </a:solidFill>
                <a:latin typeface="Arial"/>
                <a:ea typeface="Microsoft YaHei"/>
              </a:rPr>
              <a:t>💬 “I’d like to know…” / “I’d ask about the team and…”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you follow up after an interview?</a:t>
            </a:r>
          </a:p>
          <a:p>
            <a:pPr algn="l">
              <a:lnSpc>
                <a:spcPct val="115000"/>
              </a:lnSpc>
              <a:spcAft>
                <a:spcPts val="800"/>
              </a:spcAft>
            </a:pPr>
            <a:r>
              <a:rPr sz="1400" b="0">
                <a:solidFill>
                  <a:srgbClr val="5F677A"/>
                </a:solidFill>
                <a:latin typeface="Arial"/>
                <a:ea typeface="Microsoft YaHei"/>
              </a:rPr>
              <a:t>💬 “I’d send a short thank-you email…” / “I’d mention…”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be honest, but I’d choose a weakness that isn’t essential to the job, and I’d always explain what I’m doing about it. For example,”I used to avoid public speaking, but I’ve joined a speaking club and I now present monthly.” That shows self-awareness and that I take responsibility for improving. The key is not to pretend I’m perfect.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“used to + 动词原形” 表示过去的习惯;“take responsibility for” = 为…负责;“The key is not to…” 是强调句。</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The STAR method for answers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用 STAR 回答行为问题</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Situation</a:t>
                      </a:r>
                    </a:p>
                  </a:txBody>
                  <a:tcPr anchor="ctr">
                    <a:solidFill>
                      <a:srgbClr val="FFFFFF"/>
                    </a:solidFill>
                  </a:tcPr>
                </a:tc>
                <a:tc>
                  <a:txBody>
                    <a:bodyPr wrap="square"/>
                    <a:lstStyle/>
                    <a:p>
                      <a:r>
                        <a:rPr sz="1600" b="0">
                          <a:solidFill>
                            <a:srgbClr val="1F2A44"/>
                          </a:solidFill>
                          <a:latin typeface="Arial"/>
                          <a:ea typeface="Microsoft YaHei"/>
                        </a:rPr>
                        <a:t>Last spring, a supplier delayed a delivery.</a:t>
                      </a:r>
                    </a:p>
                  </a:txBody>
                  <a:tcPr anchor="ctr">
                    <a:solidFill>
                      <a:srgbClr val="FFFFFF"/>
                    </a:solidFill>
                  </a:tcPr>
                </a:tc>
              </a:tr>
              <a:tr h="408432">
                <a:tc>
                  <a:txBody>
                    <a:bodyPr wrap="square"/>
                    <a:lstStyle/>
                    <a:p>
                      <a:r>
                        <a:rPr sz="1600" b="1">
                          <a:solidFill>
                            <a:srgbClr val="1F2A44"/>
                          </a:solidFill>
                          <a:latin typeface="Arial"/>
                          <a:ea typeface="Microsoft YaHei"/>
                        </a:rPr>
                        <a:t>Task</a:t>
                      </a:r>
                    </a:p>
                  </a:txBody>
                  <a:tcPr anchor="ctr">
                    <a:solidFill>
                      <a:srgbClr val="FFEFD9"/>
                    </a:solidFill>
                  </a:tcPr>
                </a:tc>
                <a:tc>
                  <a:txBody>
                    <a:bodyPr wrap="square"/>
                    <a:lstStyle/>
                    <a:p>
                      <a:r>
                        <a:rPr sz="1600" b="0">
                          <a:solidFill>
                            <a:srgbClr val="1F2A44"/>
                          </a:solidFill>
                          <a:latin typeface="Arial"/>
                          <a:ea typeface="Microsoft YaHei"/>
                        </a:rPr>
                        <a:t>I had to keep the client happy.</a:t>
                      </a:r>
                    </a:p>
                  </a:txBody>
                  <a:tcPr anchor="ctr">
                    <a:solidFill>
                      <a:srgbClr val="FFEFD9"/>
                    </a:solidFill>
                  </a:tcPr>
                </a:tc>
              </a:tr>
              <a:tr h="652272">
                <a:tc>
                  <a:txBody>
                    <a:bodyPr wrap="square"/>
                    <a:lstStyle/>
                    <a:p>
                      <a:r>
                        <a:rPr sz="1600" b="1">
                          <a:solidFill>
                            <a:srgbClr val="1F2A44"/>
                          </a:solidFill>
                          <a:latin typeface="Arial"/>
                          <a:ea typeface="Microsoft YaHei"/>
                        </a:rPr>
                        <a:t>Action</a:t>
                      </a:r>
                    </a:p>
                  </a:txBody>
                  <a:tcPr anchor="ctr">
                    <a:solidFill>
                      <a:srgbClr val="FFFFFF"/>
                    </a:solidFill>
                  </a:tcPr>
                </a:tc>
                <a:tc>
                  <a:txBody>
                    <a:bodyPr wrap="square"/>
                    <a:lstStyle/>
                    <a:p>
                      <a:r>
                        <a:rPr sz="1600" b="0">
                          <a:solidFill>
                            <a:srgbClr val="1F2A44"/>
                          </a:solidFill>
                          <a:latin typeface="Arial"/>
                          <a:ea typeface="Microsoft YaHei"/>
                        </a:rPr>
                        <a:t>I informed the client at once and found another supplier.</a:t>
                      </a:r>
                    </a:p>
                  </a:txBody>
                  <a:tcPr anchor="ctr">
                    <a:solidFill>
                      <a:srgbClr val="FFFFFF"/>
                    </a:solidFill>
                  </a:tcPr>
                </a:tc>
              </a:tr>
              <a:tr h="408432">
                <a:tc>
                  <a:txBody>
                    <a:bodyPr wrap="square"/>
                    <a:lstStyle/>
                    <a:p>
                      <a:r>
                        <a:rPr sz="1600" b="1">
                          <a:solidFill>
                            <a:srgbClr val="1F2A44"/>
                          </a:solidFill>
                          <a:latin typeface="Arial"/>
                          <a:ea typeface="Microsoft YaHei"/>
                        </a:rPr>
                        <a:t>Result</a:t>
                      </a:r>
                    </a:p>
                  </a:txBody>
                  <a:tcPr anchor="ctr">
                    <a:solidFill>
                      <a:srgbClr val="FFEFD9"/>
                    </a:solidFill>
                  </a:tcPr>
                </a:tc>
                <a:tc>
                  <a:txBody>
                    <a:bodyPr wrap="square"/>
                    <a:lstStyle/>
                    <a:p>
                      <a:r>
                        <a:rPr sz="1600" b="0">
                          <a:solidFill>
                            <a:srgbClr val="1F2A44"/>
                          </a:solidFill>
                          <a:latin typeface="Arial"/>
                          <a:ea typeface="Microsoft YaHei"/>
                        </a:rPr>
                        <a:t>We kept the account and sales grew by 5 per cent.</a:t>
                      </a:r>
                    </a:p>
                  </a:txBody>
                  <a:tcPr anchor="ctr">
                    <a:solidFill>
                      <a:srgbClr val="FFEFD9"/>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The STAR method for answers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用 STAR 回答行为问题</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Keep each answer to 60–90 seconds. Use past simple for stories and present perfect for experience (“I’ve led three projects”).</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looking forward to hear from you.</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looking forward to hearing from you.</a:t>
            </a:r>
          </a:p>
          <a:p>
            <a:pPr algn="l">
              <a:spcAft>
                <a:spcPts val="200"/>
              </a:spcAft>
            </a:pPr>
            <a:r>
              <a:rPr sz="1200" b="0">
                <a:solidFill>
                  <a:srgbClr val="FFFFFF"/>
                </a:solidFill>
                <a:latin typeface="Arial"/>
                <a:ea typeface="Microsoft YaHei"/>
              </a:rPr>
              <a:t>look forward to + -ing</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3 years experience.</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three years’ experience. / three years of experience.</a:t>
            </a:r>
          </a:p>
          <a:p>
            <a:pPr algn="l">
              <a:spcAft>
                <a:spcPts val="200"/>
              </a:spcAft>
            </a:pPr>
            <a:r>
              <a:rPr sz="1200" b="0">
                <a:solidFill>
                  <a:srgbClr val="FFFFFF"/>
                </a:solidFill>
                <a:latin typeface="Arial"/>
                <a:ea typeface="Microsoft YaHei"/>
              </a:rPr>
              <a:t>years of experience</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interested about the job.</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very interested in the job.</a:t>
            </a:r>
          </a:p>
          <a:p>
            <a:pPr algn="l">
              <a:spcAft>
                <a:spcPts val="200"/>
              </a:spcAft>
            </a:pPr>
            <a:r>
              <a:rPr sz="1200" b="0">
                <a:solidFill>
                  <a:srgbClr val="FFFFFF"/>
                </a:solidFill>
                <a:latin typeface="Arial"/>
                <a:ea typeface="Microsoft YaHei"/>
              </a:rPr>
              <a:t>interested 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good in marketing.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good at marketing.</a:t>
            </a:r>
          </a:p>
          <a:p>
            <a:pPr algn="l">
              <a:spcAft>
                <a:spcPts val="200"/>
              </a:spcAft>
            </a:pPr>
            <a:r>
              <a:rPr sz="1200" b="0">
                <a:solidFill>
                  <a:srgbClr val="FFFFFF"/>
                </a:solidFill>
                <a:latin typeface="Arial"/>
                <a:ea typeface="Microsoft YaHei"/>
              </a:rPr>
              <a:t>good at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weakness is I am too perfect.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weakness is that I can be a perfectionist.</a:t>
            </a:r>
          </a:p>
          <a:p>
            <a:pPr algn="l">
              <a:spcAft>
                <a:spcPts val="200"/>
              </a:spcAft>
            </a:pPr>
            <a:r>
              <a:rPr sz="1200" b="0">
                <a:solidFill>
                  <a:srgbClr val="FFFFFF"/>
                </a:solidFill>
                <a:latin typeface="Arial"/>
                <a:ea typeface="Microsoft YaHei"/>
              </a:rPr>
              <a:t>完整句;perfectionist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 graduated in 2020.</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graduated in 2020.</a:t>
            </a:r>
          </a:p>
          <a:p>
            <a:pPr algn="l">
              <a:spcAft>
                <a:spcPts val="200"/>
              </a:spcAft>
            </a:pPr>
            <a:r>
              <a:rPr sz="1200" b="0">
                <a:solidFill>
                  <a:srgbClr val="FFFFFF"/>
                </a:solidFill>
                <a:latin typeface="Arial"/>
                <a:ea typeface="Microsoft YaHei"/>
              </a:rPr>
              <a:t>graduate 主动</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Before an interview, check look forward to + -ing, interested in, good at, graduated. These four are the most common slips.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Be specific. Numbers and examples beat general claims: “I raised sales by 18%.”</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0">
                <a:solidFill>
                  <a:srgbClr val="1F2A44"/>
                </a:solidFill>
                <a:latin typeface="Arial"/>
                <a:ea typeface="Microsoft YaHei"/>
              </a:rPr>
              <a:t>Dress as for a face-to-face interview, at least on top. Plain background, good light, camera at eye level.</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Don’t ask about salary first. Wait until the interviewer raises it, or until an offer stage.</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Send a short thank-you email within 24 hours. It is standard in the UK and US.</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46024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460247"/>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460247"/>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I can set up an online interview (camera, light, sound) and look natural.</a:t>
            </a:r>
          </a:p>
        </p:txBody>
      </p:sp>
      <p:sp>
        <p:nvSpPr>
          <p:cNvPr id="12" name="TextBox 11"/>
          <p:cNvSpPr txBox="1"/>
          <p:nvPr/>
        </p:nvSpPr>
        <p:spPr>
          <a:xfrm>
            <a:off x="9539935" y="1508760"/>
            <a:ext cx="2011680" cy="460247"/>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060447"/>
            <a:ext cx="11094415" cy="46024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060447"/>
            <a:ext cx="548640" cy="460247"/>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060447"/>
            <a:ext cx="8168335" cy="460247"/>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I can answer “Tell me about yourself” in 60 seconds.</a:t>
            </a:r>
          </a:p>
        </p:txBody>
      </p:sp>
      <p:sp>
        <p:nvSpPr>
          <p:cNvPr id="16" name="TextBox 15"/>
          <p:cNvSpPr txBox="1"/>
          <p:nvPr/>
        </p:nvSpPr>
        <p:spPr>
          <a:xfrm>
            <a:off x="9539935" y="2060447"/>
            <a:ext cx="2011680" cy="460247"/>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612134"/>
            <a:ext cx="11094415" cy="46024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612134"/>
            <a:ext cx="548640" cy="460247"/>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612134"/>
            <a:ext cx="8168335" cy="460247"/>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I can answer a weakness question honestly and give an example with STAR.</a:t>
            </a:r>
          </a:p>
        </p:txBody>
      </p:sp>
      <p:sp>
        <p:nvSpPr>
          <p:cNvPr id="20" name="TextBox 19"/>
          <p:cNvSpPr txBox="1"/>
          <p:nvPr/>
        </p:nvSpPr>
        <p:spPr>
          <a:xfrm>
            <a:off x="9539935" y="2612134"/>
            <a:ext cx="2011680" cy="460247"/>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163821"/>
            <a:ext cx="11094415" cy="46024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163821"/>
            <a:ext cx="548640" cy="460247"/>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163821"/>
            <a:ext cx="8168335" cy="460247"/>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I can ask two good questions at the end.</a:t>
            </a:r>
          </a:p>
        </p:txBody>
      </p:sp>
      <p:sp>
        <p:nvSpPr>
          <p:cNvPr id="24" name="TextBox 23"/>
          <p:cNvSpPr txBox="1"/>
          <p:nvPr/>
        </p:nvSpPr>
        <p:spPr>
          <a:xfrm>
            <a:off x="9539935" y="3163821"/>
            <a:ext cx="2011680" cy="460247"/>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715508"/>
            <a:ext cx="11094415" cy="46024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715508"/>
            <a:ext cx="548640" cy="460247"/>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715508"/>
            <a:ext cx="8168335" cy="460247"/>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I use look forward to + -ing, interested in, good at correctly.</a:t>
            </a:r>
          </a:p>
        </p:txBody>
      </p:sp>
      <p:sp>
        <p:nvSpPr>
          <p:cNvPr id="28" name="TextBox 27"/>
          <p:cNvSpPr txBox="1"/>
          <p:nvPr/>
        </p:nvSpPr>
        <p:spPr>
          <a:xfrm>
            <a:off x="9539935" y="3715508"/>
            <a:ext cx="2011680" cy="460247"/>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9" name="Rounded Rectangle 28"/>
          <p:cNvSpPr/>
          <p:nvPr/>
        </p:nvSpPr>
        <p:spPr>
          <a:xfrm>
            <a:off x="548640" y="4267195"/>
            <a:ext cx="11094415" cy="719327"/>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267195"/>
            <a:ext cx="548640" cy="719327"/>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31" name="TextBox 30"/>
          <p:cNvSpPr txBox="1"/>
          <p:nvPr/>
        </p:nvSpPr>
        <p:spPr>
          <a:xfrm>
            <a:off x="1234440" y="4267195"/>
            <a:ext cx="8168335" cy="719327"/>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I can use at least three ★ expressions from this lesson in my own sentences.</a:t>
            </a:r>
          </a:p>
        </p:txBody>
      </p:sp>
      <p:sp>
        <p:nvSpPr>
          <p:cNvPr id="32" name="TextBox 31"/>
          <p:cNvSpPr txBox="1"/>
          <p:nvPr/>
        </p:nvSpPr>
        <p:spPr>
          <a:xfrm>
            <a:off x="9539935" y="4267195"/>
            <a:ext cx="2011680" cy="719327"/>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 · Lesson 13 How to do an online job interview right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Record “Tell me about yourself” (60 seconds), then one STAR story (90 seconds). Look at the camera.</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look forward to + -ing, interested in, good at, past simple in stories.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日常作息</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routine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 will inform you the result.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I’ll let you know the result. / I’ll inform you of the result.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优点 / 缺点</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strengths / weaknesses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plan your day</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plan my day the evening before.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transferable skills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My transferable skills include project management and negotiation.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确定优先级</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prioritise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3</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“预留(整块)时间”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 out time</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“日常作息”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routine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“职业倦怠”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burnout</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I’m good in marketing.</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good at marketing.</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feel very tired of my work.</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tired of my work. / I feel very tired.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3</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3</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3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