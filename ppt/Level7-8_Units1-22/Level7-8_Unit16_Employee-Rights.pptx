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Business English – Intermediate Level 7–8</a:t>
            </a:r>
          </a:p>
          <a:p>
            <a:r>
              <a:t>Unit 16: Employee Rights — Self-Study Workbook (Lessons 79–80)</a:t>
            </a:r>
          </a:p>
          <a:p/>
          <a:p>
            <a:r>
              <a:t>开场：简单介绍本单元的主题和要完成的 2 个 Lesson，说明全程会以小组积分赛的形式进行。</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把学员分成 2–4 组。热身发言、答题、角色扮演表现好都可以加分，最后一页评出冠军组。</a:t>
            </a:r>
          </a:p>
          <a:p>
            <a:r>
              <a:t>可以直接在 Score 框里打字记分，或在白板上记录。</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点击任意 Lesson 可直接跳转；每页右下角的 🗺 Map 按钮可以随时回到这里。</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79 · Paternity leave 陪产假</a:t>
            </a:r>
          </a:p>
          <a:p>
            <a:r>
              <a:t>Goal: discuss parental leave policies, request leave formally and talk about work-family balance.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“paternity leave” 陪产假;“maternity leave” 产假;“parental leave” 育儿假。各国规定不同,请以所在地法规为准。</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Give your opinion on parental leave for fathers.</a:t>
            </a:r>
          </a:p>
          <a:p>
            <a:r>
              <a:t>Say: the policy → benefits → challenges → your view.</a:t>
            </a:r>
          </a:p>
          <a:p>
            <a:r>
              <a:t>Useful starters: “In many countries, fathers are entitled to…” / “The benefit is…” / “A challenge for employers is…” / “In my view, …”</a:t>
            </a:r>
          </a:p>
          <a:p>
            <a:r>
              <a:t>“be entitled to” 有权享有;“in many countries” 避免绝对。</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Paternity leave is time off that fathers or partners can take around the birth or adoption of a child. Rules differ widely: some countries offer several months of paid leave, while others offer only a few days or none. Research suggests that when fathers take longer leave, they are more involved in childcare later, and families report better well-being. Employers also benefit through higher loyalty and lower turnover, although they must plan for absences. Despite the policies, many men hesitate to take their full leave because they fear it will harm their career or appear uncommitted. Companies can help by encouraging leaders to take leave themselves, offering a clear handover process, and making sure that returning employees are welcomed back. When leave is normal for everyone, the stigma gradually disappears.</a:t>
            </a:r>
          </a:p>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What can longer paternity leave lead to?</a:t>
            </a:r>
          </a:p>
          <a:p>
            <a:r>
              <a:t>A: More involvement in childcare later and better family well-being.</a:t>
            </a:r>
          </a:p>
          <a:p>
            <a:r>
              <a:t>Q2. Why do some men hesitate to take leave?</a:t>
            </a:r>
          </a:p>
          <a:p>
            <a:r>
              <a:t>A: They fear harm to their career or looking uncommitted.</a:t>
            </a:r>
          </a:p>
          <a:p>
            <a:r>
              <a:t>Q3. How can companies help?</a:t>
            </a:r>
          </a:p>
          <a:p>
            <a:r>
              <a:t>A: Leaders take leave, clear handover, welcome returners back.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Leave 休假</a:t>
            </a:r>
          </a:p>
          <a:p>
            <a:r>
              <a:t>领读 → 学员跟读 → 请学员用表达造一个和自己工作相关的句子。</a:t>
            </a:r>
          </a:p>
          <a:p>
            <a:r>
              <a:t>paternity / maternity / parental leave (noun) 陪产/产/育儿假 — “He took two weeks’ paternity leave.”</a:t>
            </a:r>
          </a:p>
          <a:p>
            <a:r>
              <a:t>be entitled to (phrase) 有权享有 — “You’re entitled to leave.”</a:t>
            </a:r>
          </a:p>
          <a:p>
            <a:r>
              <a:t>statutory (adjective) 法定的 — “Statutory leave is paid.”</a:t>
            </a:r>
          </a:p>
          <a:p>
            <a:r>
              <a:t>★ shared parental leave (noun) 共享育儿假 — “They used shared parental leave.”</a:t>
            </a:r>
          </a:p>
          <a:p>
            <a:r>
              <a:t>★ keeping-in-touch days (noun) 保持联系日 — “She used keeping-in-touch days.”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Planning 安排</a:t>
            </a:r>
          </a:p>
          <a:p>
            <a:r>
              <a:t>领读 → 学员跟读 → 请学员用表达造一个和自己工作相关的句子。</a:t>
            </a:r>
          </a:p>
          <a:p>
            <a:r>
              <a:t>hand over (phrasal verb) 交接 — “I’ll hand over my tasks.”</a:t>
            </a:r>
          </a:p>
          <a:p>
            <a:r>
              <a:t>cover for someone (collocation) 代班 — “Sam will cover for me.”</a:t>
            </a:r>
          </a:p>
          <a:p>
            <a:r>
              <a:t>return to work (collocation) 重返工作 — “She returns to work in June.”</a:t>
            </a:r>
          </a:p>
          <a:p>
            <a:r>
              <a:t>★ ease back in (phrasal verb) 逐步回归 — “I’ll ease back in part-time.”</a:t>
            </a:r>
          </a:p>
          <a:p>
            <a:r>
              <a:t>★ out of the loop (idiom) 不了解最新情况 — “I felt out of the loop.”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Attitudes 态度</a:t>
            </a:r>
          </a:p>
          <a:p>
            <a:r>
              <a:t>领读 → 学员跟读 → 请学员用表达造一个和自己工作相关的句子。</a:t>
            </a:r>
          </a:p>
          <a:p>
            <a:r>
              <a:t>work-family balance (noun) 工作家庭平衡 — “Work-family balance matters.”</a:t>
            </a:r>
          </a:p>
          <a:p>
            <a:r>
              <a:t>stigma (noun) 污名 — “There’s a stigma around taking leave.”</a:t>
            </a:r>
          </a:p>
          <a:p>
            <a:r>
              <a:t>take up (leave) (phrasal verb) 申请休(假) — “Few men take up the full leave.”</a:t>
            </a:r>
          </a:p>
          <a:p>
            <a:r>
              <a:t>★ the motherhood penalty (noun) 母职惩罚 — “The motherhood penalty affects pay.”</a:t>
            </a:r>
          </a:p>
          <a:p>
            <a:r>
              <a:t>★ normalise (verb) 使常态化 — “We want to normalise leave for fathers.”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entitled / statutory / cover / handover / stigma / normalise</a:t>
            </a:r>
          </a:p>
          <a:p>
            <a:r>
              <a:t>1. Employees are _______ to paid leave. → entitled</a:t>
            </a:r>
          </a:p>
          <a:p>
            <a:r>
              <a:t>2. _______ leave is set by law. → Statutory</a:t>
            </a:r>
          </a:p>
          <a:p>
            <a:r>
              <a:t>3. Sam will _______ for me while I’m away. → cover</a:t>
            </a:r>
          </a:p>
          <a:p>
            <a:r>
              <a:t>4. I’ll prepare a full _______ document. → handover</a:t>
            </a:r>
          </a:p>
          <a:p>
            <a:r>
              <a:t>5. There is still a _______ around taking leave. → stigma</a:t>
            </a:r>
          </a:p>
          <a:p>
            <a:r>
              <a:t>6. We want to _______ leave for fathers. → normalise</a:t>
            </a:r>
          </a:p>
          <a:p>
            <a:r>
              <a:t>Mistake Watch: (搭配) take / go on leave,be on leave,entitled TO;leave 不可数。</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Requesting paternity leave 申请陪产假</a:t>
            </a:r>
          </a:p>
          <a:p>
            <a:r>
              <a:t>情景：You speak to your manager.</a:t>
            </a:r>
          </a:p>
          <a:p>
            <a:r>
              <a:t>Role A: Employee Role B: Manager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 wanted to let you know that my wife is due in March. I’d like to request paternity leave.</a:t>
            </a:r>
          </a:p>
          <a:p>
            <a:r>
              <a:t>B: Congratulations! How much leave are you planning to take?</a:t>
            </a:r>
          </a:p>
          <a:p>
            <a:r>
              <a:t>A: I’m entitled to four weeks, and I’d like to take all of it.</a:t>
            </a:r>
          </a:p>
          <a:p>
            <a:r>
              <a:t>B: That’s fine. Let’s plan how to cover your work.</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I’ll prepare a handover document and brief Sam before I go.</a:t>
            </a:r>
          </a:p>
          <a:p>
            <a:r>
              <a:t>B: Perfect. Will you be contactable?</a:t>
            </a:r>
          </a:p>
          <a:p>
            <a:r>
              <a:t>A: I’d rather not be, unless it’s an emergency.</a:t>
            </a:r>
          </a:p>
          <a:p>
            <a:r>
              <a:t>B: Understood. Enjoy the time with your family.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1 | </a:t>
            </a:r>
          </a:p>
          <a:p>
            <a:r>
              <a:t>Situation | You request parental leave.</a:t>
            </a:r>
          </a:p>
          <a:p>
            <a:r>
              <a:t>Your role (A) | Employee. Dates: ______________</a:t>
            </a:r>
          </a:p>
          <a:p>
            <a:r>
              <a:t>Partner’s role (B) | Manager.</a:t>
            </a:r>
          </a:p>
          <a:p>
            <a:r>
              <a:t>Must use (3 or more) | I’d like to request · entitled to · handover · cover · unless it’s an emergency</a:t>
            </a:r>
          </a:p>
          <a:p>
            <a:r>
              <a:t>Goal | Make a formal request, explain cover and agree contact.</a:t>
            </a:r>
          </a:p>
          <a:p>
            <a:r>
              <a:t>My notes | ____________________________________________</a:t>
            </a:r>
          </a:p>
          <a:p>
            <a:r>
              <a:t>Ask about flexible return.</a:t>
            </a:r>
          </a:p>
          <a:p>
            <a:r>
              <a:t>Respond to a worried manager.</a:t>
            </a:r>
          </a:p>
          <a:p>
            <a:r>
              <a:t>Confirm in writing.</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Welcoming someone back 欢迎同事回归</a:t>
            </a:r>
          </a:p>
          <a:p>
            <a:r>
              <a:t>情景：A colleague returns from leave.</a:t>
            </a:r>
          </a:p>
          <a:p>
            <a:r>
              <a:t>Role A: Manager Role B: Returning employee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Welcome back! How was it?</a:t>
            </a:r>
          </a:p>
          <a:p>
            <a:r>
              <a:t>B: Tiring but wonderful. I’m glad I took the full leave.</a:t>
            </a:r>
          </a:p>
          <a:p>
            <a:r>
              <a:t>A: Let me bring you up to date on what’s changed.</a:t>
            </a:r>
          </a:p>
          <a:p>
            <a:r>
              <a:t>B: Thanks. I feel a bit out of the loop.</a:t>
            </a:r>
          </a:p>
          <a:p>
            <a:r>
              <a:t>A: Take your time. You can ease back in this week.</a:t>
            </a:r>
          </a:p>
          <a:p>
            <a:r>
              <a:t>B: I’d appreciate that. Could I start at four days a week?</a:t>
            </a:r>
          </a:p>
          <a:p>
            <a:r>
              <a:t>A: Let’s discuss it. I’m open to flexibility.</a:t>
            </a:r>
          </a:p>
          <a:p>
            <a:r>
              <a:t>B: Thank you. I’m happy to be back.</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2 | </a:t>
            </a:r>
          </a:p>
          <a:p>
            <a:r>
              <a:t>Situation | You welcome someone back.</a:t>
            </a:r>
          </a:p>
          <a:p>
            <a:r>
              <a:t>Your role (A) | Manager.</a:t>
            </a:r>
          </a:p>
          <a:p>
            <a:r>
              <a:t>Partner’s role (B) | Returner. Needs: ______________</a:t>
            </a:r>
          </a:p>
          <a:p>
            <a:r>
              <a:t>Must use (3 or more) | welcome back · bring you up to date · out of the loop · ease back in · flexibility</a:t>
            </a:r>
          </a:p>
          <a:p>
            <a:r>
              <a:t>Goal | Welcome warmly and agree on a gradual return.</a:t>
            </a:r>
          </a:p>
          <a:p>
            <a:r>
              <a:t>My notes | ____________________________________________</a:t>
            </a:r>
          </a:p>
          <a:p>
            <a:r>
              <a:t>Avoid assumptions about commitment.</a:t>
            </a:r>
          </a:p>
          <a:p>
            <a:r>
              <a:t>Ask what support is needed.</a:t>
            </a:r>
          </a:p>
          <a:p>
            <a:r>
              <a:t>Set a check-in date.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Should paternity leave be longer? | “I think so because…”</a:t>
            </a:r>
          </a:p>
          <a:p>
            <a:r>
              <a:t>2. Why do men take less leave than allowed? | “Perhaps because…”</a:t>
            </a:r>
          </a:p>
          <a:p>
            <a:r>
              <a:t>3. Who should pay for parental leave? | “It could be shared between…”</a:t>
            </a:r>
          </a:p>
          <a:p>
            <a:r>
              <a:t>4. How can small businesses manage with staff on leave? | “They could…”</a:t>
            </a:r>
          </a:p>
          <a:p>
            <a:r>
              <a:t>5. What is the ideal length of leave? | “I’d say about…”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think it should be longer, at least in countries where it’s very short. Early involvement helps fathers bond with their children and shares childcare more equally. Employers need to plan, but the long-term benefits, such as loyalty and well-being, are worth it. Governments could share the cost to help small businesses.”</a:t>
            </a:r>
          </a:p>
          <a:p>
            <a:r>
              <a:t>“bond with” 与…建立亲密关系;“are worth it” 值得。</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Formal requests 正式请求</a:t>
            </a:r>
          </a:p>
          <a:p>
            <a:r>
              <a:t>Informal | Formal</a:t>
            </a:r>
          </a:p>
          <a:p>
            <a:r>
              <a:t>Can I take leave? | I would like to request leave from 1 to 28 March.</a:t>
            </a:r>
          </a:p>
          <a:p>
            <a:r>
              <a:t>I want four weeks. | I’d like to take four weeks, if that is convenient.</a:t>
            </a:r>
          </a:p>
          <a:p>
            <a:r>
              <a:t>Tell me quick. | I’d be grateful if you could confirm by Friday.</a:t>
            </a:r>
          </a:p>
          <a:p>
            <a:r>
              <a:t>Thanks. | Thank you for your understanding.</a:t>
            </a:r>
          </a:p>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Formal requests 正式请求</a:t>
            </a:r>
          </a:p>
          <a:p>
            <a:r>
              <a:t>Use would like to, I’d be grateful if you could, I would appreciate it if… for formal requests.</a:t>
            </a:r>
          </a:p>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take paternity leave next month.  →  ✓ I’m taking paternity leave next month.  (将来安排)</a:t>
            </a:r>
          </a:p>
          <a:p>
            <a:r>
              <a:t>✗ My wife will give birth in March, so I ask for leave.  →  ✓ …so I’d like to request leave.  (委婉)</a:t>
            </a:r>
          </a:p>
          <a:p>
            <a:r>
              <a:t>✗ I have right to take leave.  →  ✓ I have the right to take leave.  (the right)</a:t>
            </a:r>
          </a:p>
          <a:p>
            <a:r>
              <a:t>Mistake Watch: Check on leave, the right to, entitled to, be back.</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I’m in leave.  →  ✓ I’m on leave.  (on leave)</a:t>
            </a:r>
          </a:p>
          <a:p>
            <a:r>
              <a:t>✗ I will back in April.  →  ✓ I’ll be back in April.  (be back)</a:t>
            </a:r>
          </a:p>
          <a:p>
            <a:r>
              <a:t>✗ He is entitled for four weeks.  →  ✓ He is entitled to four weeks.  (entitled to)</a:t>
            </a:r>
          </a:p>
          <a:p>
            <a:r>
              <a:t>Mistake Watch: Check on leave, the right to, entitled to, be back.</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Rules differ by country. Check your contract and local law.</a:t>
            </a:r>
          </a:p>
          <a:p>
            <a:r>
              <a:t>Tell your manager early. Give notice well ahead.</a:t>
            </a:r>
          </a:p>
          <a:p>
            <a:r>
              <a:t>Congratulate sincerely. “Congratulations! That’s wonderful news.”</a:t>
            </a:r>
          </a:p>
          <a:p>
            <a:r>
              <a:t>Respect leave. Don’t contact people on leave unless agreed.</a:t>
            </a:r>
          </a:p>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discuss parental leave and entitlements.</a:t>
            </a:r>
          </a:p>
          <a:p>
            <a:r>
              <a:t>I can request leave formally.</a:t>
            </a:r>
          </a:p>
          <a:p>
            <a:r>
              <a:t>I can welcome a colleague back.</a:t>
            </a:r>
          </a:p>
          <a:p>
            <a:r>
              <a:t>I use on leave, entitled to and the right to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Write and say a formal leave request in 4 sentences.</a:t>
            </a:r>
          </a:p>
          <a:p>
            <a:r>
              <a:t>8–10 | Listen to your recording. Check: on leave, entitled to, the right to.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Lesson 80 · The right to rest and other employment laws 休息权及其他劳动法规</a:t>
            </a:r>
          </a:p>
          <a:p>
            <a:r>
              <a:t>Goal: talk about working-time rules, the right to disconnect and other basic employee rights, and explain them to others.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热身：每题请一位学员用 2–3 句话回答，点击逐题出现。积极发言的小组 +1。</a:t>
            </a:r>
          </a:p>
          <a:p>
            <a:r>
              <a:t>“right to disconnect” 下班断联权。法律因国家而异,讨论时说 “in many countries” 或 “in some places”。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一分钟挑战：给 1 分钟准备，然后每组派一人计时发言 60 秒，不停顿、不说中文即可得分。</a:t>
            </a:r>
          </a:p>
          <a:p>
            <a:r>
              <a:t>Explain some basic employee rights to a new colleague.</a:t>
            </a:r>
          </a:p>
          <a:p>
            <a:r>
              <a:t>Say: working time → rest → pay → what to do if there’s a problem.</a:t>
            </a:r>
          </a:p>
          <a:p>
            <a:r>
              <a:t>Useful starters: “In many countries, employees are entitled to…” / “Employers must…” / “You’re allowed to…” / “If there’s a problem, you can…”</a:t>
            </a:r>
          </a:p>
          <a:p>
            <a:r>
              <a:t>“must / have to / be allowed to” 区分义务与许可。</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阅读/听力：第一遍合上文本听老师朗读，抓大意；第二遍读文本找细节，再回答问题。</a:t>
            </a:r>
          </a:p>
          <a:p>
            <a:r>
              <a:t>Employment laws exist to protect workers and to make the relationship with employers fair. Although rules differ from country to country, many include limits on weekly working hours, minimum rest breaks, paid annual leave, minimum wage and protection against unfair dismissal. Some places have introduced a “right to disconnect”, which means employees cannot be penalised for ignoring work messages outside hours. Employment contracts should explain pay, hours, notice and duties clearly. If a worker believes their rights have been broken, they can start by talking to a manager, then HR, a union or a labour office. Keeping written records of hours, instructions and messages is wise. Employers also benefit from clear rules because they reduce disputes and make staff feel respected.</a:t>
            </a:r>
          </a:p>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先让各组讨论 1 分钟，再抢答。点击一次出现答案。</a:t>
            </a:r>
          </a:p>
          <a:p>
            <a:r>
              <a:t>Q1. Name three common worker protections.</a:t>
            </a:r>
          </a:p>
          <a:p>
            <a:r>
              <a:t>A: Weekly hour limits, rest breaks, paid leave, minimum wage, unfair dismissal protection.</a:t>
            </a:r>
          </a:p>
          <a:p>
            <a:r>
              <a:t>Q2. What is the “right to disconnect”?</a:t>
            </a:r>
          </a:p>
          <a:p>
            <a:r>
              <a:t>A: Not being penalised for ignoring work messages outside hours.</a:t>
            </a:r>
          </a:p>
          <a:p>
            <a:r>
              <a:t>Q3. What should a worker do if their rights seem broken?</a:t>
            </a:r>
          </a:p>
          <a:p>
            <a:r>
              <a:t>A: Talk to a manager, HR, a union or a labour office, and keep records.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1: Rights 权利</a:t>
            </a:r>
          </a:p>
          <a:p>
            <a:r>
              <a:t>领读 → 学员跟读 → 请学员用表达造一个和自己工作相关的句子。</a:t>
            </a:r>
          </a:p>
          <a:p>
            <a:r>
              <a:t>employment contract (noun) 劳动合同 — “Read your employment contract.”</a:t>
            </a:r>
          </a:p>
          <a:p>
            <a:r>
              <a:t>minimum wage (noun) 最低工资 — “The minimum wage is rising.”</a:t>
            </a:r>
          </a:p>
          <a:p>
            <a:r>
              <a:t>working hours (noun) 工作时间 — “Working hours are limited by law.”</a:t>
            </a:r>
          </a:p>
          <a:p>
            <a:r>
              <a:t>★ the right to disconnect (noun) 下班断联权 — “The right to disconnect protects rest.”</a:t>
            </a:r>
          </a:p>
          <a:p>
            <a:r>
              <a:t>★ unfair dismissal (noun) 不公平解雇 — “She claimed unfair dismissal.”</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2: Rest and pay 休息与薪酬</a:t>
            </a:r>
          </a:p>
          <a:p>
            <a:r>
              <a:t>领读 → 学员跟读 → 请学员用表达造一个和自己工作相关的句子。</a:t>
            </a:r>
          </a:p>
          <a:p>
            <a:r>
              <a:t>rest break (noun) 休息时间 — “You’re entitled to a rest break.”</a:t>
            </a:r>
          </a:p>
          <a:p>
            <a:r>
              <a:t>annual leave / paid holiday (noun) 年假 — “We get 25 days’ annual leave.”</a:t>
            </a:r>
          </a:p>
          <a:p>
            <a:r>
              <a:t>sick pay (noun) 病假工资 — “Sick pay starts on day four.”</a:t>
            </a:r>
          </a:p>
          <a:p>
            <a:r>
              <a:t>★ overtime pay (noun) 加班费 — “Overtime pay is time and a half.”</a:t>
            </a:r>
          </a:p>
          <a:p>
            <a:r>
              <a:t>★ notice period (noun) 通知期 — “My notice period is one month.”</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Chunk 3: Problems 问题处理</a:t>
            </a:r>
          </a:p>
          <a:p>
            <a:r>
              <a:t>领读 → 学员跟读 → 请学员用表达造一个和自己工作相关的句子。</a:t>
            </a:r>
          </a:p>
          <a:p>
            <a:r>
              <a:t>breach (of contract) (noun/verb) 违反 — “That’s a breach of contract.”</a:t>
            </a:r>
          </a:p>
          <a:p>
            <a:r>
              <a:t>grievance (noun) 申诉 — “She raised a grievance.”</a:t>
            </a:r>
          </a:p>
          <a:p>
            <a:r>
              <a:t>trade union / labour union (noun) 工会 — “Join a trade union.”</a:t>
            </a:r>
          </a:p>
          <a:p>
            <a:r>
              <a:t>★ compensation (noun) 赔偿 — “He received compensation.”</a:t>
            </a:r>
          </a:p>
          <a:p>
            <a:r>
              <a:t>★ tribunal (noun) 劳动仲裁庭 — “The case went to a tribunal.”</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抢答：老师指一张卡，各组抢答英文表达，答对 +1。点击按顺序揭晓答案。</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限时 2 分钟独立完成，然后逐题点击揭晓答案。全对的学员为小组 +1。</a:t>
            </a:r>
          </a:p>
          <a:p>
            <a:r>
              <a:t>contract / minimum / break / notice / grievance / union</a:t>
            </a:r>
          </a:p>
          <a:p>
            <a:r>
              <a:t>1. Read your employment _______ carefully. → contract</a:t>
            </a:r>
          </a:p>
          <a:p>
            <a:r>
              <a:t>2. The _______ wage rises every year. → minimum</a:t>
            </a:r>
          </a:p>
          <a:p>
            <a:r>
              <a:t>3. You are entitled to a rest _______. → break</a:t>
            </a:r>
          </a:p>
          <a:p>
            <a:r>
              <a:t>4. My _______ period is one month. → notice</a:t>
            </a:r>
          </a:p>
          <a:p>
            <a:r>
              <a:t>5. She raised a formal _______. → grievance</a:t>
            </a:r>
          </a:p>
          <a:p>
            <a:r>
              <a:t>6. He joined a trade _______. → union</a:t>
            </a:r>
          </a:p>
          <a:p>
            <a:r>
              <a:t>Mistake Watch: (搭配) raise a grievance,breach OF contract,entitled TO;overtime pay 与 pay overtime。</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Explaining rights to a new colleague 向新同事讲解权利</a:t>
            </a:r>
          </a:p>
          <a:p>
            <a:r>
              <a:t>情景：A friendly chat.</a:t>
            </a:r>
          </a:p>
          <a:p>
            <a:r>
              <a:t>Role A: New colleague Role B: Experienced colleague</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How many days of annual leave do I get?</a:t>
            </a:r>
          </a:p>
          <a:p>
            <a:r>
              <a:t>B: It’s in your contract. Normally it’s twenty-five days.</a:t>
            </a:r>
          </a:p>
          <a:p>
            <a:r>
              <a:t>A: Can the company ask us to work overtime?</a:t>
            </a:r>
          </a:p>
          <a:p>
            <a:r>
              <a:t>B: Yes, but they must pay for it or give you time off.</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Do we have to reply to messages after work?</a:t>
            </a:r>
          </a:p>
          <a:p>
            <a:r>
              <a:t>B: Not unless it’s an agreed on-call situation. In some countries you have the right to disconnect.</a:t>
            </a:r>
          </a:p>
          <a:p>
            <a:r>
              <a:t>A: That’s good to know.</a:t>
            </a:r>
          </a:p>
          <a:p>
            <a:r>
              <a:t>B: Keep your contract safe and ask HR if you’re unsure.</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3 | </a:t>
            </a:r>
          </a:p>
          <a:p>
            <a:r>
              <a:t>Situation | You explain rights.</a:t>
            </a:r>
          </a:p>
          <a:p>
            <a:r>
              <a:t>Your role (A) | New colleague.</a:t>
            </a:r>
          </a:p>
          <a:p>
            <a:r>
              <a:t>Partner’s role (B) | Experienced colleague. Topic: ______________</a:t>
            </a:r>
          </a:p>
          <a:p>
            <a:r>
              <a:t>Must use (3 or more) | in your contract · must pay · have to · right to disconnect · ask HR</a:t>
            </a:r>
          </a:p>
          <a:p>
            <a:r>
              <a:t>Goal | Explain rules clearly and say where to check.</a:t>
            </a:r>
          </a:p>
          <a:p>
            <a:r>
              <a:t>My notes | ____________________________________________</a:t>
            </a:r>
          </a:p>
          <a:p>
            <a:r>
              <a:t>Distinguish “must” and “can”.</a:t>
            </a:r>
          </a:p>
          <a:p>
            <a:r>
              <a:t>Mention a local rule.</a:t>
            </a:r>
          </a:p>
          <a:p>
            <a:r>
              <a:t>Say what you’re unsure about.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Raising a grievance 提出申诉</a:t>
            </a:r>
          </a:p>
          <a:p>
            <a:r>
              <a:t>情景：A formal meeting.</a:t>
            </a:r>
          </a:p>
          <a:p>
            <a:r>
              <a:t>Role A: Employee Role B: HR</a:t>
            </a:r>
          </a:p>
          <a:p>
            <a:r>
              <a:t>先师生示范一遍，再两人一组练习，最后请 1–2 组上台表演，表现最好的组 +2。</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I’d like to raise a grievance about unpaid overtime.</a:t>
            </a:r>
          </a:p>
          <a:p>
            <a:r>
              <a:t>B: I’m sorry to hear that. Could you give me the details?</a:t>
            </a:r>
          </a:p>
          <a:p>
            <a:r>
              <a:t>A: For three months, I’ve worked about five extra hours a week without pay.</a:t>
            </a:r>
          </a:p>
          <a:p>
            <a:r>
              <a:t>B: Do you have records?</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先全班分角色朗读（模仿语音语调），再两人一组练习。</a:t>
            </a:r>
          </a:p>
          <a:p>
            <a:r>
              <a:t>A: Yes. I kept a log, and I have messages from my manager.</a:t>
            </a:r>
          </a:p>
          <a:p>
            <a:r>
              <a:t>B: Thank you. We’ll investigate and reply within ten working days.</a:t>
            </a:r>
          </a:p>
          <a:p>
            <a:r>
              <a:t>A: What if it isn’t resolved?</a:t>
            </a:r>
          </a:p>
          <a:p>
            <a:r>
              <a:t>B: You’d have the right to appeal. I’ll explain the process.</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学员两人一组，按角色卡即兴对话 3 分钟（不看范文）。完成后挑战进阶版任务，挑战成功 +2。</a:t>
            </a:r>
          </a:p>
          <a:p>
            <a:r>
              <a:t>Role card 4 | </a:t>
            </a:r>
          </a:p>
          <a:p>
            <a:r>
              <a:t>Situation | You raise a grievance.</a:t>
            </a:r>
          </a:p>
          <a:p>
            <a:r>
              <a:t>Your role (A) | Employee. Issue: ______________</a:t>
            </a:r>
          </a:p>
          <a:p>
            <a:r>
              <a:t>Partner’s role (B) | HR.</a:t>
            </a:r>
          </a:p>
          <a:p>
            <a:r>
              <a:t>Must use (3 or more) | raise a grievance · for three months · records · investigate · appeal</a:t>
            </a:r>
          </a:p>
          <a:p>
            <a:r>
              <a:t>Goal | State facts, show evidence and ask about the process.</a:t>
            </a:r>
          </a:p>
          <a:p>
            <a:r>
              <a:t>My notes | ____________________________________________</a:t>
            </a:r>
          </a:p>
          <a:p>
            <a:r>
              <a:t>Stay calm and factual.</a:t>
            </a:r>
          </a:p>
          <a:p>
            <a:r>
              <a:t>Ask who will be informed.</a:t>
            </a:r>
          </a:p>
          <a:p>
            <a:r>
              <a:t>Confirm timelines in writing.</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小组讨论：每组抽 1–2 题，准备 2 分钟后派代表发言，鼓励使用 Starters 里的句型。</a:t>
            </a:r>
          </a:p>
          <a:p>
            <a:r>
              <a:t>1. Which employee right is the most important? | “In my opinion, it’s…”</a:t>
            </a:r>
          </a:p>
          <a:p>
            <a:r>
              <a:t>2. Should the right to disconnect be a law? | “I think … because…”</a:t>
            </a:r>
          </a:p>
          <a:p>
            <a:r>
              <a:t>3. Do small companies need the same rules as large ones? | “Basic rules should apply to all, but…”</a:t>
            </a:r>
          </a:p>
          <a:p>
            <a:r>
              <a:t>4. How can employees learn about their rights? | “By… / They can…”</a:t>
            </a:r>
          </a:p>
          <a:p>
            <a:r>
              <a:t>5. Why might people not report violations? | “They may fear…”</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范例回答：先请学员自己回答，再展示范例，标出可以借用的句型。</a:t>
            </a:r>
          </a:p>
          <a:p>
            <a:r>
              <a:t>“I think basic rules should apply to everyone, because workers in small companies need protection too. However, governments could give small firms more support or time to comply. That way, they follow the law without being forced to close.”</a:t>
            </a:r>
          </a:p>
          <a:p>
            <a:r>
              <a:t>“comply” 遵守;“be forced to close” 被迫关闭。</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Obligation, permission and prohibition 义务、许可和禁止</a:t>
            </a:r>
          </a:p>
          <a:p>
            <a:r>
              <a:t>Meaning | Examples</a:t>
            </a:r>
          </a:p>
          <a:p>
            <a:r>
              <a:t>Obligation | Employers must pay overtime. / You have to wear a badge.</a:t>
            </a:r>
          </a:p>
          <a:p>
            <a:r>
              <a:t>No obligation | You don’t have to / needn’t work weekends.</a:t>
            </a:r>
          </a:p>
          <a:p>
            <a:r>
              <a:t>Permission | You’re allowed to take breaks. / You can leave early.</a:t>
            </a:r>
          </a:p>
          <a:p>
            <a:r>
              <a:t>Prohibition | You mustn’t share passwords.</a:t>
            </a:r>
          </a:p>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Obligation, permission and prohibition 义务、许可和禁止</a:t>
            </a:r>
          </a:p>
          <a:p>
            <a:r>
              <a:t>Don’t have to = not necessary. Mustn’t = forbidden. Do not confuse them.</a:t>
            </a:r>
          </a:p>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Work on Sundays is optional, so you mustn’t come.  →  ✓ Work on Sundays is optional, so you don’t have to come.  (mustn’t = 禁止;don’t have to = 不必)</a:t>
            </a:r>
          </a:p>
          <a:p>
            <a:r>
              <a:t>✗ We are not allowed to working overtime.  →  ✓ We are not allowed to work overtime.  (allowed to + 原形)</a:t>
            </a:r>
          </a:p>
          <a:p>
            <a:r>
              <a:t>✗ Employers have to paid the minimum wage.  →  ✓ Employers have to pay the minimum wage.  (have to + 原形)</a:t>
            </a:r>
          </a:p>
          <a:p>
            <a:r>
              <a:t>Mistake Watch: Check mustn’t vs don’t have to, allowed to + base, the right to, against the law.</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找错游戏：各组抢答，指出错误并说出正确说法 +1。点击逐条揭晓正确答案。</a:t>
            </a:r>
          </a:p>
          <a:p>
            <a:r>
              <a:t>✗ I have right for rest.  →  ✓ I have the right to rest.  (the right to)</a:t>
            </a:r>
          </a:p>
          <a:p>
            <a:r>
              <a:t>✗ She was dismissed without reason, it is law break.  →  ✓ …it is against the law.  (against the law)</a:t>
            </a:r>
          </a:p>
          <a:p>
            <a:r>
              <a:t>✗ The law protects to workers.  →  ✓ The law protects workers.  (及物动词)</a:t>
            </a:r>
          </a:p>
          <a:p>
            <a:r>
              <a:t>Mistake Watch: Check mustn’t vs don’t have to, allowed to + base, the right to, against the law.</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Cultural tips 文化小贴士</a:t>
            </a:r>
          </a:p>
          <a:p>
            <a:r>
              <a:t>Rights vary. Laws differ by country and even by state.</a:t>
            </a:r>
          </a:p>
          <a:p>
            <a:r>
              <a:t>Don’t assume. Say “As far as I know…” when you’re not sure.</a:t>
            </a:r>
          </a:p>
          <a:p>
            <a:r>
              <a:t>Seek advice. HR, a union or a legal adviser can clarify.</a:t>
            </a:r>
          </a:p>
          <a:p>
            <a:r>
              <a:t>Written agreements matter. Always keep a copy of your contract.</a:t>
            </a:r>
          </a:p>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课堂小结：请学员对每一条自评 1–3 星，选一条“还没做到”的作为课后练习目标。</a:t>
            </a:r>
          </a:p>
          <a:p>
            <a:r>
              <a:t>I can talk about basic employee rights.</a:t>
            </a:r>
          </a:p>
          <a:p>
            <a:r>
              <a:t>I can explain rules with must / have to / allowed to.</a:t>
            </a:r>
          </a:p>
          <a:p>
            <a:r>
              <a:t>I can raise a grievance factually.</a:t>
            </a:r>
          </a:p>
          <a:p>
            <a:r>
              <a:t>I use mustn’t and don’t have to correctly.</a:t>
            </a:r>
          </a:p>
          <a:p>
            <a:r>
              <a:t>I can use at least three ★ expressions from this lesson in my own sentences.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布置课后练习：每天 10 分钟，按下表完成，下节课开头抽查。</a:t>
            </a:r>
          </a:p>
          <a:p>
            <a:r>
              <a:t>Minutes | Activity</a:t>
            </a:r>
          </a:p>
          <a:p>
            <a:r>
              <a:t>0–2 | Read the 15 expressions aloud. Cover the English and say it from the Chinese. Pick 3 ★ items and make one true sentence with each.</a:t>
            </a:r>
          </a:p>
          <a:p>
            <a:r>
              <a:t>2–4 | Shadow the model dialogue: read it with the same rhythm and intonation.</a:t>
            </a:r>
          </a:p>
          <a:p>
            <a:r>
              <a:t>4–8 | Explain three employee rights in 60 seconds, using must/have to/allowed to.</a:t>
            </a:r>
          </a:p>
          <a:p>
            <a:r>
              <a:t>8–10 | Listen to your recording. Check: mustn’t vs don’t have to, allowed to + base, the right to. Write 3 corrections and record again.</a:t>
            </a:r>
          </a:p>
          <a:p>
            <a:r>
              <a:t>Weekly rhythm: Mon–Tue Scenario 1 · Wed–Thu Scenario 2 · Fri Level-up variation · Weekend: do the Reading / Listening focus again without looking, then record the 1-minute speaking prompt and compare with Monday.</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单元复习游戏：各组轮流选数字，点击进入挑战页，完成挑战得分；盒子里有奖励、炸弹和偷分卡。</a:t>
            </a:r>
          </a:p>
          <a:p>
            <a:r>
              <a:t>挑战页右下角 ↩ Back 返回本页。挑战页为隐藏幻灯片，正常翻页不会出现。</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单元终极挑战：每题限时 10 秒抢答，答对 +1。点一次出题，再点一次出答案。</a:t>
            </a:r>
          </a:p>
          <a:p>
            <a:r>
              <a:t>“休息时间” in English? → rest break</a:t>
            </a:r>
          </a:p>
          <a:p>
            <a:r>
              <a:t>“最低工资” in English? → minimum wage</a:t>
            </a:r>
          </a:p>
          <a:p>
            <a:r>
              <a:t>“代班” in English? → cover for someone</a:t>
            </a:r>
          </a:p>
          <a:p>
            <a:r>
              <a:t>Fix it: I take paternity leave next month. → I’m taking paternity leave next month.</a:t>
            </a:r>
          </a:p>
          <a:p>
            <a:r>
              <a:t>Fix it: My wife will give birth in March, so I ask for leave. → …so I’d like to request leave.</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统计各组得分，宣布冠军组，全班鼓掌！</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结束：提醒学员完成每日 10 分钟练习，下节课开头抽查。</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 Id="rId3" Type="http://schemas.openxmlformats.org/officeDocument/2006/relationships/slide" Target="slide4.xml"/><Relationship Id="rId4" Type="http://schemas.openxmlformats.org/officeDocument/2006/relationships/slide" Target="slide30.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7.xml"/><Relationship Id="rId4" Type="http://schemas.openxmlformats.org/officeDocument/2006/relationships/slide" Target="slide58.xml"/><Relationship Id="rId5" Type="http://schemas.openxmlformats.org/officeDocument/2006/relationships/slide" Target="slide59.xml"/><Relationship Id="rId6" Type="http://schemas.openxmlformats.org/officeDocument/2006/relationships/slide" Target="slide60.xml"/><Relationship Id="rId7" Type="http://schemas.openxmlformats.org/officeDocument/2006/relationships/slide" Target="slide61.xml"/><Relationship Id="rId8" Type="http://schemas.openxmlformats.org/officeDocument/2006/relationships/slide" Target="slide62.xml"/><Relationship Id="rId9" Type="http://schemas.openxmlformats.org/officeDocument/2006/relationships/slide" Target="slide63.xml"/><Relationship Id="rId10" Type="http://schemas.openxmlformats.org/officeDocument/2006/relationships/slide" Target="slide64.xml"/><Relationship Id="rId11" Type="http://schemas.openxmlformats.org/officeDocument/2006/relationships/slide" Target="slide65.xml"/><Relationship Id="rId12" Type="http://schemas.openxmlformats.org/officeDocument/2006/relationships/slide" Target="slide66.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5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8.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59.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slide" Target="slide3.xml"/><Relationship Id="rId3" Type="http://schemas.openxmlformats.org/officeDocument/2006/relationships/notesSlide" Target="../notesSlides/notesSlide6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16</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1</a:t>
            </a:r>
          </a:p>
        </p:txBody>
      </p:sp>
      <p:sp>
        <p:nvSpPr>
          <p:cNvPr id="4" name="Oval 3"/>
          <p:cNvSpPr/>
          <p:nvPr/>
        </p:nvSpPr>
        <p:spPr>
          <a:xfrm>
            <a:off x="9692640" y="457200"/>
            <a:ext cx="2011680" cy="20116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Oval 4"/>
          <p:cNvSpPr/>
          <p:nvPr/>
        </p:nvSpPr>
        <p:spPr>
          <a:xfrm>
            <a:off x="10698480" y="2286000"/>
            <a:ext cx="1097280" cy="109728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9052560" y="4480560"/>
            <a:ext cx="1463040" cy="14630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692640" y="457200"/>
            <a:ext cx="2011680" cy="2011680"/>
          </a:xfrm>
          <a:prstGeom prst="rect">
            <a:avLst/>
          </a:prstGeom>
          <a:noFill/>
        </p:spPr>
        <p:txBody>
          <a:bodyPr wrap="square" anchor="ctr">
            <a:spAutoFit/>
          </a:bodyPr>
          <a:lstStyle/>
          <a:p>
            <a:pPr algn="ctr">
              <a:lnSpc>
                <a:spcPct val="115000"/>
              </a:lnSpc>
              <a:spcAft>
                <a:spcPts val="800"/>
              </a:spcAft>
            </a:pPr>
            <a:r>
              <a:rPr sz="8000" b="0">
                <a:solidFill>
                  <a:srgbClr val="1F2A44"/>
                </a:solidFill>
                <a:latin typeface="Arial"/>
                <a:ea typeface="Microsoft YaHei"/>
              </a:rPr>
              <a:t>💼</a:t>
            </a:r>
          </a:p>
        </p:txBody>
      </p:sp>
      <p:sp>
        <p:nvSpPr>
          <p:cNvPr id="8" name="TextBox 7"/>
          <p:cNvSpPr txBox="1"/>
          <p:nvPr/>
        </p:nvSpPr>
        <p:spPr>
          <a:xfrm>
            <a:off x="822960" y="1188720"/>
            <a:ext cx="8229600" cy="457200"/>
          </a:xfrm>
          <a:prstGeom prst="rect">
            <a:avLst/>
          </a:prstGeom>
          <a:noFill/>
        </p:spPr>
        <p:txBody>
          <a:bodyPr wrap="square" anchor="t">
            <a:spAutoFit/>
          </a:bodyPr>
          <a:lstStyle/>
          <a:p>
            <a:pPr algn="l">
              <a:lnSpc>
                <a:spcPct val="115000"/>
              </a:lnSpc>
              <a:spcAft>
                <a:spcPts val="800"/>
              </a:spcAft>
            </a:pPr>
            <a:r>
              <a:rPr sz="2000" b="1">
                <a:solidFill>
                  <a:srgbClr val="FFC857"/>
                </a:solidFill>
                <a:latin typeface="Arial"/>
                <a:ea typeface="Microsoft YaHei"/>
              </a:rPr>
              <a:t>BUSINESS ENGLISH · LEVEL 7–8 · UNIT 16</a:t>
            </a:r>
          </a:p>
        </p:txBody>
      </p:sp>
      <p:sp>
        <p:nvSpPr>
          <p:cNvPr id="9" name="TextBox 8"/>
          <p:cNvSpPr txBox="1"/>
          <p:nvPr/>
        </p:nvSpPr>
        <p:spPr>
          <a:xfrm>
            <a:off x="822960" y="1691640"/>
            <a:ext cx="8046720" cy="1737360"/>
          </a:xfrm>
          <a:prstGeom prst="rect">
            <a:avLst/>
          </a:prstGeom>
          <a:noFill/>
        </p:spPr>
        <p:txBody>
          <a:bodyPr wrap="square" anchor="ctr">
            <a:spAutoFit/>
          </a:bodyPr>
          <a:lstStyle/>
          <a:p>
            <a:pPr algn="l">
              <a:lnSpc>
                <a:spcPct val="115000"/>
              </a:lnSpc>
              <a:spcAft>
                <a:spcPts val="800"/>
              </a:spcAft>
            </a:pPr>
            <a:r>
              <a:rPr sz="6000" b="1">
                <a:solidFill>
                  <a:srgbClr val="FFFFFF"/>
                </a:solidFill>
                <a:latin typeface="Arial"/>
                <a:ea typeface="Microsoft YaHei"/>
              </a:rPr>
              <a:t>Employee Rights</a:t>
            </a:r>
          </a:p>
        </p:txBody>
      </p:sp>
      <p:sp>
        <p:nvSpPr>
          <p:cNvPr id="10" name="Rounded Rectangle 9"/>
          <p:cNvSpPr/>
          <p:nvPr/>
        </p:nvSpPr>
        <p:spPr>
          <a:xfrm>
            <a:off x="822960" y="3657600"/>
            <a:ext cx="1645920" cy="50292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CEFR B1→B2</a:t>
            </a:r>
          </a:p>
        </p:txBody>
      </p:sp>
      <p:sp>
        <p:nvSpPr>
          <p:cNvPr id="11" name="Rounded Rectangle 10"/>
          <p:cNvSpPr/>
          <p:nvPr/>
        </p:nvSpPr>
        <p:spPr>
          <a:xfrm>
            <a:off x="2606040" y="3657600"/>
            <a:ext cx="1527048" cy="50292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2 Lessons</a:t>
            </a:r>
          </a:p>
        </p:txBody>
      </p:sp>
      <p:sp>
        <p:nvSpPr>
          <p:cNvPr id="12" name="Rounded Rectangle 11"/>
          <p:cNvSpPr/>
          <p:nvPr/>
        </p:nvSpPr>
        <p:spPr>
          <a:xfrm>
            <a:off x="4270248" y="3657600"/>
            <a:ext cx="1408176" cy="50292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同桌英语</a:t>
            </a:r>
          </a:p>
        </p:txBody>
      </p:sp>
      <p:sp>
        <p:nvSpPr>
          <p:cNvPr id="13" name="TextBox 12"/>
          <p:cNvSpPr txBox="1"/>
          <p:nvPr/>
        </p:nvSpPr>
        <p:spPr>
          <a:xfrm>
            <a:off x="822960" y="4434840"/>
            <a:ext cx="8229600" cy="1463040"/>
          </a:xfrm>
          <a:prstGeom prst="rect">
            <a:avLst/>
          </a:prstGeom>
          <a:noFill/>
        </p:spPr>
        <p:txBody>
          <a:bodyPr wrap="square" anchor="t">
            <a:spAutoFit/>
          </a:bodyPr>
          <a:lstStyle/>
          <a:p>
            <a:pPr algn="l">
              <a:lnSpc>
                <a:spcPct val="115000"/>
              </a:lnSpc>
              <a:spcAft>
                <a:spcPts val="800"/>
              </a:spcAft>
            </a:pPr>
            <a:r>
              <a:rPr sz="1600" b="0">
                <a:solidFill>
                  <a:srgbClr val="FFFFFF"/>
                </a:solidFill>
                <a:latin typeface="Arial"/>
                <a:ea typeface="Microsoft YaHei"/>
              </a:rPr>
              <a:t>L79 Paternity leave · L80 The right to rest and other employment laws</a:t>
            </a:r>
          </a:p>
        </p:txBody>
      </p:sp>
    </p:spTree>
  </p:cSld>
  <p:clrMapOvr>
    <a:masterClrMapping/>
  </p:clrMapOvr>
  <p:transition spd="med">
    <p:fade/>
  </p:transition>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Team Challenge 小组积分赛</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 rules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a:t>
            </a:r>
          </a:p>
        </p:txBody>
      </p:sp>
      <p:sp>
        <p:nvSpPr>
          <p:cNvPr id="7" name="TextBox 6"/>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Speak up, answer fast, role-play well — every point counts.  积极发言、快速答题、精彩演绎都能得分</a:t>
            </a:r>
          </a:p>
        </p:txBody>
      </p:sp>
      <p:sp>
        <p:nvSpPr>
          <p:cNvPr id="8" name="Rounded Rectangle 7"/>
          <p:cNvSpPr/>
          <p:nvPr/>
        </p:nvSpPr>
        <p:spPr>
          <a:xfrm>
            <a:off x="548640" y="1691640"/>
            <a:ext cx="2606040" cy="2834640"/>
          </a:xfrm>
          <a:prstGeom prst="roundRect">
            <a:avLst>
              <a:gd name="adj" fmla="val 6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548640" y="1691640"/>
            <a:ext cx="2606040" cy="777240"/>
          </a:xfrm>
          <a:prstGeom prst="roundRect">
            <a:avLst>
              <a:gd name="adj" fmla="val 15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Alpha</a:t>
            </a:r>
          </a:p>
        </p:txBody>
      </p:sp>
      <p:sp>
        <p:nvSpPr>
          <p:cNvPr id="10" name="TextBox 9"/>
          <p:cNvSpPr txBox="1"/>
          <p:nvPr/>
        </p:nvSpPr>
        <p:spPr>
          <a:xfrm>
            <a:off x="54864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1" name="TextBox 10"/>
          <p:cNvSpPr txBox="1"/>
          <p:nvPr/>
        </p:nvSpPr>
        <p:spPr>
          <a:xfrm>
            <a:off x="54864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2" name="Rounded Rectangle 11"/>
          <p:cNvSpPr/>
          <p:nvPr/>
        </p:nvSpPr>
        <p:spPr>
          <a:xfrm>
            <a:off x="3383280" y="1691640"/>
            <a:ext cx="2606040" cy="2834640"/>
          </a:xfrm>
          <a:prstGeom prst="roundRect">
            <a:avLst>
              <a:gd name="adj" fmla="val 6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383280" y="1691640"/>
            <a:ext cx="2606040" cy="777240"/>
          </a:xfrm>
          <a:prstGeom prst="roundRect">
            <a:avLst>
              <a:gd name="adj" fmla="val 15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Bravo</a:t>
            </a:r>
          </a:p>
        </p:txBody>
      </p:sp>
      <p:sp>
        <p:nvSpPr>
          <p:cNvPr id="14" name="TextBox 13"/>
          <p:cNvSpPr txBox="1"/>
          <p:nvPr/>
        </p:nvSpPr>
        <p:spPr>
          <a:xfrm>
            <a:off x="338328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5" name="TextBox 14"/>
          <p:cNvSpPr txBox="1"/>
          <p:nvPr/>
        </p:nvSpPr>
        <p:spPr>
          <a:xfrm>
            <a:off x="338328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16" name="Rounded Rectangle 15"/>
          <p:cNvSpPr/>
          <p:nvPr/>
        </p:nvSpPr>
        <p:spPr>
          <a:xfrm>
            <a:off x="6217920" y="1691640"/>
            <a:ext cx="2606040" cy="2834640"/>
          </a:xfrm>
          <a:prstGeom prst="roundRect">
            <a:avLst>
              <a:gd name="adj" fmla="val 6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6217920" y="1691640"/>
            <a:ext cx="2606040" cy="777240"/>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Charlie</a:t>
            </a:r>
          </a:p>
        </p:txBody>
      </p:sp>
      <p:sp>
        <p:nvSpPr>
          <p:cNvPr id="18" name="TextBox 17"/>
          <p:cNvSpPr txBox="1"/>
          <p:nvPr/>
        </p:nvSpPr>
        <p:spPr>
          <a:xfrm>
            <a:off x="621792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19" name="TextBox 18"/>
          <p:cNvSpPr txBox="1"/>
          <p:nvPr/>
        </p:nvSpPr>
        <p:spPr>
          <a:xfrm>
            <a:off x="621792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0" name="Rounded Rectangle 19"/>
          <p:cNvSpPr/>
          <p:nvPr/>
        </p:nvSpPr>
        <p:spPr>
          <a:xfrm>
            <a:off x="9052560" y="1691640"/>
            <a:ext cx="2606040" cy="2834640"/>
          </a:xfrm>
          <a:prstGeom prst="roundRect">
            <a:avLst>
              <a:gd name="adj" fmla="val 6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9052560" y="1691640"/>
            <a:ext cx="2606040" cy="777240"/>
          </a:xfrm>
          <a:prstGeom prst="roundRect">
            <a:avLst>
              <a:gd name="adj" fmla="val 15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200" b="1">
                <a:solidFill>
                  <a:srgbClr val="FFFFFF"/>
                </a:solidFill>
                <a:latin typeface="Arial"/>
                <a:ea typeface="Microsoft YaHei"/>
              </a:rPr>
              <a:t>🐬 Team Delta</a:t>
            </a:r>
          </a:p>
        </p:txBody>
      </p:sp>
      <p:sp>
        <p:nvSpPr>
          <p:cNvPr id="22" name="TextBox 21"/>
          <p:cNvSpPr txBox="1"/>
          <p:nvPr/>
        </p:nvSpPr>
        <p:spPr>
          <a:xfrm>
            <a:off x="9052560" y="2697480"/>
            <a:ext cx="2606040" cy="822960"/>
          </a:xfrm>
          <a:prstGeom prst="rect">
            <a:avLst/>
          </a:prstGeom>
          <a:noFill/>
        </p:spPr>
        <p:txBody>
          <a:bodyPr wrap="square" anchor="t">
            <a:spAutoFit/>
          </a:bodyPr>
          <a:lstStyle/>
          <a:p>
            <a:pPr algn="ctr">
              <a:lnSpc>
                <a:spcPct val="115000"/>
              </a:lnSpc>
              <a:spcAft>
                <a:spcPts val="800"/>
              </a:spcAft>
            </a:pPr>
            <a:r>
              <a:rPr sz="2800" b="0">
                <a:solidFill>
                  <a:srgbClr val="FFC857"/>
                </a:solidFill>
                <a:latin typeface="Arial"/>
                <a:ea typeface="Microsoft YaHei"/>
              </a:rPr>
              <a:t>☆ ☆ ☆ ☆ ☆</a:t>
            </a:r>
          </a:p>
        </p:txBody>
      </p:sp>
      <p:sp>
        <p:nvSpPr>
          <p:cNvPr id="23" name="TextBox 22"/>
          <p:cNvSpPr txBox="1"/>
          <p:nvPr/>
        </p:nvSpPr>
        <p:spPr>
          <a:xfrm>
            <a:off x="9052560" y="3611880"/>
            <a:ext cx="2606040" cy="640080"/>
          </a:xfrm>
          <a:prstGeom prst="rect">
            <a:avLst/>
          </a:prstGeom>
          <a:noFill/>
        </p:spPr>
        <p:txBody>
          <a:bodyPr wrap="square" anchor="t">
            <a:spAutoFit/>
          </a:bodyPr>
          <a:lstStyle/>
          <a:p>
            <a:pPr algn="ctr">
              <a:lnSpc>
                <a:spcPct val="115000"/>
              </a:lnSpc>
              <a:spcAft>
                <a:spcPts val="800"/>
              </a:spcAft>
            </a:pPr>
            <a:r>
              <a:rPr sz="2000" b="0">
                <a:solidFill>
                  <a:srgbClr val="5F677A"/>
                </a:solidFill>
                <a:latin typeface="Arial"/>
                <a:ea typeface="Microsoft YaHei"/>
              </a:rPr>
              <a:t>Score: ____</a:t>
            </a:r>
          </a:p>
        </p:txBody>
      </p:sp>
      <p:sp>
        <p:nvSpPr>
          <p:cNvPr id="24" name="Rounded Rectangle 23"/>
          <p:cNvSpPr/>
          <p:nvPr/>
        </p:nvSpPr>
        <p:spPr>
          <a:xfrm>
            <a:off x="54864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Speak in English  +1</a:t>
            </a:r>
          </a:p>
        </p:txBody>
      </p:sp>
      <p:sp>
        <p:nvSpPr>
          <p:cNvPr id="25" name="Rounded Rectangle 24"/>
          <p:cNvSpPr/>
          <p:nvPr/>
        </p:nvSpPr>
        <p:spPr>
          <a:xfrm>
            <a:off x="338328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Fastest correct answer  +1</a:t>
            </a:r>
          </a:p>
        </p:txBody>
      </p:sp>
      <p:sp>
        <p:nvSpPr>
          <p:cNvPr id="26" name="Rounded Rectangle 25"/>
          <p:cNvSpPr/>
          <p:nvPr/>
        </p:nvSpPr>
        <p:spPr>
          <a:xfrm>
            <a:off x="621792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Best role play  +2</a:t>
            </a:r>
          </a:p>
        </p:txBody>
      </p:sp>
      <p:sp>
        <p:nvSpPr>
          <p:cNvPr id="27" name="Rounded Rectangle 26"/>
          <p:cNvSpPr/>
          <p:nvPr/>
        </p:nvSpPr>
        <p:spPr>
          <a:xfrm>
            <a:off x="9052560" y="4846320"/>
            <a:ext cx="2606040" cy="77724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1F2A44"/>
                </a:solidFill>
                <a:latin typeface="Arial"/>
                <a:ea typeface="Microsoft YaHei"/>
              </a:rPr>
              <a:t>🎁 Lucky Box  ?</a:t>
            </a:r>
          </a:p>
        </p:txBody>
      </p:sp>
    </p:spTree>
  </p:cSld>
  <p:clrMapOvr>
    <a:masterClrMapping/>
  </p:clrMapOvr>
  <p:transition spd="med">
    <p:fade/>
  </p:transition>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Unit Roadmap 单元路线图</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Click a lesson</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a:t>
            </a:r>
          </a:p>
        </p:txBody>
      </p:sp>
      <p:sp>
        <p:nvSpPr>
          <p:cNvPr id="7" name="Rounded Rectangle 6">
            <a:hlinkClick action="ppaction://hlinksldjump" r:id="rId3"/>
          </p:cNvPr>
          <p:cNvSpPr/>
          <p:nvPr/>
        </p:nvSpPr>
        <p:spPr>
          <a:xfrm>
            <a:off x="548640" y="1554480"/>
            <a:ext cx="3576218" cy="1234440"/>
          </a:xfrm>
          <a:prstGeom prst="roundRect">
            <a:avLst>
              <a:gd name="adj" fmla="val 12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658368" y="1851660"/>
            <a:ext cx="868680" cy="640080"/>
          </a:xfrm>
          <a:prstGeom prst="roundRect">
            <a:avLst>
              <a:gd name="adj" fmla="val 3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79</a:t>
            </a:r>
          </a:p>
        </p:txBody>
      </p:sp>
      <p:sp>
        <p:nvSpPr>
          <p:cNvPr id="9" name="TextBox 8"/>
          <p:cNvSpPr txBox="1"/>
          <p:nvPr/>
        </p:nvSpPr>
        <p:spPr>
          <a:xfrm>
            <a:off x="1645920"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Paternity leave</a:t>
            </a:r>
          </a:p>
          <a:p>
            <a:pPr algn="l">
              <a:lnSpc>
                <a:spcPct val="100000"/>
              </a:lnSpc>
              <a:spcAft>
                <a:spcPts val="800"/>
              </a:spcAft>
            </a:pPr>
            <a:r>
              <a:rPr sz="1400" b="0">
                <a:solidFill>
                  <a:srgbClr val="5F677A"/>
                </a:solidFill>
                <a:latin typeface="Arial"/>
                <a:ea typeface="Microsoft YaHei"/>
              </a:rPr>
              <a:t>陪产假</a:t>
            </a:r>
          </a:p>
        </p:txBody>
      </p:sp>
      <p:sp>
        <p:nvSpPr>
          <p:cNvPr id="10" name="Rounded Rectangle 9">
            <a:hlinkClick action="ppaction://hlinksldjump" r:id="rId4"/>
          </p:cNvPr>
          <p:cNvSpPr/>
          <p:nvPr/>
        </p:nvSpPr>
        <p:spPr>
          <a:xfrm>
            <a:off x="4307738" y="1554480"/>
            <a:ext cx="3576218" cy="1234440"/>
          </a:xfrm>
          <a:prstGeom prst="roundRect">
            <a:avLst>
              <a:gd name="adj" fmla="val 12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ounded Rectangle 10"/>
          <p:cNvSpPr/>
          <p:nvPr/>
        </p:nvSpPr>
        <p:spPr>
          <a:xfrm>
            <a:off x="4417466" y="1851660"/>
            <a:ext cx="868680" cy="640080"/>
          </a:xfrm>
          <a:prstGeom prst="roundRect">
            <a:avLst>
              <a:gd name="adj" fmla="val 3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80</a:t>
            </a:r>
          </a:p>
        </p:txBody>
      </p:sp>
      <p:sp>
        <p:nvSpPr>
          <p:cNvPr id="12" name="TextBox 11"/>
          <p:cNvSpPr txBox="1"/>
          <p:nvPr/>
        </p:nvSpPr>
        <p:spPr>
          <a:xfrm>
            <a:off x="5405018" y="1581912"/>
            <a:ext cx="2387498" cy="1179576"/>
          </a:xfrm>
          <a:prstGeom prst="rect">
            <a:avLst/>
          </a:prstGeom>
          <a:noFill/>
        </p:spPr>
        <p:txBody>
          <a:bodyPr wrap="square" anchor="ctr">
            <a:spAutoFit/>
          </a:bodyPr>
          <a:lstStyle/>
          <a:p>
            <a:pPr algn="l">
              <a:lnSpc>
                <a:spcPct val="100000"/>
              </a:lnSpc>
              <a:spcAft>
                <a:spcPts val="100"/>
              </a:spcAft>
            </a:pPr>
            <a:r>
              <a:rPr sz="1800" b="1">
                <a:solidFill>
                  <a:srgbClr val="1F2A44"/>
                </a:solidFill>
                <a:latin typeface="Arial"/>
                <a:ea typeface="Microsoft YaHei"/>
              </a:rPr>
              <a:t>The right to rest and other employment laws</a:t>
            </a:r>
          </a:p>
          <a:p>
            <a:pPr algn="l">
              <a:lnSpc>
                <a:spcPct val="100000"/>
              </a:lnSpc>
              <a:spcAft>
                <a:spcPts val="800"/>
              </a:spcAft>
            </a:pPr>
            <a:r>
              <a:rPr sz="1400" b="0">
                <a:solidFill>
                  <a:srgbClr val="5F677A"/>
                </a:solidFill>
                <a:latin typeface="Arial"/>
                <a:ea typeface="Microsoft YaHei"/>
              </a:rPr>
              <a:t>休息权及其他劳动法规</a:t>
            </a:r>
          </a:p>
        </p:txBody>
      </p:sp>
    </p:spTree>
  </p:cSld>
  <p:clrMapOvr>
    <a:masterClrMapping/>
  </p:clrMapOvr>
  <p:transition spd="med">
    <p:fade/>
  </p:transition>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16 · Lesson 79 Paternity leave</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4</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79</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5400" b="1">
                <a:solidFill>
                  <a:srgbClr val="FFFFFF"/>
                </a:solidFill>
                <a:latin typeface="Arial"/>
                <a:ea typeface="Microsoft YaHei"/>
              </a:rPr>
              <a:t>Paternity leave</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陪产假</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discuss parental leave policies, request leave formally and talk about work-family balance.</a:t>
            </a:r>
          </a:p>
        </p:txBody>
      </p:sp>
      <p:sp>
        <p:nvSpPr>
          <p:cNvPr id="10" name="Rounded Rectangle 9"/>
          <p:cNvSpPr/>
          <p:nvPr/>
        </p:nvSpPr>
        <p:spPr>
          <a:xfrm>
            <a:off x="822960"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16 · Lesson 79 Paternity leave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fathers take parental leave in your country?</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long is paternity or maternity leave in your company?</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Should leave be equal for both parents?</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How would you cover for a colleague on leave?</a:t>
            </a:r>
          </a:p>
        </p:txBody>
      </p:sp>
      <p:sp>
        <p:nvSpPr>
          <p:cNvPr id="21" name="Oval 20"/>
          <p:cNvSpPr/>
          <p:nvPr/>
        </p:nvSpPr>
        <p:spPr>
          <a:xfrm>
            <a:off x="548640" y="459942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96011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96011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Why do some people hesitate to take the leave they are entitled to?</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“paternity leave” 陪产假;“maternity leave” 产假;“parental leave” 育儿假。各国规定不同,请以所在地法规为准。</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16 · Lesson 79 Paternity leave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Give your opinion on parental leave for fathers.</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the policy</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benefits</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challenges</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your view</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In many countries, fathers are entitled to…   💬 The benefit is…   💬 A challenge for employers is…   💬 In my view, …</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“be entitled to” 有权享有;“in many countries” 避免绝对。</a:t>
            </a:r>
          </a:p>
        </p:txBody>
      </p:sp>
    </p:spTree>
  </p:cSld>
  <p:clrMapOvr>
    <a:masterClrMapping/>
  </p:clrMapOvr>
  <p:transition spd="med">
    <p:fade/>
  </p:transition>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More than a few days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130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16 · Lesson 79 Paternity leave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100" b="0">
                <a:solidFill>
                  <a:srgbClr val="1F2A44"/>
                </a:solidFill>
                <a:latin typeface="Arial"/>
                <a:ea typeface="Microsoft YaHei"/>
              </a:rPr>
              <a:t>Paternity leave is time off that fathers or partners can take around the birth or adoption of a child. Rules differ widely: some countries offer several months of paid leave, while others offer only a few days or none. Research suggests that when fathers take longer leave, they are more involved in childcare later, and families report better well-being. Employers also benefit through higher loyalty and lower turnover, although they must plan for absences. Despite the policies, many men hesitate to take their full leave because they fear it will harm their career or appear uncommitted. Companies can help by encouraging leaders to take leave themselves, offering a clear handover process, and making sure that returning employees are welcomed back. When leave is normal for everyone, the stigma gradually disappears.</a:t>
            </a:r>
          </a:p>
        </p:txBody>
      </p:sp>
    </p:spTree>
  </p:cSld>
  <p:clrMapOvr>
    <a:masterClrMapping/>
  </p:clrMapOvr>
  <p:transition spd="med">
    <p:fade/>
  </p:transition>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16 · Lesson 79 Paternity leave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What can longer paternity leave lead to?</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More involvement in childcare later and better family well-being.</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Why do some men hesitate to take leave?</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They fear harm to their career or looking uncommitted.</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How can companies help?</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Leaders take leave, clear handover, welcome returners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Leave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16 · Lesson 79 Paternity leave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休假</a:t>
            </a:r>
          </a:p>
        </p:txBody>
      </p:sp>
      <p:sp>
        <p:nvSpPr>
          <p:cNvPr id="9" name="Rounded Rectangle 8"/>
          <p:cNvSpPr/>
          <p:nvPr/>
        </p:nvSpPr>
        <p:spPr>
          <a:xfrm>
            <a:off x="548640" y="141732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9352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paternity / maternity / parental leave</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陪产/产/育儿假</a:t>
            </a:r>
          </a:p>
        </p:txBody>
      </p:sp>
      <p:sp>
        <p:nvSpPr>
          <p:cNvPr id="13" name="TextBox 12"/>
          <p:cNvSpPr txBox="1"/>
          <p:nvPr/>
        </p:nvSpPr>
        <p:spPr>
          <a:xfrm>
            <a:off x="6675120" y="146304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took two weeks’ paternity leave.”</a:t>
            </a:r>
          </a:p>
        </p:txBody>
      </p:sp>
      <p:sp>
        <p:nvSpPr>
          <p:cNvPr id="14" name="Rounded Rectangle 13"/>
          <p:cNvSpPr/>
          <p:nvPr/>
        </p:nvSpPr>
        <p:spPr>
          <a:xfrm>
            <a:off x="548640" y="24257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4257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4714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be entitled to</a:t>
            </a:r>
          </a:p>
          <a:p>
            <a:pPr algn="l">
              <a:lnSpc>
                <a:spcPct val="115000"/>
              </a:lnSpc>
              <a:spcAft>
                <a:spcPts val="800"/>
              </a:spcAft>
            </a:pPr>
            <a:r>
              <a:rPr sz="1300" b="0">
                <a:solidFill>
                  <a:srgbClr val="5F677A"/>
                </a:solidFill>
                <a:latin typeface="Arial"/>
                <a:ea typeface="Microsoft YaHei"/>
              </a:rPr>
              <a:t>phrase</a:t>
            </a:r>
          </a:p>
        </p:txBody>
      </p:sp>
      <p:sp>
        <p:nvSpPr>
          <p:cNvPr id="17" name="TextBox 16"/>
          <p:cNvSpPr txBox="1"/>
          <p:nvPr/>
        </p:nvSpPr>
        <p:spPr>
          <a:xfrm>
            <a:off x="4206240" y="24714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有权享有</a:t>
            </a:r>
          </a:p>
        </p:txBody>
      </p:sp>
      <p:sp>
        <p:nvSpPr>
          <p:cNvPr id="18" name="TextBox 17"/>
          <p:cNvSpPr txBox="1"/>
          <p:nvPr/>
        </p:nvSpPr>
        <p:spPr>
          <a:xfrm>
            <a:off x="6675120" y="24714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“You’re entitled to leave.”</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statutory</a:t>
            </a:r>
          </a:p>
          <a:p>
            <a:pPr algn="l">
              <a:lnSpc>
                <a:spcPct val="115000"/>
              </a:lnSpc>
              <a:spcAft>
                <a:spcPts val="800"/>
              </a:spcAft>
            </a:pPr>
            <a:r>
              <a:rPr sz="1300" b="0">
                <a:solidFill>
                  <a:srgbClr val="5F677A"/>
                </a:solidFill>
                <a:latin typeface="Arial"/>
                <a:ea typeface="Microsoft YaHei"/>
              </a:rPr>
              <a:t>adjective</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法定的</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“Statutory leave is paid.”</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shared parental leave</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共享育儿假</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“They used shared parental leave.”</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keeping-in-touch days</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保持联系日</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used keeping-in-touch days.”</a:t>
            </a:r>
          </a:p>
        </p:txBody>
      </p:sp>
    </p:spTree>
  </p:cSld>
  <p:clrMapOvr>
    <a:masterClrMapping/>
  </p:clrMapOvr>
  <p:transition spd="med">
    <p:fade/>
  </p:transition>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Planning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16 · Lesson 79 Paternity leave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安排</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hand over</a:t>
            </a:r>
          </a:p>
          <a:p>
            <a:pPr algn="l">
              <a:lnSpc>
                <a:spcPct val="115000"/>
              </a:lnSpc>
              <a:spcAft>
                <a:spcPts val="800"/>
              </a:spcAft>
            </a:pPr>
            <a:r>
              <a:rPr sz="1300" b="0">
                <a:solidFill>
                  <a:srgbClr val="5F677A"/>
                </a:solidFill>
                <a:latin typeface="Arial"/>
                <a:ea typeface="Microsoft YaHei"/>
              </a:rPr>
              <a:t>phrasal verb</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交接</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“I’ll hand over my tasks.”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cover for someone</a:t>
            </a:r>
          </a:p>
          <a:p>
            <a:pPr algn="l">
              <a:lnSpc>
                <a:spcPct val="115000"/>
              </a:lnSpc>
              <a:spcAft>
                <a:spcPts val="800"/>
              </a:spcAft>
            </a:pPr>
            <a:r>
              <a:rPr sz="1300" b="0">
                <a:solidFill>
                  <a:srgbClr val="5F677A"/>
                </a:solidFill>
                <a:latin typeface="Arial"/>
                <a:ea typeface="Microsoft YaHei"/>
              </a:rPr>
              <a:t>collocation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代班</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“Sam will cover for me.”</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return to work</a:t>
            </a:r>
          </a:p>
          <a:p>
            <a:pPr algn="l">
              <a:lnSpc>
                <a:spcPct val="115000"/>
              </a:lnSpc>
              <a:spcAft>
                <a:spcPts val="800"/>
              </a:spcAft>
            </a:pPr>
            <a:r>
              <a:rPr sz="1300" b="0">
                <a:solidFill>
                  <a:srgbClr val="5F677A"/>
                </a:solidFill>
                <a:latin typeface="Arial"/>
                <a:ea typeface="Microsoft YaHei"/>
              </a:rPr>
              <a:t>collocation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重返工作</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returns to work in June.”</a:t>
            </a:r>
          </a:p>
        </p:txBody>
      </p:sp>
      <p:sp>
        <p:nvSpPr>
          <p:cNvPr id="24" name="Rounded Rectangle 23"/>
          <p:cNvSpPr/>
          <p:nvPr/>
        </p:nvSpPr>
        <p:spPr>
          <a:xfrm>
            <a:off x="548640" y="35280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ease back in</a:t>
            </a:r>
          </a:p>
          <a:p>
            <a:pPr algn="l">
              <a:lnSpc>
                <a:spcPct val="115000"/>
              </a:lnSpc>
              <a:spcAft>
                <a:spcPts val="800"/>
              </a:spcAft>
            </a:pPr>
            <a:r>
              <a:rPr sz="1300" b="0">
                <a:solidFill>
                  <a:srgbClr val="5F677A"/>
                </a:solidFill>
                <a:latin typeface="Arial"/>
                <a:ea typeface="Microsoft YaHei"/>
              </a:rPr>
              <a:t>phrasal verb</a:t>
            </a:r>
          </a:p>
        </p:txBody>
      </p:sp>
      <p:sp>
        <p:nvSpPr>
          <p:cNvPr id="27" name="TextBox 26"/>
          <p:cNvSpPr txBox="1"/>
          <p:nvPr/>
        </p:nvSpPr>
        <p:spPr>
          <a:xfrm>
            <a:off x="4206240" y="35737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逐步回归</a:t>
            </a:r>
          </a:p>
        </p:txBody>
      </p:sp>
      <p:sp>
        <p:nvSpPr>
          <p:cNvPr id="28" name="TextBox 27"/>
          <p:cNvSpPr txBox="1"/>
          <p:nvPr/>
        </p:nvSpPr>
        <p:spPr>
          <a:xfrm>
            <a:off x="6675120" y="35737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“I’ll ease back in part-time.”</a:t>
            </a:r>
          </a:p>
        </p:txBody>
      </p:sp>
      <p:sp>
        <p:nvSpPr>
          <p:cNvPr id="29" name="Rounded Rectangle 28"/>
          <p:cNvSpPr/>
          <p:nvPr/>
        </p:nvSpPr>
        <p:spPr>
          <a:xfrm>
            <a:off x="548640" y="42316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2316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2773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out of the loop</a:t>
            </a:r>
          </a:p>
          <a:p>
            <a:pPr algn="l">
              <a:lnSpc>
                <a:spcPct val="115000"/>
              </a:lnSpc>
              <a:spcAft>
                <a:spcPts val="800"/>
              </a:spcAft>
            </a:pPr>
            <a:r>
              <a:rPr sz="1300" b="0">
                <a:solidFill>
                  <a:srgbClr val="5F677A"/>
                </a:solidFill>
                <a:latin typeface="Arial"/>
                <a:ea typeface="Microsoft YaHei"/>
              </a:rPr>
              <a:t>idiom</a:t>
            </a:r>
          </a:p>
        </p:txBody>
      </p:sp>
      <p:sp>
        <p:nvSpPr>
          <p:cNvPr id="32" name="TextBox 31"/>
          <p:cNvSpPr txBox="1"/>
          <p:nvPr/>
        </p:nvSpPr>
        <p:spPr>
          <a:xfrm>
            <a:off x="4206240" y="42773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不了解最新情况</a:t>
            </a:r>
          </a:p>
        </p:txBody>
      </p:sp>
      <p:sp>
        <p:nvSpPr>
          <p:cNvPr id="33" name="TextBox 32"/>
          <p:cNvSpPr txBox="1"/>
          <p:nvPr/>
        </p:nvSpPr>
        <p:spPr>
          <a:xfrm>
            <a:off x="6675120" y="42773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“I felt out of the loop.”</a:t>
            </a:r>
          </a:p>
        </p:txBody>
      </p:sp>
    </p:spTree>
  </p:cSld>
  <p:clrMapOvr>
    <a:masterClrMapping/>
  </p:clrMapOvr>
  <p:transition spd="med">
    <p:fade/>
  </p:transition>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Attitudes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16 · Lesson 79 Paternity leave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态度</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work-family balance</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工作家庭平衡</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“Work-family balance matters.”</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stigma</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污名</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“There’s a stigma around taking leave.”</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take up (leave)</a:t>
            </a:r>
          </a:p>
          <a:p>
            <a:pPr algn="l">
              <a:lnSpc>
                <a:spcPct val="115000"/>
              </a:lnSpc>
              <a:spcAft>
                <a:spcPts val="800"/>
              </a:spcAft>
            </a:pPr>
            <a:r>
              <a:rPr sz="1300" b="0">
                <a:solidFill>
                  <a:srgbClr val="5F677A"/>
                </a:solidFill>
                <a:latin typeface="Arial"/>
                <a:ea typeface="Microsoft YaHei"/>
              </a:rPr>
              <a:t>phrasal verb</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申请休(假)</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“Few men take up the full leave.”</a:t>
            </a:r>
          </a:p>
        </p:txBody>
      </p:sp>
      <p:sp>
        <p:nvSpPr>
          <p:cNvPr id="24" name="Rounded Rectangle 23"/>
          <p:cNvSpPr/>
          <p:nvPr/>
        </p:nvSpPr>
        <p:spPr>
          <a:xfrm>
            <a:off x="548640" y="35280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the motherhood penalty</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母职惩罚</a:t>
            </a:r>
          </a:p>
        </p:txBody>
      </p:sp>
      <p:sp>
        <p:nvSpPr>
          <p:cNvPr id="28" name="TextBox 27"/>
          <p:cNvSpPr txBox="1"/>
          <p:nvPr/>
        </p:nvSpPr>
        <p:spPr>
          <a:xfrm>
            <a:off x="6675120" y="35737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motherhood penalty affects pay.”</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normalise</a:t>
            </a:r>
          </a:p>
          <a:p>
            <a:pPr algn="l">
              <a:lnSpc>
                <a:spcPct val="115000"/>
              </a:lnSpc>
              <a:spcAft>
                <a:spcPts val="800"/>
              </a:spcAft>
            </a:pPr>
            <a:r>
              <a:rPr sz="1300" b="0">
                <a:solidFill>
                  <a:srgbClr val="5F677A"/>
                </a:solidFill>
                <a:latin typeface="Arial"/>
                <a:ea typeface="Microsoft YaHei"/>
              </a:rPr>
              <a:t>verb</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使常态化</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want to normalise leave for fathers.”</a:t>
            </a:r>
          </a:p>
        </p:txBody>
      </p:sp>
    </p:spTree>
  </p:cSld>
  <p:clrMapOvr>
    <a:masterClrMapping/>
  </p:clrMapOvr>
  <p:transition spd="med">
    <p:fade/>
  </p:transition>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16 · Lesson 79 Paternity leave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陪产/产/育儿假</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paternity / maternity / parental leave</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申请休(假)</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take up (leave)</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有权享有</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be entitled to</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母职惩罚</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the motherhood penalty</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使常态化</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normalise</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不了解最新情况</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out of the loop</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重返工作</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return to work</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法定的</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statutory</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16 · Lesson 79 Paternity leave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24358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entitled</a:t>
            </a:r>
          </a:p>
        </p:txBody>
      </p:sp>
      <p:sp>
        <p:nvSpPr>
          <p:cNvPr id="10" name="Rounded Rectangle 9"/>
          <p:cNvSpPr/>
          <p:nvPr/>
        </p:nvSpPr>
        <p:spPr>
          <a:xfrm>
            <a:off x="3346704" y="987552"/>
            <a:ext cx="1353312"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statutory</a:t>
            </a:r>
          </a:p>
        </p:txBody>
      </p:sp>
      <p:sp>
        <p:nvSpPr>
          <p:cNvPr id="11" name="Rounded Rectangle 10"/>
          <p:cNvSpPr/>
          <p:nvPr/>
        </p:nvSpPr>
        <p:spPr>
          <a:xfrm>
            <a:off x="4791456" y="987552"/>
            <a:ext cx="914400"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cover</a:t>
            </a:r>
          </a:p>
        </p:txBody>
      </p:sp>
      <p:sp>
        <p:nvSpPr>
          <p:cNvPr id="12" name="Rounded Rectangle 11"/>
          <p:cNvSpPr/>
          <p:nvPr/>
        </p:nvSpPr>
        <p:spPr>
          <a:xfrm>
            <a:off x="5797296" y="987552"/>
            <a:ext cx="1243584"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handover</a:t>
            </a:r>
          </a:p>
        </p:txBody>
      </p:sp>
      <p:sp>
        <p:nvSpPr>
          <p:cNvPr id="13" name="Rounded Rectangle 12"/>
          <p:cNvSpPr/>
          <p:nvPr/>
        </p:nvSpPr>
        <p:spPr>
          <a:xfrm>
            <a:off x="7132320" y="987552"/>
            <a:ext cx="1024128"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stigma</a:t>
            </a:r>
          </a:p>
        </p:txBody>
      </p:sp>
      <p:sp>
        <p:nvSpPr>
          <p:cNvPr id="14" name="Rounded Rectangle 13"/>
          <p:cNvSpPr/>
          <p:nvPr/>
        </p:nvSpPr>
        <p:spPr>
          <a:xfrm>
            <a:off x="8247888" y="987552"/>
            <a:ext cx="1353312"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normalise</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Employees are _______ to paid leave.</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entitled</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_______ leave is set by law.</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Statutory</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Sam will _______ for me while I’m away.</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cover</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I’ll prepare a full _______ document.</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handover</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There is still a _______ around taking leave.</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stigma</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We want to _______ leave for fathers.</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normalise</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(搭配) take / go on leave,be on leave,entitled TO;leave 不可数。</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Role Play · Requesting paternity leave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16 · Lesson 79 Paternity leave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申请陪产假</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You speak to your manager.</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Employee</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Manager</a:t>
            </a:r>
          </a:p>
        </p:txBody>
      </p:sp>
    </p:spTree>
  </p:cSld>
  <p:clrMapOvr>
    <a:masterClrMapping/>
  </p:clrMapOvr>
  <p:transition spd="med">
    <p:fade/>
  </p:transition>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600" b="1">
                <a:solidFill>
                  <a:srgbClr val="1F2A44"/>
                </a:solidFill>
                <a:latin typeface="Arial"/>
                <a:ea typeface="Microsoft YaHei"/>
              </a:rPr>
              <a:t>🎭 Model Dialogue · Requesting paternity leave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16 · Lesson 79 Paternity leave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 wanted to let you know that my wife is due in March. I’d like to request paternity leave.</a:t>
            </a:r>
          </a:p>
        </p:txBody>
      </p:sp>
      <p:sp>
        <p:nvSpPr>
          <p:cNvPr id="11" name="Rounded Rectangle 10"/>
          <p:cNvSpPr/>
          <p:nvPr/>
        </p:nvSpPr>
        <p:spPr>
          <a:xfrm>
            <a:off x="10911535" y="219760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63652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219760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Congratulations! How much leave are you planning to take?</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entitled to four weeks, and I’d like to take all of it.</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fine. Let’s plan how to cover your work.</a:t>
            </a:r>
          </a:p>
        </p:txBody>
      </p:sp>
    </p:spTree>
  </p:cSld>
  <p:clrMapOvr>
    <a:masterClrMapping/>
  </p:clrMapOvr>
  <p:transition spd="med">
    <p:fade/>
  </p:transition>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Requesting paternity leave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16 · Lesson 79 Paternity leave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I’ll prepare a handover document and brief Sam before I go.</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Perfect. Will you be contactable?</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I’d rather not be, unless it’s an emergency.</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Understood. Enjoy the time with your family.</a:t>
            </a:r>
          </a:p>
        </p:txBody>
      </p:sp>
    </p:spTree>
  </p:cSld>
  <p:clrMapOvr>
    <a:masterClrMapping/>
  </p:clrMapOvr>
  <p:transition spd="med">
    <p:fade/>
  </p:transition>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Your Turn · Requesting paternity leave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16 · Lesson 79 Paternity leave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request parental leave.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Employee. Dates: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I’d like to request · entitled to · handover · cover · unless it’s an emergency</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Make a formal request, explain cover and agree contact.</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Ask about flexible return.</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Respond to a worried manager.</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Confirm in writing.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Role Play · Welcoming someone back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16 · Lesson 79 Paternity leave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欢迎同事回归</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colleague returns from leave.</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Manager</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Returning employee</a:t>
            </a:r>
          </a:p>
        </p:txBody>
      </p:sp>
    </p:spTree>
  </p:cSld>
  <p:clrMapOvr>
    <a:masterClrMapping/>
  </p:clrMapOvr>
  <p:transition spd="med">
    <p:fade/>
  </p:transition>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800" b="1">
                <a:solidFill>
                  <a:srgbClr val="1F2A44"/>
                </a:solidFill>
                <a:latin typeface="Arial"/>
                <a:ea typeface="Microsoft YaHei"/>
              </a:rPr>
              <a:t>🎭 Model Dialogue · Welcoming someone back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1/1</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16 · Lesson 79 Paternity leave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19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Welcome back! How was it?</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Tiring but wonderful. I’m glad I took the full leave.</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Let me bring you up to date on what’s changed.</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Thanks. I feel a bit out of the loop.</a:t>
            </a:r>
          </a:p>
        </p:txBody>
      </p:sp>
      <p:sp>
        <p:nvSpPr>
          <p:cNvPr id="20" name="Rounded Rectangle 19"/>
          <p:cNvSpPr/>
          <p:nvPr/>
        </p:nvSpPr>
        <p:spPr>
          <a:xfrm>
            <a:off x="548640" y="3654552"/>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1" name="TextBox 20"/>
          <p:cNvSpPr txBox="1"/>
          <p:nvPr/>
        </p:nvSpPr>
        <p:spPr>
          <a:xfrm>
            <a:off x="274320" y="4093464"/>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2" name="Rounded Rectangle 21"/>
          <p:cNvSpPr/>
          <p:nvPr/>
        </p:nvSpPr>
        <p:spPr>
          <a:xfrm>
            <a:off x="1463040" y="3654552"/>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Take your time. You can ease back in this week.</a:t>
            </a:r>
          </a:p>
        </p:txBody>
      </p:sp>
      <p:sp>
        <p:nvSpPr>
          <p:cNvPr id="23" name="Rounded Rectangle 22"/>
          <p:cNvSpPr/>
          <p:nvPr/>
        </p:nvSpPr>
        <p:spPr>
          <a:xfrm>
            <a:off x="10911535" y="4236720"/>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24" name="TextBox 23"/>
          <p:cNvSpPr txBox="1"/>
          <p:nvPr/>
        </p:nvSpPr>
        <p:spPr>
          <a:xfrm>
            <a:off x="10637215" y="467563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5" name="Rounded Rectangle 24"/>
          <p:cNvSpPr/>
          <p:nvPr/>
        </p:nvSpPr>
        <p:spPr>
          <a:xfrm>
            <a:off x="2133295" y="4236720"/>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I’d appreciate that. Could I start at four days a week?</a:t>
            </a:r>
          </a:p>
        </p:txBody>
      </p:sp>
      <p:sp>
        <p:nvSpPr>
          <p:cNvPr id="26" name="Rounded Rectangle 25"/>
          <p:cNvSpPr/>
          <p:nvPr/>
        </p:nvSpPr>
        <p:spPr>
          <a:xfrm>
            <a:off x="548640" y="4818888"/>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27" name="TextBox 26"/>
          <p:cNvSpPr txBox="1"/>
          <p:nvPr/>
        </p:nvSpPr>
        <p:spPr>
          <a:xfrm>
            <a:off x="274320" y="525780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28" name="Rounded Rectangle 27"/>
          <p:cNvSpPr/>
          <p:nvPr/>
        </p:nvSpPr>
        <p:spPr>
          <a:xfrm>
            <a:off x="1463040" y="4818888"/>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Let’s discuss it. I’m open to flexibility.</a:t>
            </a:r>
          </a:p>
        </p:txBody>
      </p:sp>
      <p:sp>
        <p:nvSpPr>
          <p:cNvPr id="29" name="Rounded Rectangle 28"/>
          <p:cNvSpPr/>
          <p:nvPr/>
        </p:nvSpPr>
        <p:spPr>
          <a:xfrm>
            <a:off x="10911535" y="5401056"/>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30" name="TextBox 29"/>
          <p:cNvSpPr txBox="1"/>
          <p:nvPr/>
        </p:nvSpPr>
        <p:spPr>
          <a:xfrm>
            <a:off x="10637215" y="583996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31" name="Rounded Rectangle 30"/>
          <p:cNvSpPr/>
          <p:nvPr/>
        </p:nvSpPr>
        <p:spPr>
          <a:xfrm>
            <a:off x="2133295" y="5401056"/>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I’m happy to be back.</a:t>
            </a:r>
          </a:p>
        </p:txBody>
      </p:sp>
    </p:spTree>
  </p:cSld>
  <p:clrMapOvr>
    <a:masterClrMapping/>
  </p:clrMapOvr>
  <p:transition spd="med">
    <p:fade/>
  </p:transition>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Your Turn · Welcoming someone back</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16 · Lesson 79 Paternity leave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welcome someone back.</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Manager.</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Returner. Needs: ______________</a:t>
            </a:r>
          </a:p>
        </p:txBody>
      </p:sp>
      <p:sp>
        <p:nvSpPr>
          <p:cNvPr id="14" name="Rounded Rectangle 13"/>
          <p:cNvSpPr/>
          <p:nvPr/>
        </p:nvSpPr>
        <p:spPr>
          <a:xfrm>
            <a:off x="548640" y="2770632"/>
            <a:ext cx="2377440" cy="65227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65227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welcome back · bring you up to date · out of the loop · ease back in · flexibility</a:t>
            </a:r>
          </a:p>
        </p:txBody>
      </p:sp>
      <p:sp>
        <p:nvSpPr>
          <p:cNvPr id="16" name="Rounded Rectangle 15"/>
          <p:cNvSpPr/>
          <p:nvPr/>
        </p:nvSpPr>
        <p:spPr>
          <a:xfrm>
            <a:off x="548640" y="349605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49605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Welcome warmly and agree on a gradual return.</a:t>
            </a:r>
          </a:p>
        </p:txBody>
      </p:sp>
      <p:sp>
        <p:nvSpPr>
          <p:cNvPr id="18" name="Rounded Rectangle 17"/>
          <p:cNvSpPr/>
          <p:nvPr/>
        </p:nvSpPr>
        <p:spPr>
          <a:xfrm>
            <a:off x="548640" y="397764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97764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55066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934712"/>
            <a:ext cx="3576218" cy="128320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Avoid assumptions about commitment.</a:t>
            </a:r>
          </a:p>
        </p:txBody>
      </p:sp>
      <p:sp>
        <p:nvSpPr>
          <p:cNvPr id="22" name="Rounded Rectangle 21"/>
          <p:cNvSpPr/>
          <p:nvPr/>
        </p:nvSpPr>
        <p:spPr>
          <a:xfrm>
            <a:off x="4307738" y="4934712"/>
            <a:ext cx="3576218" cy="128320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Ask what support is needed.</a:t>
            </a:r>
          </a:p>
        </p:txBody>
      </p:sp>
      <p:sp>
        <p:nvSpPr>
          <p:cNvPr id="23" name="Rounded Rectangle 22"/>
          <p:cNvSpPr/>
          <p:nvPr/>
        </p:nvSpPr>
        <p:spPr>
          <a:xfrm>
            <a:off x="8066836" y="4934712"/>
            <a:ext cx="3576218" cy="128320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Set a check-in date.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16 · Lesson 79 Paternity leave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paternity leave be longer?</a:t>
            </a:r>
          </a:p>
          <a:p>
            <a:pPr algn="l">
              <a:lnSpc>
                <a:spcPct val="115000"/>
              </a:lnSpc>
              <a:spcAft>
                <a:spcPts val="800"/>
              </a:spcAft>
            </a:pPr>
            <a:r>
              <a:rPr sz="1400" b="0">
                <a:solidFill>
                  <a:srgbClr val="5F677A"/>
                </a:solidFill>
                <a:latin typeface="Arial"/>
                <a:ea typeface="Microsoft YaHei"/>
              </a:rPr>
              <a:t>💬 “I think so because…”</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Why do men take less leave than allowed?</a:t>
            </a:r>
          </a:p>
          <a:p>
            <a:pPr algn="l">
              <a:lnSpc>
                <a:spcPct val="115000"/>
              </a:lnSpc>
              <a:spcAft>
                <a:spcPts val="800"/>
              </a:spcAft>
            </a:pPr>
            <a:r>
              <a:rPr sz="1400" b="0">
                <a:solidFill>
                  <a:srgbClr val="5F677A"/>
                </a:solidFill>
                <a:latin typeface="Arial"/>
                <a:ea typeface="Microsoft YaHei"/>
              </a:rPr>
              <a:t>💬 “Perhaps because…”</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Who should pay for parental leave?</a:t>
            </a:r>
          </a:p>
          <a:p>
            <a:pPr algn="l">
              <a:lnSpc>
                <a:spcPct val="115000"/>
              </a:lnSpc>
              <a:spcAft>
                <a:spcPts val="800"/>
              </a:spcAft>
            </a:pPr>
            <a:r>
              <a:rPr sz="1400" b="0">
                <a:solidFill>
                  <a:srgbClr val="5F677A"/>
                </a:solidFill>
                <a:latin typeface="Arial"/>
                <a:ea typeface="Microsoft YaHei"/>
              </a:rPr>
              <a:t>💬 “It could be shared between…”</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small businesses manage with staff on leave?</a:t>
            </a:r>
          </a:p>
          <a:p>
            <a:pPr algn="l">
              <a:lnSpc>
                <a:spcPct val="115000"/>
              </a:lnSpc>
              <a:spcAft>
                <a:spcPts val="800"/>
              </a:spcAft>
            </a:pPr>
            <a:r>
              <a:rPr sz="1400" b="0">
                <a:solidFill>
                  <a:srgbClr val="5F677A"/>
                </a:solidFill>
                <a:latin typeface="Arial"/>
                <a:ea typeface="Microsoft YaHei"/>
              </a:rPr>
              <a:t>💬 “They could…”</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What is the ideal length of leave?</a:t>
            </a:r>
          </a:p>
          <a:p>
            <a:pPr algn="l">
              <a:lnSpc>
                <a:spcPct val="115000"/>
              </a:lnSpc>
              <a:spcAft>
                <a:spcPts val="800"/>
              </a:spcAft>
            </a:pPr>
            <a:r>
              <a:rPr sz="1400" b="0">
                <a:solidFill>
                  <a:srgbClr val="5F677A"/>
                </a:solidFill>
                <a:latin typeface="Arial"/>
                <a:ea typeface="Microsoft YaHei"/>
              </a:rPr>
              <a:t>💬 “I’d say about…”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16 · Lesson 79 Paternity leave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1)</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think it should be longer, at least in countries where it’s very short. Early involvement helps fathers bond with their children and shares childcare more equally. Employers need to plan, but the long-term benefits, such as loyalty and well-being, are worth it. Governments could share the cost to help small businesses.</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“bond with” 与…建立亲密关系;“are worth it” 值得。</a:t>
            </a:r>
          </a:p>
        </p:txBody>
      </p:sp>
    </p:spTree>
  </p:cSld>
  <p:clrMapOvr>
    <a:masterClrMapping/>
  </p:clrMapOvr>
  <p:transition spd="med">
    <p:fade/>
  </p:transition>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Formal requests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16 · Lesson 79 Paternity leave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正式请求</a:t>
            </a:r>
          </a:p>
        </p:txBody>
      </p:sp>
      <p:graphicFrame>
        <p:nvGraphicFramePr>
          <p:cNvPr id="9" name="Table 8"/>
          <p:cNvGraphicFramePr>
            <a:graphicFrameLocks noGrp="1"/>
          </p:cNvGraphicFramePr>
          <p:nvPr/>
        </p:nvGraphicFramePr>
        <p:xfrm>
          <a:off x="548640" y="1417320"/>
          <a:ext cx="11094415" cy="204216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Informal</a:t>
                      </a:r>
                    </a:p>
                  </a:txBody>
                  <a:tcPr anchor="ctr">
                    <a:solidFill>
                      <a:srgbClr val="3CC49A"/>
                    </a:solidFill>
                  </a:tcPr>
                </a:tc>
                <a:tc>
                  <a:txBody>
                    <a:bodyPr wrap="square"/>
                    <a:lstStyle/>
                    <a:p>
                      <a:r>
                        <a:rPr sz="1600" b="1">
                          <a:solidFill>
                            <a:srgbClr val="FFFFFF"/>
                          </a:solidFill>
                          <a:latin typeface="Arial"/>
                          <a:ea typeface="Microsoft YaHei"/>
                        </a:rPr>
                        <a:t>Formal</a:t>
                      </a:r>
                    </a:p>
                  </a:txBody>
                  <a:tcPr anchor="ctr">
                    <a:solidFill>
                      <a:srgbClr val="3CC49A"/>
                    </a:solidFill>
                  </a:tcPr>
                </a:tc>
              </a:tr>
              <a:tr h="408432">
                <a:tc>
                  <a:txBody>
                    <a:bodyPr wrap="square"/>
                    <a:lstStyle/>
                    <a:p>
                      <a:r>
                        <a:rPr sz="1600" b="1">
                          <a:solidFill>
                            <a:srgbClr val="1F2A44"/>
                          </a:solidFill>
                          <a:latin typeface="Arial"/>
                          <a:ea typeface="Microsoft YaHei"/>
                        </a:rPr>
                        <a:t>Can I take leave?</a:t>
                      </a:r>
                    </a:p>
                  </a:txBody>
                  <a:tcPr anchor="ctr">
                    <a:solidFill>
                      <a:srgbClr val="FFFFFF"/>
                    </a:solidFill>
                  </a:tcPr>
                </a:tc>
                <a:tc>
                  <a:txBody>
                    <a:bodyPr wrap="square"/>
                    <a:lstStyle/>
                    <a:p>
                      <a:r>
                        <a:rPr sz="1600" b="0">
                          <a:solidFill>
                            <a:srgbClr val="1F2A44"/>
                          </a:solidFill>
                          <a:latin typeface="Arial"/>
                          <a:ea typeface="Microsoft YaHei"/>
                        </a:rPr>
                        <a:t>I would like to request leave from 1 to 28 March.</a:t>
                      </a:r>
                    </a:p>
                  </a:txBody>
                  <a:tcPr anchor="ctr">
                    <a:solidFill>
                      <a:srgbClr val="FFFFFF"/>
                    </a:solidFill>
                  </a:tcPr>
                </a:tc>
              </a:tr>
              <a:tr h="408432">
                <a:tc>
                  <a:txBody>
                    <a:bodyPr wrap="square"/>
                    <a:lstStyle/>
                    <a:p>
                      <a:r>
                        <a:rPr sz="1600" b="1">
                          <a:solidFill>
                            <a:srgbClr val="1F2A44"/>
                          </a:solidFill>
                          <a:latin typeface="Arial"/>
                          <a:ea typeface="Microsoft YaHei"/>
                        </a:rPr>
                        <a:t>I want four weeks.</a:t>
                      </a:r>
                    </a:p>
                  </a:txBody>
                  <a:tcPr anchor="ctr">
                    <a:solidFill>
                      <a:srgbClr val="FFEFD9"/>
                    </a:solidFill>
                  </a:tcPr>
                </a:tc>
                <a:tc>
                  <a:txBody>
                    <a:bodyPr wrap="square"/>
                    <a:lstStyle/>
                    <a:p>
                      <a:r>
                        <a:rPr sz="1600" b="0">
                          <a:solidFill>
                            <a:srgbClr val="1F2A44"/>
                          </a:solidFill>
                          <a:latin typeface="Arial"/>
                          <a:ea typeface="Microsoft YaHei"/>
                        </a:rPr>
                        <a:t>I’d like to take four weeks, if that is convenient.</a:t>
                      </a:r>
                    </a:p>
                  </a:txBody>
                  <a:tcPr anchor="ctr">
                    <a:solidFill>
                      <a:srgbClr val="FFEFD9"/>
                    </a:solidFill>
                  </a:tcPr>
                </a:tc>
              </a:tr>
              <a:tr h="408432">
                <a:tc>
                  <a:txBody>
                    <a:bodyPr wrap="square"/>
                    <a:lstStyle/>
                    <a:p>
                      <a:r>
                        <a:rPr sz="1600" b="1">
                          <a:solidFill>
                            <a:srgbClr val="1F2A44"/>
                          </a:solidFill>
                          <a:latin typeface="Arial"/>
                          <a:ea typeface="Microsoft YaHei"/>
                        </a:rPr>
                        <a:t>Tell me quick.</a:t>
                      </a:r>
                    </a:p>
                  </a:txBody>
                  <a:tcPr anchor="ctr">
                    <a:solidFill>
                      <a:srgbClr val="FFFFFF"/>
                    </a:solidFill>
                  </a:tcPr>
                </a:tc>
                <a:tc>
                  <a:txBody>
                    <a:bodyPr wrap="square"/>
                    <a:lstStyle/>
                    <a:p>
                      <a:r>
                        <a:rPr sz="1600" b="0">
                          <a:solidFill>
                            <a:srgbClr val="1F2A44"/>
                          </a:solidFill>
                          <a:latin typeface="Arial"/>
                          <a:ea typeface="Microsoft YaHei"/>
                        </a:rPr>
                        <a:t>I’d be grateful if you could confirm by Friday.</a:t>
                      </a:r>
                    </a:p>
                  </a:txBody>
                  <a:tcPr anchor="ctr">
                    <a:solidFill>
                      <a:srgbClr val="FFFFFF"/>
                    </a:solidFill>
                  </a:tcPr>
                </a:tc>
              </a:tr>
              <a:tr h="408432">
                <a:tc>
                  <a:txBody>
                    <a:bodyPr wrap="square"/>
                    <a:lstStyle/>
                    <a:p>
                      <a:r>
                        <a:rPr sz="1600" b="1">
                          <a:solidFill>
                            <a:srgbClr val="1F2A44"/>
                          </a:solidFill>
                          <a:latin typeface="Arial"/>
                          <a:ea typeface="Microsoft YaHei"/>
                        </a:rPr>
                        <a:t>Thanks.</a:t>
                      </a:r>
                    </a:p>
                  </a:txBody>
                  <a:tcPr anchor="ctr">
                    <a:solidFill>
                      <a:srgbClr val="FFEFD9"/>
                    </a:solidFill>
                  </a:tcPr>
                </a:tc>
                <a:tc>
                  <a:txBody>
                    <a:bodyPr wrap="square"/>
                    <a:lstStyle/>
                    <a:p>
                      <a:r>
                        <a:rPr sz="1600" b="0">
                          <a:solidFill>
                            <a:srgbClr val="1F2A44"/>
                          </a:solidFill>
                          <a:latin typeface="Arial"/>
                          <a:ea typeface="Microsoft YaHei"/>
                        </a:rPr>
                        <a:t>Thank you for your understanding.</a:t>
                      </a:r>
                    </a:p>
                  </a:txBody>
                  <a:tcPr anchor="ctr">
                    <a:solidFill>
                      <a:srgbClr val="FFEFD9"/>
                    </a:solidFill>
                  </a:tcPr>
                </a:tc>
              </a:tr>
            </a:tbl>
          </a:graphicData>
        </a:graphic>
      </p:graphicFrame>
    </p:spTree>
  </p:cSld>
  <p:clrMapOvr>
    <a:masterClrMapping/>
  </p:clrMapOvr>
  <p:transition spd="med">
    <p:fade/>
  </p:transition>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Formal requests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16 · Lesson 79 Paternity leave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正式请求</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Use would like to, I’d be grateful if you could, I would appreciate it if… for formal requests.</a:t>
            </a:r>
          </a:p>
        </p:txBody>
      </p:sp>
    </p:spTree>
  </p:cSld>
  <p:clrMapOvr>
    <a:masterClrMapping/>
  </p:clrMapOvr>
  <p:transition spd="med">
    <p:fade/>
  </p:transition>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16 · Lesson 79 Paternity leave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take paternity leave next month.</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taking paternity leave next month.</a:t>
            </a:r>
          </a:p>
          <a:p>
            <a:pPr algn="l">
              <a:spcAft>
                <a:spcPts val="200"/>
              </a:spcAft>
            </a:pPr>
            <a:r>
              <a:rPr sz="1200" b="0">
                <a:solidFill>
                  <a:srgbClr val="FFFFFF"/>
                </a:solidFill>
                <a:latin typeface="Arial"/>
                <a:ea typeface="Microsoft YaHei"/>
              </a:rPr>
              <a:t>将来安排</a:t>
            </a:r>
          </a:p>
        </p:txBody>
      </p:sp>
      <p:sp>
        <p:nvSpPr>
          <p:cNvPr id="11" name="Rounded Rectangle 10"/>
          <p:cNvSpPr/>
          <p:nvPr/>
        </p:nvSpPr>
        <p:spPr>
          <a:xfrm>
            <a:off x="548640" y="2164079"/>
            <a:ext cx="5455767" cy="670560"/>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My wife will give birth in March, so I ask for leave.</a:t>
            </a:r>
          </a:p>
        </p:txBody>
      </p:sp>
      <p:sp>
        <p:nvSpPr>
          <p:cNvPr id="12" name="Rounded Rectangle 11"/>
          <p:cNvSpPr/>
          <p:nvPr/>
        </p:nvSpPr>
        <p:spPr>
          <a:xfrm>
            <a:off x="6187287" y="2164079"/>
            <a:ext cx="5455767" cy="670560"/>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…so I’d like to request leave.</a:t>
            </a:r>
          </a:p>
          <a:p>
            <a:pPr algn="l">
              <a:spcAft>
                <a:spcPts val="200"/>
              </a:spcAft>
            </a:pPr>
            <a:r>
              <a:rPr sz="1200" b="0">
                <a:solidFill>
                  <a:srgbClr val="FFFFFF"/>
                </a:solidFill>
                <a:latin typeface="Arial"/>
                <a:ea typeface="Microsoft YaHei"/>
              </a:rPr>
              <a:t>委婉</a:t>
            </a:r>
          </a:p>
        </p:txBody>
      </p:sp>
      <p:sp>
        <p:nvSpPr>
          <p:cNvPr id="13" name="Rounded Rectangle 12"/>
          <p:cNvSpPr/>
          <p:nvPr/>
        </p:nvSpPr>
        <p:spPr>
          <a:xfrm>
            <a:off x="548640" y="2926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have right to take leave.</a:t>
            </a:r>
          </a:p>
        </p:txBody>
      </p:sp>
      <p:sp>
        <p:nvSpPr>
          <p:cNvPr id="14" name="Rounded Rectangle 13"/>
          <p:cNvSpPr/>
          <p:nvPr/>
        </p:nvSpPr>
        <p:spPr>
          <a:xfrm>
            <a:off x="6187287" y="2926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have the right to take leave.</a:t>
            </a:r>
          </a:p>
          <a:p>
            <a:pPr algn="l">
              <a:spcAft>
                <a:spcPts val="200"/>
              </a:spcAft>
            </a:pPr>
            <a:r>
              <a:rPr sz="1200" b="0">
                <a:solidFill>
                  <a:srgbClr val="FFFFFF"/>
                </a:solidFill>
                <a:latin typeface="Arial"/>
                <a:ea typeface="Microsoft YaHei"/>
              </a:rPr>
              <a:t>the right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16 · Lesson 79 Paternity leave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I’m in leave.</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I’m on leave.</a:t>
            </a:r>
          </a:p>
          <a:p>
            <a:pPr algn="l">
              <a:spcAft>
                <a:spcPts val="200"/>
              </a:spcAft>
            </a:pPr>
            <a:r>
              <a:rPr sz="1200" b="0">
                <a:solidFill>
                  <a:srgbClr val="FFFFFF"/>
                </a:solidFill>
                <a:latin typeface="Arial"/>
                <a:ea typeface="Microsoft YaHei"/>
              </a:rPr>
              <a:t>on leave</a:t>
            </a:r>
          </a:p>
        </p:txBody>
      </p:sp>
      <p:sp>
        <p:nvSpPr>
          <p:cNvPr id="11" name="Rounded Rectangle 10"/>
          <p:cNvSpPr/>
          <p:nvPr/>
        </p:nvSpPr>
        <p:spPr>
          <a:xfrm>
            <a:off x="548640" y="2164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will back in April.</a:t>
            </a:r>
          </a:p>
        </p:txBody>
      </p:sp>
      <p:sp>
        <p:nvSpPr>
          <p:cNvPr id="12" name="Rounded Rectangle 11"/>
          <p:cNvSpPr/>
          <p:nvPr/>
        </p:nvSpPr>
        <p:spPr>
          <a:xfrm>
            <a:off x="6187287" y="2164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I’ll be back in April.</a:t>
            </a:r>
          </a:p>
          <a:p>
            <a:pPr algn="l">
              <a:spcAft>
                <a:spcPts val="200"/>
              </a:spcAft>
            </a:pPr>
            <a:r>
              <a:rPr sz="1200" b="0">
                <a:solidFill>
                  <a:srgbClr val="FFFFFF"/>
                </a:solidFill>
                <a:latin typeface="Arial"/>
                <a:ea typeface="Microsoft YaHei"/>
              </a:rPr>
              <a:t>be back</a:t>
            </a:r>
          </a:p>
        </p:txBody>
      </p:sp>
      <p:sp>
        <p:nvSpPr>
          <p:cNvPr id="13" name="Rounded Rectangle 12"/>
          <p:cNvSpPr/>
          <p:nvPr/>
        </p:nvSpPr>
        <p:spPr>
          <a:xfrm>
            <a:off x="548640" y="286511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He is entitled for four weeks.</a:t>
            </a:r>
          </a:p>
        </p:txBody>
      </p:sp>
      <p:sp>
        <p:nvSpPr>
          <p:cNvPr id="14" name="Rounded Rectangle 13"/>
          <p:cNvSpPr/>
          <p:nvPr/>
        </p:nvSpPr>
        <p:spPr>
          <a:xfrm>
            <a:off x="6187287" y="286511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He is entitled to four weeks.</a:t>
            </a:r>
          </a:p>
          <a:p>
            <a:pPr algn="l">
              <a:spcAft>
                <a:spcPts val="200"/>
              </a:spcAft>
            </a:pPr>
            <a:r>
              <a:rPr sz="1200" b="0">
                <a:solidFill>
                  <a:srgbClr val="FFFFFF"/>
                </a:solidFill>
                <a:latin typeface="Arial"/>
                <a:ea typeface="Microsoft YaHei"/>
              </a:rPr>
              <a:t>entitled to</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on leave, the right to, entitled to, be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16 · Lesson 79 Paternity leave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Rules differ by country. Check your contract and local law.</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Tell your manager early. Give notice well ahead.</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Congratulate sincerely. “Congratulations! That’s wonderful news.”</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Respect leave. Don’t contact people on leave unless agreed.</a:t>
            </a:r>
          </a:p>
        </p:txBody>
      </p:sp>
    </p:spTree>
  </p:cSld>
  <p:clrMapOvr>
    <a:masterClrMapping/>
  </p:clrMapOvr>
  <p:transition spd="med">
    <p:fade/>
  </p:transition>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79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16 · Lesson 79 Paternity leave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discuss parental leave and entitlements.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request leave formally.</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welcome a colleague back.</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on leave, entitled to and the right to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16 · Lesson 79 Paternity leave</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29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Write and say a formal leave request in 4 sentences.</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on leave, entitled to, the right to.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16 · Lesson 80 The right to rest and other employment laws</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30</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Rectangle 4"/>
          <p:cNvSpPr/>
          <p:nvPr/>
        </p:nvSpPr>
        <p:spPr>
          <a:xfrm>
            <a:off x="822960" y="685800"/>
            <a:ext cx="1097280" cy="914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822960" y="822960"/>
            <a:ext cx="5486400" cy="457200"/>
          </a:xfrm>
          <a:prstGeom prst="rect">
            <a:avLst/>
          </a:prstGeom>
          <a:noFill/>
        </p:spPr>
        <p:txBody>
          <a:bodyPr wrap="square" anchor="t">
            <a:spAutoFit/>
          </a:bodyPr>
          <a:lstStyle/>
          <a:p>
            <a:pPr algn="l">
              <a:lnSpc>
                <a:spcPct val="115000"/>
              </a:lnSpc>
              <a:spcAft>
                <a:spcPts val="800"/>
              </a:spcAft>
            </a:pPr>
            <a:r>
              <a:rPr sz="2200" b="1">
                <a:solidFill>
                  <a:srgbClr val="FFC857"/>
                </a:solidFill>
                <a:latin typeface="Arial"/>
                <a:ea typeface="Microsoft YaHei"/>
              </a:rPr>
              <a:t>LESSON 80</a:t>
            </a:r>
          </a:p>
        </p:txBody>
      </p:sp>
      <p:sp>
        <p:nvSpPr>
          <p:cNvPr id="7" name="TextBox 6"/>
          <p:cNvSpPr txBox="1"/>
          <p:nvPr/>
        </p:nvSpPr>
        <p:spPr>
          <a:xfrm>
            <a:off x="822960" y="1280160"/>
            <a:ext cx="10515600" cy="1280160"/>
          </a:xfrm>
          <a:prstGeom prst="rect">
            <a:avLst/>
          </a:prstGeom>
          <a:noFill/>
        </p:spPr>
        <p:txBody>
          <a:bodyPr wrap="square" anchor="ctr">
            <a:spAutoFit/>
          </a:bodyPr>
          <a:lstStyle/>
          <a:p>
            <a:pPr algn="l">
              <a:lnSpc>
                <a:spcPct val="115000"/>
              </a:lnSpc>
              <a:spcAft>
                <a:spcPts val="800"/>
              </a:spcAft>
            </a:pPr>
            <a:r>
              <a:rPr sz="3700" b="1">
                <a:solidFill>
                  <a:srgbClr val="FFFFFF"/>
                </a:solidFill>
                <a:latin typeface="Arial"/>
                <a:ea typeface="Microsoft YaHei"/>
              </a:rPr>
              <a:t>The right to rest and other employment laws</a:t>
            </a:r>
          </a:p>
        </p:txBody>
      </p:sp>
      <p:sp>
        <p:nvSpPr>
          <p:cNvPr id="8" name="TextBox 7"/>
          <p:cNvSpPr txBox="1"/>
          <p:nvPr/>
        </p:nvSpPr>
        <p:spPr>
          <a:xfrm>
            <a:off x="822960" y="2560320"/>
            <a:ext cx="10515600" cy="548640"/>
          </a:xfrm>
          <a:prstGeom prst="rect">
            <a:avLst/>
          </a:prstGeom>
          <a:noFill/>
        </p:spPr>
        <p:txBody>
          <a:bodyPr wrap="square" anchor="t">
            <a:spAutoFit/>
          </a:bodyPr>
          <a:lstStyle/>
          <a:p>
            <a:pPr algn="l">
              <a:lnSpc>
                <a:spcPct val="115000"/>
              </a:lnSpc>
              <a:spcAft>
                <a:spcPts val="800"/>
              </a:spcAft>
            </a:pPr>
            <a:r>
              <a:rPr sz="2400" b="0">
                <a:solidFill>
                  <a:srgbClr val="FFFFFF"/>
                </a:solidFill>
                <a:latin typeface="Arial"/>
                <a:ea typeface="Microsoft YaHei"/>
              </a:rPr>
              <a:t>休息权及其他劳动法规</a:t>
            </a:r>
          </a:p>
        </p:txBody>
      </p:sp>
      <p:sp>
        <p:nvSpPr>
          <p:cNvPr id="9" name="TextBox 8"/>
          <p:cNvSpPr txBox="1"/>
          <p:nvPr/>
        </p:nvSpPr>
        <p:spPr>
          <a:xfrm>
            <a:off x="822960" y="3246120"/>
            <a:ext cx="10515600" cy="914400"/>
          </a:xfrm>
          <a:prstGeom prst="rect">
            <a:avLst/>
          </a:prstGeom>
          <a:noFill/>
        </p:spPr>
        <p:txBody>
          <a:bodyPr wrap="square" anchor="t">
            <a:spAutoFit/>
          </a:bodyPr>
          <a:lstStyle/>
          <a:p>
            <a:pPr algn="l">
              <a:lnSpc>
                <a:spcPct val="115000"/>
              </a:lnSpc>
              <a:spcAft>
                <a:spcPts val="800"/>
              </a:spcAft>
            </a:pPr>
            <a:r>
              <a:rPr sz="2000" b="0">
                <a:solidFill>
                  <a:srgbClr val="FFC857"/>
                </a:solidFill>
                <a:latin typeface="Arial"/>
                <a:ea typeface="Microsoft YaHei"/>
              </a:rPr>
              <a:t>🎯 talk about working-time rules, the right to disconnect and other basic employee rights, and explain them to others.</a:t>
            </a:r>
          </a:p>
        </p:txBody>
      </p:sp>
      <p:sp>
        <p:nvSpPr>
          <p:cNvPr id="10" name="Rounded Rectangle 9"/>
          <p:cNvSpPr/>
          <p:nvPr/>
        </p:nvSpPr>
        <p:spPr>
          <a:xfrm>
            <a:off x="822960" y="4389120"/>
            <a:ext cx="1956816" cy="11430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01</a:t>
            </a:r>
          </a:p>
          <a:p>
            <a:pPr algn="ctr">
              <a:spcAft>
                <a:spcPts val="200"/>
              </a:spcAft>
            </a:pPr>
            <a:r>
              <a:rPr sz="1700" b="1">
                <a:solidFill>
                  <a:srgbClr val="FFFFFF"/>
                </a:solidFill>
                <a:latin typeface="Arial"/>
                <a:ea typeface="Microsoft YaHei"/>
              </a:rPr>
              <a:t>Warm up</a:t>
            </a:r>
          </a:p>
          <a:p>
            <a:pPr algn="ctr">
              <a:spcAft>
                <a:spcPts val="200"/>
              </a:spcAft>
            </a:pPr>
            <a:r>
              <a:rPr sz="1300" b="0">
                <a:solidFill>
                  <a:srgbClr val="FFFFFF"/>
                </a:solidFill>
                <a:latin typeface="Arial"/>
                <a:ea typeface="Microsoft YaHei"/>
              </a:rPr>
              <a:t>热身</a:t>
            </a:r>
          </a:p>
        </p:txBody>
      </p:sp>
      <p:sp>
        <p:nvSpPr>
          <p:cNvPr id="11" name="Rounded Rectangle 10"/>
          <p:cNvSpPr/>
          <p:nvPr/>
        </p:nvSpPr>
        <p:spPr>
          <a:xfrm>
            <a:off x="2962656" y="4389120"/>
            <a:ext cx="1956816" cy="11430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02</a:t>
            </a:r>
          </a:p>
          <a:p>
            <a:pPr algn="ctr">
              <a:spcAft>
                <a:spcPts val="200"/>
              </a:spcAft>
            </a:pPr>
            <a:r>
              <a:rPr sz="1700" b="1">
                <a:solidFill>
                  <a:srgbClr val="FFFFFF"/>
                </a:solidFill>
                <a:latin typeface="Arial"/>
                <a:ea typeface="Microsoft YaHei"/>
              </a:rPr>
              <a:t>Vocabulary</a:t>
            </a:r>
          </a:p>
          <a:p>
            <a:pPr algn="ctr">
              <a:spcAft>
                <a:spcPts val="200"/>
              </a:spcAft>
            </a:pPr>
            <a:r>
              <a:rPr sz="1300" b="0">
                <a:solidFill>
                  <a:srgbClr val="FFFFFF"/>
                </a:solidFill>
                <a:latin typeface="Arial"/>
                <a:ea typeface="Microsoft YaHei"/>
              </a:rPr>
              <a:t>词汇</a:t>
            </a:r>
          </a:p>
        </p:txBody>
      </p:sp>
      <p:sp>
        <p:nvSpPr>
          <p:cNvPr id="12" name="Rounded Rectangle 11"/>
          <p:cNvSpPr/>
          <p:nvPr/>
        </p:nvSpPr>
        <p:spPr>
          <a:xfrm>
            <a:off x="5102352" y="4389120"/>
            <a:ext cx="1956816" cy="11430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03</a:t>
            </a:r>
          </a:p>
          <a:p>
            <a:pPr algn="ctr">
              <a:spcAft>
                <a:spcPts val="200"/>
              </a:spcAft>
            </a:pPr>
            <a:r>
              <a:rPr sz="1700" b="1">
                <a:solidFill>
                  <a:srgbClr val="FFFFFF"/>
                </a:solidFill>
                <a:latin typeface="Arial"/>
                <a:ea typeface="Microsoft YaHei"/>
              </a:rPr>
              <a:t>Role play</a:t>
            </a:r>
          </a:p>
          <a:p>
            <a:pPr algn="ctr">
              <a:spcAft>
                <a:spcPts val="200"/>
              </a:spcAft>
            </a:pPr>
            <a:r>
              <a:rPr sz="1300" b="0">
                <a:solidFill>
                  <a:srgbClr val="FFFFFF"/>
                </a:solidFill>
                <a:latin typeface="Arial"/>
                <a:ea typeface="Microsoft YaHei"/>
              </a:rPr>
              <a:t>角色扮演</a:t>
            </a:r>
          </a:p>
        </p:txBody>
      </p:sp>
      <p:sp>
        <p:nvSpPr>
          <p:cNvPr id="13" name="Rounded Rectangle 12"/>
          <p:cNvSpPr/>
          <p:nvPr/>
        </p:nvSpPr>
        <p:spPr>
          <a:xfrm>
            <a:off x="7242048" y="4389120"/>
            <a:ext cx="1956816" cy="11430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04</a:t>
            </a:r>
          </a:p>
          <a:p>
            <a:pPr algn="ctr">
              <a:spcAft>
                <a:spcPts val="200"/>
              </a:spcAft>
            </a:pPr>
            <a:r>
              <a:rPr sz="1700" b="1">
                <a:solidFill>
                  <a:srgbClr val="FFFFFF"/>
                </a:solidFill>
                <a:latin typeface="Arial"/>
                <a:ea typeface="Microsoft YaHei"/>
              </a:rPr>
              <a:t>Discussion</a:t>
            </a:r>
          </a:p>
          <a:p>
            <a:pPr algn="ctr">
              <a:spcAft>
                <a:spcPts val="200"/>
              </a:spcAft>
            </a:pPr>
            <a:r>
              <a:rPr sz="1300" b="0">
                <a:solidFill>
                  <a:srgbClr val="FFFFFF"/>
                </a:solidFill>
                <a:latin typeface="Arial"/>
                <a:ea typeface="Microsoft YaHei"/>
              </a:rPr>
              <a:t>讨论</a:t>
            </a:r>
          </a:p>
        </p:txBody>
      </p:sp>
      <p:sp>
        <p:nvSpPr>
          <p:cNvPr id="14" name="Rounded Rectangle 13"/>
          <p:cNvSpPr/>
          <p:nvPr/>
        </p:nvSpPr>
        <p:spPr>
          <a:xfrm>
            <a:off x="9381744" y="4389120"/>
            <a:ext cx="1956816" cy="11430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 05</a:t>
            </a:r>
          </a:p>
          <a:p>
            <a:pPr algn="ctr">
              <a:spcAft>
                <a:spcPts val="200"/>
              </a:spcAft>
            </a:pPr>
            <a:r>
              <a:rPr sz="1700" b="1">
                <a:solidFill>
                  <a:srgbClr val="FFFFFF"/>
                </a:solidFill>
                <a:latin typeface="Arial"/>
                <a:ea typeface="Microsoft YaHei"/>
              </a:rPr>
              <a:t>Language Tips</a:t>
            </a:r>
          </a:p>
          <a:p>
            <a:pPr algn="ctr">
              <a:spcAft>
                <a:spcPts val="200"/>
              </a:spcAft>
            </a:pPr>
            <a:r>
              <a:rPr sz="1300" b="0">
                <a:solidFill>
                  <a:srgbClr val="FFFFFF"/>
                </a:solidFill>
                <a:latin typeface="Arial"/>
                <a:ea typeface="Microsoft YaHei"/>
              </a:rPr>
              <a:t>语言贴士</a:t>
            </a:r>
          </a:p>
        </p:txBody>
      </p:sp>
    </p:spTree>
  </p:cSld>
  <p:clrMapOvr>
    <a:masterClrMapping/>
  </p:clrMapOvr>
  <p:transition spd="med">
    <p:fade/>
  </p:transition>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Warm up · Ice-breaker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16 · Lesson 80 The right to rest and other employment laws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Answer in 2–3 sentences. Say it out loud!  用 2–3 句话回答，大声说出来</a:t>
            </a:r>
          </a:p>
        </p:txBody>
      </p:sp>
      <p:sp>
        <p:nvSpPr>
          <p:cNvPr id="9" name="Oval 8"/>
          <p:cNvSpPr/>
          <p:nvPr/>
        </p:nvSpPr>
        <p:spPr>
          <a:xfrm>
            <a:off x="548640" y="1600199"/>
            <a:ext cx="502920" cy="50292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54480"/>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Do you know your rights as an employee?</a:t>
            </a:r>
          </a:p>
        </p:txBody>
      </p:sp>
      <p:sp>
        <p:nvSpPr>
          <p:cNvPr id="12" name="Oval 11"/>
          <p:cNvSpPr/>
          <p:nvPr/>
        </p:nvSpPr>
        <p:spPr>
          <a:xfrm>
            <a:off x="548640" y="2304286"/>
            <a:ext cx="502920" cy="50292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58567"/>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258567"/>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Are there limits to working hours in your country?</a:t>
            </a:r>
          </a:p>
        </p:txBody>
      </p:sp>
      <p:sp>
        <p:nvSpPr>
          <p:cNvPr id="15" name="Oval 14"/>
          <p:cNvSpPr/>
          <p:nvPr/>
        </p:nvSpPr>
        <p:spPr>
          <a:xfrm>
            <a:off x="548640" y="3008373"/>
            <a:ext cx="502920" cy="5029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2962654"/>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2962654"/>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Should employees be allowed to ignore messages after work?</a:t>
            </a:r>
          </a:p>
        </p:txBody>
      </p:sp>
      <p:sp>
        <p:nvSpPr>
          <p:cNvPr id="18" name="Oval 17"/>
          <p:cNvSpPr/>
          <p:nvPr/>
        </p:nvSpPr>
        <p:spPr>
          <a:xfrm>
            <a:off x="548640" y="3712460"/>
            <a:ext cx="502920" cy="50292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666741"/>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666741"/>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What happens if an employer breaks the rules?</a:t>
            </a:r>
          </a:p>
        </p:txBody>
      </p:sp>
      <p:sp>
        <p:nvSpPr>
          <p:cNvPr id="21" name="Oval 20"/>
          <p:cNvSpPr/>
          <p:nvPr/>
        </p:nvSpPr>
        <p:spPr>
          <a:xfrm>
            <a:off x="548640" y="4416547"/>
            <a:ext cx="502920" cy="50292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370828"/>
            <a:ext cx="10408615" cy="594359"/>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370828"/>
            <a:ext cx="10180015" cy="594359"/>
          </a:xfrm>
          <a:prstGeom prst="rect">
            <a:avLst/>
          </a:prstGeom>
          <a:noFill/>
        </p:spPr>
        <p:txBody>
          <a:bodyPr wrap="square" anchor="ctr">
            <a:spAutoFit/>
          </a:bodyPr>
          <a:lstStyle/>
          <a:p>
            <a:pPr algn="l">
              <a:lnSpc>
                <a:spcPct val="115000"/>
              </a:lnSpc>
              <a:spcAft>
                <a:spcPts val="800"/>
              </a:spcAft>
            </a:pPr>
            <a:r>
              <a:rPr sz="2400" b="0">
                <a:solidFill>
                  <a:srgbClr val="1F2A44"/>
                </a:solidFill>
                <a:latin typeface="Arial"/>
                <a:ea typeface="Microsoft YaHei"/>
              </a:rPr>
              <a:t>Who can you ask for advice about work rights?</a:t>
            </a:r>
          </a:p>
        </p:txBody>
      </p:sp>
      <p:sp>
        <p:nvSpPr>
          <p:cNvPr id="58" name="Rounded Rectangle 5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“right to disconnect” 下班断联权。法律因国家而异,讨论时说 “in many countries” 或 “in some places”。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1-Minute Challenge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01 Warm up 热身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16 · Lesson 80 The right to rest and other employment laws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Oval 7"/>
          <p:cNvSpPr/>
          <p:nvPr/>
        </p:nvSpPr>
        <p:spPr>
          <a:xfrm>
            <a:off x="9814255" y="1463040"/>
            <a:ext cx="1737360" cy="17373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FFFFFF"/>
                </a:solidFill>
                <a:latin typeface="Arial"/>
                <a:ea typeface="Microsoft YaHei"/>
              </a:rPr>
              <a:t>⏱</a:t>
            </a:r>
          </a:p>
          <a:p>
            <a:pPr algn="ctr">
              <a:spcAft>
                <a:spcPts val="200"/>
              </a:spcAft>
            </a:pPr>
            <a:r>
              <a:rPr sz="2600" b="1">
                <a:solidFill>
                  <a:srgbClr val="FFFFFF"/>
                </a:solidFill>
                <a:latin typeface="Arial"/>
                <a:ea typeface="Microsoft YaHei"/>
              </a:rPr>
              <a:t>60s</a:t>
            </a:r>
          </a:p>
        </p:txBody>
      </p:sp>
      <p:sp>
        <p:nvSpPr>
          <p:cNvPr id="9" name="TextBox 8"/>
          <p:cNvSpPr txBox="1"/>
          <p:nvPr/>
        </p:nvSpPr>
        <p:spPr>
          <a:xfrm>
            <a:off x="548640" y="1417320"/>
            <a:ext cx="8778240" cy="1280160"/>
          </a:xfrm>
          <a:prstGeom prst="rect">
            <a:avLst/>
          </a:prstGeom>
          <a:noFill/>
        </p:spPr>
        <p:txBody>
          <a:bodyPr wrap="square" anchor="t">
            <a:spAutoFit/>
          </a:bodyPr>
          <a:lstStyle/>
          <a:p>
            <a:pPr algn="l">
              <a:lnSpc>
                <a:spcPct val="115000"/>
              </a:lnSpc>
              <a:spcAft>
                <a:spcPts val="200"/>
              </a:spcAft>
            </a:pPr>
            <a:r>
              <a:rPr sz="1400" b="0">
                <a:solidFill>
                  <a:srgbClr val="5F677A"/>
                </a:solidFill>
                <a:latin typeface="Arial"/>
                <a:ea typeface="Microsoft YaHei"/>
              </a:rPr>
              <a:t>TOPIC</a:t>
            </a:r>
          </a:p>
          <a:p>
            <a:pPr algn="l">
              <a:lnSpc>
                <a:spcPct val="115000"/>
              </a:lnSpc>
              <a:spcAft>
                <a:spcPts val="800"/>
              </a:spcAft>
            </a:pPr>
            <a:r>
              <a:rPr sz="3000" b="1">
                <a:solidFill>
                  <a:srgbClr val="1F2A44"/>
                </a:solidFill>
                <a:latin typeface="Arial"/>
                <a:ea typeface="Microsoft YaHei"/>
              </a:rPr>
              <a:t>Explain some basic employee rights to a new colleague.</a:t>
            </a:r>
          </a:p>
        </p:txBody>
      </p:sp>
      <p:sp>
        <p:nvSpPr>
          <p:cNvPr id="10" name="Rounded Rectangle 9"/>
          <p:cNvSpPr/>
          <p:nvPr/>
        </p:nvSpPr>
        <p:spPr>
          <a:xfrm>
            <a:off x="548640" y="3017520"/>
            <a:ext cx="2411730" cy="86868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 working time</a:t>
            </a:r>
          </a:p>
        </p:txBody>
      </p:sp>
      <p:sp>
        <p:nvSpPr>
          <p:cNvPr id="11" name="Rounded Rectangle 10"/>
          <p:cNvSpPr/>
          <p:nvPr/>
        </p:nvSpPr>
        <p:spPr>
          <a:xfrm>
            <a:off x="3097530" y="3017520"/>
            <a:ext cx="2411730" cy="86868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 rest</a:t>
            </a:r>
          </a:p>
        </p:txBody>
      </p:sp>
      <p:sp>
        <p:nvSpPr>
          <p:cNvPr id="12" name="Rounded Rectangle 11"/>
          <p:cNvSpPr/>
          <p:nvPr/>
        </p:nvSpPr>
        <p:spPr>
          <a:xfrm>
            <a:off x="5646420" y="3017520"/>
            <a:ext cx="2411730" cy="86868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 pay</a:t>
            </a:r>
          </a:p>
        </p:txBody>
      </p:sp>
      <p:sp>
        <p:nvSpPr>
          <p:cNvPr id="13" name="Rounded Rectangle 12"/>
          <p:cNvSpPr/>
          <p:nvPr/>
        </p:nvSpPr>
        <p:spPr>
          <a:xfrm>
            <a:off x="8195310" y="3017520"/>
            <a:ext cx="2411730" cy="86868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 what to do if there’s a problem</a:t>
            </a:r>
          </a:p>
        </p:txBody>
      </p:sp>
      <p:sp>
        <p:nvSpPr>
          <p:cNvPr id="14" name="TextBox 13"/>
          <p:cNvSpPr txBox="1"/>
          <p:nvPr/>
        </p:nvSpPr>
        <p:spPr>
          <a:xfrm>
            <a:off x="548640" y="4069080"/>
            <a:ext cx="11094415" cy="365760"/>
          </a:xfrm>
          <a:prstGeom prst="rect">
            <a:avLst/>
          </a:prstGeom>
          <a:noFill/>
        </p:spPr>
        <p:txBody>
          <a:bodyPr wrap="square" anchor="t">
            <a:spAutoFit/>
          </a:bodyPr>
          <a:lstStyle/>
          <a:p>
            <a:pPr algn="l">
              <a:lnSpc>
                <a:spcPct val="115000"/>
              </a:lnSpc>
              <a:spcAft>
                <a:spcPts val="800"/>
              </a:spcAft>
            </a:pPr>
            <a:r>
              <a:rPr sz="1400" b="0">
                <a:solidFill>
                  <a:srgbClr val="5F677A"/>
                </a:solidFill>
                <a:latin typeface="Arial"/>
                <a:ea typeface="Microsoft YaHei"/>
              </a:rPr>
              <a:t>Useful starters 开头句</a:t>
            </a:r>
          </a:p>
        </p:txBody>
      </p:sp>
      <p:sp>
        <p:nvSpPr>
          <p:cNvPr id="15" name="TextBox 14"/>
          <p:cNvSpPr txBox="1"/>
          <p:nvPr/>
        </p:nvSpPr>
        <p:spPr>
          <a:xfrm>
            <a:off x="548640" y="4389120"/>
            <a:ext cx="11094415" cy="100584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 In many countries, employees are entitled to…   💬 Employers must…   💬 You’re allowed to…   💬 If there’s a problem, you can…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“must / have to / be allowed to” 区分义务与许可。</a:t>
            </a:r>
          </a:p>
        </p:txBody>
      </p:sp>
    </p:spTree>
  </p:cSld>
  <p:clrMapOvr>
    <a:masterClrMapping/>
  </p:clrMapOvr>
  <p:transition spd="med">
    <p:fade/>
  </p:transition>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Reading · Knowing your rights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121 words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16 · Lesson 80 The right to rest and other employment laws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280160"/>
            <a:ext cx="11094415" cy="4892040"/>
          </a:xfrm>
          <a:prstGeom prst="roundRect">
            <a:avLst>
              <a:gd name="adj" fmla="val 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 y="1280160"/>
            <a:ext cx="109728" cy="4892040"/>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68680" y="1463040"/>
            <a:ext cx="10545775" cy="4526280"/>
          </a:xfrm>
          <a:prstGeom prst="rect">
            <a:avLst/>
          </a:prstGeom>
          <a:noFill/>
        </p:spPr>
        <p:txBody>
          <a:bodyPr wrap="square" anchor="t">
            <a:spAutoFit/>
          </a:bodyPr>
          <a:lstStyle/>
          <a:p>
            <a:pPr algn="l">
              <a:lnSpc>
                <a:spcPct val="130000"/>
              </a:lnSpc>
              <a:spcAft>
                <a:spcPts val="800"/>
              </a:spcAft>
            </a:pPr>
            <a:r>
              <a:rPr sz="2200" b="0">
                <a:solidFill>
                  <a:srgbClr val="1F2A44"/>
                </a:solidFill>
                <a:latin typeface="Arial"/>
                <a:ea typeface="Microsoft YaHei"/>
              </a:rPr>
              <a:t>Employment laws exist to protect workers and to make the relationship with employers fair. Although rules differ from country to country, many include limits on weekly working hours, minimum rest breaks, paid annual leave, minimum wage and protection against unfair dismissal. Some places have introduced a “right to disconnect”, which means employees cannot be penalised for ignoring work messages outside hours. Employment contracts should explain pay, hours, notice and duties clearly. If a worker believes their rights have been broken, they can start by talking to a manager, then HR, a union or a labour office. Keeping written records of hours, instructions and messages is wise. Employers also benefit from clear rules because they reduce disputes and make staff feel respected.</a:t>
            </a:r>
          </a:p>
        </p:txBody>
      </p:sp>
    </p:spTree>
  </p:cSld>
  <p:clrMapOvr>
    <a:masterClrMapping/>
  </p:clrMapOvr>
  <p:transition spd="med">
    <p:fade/>
  </p:transition>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Check Your Understanding</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Reading</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16 · Lesson 80 The right to rest and other employment laws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Discuss with your team, then answer. Click to check.  小组讨论后抢答，点击核对答案</a:t>
            </a:r>
          </a:p>
        </p:txBody>
      </p:sp>
      <p:sp>
        <p:nvSpPr>
          <p:cNvPr id="9" name="TextBox 8"/>
          <p:cNvSpPr txBox="1"/>
          <p:nvPr/>
        </p:nvSpPr>
        <p:spPr>
          <a:xfrm>
            <a:off x="548640" y="150876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Q1. Name three common worker protections.</a:t>
            </a:r>
          </a:p>
        </p:txBody>
      </p:sp>
      <p:sp>
        <p:nvSpPr>
          <p:cNvPr id="10" name="Rounded Rectangle 9"/>
          <p:cNvSpPr/>
          <p:nvPr/>
        </p:nvSpPr>
        <p:spPr>
          <a:xfrm>
            <a:off x="822960" y="198424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Weekly hour limits, rest breaks, paid leave, minimum wage, unfair dismissal protection.</a:t>
            </a:r>
          </a:p>
        </p:txBody>
      </p:sp>
      <p:sp>
        <p:nvSpPr>
          <p:cNvPr id="11" name="TextBox 10"/>
          <p:cNvSpPr txBox="1"/>
          <p:nvPr/>
        </p:nvSpPr>
        <p:spPr>
          <a:xfrm>
            <a:off x="548640" y="309372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Q2. What is the “right to disconnect”?</a:t>
            </a:r>
          </a:p>
        </p:txBody>
      </p:sp>
      <p:sp>
        <p:nvSpPr>
          <p:cNvPr id="12" name="Rounded Rectangle 11"/>
          <p:cNvSpPr/>
          <p:nvPr/>
        </p:nvSpPr>
        <p:spPr>
          <a:xfrm>
            <a:off x="822960" y="356920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Not being penalised for ignoring work messages outside hours.</a:t>
            </a:r>
          </a:p>
        </p:txBody>
      </p:sp>
      <p:sp>
        <p:nvSpPr>
          <p:cNvPr id="13" name="TextBox 12"/>
          <p:cNvSpPr txBox="1"/>
          <p:nvPr/>
        </p:nvSpPr>
        <p:spPr>
          <a:xfrm>
            <a:off x="548640" y="4678680"/>
            <a:ext cx="10820095" cy="457200"/>
          </a:xfrm>
          <a:prstGeom prst="rect">
            <a:avLst/>
          </a:prstGeom>
          <a:noFill/>
        </p:spPr>
        <p:txBody>
          <a:bodyPr wrap="square" anchor="t">
            <a:spAutoFit/>
          </a:bodyPr>
          <a:lstStyle/>
          <a:p>
            <a:pPr algn="l">
              <a:lnSpc>
                <a:spcPct val="115000"/>
              </a:lnSpc>
              <a:spcAft>
                <a:spcPts val="800"/>
              </a:spcAft>
            </a:pPr>
            <a:r>
              <a:rPr sz="2000" b="1">
                <a:solidFill>
                  <a:srgbClr val="1F2A44"/>
                </a:solidFill>
                <a:latin typeface="Arial"/>
                <a:ea typeface="Microsoft YaHei"/>
              </a:rPr>
              <a:t>Q3. What should a worker do if their rights seem broken?</a:t>
            </a:r>
          </a:p>
        </p:txBody>
      </p:sp>
      <p:sp>
        <p:nvSpPr>
          <p:cNvPr id="14" name="Rounded Rectangle 13"/>
          <p:cNvSpPr/>
          <p:nvPr/>
        </p:nvSpPr>
        <p:spPr>
          <a:xfrm>
            <a:off x="822960" y="5154168"/>
            <a:ext cx="10545775" cy="990600"/>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700" b="1">
                <a:solidFill>
                  <a:srgbClr val="1F2A44"/>
                </a:solidFill>
                <a:latin typeface="Arial"/>
                <a:ea typeface="Microsoft YaHei"/>
              </a:rPr>
              <a:t>✅ Talk to a manager, HR, a union or a labour office, and keep records.</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1: Rights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16 · Lesson 80 The right to rest and other employment laws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权利</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employment contract</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劳动合同</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“Read your employment contract.”</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minimum wage</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最低工资</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minimum wage is rising.”</a:t>
            </a:r>
          </a:p>
        </p:txBody>
      </p:sp>
      <p:sp>
        <p:nvSpPr>
          <p:cNvPr id="19" name="Rounded Rectangle 18"/>
          <p:cNvSpPr/>
          <p:nvPr/>
        </p:nvSpPr>
        <p:spPr>
          <a:xfrm>
            <a:off x="548640" y="28244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working hours</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工作时间</a:t>
            </a:r>
          </a:p>
        </p:txBody>
      </p:sp>
      <p:sp>
        <p:nvSpPr>
          <p:cNvPr id="23" name="TextBox 22"/>
          <p:cNvSpPr txBox="1"/>
          <p:nvPr/>
        </p:nvSpPr>
        <p:spPr>
          <a:xfrm>
            <a:off x="6675120" y="28702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“Working hours are limited by law.”</a:t>
            </a:r>
          </a:p>
        </p:txBody>
      </p:sp>
      <p:sp>
        <p:nvSpPr>
          <p:cNvPr id="24" name="Rounded Rectangle 23"/>
          <p:cNvSpPr/>
          <p:nvPr/>
        </p:nvSpPr>
        <p:spPr>
          <a:xfrm>
            <a:off x="548640" y="352806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528060"/>
            <a:ext cx="91440" cy="9352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573780"/>
            <a:ext cx="3429000" cy="8712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the right to disconnect</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57378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下班断联权</a:t>
            </a:r>
          </a:p>
        </p:txBody>
      </p:sp>
      <p:sp>
        <p:nvSpPr>
          <p:cNvPr id="28" name="TextBox 27"/>
          <p:cNvSpPr txBox="1"/>
          <p:nvPr/>
        </p:nvSpPr>
        <p:spPr>
          <a:xfrm>
            <a:off x="6675120" y="357378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right to disconnect protects rest.”</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unfair dismissal</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不公平解雇</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claimed unfair dismissal.”</a:t>
            </a:r>
          </a:p>
        </p:txBody>
      </p:sp>
    </p:spTree>
  </p:cSld>
  <p:clrMapOvr>
    <a:masterClrMapping/>
  </p:clrMapOvr>
  <p:transition spd="med">
    <p:fade/>
  </p:transition>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2: Rest and pay</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16 · Lesson 80 The right to rest and other employment laws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休息与薪酬</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rest break</a:t>
            </a:r>
          </a:p>
          <a:p>
            <a:pPr algn="l">
              <a:lnSpc>
                <a:spcPct val="115000"/>
              </a:lnSpc>
              <a:spcAft>
                <a:spcPts val="800"/>
              </a:spcAft>
            </a:pPr>
            <a:r>
              <a:rPr sz="1300" b="0">
                <a:solidFill>
                  <a:srgbClr val="5F677A"/>
                </a:solidFill>
                <a:latin typeface="Arial"/>
                <a:ea typeface="Microsoft YaHei"/>
              </a:rPr>
              <a:t>noun</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休息时间</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“You’re entitled to a rest break.”</a:t>
            </a:r>
          </a:p>
        </p:txBody>
      </p:sp>
      <p:sp>
        <p:nvSpPr>
          <p:cNvPr id="14" name="Rounded Rectangle 13"/>
          <p:cNvSpPr/>
          <p:nvPr/>
        </p:nvSpPr>
        <p:spPr>
          <a:xfrm>
            <a:off x="548640" y="212090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9352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annual leave / paid holiday</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年假</a:t>
            </a:r>
          </a:p>
        </p:txBody>
      </p:sp>
      <p:sp>
        <p:nvSpPr>
          <p:cNvPr id="18" name="TextBox 17"/>
          <p:cNvSpPr txBox="1"/>
          <p:nvPr/>
        </p:nvSpPr>
        <p:spPr>
          <a:xfrm>
            <a:off x="6675120" y="216662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“We get 25 days’ annual leave.”</a:t>
            </a:r>
          </a:p>
        </p:txBody>
      </p:sp>
      <p:sp>
        <p:nvSpPr>
          <p:cNvPr id="19" name="Rounded Rectangle 18"/>
          <p:cNvSpPr/>
          <p:nvPr/>
        </p:nvSpPr>
        <p:spPr>
          <a:xfrm>
            <a:off x="548640" y="312928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3129280"/>
            <a:ext cx="91440" cy="6304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317500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sick pay</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317500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病假工资</a:t>
            </a:r>
          </a:p>
        </p:txBody>
      </p:sp>
      <p:sp>
        <p:nvSpPr>
          <p:cNvPr id="23" name="TextBox 22"/>
          <p:cNvSpPr txBox="1"/>
          <p:nvPr/>
        </p:nvSpPr>
        <p:spPr>
          <a:xfrm>
            <a:off x="6675120" y="317500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“Sick pay starts on day four.”</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overtime pay</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加班费</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“Overtime pay is time and a half.”</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notice period</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通知期</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“My notice period is one month.”</a:t>
            </a:r>
          </a:p>
        </p:txBody>
      </p:sp>
    </p:spTree>
  </p:cSld>
  <p:clrMapOvr>
    <a:masterClrMapping/>
  </p:clrMapOvr>
  <p:transition spd="med">
    <p:fade/>
  </p:transition>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Chunk 3: Problems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16 · Lesson 80 The right to rest and other employment laws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问题处理</a:t>
            </a:r>
          </a:p>
        </p:txBody>
      </p:sp>
      <p:sp>
        <p:nvSpPr>
          <p:cNvPr id="9" name="Rounded Rectangle 8"/>
          <p:cNvSpPr/>
          <p:nvPr/>
        </p:nvSpPr>
        <p:spPr>
          <a:xfrm>
            <a:off x="548640" y="141732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6304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31520" y="146304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breach (of contract)</a:t>
            </a:r>
          </a:p>
          <a:p>
            <a:pPr algn="l">
              <a:lnSpc>
                <a:spcPct val="115000"/>
              </a:lnSpc>
              <a:spcAft>
                <a:spcPts val="800"/>
              </a:spcAft>
            </a:pPr>
            <a:r>
              <a:rPr sz="1300" b="0">
                <a:solidFill>
                  <a:srgbClr val="5F677A"/>
                </a:solidFill>
                <a:latin typeface="Arial"/>
                <a:ea typeface="Microsoft YaHei"/>
              </a:rPr>
              <a:t>noun/verb</a:t>
            </a:r>
          </a:p>
        </p:txBody>
      </p:sp>
      <p:sp>
        <p:nvSpPr>
          <p:cNvPr id="12" name="TextBox 11"/>
          <p:cNvSpPr txBox="1"/>
          <p:nvPr/>
        </p:nvSpPr>
        <p:spPr>
          <a:xfrm>
            <a:off x="4206240" y="146304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违反</a:t>
            </a:r>
          </a:p>
        </p:txBody>
      </p:sp>
      <p:sp>
        <p:nvSpPr>
          <p:cNvPr id="13" name="TextBox 12"/>
          <p:cNvSpPr txBox="1"/>
          <p:nvPr/>
        </p:nvSpPr>
        <p:spPr>
          <a:xfrm>
            <a:off x="6675120" y="146304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“That’s a breach of contract.”</a:t>
            </a:r>
          </a:p>
        </p:txBody>
      </p:sp>
      <p:sp>
        <p:nvSpPr>
          <p:cNvPr id="14" name="Rounded Rectangle 13"/>
          <p:cNvSpPr/>
          <p:nvPr/>
        </p:nvSpPr>
        <p:spPr>
          <a:xfrm>
            <a:off x="548640" y="212090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2120900"/>
            <a:ext cx="91440" cy="6304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2166620"/>
            <a:ext cx="3429000" cy="5664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grievance</a:t>
            </a:r>
          </a:p>
          <a:p>
            <a:pPr algn="l">
              <a:lnSpc>
                <a:spcPct val="115000"/>
              </a:lnSpc>
              <a:spcAft>
                <a:spcPts val="800"/>
              </a:spcAft>
            </a:pPr>
            <a:r>
              <a:rPr sz="1300" b="0">
                <a:solidFill>
                  <a:srgbClr val="5F677A"/>
                </a:solidFill>
                <a:latin typeface="Arial"/>
                <a:ea typeface="Microsoft YaHei"/>
              </a:rPr>
              <a:t>noun</a:t>
            </a:r>
          </a:p>
        </p:txBody>
      </p:sp>
      <p:sp>
        <p:nvSpPr>
          <p:cNvPr id="17" name="TextBox 16"/>
          <p:cNvSpPr txBox="1"/>
          <p:nvPr/>
        </p:nvSpPr>
        <p:spPr>
          <a:xfrm>
            <a:off x="4206240" y="216662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申诉</a:t>
            </a:r>
          </a:p>
        </p:txBody>
      </p:sp>
      <p:sp>
        <p:nvSpPr>
          <p:cNvPr id="18" name="TextBox 17"/>
          <p:cNvSpPr txBox="1"/>
          <p:nvPr/>
        </p:nvSpPr>
        <p:spPr>
          <a:xfrm>
            <a:off x="6675120" y="216662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“She raised a grievance.”</a:t>
            </a:r>
          </a:p>
        </p:txBody>
      </p:sp>
      <p:sp>
        <p:nvSpPr>
          <p:cNvPr id="19" name="Rounded Rectangle 18"/>
          <p:cNvSpPr/>
          <p:nvPr/>
        </p:nvSpPr>
        <p:spPr>
          <a:xfrm>
            <a:off x="548640" y="2824480"/>
            <a:ext cx="11094415" cy="9352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48640" y="2824480"/>
            <a:ext cx="91440" cy="9352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1520" y="2870200"/>
            <a:ext cx="3429000" cy="871220"/>
          </a:xfrm>
          <a:prstGeom prst="rect">
            <a:avLst/>
          </a:prstGeom>
          <a:noFill/>
        </p:spPr>
        <p:txBody>
          <a:bodyPr wrap="square" anchor="ctr">
            <a:spAutoFit/>
          </a:bodyPr>
          <a:lstStyle/>
          <a:p>
            <a:pPr algn="l">
              <a:lnSpc>
                <a:spcPct val="115000"/>
              </a:lnSpc>
              <a:spcAft>
                <a:spcPts val="200"/>
              </a:spcAft>
            </a:pPr>
            <a:r>
              <a:rPr sz="2000" b="1">
                <a:solidFill>
                  <a:srgbClr val="1F2A44"/>
                </a:solidFill>
                <a:latin typeface="Arial"/>
                <a:ea typeface="Microsoft YaHei"/>
              </a:rPr>
              <a:t>trade union / labour union</a:t>
            </a:r>
          </a:p>
          <a:p>
            <a:pPr algn="l">
              <a:lnSpc>
                <a:spcPct val="115000"/>
              </a:lnSpc>
              <a:spcAft>
                <a:spcPts val="800"/>
              </a:spcAft>
            </a:pPr>
            <a:r>
              <a:rPr sz="1300" b="0">
                <a:solidFill>
                  <a:srgbClr val="5F677A"/>
                </a:solidFill>
                <a:latin typeface="Arial"/>
                <a:ea typeface="Microsoft YaHei"/>
              </a:rPr>
              <a:t>noun</a:t>
            </a:r>
          </a:p>
        </p:txBody>
      </p:sp>
      <p:sp>
        <p:nvSpPr>
          <p:cNvPr id="22" name="TextBox 21"/>
          <p:cNvSpPr txBox="1"/>
          <p:nvPr/>
        </p:nvSpPr>
        <p:spPr>
          <a:xfrm>
            <a:off x="4206240" y="2870200"/>
            <a:ext cx="2377440" cy="8712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工会</a:t>
            </a:r>
          </a:p>
        </p:txBody>
      </p:sp>
      <p:sp>
        <p:nvSpPr>
          <p:cNvPr id="23" name="TextBox 22"/>
          <p:cNvSpPr txBox="1"/>
          <p:nvPr/>
        </p:nvSpPr>
        <p:spPr>
          <a:xfrm>
            <a:off x="6675120" y="2870200"/>
            <a:ext cx="4846320" cy="8712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“Join a trade union.”</a:t>
            </a:r>
          </a:p>
        </p:txBody>
      </p:sp>
      <p:sp>
        <p:nvSpPr>
          <p:cNvPr id="24" name="Rounded Rectangle 23"/>
          <p:cNvSpPr/>
          <p:nvPr/>
        </p:nvSpPr>
        <p:spPr>
          <a:xfrm>
            <a:off x="548640" y="383286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3286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731520" y="387858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compensation</a:t>
            </a:r>
          </a:p>
          <a:p>
            <a:pPr algn="l">
              <a:lnSpc>
                <a:spcPct val="115000"/>
              </a:lnSpc>
              <a:spcAft>
                <a:spcPts val="800"/>
              </a:spcAft>
            </a:pPr>
            <a:r>
              <a:rPr sz="1300" b="0">
                <a:solidFill>
                  <a:srgbClr val="5F677A"/>
                </a:solidFill>
                <a:latin typeface="Arial"/>
                <a:ea typeface="Microsoft YaHei"/>
              </a:rPr>
              <a:t>noun</a:t>
            </a:r>
          </a:p>
        </p:txBody>
      </p:sp>
      <p:sp>
        <p:nvSpPr>
          <p:cNvPr id="27" name="TextBox 26"/>
          <p:cNvSpPr txBox="1"/>
          <p:nvPr/>
        </p:nvSpPr>
        <p:spPr>
          <a:xfrm>
            <a:off x="4206240" y="387858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赔偿</a:t>
            </a:r>
          </a:p>
        </p:txBody>
      </p:sp>
      <p:sp>
        <p:nvSpPr>
          <p:cNvPr id="28" name="TextBox 27"/>
          <p:cNvSpPr txBox="1"/>
          <p:nvPr/>
        </p:nvSpPr>
        <p:spPr>
          <a:xfrm>
            <a:off x="6675120" y="387858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“He received compensation.”</a:t>
            </a:r>
          </a:p>
        </p:txBody>
      </p:sp>
      <p:sp>
        <p:nvSpPr>
          <p:cNvPr id="29" name="Rounded Rectangle 28"/>
          <p:cNvSpPr/>
          <p:nvPr/>
        </p:nvSpPr>
        <p:spPr>
          <a:xfrm>
            <a:off x="548640" y="4536440"/>
            <a:ext cx="11094415" cy="630428"/>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548640" y="4536440"/>
            <a:ext cx="91440" cy="6304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731520" y="4582160"/>
            <a:ext cx="3429000" cy="566420"/>
          </a:xfrm>
          <a:prstGeom prst="rect">
            <a:avLst/>
          </a:prstGeom>
          <a:noFill/>
        </p:spPr>
        <p:txBody>
          <a:bodyPr wrap="square" anchor="ctr">
            <a:spAutoFit/>
          </a:bodyPr>
          <a:lstStyle/>
          <a:p>
            <a:pPr algn="l">
              <a:lnSpc>
                <a:spcPct val="115000"/>
              </a:lnSpc>
              <a:spcAft>
                <a:spcPts val="200"/>
              </a:spcAft>
            </a:pPr>
            <a:r>
              <a:rPr sz="2000" b="1">
                <a:solidFill>
                  <a:srgbClr val="9B6BE0"/>
                </a:solidFill>
                <a:latin typeface="Arial"/>
                <a:ea typeface="Microsoft YaHei"/>
              </a:rPr>
              <a:t>★ tribunal</a:t>
            </a:r>
          </a:p>
          <a:p>
            <a:pPr algn="l">
              <a:lnSpc>
                <a:spcPct val="115000"/>
              </a:lnSpc>
              <a:spcAft>
                <a:spcPts val="800"/>
              </a:spcAft>
            </a:pPr>
            <a:r>
              <a:rPr sz="1300" b="0">
                <a:solidFill>
                  <a:srgbClr val="5F677A"/>
                </a:solidFill>
                <a:latin typeface="Arial"/>
                <a:ea typeface="Microsoft YaHei"/>
              </a:rPr>
              <a:t>noun</a:t>
            </a:r>
          </a:p>
        </p:txBody>
      </p:sp>
      <p:sp>
        <p:nvSpPr>
          <p:cNvPr id="32" name="TextBox 31"/>
          <p:cNvSpPr txBox="1"/>
          <p:nvPr/>
        </p:nvSpPr>
        <p:spPr>
          <a:xfrm>
            <a:off x="4206240" y="4582160"/>
            <a:ext cx="2377440" cy="566420"/>
          </a:xfrm>
          <a:prstGeom prst="rect">
            <a:avLst/>
          </a:prstGeom>
          <a:noFill/>
        </p:spPr>
        <p:txBody>
          <a:bodyPr wrap="square" anchor="ctr">
            <a:spAutoFit/>
          </a:bodyPr>
          <a:lstStyle/>
          <a:p>
            <a:pPr algn="l">
              <a:lnSpc>
                <a:spcPct val="115000"/>
              </a:lnSpc>
              <a:spcAft>
                <a:spcPts val="800"/>
              </a:spcAft>
            </a:pPr>
            <a:r>
              <a:rPr sz="1700" b="1">
                <a:solidFill>
                  <a:srgbClr val="FF6B5B"/>
                </a:solidFill>
                <a:latin typeface="Arial"/>
                <a:ea typeface="Microsoft YaHei"/>
              </a:rPr>
              <a:t>劳动仲裁庭</a:t>
            </a:r>
          </a:p>
        </p:txBody>
      </p:sp>
      <p:sp>
        <p:nvSpPr>
          <p:cNvPr id="33" name="TextBox 32"/>
          <p:cNvSpPr txBox="1"/>
          <p:nvPr/>
        </p:nvSpPr>
        <p:spPr>
          <a:xfrm>
            <a:off x="6675120" y="4582160"/>
            <a:ext cx="4846320" cy="566420"/>
          </a:xfrm>
          <a:prstGeom prst="rect">
            <a:avLst/>
          </a:prstGeom>
          <a:noFill/>
        </p:spPr>
        <p:txBody>
          <a:bodyPr wrap="square" anchor="ctr">
            <a:spAutoFit/>
          </a:bodyPr>
          <a:lstStyle/>
          <a:p>
            <a:pPr algn="l">
              <a:lnSpc>
                <a:spcPct val="115000"/>
              </a:lnSpc>
              <a:spcAft>
                <a:spcPts val="800"/>
              </a:spcAft>
            </a:pPr>
            <a:r>
              <a:rPr sz="1700" b="0" i="1">
                <a:solidFill>
                  <a:srgbClr val="1F2A44"/>
                </a:solidFill>
                <a:latin typeface="Arial"/>
                <a:ea typeface="Microsoft YaHei"/>
              </a:rPr>
              <a:t>“The case went to a tribunal.”</a:t>
            </a:r>
          </a:p>
        </p:txBody>
      </p:sp>
    </p:spTree>
  </p:cSld>
  <p:clrMapOvr>
    <a:masterClrMapping/>
  </p:clrMapOvr>
  <p:transition spd="med">
    <p:fade/>
  </p:transition>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Speed Round: Say it in English!</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16 · Lesson 80 The right to rest and other employment laws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Read the Chinese, shout the English expression! Click to reveal.  看中文，抢答英文表达</a:t>
            </a:r>
          </a:p>
        </p:txBody>
      </p:sp>
      <p:sp>
        <p:nvSpPr>
          <p:cNvPr id="9" name="Rounded Rectangle 8"/>
          <p:cNvSpPr/>
          <p:nvPr/>
        </p:nvSpPr>
        <p:spPr>
          <a:xfrm>
            <a:off x="548640" y="155448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工会</a:t>
            </a:r>
          </a:p>
        </p:txBody>
      </p:sp>
      <p:sp>
        <p:nvSpPr>
          <p:cNvPr id="11" name="Rounded Rectangle 10"/>
          <p:cNvSpPr/>
          <p:nvPr/>
        </p:nvSpPr>
        <p:spPr>
          <a:xfrm>
            <a:off x="685800" y="265176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trade union / labour union</a:t>
            </a:r>
          </a:p>
        </p:txBody>
      </p:sp>
      <p:sp>
        <p:nvSpPr>
          <p:cNvPr id="12" name="Rounded Rectangle 11"/>
          <p:cNvSpPr/>
          <p:nvPr/>
        </p:nvSpPr>
        <p:spPr>
          <a:xfrm>
            <a:off x="3367963" y="155448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459403"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劳动仲裁庭</a:t>
            </a:r>
          </a:p>
        </p:txBody>
      </p:sp>
      <p:sp>
        <p:nvSpPr>
          <p:cNvPr id="14" name="Rounded Rectangle 13"/>
          <p:cNvSpPr/>
          <p:nvPr/>
        </p:nvSpPr>
        <p:spPr>
          <a:xfrm>
            <a:off x="3505123" y="265176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tribunal</a:t>
            </a:r>
          </a:p>
        </p:txBody>
      </p:sp>
      <p:sp>
        <p:nvSpPr>
          <p:cNvPr id="15" name="Rounded Rectangle 14"/>
          <p:cNvSpPr/>
          <p:nvPr/>
        </p:nvSpPr>
        <p:spPr>
          <a:xfrm>
            <a:off x="6187286" y="155448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278726"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年假</a:t>
            </a:r>
          </a:p>
        </p:txBody>
      </p:sp>
      <p:sp>
        <p:nvSpPr>
          <p:cNvPr id="17" name="Rounded Rectangle 16"/>
          <p:cNvSpPr/>
          <p:nvPr/>
        </p:nvSpPr>
        <p:spPr>
          <a:xfrm>
            <a:off x="6324446" y="265176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annual leave / paid holiday</a:t>
            </a:r>
          </a:p>
        </p:txBody>
      </p:sp>
      <p:sp>
        <p:nvSpPr>
          <p:cNvPr id="18" name="Rounded Rectangle 17"/>
          <p:cNvSpPr/>
          <p:nvPr/>
        </p:nvSpPr>
        <p:spPr>
          <a:xfrm>
            <a:off x="9006609" y="1554480"/>
            <a:ext cx="2636443" cy="2148840"/>
          </a:xfrm>
          <a:prstGeom prst="roundRect">
            <a:avLst>
              <a:gd name="adj" fmla="val 10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98049" y="169164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最低工资</a:t>
            </a:r>
          </a:p>
        </p:txBody>
      </p:sp>
      <p:sp>
        <p:nvSpPr>
          <p:cNvPr id="20" name="Rounded Rectangle 19"/>
          <p:cNvSpPr/>
          <p:nvPr/>
        </p:nvSpPr>
        <p:spPr>
          <a:xfrm>
            <a:off x="9143769" y="2651760"/>
            <a:ext cx="2362123" cy="914400"/>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minimum wage</a:t>
            </a:r>
          </a:p>
        </p:txBody>
      </p:sp>
      <p:sp>
        <p:nvSpPr>
          <p:cNvPr id="21" name="Rounded Rectangle 20"/>
          <p:cNvSpPr/>
          <p:nvPr/>
        </p:nvSpPr>
        <p:spPr>
          <a:xfrm>
            <a:off x="548640" y="3886200"/>
            <a:ext cx="2636443" cy="2148840"/>
          </a:xfrm>
          <a:prstGeom prst="roundRect">
            <a:avLst>
              <a:gd name="adj" fmla="val 10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赔偿</a:t>
            </a:r>
          </a:p>
        </p:txBody>
      </p:sp>
      <p:sp>
        <p:nvSpPr>
          <p:cNvPr id="23" name="Rounded Rectangle 22"/>
          <p:cNvSpPr/>
          <p:nvPr/>
        </p:nvSpPr>
        <p:spPr>
          <a:xfrm>
            <a:off x="685800" y="4983480"/>
            <a:ext cx="2362123" cy="914400"/>
          </a:xfrm>
          <a:prstGeom prst="roundRect">
            <a:avLst>
              <a:gd name="adj" fmla="val 2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compensation</a:t>
            </a:r>
          </a:p>
        </p:txBody>
      </p:sp>
      <p:sp>
        <p:nvSpPr>
          <p:cNvPr id="24" name="Rounded Rectangle 23"/>
          <p:cNvSpPr/>
          <p:nvPr/>
        </p:nvSpPr>
        <p:spPr>
          <a:xfrm>
            <a:off x="3367963" y="3886200"/>
            <a:ext cx="2636443" cy="2148840"/>
          </a:xfrm>
          <a:prstGeom prst="roundRect">
            <a:avLst>
              <a:gd name="adj" fmla="val 10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459403"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违反</a:t>
            </a:r>
          </a:p>
        </p:txBody>
      </p:sp>
      <p:sp>
        <p:nvSpPr>
          <p:cNvPr id="26" name="Rounded Rectangle 25"/>
          <p:cNvSpPr/>
          <p:nvPr/>
        </p:nvSpPr>
        <p:spPr>
          <a:xfrm>
            <a:off x="3505123" y="4983480"/>
            <a:ext cx="2362123" cy="914400"/>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breach (of contract)</a:t>
            </a:r>
          </a:p>
        </p:txBody>
      </p:sp>
      <p:sp>
        <p:nvSpPr>
          <p:cNvPr id="27" name="Rounded Rectangle 26"/>
          <p:cNvSpPr/>
          <p:nvPr/>
        </p:nvSpPr>
        <p:spPr>
          <a:xfrm>
            <a:off x="6187286" y="3886200"/>
            <a:ext cx="2636443" cy="2148840"/>
          </a:xfrm>
          <a:prstGeom prst="roundRect">
            <a:avLst>
              <a:gd name="adj" fmla="val 10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278726"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通知期</a:t>
            </a:r>
          </a:p>
        </p:txBody>
      </p:sp>
      <p:sp>
        <p:nvSpPr>
          <p:cNvPr id="29" name="Rounded Rectangle 28"/>
          <p:cNvSpPr/>
          <p:nvPr/>
        </p:nvSpPr>
        <p:spPr>
          <a:xfrm>
            <a:off x="6324446" y="4983480"/>
            <a:ext cx="2362123" cy="914400"/>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notice period</a:t>
            </a:r>
          </a:p>
        </p:txBody>
      </p:sp>
      <p:sp>
        <p:nvSpPr>
          <p:cNvPr id="30" name="Rounded Rectangle 29"/>
          <p:cNvSpPr/>
          <p:nvPr/>
        </p:nvSpPr>
        <p:spPr>
          <a:xfrm>
            <a:off x="9006609" y="3886200"/>
            <a:ext cx="2636443" cy="2148840"/>
          </a:xfrm>
          <a:prstGeom prst="roundRect">
            <a:avLst>
              <a:gd name="adj" fmla="val 10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9098049" y="4023360"/>
            <a:ext cx="2453563" cy="868680"/>
          </a:xfrm>
          <a:prstGeom prst="rect">
            <a:avLst/>
          </a:prstGeom>
          <a:noFill/>
        </p:spPr>
        <p:txBody>
          <a:bodyPr wrap="square" anchor="ctr">
            <a:spAutoFit/>
          </a:bodyPr>
          <a:lstStyle/>
          <a:p>
            <a:pPr algn="ctr">
              <a:lnSpc>
                <a:spcPct val="115000"/>
              </a:lnSpc>
              <a:spcAft>
                <a:spcPts val="800"/>
              </a:spcAft>
            </a:pPr>
            <a:r>
              <a:rPr sz="2400" b="1">
                <a:solidFill>
                  <a:srgbClr val="1F2A44"/>
                </a:solidFill>
                <a:latin typeface="Arial"/>
                <a:ea typeface="Microsoft YaHei"/>
              </a:rPr>
              <a:t>下班断联权</a:t>
            </a:r>
          </a:p>
        </p:txBody>
      </p:sp>
      <p:sp>
        <p:nvSpPr>
          <p:cNvPr id="32" name="Rounded Rectangle 31"/>
          <p:cNvSpPr/>
          <p:nvPr/>
        </p:nvSpPr>
        <p:spPr>
          <a:xfrm>
            <a:off x="9143769" y="4983480"/>
            <a:ext cx="2362123" cy="91440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the right to disconnect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1"/>
                                        </p:tgtEl>
                                        <p:attrNameLst>
                                          <p:attrName>style.visibility</p:attrName>
                                        </p:attrNameLst>
                                      </p:cBhvr>
                                      <p:to>
                                        <p:strVal val="visible"/>
                                      </p:to>
                                    </p:set>
                                    <p:animEffect transition="in" filter="fade">
                                      <p:cBhvr>
                                        <p:cTn id="4" dur="400"/>
                                        <p:tgtEl>
                                          <p:spTgt spid="1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4"/>
                                        </p:tgtEl>
                                        <p:attrNameLst>
                                          <p:attrName>style.visibility</p:attrName>
                                        </p:attrNameLst>
                                      </p:cBhvr>
                                      <p:to>
                                        <p:strVal val="visible"/>
                                      </p:to>
                                    </p:set>
                                    <p:animEffect transition="in" filter="fade">
                                      <p:cBhvr>
                                        <p:cTn id="9" dur="400"/>
                                        <p:tgtEl>
                                          <p:spTgt spid="14"/>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7"/>
                                        </p:tgtEl>
                                        <p:attrNameLst>
                                          <p:attrName>style.visibility</p:attrName>
                                        </p:attrNameLst>
                                      </p:cBhvr>
                                      <p:to>
                                        <p:strVal val="visible"/>
                                      </p:to>
                                    </p:set>
                                    <p:animEffect transition="in" filter="fade">
                                      <p:cBhvr>
                                        <p:cTn id="14" dur="400"/>
                                        <p:tgtEl>
                                          <p:spTgt spid="17"/>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0"/>
                                        </p:tgtEl>
                                        <p:attrNameLst>
                                          <p:attrName>style.visibility</p:attrName>
                                        </p:attrNameLst>
                                      </p:cBhvr>
                                      <p:to>
                                        <p:strVal val="visible"/>
                                      </p:to>
                                    </p:set>
                                    <p:animEffect transition="in" filter="fade">
                                      <p:cBhvr>
                                        <p:cTn id="19" dur="400"/>
                                        <p:tgtEl>
                                          <p:spTgt spid="20"/>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3"/>
                                        </p:tgtEl>
                                        <p:attrNameLst>
                                          <p:attrName>style.visibility</p:attrName>
                                        </p:attrNameLst>
                                      </p:cBhvr>
                                      <p:to>
                                        <p:strVal val="visible"/>
                                      </p:to>
                                    </p:set>
                                    <p:animEffect transition="in" filter="fade">
                                      <p:cBhvr>
                                        <p:cTn id="24" dur="400"/>
                                        <p:tgtEl>
                                          <p:spTgt spid="23"/>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26"/>
                                        </p:tgtEl>
                                        <p:attrNameLst>
                                          <p:attrName>style.visibility</p:attrName>
                                        </p:attrNameLst>
                                      </p:cBhvr>
                                      <p:to>
                                        <p:strVal val="visible"/>
                                      </p:to>
                                    </p:set>
                                    <p:animEffect transition="in" filter="fade">
                                      <p:cBhvr>
                                        <p:cTn id="29" dur="400"/>
                                        <p:tgtEl>
                                          <p:spTgt spid="26"/>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29"/>
                                        </p:tgtEl>
                                        <p:attrNameLst>
                                          <p:attrName>style.visibility</p:attrName>
                                        </p:attrNameLst>
                                      </p:cBhvr>
                                      <p:to>
                                        <p:strVal val="visible"/>
                                      </p:to>
                                    </p:set>
                                    <p:animEffect transition="in" filter="fade">
                                      <p:cBhvr>
                                        <p:cTn id="34" dur="400"/>
                                        <p:tgtEl>
                                          <p:spTgt spid="29"/>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32"/>
                                        </p:tgtEl>
                                        <p:attrNameLst>
                                          <p:attrName>style.visibility</p:attrName>
                                        </p:attrNameLst>
                                      </p:cBhvr>
                                      <p:to>
                                        <p:strVal val="visible"/>
                                      </p:to>
                                    </p:set>
                                    <p:animEffect transition="in" filter="fade">
                                      <p:cBhvr>
                                        <p:cTn id="3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Mini Quiz: Fill in the Blanks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02 Vocabulary 词汇</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16 · Lesson 80 The right to rest and other employment laws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39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463040" cy="457200"/>
          </a:xfrm>
          <a:prstGeom prst="rect">
            <a:avLst/>
          </a:prstGeom>
          <a:noFill/>
        </p:spPr>
        <p:txBody>
          <a:bodyPr wrap="square" anchor="ctr">
            <a:spAutoFit/>
          </a:bodyPr>
          <a:lstStyle/>
          <a:p>
            <a:pPr algn="l">
              <a:lnSpc>
                <a:spcPct val="115000"/>
              </a:lnSpc>
              <a:spcAft>
                <a:spcPts val="800"/>
              </a:spcAft>
            </a:pPr>
            <a:r>
              <a:rPr sz="1400" b="0">
                <a:solidFill>
                  <a:srgbClr val="5F677A"/>
                </a:solidFill>
                <a:latin typeface="Arial"/>
                <a:ea typeface="Microsoft YaHei"/>
              </a:rPr>
              <a:t>Word bank</a:t>
            </a:r>
          </a:p>
        </p:txBody>
      </p:sp>
      <p:sp>
        <p:nvSpPr>
          <p:cNvPr id="9" name="Rounded Rectangle 8"/>
          <p:cNvSpPr/>
          <p:nvPr/>
        </p:nvSpPr>
        <p:spPr>
          <a:xfrm>
            <a:off x="2011680" y="987552"/>
            <a:ext cx="1243584"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contract</a:t>
            </a:r>
          </a:p>
        </p:txBody>
      </p:sp>
      <p:sp>
        <p:nvSpPr>
          <p:cNvPr id="10" name="Rounded Rectangle 9"/>
          <p:cNvSpPr/>
          <p:nvPr/>
        </p:nvSpPr>
        <p:spPr>
          <a:xfrm>
            <a:off x="3346704" y="987552"/>
            <a:ext cx="1133856" cy="41148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minimum</a:t>
            </a:r>
          </a:p>
        </p:txBody>
      </p:sp>
      <p:sp>
        <p:nvSpPr>
          <p:cNvPr id="11" name="Rounded Rectangle 10"/>
          <p:cNvSpPr/>
          <p:nvPr/>
        </p:nvSpPr>
        <p:spPr>
          <a:xfrm>
            <a:off x="4572000" y="987552"/>
            <a:ext cx="914400" cy="41148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break</a:t>
            </a:r>
          </a:p>
        </p:txBody>
      </p:sp>
      <p:sp>
        <p:nvSpPr>
          <p:cNvPr id="12" name="Rounded Rectangle 11"/>
          <p:cNvSpPr/>
          <p:nvPr/>
        </p:nvSpPr>
        <p:spPr>
          <a:xfrm>
            <a:off x="5577840" y="987552"/>
            <a:ext cx="1024128" cy="411480"/>
          </a:xfrm>
          <a:prstGeom prst="roundRect">
            <a:avLst>
              <a:gd name="adj" fmla="val 5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notice</a:t>
            </a:r>
          </a:p>
        </p:txBody>
      </p:sp>
      <p:sp>
        <p:nvSpPr>
          <p:cNvPr id="13" name="Rounded Rectangle 12"/>
          <p:cNvSpPr/>
          <p:nvPr/>
        </p:nvSpPr>
        <p:spPr>
          <a:xfrm>
            <a:off x="6693408" y="987552"/>
            <a:ext cx="1353312" cy="411480"/>
          </a:xfrm>
          <a:prstGeom prst="roundRect">
            <a:avLst>
              <a:gd name="adj" fmla="val 50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grievance</a:t>
            </a:r>
          </a:p>
        </p:txBody>
      </p:sp>
      <p:sp>
        <p:nvSpPr>
          <p:cNvPr id="14" name="Rounded Rectangle 13"/>
          <p:cNvSpPr/>
          <p:nvPr/>
        </p:nvSpPr>
        <p:spPr>
          <a:xfrm>
            <a:off x="8138160" y="987552"/>
            <a:ext cx="914400" cy="41148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union</a:t>
            </a:r>
          </a:p>
        </p:txBody>
      </p:sp>
      <p:sp>
        <p:nvSpPr>
          <p:cNvPr id="15" name="Rounded Rectangle 14"/>
          <p:cNvSpPr/>
          <p:nvPr/>
        </p:nvSpPr>
        <p:spPr>
          <a:xfrm>
            <a:off x="548640" y="16002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16002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1.  Read your employment _______ carefully.</a:t>
            </a:r>
          </a:p>
        </p:txBody>
      </p:sp>
      <p:sp>
        <p:nvSpPr>
          <p:cNvPr id="17" name="Rounded Rectangle 16"/>
          <p:cNvSpPr/>
          <p:nvPr/>
        </p:nvSpPr>
        <p:spPr>
          <a:xfrm>
            <a:off x="9082735" y="16550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contract</a:t>
            </a:r>
          </a:p>
        </p:txBody>
      </p:sp>
      <p:sp>
        <p:nvSpPr>
          <p:cNvPr id="18" name="Rounded Rectangle 17"/>
          <p:cNvSpPr/>
          <p:nvPr/>
        </p:nvSpPr>
        <p:spPr>
          <a:xfrm>
            <a:off x="548640" y="227838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85800" y="227838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2.  The _______ wage rises every year.</a:t>
            </a:r>
          </a:p>
        </p:txBody>
      </p:sp>
      <p:sp>
        <p:nvSpPr>
          <p:cNvPr id="20" name="Rounded Rectangle 19"/>
          <p:cNvSpPr/>
          <p:nvPr/>
        </p:nvSpPr>
        <p:spPr>
          <a:xfrm>
            <a:off x="9082735" y="233324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minimum</a:t>
            </a:r>
          </a:p>
        </p:txBody>
      </p:sp>
      <p:sp>
        <p:nvSpPr>
          <p:cNvPr id="21" name="Rounded Rectangle 20"/>
          <p:cNvSpPr/>
          <p:nvPr/>
        </p:nvSpPr>
        <p:spPr>
          <a:xfrm>
            <a:off x="548640" y="295656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295656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3.  You are entitled to a rest _______.</a:t>
            </a:r>
          </a:p>
        </p:txBody>
      </p:sp>
      <p:sp>
        <p:nvSpPr>
          <p:cNvPr id="23" name="Rounded Rectangle 22"/>
          <p:cNvSpPr/>
          <p:nvPr/>
        </p:nvSpPr>
        <p:spPr>
          <a:xfrm>
            <a:off x="9082735" y="301142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break</a:t>
            </a:r>
          </a:p>
        </p:txBody>
      </p:sp>
      <p:sp>
        <p:nvSpPr>
          <p:cNvPr id="24" name="Rounded Rectangle 23"/>
          <p:cNvSpPr/>
          <p:nvPr/>
        </p:nvSpPr>
        <p:spPr>
          <a:xfrm>
            <a:off x="548640" y="363474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85800" y="363474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4.  My _______ period is one month.</a:t>
            </a:r>
          </a:p>
        </p:txBody>
      </p:sp>
      <p:sp>
        <p:nvSpPr>
          <p:cNvPr id="26" name="Rounded Rectangle 25"/>
          <p:cNvSpPr/>
          <p:nvPr/>
        </p:nvSpPr>
        <p:spPr>
          <a:xfrm>
            <a:off x="9082735" y="368960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notice</a:t>
            </a:r>
          </a:p>
        </p:txBody>
      </p:sp>
      <p:sp>
        <p:nvSpPr>
          <p:cNvPr id="27" name="Rounded Rectangle 26"/>
          <p:cNvSpPr/>
          <p:nvPr/>
        </p:nvSpPr>
        <p:spPr>
          <a:xfrm>
            <a:off x="548640" y="431292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85800" y="431292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5.  She raised a formal _______.</a:t>
            </a:r>
          </a:p>
        </p:txBody>
      </p:sp>
      <p:sp>
        <p:nvSpPr>
          <p:cNvPr id="29" name="Rounded Rectangle 28"/>
          <p:cNvSpPr/>
          <p:nvPr/>
        </p:nvSpPr>
        <p:spPr>
          <a:xfrm>
            <a:off x="9082735" y="436778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grievance</a:t>
            </a:r>
          </a:p>
        </p:txBody>
      </p:sp>
      <p:sp>
        <p:nvSpPr>
          <p:cNvPr id="30" name="Rounded Rectangle 29"/>
          <p:cNvSpPr/>
          <p:nvPr/>
        </p:nvSpPr>
        <p:spPr>
          <a:xfrm>
            <a:off x="548640" y="4991100"/>
            <a:ext cx="11094415" cy="605028"/>
          </a:xfrm>
          <a:prstGeom prst="roundRect">
            <a:avLst>
              <a:gd name="adj" fmla="val 2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85800" y="4991100"/>
            <a:ext cx="8076895" cy="60502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6.  He joined a trade _______.</a:t>
            </a:r>
          </a:p>
        </p:txBody>
      </p:sp>
      <p:sp>
        <p:nvSpPr>
          <p:cNvPr id="32" name="Rounded Rectangle 31"/>
          <p:cNvSpPr/>
          <p:nvPr/>
        </p:nvSpPr>
        <p:spPr>
          <a:xfrm>
            <a:off x="9082735" y="5045964"/>
            <a:ext cx="2468880" cy="495300"/>
          </a:xfrm>
          <a:prstGeom prst="roundRect">
            <a:avLst>
              <a:gd name="adj" fmla="val 5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union</a:t>
            </a:r>
          </a:p>
        </p:txBody>
      </p:sp>
      <p:sp>
        <p:nvSpPr>
          <p:cNvPr id="33" name="Rounded Rectangle 32"/>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(搭配) raise a grievance,breach OF contract,entitled TO;overtime pay 与 pay overtime。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7"/>
                                        </p:tgtEl>
                                        <p:attrNameLst>
                                          <p:attrName>style.visibility</p:attrName>
                                        </p:attrNameLst>
                                      </p:cBhvr>
                                      <p:to>
                                        <p:strVal val="visible"/>
                                      </p:to>
                                    </p:set>
                                    <p:animEffect transition="in" filter="fade">
                                      <p:cBhvr>
                                        <p:cTn id="4" dur="400"/>
                                        <p:tgtEl>
                                          <p:spTgt spid="17"/>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0"/>
                                        </p:tgtEl>
                                        <p:attrNameLst>
                                          <p:attrName>style.visibility</p:attrName>
                                        </p:attrNameLst>
                                      </p:cBhvr>
                                      <p:to>
                                        <p:strVal val="visible"/>
                                      </p:to>
                                    </p:set>
                                    <p:animEffect transition="in" filter="fade">
                                      <p:cBhvr>
                                        <p:cTn id="9" dur="400"/>
                                        <p:tgtEl>
                                          <p:spTgt spid="20"/>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26"/>
                                        </p:tgtEl>
                                        <p:attrNameLst>
                                          <p:attrName>style.visibility</p:attrName>
                                        </p:attrNameLst>
                                      </p:cBhvr>
                                      <p:to>
                                        <p:strVal val="visible"/>
                                      </p:to>
                                    </p:set>
                                    <p:animEffect transition="in" filter="fade">
                                      <p:cBhvr>
                                        <p:cTn id="19" dur="400"/>
                                        <p:tgtEl>
                                          <p:spTgt spid="26"/>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400"/>
                                        <p:tgtEl>
                                          <p:spTgt spid="29"/>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32"/>
                                        </p:tgtEl>
                                        <p:attrNameLst>
                                          <p:attrName>style.visibility</p:attrName>
                                        </p:attrNameLst>
                                      </p:cBhvr>
                                      <p:to>
                                        <p:strVal val="visible"/>
                                      </p:to>
                                    </p:set>
                                    <p:animEffect transition="in" filter="fade">
                                      <p:cBhvr>
                                        <p:cTn id="29" dur="4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Role Play · Explaining rights to a new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16 · Lesson 80 The right to rest and other employment laws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向新同事讲解权利</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friendly chat.</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New colleague</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Experienced colleague</a:t>
            </a:r>
          </a:p>
        </p:txBody>
      </p:sp>
    </p:spTree>
  </p:cSld>
  <p:clrMapOvr>
    <a:masterClrMapping/>
  </p:clrMapOvr>
  <p:transition spd="med">
    <p:fade/>
  </p:transition>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Explaining rights to a new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16 · Lesson 80 The right to rest and other employment laws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How many days of annual leave do I get?</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It’s in your contract. Normally it’s twenty-five days.</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Can the company ask us to work overtime?</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but they must pay for it or give you time off.</a:t>
            </a:r>
          </a:p>
        </p:txBody>
      </p:sp>
    </p:spTree>
  </p:cSld>
  <p:clrMapOvr>
    <a:masterClrMapping/>
  </p:clrMapOvr>
  <p:transition spd="med">
    <p:fade/>
  </p:transition>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200" b="1">
                <a:solidFill>
                  <a:srgbClr val="1F2A44"/>
                </a:solidFill>
                <a:latin typeface="Arial"/>
                <a:ea typeface="Microsoft YaHei"/>
              </a:rPr>
              <a:t>🎭 Model Dialogue · Explaining rights to a new colleague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16 · Lesson 80 The right to rest and other employment laws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Do we have to reply to messages after work?</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78028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Not unless it’s an agreed on-call situation. In some countries you have the right to disconnect.</a:t>
            </a:r>
          </a:p>
        </p:txBody>
      </p:sp>
      <p:sp>
        <p:nvSpPr>
          <p:cNvPr id="14" name="Rounded Rectangle 13"/>
          <p:cNvSpPr/>
          <p:nvPr/>
        </p:nvSpPr>
        <p:spPr>
          <a:xfrm>
            <a:off x="548640" y="277977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321868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77977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That’s good to know.</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Keep your contract safe and ask HR if you’re unsure.</a:t>
            </a:r>
          </a:p>
        </p:txBody>
      </p:sp>
    </p:spTree>
  </p:cSld>
  <p:clrMapOvr>
    <a:masterClrMapping/>
  </p:clrMapOvr>
  <p:transition spd="med">
    <p:fade/>
  </p:transition>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300" b="1">
                <a:solidFill>
                  <a:srgbClr val="1F2A44"/>
                </a:solidFill>
                <a:latin typeface="Arial"/>
                <a:ea typeface="Microsoft YaHei"/>
              </a:rPr>
              <a:t>🎯 Your Turn · Explaining rights to a new colleague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16 · Lesson 80 The right to rest and other employment laws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explain rights.</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New colleague.</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Experienced colleague. Topic: ______________</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in your contract · must pay · have to · right to disconnect · ask HR</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Explain rules clearly and say where to check.</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Distinguish “must” and “can”.</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Mention a local rule.</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Say what you’re unsure about.</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Role Play · Raising a grievance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16 · Lesson 80 The right to rest and other employment laws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提出申诉</a:t>
            </a:r>
          </a:p>
        </p:txBody>
      </p:sp>
      <p:sp>
        <p:nvSpPr>
          <p:cNvPr id="9" name="Rounded Rectangle 8"/>
          <p:cNvSpPr/>
          <p:nvPr/>
        </p:nvSpPr>
        <p:spPr>
          <a:xfrm>
            <a:off x="548640" y="1463040"/>
            <a:ext cx="11094415" cy="1463040"/>
          </a:xfrm>
          <a:prstGeom prst="roundRect">
            <a:avLst>
              <a:gd name="adj" fmla="val 12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400" b="1">
                <a:solidFill>
                  <a:srgbClr val="5F677A"/>
                </a:solidFill>
                <a:latin typeface="Arial"/>
                <a:ea typeface="Microsoft YaHei"/>
              </a:rPr>
              <a:t>📍 Situation 情景</a:t>
            </a:r>
          </a:p>
          <a:p>
            <a:pPr algn="l">
              <a:spcAft>
                <a:spcPts val="200"/>
              </a:spcAft>
            </a:pPr>
            <a:r>
              <a:rPr sz="2400" b="1">
                <a:solidFill>
                  <a:srgbClr val="1F2A44"/>
                </a:solidFill>
                <a:latin typeface="Arial"/>
                <a:ea typeface="Microsoft YaHei"/>
              </a:rPr>
              <a:t>A formal meeting.</a:t>
            </a:r>
          </a:p>
        </p:txBody>
      </p:sp>
      <p:sp>
        <p:nvSpPr>
          <p:cNvPr id="10" name="Rounded Rectangle 9"/>
          <p:cNvSpPr/>
          <p:nvPr/>
        </p:nvSpPr>
        <p:spPr>
          <a:xfrm>
            <a:off x="548640"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777240" y="3429000"/>
            <a:ext cx="1097280" cy="109728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2" name="TextBox 11"/>
          <p:cNvSpPr txBox="1"/>
          <p:nvPr/>
        </p:nvSpPr>
        <p:spPr>
          <a:xfrm>
            <a:off x="2011680"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FF6B5B"/>
                </a:solidFill>
                <a:latin typeface="Arial"/>
                <a:ea typeface="Microsoft YaHei"/>
              </a:rPr>
              <a:t>Role A</a:t>
            </a:r>
          </a:p>
          <a:p>
            <a:pPr algn="l">
              <a:lnSpc>
                <a:spcPct val="115000"/>
              </a:lnSpc>
              <a:spcAft>
                <a:spcPts val="800"/>
              </a:spcAft>
            </a:pPr>
            <a:r>
              <a:rPr sz="2000" b="1">
                <a:solidFill>
                  <a:srgbClr val="1F2A44"/>
                </a:solidFill>
                <a:latin typeface="Arial"/>
                <a:ea typeface="Microsoft YaHei"/>
              </a:rPr>
              <a:t>Employee</a:t>
            </a:r>
          </a:p>
        </p:txBody>
      </p:sp>
      <p:sp>
        <p:nvSpPr>
          <p:cNvPr id="13" name="Rounded Rectangle 12"/>
          <p:cNvSpPr/>
          <p:nvPr/>
        </p:nvSpPr>
        <p:spPr>
          <a:xfrm>
            <a:off x="6233007" y="3200400"/>
            <a:ext cx="5410047" cy="219456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val 13"/>
          <p:cNvSpPr/>
          <p:nvPr/>
        </p:nvSpPr>
        <p:spPr>
          <a:xfrm>
            <a:off x="6461607" y="3429000"/>
            <a:ext cx="1097280" cy="109728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3600" b="1">
                <a:solidFill>
                  <a:srgbClr val="FFFFFF"/>
                </a:solidFill>
                <a:latin typeface="Arial"/>
                <a:ea typeface="Microsoft YaHei"/>
              </a:rPr>
              <a:t>💼</a:t>
            </a:r>
          </a:p>
        </p:txBody>
      </p:sp>
      <p:sp>
        <p:nvSpPr>
          <p:cNvPr id="15" name="TextBox 14"/>
          <p:cNvSpPr txBox="1"/>
          <p:nvPr/>
        </p:nvSpPr>
        <p:spPr>
          <a:xfrm>
            <a:off x="7696047" y="3291840"/>
            <a:ext cx="3809847" cy="2011680"/>
          </a:xfrm>
          <a:prstGeom prst="rect">
            <a:avLst/>
          </a:prstGeom>
          <a:noFill/>
        </p:spPr>
        <p:txBody>
          <a:bodyPr wrap="square" anchor="ctr">
            <a:spAutoFit/>
          </a:bodyPr>
          <a:lstStyle/>
          <a:p>
            <a:pPr algn="l">
              <a:lnSpc>
                <a:spcPct val="115000"/>
              </a:lnSpc>
              <a:spcAft>
                <a:spcPts val="800"/>
              </a:spcAft>
            </a:pPr>
            <a:r>
              <a:rPr sz="1400" b="1">
                <a:solidFill>
                  <a:srgbClr val="4A90E2"/>
                </a:solidFill>
                <a:latin typeface="Arial"/>
                <a:ea typeface="Microsoft YaHei"/>
              </a:rPr>
              <a:t>Role B</a:t>
            </a:r>
          </a:p>
          <a:p>
            <a:pPr algn="l">
              <a:lnSpc>
                <a:spcPct val="115000"/>
              </a:lnSpc>
              <a:spcAft>
                <a:spcPts val="800"/>
              </a:spcAft>
            </a:pPr>
            <a:r>
              <a:rPr sz="2000" b="1">
                <a:solidFill>
                  <a:srgbClr val="1F2A44"/>
                </a:solidFill>
                <a:latin typeface="Arial"/>
                <a:ea typeface="Microsoft YaHei"/>
              </a:rPr>
              <a:t>HR</a:t>
            </a:r>
          </a:p>
        </p:txBody>
      </p:sp>
    </p:spTree>
  </p:cSld>
  <p:clrMapOvr>
    <a:masterClrMapping/>
  </p:clrMapOvr>
  <p:transition spd="med">
    <p:fade/>
  </p:transition>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000" b="1">
                <a:solidFill>
                  <a:srgbClr val="1F2A44"/>
                </a:solidFill>
                <a:latin typeface="Arial"/>
                <a:ea typeface="Microsoft YaHei"/>
              </a:rPr>
              <a:t>🎭 Model Dialogue · Raising a grievance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1/2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16 · Lesson 80 The right to rest and other employment laws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I’d like to raise a grievance about unpaid overtime.</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I’m sorry to hear that. Could you give me the details?</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78028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For three months, I’ve worked about five extra hours a week without pay.</a:t>
            </a:r>
          </a:p>
        </p:txBody>
      </p:sp>
      <p:sp>
        <p:nvSpPr>
          <p:cNvPr id="17" name="Rounded Rectangle 16"/>
          <p:cNvSpPr/>
          <p:nvPr/>
        </p:nvSpPr>
        <p:spPr>
          <a:xfrm>
            <a:off x="10911535" y="336194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80085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36194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Do you have records?</a:t>
            </a:r>
          </a:p>
        </p:txBody>
      </p:sp>
    </p:spTree>
  </p:cSld>
  <p:clrMapOvr>
    <a:masterClrMapping/>
  </p:clrMapOvr>
  <p:transition spd="med">
    <p:fade/>
  </p:transition>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500" b="1">
                <a:solidFill>
                  <a:srgbClr val="1F2A44"/>
                </a:solidFill>
                <a:latin typeface="Arial"/>
                <a:ea typeface="Microsoft YaHei"/>
              </a:rPr>
              <a:t>🎭 Model Dialogue · Raising a grievance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Part 2/2</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16 · Lesson 80 The right to rest and other employment laws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9" name="TextBox 8"/>
          <p:cNvSpPr txBox="1"/>
          <p:nvPr/>
        </p:nvSpPr>
        <p:spPr>
          <a:xfrm>
            <a:off x="274320" y="1764792"/>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0" name="Rounded Rectangle 9"/>
          <p:cNvSpPr/>
          <p:nvPr/>
        </p:nvSpPr>
        <p:spPr>
          <a:xfrm>
            <a:off x="1463040" y="1325880"/>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Yes. I kept a log, and I have messages from my manager.</a:t>
            </a:r>
          </a:p>
        </p:txBody>
      </p:sp>
      <p:sp>
        <p:nvSpPr>
          <p:cNvPr id="11" name="Rounded Rectangle 10"/>
          <p:cNvSpPr/>
          <p:nvPr/>
        </p:nvSpPr>
        <p:spPr>
          <a:xfrm>
            <a:off x="10911535" y="1908048"/>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2" name="TextBox 11"/>
          <p:cNvSpPr txBox="1"/>
          <p:nvPr/>
        </p:nvSpPr>
        <p:spPr>
          <a:xfrm>
            <a:off x="10637215" y="2346960"/>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3" name="Rounded Rectangle 12"/>
          <p:cNvSpPr/>
          <p:nvPr/>
        </p:nvSpPr>
        <p:spPr>
          <a:xfrm>
            <a:off x="2133295" y="1908048"/>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Thank you. We’ll investigate and reply within ten working days.</a:t>
            </a:r>
          </a:p>
        </p:txBody>
      </p:sp>
      <p:sp>
        <p:nvSpPr>
          <p:cNvPr id="14" name="Rounded Rectangle 13"/>
          <p:cNvSpPr/>
          <p:nvPr/>
        </p:nvSpPr>
        <p:spPr>
          <a:xfrm>
            <a:off x="548640" y="2490216"/>
            <a:ext cx="731520" cy="457200"/>
          </a:xfrm>
          <a:prstGeom prst="roundRect">
            <a:avLst>
              <a:gd name="adj" fmla="val 5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A</a:t>
            </a:r>
          </a:p>
        </p:txBody>
      </p:sp>
      <p:sp>
        <p:nvSpPr>
          <p:cNvPr id="15" name="TextBox 14"/>
          <p:cNvSpPr txBox="1"/>
          <p:nvPr/>
        </p:nvSpPr>
        <p:spPr>
          <a:xfrm>
            <a:off x="274320" y="2929128"/>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6" name="Rounded Rectangle 15"/>
          <p:cNvSpPr/>
          <p:nvPr/>
        </p:nvSpPr>
        <p:spPr>
          <a:xfrm>
            <a:off x="1463040" y="2490216"/>
            <a:ext cx="8595360" cy="490728"/>
          </a:xfrm>
          <a:prstGeom prst="roundRect">
            <a:avLst>
              <a:gd name="adj" fmla="val 18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What if it isn’t resolved?</a:t>
            </a:r>
          </a:p>
        </p:txBody>
      </p:sp>
      <p:sp>
        <p:nvSpPr>
          <p:cNvPr id="17" name="Rounded Rectangle 16"/>
          <p:cNvSpPr/>
          <p:nvPr/>
        </p:nvSpPr>
        <p:spPr>
          <a:xfrm>
            <a:off x="10911535" y="3072384"/>
            <a:ext cx="731520" cy="457200"/>
          </a:xfrm>
          <a:prstGeom prst="roundRect">
            <a:avLst>
              <a:gd name="adj" fmla="val 5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600" b="1">
                <a:solidFill>
                  <a:srgbClr val="FFFFFF"/>
                </a:solidFill>
                <a:latin typeface="Arial"/>
                <a:ea typeface="Microsoft YaHei"/>
              </a:rPr>
              <a:t>B</a:t>
            </a:r>
          </a:p>
        </p:txBody>
      </p:sp>
      <p:sp>
        <p:nvSpPr>
          <p:cNvPr id="18" name="TextBox 17"/>
          <p:cNvSpPr txBox="1"/>
          <p:nvPr/>
        </p:nvSpPr>
        <p:spPr>
          <a:xfrm>
            <a:off x="10637215" y="3511296"/>
            <a:ext cx="1280160" cy="320040"/>
          </a:xfrm>
          <a:prstGeom prst="rect">
            <a:avLst/>
          </a:prstGeom>
          <a:noFill/>
        </p:spPr>
        <p:txBody>
          <a:bodyPr wrap="square" anchor="t">
            <a:spAutoFit/>
          </a:bodyPr>
          <a:lstStyle/>
          <a:p>
            <a:pPr algn="ctr">
              <a:lnSpc>
                <a:spcPct val="115000"/>
              </a:lnSpc>
              <a:spcAft>
                <a:spcPts val="800"/>
              </a:spcAft>
            </a:pPr>
            <a:r>
              <a:rPr sz="1000" b="0">
                <a:solidFill>
                  <a:srgbClr val="5F677A"/>
                </a:solidFill>
                <a:latin typeface="Arial"/>
                <a:ea typeface="Microsoft YaHei"/>
              </a:rPr>
              <a:t> </a:t>
            </a:r>
          </a:p>
        </p:txBody>
      </p:sp>
      <p:sp>
        <p:nvSpPr>
          <p:cNvPr id="19" name="Rounded Rectangle 18"/>
          <p:cNvSpPr/>
          <p:nvPr/>
        </p:nvSpPr>
        <p:spPr>
          <a:xfrm>
            <a:off x="2133295" y="3072384"/>
            <a:ext cx="8595360" cy="490728"/>
          </a:xfrm>
          <a:prstGeom prst="roundRect">
            <a:avLst>
              <a:gd name="adj" fmla="val 18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900" b="1">
                <a:solidFill>
                  <a:srgbClr val="1F2A44"/>
                </a:solidFill>
                <a:latin typeface="Arial"/>
                <a:ea typeface="Microsoft YaHei"/>
              </a:rPr>
              <a:t>You’d have the right to appeal. I’ll explain the process.</a:t>
            </a:r>
          </a:p>
        </p:txBody>
      </p:sp>
    </p:spTree>
  </p:cSld>
  <p:clrMapOvr>
    <a:masterClrMapping/>
  </p:clrMapOvr>
  <p:transition spd="med">
    <p:fade/>
  </p:transition>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Your Turn · Raising a grievance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03 Role play 角色扮演</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16 · Lesson 80 The right to rest and other employment laws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Situation</a:t>
            </a:r>
          </a:p>
        </p:txBody>
      </p:sp>
      <p:sp>
        <p:nvSpPr>
          <p:cNvPr id="9" name="Rounded Rectangle 8"/>
          <p:cNvSpPr/>
          <p:nvPr/>
        </p:nvSpPr>
        <p:spPr>
          <a:xfrm>
            <a:off x="3017520" y="132588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You raise a grievance.</a:t>
            </a:r>
          </a:p>
        </p:txBody>
      </p:sp>
      <p:sp>
        <p:nvSpPr>
          <p:cNvPr id="10" name="Rounded Rectangle 9"/>
          <p:cNvSpPr/>
          <p:nvPr/>
        </p:nvSpPr>
        <p:spPr>
          <a:xfrm>
            <a:off x="548640" y="1807464"/>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Your role (A)</a:t>
            </a:r>
          </a:p>
        </p:txBody>
      </p:sp>
      <p:sp>
        <p:nvSpPr>
          <p:cNvPr id="11" name="Rounded Rectangle 10"/>
          <p:cNvSpPr/>
          <p:nvPr/>
        </p:nvSpPr>
        <p:spPr>
          <a:xfrm>
            <a:off x="3017520" y="1807464"/>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Employee. Issue: ______________</a:t>
            </a:r>
          </a:p>
        </p:txBody>
      </p:sp>
      <p:sp>
        <p:nvSpPr>
          <p:cNvPr id="12" name="Rounded Rectangle 11"/>
          <p:cNvSpPr/>
          <p:nvPr/>
        </p:nvSpPr>
        <p:spPr>
          <a:xfrm>
            <a:off x="548640" y="2289048"/>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Partner’s role (B)</a:t>
            </a:r>
          </a:p>
        </p:txBody>
      </p:sp>
      <p:sp>
        <p:nvSpPr>
          <p:cNvPr id="13" name="Rounded Rectangle 12"/>
          <p:cNvSpPr/>
          <p:nvPr/>
        </p:nvSpPr>
        <p:spPr>
          <a:xfrm>
            <a:off x="3017520" y="2289048"/>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HR.</a:t>
            </a:r>
          </a:p>
        </p:txBody>
      </p:sp>
      <p:sp>
        <p:nvSpPr>
          <p:cNvPr id="14" name="Rounded Rectangle 13"/>
          <p:cNvSpPr/>
          <p:nvPr/>
        </p:nvSpPr>
        <p:spPr>
          <a:xfrm>
            <a:off x="548640" y="2770632"/>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Must use (3 or more)</a:t>
            </a:r>
          </a:p>
        </p:txBody>
      </p:sp>
      <p:sp>
        <p:nvSpPr>
          <p:cNvPr id="15" name="Rounded Rectangle 14"/>
          <p:cNvSpPr/>
          <p:nvPr/>
        </p:nvSpPr>
        <p:spPr>
          <a:xfrm>
            <a:off x="3017520" y="2770632"/>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raise a grievance · for three months · records · investigate · appeal</a:t>
            </a:r>
          </a:p>
        </p:txBody>
      </p:sp>
      <p:sp>
        <p:nvSpPr>
          <p:cNvPr id="16" name="Rounded Rectangle 15"/>
          <p:cNvSpPr/>
          <p:nvPr/>
        </p:nvSpPr>
        <p:spPr>
          <a:xfrm>
            <a:off x="548640" y="3252216"/>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Goal</a:t>
            </a:r>
          </a:p>
        </p:txBody>
      </p:sp>
      <p:sp>
        <p:nvSpPr>
          <p:cNvPr id="17" name="Rounded Rectangle 16"/>
          <p:cNvSpPr/>
          <p:nvPr/>
        </p:nvSpPr>
        <p:spPr>
          <a:xfrm>
            <a:off x="3017520" y="3252216"/>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State facts, show evidence and ask about the process.</a:t>
            </a:r>
          </a:p>
        </p:txBody>
      </p:sp>
      <p:sp>
        <p:nvSpPr>
          <p:cNvPr id="18" name="Rounded Rectangle 17"/>
          <p:cNvSpPr/>
          <p:nvPr/>
        </p:nvSpPr>
        <p:spPr>
          <a:xfrm>
            <a:off x="548640" y="3733800"/>
            <a:ext cx="2377440" cy="408432"/>
          </a:xfrm>
          <a:prstGeom prst="roundRect">
            <a:avLst>
              <a:gd name="adj" fmla="val 15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400" b="1">
                <a:solidFill>
                  <a:srgbClr val="FFFFFF"/>
                </a:solidFill>
                <a:latin typeface="Arial"/>
                <a:ea typeface="Microsoft YaHei"/>
              </a:rPr>
              <a:t>My notes</a:t>
            </a:r>
          </a:p>
        </p:txBody>
      </p:sp>
      <p:sp>
        <p:nvSpPr>
          <p:cNvPr id="19" name="Rounded Rectangle 18"/>
          <p:cNvSpPr/>
          <p:nvPr/>
        </p:nvSpPr>
        <p:spPr>
          <a:xfrm>
            <a:off x="3017520" y="3733800"/>
            <a:ext cx="8625535" cy="4084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1F2A44"/>
                </a:solidFill>
                <a:latin typeface="Arial"/>
                <a:ea typeface="Microsoft YaHei"/>
              </a:rPr>
              <a:t>____________________________________________</a:t>
            </a:r>
          </a:p>
        </p:txBody>
      </p:sp>
      <p:sp>
        <p:nvSpPr>
          <p:cNvPr id="20" name="TextBox 19"/>
          <p:cNvSpPr txBox="1"/>
          <p:nvPr/>
        </p:nvSpPr>
        <p:spPr>
          <a:xfrm>
            <a:off x="548640" y="4306824"/>
            <a:ext cx="11094415" cy="365760"/>
          </a:xfrm>
          <a:prstGeom prst="rect">
            <a:avLst/>
          </a:prstGeom>
          <a:noFill/>
        </p:spPr>
        <p:txBody>
          <a:bodyPr wrap="square" anchor="t">
            <a:spAutoFit/>
          </a:bodyPr>
          <a:lstStyle/>
          <a:p>
            <a:pPr algn="l">
              <a:lnSpc>
                <a:spcPct val="115000"/>
              </a:lnSpc>
              <a:spcAft>
                <a:spcPts val="800"/>
              </a:spcAft>
            </a:pPr>
            <a:r>
              <a:rPr sz="1500" b="1">
                <a:solidFill>
                  <a:srgbClr val="FF6B5B"/>
                </a:solidFill>
                <a:latin typeface="Arial"/>
                <a:ea typeface="Microsoft YaHei"/>
              </a:rPr>
              <a:t>🔥 Level-up challenges 进阶挑战 (click)</a:t>
            </a:r>
          </a:p>
        </p:txBody>
      </p:sp>
      <p:sp>
        <p:nvSpPr>
          <p:cNvPr id="21" name="Rounded Rectangle 20"/>
          <p:cNvSpPr/>
          <p:nvPr/>
        </p:nvSpPr>
        <p:spPr>
          <a:xfrm>
            <a:off x="548640" y="4690872"/>
            <a:ext cx="3576218" cy="1527048"/>
          </a:xfrm>
          <a:prstGeom prst="roundRect">
            <a:avLst>
              <a:gd name="adj" fmla="val 12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Stay calm and factual.</a:t>
            </a:r>
          </a:p>
        </p:txBody>
      </p:sp>
      <p:sp>
        <p:nvSpPr>
          <p:cNvPr id="22" name="Rounded Rectangle 21"/>
          <p:cNvSpPr/>
          <p:nvPr/>
        </p:nvSpPr>
        <p:spPr>
          <a:xfrm>
            <a:off x="4307738" y="4690872"/>
            <a:ext cx="3576218" cy="1527048"/>
          </a:xfrm>
          <a:prstGeom prst="roundRect">
            <a:avLst>
              <a:gd name="adj" fmla="val 12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Ask who will be informed.</a:t>
            </a:r>
          </a:p>
        </p:txBody>
      </p:sp>
      <p:sp>
        <p:nvSpPr>
          <p:cNvPr id="23" name="Rounded Rectangle 22"/>
          <p:cNvSpPr/>
          <p:nvPr/>
        </p:nvSpPr>
        <p:spPr>
          <a:xfrm>
            <a:off x="8066836" y="4690872"/>
            <a:ext cx="3576218" cy="1527048"/>
          </a:xfrm>
          <a:prstGeom prst="roundRect">
            <a:avLst>
              <a:gd name="adj" fmla="val 12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Confirm timelines in writing.</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21"/>
                                        </p:tgtEl>
                                        <p:attrNameLst>
                                          <p:attrName>style.visibility</p:attrName>
                                        </p:attrNameLst>
                                      </p:cBhvr>
                                      <p:to>
                                        <p:strVal val="visible"/>
                                      </p:to>
                                    </p:set>
                                    <p:animEffect transition="in" filter="fade">
                                      <p:cBhvr>
                                        <p:cTn id="4" dur="400"/>
                                        <p:tgtEl>
                                          <p:spTgt spid="21"/>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22"/>
                                        </p:tgtEl>
                                        <p:attrNameLst>
                                          <p:attrName>style.visibility</p:attrName>
                                        </p:attrNameLst>
                                      </p:cBhvr>
                                      <p:to>
                                        <p:strVal val="visible"/>
                                      </p:to>
                                    </p:set>
                                    <p:animEffect transition="in" filter="fade">
                                      <p:cBhvr>
                                        <p:cTn id="9" dur="400"/>
                                        <p:tgtEl>
                                          <p:spTgt spid="2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23"/>
                                        </p:tgtEl>
                                        <p:attrNameLst>
                                          <p:attrName>style.visibility</p:attrName>
                                        </p:attrNameLst>
                                      </p:cBhvr>
                                      <p:to>
                                        <p:strVal val="visible"/>
                                      </p:to>
                                    </p:set>
                                    <p:animEffect transition="in" filter="fade">
                                      <p:cBhvr>
                                        <p:cTn id="1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Discussion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16 · Lesson 80 The right to rest and other employment laws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48</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Prepare 2–3 sentences. Use the starters!  每题准备 2–3 句话，用上句型</a:t>
            </a:r>
          </a:p>
        </p:txBody>
      </p:sp>
      <p:sp>
        <p:nvSpPr>
          <p:cNvPr id="9" name="Oval 8"/>
          <p:cNvSpPr/>
          <p:nvPr/>
        </p:nvSpPr>
        <p:spPr>
          <a:xfrm>
            <a:off x="548640" y="1554480"/>
            <a:ext cx="548640" cy="54864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1</a:t>
            </a:r>
          </a:p>
        </p:txBody>
      </p:sp>
      <p:sp>
        <p:nvSpPr>
          <p:cNvPr id="10" name="Rounded Rectangle 9"/>
          <p:cNvSpPr/>
          <p:nvPr/>
        </p:nvSpPr>
        <p:spPr>
          <a:xfrm>
            <a:off x="1234440" y="150876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325880" y="155448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Which employee right is the most important?</a:t>
            </a:r>
          </a:p>
          <a:p>
            <a:pPr algn="l">
              <a:lnSpc>
                <a:spcPct val="115000"/>
              </a:lnSpc>
              <a:spcAft>
                <a:spcPts val="800"/>
              </a:spcAft>
            </a:pPr>
            <a:r>
              <a:rPr sz="1400" b="0">
                <a:solidFill>
                  <a:srgbClr val="5F677A"/>
                </a:solidFill>
                <a:latin typeface="Arial"/>
                <a:ea typeface="Microsoft YaHei"/>
              </a:rPr>
              <a:t>💬 “In my opinion, it’s…”</a:t>
            </a:r>
          </a:p>
        </p:txBody>
      </p:sp>
      <p:sp>
        <p:nvSpPr>
          <p:cNvPr id="12" name="Oval 11"/>
          <p:cNvSpPr/>
          <p:nvPr/>
        </p:nvSpPr>
        <p:spPr>
          <a:xfrm>
            <a:off x="548640" y="2331720"/>
            <a:ext cx="548640" cy="548640"/>
          </a:xfrm>
          <a:prstGeom prst="ellipse">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2</a:t>
            </a:r>
          </a:p>
        </p:txBody>
      </p:sp>
      <p:sp>
        <p:nvSpPr>
          <p:cNvPr id="13" name="Rounded Rectangle 12"/>
          <p:cNvSpPr/>
          <p:nvPr/>
        </p:nvSpPr>
        <p:spPr>
          <a:xfrm>
            <a:off x="1234440" y="228600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325880" y="233172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Should the right to disconnect be a law?</a:t>
            </a:r>
          </a:p>
          <a:p>
            <a:pPr algn="l">
              <a:lnSpc>
                <a:spcPct val="115000"/>
              </a:lnSpc>
              <a:spcAft>
                <a:spcPts val="800"/>
              </a:spcAft>
            </a:pPr>
            <a:r>
              <a:rPr sz="1400" b="0">
                <a:solidFill>
                  <a:srgbClr val="5F677A"/>
                </a:solidFill>
                <a:latin typeface="Arial"/>
                <a:ea typeface="Microsoft YaHei"/>
              </a:rPr>
              <a:t>💬 “I think … because…”</a:t>
            </a:r>
          </a:p>
        </p:txBody>
      </p:sp>
      <p:sp>
        <p:nvSpPr>
          <p:cNvPr id="15" name="Oval 14"/>
          <p:cNvSpPr/>
          <p:nvPr/>
        </p:nvSpPr>
        <p:spPr>
          <a:xfrm>
            <a:off x="548640" y="3108960"/>
            <a:ext cx="548640" cy="54864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3</a:t>
            </a:r>
          </a:p>
        </p:txBody>
      </p:sp>
      <p:sp>
        <p:nvSpPr>
          <p:cNvPr id="16" name="Rounded Rectangle 15"/>
          <p:cNvSpPr/>
          <p:nvPr/>
        </p:nvSpPr>
        <p:spPr>
          <a:xfrm>
            <a:off x="1234440" y="306324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1325880" y="310896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Do small companies need the same rules as large ones?</a:t>
            </a:r>
          </a:p>
          <a:p>
            <a:pPr algn="l">
              <a:lnSpc>
                <a:spcPct val="115000"/>
              </a:lnSpc>
              <a:spcAft>
                <a:spcPts val="800"/>
              </a:spcAft>
            </a:pPr>
            <a:r>
              <a:rPr sz="1400" b="0">
                <a:solidFill>
                  <a:srgbClr val="5F677A"/>
                </a:solidFill>
                <a:latin typeface="Arial"/>
                <a:ea typeface="Microsoft YaHei"/>
              </a:rPr>
              <a:t>💬 “Basic rules should apply to all, but…”</a:t>
            </a:r>
          </a:p>
        </p:txBody>
      </p:sp>
      <p:sp>
        <p:nvSpPr>
          <p:cNvPr id="18" name="Oval 17"/>
          <p:cNvSpPr/>
          <p:nvPr/>
        </p:nvSpPr>
        <p:spPr>
          <a:xfrm>
            <a:off x="548640" y="3886200"/>
            <a:ext cx="548640" cy="54864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4</a:t>
            </a:r>
          </a:p>
        </p:txBody>
      </p:sp>
      <p:sp>
        <p:nvSpPr>
          <p:cNvPr id="19" name="Rounded Rectangle 18"/>
          <p:cNvSpPr/>
          <p:nvPr/>
        </p:nvSpPr>
        <p:spPr>
          <a:xfrm>
            <a:off x="1234440" y="384048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1325880" y="388620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How can employees learn about their rights?</a:t>
            </a:r>
          </a:p>
          <a:p>
            <a:pPr algn="l">
              <a:lnSpc>
                <a:spcPct val="115000"/>
              </a:lnSpc>
              <a:spcAft>
                <a:spcPts val="800"/>
              </a:spcAft>
            </a:pPr>
            <a:r>
              <a:rPr sz="1400" b="0">
                <a:solidFill>
                  <a:srgbClr val="5F677A"/>
                </a:solidFill>
                <a:latin typeface="Arial"/>
                <a:ea typeface="Microsoft YaHei"/>
              </a:rPr>
              <a:t>💬 “By… / They can…”</a:t>
            </a:r>
          </a:p>
        </p:txBody>
      </p:sp>
      <p:sp>
        <p:nvSpPr>
          <p:cNvPr id="21" name="Oval 20"/>
          <p:cNvSpPr/>
          <p:nvPr/>
        </p:nvSpPr>
        <p:spPr>
          <a:xfrm>
            <a:off x="548640" y="4663440"/>
            <a:ext cx="548640" cy="548640"/>
          </a:xfrm>
          <a:prstGeom prst="ellipse">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5</a:t>
            </a:r>
          </a:p>
        </p:txBody>
      </p:sp>
      <p:sp>
        <p:nvSpPr>
          <p:cNvPr id="22" name="Rounded Rectangle 21"/>
          <p:cNvSpPr/>
          <p:nvPr/>
        </p:nvSpPr>
        <p:spPr>
          <a:xfrm>
            <a:off x="1234440" y="4617720"/>
            <a:ext cx="10408615" cy="685800"/>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325880" y="4663440"/>
            <a:ext cx="10271455" cy="640080"/>
          </a:xfrm>
          <a:prstGeom prst="rect">
            <a:avLst/>
          </a:prstGeom>
          <a:noFill/>
        </p:spPr>
        <p:txBody>
          <a:bodyPr wrap="square" anchor="ctr">
            <a:spAutoFit/>
          </a:bodyPr>
          <a:lstStyle/>
          <a:p>
            <a:pPr algn="l">
              <a:lnSpc>
                <a:spcPct val="115000"/>
              </a:lnSpc>
              <a:spcAft>
                <a:spcPts val="300"/>
              </a:spcAft>
            </a:pPr>
            <a:r>
              <a:rPr sz="1900" b="1">
                <a:solidFill>
                  <a:srgbClr val="1F2A44"/>
                </a:solidFill>
                <a:latin typeface="Arial"/>
                <a:ea typeface="Microsoft YaHei"/>
              </a:rPr>
              <a:t>Why might people not report violations?</a:t>
            </a:r>
          </a:p>
          <a:p>
            <a:pPr algn="l">
              <a:lnSpc>
                <a:spcPct val="115000"/>
              </a:lnSpc>
              <a:spcAft>
                <a:spcPts val="800"/>
              </a:spcAft>
            </a:pPr>
            <a:r>
              <a:rPr sz="1400" b="0">
                <a:solidFill>
                  <a:srgbClr val="5F677A"/>
                </a:solidFill>
                <a:latin typeface="Arial"/>
                <a:ea typeface="Microsoft YaHei"/>
              </a:rPr>
              <a:t>💬 “They may fear…”</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12" fill="hold">
                      <p:stCondLst>
                        <p:cond delay="indefinite"/>
                      </p:stCondLst>
                      <p:childTnLst>
                        <p:par>
                          <p:cTn id="13"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9"/>
                                        </p:tgtEl>
                                        <p:attrNameLst>
                                          <p:attrName>style.visibility</p:attrName>
                                        </p:attrNameLst>
                                      </p:cBhvr>
                                      <p:to>
                                        <p:strVal val="visible"/>
                                      </p:to>
                                    </p:set>
                                    <p:animEffect transition="in" filter="fade">
                                      <p:cBhvr>
                                        <p:cTn id="4" dur="400"/>
                                        <p:tgtEl>
                                          <p:spTgt spid="9"/>
                                        </p:tgtEl>
                                      </p:cBhvr>
                                    </p:animEffect>
                                  </p:childTnLst>
                                </p:cTn>
                              </p:par>
                              <p:par>
                                <p:cTn id="8" presetID="10" presetClass="entr" presetSubtype="0" fill="hold" nodeType="with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400"/>
                                        <p:tgtEl>
                                          <p:spTgt spid="10"/>
                                        </p:tgtEl>
                                      </p:cBhvr>
                                    </p:animEffect>
                                  </p:childTnLst>
                                </p:cTn>
                              </p:par>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tgtEl>
                                          <p:spTgt spid="11"/>
                                        </p:tgtEl>
                                      </p:cBhvr>
                                    </p:animEffect>
                                  </p:childTnLst>
                                </p:cTn>
                              </p:par>
                            </p:childTnLst>
                          </p:cTn>
                        </p:par>
                      </p:childTnLst>
                    </p:cTn>
                  </p:par>
                  <p:par>
                    <p:cTn id="23" fill="hold">
                      <p:stCondLst>
                        <p:cond delay="indefinite"/>
                      </p:stCondLst>
                      <p:childTnLst>
                        <p:par>
                          <p:cTn id="24" fill="hold">
                            <p:stCondLst>
                              <p:cond delay="0"/>
                            </p:stCondLst>
                            <p:childTnLst>
                              <p:par>
                                <p:cTn id="16" presetID="10"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400"/>
                                        <p:tgtEl>
                                          <p:spTgt spid="12"/>
                                        </p:tgtEl>
                                      </p:cBhvr>
                                    </p:animEffect>
                                  </p:childTnLst>
                                </p:cTn>
                              </p:par>
                              <p:par>
                                <p:cTn id="19" presetID="10" presetClass="entr" presetSubtype="0" fill="hold"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400"/>
                                        <p:tgtEl>
                                          <p:spTgt spid="13"/>
                                        </p:tgtEl>
                                      </p:cBhvr>
                                    </p:animEffect>
                                  </p:childTnLst>
                                </p:cTn>
                              </p:par>
                              <p:par>
                                <p:cTn id="22" presetID="10" presetClass="entr" presetSubtype="0" fill="hold" nodeType="withEffect">
                                  <p:stCondLst>
                                    <p:cond delay="0"/>
                                  </p:stCondLst>
                                  <p:childTnLst>
                                    <p:set>
                                      <p:cBhvr>
                                        <p:cTn id="20" dur="1" fill="hold">
                                          <p:stCondLst>
                                            <p:cond delay="0"/>
                                          </p:stCondLst>
                                        </p:cTn>
                                        <p:tgtEl>
                                          <p:spTgt spid="14"/>
                                        </p:tgtEl>
                                        <p:attrNameLst>
                                          <p:attrName>style.visibility</p:attrName>
                                        </p:attrNameLst>
                                      </p:cBhvr>
                                      <p:to>
                                        <p:strVal val="visible"/>
                                      </p:to>
                                    </p:set>
                                    <p:animEffect transition="in" filter="fade">
                                      <p:cBhvr>
                                        <p:cTn id="21" dur="400"/>
                                        <p:tgtEl>
                                          <p:spTgt spid="14"/>
                                        </p:tgtEl>
                                      </p:cBhvr>
                                    </p:animEffect>
                                  </p:childTnLst>
                                </p:cTn>
                              </p:par>
                            </p:childTnLst>
                          </p:cTn>
                        </p:par>
                      </p:childTnLst>
                    </p:cTn>
                  </p:par>
                  <p:par>
                    <p:cTn id="34" fill="hold">
                      <p:stCondLst>
                        <p:cond delay="indefinite"/>
                      </p:stCondLst>
                      <p:childTnLst>
                        <p:par>
                          <p:cTn id="35"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15"/>
                                        </p:tgtEl>
                                        <p:attrNameLst>
                                          <p:attrName>style.visibility</p:attrName>
                                        </p:attrNameLst>
                                      </p:cBhvr>
                                      <p:to>
                                        <p:strVal val="visible"/>
                                      </p:to>
                                    </p:set>
                                    <p:animEffect transition="in" filter="fade">
                                      <p:cBhvr>
                                        <p:cTn id="26" dur="400"/>
                                        <p:tgtEl>
                                          <p:spTgt spid="15"/>
                                        </p:tgtEl>
                                      </p:cBhvr>
                                    </p:animEffect>
                                  </p:childTnLst>
                                </p:cTn>
                              </p:par>
                              <p:par>
                                <p:cTn id="30" presetID="10" presetClass="entr" presetSubtype="0" fill="hold" nodeType="withEffect">
                                  <p:stCondLst>
                                    <p:cond delay="0"/>
                                  </p:stCondLst>
                                  <p:childTnLst>
                                    <p:set>
                                      <p:cBhvr>
                                        <p:cTn id="28" dur="1" fill="hold">
                                          <p:stCondLst>
                                            <p:cond delay="0"/>
                                          </p:stCondLst>
                                        </p:cTn>
                                        <p:tgtEl>
                                          <p:spTgt spid="16"/>
                                        </p:tgtEl>
                                        <p:attrNameLst>
                                          <p:attrName>style.visibility</p:attrName>
                                        </p:attrNameLst>
                                      </p:cBhvr>
                                      <p:to>
                                        <p:strVal val="visible"/>
                                      </p:to>
                                    </p:set>
                                    <p:animEffect transition="in" filter="fade">
                                      <p:cBhvr>
                                        <p:cTn id="29" dur="400"/>
                                        <p:tgtEl>
                                          <p:spTgt spid="16"/>
                                        </p:tgtEl>
                                      </p:cBhvr>
                                    </p:animEffect>
                                  </p:childTnLst>
                                </p:cTn>
                              </p:par>
                              <p:par>
                                <p:cTn id="33" presetID="10" presetClass="entr" presetSubtype="0" fill="hold" nodeType="withEffect">
                                  <p:stCondLst>
                                    <p:cond delay="0"/>
                                  </p:stCondLst>
                                  <p:childTnLst>
                                    <p:set>
                                      <p:cBhvr>
                                        <p:cTn id="31" dur="1" fill="hold">
                                          <p:stCondLst>
                                            <p:cond delay="0"/>
                                          </p:stCondLst>
                                        </p:cTn>
                                        <p:tgtEl>
                                          <p:spTgt spid="17"/>
                                        </p:tgtEl>
                                        <p:attrNameLst>
                                          <p:attrName>style.visibility</p:attrName>
                                        </p:attrNameLst>
                                      </p:cBhvr>
                                      <p:to>
                                        <p:strVal val="visible"/>
                                      </p:to>
                                    </p:set>
                                    <p:animEffect transition="in" filter="fade">
                                      <p:cBhvr>
                                        <p:cTn id="32" dur="400"/>
                                        <p:tgtEl>
                                          <p:spTgt spid="17"/>
                                        </p:tgtEl>
                                      </p:cBhvr>
                                    </p:animEffect>
                                  </p:childTnLst>
                                </p:cTn>
                              </p:par>
                            </p:childTnLst>
                          </p:cTn>
                        </p:par>
                      </p:childTnLst>
                    </p:cTn>
                  </p:par>
                  <p:par>
                    <p:cTn id="45" fill="hold">
                      <p:stCondLst>
                        <p:cond delay="indefinite"/>
                      </p:stCondLst>
                      <p:childTnLst>
                        <p:par>
                          <p:cTn id="46" fill="hold">
                            <p:stCondLst>
                              <p:cond delay="0"/>
                            </p:stCondLst>
                            <p:childTnLst>
                              <p:par>
                                <p:cTn id="38" presetID="10" presetClass="entr" presetSubtype="0" fill="hold" nodeType="clickEffect">
                                  <p:stCondLst>
                                    <p:cond delay="0"/>
                                  </p:stCondLst>
                                  <p:childTnLst>
                                    <p:set>
                                      <p:cBhvr>
                                        <p:cTn id="36" dur="1" fill="hold">
                                          <p:stCondLst>
                                            <p:cond delay="0"/>
                                          </p:stCondLst>
                                        </p:cTn>
                                        <p:tgtEl>
                                          <p:spTgt spid="18"/>
                                        </p:tgtEl>
                                        <p:attrNameLst>
                                          <p:attrName>style.visibility</p:attrName>
                                        </p:attrNameLst>
                                      </p:cBhvr>
                                      <p:to>
                                        <p:strVal val="visible"/>
                                      </p:to>
                                    </p:set>
                                    <p:animEffect transition="in" filter="fade">
                                      <p:cBhvr>
                                        <p:cTn id="37" dur="400"/>
                                        <p:tgtEl>
                                          <p:spTgt spid="18"/>
                                        </p:tgtEl>
                                      </p:cBhvr>
                                    </p:animEffect>
                                  </p:childTnLst>
                                </p:cTn>
                              </p:par>
                              <p:par>
                                <p:cTn id="41" presetID="10" presetClass="entr" presetSubtype="0" fill="hold" nodeType="withEffect">
                                  <p:stCondLst>
                                    <p:cond delay="0"/>
                                  </p:stCondLst>
                                  <p:childTnLst>
                                    <p:set>
                                      <p:cBhvr>
                                        <p:cTn id="39" dur="1" fill="hold">
                                          <p:stCondLst>
                                            <p:cond delay="0"/>
                                          </p:stCondLst>
                                        </p:cTn>
                                        <p:tgtEl>
                                          <p:spTgt spid="19"/>
                                        </p:tgtEl>
                                        <p:attrNameLst>
                                          <p:attrName>style.visibility</p:attrName>
                                        </p:attrNameLst>
                                      </p:cBhvr>
                                      <p:to>
                                        <p:strVal val="visible"/>
                                      </p:to>
                                    </p:set>
                                    <p:animEffect transition="in" filter="fade">
                                      <p:cBhvr>
                                        <p:cTn id="40" dur="400"/>
                                        <p:tgtEl>
                                          <p:spTgt spid="19"/>
                                        </p:tgtEl>
                                      </p:cBhvr>
                                    </p:animEffect>
                                  </p:childTnLst>
                                </p:cTn>
                              </p:par>
                              <p:par>
                                <p:cTn id="44" presetID="10" presetClass="entr" presetSubtype="0" fill="hold" nodeType="withEffect">
                                  <p:stCondLst>
                                    <p:cond delay="0"/>
                                  </p:stCondLst>
                                  <p:childTnLst>
                                    <p:set>
                                      <p:cBhvr>
                                        <p:cTn id="42" dur="1" fill="hold">
                                          <p:stCondLst>
                                            <p:cond delay="0"/>
                                          </p:stCondLst>
                                        </p:cTn>
                                        <p:tgtEl>
                                          <p:spTgt spid="20"/>
                                        </p:tgtEl>
                                        <p:attrNameLst>
                                          <p:attrName>style.visibility</p:attrName>
                                        </p:attrNameLst>
                                      </p:cBhvr>
                                      <p:to>
                                        <p:strVal val="visible"/>
                                      </p:to>
                                    </p:set>
                                    <p:animEffect transition="in" filter="fade">
                                      <p:cBhvr>
                                        <p:cTn id="43" dur="400"/>
                                        <p:tgtEl>
                                          <p:spTgt spid="20"/>
                                        </p:tgtEl>
                                      </p:cBhvr>
                                    </p:animEffect>
                                  </p:childTnLst>
                                </p:cTn>
                              </p:par>
                            </p:childTnLst>
                          </p:cTn>
                        </p:par>
                      </p:childTnLst>
                    </p:cTn>
                  </p:par>
                  <p:par>
                    <p:cTn id="56" fill="hold">
                      <p:stCondLst>
                        <p:cond delay="indefinite"/>
                      </p:stCondLst>
                      <p:childTnLst>
                        <p:par>
                          <p:cTn id="57" fill="hold">
                            <p:stCondLst>
                              <p:cond delay="0"/>
                            </p:stCondLst>
                            <p:childTnLst>
                              <p:par>
                                <p:cTn id="49" presetID="10" presetClass="entr" presetSubtype="0" fill="hold" nodeType="clickEffect">
                                  <p:stCondLst>
                                    <p:cond delay="0"/>
                                  </p:stCondLst>
                                  <p:childTnLst>
                                    <p:set>
                                      <p:cBhvr>
                                        <p:cTn id="47" dur="1" fill="hold">
                                          <p:stCondLst>
                                            <p:cond delay="0"/>
                                          </p:stCondLst>
                                        </p:cTn>
                                        <p:tgtEl>
                                          <p:spTgt spid="21"/>
                                        </p:tgtEl>
                                        <p:attrNameLst>
                                          <p:attrName>style.visibility</p:attrName>
                                        </p:attrNameLst>
                                      </p:cBhvr>
                                      <p:to>
                                        <p:strVal val="visible"/>
                                      </p:to>
                                    </p:set>
                                    <p:animEffect transition="in" filter="fade">
                                      <p:cBhvr>
                                        <p:cTn id="48" dur="400"/>
                                        <p:tgtEl>
                                          <p:spTgt spid="21"/>
                                        </p:tgtEl>
                                      </p:cBhvr>
                                    </p:animEffect>
                                  </p:childTnLst>
                                </p:cTn>
                              </p:par>
                              <p:par>
                                <p:cTn id="52" presetID="10" presetClass="entr" presetSubtype="0" fill="hold" nodeType="withEffect">
                                  <p:stCondLst>
                                    <p:cond delay="0"/>
                                  </p:stCondLst>
                                  <p:childTnLst>
                                    <p:set>
                                      <p:cBhvr>
                                        <p:cTn id="50" dur="1" fill="hold">
                                          <p:stCondLst>
                                            <p:cond delay="0"/>
                                          </p:stCondLst>
                                        </p:cTn>
                                        <p:tgtEl>
                                          <p:spTgt spid="22"/>
                                        </p:tgtEl>
                                        <p:attrNameLst>
                                          <p:attrName>style.visibility</p:attrName>
                                        </p:attrNameLst>
                                      </p:cBhvr>
                                      <p:to>
                                        <p:strVal val="visible"/>
                                      </p:to>
                                    </p:set>
                                    <p:animEffect transition="in" filter="fade">
                                      <p:cBhvr>
                                        <p:cTn id="51" dur="400"/>
                                        <p:tgtEl>
                                          <p:spTgt spid="22"/>
                                        </p:tgtEl>
                                      </p:cBhvr>
                                    </p:animEffect>
                                  </p:childTnLst>
                                </p:cTn>
                              </p:par>
                              <p:par>
                                <p:cTn id="55" presetID="10" presetClass="entr" presetSubtype="0" fill="hold" nodeType="with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fade">
                                      <p:cBhvr>
                                        <p:cTn id="54" dur="4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Model Answer</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04 Discussion 讨论</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16 · Lesson 80 The right to rest and other employment laws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49</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0584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Model answer (Question 2)</a:t>
            </a:r>
          </a:p>
        </p:txBody>
      </p:sp>
      <p:sp>
        <p:nvSpPr>
          <p:cNvPr id="9" name="Rounded Rectangle 8"/>
          <p:cNvSpPr/>
          <p:nvPr/>
        </p:nvSpPr>
        <p:spPr>
          <a:xfrm>
            <a:off x="548640" y="1463040"/>
            <a:ext cx="11094415" cy="4069080"/>
          </a:xfrm>
          <a:prstGeom prst="roundRect">
            <a:avLst>
              <a:gd name="adj" fmla="val 6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31520" y="1371600"/>
            <a:ext cx="914400" cy="914400"/>
          </a:xfrm>
          <a:prstGeom prst="rect">
            <a:avLst/>
          </a:prstGeom>
          <a:noFill/>
        </p:spPr>
        <p:txBody>
          <a:bodyPr wrap="square" anchor="t">
            <a:spAutoFit/>
          </a:bodyPr>
          <a:lstStyle/>
          <a:p>
            <a:pPr algn="l">
              <a:lnSpc>
                <a:spcPct val="115000"/>
              </a:lnSpc>
              <a:spcAft>
                <a:spcPts val="800"/>
              </a:spcAft>
            </a:pPr>
            <a:r>
              <a:rPr sz="5400" b="0">
                <a:solidFill>
                  <a:srgbClr val="4A90E2"/>
                </a:solidFill>
                <a:latin typeface="Arial"/>
                <a:ea typeface="Microsoft YaHei"/>
              </a:rPr>
              <a:t>❝</a:t>
            </a:r>
          </a:p>
        </p:txBody>
      </p:sp>
      <p:sp>
        <p:nvSpPr>
          <p:cNvPr id="11" name="TextBox 10"/>
          <p:cNvSpPr txBox="1"/>
          <p:nvPr/>
        </p:nvSpPr>
        <p:spPr>
          <a:xfrm>
            <a:off x="1463040" y="1600200"/>
            <a:ext cx="9814255" cy="3794760"/>
          </a:xfrm>
          <a:prstGeom prst="rect">
            <a:avLst/>
          </a:prstGeom>
          <a:noFill/>
        </p:spPr>
        <p:txBody>
          <a:bodyPr wrap="square" anchor="t">
            <a:spAutoFit/>
          </a:bodyPr>
          <a:lstStyle/>
          <a:p>
            <a:pPr algn="l">
              <a:lnSpc>
                <a:spcPct val="130000"/>
              </a:lnSpc>
              <a:spcAft>
                <a:spcPts val="800"/>
              </a:spcAft>
            </a:pPr>
            <a:r>
              <a:rPr sz="2600" b="0">
                <a:solidFill>
                  <a:srgbClr val="1F2A44"/>
                </a:solidFill>
                <a:latin typeface="Arial"/>
                <a:ea typeface="Microsoft YaHei"/>
              </a:rPr>
              <a:t>I think basic rules should apply to everyone, because workers in small companies need protection too. However, governments could give small firms more support or time to comply. That way, they follow the law without being forced to close.</a:t>
            </a:r>
          </a:p>
        </p:txBody>
      </p:sp>
      <p:sp>
        <p:nvSpPr>
          <p:cNvPr id="12" name="Rounded Rectangle 11"/>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“comply” 遵守;“be forced to close” 被迫关闭。</a:t>
            </a:r>
          </a:p>
        </p:txBody>
      </p:sp>
    </p:spTree>
  </p:cSld>
  <p:clrMapOvr>
    <a:masterClrMapping/>
  </p:clrMapOvr>
  <p:transition spd="med">
    <p:fade/>
  </p:transition>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Obligation, permission and prohibition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16 · Lesson 80 The right to rest and other employment laws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50</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义务、许可和禁止</a:t>
            </a:r>
          </a:p>
        </p:txBody>
      </p:sp>
      <p:graphicFrame>
        <p:nvGraphicFramePr>
          <p:cNvPr id="9" name="Table 8"/>
          <p:cNvGraphicFramePr>
            <a:graphicFrameLocks noGrp="1"/>
          </p:cNvGraphicFramePr>
          <p:nvPr/>
        </p:nvGraphicFramePr>
        <p:xfrm>
          <a:off x="548640" y="1417320"/>
          <a:ext cx="11094415" cy="2529840"/>
        </p:xfrm>
        <a:graphic>
          <a:graphicData uri="http://schemas.openxmlformats.org/drawingml/2006/table">
            <a:tbl>
              <a:tblPr firstRow="1" bandRow="1">
                <a:tableStyleId>{5C22544A-7EE6-4342-B048-85BDC9FD1C3A}</a:tableStyleId>
              </a:tblPr>
              <a:tblGrid>
                <a:gridCol w="5547207"/>
                <a:gridCol w="5547208"/>
              </a:tblGrid>
              <a:tr h="408432">
                <a:tc>
                  <a:txBody>
                    <a:bodyPr wrap="square"/>
                    <a:lstStyle/>
                    <a:p>
                      <a:r>
                        <a:rPr sz="1600" b="1">
                          <a:solidFill>
                            <a:srgbClr val="FFFFFF"/>
                          </a:solidFill>
                          <a:latin typeface="Arial"/>
                          <a:ea typeface="Microsoft YaHei"/>
                        </a:rPr>
                        <a:t>Meaning</a:t>
                      </a:r>
                    </a:p>
                  </a:txBody>
                  <a:tcPr anchor="ctr">
                    <a:solidFill>
                      <a:srgbClr val="3CC49A"/>
                    </a:solidFill>
                  </a:tcPr>
                </a:tc>
                <a:tc>
                  <a:txBody>
                    <a:bodyPr wrap="square"/>
                    <a:lstStyle/>
                    <a:p>
                      <a:r>
                        <a:rPr sz="1600" b="1">
                          <a:solidFill>
                            <a:srgbClr val="FFFFFF"/>
                          </a:solidFill>
                          <a:latin typeface="Arial"/>
                          <a:ea typeface="Microsoft YaHei"/>
                        </a:rPr>
                        <a:t>Examples</a:t>
                      </a:r>
                    </a:p>
                  </a:txBody>
                  <a:tcPr anchor="ctr">
                    <a:solidFill>
                      <a:srgbClr val="3CC49A"/>
                    </a:solidFill>
                  </a:tcPr>
                </a:tc>
              </a:tr>
              <a:tr h="652272">
                <a:tc>
                  <a:txBody>
                    <a:bodyPr wrap="square"/>
                    <a:lstStyle/>
                    <a:p>
                      <a:r>
                        <a:rPr sz="1600" b="1">
                          <a:solidFill>
                            <a:srgbClr val="1F2A44"/>
                          </a:solidFill>
                          <a:latin typeface="Arial"/>
                          <a:ea typeface="Microsoft YaHei"/>
                        </a:rPr>
                        <a:t>Obligation</a:t>
                      </a:r>
                    </a:p>
                  </a:txBody>
                  <a:tcPr anchor="ctr">
                    <a:solidFill>
                      <a:srgbClr val="FFFFFF"/>
                    </a:solidFill>
                  </a:tcPr>
                </a:tc>
                <a:tc>
                  <a:txBody>
                    <a:bodyPr wrap="square"/>
                    <a:lstStyle/>
                    <a:p>
                      <a:r>
                        <a:rPr sz="1600" b="0">
                          <a:solidFill>
                            <a:srgbClr val="1F2A44"/>
                          </a:solidFill>
                          <a:latin typeface="Arial"/>
                          <a:ea typeface="Microsoft YaHei"/>
                        </a:rPr>
                        <a:t>Employers must pay overtime. / You have to wear a badge.</a:t>
                      </a:r>
                    </a:p>
                  </a:txBody>
                  <a:tcPr anchor="ctr">
                    <a:solidFill>
                      <a:srgbClr val="FFFFFF"/>
                    </a:solidFill>
                  </a:tcPr>
                </a:tc>
              </a:tr>
              <a:tr h="408432">
                <a:tc>
                  <a:txBody>
                    <a:bodyPr wrap="square"/>
                    <a:lstStyle/>
                    <a:p>
                      <a:r>
                        <a:rPr sz="1600" b="1">
                          <a:solidFill>
                            <a:srgbClr val="1F2A44"/>
                          </a:solidFill>
                          <a:latin typeface="Arial"/>
                          <a:ea typeface="Microsoft YaHei"/>
                        </a:rPr>
                        <a:t>No obligation</a:t>
                      </a:r>
                    </a:p>
                  </a:txBody>
                  <a:tcPr anchor="ctr">
                    <a:solidFill>
                      <a:srgbClr val="FFEFD9"/>
                    </a:solidFill>
                  </a:tcPr>
                </a:tc>
                <a:tc>
                  <a:txBody>
                    <a:bodyPr wrap="square"/>
                    <a:lstStyle/>
                    <a:p>
                      <a:r>
                        <a:rPr sz="1600" b="0">
                          <a:solidFill>
                            <a:srgbClr val="1F2A44"/>
                          </a:solidFill>
                          <a:latin typeface="Arial"/>
                          <a:ea typeface="Microsoft YaHei"/>
                        </a:rPr>
                        <a:t>You don’t have to / needn’t work weekends.</a:t>
                      </a:r>
                    </a:p>
                  </a:txBody>
                  <a:tcPr anchor="ctr">
                    <a:solidFill>
                      <a:srgbClr val="FFEFD9"/>
                    </a:solidFill>
                  </a:tcPr>
                </a:tc>
              </a:tr>
              <a:tr h="652272">
                <a:tc>
                  <a:txBody>
                    <a:bodyPr wrap="square"/>
                    <a:lstStyle/>
                    <a:p>
                      <a:r>
                        <a:rPr sz="1600" b="1">
                          <a:solidFill>
                            <a:srgbClr val="1F2A44"/>
                          </a:solidFill>
                          <a:latin typeface="Arial"/>
                          <a:ea typeface="Microsoft YaHei"/>
                        </a:rPr>
                        <a:t>Permission</a:t>
                      </a:r>
                    </a:p>
                  </a:txBody>
                  <a:tcPr anchor="ctr">
                    <a:solidFill>
                      <a:srgbClr val="FFFFFF"/>
                    </a:solidFill>
                  </a:tcPr>
                </a:tc>
                <a:tc>
                  <a:txBody>
                    <a:bodyPr wrap="square"/>
                    <a:lstStyle/>
                    <a:p>
                      <a:r>
                        <a:rPr sz="1600" b="0">
                          <a:solidFill>
                            <a:srgbClr val="1F2A44"/>
                          </a:solidFill>
                          <a:latin typeface="Arial"/>
                          <a:ea typeface="Microsoft YaHei"/>
                        </a:rPr>
                        <a:t>You’re allowed to take breaks. / You can leave early.</a:t>
                      </a:r>
                    </a:p>
                  </a:txBody>
                  <a:tcPr anchor="ctr">
                    <a:solidFill>
                      <a:srgbClr val="FFFFFF"/>
                    </a:solidFill>
                  </a:tcPr>
                </a:tc>
              </a:tr>
              <a:tr h="408432">
                <a:tc>
                  <a:txBody>
                    <a:bodyPr wrap="square"/>
                    <a:lstStyle/>
                    <a:p>
                      <a:r>
                        <a:rPr sz="1600" b="1">
                          <a:solidFill>
                            <a:srgbClr val="1F2A44"/>
                          </a:solidFill>
                          <a:latin typeface="Arial"/>
                          <a:ea typeface="Microsoft YaHei"/>
                        </a:rPr>
                        <a:t>Prohibition</a:t>
                      </a:r>
                    </a:p>
                  </a:txBody>
                  <a:tcPr anchor="ctr">
                    <a:solidFill>
                      <a:srgbClr val="FFEFD9"/>
                    </a:solidFill>
                  </a:tcPr>
                </a:tc>
                <a:tc>
                  <a:txBody>
                    <a:bodyPr wrap="square"/>
                    <a:lstStyle/>
                    <a:p>
                      <a:r>
                        <a:rPr sz="1600" b="0">
                          <a:solidFill>
                            <a:srgbClr val="1F2A44"/>
                          </a:solidFill>
                          <a:latin typeface="Arial"/>
                          <a:ea typeface="Microsoft YaHei"/>
                        </a:rPr>
                        <a:t>You mustn’t share passwords.</a:t>
                      </a:r>
                    </a:p>
                  </a:txBody>
                  <a:tcPr anchor="ctr">
                    <a:solidFill>
                      <a:srgbClr val="FFEFD9"/>
                    </a:solidFill>
                  </a:tcPr>
                </a:tc>
              </a:tr>
            </a:tbl>
          </a:graphicData>
        </a:graphic>
      </p:graphicFrame>
    </p:spTree>
  </p:cSld>
  <p:clrMapOvr>
    <a:masterClrMapping/>
  </p:clrMapOvr>
  <p:transition spd="med">
    <p:fade/>
  </p:transition>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2900" b="1">
                <a:solidFill>
                  <a:srgbClr val="1F2A44"/>
                </a:solidFill>
                <a:latin typeface="Arial"/>
                <a:ea typeface="Microsoft YaHei"/>
              </a:rPr>
              <a:t>💡 Obligation, permission and prohibition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16 · Lesson 80 The right to rest and other employment laws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51</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义务、许可和禁止</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Don’t have to = not necessary. Mustn’t = forbidden. Do not confuse them.</a:t>
            </a:r>
          </a:p>
        </p:txBody>
      </p:sp>
    </p:spTree>
  </p:cSld>
  <p:clrMapOvr>
    <a:masterClrMapping/>
  </p:clrMapOvr>
  <p:transition spd="med">
    <p:fade/>
  </p:transition>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16 · Lesson 80 The right to rest and other employment laws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52</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85343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Work on Sundays is optional, so you mustn’t come.</a:t>
            </a:r>
          </a:p>
        </p:txBody>
      </p:sp>
      <p:sp>
        <p:nvSpPr>
          <p:cNvPr id="10" name="Rounded Rectangle 9"/>
          <p:cNvSpPr/>
          <p:nvPr/>
        </p:nvSpPr>
        <p:spPr>
          <a:xfrm>
            <a:off x="6187287" y="1463040"/>
            <a:ext cx="5455767" cy="85343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Work on Sundays is optional, so you don’t have to come.</a:t>
            </a:r>
          </a:p>
          <a:p>
            <a:pPr algn="l">
              <a:spcAft>
                <a:spcPts val="200"/>
              </a:spcAft>
            </a:pPr>
            <a:r>
              <a:rPr sz="1200" b="0">
                <a:solidFill>
                  <a:srgbClr val="FFFFFF"/>
                </a:solidFill>
                <a:latin typeface="Arial"/>
                <a:ea typeface="Microsoft YaHei"/>
              </a:rPr>
              <a:t>mustn’t = 禁止;don’t have to = 不必</a:t>
            </a:r>
          </a:p>
        </p:txBody>
      </p:sp>
      <p:sp>
        <p:nvSpPr>
          <p:cNvPr id="11" name="Rounded Rectangle 10"/>
          <p:cNvSpPr/>
          <p:nvPr/>
        </p:nvSpPr>
        <p:spPr>
          <a:xfrm>
            <a:off x="548640" y="240791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We are not allowed to working overtime.</a:t>
            </a:r>
          </a:p>
        </p:txBody>
      </p:sp>
      <p:sp>
        <p:nvSpPr>
          <p:cNvPr id="12" name="Rounded Rectangle 11"/>
          <p:cNvSpPr/>
          <p:nvPr/>
        </p:nvSpPr>
        <p:spPr>
          <a:xfrm>
            <a:off x="6187287" y="240791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We are not allowed to work overtime.</a:t>
            </a:r>
          </a:p>
          <a:p>
            <a:pPr algn="l">
              <a:spcAft>
                <a:spcPts val="200"/>
              </a:spcAft>
            </a:pPr>
            <a:r>
              <a:rPr sz="1200" b="0">
                <a:solidFill>
                  <a:srgbClr val="FFFFFF"/>
                </a:solidFill>
                <a:latin typeface="Arial"/>
                <a:ea typeface="Microsoft YaHei"/>
              </a:rPr>
              <a:t>allowed to + 原形</a:t>
            </a:r>
          </a:p>
        </p:txBody>
      </p:sp>
      <p:sp>
        <p:nvSpPr>
          <p:cNvPr id="13" name="Rounded Rectangle 12"/>
          <p:cNvSpPr/>
          <p:nvPr/>
        </p:nvSpPr>
        <p:spPr>
          <a:xfrm>
            <a:off x="548640" y="3108958"/>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Employers have to paid the minimum wage.</a:t>
            </a:r>
          </a:p>
        </p:txBody>
      </p:sp>
      <p:sp>
        <p:nvSpPr>
          <p:cNvPr id="14" name="Rounded Rectangle 13"/>
          <p:cNvSpPr/>
          <p:nvPr/>
        </p:nvSpPr>
        <p:spPr>
          <a:xfrm>
            <a:off x="6187287" y="3108958"/>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Employers have to pay the minimum wage.</a:t>
            </a:r>
          </a:p>
          <a:p>
            <a:pPr algn="l">
              <a:spcAft>
                <a:spcPts val="200"/>
              </a:spcAft>
            </a:pPr>
            <a:r>
              <a:rPr sz="1200" b="0">
                <a:solidFill>
                  <a:srgbClr val="FFFFFF"/>
                </a:solidFill>
                <a:latin typeface="Arial"/>
                <a:ea typeface="Microsoft YaHei"/>
              </a:rPr>
              <a:t>have to + 原形</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Spot the Mistake (cont.)</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16 · Lesson 80 The right to rest and other employment laws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53</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What's wrong? Fix it before you click!  哪里错了？先改正，再点击核对</a:t>
            </a:r>
          </a:p>
        </p:txBody>
      </p:sp>
      <p:sp>
        <p:nvSpPr>
          <p:cNvPr id="9" name="Rounded Rectangle 8"/>
          <p:cNvSpPr/>
          <p:nvPr/>
        </p:nvSpPr>
        <p:spPr>
          <a:xfrm>
            <a:off x="548640" y="1463040"/>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I have right for rest.</a:t>
            </a:r>
          </a:p>
        </p:txBody>
      </p:sp>
      <p:sp>
        <p:nvSpPr>
          <p:cNvPr id="10" name="Rounded Rectangle 9"/>
          <p:cNvSpPr/>
          <p:nvPr/>
        </p:nvSpPr>
        <p:spPr>
          <a:xfrm>
            <a:off x="6187287" y="1463040"/>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 have the right to rest.</a:t>
            </a:r>
          </a:p>
          <a:p>
            <a:pPr algn="l">
              <a:spcAft>
                <a:spcPts val="200"/>
              </a:spcAft>
            </a:pPr>
            <a:r>
              <a:rPr sz="1200" b="0">
                <a:solidFill>
                  <a:srgbClr val="FFFFFF"/>
                </a:solidFill>
                <a:latin typeface="Arial"/>
                <a:ea typeface="Microsoft YaHei"/>
              </a:rPr>
              <a:t>the right to</a:t>
            </a:r>
          </a:p>
        </p:txBody>
      </p:sp>
      <p:sp>
        <p:nvSpPr>
          <p:cNvPr id="11" name="Rounded Rectangle 10"/>
          <p:cNvSpPr/>
          <p:nvPr/>
        </p:nvSpPr>
        <p:spPr>
          <a:xfrm>
            <a:off x="548640" y="2164079"/>
            <a:ext cx="5455767" cy="670560"/>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She was dismissed without reason, it is law break.</a:t>
            </a:r>
          </a:p>
        </p:txBody>
      </p:sp>
      <p:sp>
        <p:nvSpPr>
          <p:cNvPr id="12" name="Rounded Rectangle 11"/>
          <p:cNvSpPr/>
          <p:nvPr/>
        </p:nvSpPr>
        <p:spPr>
          <a:xfrm>
            <a:off x="6187287" y="2164079"/>
            <a:ext cx="5455767" cy="670560"/>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…it is against the law.</a:t>
            </a:r>
          </a:p>
          <a:p>
            <a:pPr algn="l">
              <a:spcAft>
                <a:spcPts val="200"/>
              </a:spcAft>
            </a:pPr>
            <a:r>
              <a:rPr sz="1200" b="0">
                <a:solidFill>
                  <a:srgbClr val="FFFFFF"/>
                </a:solidFill>
                <a:latin typeface="Arial"/>
                <a:ea typeface="Microsoft YaHei"/>
              </a:rPr>
              <a:t>against the law</a:t>
            </a:r>
          </a:p>
        </p:txBody>
      </p:sp>
      <p:sp>
        <p:nvSpPr>
          <p:cNvPr id="13" name="Rounded Rectangle 12"/>
          <p:cNvSpPr/>
          <p:nvPr/>
        </p:nvSpPr>
        <p:spPr>
          <a:xfrm>
            <a:off x="548640" y="2926079"/>
            <a:ext cx="5455767" cy="609599"/>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6B5B"/>
                </a:solidFill>
                <a:latin typeface="Arial"/>
                <a:ea typeface="Microsoft YaHei"/>
              </a:rPr>
              <a:t>✗  The law protects to workers.</a:t>
            </a:r>
          </a:p>
        </p:txBody>
      </p:sp>
      <p:sp>
        <p:nvSpPr>
          <p:cNvPr id="14" name="Rounded Rectangle 13"/>
          <p:cNvSpPr/>
          <p:nvPr/>
        </p:nvSpPr>
        <p:spPr>
          <a:xfrm>
            <a:off x="6187287" y="2926079"/>
            <a:ext cx="5455767" cy="609599"/>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600" b="1">
                <a:solidFill>
                  <a:srgbClr val="FFFFFF"/>
                </a:solidFill>
                <a:latin typeface="Arial"/>
                <a:ea typeface="Microsoft YaHei"/>
              </a:rPr>
              <a:t>✓  The law protects workers.</a:t>
            </a:r>
          </a:p>
          <a:p>
            <a:pPr algn="l">
              <a:spcAft>
                <a:spcPts val="200"/>
              </a:spcAft>
            </a:pPr>
            <a:r>
              <a:rPr sz="1200" b="0">
                <a:solidFill>
                  <a:srgbClr val="FFFFFF"/>
                </a:solidFill>
                <a:latin typeface="Arial"/>
                <a:ea typeface="Microsoft YaHei"/>
              </a:rPr>
              <a:t>及物动词</a:t>
            </a:r>
          </a:p>
        </p:txBody>
      </p:sp>
      <p:sp>
        <p:nvSpPr>
          <p:cNvPr id="18" name="Rounded Rectangle 17"/>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500" b="1">
                <a:solidFill>
                  <a:srgbClr val="1F2A44"/>
                </a:solidFill>
                <a:latin typeface="Arial"/>
                <a:ea typeface="Microsoft YaHei"/>
              </a:rPr>
              <a:t>⚠️ Check mustn’t vs don’t have to, allowed to + base, the right to, against the law.</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2"/>
                                        </p:tgtEl>
                                        <p:attrNameLst>
                                          <p:attrName>style.visibility</p:attrName>
                                        </p:attrNameLst>
                                      </p:cBhvr>
                                      <p:to>
                                        <p:strVal val="visible"/>
                                      </p:to>
                                    </p:set>
                                    <p:animEffect transition="in" filter="fade">
                                      <p:cBhvr>
                                        <p:cTn id="9" dur="400"/>
                                        <p:tgtEl>
                                          <p:spTgt spid="12"/>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4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Cultural tips</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05 Language Tips 贴士</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16 · Lesson 80 The right to rest and other employment laws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54</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960120"/>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文化小贴士</a:t>
            </a:r>
          </a:p>
        </p:txBody>
      </p:sp>
      <p:sp>
        <p:nvSpPr>
          <p:cNvPr id="9" name="Rounded Rectangle 8"/>
          <p:cNvSpPr/>
          <p:nvPr/>
        </p:nvSpPr>
        <p:spPr>
          <a:xfrm>
            <a:off x="548640" y="1417320"/>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417320"/>
            <a:ext cx="91440" cy="441959"/>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1417320"/>
            <a:ext cx="10728655" cy="441959"/>
          </a:xfrm>
          <a:prstGeom prst="rect">
            <a:avLst/>
          </a:prstGeom>
          <a:noFill/>
        </p:spPr>
        <p:txBody>
          <a:bodyPr wrap="square" anchor="ctr">
            <a:spAutoFit/>
          </a:bodyPr>
          <a:lstStyle/>
          <a:p>
            <a:r>
              <a:rPr sz="1700" b="0">
                <a:solidFill>
                  <a:srgbClr val="1F2A44"/>
                </a:solidFill>
                <a:latin typeface="Arial"/>
                <a:ea typeface="Microsoft YaHei"/>
              </a:rPr>
              <a:t>Rights vary. Laws differ by country and even by state.</a:t>
            </a:r>
          </a:p>
        </p:txBody>
      </p:sp>
      <p:sp>
        <p:nvSpPr>
          <p:cNvPr id="12" name="Rounded Rectangle 11"/>
          <p:cNvSpPr/>
          <p:nvPr/>
        </p:nvSpPr>
        <p:spPr>
          <a:xfrm>
            <a:off x="548640" y="1950719"/>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48640" y="1950719"/>
            <a:ext cx="91440" cy="441959"/>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1950719"/>
            <a:ext cx="10728655" cy="441959"/>
          </a:xfrm>
          <a:prstGeom prst="rect">
            <a:avLst/>
          </a:prstGeom>
          <a:noFill/>
        </p:spPr>
        <p:txBody>
          <a:bodyPr wrap="square" anchor="ctr">
            <a:spAutoFit/>
          </a:bodyPr>
          <a:lstStyle/>
          <a:p>
            <a:r>
              <a:rPr sz="1700" b="0">
                <a:solidFill>
                  <a:srgbClr val="1F2A44"/>
                </a:solidFill>
                <a:latin typeface="Arial"/>
                <a:ea typeface="Microsoft YaHei"/>
              </a:rPr>
              <a:t>Don’t assume. Say “As far as I know…” when you’re not sure.</a:t>
            </a:r>
          </a:p>
        </p:txBody>
      </p:sp>
      <p:sp>
        <p:nvSpPr>
          <p:cNvPr id="15" name="Rounded Rectangle 14"/>
          <p:cNvSpPr/>
          <p:nvPr/>
        </p:nvSpPr>
        <p:spPr>
          <a:xfrm>
            <a:off x="548640" y="2484118"/>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548640" y="2484118"/>
            <a:ext cx="91440" cy="441959"/>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2484118"/>
            <a:ext cx="10728655" cy="441959"/>
          </a:xfrm>
          <a:prstGeom prst="rect">
            <a:avLst/>
          </a:prstGeom>
          <a:noFill/>
        </p:spPr>
        <p:txBody>
          <a:bodyPr wrap="square" anchor="ctr">
            <a:spAutoFit/>
          </a:bodyPr>
          <a:lstStyle/>
          <a:p>
            <a:r>
              <a:rPr sz="1700" b="0">
                <a:solidFill>
                  <a:srgbClr val="1F2A44"/>
                </a:solidFill>
                <a:latin typeface="Arial"/>
                <a:ea typeface="Microsoft YaHei"/>
              </a:rPr>
              <a:t>Seek advice. HR, a union or a legal adviser can clarify.</a:t>
            </a:r>
          </a:p>
        </p:txBody>
      </p:sp>
      <p:sp>
        <p:nvSpPr>
          <p:cNvPr id="18" name="Rounded Rectangle 17"/>
          <p:cNvSpPr/>
          <p:nvPr/>
        </p:nvSpPr>
        <p:spPr>
          <a:xfrm>
            <a:off x="548640" y="3017517"/>
            <a:ext cx="11094415" cy="441959"/>
          </a:xfrm>
          <a:prstGeom prst="roundRect">
            <a:avLst>
              <a:gd name="adj" fmla="val 12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 y="3017517"/>
            <a:ext cx="91440" cy="441959"/>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77240" y="3017517"/>
            <a:ext cx="10728655" cy="441959"/>
          </a:xfrm>
          <a:prstGeom prst="rect">
            <a:avLst/>
          </a:prstGeom>
          <a:noFill/>
        </p:spPr>
        <p:txBody>
          <a:bodyPr wrap="square" anchor="ctr">
            <a:spAutoFit/>
          </a:bodyPr>
          <a:lstStyle/>
          <a:p>
            <a:r>
              <a:rPr sz="1700" b="0">
                <a:solidFill>
                  <a:srgbClr val="1F2A44"/>
                </a:solidFill>
                <a:latin typeface="Arial"/>
                <a:ea typeface="Microsoft YaHei"/>
              </a:rPr>
              <a:t>Written agreements matter. Always keep a copy of your contract.</a:t>
            </a:r>
          </a:p>
        </p:txBody>
      </p:sp>
    </p:spTree>
  </p:cSld>
  <p:clrMapOvr>
    <a:masterClrMapping/>
  </p:clrMapOvr>
  <p:transition spd="med">
    <p:fade/>
  </p:transition>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Can-do Check 掌握度自检</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Lesson 80 wrap-up</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16 · Lesson 80 The right to rest and other employment laws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55</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Rate yourself: ⭐ not yet · ⭐⭐ almost · ⭐⭐⭐ I can do it!  给自己打星</a:t>
            </a:r>
          </a:p>
        </p:txBody>
      </p:sp>
      <p:sp>
        <p:nvSpPr>
          <p:cNvPr id="9" name="Rounded Rectangle 8"/>
          <p:cNvSpPr/>
          <p:nvPr/>
        </p:nvSpPr>
        <p:spPr>
          <a:xfrm>
            <a:off x="548640" y="1508760"/>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508760"/>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1" name="TextBox 10"/>
          <p:cNvSpPr txBox="1"/>
          <p:nvPr/>
        </p:nvSpPr>
        <p:spPr>
          <a:xfrm>
            <a:off x="1234440" y="1508760"/>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talk about basic employee rights.</a:t>
            </a:r>
          </a:p>
        </p:txBody>
      </p:sp>
      <p:sp>
        <p:nvSpPr>
          <p:cNvPr id="12" name="TextBox 11"/>
          <p:cNvSpPr txBox="1"/>
          <p:nvPr/>
        </p:nvSpPr>
        <p:spPr>
          <a:xfrm>
            <a:off x="9539935" y="1508760"/>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3" name="Rounded Rectangle 12"/>
          <p:cNvSpPr/>
          <p:nvPr/>
        </p:nvSpPr>
        <p:spPr>
          <a:xfrm>
            <a:off x="548640" y="2106168"/>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85800" y="2106168"/>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5" name="TextBox 14"/>
          <p:cNvSpPr txBox="1"/>
          <p:nvPr/>
        </p:nvSpPr>
        <p:spPr>
          <a:xfrm>
            <a:off x="1234440" y="2106168"/>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explain rules with must / have to / allowed to.</a:t>
            </a:r>
          </a:p>
        </p:txBody>
      </p:sp>
      <p:sp>
        <p:nvSpPr>
          <p:cNvPr id="16" name="TextBox 15"/>
          <p:cNvSpPr txBox="1"/>
          <p:nvPr/>
        </p:nvSpPr>
        <p:spPr>
          <a:xfrm>
            <a:off x="9539935" y="2106168"/>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17" name="Rounded Rectangle 16"/>
          <p:cNvSpPr/>
          <p:nvPr/>
        </p:nvSpPr>
        <p:spPr>
          <a:xfrm>
            <a:off x="548640" y="2703576"/>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2703576"/>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19" name="TextBox 18"/>
          <p:cNvSpPr txBox="1"/>
          <p:nvPr/>
        </p:nvSpPr>
        <p:spPr>
          <a:xfrm>
            <a:off x="1234440" y="2703576"/>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raise a grievance factually.</a:t>
            </a:r>
          </a:p>
        </p:txBody>
      </p:sp>
      <p:sp>
        <p:nvSpPr>
          <p:cNvPr id="20" name="TextBox 19"/>
          <p:cNvSpPr txBox="1"/>
          <p:nvPr/>
        </p:nvSpPr>
        <p:spPr>
          <a:xfrm>
            <a:off x="9539935" y="2703576"/>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1" name="Rounded Rectangle 20"/>
          <p:cNvSpPr/>
          <p:nvPr/>
        </p:nvSpPr>
        <p:spPr>
          <a:xfrm>
            <a:off x="548640" y="3300984"/>
            <a:ext cx="11094415" cy="5059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85800" y="3300984"/>
            <a:ext cx="548640" cy="5059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3" name="TextBox 22"/>
          <p:cNvSpPr txBox="1"/>
          <p:nvPr/>
        </p:nvSpPr>
        <p:spPr>
          <a:xfrm>
            <a:off x="1234440" y="3300984"/>
            <a:ext cx="8168335" cy="5059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use mustn’t and don’t have to correctly.</a:t>
            </a:r>
          </a:p>
        </p:txBody>
      </p:sp>
      <p:sp>
        <p:nvSpPr>
          <p:cNvPr id="24" name="TextBox 23"/>
          <p:cNvSpPr txBox="1"/>
          <p:nvPr/>
        </p:nvSpPr>
        <p:spPr>
          <a:xfrm>
            <a:off x="9539935" y="3300984"/>
            <a:ext cx="2011680" cy="5059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
        <p:nvSpPr>
          <p:cNvPr id="25" name="Rounded Rectangle 24"/>
          <p:cNvSpPr/>
          <p:nvPr/>
        </p:nvSpPr>
        <p:spPr>
          <a:xfrm>
            <a:off x="548640" y="3898392"/>
            <a:ext cx="11094415" cy="810768"/>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898392"/>
            <a:ext cx="548640" cy="810768"/>
          </a:xfrm>
          <a:prstGeom prst="rect">
            <a:avLst/>
          </a:prstGeom>
          <a:noFill/>
        </p:spPr>
        <p:txBody>
          <a:bodyPr wrap="square" anchor="ctr">
            <a:spAutoFit/>
          </a:bodyPr>
          <a:lstStyle/>
          <a:p>
            <a:pPr algn="l">
              <a:lnSpc>
                <a:spcPct val="115000"/>
              </a:lnSpc>
              <a:spcAft>
                <a:spcPts val="800"/>
              </a:spcAft>
            </a:pPr>
            <a:r>
              <a:rPr sz="2400" b="0">
                <a:solidFill>
                  <a:srgbClr val="3CC49A"/>
                </a:solidFill>
                <a:latin typeface="Arial"/>
                <a:ea typeface="Microsoft YaHei"/>
              </a:rPr>
              <a:t>☐</a:t>
            </a:r>
          </a:p>
        </p:txBody>
      </p:sp>
      <p:sp>
        <p:nvSpPr>
          <p:cNvPr id="27" name="TextBox 26"/>
          <p:cNvSpPr txBox="1"/>
          <p:nvPr/>
        </p:nvSpPr>
        <p:spPr>
          <a:xfrm>
            <a:off x="1234440" y="3898392"/>
            <a:ext cx="8168335" cy="810768"/>
          </a:xfrm>
          <a:prstGeom prst="rect">
            <a:avLst/>
          </a:prstGeom>
          <a:noFill/>
        </p:spPr>
        <p:txBody>
          <a:bodyPr wrap="square" anchor="ctr">
            <a:spAutoFit/>
          </a:bodyPr>
          <a:lstStyle/>
          <a:p>
            <a:pPr algn="l">
              <a:lnSpc>
                <a:spcPct val="115000"/>
              </a:lnSpc>
              <a:spcAft>
                <a:spcPts val="800"/>
              </a:spcAft>
            </a:pPr>
            <a:r>
              <a:rPr sz="2000" b="0">
                <a:solidFill>
                  <a:srgbClr val="1F2A44"/>
                </a:solidFill>
                <a:latin typeface="Arial"/>
                <a:ea typeface="Microsoft YaHei"/>
              </a:rPr>
              <a:t>I can use at least three ★ expressions from this lesson in my own sentences.</a:t>
            </a:r>
          </a:p>
        </p:txBody>
      </p:sp>
      <p:sp>
        <p:nvSpPr>
          <p:cNvPr id="28" name="TextBox 27"/>
          <p:cNvSpPr txBox="1"/>
          <p:nvPr/>
        </p:nvSpPr>
        <p:spPr>
          <a:xfrm>
            <a:off x="9539935" y="3898392"/>
            <a:ext cx="2011680" cy="810768"/>
          </a:xfrm>
          <a:prstGeom prst="rect">
            <a:avLst/>
          </a:prstGeom>
          <a:noFill/>
        </p:spPr>
        <p:txBody>
          <a:bodyPr wrap="square" anchor="ctr">
            <a:spAutoFit/>
          </a:bodyPr>
          <a:lstStyle/>
          <a:p>
            <a:pPr algn="ctr">
              <a:lnSpc>
                <a:spcPct val="115000"/>
              </a:lnSpc>
              <a:spcAft>
                <a:spcPts val="800"/>
              </a:spcAft>
            </a:pPr>
            <a:r>
              <a:rPr sz="2200" b="0">
                <a:solidFill>
                  <a:srgbClr val="FFC857"/>
                </a:solidFill>
                <a:latin typeface="Arial"/>
                <a:ea typeface="Microsoft YaHei"/>
              </a:rPr>
              <a:t>☆ ☆ ☆</a:t>
            </a:r>
          </a:p>
        </p:txBody>
      </p:sp>
    </p:spTree>
  </p:cSld>
  <p:clrMapOvr>
    <a:masterClrMapping/>
  </p:clrMapOvr>
  <p:transition spd="med">
    <p:fade/>
  </p:transition>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After Class: 10-Minute Daily Plan</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课后练习</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16 · Lesson 80 The right to rest and other employment laws</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56</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Rounded Rectangle 7"/>
          <p:cNvSpPr/>
          <p:nvPr/>
        </p:nvSpPr>
        <p:spPr>
          <a:xfrm>
            <a:off x="548640" y="1325880"/>
            <a:ext cx="1554480" cy="713232"/>
          </a:xfrm>
          <a:prstGeom prst="roundRect">
            <a:avLst>
              <a:gd name="adj" fmla="val 2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0–2</a:t>
            </a:r>
          </a:p>
        </p:txBody>
      </p:sp>
      <p:sp>
        <p:nvSpPr>
          <p:cNvPr id="9" name="Rounded Rectangle 8"/>
          <p:cNvSpPr/>
          <p:nvPr/>
        </p:nvSpPr>
        <p:spPr>
          <a:xfrm>
            <a:off x="2240280" y="1325880"/>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Read the 15 expressions aloud. Cover the English and say it from the Chinese. Pick 3 ★ items and make one true sentence with each.</a:t>
            </a:r>
          </a:p>
        </p:txBody>
      </p:sp>
      <p:sp>
        <p:nvSpPr>
          <p:cNvPr id="10" name="Rounded Rectangle 9"/>
          <p:cNvSpPr/>
          <p:nvPr/>
        </p:nvSpPr>
        <p:spPr>
          <a:xfrm>
            <a:off x="548640" y="2112264"/>
            <a:ext cx="1554480" cy="438912"/>
          </a:xfrm>
          <a:prstGeom prst="roundRect">
            <a:avLst>
              <a:gd name="adj" fmla="val 2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2–4</a:t>
            </a:r>
          </a:p>
        </p:txBody>
      </p:sp>
      <p:sp>
        <p:nvSpPr>
          <p:cNvPr id="11" name="Rounded Rectangle 10"/>
          <p:cNvSpPr/>
          <p:nvPr/>
        </p:nvSpPr>
        <p:spPr>
          <a:xfrm>
            <a:off x="2240280" y="2112264"/>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Shadow the model dialogue: read it with the same rhythm and intonation.</a:t>
            </a:r>
          </a:p>
        </p:txBody>
      </p:sp>
      <p:sp>
        <p:nvSpPr>
          <p:cNvPr id="12" name="Rounded Rectangle 11"/>
          <p:cNvSpPr/>
          <p:nvPr/>
        </p:nvSpPr>
        <p:spPr>
          <a:xfrm>
            <a:off x="548640" y="2624328"/>
            <a:ext cx="1554480" cy="438912"/>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4–8</a:t>
            </a:r>
          </a:p>
        </p:txBody>
      </p:sp>
      <p:sp>
        <p:nvSpPr>
          <p:cNvPr id="13" name="Rounded Rectangle 12"/>
          <p:cNvSpPr/>
          <p:nvPr/>
        </p:nvSpPr>
        <p:spPr>
          <a:xfrm>
            <a:off x="2240280" y="2624328"/>
            <a:ext cx="9402775" cy="43891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Explain three employee rights in 60 seconds, using must/have to/allowed to.</a:t>
            </a:r>
          </a:p>
        </p:txBody>
      </p:sp>
      <p:sp>
        <p:nvSpPr>
          <p:cNvPr id="14" name="Rounded Rectangle 13"/>
          <p:cNvSpPr/>
          <p:nvPr/>
        </p:nvSpPr>
        <p:spPr>
          <a:xfrm>
            <a:off x="548640" y="3136392"/>
            <a:ext cx="1554480" cy="713232"/>
          </a:xfrm>
          <a:prstGeom prst="roundRect">
            <a:avLst>
              <a:gd name="adj" fmla="val 2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500" b="1">
                <a:solidFill>
                  <a:srgbClr val="FFFFFF"/>
                </a:solidFill>
                <a:latin typeface="Arial"/>
                <a:ea typeface="Microsoft YaHei"/>
              </a:rPr>
              <a:t>⏱ 8–10</a:t>
            </a:r>
          </a:p>
        </p:txBody>
      </p:sp>
      <p:sp>
        <p:nvSpPr>
          <p:cNvPr id="15" name="Rounded Rectangle 14"/>
          <p:cNvSpPr/>
          <p:nvPr/>
        </p:nvSpPr>
        <p:spPr>
          <a:xfrm>
            <a:off x="2240280" y="3136392"/>
            <a:ext cx="9402775" cy="713232"/>
          </a:xfrm>
          <a:prstGeom prst="roundRect">
            <a:avLst>
              <a:gd name="adj" fmla="val 15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800" b="1">
                <a:solidFill>
                  <a:srgbClr val="1F2A44"/>
                </a:solidFill>
                <a:latin typeface="Arial"/>
                <a:ea typeface="Microsoft YaHei"/>
              </a:rPr>
              <a:t>Listen to your recording. Check: mustn’t vs don’t have to, allowed to + base, the right to. Write 3 corrections and record again.</a:t>
            </a:r>
          </a:p>
        </p:txBody>
      </p:sp>
      <p:sp>
        <p:nvSpPr>
          <p:cNvPr id="16" name="Rounded Rectangle 15"/>
          <p:cNvSpPr/>
          <p:nvPr/>
        </p:nvSpPr>
        <p:spPr>
          <a:xfrm>
            <a:off x="548640" y="5760720"/>
            <a:ext cx="11094415" cy="502920"/>
          </a:xfrm>
          <a:prstGeom prst="roundRect">
            <a:avLst>
              <a:gd name="adj" fmla="val 3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1200" b="1">
                <a:solidFill>
                  <a:srgbClr val="1F2A44"/>
                </a:solidFill>
                <a:latin typeface="Arial"/>
                <a:ea typeface="Microsoft YaHei"/>
              </a:rPr>
              <a:t>📅 Weekly rhythm: Mon–Tue Scenario 1 · Wed–Thu Scenario 2 · Fri Level-up variation · Weekend: do the Reading / Listening focus again without looking, then record the 1-minute speaking prompt and compare with Monday.</a:t>
            </a:r>
          </a:p>
        </p:txBody>
      </p:sp>
    </p:spTree>
  </p:cSld>
  <p:clrMapOvr>
    <a:masterClrMapping/>
  </p:clrMapOvr>
  <p:transition spd="med">
    <p:fade/>
  </p:transition>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Lucky Boxes 幸运盒子</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game</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Pick a number, take the challenge!  选一个数字，接受挑战</a:t>
            </a:r>
          </a:p>
        </p:txBody>
      </p:sp>
      <p:sp>
        <p:nvSpPr>
          <p:cNvPr id="9" name="Rounded Rectangle 8">
            <a:hlinkClick action="ppaction://hlinksldjump" r:id="rId4"/>
          </p:cNvPr>
          <p:cNvSpPr/>
          <p:nvPr/>
        </p:nvSpPr>
        <p:spPr>
          <a:xfrm>
            <a:off x="1691640" y="15087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1</a:t>
            </a:r>
          </a:p>
        </p:txBody>
      </p:sp>
      <p:sp>
        <p:nvSpPr>
          <p:cNvPr id="10" name="Rounded Rectangle 9">
            <a:hlinkClick action="ppaction://hlinksldjump" r:id="rId5"/>
          </p:cNvPr>
          <p:cNvSpPr/>
          <p:nvPr/>
        </p:nvSpPr>
        <p:spPr>
          <a:xfrm>
            <a:off x="4693920" y="15087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2</a:t>
            </a:r>
          </a:p>
        </p:txBody>
      </p:sp>
      <p:sp>
        <p:nvSpPr>
          <p:cNvPr id="11" name="Rounded Rectangle 10">
            <a:hlinkClick action="ppaction://hlinksldjump" r:id="rId6"/>
          </p:cNvPr>
          <p:cNvSpPr/>
          <p:nvPr/>
        </p:nvSpPr>
        <p:spPr>
          <a:xfrm>
            <a:off x="7696200" y="15087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3</a:t>
            </a:r>
          </a:p>
        </p:txBody>
      </p:sp>
      <p:sp>
        <p:nvSpPr>
          <p:cNvPr id="12" name="Rounded Rectangle 11">
            <a:hlinkClick action="ppaction://hlinksldjump" r:id="rId7"/>
          </p:cNvPr>
          <p:cNvSpPr/>
          <p:nvPr/>
        </p:nvSpPr>
        <p:spPr>
          <a:xfrm>
            <a:off x="1691640" y="31089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4</a:t>
            </a:r>
          </a:p>
        </p:txBody>
      </p:sp>
      <p:sp>
        <p:nvSpPr>
          <p:cNvPr id="13" name="Rounded Rectangle 12">
            <a:hlinkClick action="ppaction://hlinksldjump" r:id="rId8"/>
          </p:cNvPr>
          <p:cNvSpPr/>
          <p:nvPr/>
        </p:nvSpPr>
        <p:spPr>
          <a:xfrm>
            <a:off x="4693920" y="3108960"/>
            <a:ext cx="2773680" cy="1371600"/>
          </a:xfrm>
          <a:prstGeom prst="roundRect">
            <a:avLst>
              <a:gd name="adj" fmla="val 18000"/>
            </a:avLst>
          </a:prstGeom>
          <a:solidFill>
            <a:srgbClr val="9B6BE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5</a:t>
            </a:r>
          </a:p>
        </p:txBody>
      </p:sp>
      <p:sp>
        <p:nvSpPr>
          <p:cNvPr id="14" name="Rounded Rectangle 13">
            <a:hlinkClick action="ppaction://hlinksldjump" r:id="rId9"/>
          </p:cNvPr>
          <p:cNvSpPr/>
          <p:nvPr/>
        </p:nvSpPr>
        <p:spPr>
          <a:xfrm>
            <a:off x="7696200" y="3108960"/>
            <a:ext cx="2773680" cy="1371600"/>
          </a:xfrm>
          <a:prstGeom prst="roundRect">
            <a:avLst>
              <a:gd name="adj" fmla="val 18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6</a:t>
            </a:r>
          </a:p>
        </p:txBody>
      </p:sp>
      <p:sp>
        <p:nvSpPr>
          <p:cNvPr id="15" name="Rounded Rectangle 14">
            <a:hlinkClick action="ppaction://hlinksldjump" r:id="rId10"/>
          </p:cNvPr>
          <p:cNvSpPr/>
          <p:nvPr/>
        </p:nvSpPr>
        <p:spPr>
          <a:xfrm>
            <a:off x="1691640" y="4709160"/>
            <a:ext cx="2773680" cy="1371600"/>
          </a:xfrm>
          <a:prstGeom prst="roundRect">
            <a:avLst>
              <a:gd name="adj" fmla="val 18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7</a:t>
            </a:r>
          </a:p>
        </p:txBody>
      </p:sp>
      <p:sp>
        <p:nvSpPr>
          <p:cNvPr id="16" name="Rounded Rectangle 15">
            <a:hlinkClick action="ppaction://hlinksldjump" r:id="rId11"/>
          </p:cNvPr>
          <p:cNvSpPr/>
          <p:nvPr/>
        </p:nvSpPr>
        <p:spPr>
          <a:xfrm>
            <a:off x="4693920" y="4709160"/>
            <a:ext cx="2773680" cy="1371600"/>
          </a:xfrm>
          <a:prstGeom prst="roundRect">
            <a:avLst>
              <a:gd name="adj" fmla="val 18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8</a:t>
            </a:r>
          </a:p>
        </p:txBody>
      </p:sp>
      <p:sp>
        <p:nvSpPr>
          <p:cNvPr id="17" name="Rounded Rectangle 16">
            <a:hlinkClick action="ppaction://hlinksldjump" r:id="rId12"/>
          </p:cNvPr>
          <p:cNvSpPr/>
          <p:nvPr/>
        </p:nvSpPr>
        <p:spPr>
          <a:xfrm>
            <a:off x="7696200" y="4709160"/>
            <a:ext cx="2773680" cy="1371600"/>
          </a:xfrm>
          <a:prstGeom prst="roundRect">
            <a:avLst>
              <a:gd name="adj" fmla="val 18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3400" b="1">
                <a:solidFill>
                  <a:srgbClr val="FFFFFF"/>
                </a:solidFill>
                <a:latin typeface="Arial"/>
                <a:ea typeface="Microsoft YaHei"/>
              </a:rPr>
              <a:t>🎁 9</a:t>
            </a:r>
          </a:p>
        </p:txBody>
      </p:sp>
    </p:spTree>
  </p:cSld>
  <p:clrMapOvr>
    <a:masterClrMapping/>
  </p:clrMapOvr>
  <p:transition spd="med">
    <p:fade/>
  </p:transition>
</p:sld>
</file>

<file path=ppt/slides/slide58.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1</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58</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不公平解雇</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unfair dismissal</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2</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59</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使常态化</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normalise</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3</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60</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Bonus!</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本组直接 +2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61.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4</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61</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Fix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找出并改正错误</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Employers have to paid the minimum wage.</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Employers have to pay the minimum wage.</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5</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62</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work-family balance</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Work-family balance matters.</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6</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63</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Bomb!</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本轮不得分，换下一组</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64.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7</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64</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Say it in English!</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这个用英语怎么说？</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保持联系日</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keeping-in-touch days</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8</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65</a:t>
            </a:r>
          </a:p>
        </p:txBody>
      </p:sp>
      <p:sp>
        <p:nvSpPr>
          <p:cNvPr id="7" name="TextBox 6"/>
          <p:cNvSpPr txBox="1"/>
          <p:nvPr/>
        </p:nvSpPr>
        <p:spPr>
          <a:xfrm>
            <a:off x="0" y="1371600"/>
            <a:ext cx="12191695" cy="1828800"/>
          </a:xfrm>
          <a:prstGeom prst="rect">
            <a:avLst/>
          </a:prstGeom>
          <a:noFill/>
        </p:spPr>
        <p:txBody>
          <a:bodyPr wrap="square" anchor="t">
            <a:spAutoFit/>
          </a:bodyPr>
          <a:lstStyle/>
          <a:p>
            <a:pPr algn="ctr">
              <a:lnSpc>
                <a:spcPct val="115000"/>
              </a:lnSpc>
              <a:spcAft>
                <a:spcPts val="800"/>
              </a:spcAft>
            </a:pPr>
            <a:r>
              <a:rPr sz="11000" b="0">
                <a:solidFill>
                  <a:srgbClr val="1F2A44"/>
                </a:solidFill>
                <a:latin typeface="Arial"/>
                <a:ea typeface="Microsoft YaHei"/>
              </a:rPr>
              <a:t>🦹</a:t>
            </a:r>
          </a:p>
        </p:txBody>
      </p:sp>
      <p:sp>
        <p:nvSpPr>
          <p:cNvPr id="8" name="TextBox 7"/>
          <p:cNvSpPr txBox="1"/>
          <p:nvPr/>
        </p:nvSpPr>
        <p:spPr>
          <a:xfrm>
            <a:off x="0" y="3474720"/>
            <a:ext cx="12191695" cy="914400"/>
          </a:xfrm>
          <a:prstGeom prst="rect">
            <a:avLst/>
          </a:prstGeom>
          <a:noFill/>
        </p:spPr>
        <p:txBody>
          <a:bodyPr wrap="square" anchor="t">
            <a:spAutoFit/>
          </a:bodyPr>
          <a:lstStyle/>
          <a:p>
            <a:pPr algn="ctr">
              <a:lnSpc>
                <a:spcPct val="115000"/>
              </a:lnSpc>
              <a:spcAft>
                <a:spcPts val="800"/>
              </a:spcAft>
            </a:pPr>
            <a:r>
              <a:rPr sz="5400" b="1">
                <a:solidFill>
                  <a:srgbClr val="FF6B5B"/>
                </a:solidFill>
                <a:latin typeface="Arial"/>
                <a:ea typeface="Microsoft YaHei"/>
              </a:rPr>
              <a:t>Steal!</a:t>
            </a:r>
          </a:p>
        </p:txBody>
      </p:sp>
      <p:sp>
        <p:nvSpPr>
          <p:cNvPr id="9" name="TextBox 8"/>
          <p:cNvSpPr txBox="1"/>
          <p:nvPr/>
        </p:nvSpPr>
        <p:spPr>
          <a:xfrm>
            <a:off x="0" y="4480560"/>
            <a:ext cx="12191695" cy="731520"/>
          </a:xfrm>
          <a:prstGeom prst="rect">
            <a:avLst/>
          </a:prstGeom>
          <a:noFill/>
        </p:spPr>
        <p:txBody>
          <a:bodyPr wrap="square" anchor="t">
            <a:spAutoFit/>
          </a:bodyPr>
          <a:lstStyle/>
          <a:p>
            <a:pPr algn="ctr">
              <a:lnSpc>
                <a:spcPct val="115000"/>
              </a:lnSpc>
              <a:spcAft>
                <a:spcPts val="800"/>
              </a:spcAft>
            </a:pPr>
            <a:r>
              <a:rPr sz="2400" b="0">
                <a:solidFill>
                  <a:srgbClr val="5F677A"/>
                </a:solidFill>
                <a:latin typeface="Arial"/>
                <a:ea typeface="Microsoft YaHei"/>
              </a:rPr>
              <a:t>从任意一组偷走 1 ⭐</a:t>
            </a:r>
          </a:p>
        </p:txBody>
      </p:sp>
      <p:sp>
        <p:nvSpPr>
          <p:cNvPr id="10" name="Rounded Rectangle 9">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sld>
</file>

<file path=ppt/slides/slide66.xml><?xml version="1.0" encoding="utf-8"?>
<p:sld xmlns:a="http://schemas.openxmlformats.org/drawingml/2006/main" xmlns:p="http://schemas.openxmlformats.org/presentationml/2006/main" xmlns:r="http://schemas.openxmlformats.org/officeDocument/2006/relationships" show="0">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Lucky Box 9</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Lucky Boxes</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66</a:t>
            </a:r>
          </a:p>
        </p:txBody>
      </p:sp>
      <p:sp>
        <p:nvSpPr>
          <p:cNvPr id="7" name="TextBox 6"/>
          <p:cNvSpPr txBox="1"/>
          <p:nvPr/>
        </p:nvSpPr>
        <p:spPr>
          <a:xfrm>
            <a:off x="0" y="1234440"/>
            <a:ext cx="12191695" cy="731520"/>
          </a:xfrm>
          <a:prstGeom prst="rect">
            <a:avLst/>
          </a:prstGeom>
          <a:noFill/>
        </p:spPr>
        <p:txBody>
          <a:bodyPr wrap="square" anchor="t">
            <a:spAutoFit/>
          </a:bodyPr>
          <a:lstStyle/>
          <a:p>
            <a:pPr algn="ctr">
              <a:lnSpc>
                <a:spcPct val="115000"/>
              </a:lnSpc>
              <a:spcAft>
                <a:spcPts val="800"/>
              </a:spcAft>
            </a:pPr>
            <a:r>
              <a:rPr sz="3600" b="1">
                <a:solidFill>
                  <a:srgbClr val="4A90E2"/>
                </a:solidFill>
                <a:latin typeface="Arial"/>
                <a:ea typeface="Microsoft YaHei"/>
              </a:rPr>
              <a:t>💡  Use it!</a:t>
            </a:r>
          </a:p>
        </p:txBody>
      </p:sp>
      <p:sp>
        <p:nvSpPr>
          <p:cNvPr id="8" name="TextBox 7"/>
          <p:cNvSpPr txBox="1"/>
          <p:nvPr/>
        </p:nvSpPr>
        <p:spPr>
          <a:xfrm>
            <a:off x="0" y="1920240"/>
            <a:ext cx="12191695" cy="457200"/>
          </a:xfrm>
          <a:prstGeom prst="rect">
            <a:avLst/>
          </a:prstGeom>
          <a:noFill/>
        </p:spPr>
        <p:txBody>
          <a:bodyPr wrap="square" anchor="t">
            <a:spAutoFit/>
          </a:bodyPr>
          <a:lstStyle/>
          <a:p>
            <a:pPr algn="ctr">
              <a:lnSpc>
                <a:spcPct val="115000"/>
              </a:lnSpc>
              <a:spcAft>
                <a:spcPts val="800"/>
              </a:spcAft>
            </a:pPr>
            <a:r>
              <a:rPr sz="1800" b="0">
                <a:solidFill>
                  <a:srgbClr val="5F677A"/>
                </a:solidFill>
                <a:latin typeface="Arial"/>
                <a:ea typeface="Microsoft YaHei"/>
              </a:rPr>
              <a:t>用这个表达说一句和你工作相关的话</a:t>
            </a:r>
          </a:p>
        </p:txBody>
      </p:sp>
      <p:sp>
        <p:nvSpPr>
          <p:cNvPr id="9" name="Rounded Rectangle 8"/>
          <p:cNvSpPr/>
          <p:nvPr/>
        </p:nvSpPr>
        <p:spPr>
          <a:xfrm>
            <a:off x="1645920" y="2514600"/>
            <a:ext cx="8869680" cy="1645920"/>
          </a:xfrm>
          <a:prstGeom prst="roundRect">
            <a:avLst>
              <a:gd name="adj" fmla="val 12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4000" b="1">
                <a:solidFill>
                  <a:srgbClr val="1F2A44"/>
                </a:solidFill>
                <a:latin typeface="Arial"/>
                <a:ea typeface="Microsoft YaHei"/>
              </a:rPr>
              <a:t>out of the loop</a:t>
            </a:r>
          </a:p>
        </p:txBody>
      </p:sp>
      <p:sp>
        <p:nvSpPr>
          <p:cNvPr id="10" name="Rounded Rectangle 9"/>
          <p:cNvSpPr/>
          <p:nvPr/>
        </p:nvSpPr>
        <p:spPr>
          <a:xfrm>
            <a:off x="2103120" y="4389120"/>
            <a:ext cx="7955279" cy="1005840"/>
          </a:xfrm>
          <a:prstGeom prst="roundRect">
            <a:avLst>
              <a:gd name="adj" fmla="val 2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400" b="1">
                <a:solidFill>
                  <a:srgbClr val="FFFFFF"/>
                </a:solidFill>
                <a:latin typeface="Arial"/>
                <a:ea typeface="Microsoft YaHei"/>
              </a:rPr>
              <a:t>I felt out of the loop.</a:t>
            </a:r>
          </a:p>
        </p:txBody>
      </p:sp>
      <p:sp>
        <p:nvSpPr>
          <p:cNvPr id="11" name="Rounded Rectangle 10">
            <a:hlinkClick action="ppaction://hlinksldjump" r:id="rId2"/>
          </p:cNvPr>
          <p:cNvSpPr/>
          <p:nvPr/>
        </p:nvSpPr>
        <p:spPr>
          <a:xfrm>
            <a:off x="9814255" y="5669280"/>
            <a:ext cx="1828800" cy="594360"/>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2000" b="1">
                <a:solidFill>
                  <a:srgbClr val="FFFFFF"/>
                </a:solidFill>
                <a:latin typeface="Arial"/>
                <a:ea typeface="Microsoft YaHei"/>
              </a:rPr>
              <a:t>↩ Back</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8EE"/>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74320"/>
            <a:ext cx="8442656" cy="822960"/>
          </a:xfrm>
          <a:prstGeom prst="rect">
            <a:avLst/>
          </a:prstGeom>
          <a:noFill/>
        </p:spPr>
        <p:txBody>
          <a:bodyPr wrap="square" anchor="ctr">
            <a:spAutoFit/>
          </a:bodyPr>
          <a:lstStyle/>
          <a:p>
            <a:pPr algn="l">
              <a:lnSpc>
                <a:spcPct val="115000"/>
              </a:lnSpc>
              <a:spcAft>
                <a:spcPts val="800"/>
              </a:spcAft>
            </a:pPr>
            <a:r>
              <a:rPr sz="3200" b="1">
                <a:solidFill>
                  <a:srgbClr val="1F2A44"/>
                </a:solidFill>
                <a:latin typeface="Arial"/>
                <a:ea typeface="Microsoft YaHei"/>
              </a:rPr>
              <a:t>👾 Boss Challenge 终极挑战</a:t>
            </a:r>
          </a:p>
        </p:txBody>
      </p:sp>
      <p:sp>
        <p:nvSpPr>
          <p:cNvPr id="4" name="Rounded Rectangle 3"/>
          <p:cNvSpPr/>
          <p:nvPr/>
        </p:nvSpPr>
        <p:spPr>
          <a:xfrm>
            <a:off x="9174175" y="438912"/>
            <a:ext cx="2560320" cy="475488"/>
          </a:xfrm>
          <a:prstGeom prst="roundRect">
            <a:avLst>
              <a:gd name="adj" fmla="val 50000"/>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wrap="none" lIns="73152" rIns="73152"/>
          <a:lstStyle/>
          <a:p>
            <a:pPr algn="ctr">
              <a:spcAft>
                <a:spcPts val="200"/>
              </a:spcAft>
            </a:pPr>
            <a:r>
              <a:rPr sz="1300" b="1">
                <a:solidFill>
                  <a:srgbClr val="FFFFFF"/>
                </a:solidFill>
                <a:latin typeface="Arial"/>
                <a:ea typeface="Microsoft YaHei"/>
              </a:rPr>
              <a:t>🏁 Unit review</a:t>
            </a:r>
          </a:p>
        </p:txBody>
      </p:sp>
      <p:sp>
        <p:nvSpPr>
          <p:cNvPr id="5" name="TextBox 4"/>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5F677A"/>
                </a:solidFill>
                <a:latin typeface="Arial"/>
                <a:ea typeface="Microsoft YaHei"/>
              </a:rPr>
              <a:t>Business English · Level 7–8 · Unit 16</a:t>
            </a:r>
          </a:p>
        </p:txBody>
      </p:sp>
      <p:sp>
        <p:nvSpPr>
          <p:cNvPr id="6" name="TextBox 5"/>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5F677A"/>
                </a:solidFill>
                <a:latin typeface="Arial"/>
                <a:ea typeface="Microsoft YaHei"/>
              </a:rPr>
              <a:t>67</a:t>
            </a:r>
          </a:p>
        </p:txBody>
      </p:sp>
      <p:sp>
        <p:nvSpPr>
          <p:cNvPr id="7" name="Rounded Rectangle 6">
            <a:hlinkClick action="ppaction://hlinksldjump" r:id="rId2"/>
          </p:cNvPr>
          <p:cNvSpPr/>
          <p:nvPr/>
        </p:nvSpPr>
        <p:spPr>
          <a:xfrm>
            <a:off x="9677095" y="6382512"/>
            <a:ext cx="960120" cy="329184"/>
          </a:xfrm>
          <a:prstGeom prst="roundRect">
            <a:avLst>
              <a:gd name="adj" fmla="val 50000"/>
            </a:avLst>
          </a:prstGeom>
          <a:solidFill>
            <a:srgbClr val="FFEF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1F2A44"/>
                </a:solidFill>
                <a:latin typeface="Arial"/>
                <a:ea typeface="Microsoft YaHei"/>
              </a:rPr>
              <a:t>🗺 Map</a:t>
            </a:r>
          </a:p>
        </p:txBody>
      </p:sp>
      <p:sp>
        <p:nvSpPr>
          <p:cNvPr id="8" name="TextBox 7"/>
          <p:cNvSpPr txBox="1"/>
          <p:nvPr/>
        </p:nvSpPr>
        <p:spPr>
          <a:xfrm>
            <a:off x="548640" y="1024128"/>
            <a:ext cx="11094415" cy="365760"/>
          </a:xfrm>
          <a:prstGeom prst="rect">
            <a:avLst/>
          </a:prstGeom>
          <a:noFill/>
        </p:spPr>
        <p:txBody>
          <a:bodyPr wrap="square" anchor="t">
            <a:spAutoFit/>
          </a:bodyPr>
          <a:lstStyle/>
          <a:p>
            <a:pPr algn="l">
              <a:lnSpc>
                <a:spcPct val="115000"/>
              </a:lnSpc>
              <a:spcAft>
                <a:spcPts val="800"/>
              </a:spcAft>
            </a:pPr>
            <a:r>
              <a:rPr sz="1500" b="0">
                <a:solidFill>
                  <a:srgbClr val="5F677A"/>
                </a:solidFill>
                <a:latin typeface="Arial"/>
                <a:ea typeface="Microsoft YaHei"/>
              </a:rPr>
              <a:t>10 seconds per question. Beat the boss!  每题限时 10 秒，打败大魔王</a:t>
            </a:r>
          </a:p>
        </p:txBody>
      </p:sp>
      <p:sp>
        <p:nvSpPr>
          <p:cNvPr id="9" name="TextBox 8"/>
          <p:cNvSpPr txBox="1"/>
          <p:nvPr/>
        </p:nvSpPr>
        <p:spPr>
          <a:xfrm>
            <a:off x="9966960" y="1463040"/>
            <a:ext cx="1737360" cy="1463040"/>
          </a:xfrm>
          <a:prstGeom prst="rect">
            <a:avLst/>
          </a:prstGeom>
          <a:noFill/>
        </p:spPr>
        <p:txBody>
          <a:bodyPr wrap="square" anchor="t">
            <a:spAutoFit/>
          </a:bodyPr>
          <a:lstStyle/>
          <a:p>
            <a:pPr algn="ctr">
              <a:lnSpc>
                <a:spcPct val="115000"/>
              </a:lnSpc>
              <a:spcAft>
                <a:spcPts val="800"/>
              </a:spcAft>
            </a:pPr>
            <a:r>
              <a:rPr sz="8000" b="0">
                <a:solidFill>
                  <a:srgbClr val="1F2A44"/>
                </a:solidFill>
                <a:latin typeface="Arial"/>
                <a:ea typeface="Microsoft YaHei"/>
              </a:rPr>
              <a:t>👾</a:t>
            </a:r>
          </a:p>
        </p:txBody>
      </p:sp>
      <p:sp>
        <p:nvSpPr>
          <p:cNvPr id="10" name="Rounded Rectangle 9"/>
          <p:cNvSpPr/>
          <p:nvPr/>
        </p:nvSpPr>
        <p:spPr>
          <a:xfrm>
            <a:off x="548640" y="1508760"/>
            <a:ext cx="5577840" cy="850392"/>
          </a:xfrm>
          <a:prstGeom prst="roundRect">
            <a:avLst>
              <a:gd name="adj" fmla="val 15000"/>
            </a:avLst>
          </a:prstGeom>
          <a:solidFill>
            <a:srgbClr val="FFFFFF"/>
          </a:solidFill>
          <a:ln w="31750">
            <a:solidFill>
              <a:srgbClr val="FF6B5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Q1. “休息时间” in English?</a:t>
            </a:r>
          </a:p>
        </p:txBody>
      </p:sp>
      <p:sp>
        <p:nvSpPr>
          <p:cNvPr id="11" name="Rounded Rectangle 10"/>
          <p:cNvSpPr/>
          <p:nvPr/>
        </p:nvSpPr>
        <p:spPr>
          <a:xfrm>
            <a:off x="6263640" y="150876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rest break</a:t>
            </a:r>
          </a:p>
        </p:txBody>
      </p:sp>
      <p:sp>
        <p:nvSpPr>
          <p:cNvPr id="12" name="Rounded Rectangle 11"/>
          <p:cNvSpPr/>
          <p:nvPr/>
        </p:nvSpPr>
        <p:spPr>
          <a:xfrm>
            <a:off x="548640" y="2468880"/>
            <a:ext cx="5577840" cy="850392"/>
          </a:xfrm>
          <a:prstGeom prst="roundRect">
            <a:avLst>
              <a:gd name="adj" fmla="val 15000"/>
            </a:avLst>
          </a:prstGeom>
          <a:solidFill>
            <a:srgbClr val="FFFFFF"/>
          </a:solidFill>
          <a:ln w="31750">
            <a:solidFill>
              <a:srgbClr val="4A90E2"/>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Q2. “最低工资” in English?</a:t>
            </a:r>
          </a:p>
        </p:txBody>
      </p:sp>
      <p:sp>
        <p:nvSpPr>
          <p:cNvPr id="13" name="Rounded Rectangle 12"/>
          <p:cNvSpPr/>
          <p:nvPr/>
        </p:nvSpPr>
        <p:spPr>
          <a:xfrm>
            <a:off x="6263640" y="246888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minimum wage</a:t>
            </a:r>
          </a:p>
        </p:txBody>
      </p:sp>
      <p:sp>
        <p:nvSpPr>
          <p:cNvPr id="14" name="Rounded Rectangle 13"/>
          <p:cNvSpPr/>
          <p:nvPr/>
        </p:nvSpPr>
        <p:spPr>
          <a:xfrm>
            <a:off x="548640" y="3429000"/>
            <a:ext cx="5577840" cy="850392"/>
          </a:xfrm>
          <a:prstGeom prst="roundRect">
            <a:avLst>
              <a:gd name="adj" fmla="val 15000"/>
            </a:avLst>
          </a:prstGeom>
          <a:solidFill>
            <a:srgbClr val="FFFFFF"/>
          </a:solidFill>
          <a:ln w="31750">
            <a:solidFill>
              <a:srgbClr val="3CC49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Q3. “代班” in English?</a:t>
            </a:r>
          </a:p>
        </p:txBody>
      </p:sp>
      <p:sp>
        <p:nvSpPr>
          <p:cNvPr id="15" name="Rounded Rectangle 14"/>
          <p:cNvSpPr/>
          <p:nvPr/>
        </p:nvSpPr>
        <p:spPr>
          <a:xfrm>
            <a:off x="6263640" y="342900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cover for someone</a:t>
            </a:r>
          </a:p>
        </p:txBody>
      </p:sp>
      <p:sp>
        <p:nvSpPr>
          <p:cNvPr id="16" name="Rounded Rectangle 15"/>
          <p:cNvSpPr/>
          <p:nvPr/>
        </p:nvSpPr>
        <p:spPr>
          <a:xfrm>
            <a:off x="548640" y="4389120"/>
            <a:ext cx="5577840" cy="850392"/>
          </a:xfrm>
          <a:prstGeom prst="roundRect">
            <a:avLst>
              <a:gd name="adj" fmla="val 15000"/>
            </a:avLst>
          </a:prstGeom>
          <a:solidFill>
            <a:srgbClr val="FFFFFF"/>
          </a:solidFill>
          <a:ln w="31750">
            <a:solidFill>
              <a:srgbClr val="FFC857"/>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Q4. Fix it: I take paternity leave next month.</a:t>
            </a:r>
          </a:p>
        </p:txBody>
      </p:sp>
      <p:sp>
        <p:nvSpPr>
          <p:cNvPr id="17" name="Rounded Rectangle 16"/>
          <p:cNvSpPr/>
          <p:nvPr/>
        </p:nvSpPr>
        <p:spPr>
          <a:xfrm>
            <a:off x="6263640" y="438912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I’m taking paternity leave next month.</a:t>
            </a:r>
          </a:p>
        </p:txBody>
      </p:sp>
      <p:sp>
        <p:nvSpPr>
          <p:cNvPr id="18" name="Rounded Rectangle 17"/>
          <p:cNvSpPr/>
          <p:nvPr/>
        </p:nvSpPr>
        <p:spPr>
          <a:xfrm>
            <a:off x="548640" y="5349240"/>
            <a:ext cx="5577840" cy="850392"/>
          </a:xfrm>
          <a:prstGeom prst="roundRect">
            <a:avLst>
              <a:gd name="adj" fmla="val 15000"/>
            </a:avLst>
          </a:prstGeom>
          <a:solidFill>
            <a:srgbClr val="FFFFFF"/>
          </a:solidFill>
          <a:ln w="31750">
            <a:solidFill>
              <a:srgbClr val="9B6BE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l">
              <a:spcAft>
                <a:spcPts val="200"/>
              </a:spcAft>
            </a:pPr>
            <a:r>
              <a:rPr sz="2000" b="1">
                <a:solidFill>
                  <a:srgbClr val="1F2A44"/>
                </a:solidFill>
                <a:latin typeface="Arial"/>
                <a:ea typeface="Microsoft YaHei"/>
              </a:rPr>
              <a:t>Q5. Fix it: My wife will give birth in March, so I ask for leave.</a:t>
            </a:r>
          </a:p>
        </p:txBody>
      </p:sp>
      <p:sp>
        <p:nvSpPr>
          <p:cNvPr id="19" name="Rounded Rectangle 18"/>
          <p:cNvSpPr/>
          <p:nvPr/>
        </p:nvSpPr>
        <p:spPr>
          <a:xfrm>
            <a:off x="6263640" y="5349240"/>
            <a:ext cx="3520440" cy="850392"/>
          </a:xfrm>
          <a:prstGeom prst="roundRect">
            <a:avLst>
              <a:gd name="adj" fmla="val 15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…so I’d like to request leave.</a:t>
            </a:r>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6" fill="hold">
                      <p:stCondLst>
                        <p:cond delay="indefinite"/>
                      </p:stCondLst>
                      <p:childTnLst>
                        <p:par>
                          <p:cTn id="7" fill="hold">
                            <p:stCondLst>
                              <p:cond delay="0"/>
                            </p:stCondLst>
                            <p:childTnLst>
                              <p:par>
                                <p:cTn id="5" presetID="10" presetClass="entr" presetSubtype="0" fill="hold" nodeType="clickEffect">
                                  <p:stCondLst>
                                    <p:cond delay="0"/>
                                  </p:stCondLst>
                                  <p:childTnLst>
                                    <p:set>
                                      <p:cBhvr>
                                        <p:cTn id="3" dur="1" fill="hold">
                                          <p:stCondLst>
                                            <p:cond delay="0"/>
                                          </p:stCondLst>
                                        </p:cTn>
                                        <p:tgtEl>
                                          <p:spTgt spid="10"/>
                                        </p:tgtEl>
                                        <p:attrNameLst>
                                          <p:attrName>style.visibility</p:attrName>
                                        </p:attrNameLst>
                                      </p:cBhvr>
                                      <p:to>
                                        <p:strVal val="visible"/>
                                      </p:to>
                                    </p:set>
                                    <p:animEffect transition="in" filter="fade">
                                      <p:cBhvr>
                                        <p:cTn id="4" dur="4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0" presetID="10" presetClass="entr" presetSubtype="0" fill="hold" nodeType="clickEffect">
                                  <p:stCondLst>
                                    <p:cond delay="0"/>
                                  </p:stCondLst>
                                  <p:childTnLst>
                                    <p:set>
                                      <p:cBhvr>
                                        <p:cTn id="8" dur="1" fill="hold">
                                          <p:stCondLst>
                                            <p:cond delay="0"/>
                                          </p:stCondLst>
                                        </p:cTn>
                                        <p:tgtEl>
                                          <p:spTgt spid="11"/>
                                        </p:tgtEl>
                                        <p:attrNameLst>
                                          <p:attrName>style.visibility</p:attrName>
                                        </p:attrNameLst>
                                      </p:cBhvr>
                                      <p:to>
                                        <p:strVal val="visible"/>
                                      </p:to>
                                    </p:set>
                                    <p:animEffect transition="in" filter="fade">
                                      <p:cBhvr>
                                        <p:cTn id="9" dur="400"/>
                                        <p:tgtEl>
                                          <p:spTgt spid="11"/>
                                        </p:tgtEl>
                                      </p:cBhvr>
                                    </p:animEffect>
                                  </p:childTnLst>
                                </p:cTn>
                              </p:par>
                            </p:childTnLst>
                          </p:cTn>
                        </p:par>
                      </p:childTnLst>
                    </p:cTn>
                  </p:par>
                  <p:par>
                    <p:cTn id="16" fill="hold">
                      <p:stCondLst>
                        <p:cond delay="indefinite"/>
                      </p:stCondLst>
                      <p:childTnLst>
                        <p:par>
                          <p:cTn id="17" fill="hold">
                            <p:stCondLst>
                              <p:cond delay="0"/>
                            </p:stCondLst>
                            <p:childTnLst>
                              <p:par>
                                <p:cTn id="15" presetID="10" presetClass="entr" presetSubtype="0" fill="hold" nodeType="clickEffect">
                                  <p:stCondLst>
                                    <p:cond delay="0"/>
                                  </p:stCondLst>
                                  <p:childTnLst>
                                    <p:set>
                                      <p:cBhvr>
                                        <p:cTn id="13" dur="1" fill="hold">
                                          <p:stCondLst>
                                            <p:cond delay="0"/>
                                          </p:stCondLst>
                                        </p:cTn>
                                        <p:tgtEl>
                                          <p:spTgt spid="12"/>
                                        </p:tgtEl>
                                        <p:attrNameLst>
                                          <p:attrName>style.visibility</p:attrName>
                                        </p:attrNameLst>
                                      </p:cBhvr>
                                      <p:to>
                                        <p:strVal val="visible"/>
                                      </p:to>
                                    </p:set>
                                    <p:animEffect transition="in" filter="fade">
                                      <p:cBhvr>
                                        <p:cTn id="14" dur="400"/>
                                        <p:tgtEl>
                                          <p:spTgt spid="12"/>
                                        </p:tgtEl>
                                      </p:cBhvr>
                                    </p:animEffect>
                                  </p:childTnLst>
                                </p:cTn>
                              </p:par>
                            </p:childTnLst>
                          </p:cTn>
                        </p:par>
                      </p:childTnLst>
                    </p:cTn>
                  </p:par>
                  <p:par>
                    <p:cTn id="21" fill="hold">
                      <p:stCondLst>
                        <p:cond delay="indefinite"/>
                      </p:stCondLst>
                      <p:childTnLst>
                        <p:par>
                          <p:cTn id="22" fill="hold">
                            <p:stCondLst>
                              <p:cond delay="0"/>
                            </p:stCondLst>
                            <p:childTnLst>
                              <p:par>
                                <p:cTn id="20" presetID="10" presetClass="entr" presetSubtype="0" fill="hold" nodeType="click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400"/>
                                        <p:tgtEl>
                                          <p:spTgt spid="13"/>
                                        </p:tgtEl>
                                      </p:cBhvr>
                                    </p:animEffect>
                                  </p:childTnLst>
                                </p:cTn>
                              </p:par>
                            </p:childTnLst>
                          </p:cTn>
                        </p:par>
                      </p:childTnLst>
                    </p:cTn>
                  </p:par>
                  <p:par>
                    <p:cTn id="26" fill="hold">
                      <p:stCondLst>
                        <p:cond delay="indefinite"/>
                      </p:stCondLst>
                      <p:childTnLst>
                        <p:par>
                          <p:cTn id="27" fill="hold">
                            <p:stCondLst>
                              <p:cond delay="0"/>
                            </p:stCondLst>
                            <p:childTnLst>
                              <p:par>
                                <p:cTn id="25" presetID="10" presetClass="entr" presetSubtype="0" fill="hold" nodeType="clickEffect">
                                  <p:stCondLst>
                                    <p:cond delay="0"/>
                                  </p:stCondLst>
                                  <p:childTnLst>
                                    <p:set>
                                      <p:cBhvr>
                                        <p:cTn id="23" dur="1" fill="hold">
                                          <p:stCondLst>
                                            <p:cond delay="0"/>
                                          </p:stCondLst>
                                        </p:cTn>
                                        <p:tgtEl>
                                          <p:spTgt spid="14"/>
                                        </p:tgtEl>
                                        <p:attrNameLst>
                                          <p:attrName>style.visibility</p:attrName>
                                        </p:attrNameLst>
                                      </p:cBhvr>
                                      <p:to>
                                        <p:strVal val="visible"/>
                                      </p:to>
                                    </p:set>
                                    <p:animEffect transition="in" filter="fade">
                                      <p:cBhvr>
                                        <p:cTn id="24" dur="4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0" presetID="10" presetClass="entr" presetSubtype="0" fill="hold" nodeType="clickEffect">
                                  <p:stCondLst>
                                    <p:cond delay="0"/>
                                  </p:stCondLst>
                                  <p:childTnLst>
                                    <p:set>
                                      <p:cBhvr>
                                        <p:cTn id="28" dur="1" fill="hold">
                                          <p:stCondLst>
                                            <p:cond delay="0"/>
                                          </p:stCondLst>
                                        </p:cTn>
                                        <p:tgtEl>
                                          <p:spTgt spid="15"/>
                                        </p:tgtEl>
                                        <p:attrNameLst>
                                          <p:attrName>style.visibility</p:attrName>
                                        </p:attrNameLst>
                                      </p:cBhvr>
                                      <p:to>
                                        <p:strVal val="visible"/>
                                      </p:to>
                                    </p:set>
                                    <p:animEffect transition="in" filter="fade">
                                      <p:cBhvr>
                                        <p:cTn id="29" dur="400"/>
                                        <p:tgtEl>
                                          <p:spTgt spid="15"/>
                                        </p:tgtEl>
                                      </p:cBhvr>
                                    </p:animEffect>
                                  </p:childTnLst>
                                </p:cTn>
                              </p:par>
                            </p:childTnLst>
                          </p:cTn>
                        </p:par>
                      </p:childTnLst>
                    </p:cTn>
                  </p:par>
                  <p:par>
                    <p:cTn id="36" fill="hold">
                      <p:stCondLst>
                        <p:cond delay="indefinite"/>
                      </p:stCondLst>
                      <p:childTnLst>
                        <p:par>
                          <p:cTn id="37" fill="hold">
                            <p:stCondLst>
                              <p:cond delay="0"/>
                            </p:stCondLst>
                            <p:childTnLst>
                              <p:par>
                                <p:cTn id="35" presetID="10" presetClass="entr" presetSubtype="0" fill="hold" nodeType="clickEffect">
                                  <p:stCondLst>
                                    <p:cond delay="0"/>
                                  </p:stCondLst>
                                  <p:childTnLst>
                                    <p:set>
                                      <p:cBhvr>
                                        <p:cTn id="33" dur="1" fill="hold">
                                          <p:stCondLst>
                                            <p:cond delay="0"/>
                                          </p:stCondLst>
                                        </p:cTn>
                                        <p:tgtEl>
                                          <p:spTgt spid="16"/>
                                        </p:tgtEl>
                                        <p:attrNameLst>
                                          <p:attrName>style.visibility</p:attrName>
                                        </p:attrNameLst>
                                      </p:cBhvr>
                                      <p:to>
                                        <p:strVal val="visible"/>
                                      </p:to>
                                    </p:set>
                                    <p:animEffect transition="in" filter="fade">
                                      <p:cBhvr>
                                        <p:cTn id="34" dur="400"/>
                                        <p:tgtEl>
                                          <p:spTgt spid="16"/>
                                        </p:tgtEl>
                                      </p:cBhvr>
                                    </p:animEffect>
                                  </p:childTnLst>
                                </p:cTn>
                              </p:par>
                            </p:childTnLst>
                          </p:cTn>
                        </p:par>
                      </p:childTnLst>
                    </p:cTn>
                  </p:par>
                  <p:par>
                    <p:cTn id="41" fill="hold">
                      <p:stCondLst>
                        <p:cond delay="indefinite"/>
                      </p:stCondLst>
                      <p:childTnLst>
                        <p:par>
                          <p:cTn id="42" fill="hold">
                            <p:stCondLst>
                              <p:cond delay="0"/>
                            </p:stCondLst>
                            <p:childTnLst>
                              <p:par>
                                <p:cTn id="40" presetID="10" presetClass="entr" presetSubtype="0" fill="hold" nodeType="clickEffect">
                                  <p:stCondLst>
                                    <p:cond delay="0"/>
                                  </p:stCondLst>
                                  <p:childTnLst>
                                    <p:set>
                                      <p:cBhvr>
                                        <p:cTn id="38" dur="1" fill="hold">
                                          <p:stCondLst>
                                            <p:cond delay="0"/>
                                          </p:stCondLst>
                                        </p:cTn>
                                        <p:tgtEl>
                                          <p:spTgt spid="17"/>
                                        </p:tgtEl>
                                        <p:attrNameLst>
                                          <p:attrName>style.visibility</p:attrName>
                                        </p:attrNameLst>
                                      </p:cBhvr>
                                      <p:to>
                                        <p:strVal val="visible"/>
                                      </p:to>
                                    </p:set>
                                    <p:animEffect transition="in" filter="fade">
                                      <p:cBhvr>
                                        <p:cTn id="39" dur="400"/>
                                        <p:tgtEl>
                                          <p:spTgt spid="17"/>
                                        </p:tgtEl>
                                      </p:cBhvr>
                                    </p:animEffect>
                                  </p:childTnLst>
                                </p:cTn>
                              </p:par>
                            </p:childTnLst>
                          </p:cTn>
                        </p:par>
                      </p:childTnLst>
                    </p:cTn>
                  </p:par>
                  <p:par>
                    <p:cTn id="46" fill="hold">
                      <p:stCondLst>
                        <p:cond delay="indefinite"/>
                      </p:stCondLst>
                      <p:childTnLst>
                        <p:par>
                          <p:cTn id="47" fill="hold">
                            <p:stCondLst>
                              <p:cond delay="0"/>
                            </p:stCondLst>
                            <p:childTnLst>
                              <p:par>
                                <p:cTn id="45" presetID="10" presetClass="entr" presetSubtype="0" fill="hold" nodeType="click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400"/>
                                        <p:tgtEl>
                                          <p:spTgt spid="18"/>
                                        </p:tgtEl>
                                      </p:cBhvr>
                                    </p:animEffect>
                                  </p:childTnLst>
                                </p:cTn>
                              </p:par>
                            </p:childTnLst>
                          </p:cTn>
                        </p:par>
                      </p:childTnLst>
                    </p:cTn>
                  </p:par>
                  <p:par>
                    <p:cTn id="51" fill="hold">
                      <p:stCondLst>
                        <p:cond delay="indefinite"/>
                      </p:stCondLst>
                      <p:childTnLst>
                        <p:par>
                          <p:cTn id="52" fill="hold">
                            <p:stCondLst>
                              <p:cond delay="0"/>
                            </p:stCondLst>
                            <p:childTnLst>
                              <p:par>
                                <p:cTn id="50" presetID="10" presetClass="entr" presetSubtype="0" fill="hold" nodeType="click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16</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68</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TextBox 4"/>
          <p:cNvSpPr txBox="1"/>
          <p:nvPr/>
        </p:nvSpPr>
        <p:spPr>
          <a:xfrm>
            <a:off x="0" y="822960"/>
            <a:ext cx="12191695" cy="1463040"/>
          </a:xfrm>
          <a:prstGeom prst="rect">
            <a:avLst/>
          </a:prstGeom>
          <a:noFill/>
        </p:spPr>
        <p:txBody>
          <a:bodyPr wrap="square" anchor="t">
            <a:spAutoFit/>
          </a:bodyPr>
          <a:lstStyle/>
          <a:p>
            <a:pPr algn="ctr">
              <a:lnSpc>
                <a:spcPct val="115000"/>
              </a:lnSpc>
              <a:spcAft>
                <a:spcPts val="800"/>
              </a:spcAft>
            </a:pPr>
            <a:r>
              <a:rPr sz="10000" b="0">
                <a:solidFill>
                  <a:srgbClr val="1F2A44"/>
                </a:solidFill>
                <a:latin typeface="Arial"/>
                <a:ea typeface="Microsoft YaHei"/>
              </a:rPr>
              <a:t>🏆</a:t>
            </a:r>
          </a:p>
        </p:txBody>
      </p:sp>
      <p:sp>
        <p:nvSpPr>
          <p:cNvPr id="6" name="TextBox 5"/>
          <p:cNvSpPr txBox="1"/>
          <p:nvPr/>
        </p:nvSpPr>
        <p:spPr>
          <a:xfrm>
            <a:off x="0" y="2560320"/>
            <a:ext cx="12191695" cy="914400"/>
          </a:xfrm>
          <a:prstGeom prst="rect">
            <a:avLst/>
          </a:prstGeom>
          <a:noFill/>
        </p:spPr>
        <p:txBody>
          <a:bodyPr wrap="square" anchor="t">
            <a:spAutoFit/>
          </a:bodyPr>
          <a:lstStyle/>
          <a:p>
            <a:pPr algn="ctr">
              <a:lnSpc>
                <a:spcPct val="115000"/>
              </a:lnSpc>
              <a:spcAft>
                <a:spcPts val="800"/>
              </a:spcAft>
            </a:pPr>
            <a:r>
              <a:rPr sz="4600" b="1">
                <a:solidFill>
                  <a:srgbClr val="FFFFFF"/>
                </a:solidFill>
                <a:latin typeface="Arial"/>
                <a:ea typeface="Microsoft YaHei"/>
              </a:rPr>
              <a:t>And the winning team is…</a:t>
            </a:r>
          </a:p>
        </p:txBody>
      </p:sp>
      <p:sp>
        <p:nvSpPr>
          <p:cNvPr id="7" name="TextBox 6"/>
          <p:cNvSpPr txBox="1"/>
          <p:nvPr/>
        </p:nvSpPr>
        <p:spPr>
          <a:xfrm>
            <a:off x="0" y="3520440"/>
            <a:ext cx="12191695" cy="64008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统计积分，看看今天的冠军是哪一组！</a:t>
            </a:r>
          </a:p>
        </p:txBody>
      </p:sp>
      <p:sp>
        <p:nvSpPr>
          <p:cNvPr id="8" name="Rounded Rectangle 7"/>
          <p:cNvSpPr/>
          <p:nvPr/>
        </p:nvSpPr>
        <p:spPr>
          <a:xfrm>
            <a:off x="822960" y="4480560"/>
            <a:ext cx="2468880" cy="822960"/>
          </a:xfrm>
          <a:prstGeom prst="roundRect">
            <a:avLst>
              <a:gd name="adj" fmla="val 40000"/>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Alpha: ____</a:t>
            </a:r>
          </a:p>
        </p:txBody>
      </p:sp>
      <p:sp>
        <p:nvSpPr>
          <p:cNvPr id="9" name="Rounded Rectangle 8"/>
          <p:cNvSpPr/>
          <p:nvPr/>
        </p:nvSpPr>
        <p:spPr>
          <a:xfrm>
            <a:off x="3520440" y="4480560"/>
            <a:ext cx="2468880" cy="822960"/>
          </a:xfrm>
          <a:prstGeom prst="roundRect">
            <a:avLst>
              <a:gd name="adj" fmla="val 40000"/>
            </a:avLst>
          </a:prstGeom>
          <a:solidFill>
            <a:srgbClr val="4A90E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Bravo: ____</a:t>
            </a:r>
          </a:p>
        </p:txBody>
      </p:sp>
      <p:sp>
        <p:nvSpPr>
          <p:cNvPr id="10" name="Rounded Rectangle 9"/>
          <p:cNvSpPr/>
          <p:nvPr/>
        </p:nvSpPr>
        <p:spPr>
          <a:xfrm>
            <a:off x="6217920" y="4480560"/>
            <a:ext cx="2468880" cy="822960"/>
          </a:xfrm>
          <a:prstGeom prst="roundRect">
            <a:avLst>
              <a:gd name="adj" fmla="val 40000"/>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Charlie: ____</a:t>
            </a:r>
          </a:p>
        </p:txBody>
      </p:sp>
      <p:sp>
        <p:nvSpPr>
          <p:cNvPr id="11" name="Rounded Rectangle 10"/>
          <p:cNvSpPr/>
          <p:nvPr/>
        </p:nvSpPr>
        <p:spPr>
          <a:xfrm>
            <a:off x="8915400" y="4480560"/>
            <a:ext cx="2468880" cy="822960"/>
          </a:xfrm>
          <a:prstGeom prst="roundRect">
            <a:avLst>
              <a:gd name="adj" fmla="val 40000"/>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800" b="1">
                <a:solidFill>
                  <a:srgbClr val="FFFFFF"/>
                </a:solidFill>
                <a:latin typeface="Arial"/>
                <a:ea typeface="Microsoft YaHei"/>
              </a:rPr>
              <a:t>🐬 Team Delta: ____</a:t>
            </a:r>
          </a:p>
        </p:txBody>
      </p:sp>
    </p:spTree>
  </p:cSld>
  <p:clrMapOvr>
    <a:masterClrMapping/>
  </p:clrMapOvr>
  <p:transition spd="med">
    <p:fade/>
  </p:transition>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1F2A44"/>
        </a:solidFill>
        <a:effectLst/>
      </p:bgPr>
    </p:bg>
    <p:spTree>
      <p:nvGrpSpPr>
        <p:cNvPr id="1" name=""/>
        <p:cNvGrpSpPr/>
        <p:nvPr/>
      </p:nvGrpSpPr>
      <p:grpSpPr/>
      <p:sp>
        <p:nvSpPr>
          <p:cNvPr id="2" name="TextBox 1"/>
          <p:cNvSpPr txBox="1"/>
          <p:nvPr/>
        </p:nvSpPr>
        <p:spPr>
          <a:xfrm>
            <a:off x="548640" y="6419088"/>
            <a:ext cx="8229600" cy="320040"/>
          </a:xfrm>
          <a:prstGeom prst="rect">
            <a:avLst/>
          </a:prstGeom>
          <a:noFill/>
        </p:spPr>
        <p:txBody>
          <a:bodyPr wrap="square" anchor="t">
            <a:spAutoFit/>
          </a:bodyPr>
          <a:lstStyle/>
          <a:p>
            <a:pPr algn="l">
              <a:lnSpc>
                <a:spcPct val="115000"/>
              </a:lnSpc>
              <a:spcAft>
                <a:spcPts val="800"/>
              </a:spcAft>
            </a:pPr>
            <a:r>
              <a:rPr sz="1100" b="0">
                <a:solidFill>
                  <a:srgbClr val="FFC857"/>
                </a:solidFill>
                <a:latin typeface="Arial"/>
                <a:ea typeface="Microsoft YaHei"/>
              </a:rPr>
              <a:t>Business English · Level 7–8 · Unit 16</a:t>
            </a:r>
          </a:p>
        </p:txBody>
      </p:sp>
      <p:sp>
        <p:nvSpPr>
          <p:cNvPr id="3" name="TextBox 2"/>
          <p:cNvSpPr txBox="1"/>
          <p:nvPr/>
        </p:nvSpPr>
        <p:spPr>
          <a:xfrm>
            <a:off x="10728655" y="6419088"/>
            <a:ext cx="914400" cy="320040"/>
          </a:xfrm>
          <a:prstGeom prst="rect">
            <a:avLst/>
          </a:prstGeom>
          <a:noFill/>
        </p:spPr>
        <p:txBody>
          <a:bodyPr wrap="square" anchor="t">
            <a:spAutoFit/>
          </a:bodyPr>
          <a:lstStyle/>
          <a:p>
            <a:pPr algn="r">
              <a:lnSpc>
                <a:spcPct val="115000"/>
              </a:lnSpc>
              <a:spcAft>
                <a:spcPts val="800"/>
              </a:spcAft>
            </a:pPr>
            <a:r>
              <a:rPr sz="1100" b="0">
                <a:solidFill>
                  <a:srgbClr val="FFC857"/>
                </a:solidFill>
                <a:latin typeface="Arial"/>
                <a:ea typeface="Microsoft YaHei"/>
              </a:rPr>
              <a:t>69</a:t>
            </a:r>
          </a:p>
        </p:txBody>
      </p:sp>
      <p:sp>
        <p:nvSpPr>
          <p:cNvPr id="4" name="Rounded Rectangle 3">
            <a:hlinkClick action="ppaction://hlinksldjump" r:id="rId2"/>
          </p:cNvPr>
          <p:cNvSpPr/>
          <p:nvPr/>
        </p:nvSpPr>
        <p:spPr>
          <a:xfrm>
            <a:off x="9677095" y="6382512"/>
            <a:ext cx="960120" cy="329184"/>
          </a:xfrm>
          <a:prstGeom prst="roundRect">
            <a:avLst>
              <a:gd name="adj" fmla="val 50000"/>
            </a:avLst>
          </a:prstGeom>
          <a:solidFill>
            <a:srgbClr val="3642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spcAft>
                <a:spcPts val="200"/>
              </a:spcAft>
            </a:pPr>
            <a:r>
              <a:rPr sz="1100" b="1">
                <a:solidFill>
                  <a:srgbClr val="FFFFFF"/>
                </a:solidFill>
                <a:latin typeface="Arial"/>
                <a:ea typeface="Microsoft YaHei"/>
              </a:rPr>
              <a:t>🗺 Map</a:t>
            </a:r>
          </a:p>
        </p:txBody>
      </p:sp>
      <p:sp>
        <p:nvSpPr>
          <p:cNvPr id="5" name="Oval 4"/>
          <p:cNvSpPr/>
          <p:nvPr/>
        </p:nvSpPr>
        <p:spPr>
          <a:xfrm>
            <a:off x="640080" y="548640"/>
            <a:ext cx="1280160" cy="1280160"/>
          </a:xfrm>
          <a:prstGeom prst="ellipse">
            <a:avLst/>
          </a:prstGeom>
          <a:solidFill>
            <a:srgbClr val="FF6B5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al 5"/>
          <p:cNvSpPr/>
          <p:nvPr/>
        </p:nvSpPr>
        <p:spPr>
          <a:xfrm>
            <a:off x="10332720" y="4754880"/>
            <a:ext cx="1371600" cy="1371600"/>
          </a:xfrm>
          <a:prstGeom prst="ellipse">
            <a:avLst/>
          </a:prstGeom>
          <a:solidFill>
            <a:srgbClr val="FFC85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Oval 6"/>
          <p:cNvSpPr/>
          <p:nvPr/>
        </p:nvSpPr>
        <p:spPr>
          <a:xfrm>
            <a:off x="10881360" y="822960"/>
            <a:ext cx="731520" cy="731520"/>
          </a:xfrm>
          <a:prstGeom prst="ellipse">
            <a:avLst/>
          </a:prstGeom>
          <a:solidFill>
            <a:srgbClr val="3CC49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0" y="1645920"/>
            <a:ext cx="12191695" cy="1097280"/>
          </a:xfrm>
          <a:prstGeom prst="rect">
            <a:avLst/>
          </a:prstGeom>
          <a:noFill/>
        </p:spPr>
        <p:txBody>
          <a:bodyPr wrap="square" anchor="t">
            <a:spAutoFit/>
          </a:bodyPr>
          <a:lstStyle/>
          <a:p>
            <a:pPr algn="ctr">
              <a:lnSpc>
                <a:spcPct val="115000"/>
              </a:lnSpc>
              <a:spcAft>
                <a:spcPts val="800"/>
              </a:spcAft>
            </a:pPr>
            <a:r>
              <a:rPr sz="6400" b="0">
                <a:solidFill>
                  <a:srgbClr val="1F2A44"/>
                </a:solidFill>
                <a:latin typeface="Arial"/>
                <a:ea typeface="Microsoft YaHei"/>
              </a:rPr>
              <a:t>🎉</a:t>
            </a:r>
          </a:p>
        </p:txBody>
      </p:sp>
      <p:sp>
        <p:nvSpPr>
          <p:cNvPr id="9" name="TextBox 8"/>
          <p:cNvSpPr txBox="1"/>
          <p:nvPr/>
        </p:nvSpPr>
        <p:spPr>
          <a:xfrm>
            <a:off x="0" y="2743200"/>
            <a:ext cx="12191695" cy="1097280"/>
          </a:xfrm>
          <a:prstGeom prst="rect">
            <a:avLst/>
          </a:prstGeom>
          <a:noFill/>
        </p:spPr>
        <p:txBody>
          <a:bodyPr wrap="square" anchor="t">
            <a:spAutoFit/>
          </a:bodyPr>
          <a:lstStyle/>
          <a:p>
            <a:pPr algn="ctr">
              <a:lnSpc>
                <a:spcPct val="115000"/>
              </a:lnSpc>
              <a:spcAft>
                <a:spcPts val="800"/>
              </a:spcAft>
            </a:pPr>
            <a:r>
              <a:rPr sz="5600" b="1">
                <a:solidFill>
                  <a:srgbClr val="FFFFFF"/>
                </a:solidFill>
                <a:latin typeface="Arial"/>
                <a:ea typeface="Microsoft YaHei"/>
              </a:rPr>
              <a:t>Unit 16 Complete!</a:t>
            </a:r>
          </a:p>
        </p:txBody>
      </p:sp>
      <p:sp>
        <p:nvSpPr>
          <p:cNvPr id="10" name="TextBox 9"/>
          <p:cNvSpPr txBox="1"/>
          <p:nvPr/>
        </p:nvSpPr>
        <p:spPr>
          <a:xfrm>
            <a:off x="0" y="3931920"/>
            <a:ext cx="12191695" cy="731520"/>
          </a:xfrm>
          <a:prstGeom prst="rect">
            <a:avLst/>
          </a:prstGeom>
          <a:noFill/>
        </p:spPr>
        <p:txBody>
          <a:bodyPr wrap="square" anchor="t">
            <a:spAutoFit/>
          </a:bodyPr>
          <a:lstStyle/>
          <a:p>
            <a:pPr algn="ctr">
              <a:lnSpc>
                <a:spcPct val="115000"/>
              </a:lnSpc>
              <a:spcAft>
                <a:spcPts val="800"/>
              </a:spcAft>
            </a:pPr>
            <a:r>
              <a:rPr sz="2200" b="0">
                <a:solidFill>
                  <a:srgbClr val="FFC857"/>
                </a:solidFill>
                <a:latin typeface="Arial"/>
                <a:ea typeface="Microsoft YaHei"/>
              </a:rPr>
              <a:t>Great work today! Keep practising 10 minutes a day.  每天 10 分钟，坚持就是进步！</a:t>
            </a:r>
          </a:p>
        </p:txBody>
      </p:sp>
    </p:spTree>
  </p:cSld>
  <p:clrMapOvr>
    <a:masterClrMapping/>
  </p:clrMapOvr>
  <p:transition spd="med">
    <p:fade/>
  </p:transition>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