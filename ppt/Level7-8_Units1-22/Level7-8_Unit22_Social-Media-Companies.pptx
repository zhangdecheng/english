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22: Social Media Companies — Self-Study Workbook (Lessons 99–100)</a:t>
            </a:r>
          </a:p>
          <a:p/>
          <a:p>
            <a:r>
              <a:t>开场：简单介绍本单元的主题和要完成的 2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99 · The rise of Twitter Twitter 的崛起</a:t>
            </a:r>
          </a:p>
          <a:p>
            <a:r>
              <a:t>Goal: tell the story of how a social media platform grows, discuss what drives growth and challenges, and use narrative tenses clearly.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本课以”一家社交平台如何崛起”为案例,按原则讨论,不断言具体数字;如需引用事实请自行核实。“Twitter” 后来更名为 X,本课用其旧称讨论通用案例。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Tell the story of how a social platform becomes popular.</a:t>
            </a:r>
          </a:p>
          <a:p>
            <a:r>
              <a:t>Say: the idea → early growth → turning point → challenges.</a:t>
            </a:r>
          </a:p>
          <a:p>
            <a:r>
              <a:t>Useful starters: “It started as…” / “It grew rapidly because…” / “A turning point was when…” / “However, it also faced…”</a:t>
            </a:r>
          </a:p>
          <a:p>
            <a:r>
              <a:t>“It started as…” 叙述起点;“A turning point was when…”。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social platforms begin as small experiments. A short-message service, for example, can start as a simple idea: let people share brief updates with friends. Its simplicity attracts early users, and events such as conferences, news stories and celebrity accounts help it spread. Growth brings influence: journalists, politicians and companies use the platform to reach audiences directly, and it becomes known as a kind of public square. But success creates challenges. The company must find a business model, often advertising, while managing misinformation, harassment and pressure from governments. Leadership changes and shifting strategy can unsettle staff and users. The story shows that building a popular product is one challenge; maintaining trust while growing is another, and often more difficult. Each stage of growth asks leaders to answer new questions about responsibility, openness and what the company should be for.</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the simple idea attract users?</a:t>
            </a:r>
          </a:p>
          <a:p>
            <a:r>
              <a:t>A: Its simplicity: brief updates shared with friends.</a:t>
            </a:r>
          </a:p>
          <a:p>
            <a:r>
              <a:t>Q2. Who uses such platforms to reach audiences?</a:t>
            </a:r>
          </a:p>
          <a:p>
            <a:r>
              <a:t>A: Journalists, politicians and companies.</a:t>
            </a:r>
          </a:p>
          <a:p>
            <a:r>
              <a:t>Q3. What is harder than building a popular product?</a:t>
            </a:r>
          </a:p>
          <a:p>
            <a:r>
              <a:t>A: Maintaining trust while growing.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Growth story 成长故事</a:t>
            </a:r>
          </a:p>
          <a:p>
            <a:r>
              <a:t>领读 → 学员跟读 → 请学员用表达造一个和自己工作相关的句子。</a:t>
            </a:r>
          </a:p>
          <a:p>
            <a:r>
              <a:t>be founded in (passive) 创立于 — “It was founded in a small office.”</a:t>
            </a:r>
          </a:p>
          <a:p>
            <a:r>
              <a:t>go viral (idiom) 迅速走红 — “The post went viral.”</a:t>
            </a:r>
          </a:p>
          <a:p>
            <a:r>
              <a:t>take off (phrasal verb) 迅速发展 — “The platform took off.”</a:t>
            </a:r>
          </a:p>
          <a:p>
            <a:r>
              <a:t>★ network effect (noun) 网络效应 — “Network effects drive growth.”</a:t>
            </a:r>
          </a:p>
          <a:p>
            <a:r>
              <a:t>★ user base (noun) 用户群 — “The user base doubled.”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Business model 商业模式</a:t>
            </a:r>
          </a:p>
          <a:p>
            <a:r>
              <a:t>领读 → 学员跟读 → 请学员用表达造一个和自己工作相关的句子。</a:t>
            </a:r>
          </a:p>
          <a:p>
            <a:r>
              <a:t>advertising revenue (noun) 广告收入 — “It depends on advertising revenue.”</a:t>
            </a:r>
          </a:p>
          <a:p>
            <a:r>
              <a:t>monetise (verb) 变现 — “They struggled to monetise.”</a:t>
            </a:r>
          </a:p>
          <a:p>
            <a:r>
              <a:t>subscription (noun) 订阅 — “A paid subscription option.”</a:t>
            </a:r>
          </a:p>
          <a:p>
            <a:r>
              <a:t>★ engagement metrics (noun) 互动指标 — “Engagement metrics matter to advertisers.”</a:t>
            </a:r>
          </a:p>
          <a:p>
            <a:r>
              <a:t>★ go public (phrase) 上市 — “The company went public.”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Challenges 挑战</a:t>
            </a:r>
          </a:p>
          <a:p>
            <a:r>
              <a:t>领读 → 学员跟读 → 请学员用表达造一个和自己工作相关的句子。</a:t>
            </a:r>
          </a:p>
          <a:p>
            <a:r>
              <a:t>misinformation (noun) 虚假信息 — “Misinformation spreads quickly.”</a:t>
            </a:r>
          </a:p>
          <a:p>
            <a:r>
              <a:t>content moderation (noun) 内容审核 — “Content moderation is expensive.”</a:t>
            </a:r>
          </a:p>
          <a:p>
            <a:r>
              <a:t>harassment (noun) 骚扰 — “Users face harassment.”</a:t>
            </a:r>
          </a:p>
          <a:p>
            <a:r>
              <a:t>★ echo chamber (noun) 回音室 — “Social media can create echo chambers.”</a:t>
            </a:r>
          </a:p>
          <a:p>
            <a:r>
              <a:t>★ come under pressure (phrase) 面临压力 — “It came under pressure from regulators.”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founded / viral / revenue / monetise / moderation / misinformation</a:t>
            </a:r>
          </a:p>
          <a:p>
            <a:r>
              <a:t>1. The company was _______ in a small office. → founded</a:t>
            </a:r>
          </a:p>
          <a:p>
            <a:r>
              <a:t>2. The post went _______ overnight. → viral</a:t>
            </a:r>
          </a:p>
          <a:p>
            <a:r>
              <a:t>3. It depends on advertising _______. → revenue</a:t>
            </a:r>
          </a:p>
          <a:p>
            <a:r>
              <a:t>4. Many platforms struggle to _______ their users. → monetise</a:t>
            </a:r>
          </a:p>
          <a:p>
            <a:r>
              <a:t>5. Content _______ is expensive. → moderation</a:t>
            </a:r>
          </a:p>
          <a:p>
            <a:r>
              <a:t>6. _______ can spread quickly online. → Misinformation</a:t>
            </a:r>
          </a:p>
          <a:p>
            <a:r>
              <a:t>Mistake Watch: (搭配) go viral,take off,go public;misinformation 不可数;founded IN 年份/地点。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Telling a company story 讲述公司故事</a:t>
            </a:r>
          </a:p>
          <a:p>
            <a:r>
              <a:t>情景：A business club talk.</a:t>
            </a:r>
          </a:p>
          <a:p>
            <a:r>
              <a:t>Role A: Host Role B: Speaker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you tell us how the platform started?</a:t>
            </a:r>
          </a:p>
          <a:p>
            <a:r>
              <a:t>B: It started as a simple idea: share short updates with friends.</a:t>
            </a:r>
          </a:p>
          <a:p>
            <a:r>
              <a:t>A: When did it take off?</a:t>
            </a:r>
          </a:p>
          <a:p>
            <a:r>
              <a:t>B: Around a major event. People used it to share news quickly, and it went viral.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was the biggest challenge?</a:t>
            </a:r>
          </a:p>
          <a:p>
            <a:r>
              <a:t>B: Making money without upsetting users, and dealing with misinformation.</a:t>
            </a:r>
          </a:p>
          <a:p>
            <a:r>
              <a:t>A: And what’s the lesson?</a:t>
            </a:r>
          </a:p>
          <a:p>
            <a:r>
              <a:t>B: Growth is exciting, but trust is harder to maintain.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tell a company story.</a:t>
            </a:r>
          </a:p>
          <a:p>
            <a:r>
              <a:t>Your role (A) | Host.</a:t>
            </a:r>
          </a:p>
          <a:p>
            <a:r>
              <a:t>Partner’s role (B) | Speaker. Company: ______________</a:t>
            </a:r>
          </a:p>
          <a:p>
            <a:r>
              <a:t>Must use (3 or more) | started as · took off · went viral · biggest challenge · the lesson</a:t>
            </a:r>
          </a:p>
          <a:p>
            <a:r>
              <a:t>Goal | Tell the story using narrative past tenses.</a:t>
            </a:r>
          </a:p>
          <a:p>
            <a:r>
              <a:t>My notes | ____________________________________________</a:t>
            </a:r>
          </a:p>
          <a:p>
            <a:r>
              <a:t>Add a turning point.</a:t>
            </a:r>
          </a:p>
          <a:p>
            <a:r>
              <a:t>Describe a mistake.</a:t>
            </a:r>
          </a:p>
          <a:p>
            <a:r>
              <a:t>End with a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Evaluating a platform for your business 评估平台用于业务</a:t>
            </a:r>
          </a:p>
          <a:p>
            <a:r>
              <a:t>情景：A marketing team meeting.</a:t>
            </a:r>
          </a:p>
          <a:p>
            <a:r>
              <a:t>Role A: Marketing manager Role B: Analyst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Should we advertise on this platform?</a:t>
            </a:r>
          </a:p>
          <a:p>
            <a:r>
              <a:t>B: It has a large user base, but engagement is falling.</a:t>
            </a:r>
          </a:p>
          <a:p>
            <a:r>
              <a:t>A: What about brand safety?</a:t>
            </a:r>
          </a:p>
          <a:p>
            <a:r>
              <a:t>B: There’s been misinformation, so we should monitor placements.</a:t>
            </a:r>
          </a:p>
          <a:p>
            <a:r>
              <a:t>A: Costs?</a:t>
            </a:r>
          </a:p>
          <a:p>
            <a:r>
              <a:t>B: Prices have come down. We could start with a small test.</a:t>
            </a:r>
          </a:p>
          <a:p>
            <a:r>
              <a:t>A: Let’s allocate a modest budget for one month.</a:t>
            </a:r>
          </a:p>
          <a:p>
            <a:r>
              <a:t>B: I’ll prepare the plan.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evaluate a platform.</a:t>
            </a:r>
          </a:p>
          <a:p>
            <a:r>
              <a:t>Your role (A) | Manager.</a:t>
            </a:r>
          </a:p>
          <a:p>
            <a:r>
              <a:t>Partner’s role (B) | Analyst. Platform: ______________</a:t>
            </a:r>
          </a:p>
          <a:p>
            <a:r>
              <a:t>Must use (3 or more) | user base · engagement · brand safety · monitor · modest budget</a:t>
            </a:r>
          </a:p>
          <a:p>
            <a:r>
              <a:t>Goal | Weigh benefits and risks and propose a test.</a:t>
            </a:r>
          </a:p>
          <a:p>
            <a:r>
              <a:t>My notes | ____________________________________________</a:t>
            </a:r>
          </a:p>
          <a:p>
            <a:r>
              <a:t>Compare two platforms.</a:t>
            </a:r>
          </a:p>
          <a:p>
            <a:r>
              <a:t>Set measures.</a:t>
            </a:r>
          </a:p>
          <a:p>
            <a:r>
              <a:t>Plan a fallback.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some platforms succeed and others fail? | “Often because…”</a:t>
            </a:r>
          </a:p>
          <a:p>
            <a:r>
              <a:t>2. Is social media good for business? | “It can be, if…”</a:t>
            </a:r>
          </a:p>
          <a:p>
            <a:r>
              <a:t>3. Who is responsible for misinformation? | “Platforms, users and…”</a:t>
            </a:r>
          </a:p>
          <a:p>
            <a:r>
              <a:t>4. Should social platforms be regulated? | “To some extent…”</a:t>
            </a:r>
          </a:p>
          <a:p>
            <a:r>
              <a:t>5. How do you use social media professionally? | “I mainly use it to…”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“Platforms succeed when they offer something simple that people actually want, and when early users spread the word. Network effects help: the more people join, the more useful it becomes. Platforms fail when they lose trust, don’t find a business model, or are overtaken by competitors with fresher ideas.”</a:t>
            </a:r>
          </a:p>
          <a:p>
            <a:r>
              <a:t>“spread the word” 口口相传;“overtaken” 被超越。</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Narrative tenses 叙事时态</a:t>
            </a:r>
          </a:p>
          <a:p>
            <a:r>
              <a:t>Tense | Example</a:t>
            </a:r>
          </a:p>
          <a:p>
            <a:r>
              <a:t>Past simple | The platform launched in a small office.</a:t>
            </a:r>
          </a:p>
          <a:p>
            <a:r>
              <a:t>Past continuous | While it was growing, new problems appeared.</a:t>
            </a:r>
          </a:p>
          <a:p>
            <a:r>
              <a:t>Past perfect | Before it went public, it had struggled to make money.</a:t>
            </a:r>
          </a:p>
          <a:p>
            <a:r>
              <a:t>Used to | It used to be a simple app.</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Narrative tenses 叙事时态</a:t>
            </a:r>
          </a:p>
          <a:p>
            <a:r>
              <a:t>Use past perfect for an earlier event: It had struggled before it went public.</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company is founded in 2006.  →  ✓ The company was founded in 2006.  (过去被动)</a:t>
            </a:r>
          </a:p>
          <a:p>
            <a:r>
              <a:t>✗ It was growing fast, then it has problems.  →  ✓ It grew fast, then it had problems.  (时态)</a:t>
            </a:r>
          </a:p>
          <a:p>
            <a:r>
              <a:t>✗ The post was went viral.  →  ✓ The post went viral.  (go viral)</a:t>
            </a:r>
          </a:p>
          <a:p>
            <a:r>
              <a:t>Mistake Watch: Check passive past, past perfect, uncountable misinformation, irregular verbs.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become popular quickly.  →  ✓ It became popular quickly.  (过去式)</a:t>
            </a:r>
          </a:p>
          <a:p>
            <a:r>
              <a:t>✗ The misinformations spread fast.  →  ✓ Misinformation spread fast.  (不可数)</a:t>
            </a:r>
          </a:p>
          <a:p>
            <a:r>
              <a:t>✗ Before it launched, it has planned for a year.  →  ✓ Before it launched, it had planned for a year.  (过去完成时)</a:t>
            </a:r>
          </a:p>
          <a:p>
            <a:r>
              <a:t>Mistake Watch: Check passive past, past perfect, uncountable misinformation, irregular verbs.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Verify facts. Use “reportedly” or “according to…” if unsure.</a:t>
            </a:r>
          </a:p>
          <a:p>
            <a:r>
              <a:t>Professional presence. Many professionals keep a separate work profile.</a:t>
            </a:r>
          </a:p>
          <a:p>
            <a:r>
              <a:t>Be careful with posts. Employers may check social media.</a:t>
            </a:r>
          </a:p>
          <a:p>
            <a:r>
              <a:t>Handle criticism calmly. Public replies are visible.</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tell a company growth story with narrative tenses.</a:t>
            </a:r>
          </a:p>
          <a:p>
            <a:r>
              <a:t>I can name business model and challenge vocabulary.</a:t>
            </a:r>
          </a:p>
          <a:p>
            <a:r>
              <a:t>I can evaluate a platform for marketing.</a:t>
            </a:r>
          </a:p>
          <a:p>
            <a:r>
              <a:t>I use passive past, past perfect and uncountable misinformation.</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Tell the story of any company in 90 seconds using past simple and past perfect.</a:t>
            </a:r>
          </a:p>
          <a:p>
            <a:r>
              <a:t>8–10 | Listen to your recording. Check: passive past, past perfect, misinformation uncountable.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100 · Jack Dorsey leaves Twitter Jack Dorsey 离开 Twitter</a:t>
            </a:r>
          </a:p>
          <a:p>
            <a:r>
              <a:t>Goal: discuss leadership transitions at a tech company in general terms: why leaders step down, how succession works, and what it means for staff and investors.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本课为领导层交接的通用案例讨论,不对具体人物的动机作断言;可用 “reportedly / according to” 引用事实。“step down” 辞职/卸任;“succession” 继任。</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why leaders step down and what happens next.</a:t>
            </a:r>
          </a:p>
          <a:p>
            <a:r>
              <a:t>Say: the announcement → reasons → impact → lessons.</a:t>
            </a:r>
          </a:p>
          <a:p>
            <a:r>
              <a:t>Useful starters: “The leader announced that…” / “There are several possible reasons…” / “For staff and investors, this means…” / “A good succession plan…”</a:t>
            </a:r>
          </a:p>
          <a:p>
            <a:r>
              <a:t>“announce that…” 宣布;“possible reasons” 谨慎表达原因。</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a founder or long-time chief executive steps down, it is more than a change of name on the door. Staff wonder about strategy, investors about stability, and customers about the product. Leaders leave for many reasons: a desire to focus on other projects, pressure from shareholders, a feeling that the company needs different skills, or personal choice. Good transitions are planned. The outgoing leader explains the decision, and the board names a successor, often from within, so that continuity is maintained. A clear handover period reduces uncertainty. Companies sometimes worry about losing the vision that a founder provided; others find that new leadership brings fresh energy. Whatever the reason, communication matters. People can accept change when they understand the reasons and see a credible plan.</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leaders step down?</a:t>
            </a:r>
          </a:p>
          <a:p>
            <a:r>
              <a:t>A: To focus on other projects, shareholder pressure, a need for different skills, or personal choice.</a:t>
            </a:r>
          </a:p>
          <a:p>
            <a:r>
              <a:t>Q2. What reduces uncertainty?</a:t>
            </a:r>
          </a:p>
          <a:p>
            <a:r>
              <a:t>A: A clear handover period and a named successor.</a:t>
            </a:r>
          </a:p>
          <a:p>
            <a:r>
              <a:t>Q3. What helps people accept change?</a:t>
            </a:r>
          </a:p>
          <a:p>
            <a:r>
              <a:t>A: Understanding the reasons and seeing a credible plan.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Leaving 离任</a:t>
            </a:r>
          </a:p>
          <a:p>
            <a:r>
              <a:t>领读 → 学员跟读 → 请学员用表达造一个和自己工作相关的句子。</a:t>
            </a:r>
          </a:p>
          <a:p>
            <a:r>
              <a:t>step down (phrasal verb) 辞职/卸任 — “The CEO stepped down.”</a:t>
            </a:r>
          </a:p>
          <a:p>
            <a:r>
              <a:t>resign (verb) 辞职 — “He resigned last week.”</a:t>
            </a:r>
          </a:p>
          <a:p>
            <a:r>
              <a:t>outgoing / incoming (adjective) 即将离任/上任的 — “The outgoing CEO spoke.”</a:t>
            </a:r>
          </a:p>
          <a:p>
            <a:r>
              <a:t>★ ride off into the sunset (idiom) 功成身退 — “He didn’t ride off into the sunset.”</a:t>
            </a:r>
          </a:p>
          <a:p>
            <a:r>
              <a:t>★ part ways (idiom) 分道扬镳 — “They parted ways amicably.”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Succession 继任</a:t>
            </a:r>
          </a:p>
          <a:p>
            <a:r>
              <a:t>领读 → 学员跟读 → 请学员用表达造一个和自己工作相关的句子。</a:t>
            </a:r>
          </a:p>
          <a:p>
            <a:r>
              <a:t>successor (noun) 继任者 — “A successor was named.”</a:t>
            </a:r>
          </a:p>
          <a:p>
            <a:r>
              <a:t>succession plan (noun) 继任计划 — “We have a succession plan.”</a:t>
            </a:r>
          </a:p>
          <a:p>
            <a:r>
              <a:t>take over (from) (phrasal verb) 接任 — “She took over from him.”</a:t>
            </a:r>
          </a:p>
          <a:p>
            <a:r>
              <a:t>★ continuity (noun) 连续性 — “Continuity reassures investors.”</a:t>
            </a:r>
          </a:p>
          <a:p>
            <a:r>
              <a:t>★ interim CEO (noun) 临时 CEO — “An interim CEO was appointed.”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Impact 影响</a:t>
            </a:r>
          </a:p>
          <a:p>
            <a:r>
              <a:t>领读 → 学员跟读 → 请学员用表达造一个和自己工作相关的句子。</a:t>
            </a:r>
          </a:p>
          <a:p>
            <a:r>
              <a:t>investors / shareholders (noun) 投资人/股东 — “Shareholders welcomed the news.”</a:t>
            </a:r>
          </a:p>
          <a:p>
            <a:r>
              <a:t>share price (noun) 股价 — “The share price rose.”</a:t>
            </a:r>
          </a:p>
          <a:p>
            <a:r>
              <a:t>company culture (noun) 企业文化 — “Culture may change.”</a:t>
            </a:r>
          </a:p>
          <a:p>
            <a:r>
              <a:t>★ vision (noun) 愿景 — “Founders provide vision.”</a:t>
            </a:r>
          </a:p>
          <a:p>
            <a:r>
              <a:t>★ steady the ship (idiom) 稳住局面 — “The new CEO steadied the ship.”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stepped / resigned / successor / continuity / shareholders / culture</a:t>
            </a:r>
          </a:p>
          <a:p>
            <a:r>
              <a:t>1. The CEO _______ down after eight years. → stepped</a:t>
            </a:r>
          </a:p>
          <a:p>
            <a:r>
              <a:t>2. The manager _______ yesterday. → resigned</a:t>
            </a:r>
          </a:p>
          <a:p>
            <a:r>
              <a:t>3. A _______ was named last week. → successor</a:t>
            </a:r>
          </a:p>
          <a:p>
            <a:r>
              <a:t>4. _______ helps reassure investors. → Continuity</a:t>
            </a:r>
          </a:p>
          <a:p>
            <a:r>
              <a:t>5. _______ welcomed the announcement. → Shareholders</a:t>
            </a:r>
          </a:p>
          <a:p>
            <a:r>
              <a:t>6. A new leader can change company _______. → culture</a:t>
            </a:r>
          </a:p>
          <a:p>
            <a:r>
              <a:t>Mistake Watch: (搭配) step down AS CEO,take over FROM someone,hand over TO someone;resign FROM a post。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Announcing a departure 宣布离任</a:t>
            </a:r>
          </a:p>
          <a:p>
            <a:r>
              <a:t>情景：A leader tells the team.</a:t>
            </a:r>
          </a:p>
          <a:p>
            <a:r>
              <a:t>Role A: Leader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wanted you to hear this from me first. I’ve decided to step down as CEO.</a:t>
            </a:r>
          </a:p>
          <a:p>
            <a:r>
              <a:t>B: That’s a surprise. Why now?</a:t>
            </a:r>
          </a:p>
          <a:p>
            <a:r>
              <a:t>A: I believe the company needs fresh leadership for the next stage. I also want to focus on other projects.</a:t>
            </a:r>
          </a:p>
          <a:p>
            <a:r>
              <a:t>B: Who will take over?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board has named a successor, and I’ll support the handover for three months.</a:t>
            </a:r>
          </a:p>
          <a:p>
            <a:r>
              <a:t>B: What happens to our plans?</a:t>
            </a:r>
          </a:p>
          <a:p>
            <a:r>
              <a:t>A: The strategy stays the same. Continuity is a priority.</a:t>
            </a:r>
          </a:p>
          <a:p>
            <a:r>
              <a:t>B: Thank you for telling us openly.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announce a departure.</a:t>
            </a:r>
          </a:p>
          <a:p>
            <a:r>
              <a:t>Your role (A) | Leader.</a:t>
            </a:r>
          </a:p>
          <a:p>
            <a:r>
              <a:t>Partner’s role (B) | Team member. Reason: ______________</a:t>
            </a:r>
          </a:p>
          <a:p>
            <a:r>
              <a:t>Must use (3 or more) | I wanted you to hear this from me · step down · fresh leadership · handover · continuity</a:t>
            </a:r>
          </a:p>
          <a:p>
            <a:r>
              <a:t>Goal | Give the news, reasons and next steps clearly.</a:t>
            </a:r>
          </a:p>
          <a:p>
            <a:r>
              <a:t>My notes | ____________________________________________</a:t>
            </a:r>
          </a:p>
          <a:p>
            <a:r>
              <a:t>Thank the team.</a:t>
            </a:r>
          </a:p>
          <a:p>
            <a:r>
              <a:t>Answer “Will there be layoffs?”</a:t>
            </a:r>
          </a:p>
          <a:p>
            <a:r>
              <a:t>Explain your next step.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Responding as a new leader 作为新领导的回应</a:t>
            </a:r>
          </a:p>
          <a:p>
            <a:r>
              <a:t>情景：The successor speaks.</a:t>
            </a:r>
          </a:p>
          <a:p>
            <a:r>
              <a:t>Role A: New CEO Role B: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honoured to take over from my predecessor, who built something remarkable.</a:t>
            </a:r>
          </a:p>
          <a:p>
            <a:r>
              <a:t>B: Will things change much?</a:t>
            </a:r>
          </a:p>
          <a:p>
            <a:r>
              <a:t>A: Our mission stays the same. I’ll spend the first month listening.</a:t>
            </a:r>
          </a:p>
          <a:p>
            <a:r>
              <a:t>B: What can we expect?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Clear priorities, regular updates and honest communication.</a:t>
            </a:r>
          </a:p>
          <a:p>
            <a:r>
              <a:t>B: That’s reassuring.</a:t>
            </a:r>
          </a:p>
          <a:p>
            <a:r>
              <a:t>A: I’ll need your support and ideas.</a:t>
            </a:r>
          </a:p>
          <a:p>
            <a:r>
              <a:t>B: You have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introduce yourself as a new leader.</a:t>
            </a:r>
          </a:p>
          <a:p>
            <a:r>
              <a:t>Your role (A) | New leader.</a:t>
            </a:r>
          </a:p>
          <a:p>
            <a:r>
              <a:t>Partner’s role (B) | Employee. Company: ______________</a:t>
            </a:r>
          </a:p>
          <a:p>
            <a:r>
              <a:t>Must use (3 or more) | honoured · take over from · mission stays the same · listening · priorities</a:t>
            </a:r>
          </a:p>
          <a:p>
            <a:r>
              <a:t>Goal | Show respect for the past and clarity about the future.</a:t>
            </a:r>
          </a:p>
          <a:p>
            <a:r>
              <a:t>My notes | ____________________________________________</a:t>
            </a:r>
          </a:p>
          <a:p>
            <a:r>
              <a:t>Admit what you don’t know yet.</a:t>
            </a:r>
          </a:p>
          <a:p>
            <a:r>
              <a:t>Announce a Q&amp;A session.</a:t>
            </a:r>
          </a:p>
          <a:p>
            <a:r>
              <a:t>Praise the predecessor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founders stay forever? | “Not necessarily, since…”</a:t>
            </a:r>
          </a:p>
          <a:p>
            <a:r>
              <a:t>2. Does leadership change affect a company? | “Usually, because…”</a:t>
            </a:r>
          </a:p>
          <a:p>
            <a:r>
              <a:t>3. Is an internal or external successor better? | “It depends on…”</a:t>
            </a:r>
          </a:p>
          <a:p>
            <a:r>
              <a:t>4. How should leaders announce they are leaving? | “They should…”</a:t>
            </a:r>
          </a:p>
          <a:p>
            <a:r>
              <a:t>5. What can you learn from leadership transitions? | “One lesson is…”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an internal successor offers continuity because they know the culture, but an external one can bring new ideas. It depends on the company’s situation. If the company needs change, an outsider may be better. If it’s doing well, an insider can preserve what works. The key is to plan early and communicate openly.”</a:t>
            </a:r>
          </a:p>
          <a:p>
            <a:r>
              <a:t>“preserve what works” 保留有效之物;“insider/outsider” 内部/外部人。</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and announcing 转述与宣布</a:t>
            </a:r>
          </a:p>
          <a:p>
            <a:r>
              <a:t>Structure | Example</a:t>
            </a:r>
          </a:p>
          <a:p>
            <a:r>
              <a:t>announced that… | He announced that he would step down.</a:t>
            </a:r>
          </a:p>
          <a:p>
            <a:r>
              <a:t>reportedly / according to… | He reportedly left to focus on other projects.</a:t>
            </a:r>
          </a:p>
          <a:p>
            <a:r>
              <a:t>It was announced that… | It was announced that a successor had been named.</a:t>
            </a:r>
          </a:p>
          <a:p>
            <a:r>
              <a:t>will be replaced by | He will be replaced by his deputy.</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and announcing 转述与宣布</a:t>
            </a:r>
          </a:p>
          <a:p>
            <a:r>
              <a:t>Reported speech shifts tense back: “I will step down” → He said he would step down.</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said that he will step down.  →  ✓ He said that he would step down.  (时态后移)</a:t>
            </a:r>
          </a:p>
          <a:p>
            <a:r>
              <a:t>✗ The CEO has stepped down in 2021.  →  ✓ The CEO stepped down in 2021.  (过去时间)</a:t>
            </a:r>
          </a:p>
          <a:p>
            <a:r>
              <a:t>✗ He resigned the company last week.  →  ✓ He resigned from the company last week.  (resign from)</a:t>
            </a:r>
          </a:p>
          <a:p>
            <a:r>
              <a:t>Mistake Watch: Check reported speech, past simple vs present perfect, succeed sb, irregular verbs.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She succeeded to him.  →  ✓ She succeeded him. / She took over from him.  (succeed sb)</a:t>
            </a:r>
          </a:p>
          <a:p>
            <a:r>
              <a:t>✗ The company changed the CEO.  →  ✓ The company replaced the CEO.  (replace)</a:t>
            </a:r>
          </a:p>
          <a:p>
            <a:r>
              <a:t>✗ He leaved the company.  →  ✓ He left the company.  (不规则动词)</a:t>
            </a:r>
          </a:p>
          <a:p>
            <a:r>
              <a:t>Mistake Watch: Check reported speech, past simple vs present perfect, succeed sb, irregular verbs.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factual. When discussing real people, use “reportedly” or “according to…”.</a:t>
            </a:r>
          </a:p>
          <a:p>
            <a:r>
              <a:t>Respectful tone. Avoid speculation about private reasons.</a:t>
            </a:r>
          </a:p>
          <a:p>
            <a:r>
              <a:t>Thank before you leave. A thoughtful goodbye message is expected.</a:t>
            </a:r>
          </a:p>
          <a:p>
            <a:r>
              <a:t>Handover period. Western boards often specify a transition period.</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leadership transitions in general terms.</a:t>
            </a:r>
          </a:p>
          <a:p>
            <a:r>
              <a:t>I can announce a departure professionally.</a:t>
            </a:r>
          </a:p>
          <a:p>
            <a:r>
              <a:t>I can use reported speech correctly.</a:t>
            </a:r>
          </a:p>
          <a:p>
            <a:r>
              <a:t>I use succeed sb, resign from and past simple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Announce your own (imaginary) departure from a role in 60 seconds.</a:t>
            </a:r>
          </a:p>
          <a:p>
            <a:r>
              <a:t>8–10 | Listen to your recording. Check: reported speech, resign from, succeed sb.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“创立于” in English? → be founded in</a:t>
            </a:r>
          </a:p>
          <a:p>
            <a:r>
              <a:t>“愿景” in English? → vision</a:t>
            </a:r>
          </a:p>
          <a:p>
            <a:r>
              <a:t>“骚扰” in English? → harassment</a:t>
            </a:r>
          </a:p>
          <a:p>
            <a:r>
              <a:t>Fix it: Before it launched, it has planned for a year. → Before it launched, it had planned for a year.</a:t>
            </a:r>
          </a:p>
          <a:p>
            <a:r>
              <a:t>Fix it: The company changed the CEO. → The company replaced the CEO.</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 Id="rId4" Type="http://schemas.openxmlformats.org/officeDocument/2006/relationships/slide" Target="slide58.xml"/><Relationship Id="rId5" Type="http://schemas.openxmlformats.org/officeDocument/2006/relationships/slide" Target="slide59.xml"/><Relationship Id="rId6" Type="http://schemas.openxmlformats.org/officeDocument/2006/relationships/slide" Target="slide60.xml"/><Relationship Id="rId7" Type="http://schemas.openxmlformats.org/officeDocument/2006/relationships/slide" Target="slide61.xml"/><Relationship Id="rId8" Type="http://schemas.openxmlformats.org/officeDocument/2006/relationships/slide" Target="slide62.xml"/><Relationship Id="rId9" Type="http://schemas.openxmlformats.org/officeDocument/2006/relationships/slide" Target="slide63.xml"/><Relationship Id="rId10" Type="http://schemas.openxmlformats.org/officeDocument/2006/relationships/slide" Target="slide64.xml"/><Relationship Id="rId11" Type="http://schemas.openxmlformats.org/officeDocument/2006/relationships/slide" Target="slide65.xml"/><Relationship Id="rId12" Type="http://schemas.openxmlformats.org/officeDocument/2006/relationships/slide" Target="slide6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22</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Social Media Companies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2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L99 The rise of Twitter · L100 Jack Dorsey leaves Twitter Jack Dorsey</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99</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rise of Twitter</a:t>
            </a:r>
          </a:p>
          <a:p>
            <a:pPr algn="l">
              <a:lnSpc>
                <a:spcPct val="100000"/>
              </a:lnSpc>
              <a:spcAft>
                <a:spcPts val="800"/>
              </a:spcAft>
            </a:pPr>
            <a:r>
              <a:rPr sz="1400" b="0">
                <a:solidFill>
                  <a:srgbClr val="5F677A"/>
                </a:solidFill>
                <a:latin typeface="Arial"/>
                <a:ea typeface="Microsoft YaHei"/>
              </a:rPr>
              <a:t>Twitter 的崛起</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100</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Jack Dorsey leaves Twitter Jack Dorsey</a:t>
            </a:r>
          </a:p>
          <a:p>
            <a:pPr algn="l">
              <a:lnSpc>
                <a:spcPct val="100000"/>
              </a:lnSpc>
              <a:spcAft>
                <a:spcPts val="800"/>
              </a:spcAft>
            </a:pPr>
            <a:r>
              <a:rPr sz="1400" b="0">
                <a:solidFill>
                  <a:srgbClr val="5F677A"/>
                </a:solidFill>
                <a:latin typeface="Arial"/>
                <a:ea typeface="Microsoft YaHei"/>
              </a:rPr>
              <a:t>离开 Twitter</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22 · Lesson 99 The rise of Twitter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rise of Twitter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Twitter 的崛起</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tell the story of how a social media platform grows, discuss what drives growth and challenges, and use narrative tenses clearly.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social media platforms do you use for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some platforms become popular quickly?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short messages powerful?</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platform make money?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problems can fast growth cause?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本课以”一家社交平台如何崛起”为案例,按原则讨论,不断言具体数字;如需引用事实请自行核实。“Twitter” 后来更名为 X,本课用其旧称讨论通用案例。</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Tell the story of how a social platform becomes popular.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idea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early growth</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turning point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challenges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 started as…   💬 It grew rapidly because…   💬 A turning point was when…   💬 However, it also faced…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 started as…” 叙述起点;“A turning point was when…”。</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From idea to public square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000" b="0">
                <a:solidFill>
                  <a:srgbClr val="1F2A44"/>
                </a:solidFill>
                <a:latin typeface="Arial"/>
                <a:ea typeface="Microsoft YaHei"/>
              </a:rPr>
              <a:t>Many social platforms begin as small experiments. A short-message service, for example, can start as a simple idea: let people share brief updates with friends. Its simplicity attracts early users, and events such as conferences, news stories and celebrity accounts help it spread. Growth brings influence: journalists, politicians and companies use the platform to reach audiences directly, and it becomes known as a kind of public square. But success creates challenges. The company must find a business model, often advertising, while managing misinformation, harassment and pressure from governments. Leadership changes and shifting strategy can unsettle staff and users. The story shows that building a popular product is one challenge; maintaining trust while growing is another, and often more difficult. Each stage of growth asks leaders to answer new questions about responsibility, openness and what the company should be for.</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the simple idea attract users?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Its simplicity: brief updates shared with friends.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Who uses such platforms to reach audiences?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Journalists, politicians and companies.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harder than building a popular product?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Maintaining trust while growing.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Growth story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成长故事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founded in</a:t>
            </a:r>
          </a:p>
          <a:p>
            <a:pPr algn="l">
              <a:lnSpc>
                <a:spcPct val="115000"/>
              </a:lnSpc>
              <a:spcAft>
                <a:spcPts val="800"/>
              </a:spcAft>
            </a:pPr>
            <a:r>
              <a:rPr sz="1300" b="0">
                <a:solidFill>
                  <a:srgbClr val="5F677A"/>
                </a:solidFill>
                <a:latin typeface="Arial"/>
                <a:ea typeface="Microsoft YaHei"/>
              </a:rPr>
              <a:t>passive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创立于</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founded in a small office.”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 viral</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迅速走红</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post went viral.”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off</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迅速发展</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platform took off.”</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network effect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网络效应</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“Network effects drive growth.”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user base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用户群</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user base doubled.”</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Business model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商业模式</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advertising revenue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广告收入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depends on advertising revenue.”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monetise</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变现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struggled to monetise.”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subscription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订阅</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paid subscription option.”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engagement metrics</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互动指标</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“Engagement metrics matter to advertisers.”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public</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上市</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went public.”</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Challenges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挑战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misinformation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虚假信息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“Misinformation spreads quickly.”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content moderation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内容审核</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“Content moderation is expensive.”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harassment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骚扰</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“Users face harassment.”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echo chamber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回音室</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“Social media can create echo chambers.”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under pressure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面临压力</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came under pressure from regulators.”</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变现</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monetise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互动指标</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engagement metrics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面临压力</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come under pressure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迅速走红</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viral</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网络效应</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network effect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迅速发展</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off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回音室</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echo chamber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虚假信息</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misinformation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founded</a:t>
            </a:r>
          </a:p>
        </p:txBody>
      </p:sp>
      <p:sp>
        <p:nvSpPr>
          <p:cNvPr id="10" name="Rounded Rectangle 9"/>
          <p:cNvSpPr/>
          <p:nvPr/>
        </p:nvSpPr>
        <p:spPr>
          <a:xfrm>
            <a:off x="3236976"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viral</a:t>
            </a:r>
          </a:p>
        </p:txBody>
      </p:sp>
      <p:sp>
        <p:nvSpPr>
          <p:cNvPr id="11" name="Rounded Rectangle 10"/>
          <p:cNvSpPr/>
          <p:nvPr/>
        </p:nvSpPr>
        <p:spPr>
          <a:xfrm>
            <a:off x="4242816"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revenue</a:t>
            </a:r>
          </a:p>
        </p:txBody>
      </p:sp>
      <p:sp>
        <p:nvSpPr>
          <p:cNvPr id="12" name="Rounded Rectangle 11"/>
          <p:cNvSpPr/>
          <p:nvPr/>
        </p:nvSpPr>
        <p:spPr>
          <a:xfrm>
            <a:off x="5468112"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monetise</a:t>
            </a:r>
          </a:p>
        </p:txBody>
      </p:sp>
      <p:sp>
        <p:nvSpPr>
          <p:cNvPr id="13" name="Rounded Rectangle 12"/>
          <p:cNvSpPr/>
          <p:nvPr/>
        </p:nvSpPr>
        <p:spPr>
          <a:xfrm>
            <a:off x="6803136"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moderation</a:t>
            </a:r>
          </a:p>
        </p:txBody>
      </p:sp>
      <p:sp>
        <p:nvSpPr>
          <p:cNvPr id="14" name="Rounded Rectangle 13"/>
          <p:cNvSpPr/>
          <p:nvPr/>
        </p:nvSpPr>
        <p:spPr>
          <a:xfrm>
            <a:off x="8357616" y="987552"/>
            <a:ext cx="190195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misinformation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company was _______ in a small office.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founded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post went _______ overnight.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viral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It depends on advertising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revenue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Many platforms struggle to _______ their users.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monetise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Content _______ is expensive.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moderation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_______ can spread quickly online.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Misinformation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go viral,take off,go public;misinformation 不可数;founded IN 年份/地点。</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Telling a company story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讲述公司故事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business club talk.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Host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Speaker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Telling a company story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you tell us how the platform started?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started as a simple idea: share short updates with friends.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When did it take off?</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Around a major event. People used it to share news quickly, and it went viral.</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Telling a company story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was the biggest challenge?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Making money without upsetting users, and dealing with misinformation.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what’s the lesson?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Growth is exciting, but trust is harder to maintain.</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Telling a company story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tell a company story.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Company: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started as · took off · went viral · biggest challenge · the lesson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Tell the story using narrative past tenses.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turning point.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mistake.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prediction.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Evaluating a platform for your business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评估平台用于业务</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marketing team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Marketing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Analyst</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Evaluating a platform for your business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Should we advertise on this platform?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has a large user base, but engagement is falling.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brand safety?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been misinformation, so we should monitor placements.</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Costs?</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Prices have come down. We could start with a small test.</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allocate a modest budget for one month.</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prepare the plan.</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Evaluating a platform for your business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evaluate a platform.</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Platform: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user base · engagement · brand safety · monitor · modest budget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Weigh benefits and risks and propose a test.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two platforms.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measures.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a fallback.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some platforms succeed and others fail?</a:t>
            </a:r>
          </a:p>
          <a:p>
            <a:pPr algn="l">
              <a:lnSpc>
                <a:spcPct val="115000"/>
              </a:lnSpc>
              <a:spcAft>
                <a:spcPts val="800"/>
              </a:spcAft>
            </a:pPr>
            <a:r>
              <a:rPr sz="1400" b="0">
                <a:solidFill>
                  <a:srgbClr val="5F677A"/>
                </a:solidFill>
                <a:latin typeface="Arial"/>
                <a:ea typeface="Microsoft YaHei"/>
              </a:rPr>
              <a:t>💬 “Often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social media good for business?</a:t>
            </a:r>
          </a:p>
          <a:p>
            <a:pPr algn="l">
              <a:lnSpc>
                <a:spcPct val="115000"/>
              </a:lnSpc>
              <a:spcAft>
                <a:spcPts val="800"/>
              </a:spcAft>
            </a:pPr>
            <a:r>
              <a:rPr sz="1400" b="0">
                <a:solidFill>
                  <a:srgbClr val="5F677A"/>
                </a:solidFill>
                <a:latin typeface="Arial"/>
                <a:ea typeface="Microsoft YaHei"/>
              </a:rPr>
              <a:t>💬 “It can be, if…”</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is responsible for misinformation?</a:t>
            </a:r>
          </a:p>
          <a:p>
            <a:pPr algn="l">
              <a:lnSpc>
                <a:spcPct val="115000"/>
              </a:lnSpc>
              <a:spcAft>
                <a:spcPts val="800"/>
              </a:spcAft>
            </a:pPr>
            <a:r>
              <a:rPr sz="1400" b="0">
                <a:solidFill>
                  <a:srgbClr val="5F677A"/>
                </a:solidFill>
                <a:latin typeface="Arial"/>
                <a:ea typeface="Microsoft YaHei"/>
              </a:rPr>
              <a:t>💬 “Platforms, users and…”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social platforms be regulated?</a:t>
            </a:r>
          </a:p>
          <a:p>
            <a:pPr algn="l">
              <a:lnSpc>
                <a:spcPct val="115000"/>
              </a:lnSpc>
              <a:spcAft>
                <a:spcPts val="800"/>
              </a:spcAft>
            </a:pPr>
            <a:r>
              <a:rPr sz="1400" b="0">
                <a:solidFill>
                  <a:srgbClr val="5F677A"/>
                </a:solidFill>
                <a:latin typeface="Arial"/>
                <a:ea typeface="Microsoft YaHei"/>
              </a:rPr>
              <a:t>💬 “To some extent…”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use social media professionally?</a:t>
            </a:r>
          </a:p>
          <a:p>
            <a:pPr algn="l">
              <a:lnSpc>
                <a:spcPct val="115000"/>
              </a:lnSpc>
              <a:spcAft>
                <a:spcPts val="800"/>
              </a:spcAft>
            </a:pPr>
            <a:r>
              <a:rPr sz="1400" b="0">
                <a:solidFill>
                  <a:srgbClr val="5F677A"/>
                </a:solidFill>
                <a:latin typeface="Arial"/>
                <a:ea typeface="Microsoft YaHei"/>
              </a:rPr>
              <a:t>💬 “I mainly use it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Platforms succeed when they offer something simple that people actually want, and when early users spread the word. Network effects help: the more people join, the more useful it becomes. Platforms fail when they lose trust, don’t find a business model, or are overtaken by competitors with fresher ideas.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“spread the word” 口口相传;“overtaken” 被超越。</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Narrative tenses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叙事时态</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Tense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Past simple</a:t>
                      </a:r>
                    </a:p>
                  </a:txBody>
                  <a:tcPr anchor="ctr">
                    <a:solidFill>
                      <a:srgbClr val="FFFFFF"/>
                    </a:solidFill>
                  </a:tcPr>
                </a:tc>
                <a:tc>
                  <a:txBody>
                    <a:bodyPr wrap="square"/>
                    <a:lstStyle/>
                    <a:p>
                      <a:r>
                        <a:rPr sz="1600" b="0">
                          <a:solidFill>
                            <a:srgbClr val="1F2A44"/>
                          </a:solidFill>
                          <a:latin typeface="Arial"/>
                          <a:ea typeface="Microsoft YaHei"/>
                        </a:rPr>
                        <a:t>The platform launched in a small office.</a:t>
                      </a:r>
                    </a:p>
                  </a:txBody>
                  <a:tcPr anchor="ctr">
                    <a:solidFill>
                      <a:srgbClr val="FFFFFF"/>
                    </a:solidFill>
                  </a:tcPr>
                </a:tc>
              </a:tr>
              <a:tr h="408432">
                <a:tc>
                  <a:txBody>
                    <a:bodyPr wrap="square"/>
                    <a:lstStyle/>
                    <a:p>
                      <a:r>
                        <a:rPr sz="1600" b="1">
                          <a:solidFill>
                            <a:srgbClr val="1F2A44"/>
                          </a:solidFill>
                          <a:latin typeface="Arial"/>
                          <a:ea typeface="Microsoft YaHei"/>
                        </a:rPr>
                        <a:t>Past continuous</a:t>
                      </a:r>
                    </a:p>
                  </a:txBody>
                  <a:tcPr anchor="ctr">
                    <a:solidFill>
                      <a:srgbClr val="FFEFD9"/>
                    </a:solidFill>
                  </a:tcPr>
                </a:tc>
                <a:tc>
                  <a:txBody>
                    <a:bodyPr wrap="square"/>
                    <a:lstStyle/>
                    <a:p>
                      <a:r>
                        <a:rPr sz="1600" b="0">
                          <a:solidFill>
                            <a:srgbClr val="1F2A44"/>
                          </a:solidFill>
                          <a:latin typeface="Arial"/>
                          <a:ea typeface="Microsoft YaHei"/>
                        </a:rPr>
                        <a:t>While it was growing, new problems appeared.</a:t>
                      </a:r>
                    </a:p>
                  </a:txBody>
                  <a:tcPr anchor="ctr">
                    <a:solidFill>
                      <a:srgbClr val="FFEFD9"/>
                    </a:solidFill>
                  </a:tcPr>
                </a:tc>
              </a:tr>
              <a:tr h="652272">
                <a:tc>
                  <a:txBody>
                    <a:bodyPr wrap="square"/>
                    <a:lstStyle/>
                    <a:p>
                      <a:r>
                        <a:rPr sz="1600" b="1">
                          <a:solidFill>
                            <a:srgbClr val="1F2A44"/>
                          </a:solidFill>
                          <a:latin typeface="Arial"/>
                          <a:ea typeface="Microsoft YaHei"/>
                        </a:rPr>
                        <a:t>Past perfect</a:t>
                      </a:r>
                    </a:p>
                  </a:txBody>
                  <a:tcPr anchor="ctr">
                    <a:solidFill>
                      <a:srgbClr val="FFFFFF"/>
                    </a:solidFill>
                  </a:tcPr>
                </a:tc>
                <a:tc>
                  <a:txBody>
                    <a:bodyPr wrap="square"/>
                    <a:lstStyle/>
                    <a:p>
                      <a:r>
                        <a:rPr sz="1600" b="0">
                          <a:solidFill>
                            <a:srgbClr val="1F2A44"/>
                          </a:solidFill>
                          <a:latin typeface="Arial"/>
                          <a:ea typeface="Microsoft YaHei"/>
                        </a:rPr>
                        <a:t>Before it went public, it had struggled to make money.</a:t>
                      </a:r>
                    </a:p>
                  </a:txBody>
                  <a:tcPr anchor="ctr">
                    <a:solidFill>
                      <a:srgbClr val="FFFFFF"/>
                    </a:solidFill>
                  </a:tcPr>
                </a:tc>
              </a:tr>
              <a:tr h="408432">
                <a:tc>
                  <a:txBody>
                    <a:bodyPr wrap="square"/>
                    <a:lstStyle/>
                    <a:p>
                      <a:r>
                        <a:rPr sz="1600" b="1">
                          <a:solidFill>
                            <a:srgbClr val="1F2A44"/>
                          </a:solidFill>
                          <a:latin typeface="Arial"/>
                          <a:ea typeface="Microsoft YaHei"/>
                        </a:rPr>
                        <a:t>Used to</a:t>
                      </a:r>
                    </a:p>
                  </a:txBody>
                  <a:tcPr anchor="ctr">
                    <a:solidFill>
                      <a:srgbClr val="FFEFD9"/>
                    </a:solidFill>
                  </a:tcPr>
                </a:tc>
                <a:tc>
                  <a:txBody>
                    <a:bodyPr wrap="square"/>
                    <a:lstStyle/>
                    <a:p>
                      <a:r>
                        <a:rPr sz="1600" b="0">
                          <a:solidFill>
                            <a:srgbClr val="1F2A44"/>
                          </a:solidFill>
                          <a:latin typeface="Arial"/>
                          <a:ea typeface="Microsoft YaHei"/>
                        </a:rPr>
                        <a:t>It used to be a simple app.</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Narrative tenses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叙事时态</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past perfect for an earlier event: </a:t>
            </a:r>
            <a:r>
              <a:rPr sz="1700" b="0">
                <a:solidFill>
                  <a:srgbClr val="1F2A44"/>
                </a:solidFill>
                <a:latin typeface="Arial"/>
                <a:ea typeface="Microsoft YaHei"/>
              </a:rPr>
              <a:t>It had struggled before it went public.</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is founded in 2006.</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was founded in 2006.</a:t>
            </a:r>
          </a:p>
          <a:p>
            <a:pPr algn="l">
              <a:spcAft>
                <a:spcPts val="200"/>
              </a:spcAft>
            </a:pPr>
            <a:r>
              <a:rPr sz="1200" b="0">
                <a:solidFill>
                  <a:srgbClr val="FFFFFF"/>
                </a:solidFill>
                <a:latin typeface="Arial"/>
                <a:ea typeface="Microsoft YaHei"/>
              </a:rPr>
              <a:t>过去被动</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was growing fast, then it has problems.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grew fast, then it had problems.</a:t>
            </a:r>
          </a:p>
          <a:p>
            <a:pPr algn="l">
              <a:spcAft>
                <a:spcPts val="200"/>
              </a:spcAft>
            </a:pPr>
            <a:r>
              <a:rPr sz="1200" b="0">
                <a:solidFill>
                  <a:srgbClr val="FFFFFF"/>
                </a:solidFill>
                <a:latin typeface="Arial"/>
                <a:ea typeface="Microsoft YaHei"/>
              </a:rPr>
              <a:t>时态</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post was went viral.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post went viral.</a:t>
            </a:r>
          </a:p>
          <a:p>
            <a:pPr algn="l">
              <a:spcAft>
                <a:spcPts val="200"/>
              </a:spcAft>
            </a:pPr>
            <a:r>
              <a:rPr sz="1200" b="0">
                <a:solidFill>
                  <a:srgbClr val="FFFFFF"/>
                </a:solidFill>
                <a:latin typeface="Arial"/>
                <a:ea typeface="Microsoft YaHei"/>
              </a:rPr>
              <a:t>go viral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become popular quickly.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became popular quickly.</a:t>
            </a:r>
          </a:p>
          <a:p>
            <a:pPr algn="l">
              <a:spcAft>
                <a:spcPts val="200"/>
              </a:spcAft>
            </a:pPr>
            <a:r>
              <a:rPr sz="1200" b="0">
                <a:solidFill>
                  <a:srgbClr val="FFFFFF"/>
                </a:solidFill>
                <a:latin typeface="Arial"/>
                <a:ea typeface="Microsoft YaHei"/>
              </a:rPr>
              <a:t>过去式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misinformations spread fast.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Misinformation spread fast.</a:t>
            </a:r>
          </a:p>
          <a:p>
            <a:pPr algn="l">
              <a:spcAft>
                <a:spcPts val="200"/>
              </a:spcAft>
            </a:pPr>
            <a:r>
              <a:rPr sz="1200" b="0">
                <a:solidFill>
                  <a:srgbClr val="FFFFFF"/>
                </a:solidFill>
                <a:latin typeface="Arial"/>
                <a:ea typeface="Microsoft YaHei"/>
              </a:rPr>
              <a:t>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Before it launched, it has planned for a year.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Before it launched, it had planned for a year.</a:t>
            </a:r>
          </a:p>
          <a:p>
            <a:pPr algn="l">
              <a:spcAft>
                <a:spcPts val="200"/>
              </a:spcAft>
            </a:pPr>
            <a:r>
              <a:rPr sz="1200" b="0">
                <a:solidFill>
                  <a:srgbClr val="FFFFFF"/>
                </a:solidFill>
                <a:latin typeface="Arial"/>
                <a:ea typeface="Microsoft YaHei"/>
              </a:rPr>
              <a:t>过去完成时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passive past, past perfect, uncountable misinformation, irregular verbs.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Verify facts. Use “reportedly” or “according to…” if unsure.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Professional presence. Many professionals keep a separate work profile.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Be careful with posts. Employers may check social media.</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Handle criticism calmly. Public replies are visible.</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tell a company growth story with narrative tenses.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business model and challenge vocabulary.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evaluate a platform for marketing.</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passive past, past perfect and uncountable misinformation.</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99 The rise of Twitter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Tell the story of any company in 90 seconds using past simple and past perfect.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passive past, past perfect, misinformation uncountable.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22 · Lesson 100 Jack Dorsey leaves Twitter Jack Dorsey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100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3900" b="1">
                <a:solidFill>
                  <a:srgbClr val="FFFFFF"/>
                </a:solidFill>
                <a:latin typeface="Arial"/>
                <a:ea typeface="Microsoft YaHei"/>
              </a:rPr>
              <a:t>Jack Dorsey leaves Twitter Jack Dorsey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离开 Twitter</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leadership transitions at a tech company in general terms: why leaders step down, how succession works, and what it means for staff and investors.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founders sometimes step down?</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better for a company to promote from within or bring in a new CEO?</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a leader announce they are leaving?</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happens to company culture after a founder leaves?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good succession plan?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本课为领导层交接的通用案例讨论,不对具体人物的动机作断言;可用 “reportedly / according to” 引用事实。“step down” 辞职/卸任;“succession” 继任。</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why leaders step down and what happens next.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announcement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reasons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impact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lessons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leader announced that…   💬 There are several possible reasons…   💬 For staff and investors, this means…   💬 A good succession plan…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“announce that…” 宣布;“possible reasons” 谨慎表达原因。</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When the founder leaves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When a founder or long-time chief executive steps down, it is more than a change of name on the door. Staff wonder about strategy, investors about stability, and customers about the product. Leaders leave for many reasons: a desire to focus on other projects, pressure from shareholders, a feeling that the company needs different skills, or personal choice. Good transitions are planned. The outgoing leader explains the decision, and the board names a successor, often from within, so that continuity is maintained. A clear handover period reduces uncertainty. Companies sometimes worry about losing the vision that a founder provided; others find that new leadership brings fresh energy. Whatever the reason, communication matters. People can accept change when they understand the reasons and see a credible plan.</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leaders step down?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focus on other projects, shareholder pressure, a need for different skills, or personal choice.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reduces uncertainty?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clear handover period and a named successor.</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helps people accept change?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Understanding the reasons and seeing a credible plan.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Leaving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离任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step down</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辞职/卸任</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CEO stepped down.”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resign</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辞职</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resigned last week.”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outgoing / incoming</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即将离任/上任的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outgoing CEO spoke.”</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ride off into the sunset</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功成身退</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didn’t ride off into the sunset.”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part ways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分道扬镳</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parted ways amicably.”</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Succession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继任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successor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继任者</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successor was named.”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succession plan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继任计划</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succession plan.”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over (from)</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接任</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took over from him.”</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continuity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连续性</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“Continuity reassures investors.”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interim CEO</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临时 CEO</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 interim CEO was appointed.”</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Impact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影响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investors / shareholders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投资人/股东</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“Shareholders welcomed the news.”</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share price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股价</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share price rose.”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company culture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企业文化</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“Culture may change.”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vision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愿景</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“Founders provide vision.”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steady the ship</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稳住局面</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new CEO steadied the ship.”</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稳住局面</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steady the ship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分道扬镳</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part ways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辞职/卸任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 down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接任</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over (from)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继任计划</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succession plan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继任者</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successor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投资人/股东</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investors / shareholders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辞职</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resign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stepped</a:t>
            </a:r>
          </a:p>
        </p:txBody>
      </p:sp>
      <p:sp>
        <p:nvSpPr>
          <p:cNvPr id="10" name="Rounded Rectangle 9"/>
          <p:cNvSpPr/>
          <p:nvPr/>
        </p:nvSpPr>
        <p:spPr>
          <a:xfrm>
            <a:off x="3236976"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resigned</a:t>
            </a:r>
          </a:p>
        </p:txBody>
      </p:sp>
      <p:sp>
        <p:nvSpPr>
          <p:cNvPr id="11" name="Rounded Rectangle 10"/>
          <p:cNvSpPr/>
          <p:nvPr/>
        </p:nvSpPr>
        <p:spPr>
          <a:xfrm>
            <a:off x="4572000"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successor</a:t>
            </a:r>
          </a:p>
        </p:txBody>
      </p:sp>
      <p:sp>
        <p:nvSpPr>
          <p:cNvPr id="12" name="Rounded Rectangle 11"/>
          <p:cNvSpPr/>
          <p:nvPr/>
        </p:nvSpPr>
        <p:spPr>
          <a:xfrm>
            <a:off x="6016752"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continuity</a:t>
            </a:r>
          </a:p>
        </p:txBody>
      </p:sp>
      <p:sp>
        <p:nvSpPr>
          <p:cNvPr id="13" name="Rounded Rectangle 12"/>
          <p:cNvSpPr/>
          <p:nvPr/>
        </p:nvSpPr>
        <p:spPr>
          <a:xfrm>
            <a:off x="7571232"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shareholders</a:t>
            </a:r>
          </a:p>
        </p:txBody>
      </p:sp>
      <p:sp>
        <p:nvSpPr>
          <p:cNvPr id="14" name="Rounded Rectangle 13"/>
          <p:cNvSpPr/>
          <p:nvPr/>
        </p:nvSpPr>
        <p:spPr>
          <a:xfrm>
            <a:off x="9345167"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culture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CEO _______ down after eight years.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stepped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manager _______ yesterday.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resigned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 _______ was named last week.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successor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_______ helps reassure investors.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Continuity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welcomed the announcement.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Shareholders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 new leader can change company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culture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step down AS CEO,take over FROM someone,hand over TO someone;resign FROM a post。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Announcing a departure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宣布离任</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leader tells the team.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Leader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Announcing a departure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wanted you to hear this from me first. I’ve decided to step down as CEO.</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surprise. Why now?</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believe the company needs fresh leadership for the next stage. I also want to focus on other projects.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Who will take over?</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Announcing a departure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board has named a successor, and I’ll support the handover for three months.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happens to our plans?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strategy stays the same. Continuity is a priority.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telling us openly.</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Announcing a departure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announce a departure.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Leader.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Reason: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wanted you to hear this from me · step down · fresh leadership · handover · continuity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the news, reasons and next steps clearly.</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Thank the team.</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Answer “Will there be layoffs?”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your next step.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Responding as a new leader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作为新领导的回应</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The successor speaks.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New CEO</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Employee</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Responding as a new leader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honoured to take over from my predecessor, who built something remarkable.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things change much?</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mission stays the same. I’ll spend the first month listening.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can we expect?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Responding as a new leader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Clear priorities, regular updates and honest communication.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reassuring.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need your support and ideas.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have it.</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Responding as a new leader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introduce yourself as a new leader.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leader.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Company: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honoured · take over from · mission stays the same · listening · priorities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Show respect for the past and clarity about the future.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Admit what you don’t know yet.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Announce a Q&amp;A session.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Praise the predecessor specifically.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founders stay forever?</a:t>
            </a:r>
          </a:p>
          <a:p>
            <a:pPr algn="l">
              <a:lnSpc>
                <a:spcPct val="115000"/>
              </a:lnSpc>
              <a:spcAft>
                <a:spcPts val="800"/>
              </a:spcAft>
            </a:pPr>
            <a:r>
              <a:rPr sz="1400" b="0">
                <a:solidFill>
                  <a:srgbClr val="5F677A"/>
                </a:solidFill>
                <a:latin typeface="Arial"/>
                <a:ea typeface="Microsoft YaHei"/>
              </a:rPr>
              <a:t>💬 “Not necessarily, since…”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Does leadership change affect a company?</a:t>
            </a:r>
          </a:p>
          <a:p>
            <a:pPr algn="l">
              <a:lnSpc>
                <a:spcPct val="115000"/>
              </a:lnSpc>
              <a:spcAft>
                <a:spcPts val="800"/>
              </a:spcAft>
            </a:pPr>
            <a:r>
              <a:rPr sz="1400" b="0">
                <a:solidFill>
                  <a:srgbClr val="5F677A"/>
                </a:solidFill>
                <a:latin typeface="Arial"/>
                <a:ea typeface="Microsoft YaHei"/>
              </a:rPr>
              <a:t>💬 “Usually,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an internal or external successor better?</a:t>
            </a:r>
          </a:p>
          <a:p>
            <a:pPr algn="l">
              <a:lnSpc>
                <a:spcPct val="115000"/>
              </a:lnSpc>
              <a:spcAft>
                <a:spcPts val="800"/>
              </a:spcAft>
            </a:pPr>
            <a:r>
              <a:rPr sz="1400" b="0">
                <a:solidFill>
                  <a:srgbClr val="5F677A"/>
                </a:solidFill>
                <a:latin typeface="Arial"/>
                <a:ea typeface="Microsoft YaHei"/>
              </a:rPr>
              <a:t>💬 “It depends on…”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leaders announce they are leaving?</a:t>
            </a:r>
          </a:p>
          <a:p>
            <a:pPr algn="l">
              <a:lnSpc>
                <a:spcPct val="115000"/>
              </a:lnSpc>
              <a:spcAft>
                <a:spcPts val="800"/>
              </a:spcAft>
            </a:pPr>
            <a:r>
              <a:rPr sz="1400" b="0">
                <a:solidFill>
                  <a:srgbClr val="5F677A"/>
                </a:solidFill>
                <a:latin typeface="Arial"/>
                <a:ea typeface="Microsoft YaHei"/>
              </a:rPr>
              <a:t>💬 “They should…”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you learn from leadership transitions?</a:t>
            </a:r>
          </a:p>
          <a:p>
            <a:pPr algn="l">
              <a:lnSpc>
                <a:spcPct val="115000"/>
              </a:lnSpc>
              <a:spcAft>
                <a:spcPts val="800"/>
              </a:spcAft>
            </a:pPr>
            <a:r>
              <a:rPr sz="1400" b="0">
                <a:solidFill>
                  <a:srgbClr val="5F677A"/>
                </a:solidFill>
                <a:latin typeface="Arial"/>
                <a:ea typeface="Microsoft YaHei"/>
              </a:rPr>
              <a:t>💬 “One lesson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an internal successor offers continuity because they know the culture, but an external one can bring new ideas. It depends on the company’s situation. If the company needs change, an outsider may be better. If it’s doing well, an insider can preserve what works. The key is to plan early and communicate openly.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“preserve what works” 保留有效之物;“insider/outsider” 内部/外部人。</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Reporting and announcing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转述与宣布</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announced that…</a:t>
                      </a:r>
                    </a:p>
                  </a:txBody>
                  <a:tcPr anchor="ctr">
                    <a:solidFill>
                      <a:srgbClr val="FFFFFF"/>
                    </a:solidFill>
                  </a:tcPr>
                </a:tc>
                <a:tc>
                  <a:txBody>
                    <a:bodyPr wrap="square"/>
                    <a:lstStyle/>
                    <a:p>
                      <a:r>
                        <a:rPr sz="1600" b="0">
                          <a:solidFill>
                            <a:srgbClr val="1F2A44"/>
                          </a:solidFill>
                          <a:latin typeface="Arial"/>
                          <a:ea typeface="Microsoft YaHei"/>
                        </a:rPr>
                        <a:t>He announced that he would step down.</a:t>
                      </a:r>
                    </a:p>
                  </a:txBody>
                  <a:tcPr anchor="ctr">
                    <a:solidFill>
                      <a:srgbClr val="FFFFFF"/>
                    </a:solidFill>
                  </a:tcPr>
                </a:tc>
              </a:tr>
              <a:tr h="408432">
                <a:tc>
                  <a:txBody>
                    <a:bodyPr wrap="square"/>
                    <a:lstStyle/>
                    <a:p>
                      <a:r>
                        <a:rPr sz="1600" b="1">
                          <a:solidFill>
                            <a:srgbClr val="1F2A44"/>
                          </a:solidFill>
                          <a:latin typeface="Arial"/>
                          <a:ea typeface="Microsoft YaHei"/>
                        </a:rPr>
                        <a:t>reportedly / according to…</a:t>
                      </a:r>
                    </a:p>
                  </a:txBody>
                  <a:tcPr anchor="ctr">
                    <a:solidFill>
                      <a:srgbClr val="FFEFD9"/>
                    </a:solidFill>
                  </a:tcPr>
                </a:tc>
                <a:tc>
                  <a:txBody>
                    <a:bodyPr wrap="square"/>
                    <a:lstStyle/>
                    <a:p>
                      <a:r>
                        <a:rPr sz="1600" b="0">
                          <a:solidFill>
                            <a:srgbClr val="1F2A44"/>
                          </a:solidFill>
                          <a:latin typeface="Arial"/>
                          <a:ea typeface="Microsoft YaHei"/>
                        </a:rPr>
                        <a:t>He reportedly left to focus on other projects.</a:t>
                      </a:r>
                    </a:p>
                  </a:txBody>
                  <a:tcPr anchor="ctr">
                    <a:solidFill>
                      <a:srgbClr val="FFEFD9"/>
                    </a:solidFill>
                  </a:tcPr>
                </a:tc>
              </a:tr>
              <a:tr h="408432">
                <a:tc>
                  <a:txBody>
                    <a:bodyPr wrap="square"/>
                    <a:lstStyle/>
                    <a:p>
                      <a:r>
                        <a:rPr sz="1600" b="1">
                          <a:solidFill>
                            <a:srgbClr val="1F2A44"/>
                          </a:solidFill>
                          <a:latin typeface="Arial"/>
                          <a:ea typeface="Microsoft YaHei"/>
                        </a:rPr>
                        <a:t>It was announced that…</a:t>
                      </a:r>
                    </a:p>
                  </a:txBody>
                  <a:tcPr anchor="ctr">
                    <a:solidFill>
                      <a:srgbClr val="FFFFFF"/>
                    </a:solidFill>
                  </a:tcPr>
                </a:tc>
                <a:tc>
                  <a:txBody>
                    <a:bodyPr wrap="square"/>
                    <a:lstStyle/>
                    <a:p>
                      <a:r>
                        <a:rPr sz="1600" b="0">
                          <a:solidFill>
                            <a:srgbClr val="1F2A44"/>
                          </a:solidFill>
                          <a:latin typeface="Arial"/>
                          <a:ea typeface="Microsoft YaHei"/>
                        </a:rPr>
                        <a:t>It was announced that a successor had been named.</a:t>
                      </a:r>
                    </a:p>
                  </a:txBody>
                  <a:tcPr anchor="ctr">
                    <a:solidFill>
                      <a:srgbClr val="FFFFFF"/>
                    </a:solidFill>
                  </a:tcPr>
                </a:tc>
              </a:tr>
              <a:tr h="408432">
                <a:tc>
                  <a:txBody>
                    <a:bodyPr wrap="square"/>
                    <a:lstStyle/>
                    <a:p>
                      <a:r>
                        <a:rPr sz="1600" b="1">
                          <a:solidFill>
                            <a:srgbClr val="1F2A44"/>
                          </a:solidFill>
                          <a:latin typeface="Arial"/>
                          <a:ea typeface="Microsoft YaHei"/>
                        </a:rPr>
                        <a:t>will be replaced by</a:t>
                      </a:r>
                    </a:p>
                  </a:txBody>
                  <a:tcPr anchor="ctr">
                    <a:solidFill>
                      <a:srgbClr val="FFEFD9"/>
                    </a:solidFill>
                  </a:tcPr>
                </a:tc>
                <a:tc>
                  <a:txBody>
                    <a:bodyPr wrap="square"/>
                    <a:lstStyle/>
                    <a:p>
                      <a:r>
                        <a:rPr sz="1600" b="0">
                          <a:solidFill>
                            <a:srgbClr val="1F2A44"/>
                          </a:solidFill>
                          <a:latin typeface="Arial"/>
                          <a:ea typeface="Microsoft YaHei"/>
                        </a:rPr>
                        <a:t>He will be replaced by his deputy.</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Reporting and announcing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转述与宣布</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Reported speech shifts tense back: </a:t>
            </a:r>
            <a:r>
              <a:rPr sz="1700" b="0">
                <a:solidFill>
                  <a:srgbClr val="1F2A44"/>
                </a:solidFill>
                <a:latin typeface="Arial"/>
                <a:ea typeface="Microsoft YaHei"/>
              </a:rPr>
              <a:t>“I will step down” → He said he would step down.</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said that he will step down.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said that he would step down.</a:t>
            </a:r>
          </a:p>
          <a:p>
            <a:pPr algn="l">
              <a:spcAft>
                <a:spcPts val="200"/>
              </a:spcAft>
            </a:pPr>
            <a:r>
              <a:rPr sz="1200" b="0">
                <a:solidFill>
                  <a:srgbClr val="FFFFFF"/>
                </a:solidFill>
                <a:latin typeface="Arial"/>
                <a:ea typeface="Microsoft YaHei"/>
              </a:rPr>
              <a:t>时态后移</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CEO has stepped down in 2021.</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CEO stepped down in 2021.</a:t>
            </a:r>
          </a:p>
          <a:p>
            <a:pPr algn="l">
              <a:spcAft>
                <a:spcPts val="200"/>
              </a:spcAft>
            </a:pPr>
            <a:r>
              <a:rPr sz="1200" b="0">
                <a:solidFill>
                  <a:srgbClr val="FFFFFF"/>
                </a:solidFill>
                <a:latin typeface="Arial"/>
                <a:ea typeface="Microsoft YaHei"/>
              </a:rPr>
              <a:t>过去时间</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resigned the company last week.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resigned from the company last week.</a:t>
            </a:r>
          </a:p>
          <a:p>
            <a:pPr algn="l">
              <a:spcAft>
                <a:spcPts val="200"/>
              </a:spcAft>
            </a:pPr>
            <a:r>
              <a:rPr sz="1200" b="0">
                <a:solidFill>
                  <a:srgbClr val="FFFFFF"/>
                </a:solidFill>
                <a:latin typeface="Arial"/>
                <a:ea typeface="Microsoft YaHei"/>
              </a:rPr>
              <a:t>resign from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succeeded to him.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succeeded him. / She took over from him.</a:t>
            </a:r>
          </a:p>
          <a:p>
            <a:pPr algn="l">
              <a:spcAft>
                <a:spcPts val="200"/>
              </a:spcAft>
            </a:pPr>
            <a:r>
              <a:rPr sz="1200" b="0">
                <a:solidFill>
                  <a:srgbClr val="FFFFFF"/>
                </a:solidFill>
                <a:latin typeface="Arial"/>
                <a:ea typeface="Microsoft YaHei"/>
              </a:rPr>
              <a:t>succeed sb</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changed the CEO.</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replaced the CEO.</a:t>
            </a:r>
          </a:p>
          <a:p>
            <a:pPr algn="l">
              <a:spcAft>
                <a:spcPts val="200"/>
              </a:spcAft>
            </a:pPr>
            <a:r>
              <a:rPr sz="1200" b="0">
                <a:solidFill>
                  <a:srgbClr val="FFFFFF"/>
                </a:solidFill>
                <a:latin typeface="Arial"/>
                <a:ea typeface="Microsoft YaHei"/>
              </a:rPr>
              <a:t>replace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leaved the company.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left the company.</a:t>
            </a:r>
          </a:p>
          <a:p>
            <a:pPr algn="l">
              <a:spcAft>
                <a:spcPts val="200"/>
              </a:spcAft>
            </a:pPr>
            <a:r>
              <a:rPr sz="1200" b="0">
                <a:solidFill>
                  <a:srgbClr val="FFFFFF"/>
                </a:solidFill>
                <a:latin typeface="Arial"/>
                <a:ea typeface="Microsoft YaHei"/>
              </a:rPr>
              <a:t>不规则动词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reported speech, past simple vs present perfect, succeed sb, irregular verbs.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factual. When discussing real people, use “reportedly” or “according to…”.</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Respectful tone. Avoid speculation about private reasons.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Thank before you leave. A thoughtful goodbye message is expected.</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Handover period. Western boards often specify a transition period.</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100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leadership transitions in general terms.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announce a departure professionally.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reported speech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succeed sb, resign from and past simple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 · Lesson 100 Jack Dorsey leaves Twitter Jack Dorsey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Announce your own (imaginary) departure from a role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reported speech, resign from, succeed sb.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outgoing / incoming</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outgoing CEO spoke.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Before it launched, it has planned for a year.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Before it launched, it had planned for a year.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创立于</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be founded in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虚假信息</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misinformation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ride off into the sunset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 didn’t ride off into the sunset.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继任计划</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succession plan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“创立于”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founded in</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“愿景”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vision</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“骚扰”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harassment</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Before it launched, it has planned for a year.</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Before it launched, it had planned for a year.</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The company changed the CEO.</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company replaced the CEO.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22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