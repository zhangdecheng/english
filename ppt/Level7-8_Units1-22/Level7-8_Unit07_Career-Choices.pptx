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 id="335" r:id="rId87"/>
    <p:sldId id="336" r:id="rId88"/>
    <p:sldId id="337" r:id="rId89"/>
    <p:sldId id="338" r:id="rId90"/>
    <p:sldId id="339" r:id="rId91"/>
    <p:sldId id="340" r:id="rId92"/>
    <p:sldId id="341" r:id="rId93"/>
    <p:sldId id="342" r:id="rId94"/>
    <p:sldId id="343" r:id="rId95"/>
    <p:sldId id="344" r:id="rId96"/>
    <p:sldId id="345" r:id="rId97"/>
    <p:sldId id="346" r:id="rId98"/>
    <p:sldId id="347" r:id="rId99"/>
    <p:sldId id="348" r:id="rId100"/>
    <p:sldId id="349" r:id="rId101"/>
    <p:sldId id="350" r:id="rId102"/>
    <p:sldId id="351" r:id="rId103"/>
    <p:sldId id="352" r:id="rId104"/>
    <p:sldId id="353" r:id="rId105"/>
    <p:sldId id="354" r:id="rId106"/>
    <p:sldId id="355" r:id="rId107"/>
    <p:sldId id="356" r:id="rId108"/>
    <p:sldId id="357" r:id="rId109"/>
    <p:sldId id="358" r:id="rId110"/>
    <p:sldId id="359" r:id="rId111"/>
    <p:sldId id="360" r:id="rId112"/>
    <p:sldId id="361" r:id="rId113"/>
    <p:sldId id="362" r:id="rId114"/>
    <p:sldId id="363" r:id="rId115"/>
    <p:sldId id="364" r:id="rId116"/>
    <p:sldId id="365" r:id="rId117"/>
    <p:sldId id="366" r:id="rId118"/>
    <p:sldId id="367" r:id="rId119"/>
    <p:sldId id="368" r:id="rId120"/>
    <p:sldId id="369" r:id="rId121"/>
    <p:sldId id="370" r:id="rId122"/>
    <p:sldId id="371" r:id="rId123"/>
    <p:sldId id="372" r:id="rId124"/>
    <p:sldId id="373" r:id="rId125"/>
    <p:sldId id="374" r:id="rId126"/>
    <p:sldId id="375" r:id="rId127"/>
    <p:sldId id="376" r:id="rId128"/>
    <p:sldId id="377" r:id="rId129"/>
    <p:sldId id="378" r:id="rId130"/>
    <p:sldId id="379" r:id="rId131"/>
    <p:sldId id="380" r:id="rId132"/>
    <p:sldId id="381" r:id="rId133"/>
    <p:sldId id="382" r:id="rId134"/>
    <p:sldId id="383" r:id="rId135"/>
    <p:sldId id="384" r:id="rId136"/>
    <p:sldId id="385" r:id="rId137"/>
    <p:sldId id="386" r:id="rId138"/>
    <p:sldId id="387" r:id="rId139"/>
    <p:sldId id="388" r:id="rId140"/>
    <p:sldId id="389" r:id="rId141"/>
    <p:sldId id="390" r:id="rId142"/>
    <p:sldId id="391" r:id="rId143"/>
    <p:sldId id="392" r:id="rId144"/>
    <p:sldId id="393" r:id="rId145"/>
    <p:sldId id="394" r:id="rId146"/>
    <p:sldId id="395" r:id="rId147"/>
    <p:sldId id="396" r:id="rId148"/>
    <p:sldId id="397" r:id="rId149"/>
    <p:sldId id="398" r:id="rId150"/>
    <p:sldId id="399" r:id="rId151"/>
    <p:sldId id="400" r:id="rId152"/>
    <p:sldId id="401" r:id="rId153"/>
    <p:sldId id="402" r:id="rId154"/>
    <p:sldId id="403" r:id="rId15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 Id="rId80" Type="http://schemas.openxmlformats.org/officeDocument/2006/relationships/slide" Target="slides/slide73.xml"/><Relationship Id="rId81" Type="http://schemas.openxmlformats.org/officeDocument/2006/relationships/slide" Target="slides/slide74.xml"/><Relationship Id="rId82" Type="http://schemas.openxmlformats.org/officeDocument/2006/relationships/slide" Target="slides/slide75.xml"/><Relationship Id="rId83" Type="http://schemas.openxmlformats.org/officeDocument/2006/relationships/slide" Target="slides/slide76.xml"/><Relationship Id="rId84" Type="http://schemas.openxmlformats.org/officeDocument/2006/relationships/slide" Target="slides/slide77.xml"/><Relationship Id="rId85" Type="http://schemas.openxmlformats.org/officeDocument/2006/relationships/slide" Target="slides/slide78.xml"/><Relationship Id="rId86" Type="http://schemas.openxmlformats.org/officeDocument/2006/relationships/slide" Target="slides/slide79.xml"/><Relationship Id="rId87" Type="http://schemas.openxmlformats.org/officeDocument/2006/relationships/slide" Target="slides/slide80.xml"/><Relationship Id="rId88" Type="http://schemas.openxmlformats.org/officeDocument/2006/relationships/slide" Target="slides/slide81.xml"/><Relationship Id="rId89" Type="http://schemas.openxmlformats.org/officeDocument/2006/relationships/slide" Target="slides/slide82.xml"/><Relationship Id="rId90" Type="http://schemas.openxmlformats.org/officeDocument/2006/relationships/slide" Target="slides/slide83.xml"/><Relationship Id="rId91" Type="http://schemas.openxmlformats.org/officeDocument/2006/relationships/slide" Target="slides/slide84.xml"/><Relationship Id="rId92" Type="http://schemas.openxmlformats.org/officeDocument/2006/relationships/slide" Target="slides/slide85.xml"/><Relationship Id="rId93" Type="http://schemas.openxmlformats.org/officeDocument/2006/relationships/slide" Target="slides/slide86.xml"/><Relationship Id="rId94" Type="http://schemas.openxmlformats.org/officeDocument/2006/relationships/slide" Target="slides/slide87.xml"/><Relationship Id="rId95" Type="http://schemas.openxmlformats.org/officeDocument/2006/relationships/slide" Target="slides/slide88.xml"/><Relationship Id="rId96" Type="http://schemas.openxmlformats.org/officeDocument/2006/relationships/slide" Target="slides/slide89.xml"/><Relationship Id="rId97" Type="http://schemas.openxmlformats.org/officeDocument/2006/relationships/slide" Target="slides/slide90.xml"/><Relationship Id="rId98" Type="http://schemas.openxmlformats.org/officeDocument/2006/relationships/slide" Target="slides/slide91.xml"/><Relationship Id="rId99" Type="http://schemas.openxmlformats.org/officeDocument/2006/relationships/slide" Target="slides/slide92.xml"/><Relationship Id="rId100" Type="http://schemas.openxmlformats.org/officeDocument/2006/relationships/slide" Target="slides/slide93.xml"/><Relationship Id="rId101" Type="http://schemas.openxmlformats.org/officeDocument/2006/relationships/slide" Target="slides/slide94.xml"/><Relationship Id="rId102" Type="http://schemas.openxmlformats.org/officeDocument/2006/relationships/slide" Target="slides/slide95.xml"/><Relationship Id="rId103" Type="http://schemas.openxmlformats.org/officeDocument/2006/relationships/slide" Target="slides/slide96.xml"/><Relationship Id="rId104" Type="http://schemas.openxmlformats.org/officeDocument/2006/relationships/slide" Target="slides/slide97.xml"/><Relationship Id="rId105" Type="http://schemas.openxmlformats.org/officeDocument/2006/relationships/slide" Target="slides/slide98.xml"/><Relationship Id="rId106" Type="http://schemas.openxmlformats.org/officeDocument/2006/relationships/slide" Target="slides/slide99.xml"/><Relationship Id="rId107" Type="http://schemas.openxmlformats.org/officeDocument/2006/relationships/slide" Target="slides/slide100.xml"/><Relationship Id="rId108" Type="http://schemas.openxmlformats.org/officeDocument/2006/relationships/slide" Target="slides/slide101.xml"/><Relationship Id="rId109" Type="http://schemas.openxmlformats.org/officeDocument/2006/relationships/slide" Target="slides/slide102.xml"/><Relationship Id="rId110" Type="http://schemas.openxmlformats.org/officeDocument/2006/relationships/slide" Target="slides/slide103.xml"/><Relationship Id="rId111" Type="http://schemas.openxmlformats.org/officeDocument/2006/relationships/slide" Target="slides/slide104.xml"/><Relationship Id="rId112" Type="http://schemas.openxmlformats.org/officeDocument/2006/relationships/slide" Target="slides/slide105.xml"/><Relationship Id="rId113" Type="http://schemas.openxmlformats.org/officeDocument/2006/relationships/slide" Target="slides/slide106.xml"/><Relationship Id="rId114" Type="http://schemas.openxmlformats.org/officeDocument/2006/relationships/slide" Target="slides/slide107.xml"/><Relationship Id="rId115" Type="http://schemas.openxmlformats.org/officeDocument/2006/relationships/slide" Target="slides/slide108.xml"/><Relationship Id="rId116" Type="http://schemas.openxmlformats.org/officeDocument/2006/relationships/slide" Target="slides/slide109.xml"/><Relationship Id="rId117" Type="http://schemas.openxmlformats.org/officeDocument/2006/relationships/slide" Target="slides/slide110.xml"/><Relationship Id="rId118" Type="http://schemas.openxmlformats.org/officeDocument/2006/relationships/slide" Target="slides/slide111.xml"/><Relationship Id="rId119" Type="http://schemas.openxmlformats.org/officeDocument/2006/relationships/slide" Target="slides/slide112.xml"/><Relationship Id="rId120" Type="http://schemas.openxmlformats.org/officeDocument/2006/relationships/slide" Target="slides/slide113.xml"/><Relationship Id="rId121" Type="http://schemas.openxmlformats.org/officeDocument/2006/relationships/slide" Target="slides/slide114.xml"/><Relationship Id="rId122" Type="http://schemas.openxmlformats.org/officeDocument/2006/relationships/slide" Target="slides/slide115.xml"/><Relationship Id="rId123" Type="http://schemas.openxmlformats.org/officeDocument/2006/relationships/slide" Target="slides/slide116.xml"/><Relationship Id="rId124" Type="http://schemas.openxmlformats.org/officeDocument/2006/relationships/slide" Target="slides/slide117.xml"/><Relationship Id="rId125" Type="http://schemas.openxmlformats.org/officeDocument/2006/relationships/slide" Target="slides/slide118.xml"/><Relationship Id="rId126" Type="http://schemas.openxmlformats.org/officeDocument/2006/relationships/slide" Target="slides/slide119.xml"/><Relationship Id="rId127" Type="http://schemas.openxmlformats.org/officeDocument/2006/relationships/slide" Target="slides/slide120.xml"/><Relationship Id="rId128" Type="http://schemas.openxmlformats.org/officeDocument/2006/relationships/slide" Target="slides/slide121.xml"/><Relationship Id="rId129" Type="http://schemas.openxmlformats.org/officeDocument/2006/relationships/slide" Target="slides/slide122.xml"/><Relationship Id="rId130" Type="http://schemas.openxmlformats.org/officeDocument/2006/relationships/slide" Target="slides/slide123.xml"/><Relationship Id="rId131" Type="http://schemas.openxmlformats.org/officeDocument/2006/relationships/slide" Target="slides/slide124.xml"/><Relationship Id="rId132" Type="http://schemas.openxmlformats.org/officeDocument/2006/relationships/slide" Target="slides/slide125.xml"/><Relationship Id="rId133" Type="http://schemas.openxmlformats.org/officeDocument/2006/relationships/slide" Target="slides/slide126.xml"/><Relationship Id="rId134" Type="http://schemas.openxmlformats.org/officeDocument/2006/relationships/slide" Target="slides/slide127.xml"/><Relationship Id="rId135" Type="http://schemas.openxmlformats.org/officeDocument/2006/relationships/slide" Target="slides/slide128.xml"/><Relationship Id="rId136" Type="http://schemas.openxmlformats.org/officeDocument/2006/relationships/slide" Target="slides/slide129.xml"/><Relationship Id="rId137" Type="http://schemas.openxmlformats.org/officeDocument/2006/relationships/slide" Target="slides/slide130.xml"/><Relationship Id="rId138" Type="http://schemas.openxmlformats.org/officeDocument/2006/relationships/slide" Target="slides/slide131.xml"/><Relationship Id="rId139" Type="http://schemas.openxmlformats.org/officeDocument/2006/relationships/slide" Target="slides/slide132.xml"/><Relationship Id="rId140" Type="http://schemas.openxmlformats.org/officeDocument/2006/relationships/slide" Target="slides/slide133.xml"/><Relationship Id="rId141" Type="http://schemas.openxmlformats.org/officeDocument/2006/relationships/slide" Target="slides/slide134.xml"/><Relationship Id="rId142" Type="http://schemas.openxmlformats.org/officeDocument/2006/relationships/slide" Target="slides/slide135.xml"/><Relationship Id="rId143" Type="http://schemas.openxmlformats.org/officeDocument/2006/relationships/slide" Target="slides/slide136.xml"/><Relationship Id="rId144" Type="http://schemas.openxmlformats.org/officeDocument/2006/relationships/slide" Target="slides/slide137.xml"/><Relationship Id="rId145" Type="http://schemas.openxmlformats.org/officeDocument/2006/relationships/slide" Target="slides/slide138.xml"/><Relationship Id="rId146" Type="http://schemas.openxmlformats.org/officeDocument/2006/relationships/slide" Target="slides/slide139.xml"/><Relationship Id="rId147" Type="http://schemas.openxmlformats.org/officeDocument/2006/relationships/slide" Target="slides/slide140.xml"/><Relationship Id="rId148" Type="http://schemas.openxmlformats.org/officeDocument/2006/relationships/slide" Target="slides/slide141.xml"/><Relationship Id="rId149" Type="http://schemas.openxmlformats.org/officeDocument/2006/relationships/slide" Target="slides/slide142.xml"/><Relationship Id="rId150" Type="http://schemas.openxmlformats.org/officeDocument/2006/relationships/slide" Target="slides/slide143.xml"/><Relationship Id="rId151" Type="http://schemas.openxmlformats.org/officeDocument/2006/relationships/slide" Target="slides/slide144.xml"/><Relationship Id="rId152" Type="http://schemas.openxmlformats.org/officeDocument/2006/relationships/slide" Target="slides/slide145.xml"/><Relationship Id="rId153" Type="http://schemas.openxmlformats.org/officeDocument/2006/relationships/slide" Target="slides/slide146.xml"/><Relationship Id="rId154" Type="http://schemas.openxmlformats.org/officeDocument/2006/relationships/slide" Target="slides/slide147.xml"/><Relationship Id="rId155" Type="http://schemas.openxmlformats.org/officeDocument/2006/relationships/slide" Target="slides/slide14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7.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8.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9.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0.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2.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3.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4.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5.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6.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7.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8.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9.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0.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1.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2.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3.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4.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5.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6.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7.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8.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9.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0.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1.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2.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3.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4.xm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5.xml"/></Relationships>
</file>

<file path=ppt/notesSlides/_rels/notesSlide1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6.xml"/></Relationships>
</file>

<file path=ppt/notesSlides/_rels/notesSlide1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7.xml"/></Relationships>
</file>

<file path=ppt/notesSlides/_rels/notesSlide1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8.xml"/></Relationships>
</file>

<file path=ppt/notesSlides/_rels/notesSlide1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9.xml"/></Relationships>
</file>

<file path=ppt/notesSlides/_rels/notesSlide1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0.xml"/></Relationships>
</file>

<file path=ppt/notesSlides/_rels/notesSlide1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1.xml"/></Relationships>
</file>

<file path=ppt/notesSlides/_rels/notesSlide1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2.xml"/></Relationships>
</file>

<file path=ppt/notesSlides/_rels/notesSlide1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3.xml"/></Relationships>
</file>

<file path=ppt/notesSlides/_rels/notesSlide1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4.xml"/></Relationships>
</file>

<file path=ppt/notesSlides/_rels/notesSlide1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5.xml"/></Relationships>
</file>

<file path=ppt/notesSlides/_rels/notesSlide1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6.xml"/></Relationships>
</file>

<file path=ppt/notesSlides/_rels/notesSlide1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7.xml"/></Relationships>
</file>

<file path=ppt/notesSlides/_rels/notesSlide1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8.xml"/></Relationships>
</file>

<file path=ppt/notesSlides/_rels/notesSlide1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9.xml"/></Relationships>
</file>

<file path=ppt/notesSlides/_rels/notesSlide1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0.xml"/></Relationships>
</file>

<file path=ppt/notesSlides/_rels/notesSlide1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1.xml"/></Relationships>
</file>

<file path=ppt/notesSlides/_rels/notesSlide1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2.xml"/></Relationships>
</file>

<file path=ppt/notesSlides/_rels/notesSlide1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3.xml"/></Relationships>
</file>

<file path=ppt/notesSlides/_rels/notesSlide1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4.xml"/></Relationships>
</file>

<file path=ppt/notesSlides/_rels/notesSlide1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5.xml"/></Relationships>
</file>

<file path=ppt/notesSlides/_rels/notesSlide1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6.xml"/></Relationships>
</file>

<file path=ppt/notesSlides/_rels/notesSlide1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6.xml"/></Relationships>
</file>

<file path=ppt/notesSlides/_rels/notesSlide1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7.xml"/></Relationships>
</file>

<file path=ppt/notesSlides/_rels/notesSlide1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Business English – Intermediate Level 7–8</a:t>
            </a:r>
          </a:p>
          <a:p>
            <a:r>
              <a:t>Unit 7: Career Choices — Self-Study Workbook (Lessons 32–36)</a:t>
            </a:r>
          </a:p>
          <a:p/>
          <a:p>
            <a:r>
              <a:t>开场：简单介绍本单元的主题和要完成的 5 个 Lesson，说明全程会以小组积分赛的形式进行。</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把学员分成 2–4 组。热身发言、答题、角色扮演表现好都可以加分，最后一页评出冠军组。</a:t>
            </a:r>
          </a:p>
          <a:p>
            <a:r>
              <a:t>可以直接在 Score 框里打字记分，或在白板上记录。</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点击任意 Lesson 可直接跳转；每页右下角的 🗺 Map 按钮可以随时回到这里。</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Lesson 32 · Career choice 职业选择</a:t>
            </a:r>
          </a:p>
          <a:p>
            <a:r>
              <a:t>Goal: explain the factors behind a career choice and discuss your career path and plans with confidence.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热身：每题请一位学员用 2–3 句话回答，点击逐题出现。积极发言的小组 +1。</a:t>
            </a:r>
          </a:p>
          <a:p>
            <a:r>
              <a:t>第 1 题 “Why did you choose…” 用过去式。第 4 题 “see yourself” = 想象自己。</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一分钟挑战：给 1 分钟准备，然后每组派一人计时发言 60 秒，不停顿、不说中文即可得分。</a:t>
            </a:r>
          </a:p>
          <a:p>
            <a:r>
              <a:t>Explain how you chose your career and what you want next.</a:t>
            </a:r>
          </a:p>
          <a:p>
            <a:r>
              <a:t>Say: how you started → why you chose it → where you are now → your plan.</a:t>
            </a:r>
          </a:p>
          <a:p>
            <a:r>
              <a:t>Useful starters: “I ended up in… because…” / “What attracted me to… was…” / “I’m hoping to…” / “Eventually, I’d like to…”</a:t>
            </a:r>
          </a:p>
          <a:p>
            <a:r>
              <a:t>“end up” = 最终落到;“What attracted me to X was…” 强调句。</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阅读/听力：第一遍合上文本听老师朗读，抓大意；第二遍读文本找细节，再回答问题。</a:t>
            </a:r>
          </a:p>
          <a:p>
            <a:r>
              <a:t>Choosing a career is rarely a single decision. It is a series of small ones. Career advisers often suggest asking three questions. First, what are you good at? Be honest about skills, not only interests. Second, what do you enjoy doing, even on a bad day? Interest keeps you going when the work gets hard. Third, what does the market need? A job you love but that pays too little for your needs may cause stress later. The best choices usually sit where these three overlap. It also helps to treat your first job as an experiment rather than a life sentence. Many people change direction two or three times, and each move teaches them something about what they really want.</a:t>
            </a:r>
          </a:p>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先让各组讨论 1 分钟，再抢答。点击一次出现答案。</a:t>
            </a:r>
          </a:p>
          <a:p>
            <a:r>
              <a:t>Q1. What are the three questions?</a:t>
            </a:r>
          </a:p>
          <a:p>
            <a:r>
              <a:t>A: What are you good at? What do you enjoy? What does the market need?</a:t>
            </a:r>
          </a:p>
          <a:p>
            <a:r>
              <a:t>Q2. Why should you treat the first job as an experiment?</a:t>
            </a:r>
          </a:p>
          <a:p>
            <a:r>
              <a:t>A: Because many people change direction and learn from each move.</a:t>
            </a:r>
          </a:p>
          <a:p>
            <a:r>
              <a:t>Q3. Why does the “market” question matter?</a:t>
            </a:r>
          </a:p>
          <a:p>
            <a:r>
              <a:t>A: A job that pays too little may cause stress later.</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1: Choosing a career 选择职业</a:t>
            </a:r>
          </a:p>
          <a:p>
            <a:r>
              <a:t>领读 → 学员跟读 → 请学员用表达造一个和自己工作相关的句子。</a:t>
            </a:r>
          </a:p>
          <a:p>
            <a:r>
              <a:t>career path (noun) 职业道路 — “She followed an unusual career path.”</a:t>
            </a:r>
          </a:p>
          <a:p>
            <a:r>
              <a:t>pursue a career in (collocation) 从事…的职业 — “I want to pursue a career in finance.”</a:t>
            </a:r>
          </a:p>
          <a:p>
            <a:r>
              <a:t>be drawn to (phrase) 被…吸引 — “I was drawn to marketing.”</a:t>
            </a:r>
          </a:p>
          <a:p>
            <a:r>
              <a:t>★ end up (doing) (phrasal verb) 最终(做了…) — “I ended up in HR by accident.”</a:t>
            </a:r>
          </a:p>
          <a:p>
            <a:r>
              <a:t>★ find your calling (collocation) 找到天职 — “She found her calling in teaching.”</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2: Factors 考虑因素</a:t>
            </a:r>
          </a:p>
          <a:p>
            <a:r>
              <a:t>领读 → 学员跟读 → 请学员用表达造一个和自己工作相关的句子。</a:t>
            </a:r>
          </a:p>
          <a:p>
            <a:r>
              <a:t>job security (noun) 工作稳定性 — “Job security matters to me.”</a:t>
            </a:r>
          </a:p>
          <a:p>
            <a:r>
              <a:t>work-life balance (noun) 工作生活平衡 — “I want better work-life balance.”</a:t>
            </a:r>
          </a:p>
          <a:p>
            <a:r>
              <a:t>salary / pay package (noun) 薪酬 — “The pay package includes a bonus.”</a:t>
            </a:r>
          </a:p>
          <a:p>
            <a:r>
              <a:t>★ prospects (noun) 前景 — “The career prospects are excellent.”</a:t>
            </a:r>
          </a:p>
          <a:p>
            <a:r>
              <a:t>★ a stepping stone (noun) 跳板 — “This job is a stepping stone to management.”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3: Plans 计划</a:t>
            </a:r>
          </a:p>
          <a:p>
            <a:r>
              <a:t>领读 → 学员跟读 → 请学员用表达造一个和自己工作相关的句子。</a:t>
            </a:r>
          </a:p>
          <a:p>
            <a:r>
              <a:t>aim for / aspire to (verb) 力争/渴望 — “I aspire to lead a team.”</a:t>
            </a:r>
          </a:p>
          <a:p>
            <a:r>
              <a:t>gain experience (collocation) 积累经验 — “I want to gain experience abroad.”</a:t>
            </a:r>
          </a:p>
          <a:p>
            <a:r>
              <a:t>★ climb the ladder (idiom) 晋升 — “He climbed the corporate ladder quickly.”</a:t>
            </a:r>
          </a:p>
          <a:p>
            <a:r>
              <a:t>★ switch careers (collocation) 转行 — “She switched careers at 35.”</a:t>
            </a:r>
          </a:p>
          <a:p>
            <a:r>
              <a:t>★ keep my options open (idiom) 保留选择余地 — “I’m keeping my options open.”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抢答：老师指一张卡，各组抢答英文表达，答对 +1。点击按顺序揭晓答案。</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限时 2 分钟独立完成，然后逐题点击揭晓答案。全对的学员为小组 +1。</a:t>
            </a:r>
          </a:p>
          <a:p>
            <a:r>
              <a:t>path / pursue / drawn / security / prospects / options</a:t>
            </a:r>
          </a:p>
          <a:p>
            <a:r>
              <a:t>1. She followed an unusual career _______. → path</a:t>
            </a:r>
          </a:p>
          <a:p>
            <a:r>
              <a:t>2. I want to _______ a career in finance. → pursue</a:t>
            </a:r>
          </a:p>
          <a:p>
            <a:r>
              <a:t>3. I was _______ to marketing at university. → drawn</a:t>
            </a:r>
          </a:p>
          <a:p>
            <a:r>
              <a:t>4. Job _______ matters to me more than pay. → security</a:t>
            </a:r>
          </a:p>
          <a:p>
            <a:r>
              <a:t>5. The career _______ in this field are excellent. → prospects</a:t>
            </a:r>
          </a:p>
          <a:p>
            <a:r>
              <a:t>6. I’m keeping my _______ open for now. → options</a:t>
            </a:r>
          </a:p>
          <a:p>
            <a:r>
              <a:t>Mistake Watch: (介词) pursue a career IN, interested IN, good AT, a career AS a teacher。</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Why this career? 为什么选这个职业</a:t>
            </a:r>
          </a:p>
          <a:p>
            <a:r>
              <a:t>情景：A job interview question.</a:t>
            </a:r>
          </a:p>
          <a:p>
            <a:r>
              <a:t>Role A: Interviewer Role B: Candidate</a:t>
            </a:r>
          </a:p>
          <a:p>
            <a:r>
              <a:t>先师生示范一遍，再两人一组练习，最后请 1–2 组上台表演，表现最好的组 +2。</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What made you choose a career in logistics?</a:t>
            </a:r>
          </a:p>
          <a:p>
            <a:r>
              <a:t>B: I ended up in it a bit by accident, to be honest. I took a summer job in a warehouse.</a:t>
            </a:r>
          </a:p>
          <a:p>
            <a:r>
              <a:t>A: And what kept you in the field?</a:t>
            </a:r>
          </a:p>
          <a:p>
            <a:r>
              <a:t>B: I was drawn to solving puzzles, like getting thousands of items to the right place on time.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Where do you see yourself in five years?</a:t>
            </a:r>
          </a:p>
          <a:p>
            <a:r>
              <a:t>B: I’d like to lead a team and gain experience in international shipping.</a:t>
            </a:r>
          </a:p>
          <a:p>
            <a:r>
              <a:t>A: Sounds ambitious.</a:t>
            </a:r>
          </a:p>
          <a:p>
            <a:r>
              <a:t>B: I try to be realistic, but yes. I aspire to manage a regional office.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学员两人一组，按角色卡即兴对话 3 分钟（不看范文）。完成后挑战进阶版任务，挑战成功 +2。</a:t>
            </a:r>
          </a:p>
          <a:p>
            <a:r>
              <a:t>Role card 1 | </a:t>
            </a:r>
          </a:p>
          <a:p>
            <a:r>
              <a:t>Situation | You explain your career choice and plan.</a:t>
            </a:r>
          </a:p>
          <a:p>
            <a:r>
              <a:t>Your role (A) | Interviewer.</a:t>
            </a:r>
          </a:p>
          <a:p>
            <a:r>
              <a:t>Partner’s role (B) | Candidate. Your field: ______________</a:t>
            </a:r>
          </a:p>
          <a:p>
            <a:r>
              <a:t>Must use (3 or more) | drawn to · ended up · gain experience · aspire to · in five years</a:t>
            </a:r>
          </a:p>
          <a:p>
            <a:r>
              <a:t>Goal | Explain how you started, why you stayed and where you are heading.</a:t>
            </a:r>
          </a:p>
          <a:p>
            <a:r>
              <a:t>My notes | ____________________________________________</a:t>
            </a:r>
          </a:p>
          <a:p>
            <a:r>
              <a:t>Add a turning point in your career.</a:t>
            </a:r>
          </a:p>
          <a:p>
            <a:r>
              <a:t>Answer “What would you do if you could start again?”</a:t>
            </a:r>
          </a:p>
          <a:p>
            <a:r>
              <a:t>Be honest about a doubt.</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Advising a graduate 给毕业生建议</a:t>
            </a:r>
          </a:p>
          <a:p>
            <a:r>
              <a:t>情景：A young person asks how to choose a career.</a:t>
            </a:r>
          </a:p>
          <a:p>
            <a:r>
              <a:t>Role A: Graduate Role B: Experienced colleague</a:t>
            </a:r>
          </a:p>
          <a:p>
            <a:r>
              <a:t>先师生示范一遍，再两人一组练习，最后请 1–2 组上台表演，表现最好的组 +2。</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I have two offers, and I don’t know how to choose.</a:t>
            </a:r>
          </a:p>
          <a:p>
            <a:r>
              <a:t>B: What matters most: pay, learning or work-life balance?</a:t>
            </a:r>
          </a:p>
          <a:p>
            <a:r>
              <a:t>A: Learning, I think. But the pay is better in the other job.</a:t>
            </a:r>
          </a:p>
          <a:p>
            <a:r>
              <a:t>B: Think about prospects. Which gives you more options in three years?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The first. It’s a stepping stone to a global role.</a:t>
            </a:r>
          </a:p>
          <a:p>
            <a:r>
              <a:t>B: Then I’d lean that way. Remember, your first job isn’t a life sentence.</a:t>
            </a:r>
          </a:p>
          <a:p>
            <a:r>
              <a:t>A: That’s reassuring.</a:t>
            </a:r>
          </a:p>
          <a:p>
            <a:r>
              <a:t>B: Most people change direction a couple of times.</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学员两人一组，按角色卡即兴对话 3 分钟（不看范文）。完成后挑战进阶版任务，挑战成功 +2。</a:t>
            </a:r>
          </a:p>
          <a:p>
            <a:r>
              <a:t>Role card 2 | </a:t>
            </a:r>
          </a:p>
          <a:p>
            <a:r>
              <a:t>Situation | You advise on a career choice.</a:t>
            </a:r>
          </a:p>
          <a:p>
            <a:r>
              <a:t>Your role (A) | Graduate. Offers: ______________</a:t>
            </a:r>
          </a:p>
          <a:p>
            <a:r>
              <a:t>Partner’s role (B) | Adviser.</a:t>
            </a:r>
          </a:p>
          <a:p>
            <a:r>
              <a:t>Must use (3 or more) | what matters most · stepping stone · prospects · keep options open · not a life sentence</a:t>
            </a:r>
          </a:p>
          <a:p>
            <a:r>
              <a:t>Goal | Help the graduate compare options without telling them what to do.</a:t>
            </a:r>
          </a:p>
          <a:p>
            <a:r>
              <a:t>My notes | ____________________________________________</a:t>
            </a:r>
          </a:p>
          <a:p>
            <a:r>
              <a:t>Share a mistake you made.</a:t>
            </a:r>
          </a:p>
          <a:p>
            <a:r>
              <a:t>Ask “What would you regret not trying?”</a:t>
            </a:r>
          </a:p>
          <a:p>
            <a:r>
              <a:t>Suggest talking to someone in the field.</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小组讨论：每组抽 1–2 题，准备 2 分钟后派代表发言，鼓励使用 Starters 里的句型。</a:t>
            </a:r>
          </a:p>
          <a:p>
            <a:r>
              <a:t>1. What is more important in a career: passion or pay? | “I’d say… because…”</a:t>
            </a:r>
          </a:p>
          <a:p>
            <a:r>
              <a:t>2. Is it OK to change careers several times? | “Yes, as long as… / It can be risky if…”</a:t>
            </a:r>
          </a:p>
          <a:p>
            <a:r>
              <a:t>3. How much should family influence a career choice? | “Family can be helpful, but…”</a:t>
            </a:r>
          </a:p>
          <a:p>
            <a:r>
              <a:t>4. What skills will matter most in the future? | “I think… will matter because…”</a:t>
            </a:r>
          </a:p>
          <a:p>
            <a:r>
              <a:t>5. What would you advise a young person to study? | “I’d advise them to…”</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范例回答：先请学员自己回答，再展示范例，标出可以借用的句型。</a:t>
            </a:r>
          </a:p>
          <a:p>
            <a:r>
              <a:t>“I think both matter, but at different times. When you start, you need enough pay to live on. Later, passion keeps you going. The risk with passion alone is stress about money, and the risk with pay alone is boredom. Ideally, I’d look for work that I’m good at, that interests me and that pays reasonably well.”</a:t>
            </a:r>
          </a:p>
          <a:p>
            <a:r>
              <a:t>“enough pay to live on” 足够生活的薪水;“The risk with… is…”。</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Talking about experience and plans 谈经历与计划</a:t>
            </a:r>
          </a:p>
          <a:p>
            <a:r>
              <a:t>Use | Example</a:t>
            </a:r>
          </a:p>
          <a:p>
            <a:r>
              <a:t>Present perfect (experience) | I’ve worked in sales for six years.</a:t>
            </a:r>
          </a:p>
          <a:p>
            <a:r>
              <a:t>Past simple (finished time) | I joined in 2019.</a:t>
            </a:r>
          </a:p>
          <a:p>
            <a:r>
              <a:t>I’m hoping to + verb | I’m hoping to move into management.</a:t>
            </a:r>
          </a:p>
          <a:p>
            <a:r>
              <a:t>I’d like to / I’m planning to | I’m planning to study part-time.</a:t>
            </a:r>
          </a:p>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Talking about experience and plans 谈经历与计划</a:t>
            </a:r>
          </a:p>
          <a:p>
            <a:r>
              <a:t>For + period, since + point in time: for six years, since 2019.</a:t>
            </a:r>
          </a:p>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I work in sales since 2019.  →  ✓ I’ve worked in sales since 2019.  (现在完成时)</a:t>
            </a:r>
          </a:p>
          <a:p>
            <a:r>
              <a:t>✗ I’m interesting in finance.  →  ✓ I’m interested in finance.  (interested in)</a:t>
            </a:r>
          </a:p>
          <a:p>
            <a:r>
              <a:t>✗ I’m good in English.  →  ✓ I’m good at English.  (good at)</a:t>
            </a:r>
          </a:p>
          <a:p>
            <a:r>
              <a:t>Mistake Watch: Check interested in, good at, for/since, ago, and in the future.</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I want to be a manager in future.  →  ✓ I want to become a manager in the future.  (the future)</a:t>
            </a:r>
          </a:p>
          <a:p>
            <a:r>
              <a:t>✗ I graduated from university in 2 years ago.  →  ✓ I graduated two years ago.  (ago 前不加 in)</a:t>
            </a:r>
          </a:p>
          <a:p>
            <a:r>
              <a:t>✗ My major is related with marketing.  →  ✓ My major is related to marketing.  (related to)</a:t>
            </a:r>
          </a:p>
          <a:p>
            <a:r>
              <a:t>Mistake Watch: Check interested in, good at, for/since, ago, and in the future.</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Cultural tips 文化小贴士</a:t>
            </a:r>
          </a:p>
          <a:p>
            <a:r>
              <a:t>Career paths are not linear. In the UK/US, changing fields is common and not seen as a weakness.</a:t>
            </a:r>
          </a:p>
          <a:p>
            <a:r>
              <a:t>Tell a story. “How I got here” in 3 sentences is a typical networking opener.</a:t>
            </a:r>
          </a:p>
          <a:p>
            <a:r>
              <a:t>Don’t ask about pay first. Ask about growth and learning; discuss pay later.</a:t>
            </a:r>
          </a:p>
          <a:p>
            <a:r>
              <a:t>Be positive about past employers. Never criticise them in an interview.</a:t>
            </a:r>
          </a:p>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课堂小结：请学员对每一条自评 1–3 星，选一条“还没做到”的作为课后练习目标。</a:t>
            </a:r>
          </a:p>
          <a:p>
            <a:r>
              <a:t>I can explain how I chose my career using drawn to / ended up.</a:t>
            </a:r>
          </a:p>
          <a:p>
            <a:r>
              <a:t>I can talk about plans with I’m hoping to / I aspire to.</a:t>
            </a:r>
          </a:p>
          <a:p>
            <a:r>
              <a:t>I can compare career factors (security, pay, balance).</a:t>
            </a:r>
          </a:p>
          <a:p>
            <a:r>
              <a:t>I use present perfect with for/since correctly.</a:t>
            </a:r>
          </a:p>
          <a:p>
            <a:r>
              <a:t>I can use at least three ★ expressions from this lesson in my own sentences.</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布置课后练习：每天 10 分钟，按下表完成，下节课开头抽查。</a:t>
            </a:r>
          </a:p>
          <a:p>
            <a:r>
              <a:t>Minutes | Activity</a:t>
            </a:r>
          </a:p>
          <a:p>
            <a:r>
              <a:t>0–2 | Read the 15 expressions aloud. Cover the English and say it from the Chinese. Pick 3 ★ items and make one true sentence with each.</a:t>
            </a:r>
          </a:p>
          <a:p>
            <a:r>
              <a:t>2–4 | Shadow the model dialogue: read it with the same rhythm and intonation.</a:t>
            </a:r>
          </a:p>
          <a:p>
            <a:r>
              <a:t>4–8 | Record your “career story” in 60 seconds, then add your five-year plan.</a:t>
            </a:r>
          </a:p>
          <a:p>
            <a:r>
              <a:t>8–10 | Listen to your recording. Check: for/since, interested in, good at, the future. Write 3 corrections and record again.</a:t>
            </a:r>
          </a:p>
          <a:p>
            <a:r>
              <a:t>Weekly rhythm: Mon–Tue Scenario 1 · Wed–Thu Scenario 2 · Fri Level-up variation · Weekend: do the Reading / Listening focus again without looking, then record the 1-minute speaking prompt and compare with Monday.</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Lesson 33 · Finding fulfilling work 寻找有意义的工作</a:t>
            </a:r>
          </a:p>
          <a:p>
            <a:r>
              <a:t>Goal: discuss what makes work meaningful and talk about job satisfaction, purpose and motivation.</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热身：每题请一位学员用 2–3 句话回答，点击逐题出现。积极发言的小组 +1。</a:t>
            </a:r>
          </a:p>
          <a:p>
            <a:r>
              <a:t>“fulfilling” = 有成就感的;“purpose” = 目的/意义。第 3 题 “Would you take…” 是假设句。</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一分钟挑战：给 1 分钟准备，然后每组派一人计时发言 60 秒，不停顿、不说中文即可得分。</a:t>
            </a:r>
          </a:p>
          <a:p>
            <a:r>
              <a:t>Describe the kind of work that would make you feel fulfilled.</a:t>
            </a:r>
          </a:p>
          <a:p>
            <a:r>
              <a:t>Say: what you do now → what’s missing → what a fulfilling job would offer → how to move closer.</a:t>
            </a:r>
          </a:p>
          <a:p>
            <a:r>
              <a:t>Useful starters: “What I find rewarding is…” / “I’d feel more fulfilled if…” / “It’s important to me that…” / “I’d love to…”</a:t>
            </a:r>
          </a:p>
          <a:p>
            <a:r>
              <a:t>“rewarding” = 有回报的/有意义的;“I’d feel… if…” 第二条件句。</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阅读/听力：第一遍合上文本听老师朗读，抓大意；第二遍读文本找细节，再回答问题。</a:t>
            </a:r>
          </a:p>
          <a:p>
            <a:r>
              <a:t>Surveys regularly show that salary is not the main reason people stay in a job. What keeps them there is a sense of progress, good relationships and the feeling that their work matters. Researchers often describe three ingredients of fulfilling work: autonomy, mastery and purpose. Autonomy means having some control over how you work. Mastery means getting better at something difficult. Purpose means seeing how your work helps others. You do not have to change jobs to find more of these. Some people redesign their current role, for example by taking on a project they care about or mentoring a new colleague. Small changes can make a job feel more meaningful, and they are often easier to achieve than a full career change.</a:t>
            </a:r>
          </a:p>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先让各组讨论 1 分钟，再抢答。点击一次出现答案。</a:t>
            </a:r>
          </a:p>
          <a:p>
            <a:r>
              <a:t>Q1. What are the three ingredients of fulfilling work?</a:t>
            </a:r>
          </a:p>
          <a:p>
            <a:r>
              <a:t>A: Autonomy, mastery and purpose.</a:t>
            </a:r>
          </a:p>
          <a:p>
            <a:r>
              <a:t>Q2. What does “autonomy” mean?</a:t>
            </a:r>
          </a:p>
          <a:p>
            <a:r>
              <a:t>A: Having some control over how you work.</a:t>
            </a:r>
          </a:p>
          <a:p>
            <a:r>
              <a:t>Q3. How can you find more meaning without changing jobs?</a:t>
            </a:r>
          </a:p>
          <a:p>
            <a:r>
              <a:t>A: By redesigning your role: taking on a project you care about or mentoring a colleague.</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1: Fulfilment 成就感</a:t>
            </a:r>
          </a:p>
          <a:p>
            <a:r>
              <a:t>领读 → 学员跟读 → 请学员用表达造一个和自己工作相关的句子。</a:t>
            </a:r>
          </a:p>
          <a:p>
            <a:r>
              <a:t>fulfilling / rewarding (adjective) 有成就感的 — “Teaching is a rewarding job.”</a:t>
            </a:r>
          </a:p>
          <a:p>
            <a:r>
              <a:t>a sense of purpose (noun phrase) 使命感 — “I want a sense of purpose.”</a:t>
            </a:r>
          </a:p>
          <a:p>
            <a:r>
              <a:t>job satisfaction (noun) 工作满意度 — “Job satisfaction is high here.”</a:t>
            </a:r>
          </a:p>
          <a:p>
            <a:r>
              <a:t>★ find your passion (collocation) 找到热情所在 — “She found her passion in design.”</a:t>
            </a:r>
          </a:p>
          <a:p>
            <a:r>
              <a:t>★ make a difference (idiom) 产生影响 — “I want to make a difference.”</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2: Motivation 动力</a:t>
            </a:r>
          </a:p>
          <a:p>
            <a:r>
              <a:t>领读 → 学员跟读 → 请学员用表达造一个和自己工作相关的句子。</a:t>
            </a:r>
          </a:p>
          <a:p>
            <a:r>
              <a:t>motivated / motivating (adjective) 有动力的/激励人的 — “I feel motivated when I learn.”</a:t>
            </a:r>
          </a:p>
          <a:p>
            <a:r>
              <a:t>autonomy (noun) 自主权 — “We value autonomy.”</a:t>
            </a:r>
          </a:p>
          <a:p>
            <a:r>
              <a:t>recognition (noun) 认可 — “People need recognition.”</a:t>
            </a:r>
          </a:p>
          <a:p>
            <a:r>
              <a:t>★ a sense of belonging (noun) 归属感 — “A sense of belonging keeps people.”</a:t>
            </a:r>
          </a:p>
          <a:p>
            <a:r>
              <a:t>★ go the extra mile (idiom) 额外努力 — “She always goes the extra mile.”</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3: Growth 成长</a:t>
            </a:r>
          </a:p>
          <a:p>
            <a:r>
              <a:t>领读 → 学员跟读 → 请学员用表达造一个和自己工作相关的句子。</a:t>
            </a:r>
          </a:p>
          <a:p>
            <a:r>
              <a:t>personal growth (noun) 个人成长 — “This role offers personal growth.”</a:t>
            </a:r>
          </a:p>
          <a:p>
            <a:r>
              <a:t>take on (phrasal verb) 承担 — “I took on a new project.”</a:t>
            </a:r>
          </a:p>
          <a:p>
            <a:r>
              <a:t>★ stretch assignment (noun) 挑战性任务 — “A stretch assignment helped me grow.”</a:t>
            </a:r>
          </a:p>
          <a:p>
            <a:r>
              <a:t>★ feel stuck in a rut (idiom) 一成不变 — “I feel stuck in a rut.”</a:t>
            </a:r>
          </a:p>
          <a:p>
            <a:r>
              <a:t>★ burnt out / disengaged (adjective) 倦怠/不投入 — “He felt disengaged at work.”</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抢答：老师指一张卡，各组抢答英文表达，答对 +1。点击按顺序揭晓答案。</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限时 2 分钟独立完成，然后逐题点击揭晓答案。全对的学员为小组 +1。</a:t>
            </a:r>
          </a:p>
          <a:p>
            <a:r>
              <a:t>fulfilling / purpose / satisfaction / difference / autonomy / rut</a:t>
            </a:r>
          </a:p>
          <a:p>
            <a:r>
              <a:t>1. Teaching is a very _______ job. → fulfilling</a:t>
            </a:r>
          </a:p>
          <a:p>
            <a:r>
              <a:t>2. I’m looking for a sense of _______. → purpose</a:t>
            </a:r>
          </a:p>
          <a:p>
            <a:r>
              <a:t>3. Job _______ is high in our team. → satisfaction</a:t>
            </a:r>
          </a:p>
          <a:p>
            <a:r>
              <a:t>4. I want to make a _______ in people’s lives. → difference</a:t>
            </a:r>
          </a:p>
          <a:p>
            <a:r>
              <a:t>5. We value _______ and trust our staff. → autonomy</a:t>
            </a:r>
          </a:p>
          <a:p>
            <a:r>
              <a:t>6. I feel stuck in a _______. → rut</a:t>
            </a:r>
          </a:p>
          <a:p>
            <a:r>
              <a:t>Mistake Watch: (词性) motivated(人) vs motivating(事物), fulfilled(人) vs fulfilling(工作)。</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Talking to a mentor 与导师交流</a:t>
            </a:r>
          </a:p>
          <a:p>
            <a:r>
              <a:t>情景：You feel something is missing at work.</a:t>
            </a:r>
          </a:p>
          <a:p>
            <a:r>
              <a:t>Role A: Mentor Role B: You</a:t>
            </a:r>
          </a:p>
          <a:p>
            <a:r>
              <a:t>先师生示范一遍，再两人一组练习，最后请 1–2 组上台表演，表现最好的组 +2。</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How’s work going?</a:t>
            </a:r>
          </a:p>
          <a:p>
            <a:r>
              <a:t>B: Fine on paper, but I feel stuck in a rut. Nothing feels fulfilling.</a:t>
            </a:r>
          </a:p>
          <a:p>
            <a:r>
              <a:t>A: What would make it feel more rewarding?</a:t>
            </a:r>
          </a:p>
          <a:p>
            <a:r>
              <a:t>B: I’d like to make a difference, and to have more say in how I work.</a:t>
            </a:r>
          </a:p>
          <a:p>
            <a:r>
              <a:t>A: Could you take on a project that matters to you?</a:t>
            </a:r>
          </a:p>
          <a:p>
            <a:r>
              <a:t>B: Maybe. There’s a customer experience project I’m interested in.</a:t>
            </a:r>
          </a:p>
          <a:p>
            <a:r>
              <a:t>A: Then ask your manager. Show how it helps the team.</a:t>
            </a:r>
          </a:p>
          <a:p>
            <a:r>
              <a:t>B: Good idea. I’ll set up a meeting.</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学员两人一组，按角色卡即兴对话 3 分钟（不看范文）。完成后挑战进阶版任务，挑战成功 +2。</a:t>
            </a:r>
          </a:p>
          <a:p>
            <a:r>
              <a:t>Role card 3 | </a:t>
            </a:r>
          </a:p>
          <a:p>
            <a:r>
              <a:t>Situation | You talk about what’s missing at work.</a:t>
            </a:r>
          </a:p>
          <a:p>
            <a:r>
              <a:t>Your role (A) | Mentor.</a:t>
            </a:r>
          </a:p>
          <a:p>
            <a:r>
              <a:t>Partner’s role (B) | Employee. Feeling: ______________</a:t>
            </a:r>
          </a:p>
          <a:p>
            <a:r>
              <a:t>Must use (3 or more) | stuck in a rut · rewarding · make a difference · take on · sense of purpose</a:t>
            </a:r>
          </a:p>
          <a:p>
            <a:r>
              <a:t>Goal | Explain what’s missing, what you’d like and one concrete step.</a:t>
            </a:r>
          </a:p>
          <a:p>
            <a:r>
              <a:t>My notes | ____________________________________________</a:t>
            </a:r>
          </a:p>
          <a:p>
            <a:r>
              <a:t>Say what you’d miss if you left.</a:t>
            </a:r>
          </a:p>
          <a:p>
            <a:r>
              <a:t>Give a concrete example of a good day.</a:t>
            </a:r>
          </a:p>
          <a:p>
            <a:r>
              <a:t>Mention a worry about asking.</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job satisfaction chat 工作满意度谈话</a:t>
            </a:r>
          </a:p>
          <a:p>
            <a:r>
              <a:t>情景：A manager asks about your motivation.</a:t>
            </a:r>
          </a:p>
          <a:p>
            <a:r>
              <a:t>Role A: Manager Role B: Employee</a:t>
            </a:r>
          </a:p>
          <a:p>
            <a:r>
              <a:t>先师生示范一遍，再两人一组练习，最后请 1–2 组上台表演，表现最好的组 +2。</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I’d like to hear how you feel about your role. What motivates you?</a:t>
            </a:r>
          </a:p>
          <a:p>
            <a:r>
              <a:t>B: Learning new things, and recognition when I do well.</a:t>
            </a:r>
          </a:p>
          <a:p>
            <a:r>
              <a:t>A: And what takes away your motivation?</a:t>
            </a:r>
          </a:p>
          <a:p>
            <a:r>
              <a:t>B: Repetitive tasks with no clear purpose.</a:t>
            </a:r>
          </a:p>
          <a:p>
            <a:r>
              <a:t>A: I see. Would a stretch assignment help?</a:t>
            </a:r>
          </a:p>
          <a:p>
            <a:r>
              <a:t>B: Definitely. I’m happy to go the extra mile if I can learn.</a:t>
            </a:r>
          </a:p>
          <a:p>
            <a:r>
              <a:t>A: Let’s find one for next quarter.</a:t>
            </a:r>
          </a:p>
          <a:p>
            <a:r>
              <a:t>B: Thank you. That means a lot.</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学员两人一组，按角色卡即兴对话 3 分钟（不看范文）。完成后挑战进阶版任务，挑战成功 +2。</a:t>
            </a:r>
          </a:p>
          <a:p>
            <a:r>
              <a:t>Role card 4 | </a:t>
            </a:r>
          </a:p>
          <a:p>
            <a:r>
              <a:t>Situation | You discuss motivation with your manager.</a:t>
            </a:r>
          </a:p>
          <a:p>
            <a:r>
              <a:t>Your role (A) | Manager.</a:t>
            </a:r>
          </a:p>
          <a:p>
            <a:r>
              <a:t>Partner’s role (B) | Employee. Motivators: ______________</a:t>
            </a:r>
          </a:p>
          <a:p>
            <a:r>
              <a:t>Must use (3 or more) | motivates me · recognition · stretch assignment · go the extra mile · personal growth</a:t>
            </a:r>
          </a:p>
          <a:p>
            <a:r>
              <a:t>Goal | Describe what motivates you and what discourages you, and agree on one action.</a:t>
            </a:r>
          </a:p>
          <a:p>
            <a:r>
              <a:t>My notes | ____________________________________________</a:t>
            </a:r>
          </a:p>
          <a:p>
            <a:r>
              <a:t>Mention autonomy.</a:t>
            </a:r>
          </a:p>
          <a:p>
            <a:r>
              <a:t>Raise a concern respectfully.</a:t>
            </a:r>
          </a:p>
          <a:p>
            <a:r>
              <a:t>Ask for feedback on your development.</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小组讨论：每组抽 1–2 题，准备 2 分钟后派代表发言，鼓励使用 Starters 里的句型。</a:t>
            </a:r>
          </a:p>
          <a:p>
            <a:r>
              <a:t>1. Is it realistic to expect work to be fulfilling? | “Ideally, but… / It depends on…”</a:t>
            </a:r>
          </a:p>
          <a:p>
            <a:r>
              <a:t>2. What do you find rewarding about your job? | “What I find rewarding is…”</a:t>
            </a:r>
          </a:p>
          <a:p>
            <a:r>
              <a:t>3. Can money buy job satisfaction? | “Only up to a point.”</a:t>
            </a:r>
          </a:p>
          <a:p>
            <a:r>
              <a:t>4. How can managers make work more meaningful? | “They could… / By…”</a:t>
            </a:r>
          </a:p>
          <a:p>
            <a:r>
              <a:t>5. Would you do your job if you didn’t need money? | “I’d probably… because…”</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范例回答：先请学员自己回答，再展示范例，标出可以借用的句型。</a:t>
            </a:r>
          </a:p>
          <a:p>
            <a:r>
              <a:t>“Money can reduce stress, but I don’t think it buys satisfaction. Research shows pay matters up to a point, and then things like respect, autonomy and meaning matter more. I have seen well-paid people leave jobs because they felt unappreciated. So money may attract people, but it doesn’t always keep them.”</a:t>
            </a:r>
          </a:p>
          <a:p>
            <a:r>
              <a:t>“up to a point” = 在一定程度上;“unappreciated” 未被赏识。</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Wishes and hypotheticals 愿望与假设</a:t>
            </a:r>
          </a:p>
          <a:p>
            <a:r>
              <a:t>Structure | Example</a:t>
            </a:r>
          </a:p>
          <a:p>
            <a:r>
              <a:t>I wish + past | I wish I had more say. / I wish I could choose.</a:t>
            </a:r>
          </a:p>
          <a:p>
            <a:r>
              <a:t>If + past, would + verb | If I had more autonomy, I’d feel happier.</a:t>
            </a:r>
          </a:p>
          <a:p>
            <a:r>
              <a:t>I’d rather + verb | I’d rather learn than earn more.</a:t>
            </a:r>
          </a:p>
          <a:p>
            <a:r>
              <a:t>I’d like to + verb | I’d like to work on bigger projects.</a:t>
            </a:r>
          </a:p>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Wishes and hypotheticals 愿望与假设</a:t>
            </a:r>
          </a:p>
          <a:p>
            <a:r>
              <a:t>After I wish, use the past for present wishes: I wish I knew, I wish I had more time.</a:t>
            </a:r>
          </a:p>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I am motivating at work.  →  ✓ I am motivated at work.  (motivated 表感受)</a:t>
            </a:r>
          </a:p>
          <a:p>
            <a:r>
              <a:t>✗ The job is very bored.  →  ✓ The job is very boring.  (-ing 形容事物)</a:t>
            </a:r>
          </a:p>
          <a:p>
            <a:r>
              <a:t>✗ I wish I have more time.  →  ✓ I wish I had more time.  (wish + 过去式)</a:t>
            </a:r>
          </a:p>
          <a:p>
            <a:r>
              <a:t>Mistake Watch: Check -ed vs -ing adjectives, wish + past, conditionals, and a sense of purpose.</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If I will change jobs, I will be happier.  →  ✓ If I changed jobs, I’d be happier. / If I change… I’ll…  (条件句)</a:t>
            </a:r>
          </a:p>
          <a:p>
            <a:r>
              <a:t>✗ I feel sense of purpose.  →  ✓ I feel a sense of purpose.  (a sense of)</a:t>
            </a:r>
          </a:p>
          <a:p>
            <a:r>
              <a:t>✗ It’s meaningful to me do this.  →  ✓ It’s meaningful to me. / I find it meaningful.  (句式)</a:t>
            </a:r>
          </a:p>
          <a:p>
            <a:r>
              <a:t>Mistake Watch: Check -ed vs -ing adjectives, wish + past, conditionals, and a sense of purpose.</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Cultural tips 文化小贴士</a:t>
            </a:r>
          </a:p>
          <a:p>
            <a:r>
              <a:t>Talk about purpose openly. Western companies often include “purpose” in interviews.</a:t>
            </a:r>
          </a:p>
          <a:p>
            <a:r>
              <a:t>Don’t equate fulfilment with a “dream job”. Many people build it in small steps.</a:t>
            </a:r>
          </a:p>
          <a:p>
            <a:r>
              <a:t>Say what you need. Managers can’t guess; “I’d like more responsibility” is normal.</a:t>
            </a:r>
          </a:p>
          <a:p>
            <a:r>
              <a:t>Gratitude counts. Thanking people is part of recognition.</a:t>
            </a:r>
          </a:p>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课堂小结：请学员对每一条自评 1–3 星，选一条“还没做到”的作为课后练习目标。</a:t>
            </a:r>
          </a:p>
          <a:p>
            <a:r>
              <a:t>I can say what makes work fulfilling using rewarding / a sense of purpose.</a:t>
            </a:r>
          </a:p>
          <a:p>
            <a:r>
              <a:t>I can describe my motivation and what discourages me.</a:t>
            </a:r>
          </a:p>
          <a:p>
            <a:r>
              <a:t>I can use wish + past and second conditional.</a:t>
            </a:r>
          </a:p>
          <a:p>
            <a:r>
              <a:t>I use motivated / motivating correctly.</a:t>
            </a:r>
          </a:p>
          <a:p>
            <a:r>
              <a:t>I can use at least three ★ expressions from this lesson in my own sentences.</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布置课后练习：每天 10 分钟，按下表完成，下节课开头抽查。</a:t>
            </a:r>
          </a:p>
          <a:p>
            <a:r>
              <a:t>Minutes | Activity</a:t>
            </a:r>
          </a:p>
          <a:p>
            <a:r>
              <a:t>0–2 | Read the 15 expressions aloud. Cover the English and say it from the Chinese. Pick 3 ★ items and make one true sentence with each.</a:t>
            </a:r>
          </a:p>
          <a:p>
            <a:r>
              <a:t>2–4 | Shadow the model dialogue: read it with the same rhythm and intonation.</a:t>
            </a:r>
          </a:p>
          <a:p>
            <a:r>
              <a:t>4–8 | Describe your ideal day at work in 60 seconds.</a:t>
            </a:r>
          </a:p>
          <a:p>
            <a:r>
              <a:t>8–10 | Listen to your recording. Check: -ed/-ing adjectives, wish + past, second conditional. Write 3 corrections and record again.</a:t>
            </a:r>
          </a:p>
          <a:p>
            <a:r>
              <a:t>Weekly rhythm: Mon–Tue Scenario 1 · Wed–Thu Scenario 2 · Fri Level-up variation · Weekend: do the Reading / Listening focus again without looking, then record the 1-minute speaking prompt and compare with Monday.</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Lesson 34 · How unconscious bias affects hiring 无意识偏见如何影响招聘</a:t>
            </a:r>
          </a:p>
          <a:p>
            <a:r>
              <a:t>Goal: talk about unconscious bias in hiring, give examples and suggest fair practices in a tactful way.</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热身：每题请一位学员用 2–3 句话回答，点击逐题出现。积极发言的小组 +1。</a:t>
            </a:r>
          </a:p>
          <a:p>
            <a:r>
              <a:t>“bias” = 偏见;“unconscious” = 无意识的。谈敏感话题时多用 can / may / tend to,避免绝对化。</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一分钟挑战：给 1 分钟准备，然后每组派一人计时发言 60 秒，不停顿、不说中文即可得分。</a:t>
            </a:r>
          </a:p>
          <a:p>
            <a:r>
              <a:t>Explain what unconscious bias is and give one way to reduce it in hiring.</a:t>
            </a:r>
          </a:p>
          <a:p>
            <a:r>
              <a:t>Say: define bias → give an example → explain the effect → suggest a solution.</a:t>
            </a:r>
          </a:p>
          <a:p>
            <a:r>
              <a:t>Useful starters: “Unconscious bias is…” / “For example, …” / “This can lead to…” / “One way to reduce it is to…”</a:t>
            </a:r>
          </a:p>
          <a:p>
            <a:r>
              <a:t>“reduce” 后接名词;“One way to + 动词原形” 提方案。</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阅读/听力：第一遍合上文本听老师朗读，抓大意；第二遍读文本找细节，再回答问题。</a:t>
            </a:r>
          </a:p>
          <a:p>
            <a:r>
              <a:t>Unconscious bias means automatic preferences that affect decisions without our noticing. In hiring, it can appear in small ways. A recruiter may favour someone from the same university, or think a candidate “feels right” because they share hobbies. Others may judge a name, an accent or a gap on a CV before they read the qualifications. Individually these reactions seem small, but together they can shape who gets an interview. Many companies try to reduce the problem. They use structured interviews, where every candidate answers the same questions, and score answers against clear criteria. Some remove names and photos from CVs in the first round. None of this is perfect, but it makes decisions more consistent and easier to explain. Awareness is the first step, not the last.</a:t>
            </a:r>
          </a:p>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先让各组讨论 1 分钟，再抢答。点击一次出现答案。</a:t>
            </a:r>
          </a:p>
          <a:p>
            <a:r>
              <a:t>Q1. What is unconscious bias?</a:t>
            </a:r>
          </a:p>
          <a:p>
            <a:r>
              <a:t>A: Automatic preferences that affect decisions without us noticing.</a:t>
            </a:r>
          </a:p>
          <a:p>
            <a:r>
              <a:t>Q2. Give two examples of bias mentioned.</a:t>
            </a:r>
          </a:p>
          <a:p>
            <a:r>
              <a:t>A: Favouring the same university; judging names, accents or CV gaps.</a:t>
            </a:r>
          </a:p>
          <a:p>
            <a:r>
              <a:t>Q3. What do structured interviews do?</a:t>
            </a:r>
          </a:p>
          <a:p>
            <a:r>
              <a:t>A: Every candidate answers the same questions and is scored against clear criteria.</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1: Bias 偏见</a:t>
            </a:r>
          </a:p>
          <a:p>
            <a:r>
              <a:t>领读 → 学员跟读 → 请学员用表达造一个和自己工作相关的句子。</a:t>
            </a:r>
          </a:p>
          <a:p>
            <a:r>
              <a:t>unconscious bias (noun) 无意识偏见 — “Unconscious bias can affect interviews.”</a:t>
            </a:r>
          </a:p>
          <a:p>
            <a:r>
              <a:t>first impression (noun) 第一印象 — “First impressions often last.”</a:t>
            </a:r>
          </a:p>
          <a:p>
            <a:r>
              <a:t>stereotype (noun/verb) 刻板印象 — “Don’t stereotype candidates.”</a:t>
            </a:r>
          </a:p>
          <a:p>
            <a:r>
              <a:t>★ gut reaction (noun) 直觉反应 — “He had a gut reaction to her accent.”</a:t>
            </a:r>
          </a:p>
          <a:p>
            <a:r>
              <a:t>★ affinity bias (noun) 亲和偏见(偏爱相似者) — “Affinity bias favours people like us.”</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2: Fair hiring 公平招聘</a:t>
            </a:r>
          </a:p>
          <a:p>
            <a:r>
              <a:t>领读 → 学员跟读 → 请学员用表达造一个和自己工作相关的句子。</a:t>
            </a:r>
          </a:p>
          <a:p>
            <a:r>
              <a:t>structured interview (noun) 结构化面试 — “We use structured interviews.”</a:t>
            </a:r>
          </a:p>
          <a:p>
            <a:r>
              <a:t>diverse / diversity (adjective/noun) 多元的 — “We want a diverse team.”</a:t>
            </a:r>
          </a:p>
          <a:p>
            <a:r>
              <a:t>level playing field (idiom) 公平竞争环境 — “We need a level playing field.”</a:t>
            </a:r>
          </a:p>
          <a:p>
            <a:r>
              <a:t>★ blind recruitment (noun) 匿名招聘 — “Blind recruitment hides names.”</a:t>
            </a:r>
          </a:p>
          <a:p>
            <a:r>
              <a:t>★ screen out (phrasal verb) 筛除 — “Don’t screen out people unfairly.”</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3: Describing effects 描述影响</a:t>
            </a:r>
          </a:p>
          <a:p>
            <a:r>
              <a:t>领读 → 学员跟读 → 请学员用表达造一个和自己工作相关的句子。</a:t>
            </a:r>
          </a:p>
          <a:p>
            <a:r>
              <a:t>affect / influence (verb) 影响 — “Bias can influence decisions.”</a:t>
            </a:r>
          </a:p>
          <a:p>
            <a:r>
              <a:t>lead to (verb phrase) 导致 — “It can lead to unfair outcomes.”</a:t>
            </a:r>
          </a:p>
          <a:p>
            <a:r>
              <a:t>★ perpetuate (verb) 使延续 — “This perpetuates inequality.”</a:t>
            </a:r>
          </a:p>
          <a:p>
            <a:r>
              <a:t>★ be aware of (phrase) 意识到 — “We should be aware of our biases.”</a:t>
            </a:r>
          </a:p>
          <a:p>
            <a:r>
              <a:t>★ challenge assumptions (collocation) 质疑假设 — “We need to challenge our assumptions.”</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抢答：老师指一张卡，各组抢答英文表达，答对 +1。点击按顺序揭晓答案。</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限时 2 分钟独立完成，然后逐题点击揭晓答案。全对的学员为小组 +1。</a:t>
            </a:r>
          </a:p>
          <a:p>
            <a:r>
              <a:t>unconscious / impression / stereotype / structured / diverse / playing</a:t>
            </a:r>
          </a:p>
          <a:p>
            <a:r>
              <a:t>1. _______ bias can affect interviews. → Unconscious</a:t>
            </a:r>
          </a:p>
          <a:p>
            <a:r>
              <a:t>2. First _______ often last. → impressions</a:t>
            </a:r>
          </a:p>
          <a:p>
            <a:r>
              <a:t>3. We should not _______ candidates. → stereotype</a:t>
            </a:r>
          </a:p>
          <a:p>
            <a:r>
              <a:t>4. We use _______ interviews with the same questions. → structured</a:t>
            </a:r>
          </a:p>
          <a:p>
            <a:r>
              <a:t>5. We want a _______ team. → diverse</a:t>
            </a:r>
          </a:p>
          <a:p>
            <a:r>
              <a:t>6. We need a level _______ field. → playing</a:t>
            </a:r>
          </a:p>
          <a:p>
            <a:r>
              <a:t>Mistake Watch: (拼写与词性) bias 可作名词, biased(形容词)“a biased decision”;diverse(形)、diversity(名)。</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Raising awareness in a meeting 在会议上提出偏见问题</a:t>
            </a:r>
          </a:p>
          <a:p>
            <a:r>
              <a:t>情景：You suggest changes to a shortlist process.</a:t>
            </a:r>
          </a:p>
          <a:p>
            <a:r>
              <a:t>Role A: HR manager Role B: Recruiter</a:t>
            </a:r>
          </a:p>
          <a:p>
            <a:r>
              <a:t>先师生示范一遍，再两人一组练习，最后请 1–2 组上台表演，表现最好的组 +2。</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I wanted to raise something about our shortlist. Most candidates come from the same three universities.</a:t>
            </a:r>
          </a:p>
          <a:p>
            <a:r>
              <a:t>B: Do you think that’s bias?</a:t>
            </a:r>
          </a:p>
          <a:p>
            <a:r>
              <a:t>A: It might be. Unconscious bias can lead to us favouring people like ourselves.</a:t>
            </a:r>
          </a:p>
          <a:p>
            <a:r>
              <a:t>B: That’s a fair point. What can we do about it?</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One way to reduce it is to use structured interviews and score everyone against the same criteria.</a:t>
            </a:r>
          </a:p>
          <a:p>
            <a:r>
              <a:t>B: And the CVs?</a:t>
            </a:r>
          </a:p>
          <a:p>
            <a:r>
              <a:t>A: We could try blind recruitment for the first round.</a:t>
            </a:r>
          </a:p>
          <a:p>
            <a:r>
              <a:t>B: Let’s pilot it for one role.</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学员两人一组，按角色卡即兴对话 3 分钟（不看范文）。完成后挑战进阶版任务，挑战成功 +2。</a:t>
            </a:r>
          </a:p>
          <a:p>
            <a:r>
              <a:t>Role card 5 | </a:t>
            </a:r>
          </a:p>
          <a:p>
            <a:r>
              <a:t>Situation | You suggest a fairer process.</a:t>
            </a:r>
          </a:p>
          <a:p>
            <a:r>
              <a:t>Your role (A) | HR manager. Concern: ______________</a:t>
            </a:r>
          </a:p>
          <a:p>
            <a:r>
              <a:t>Partner’s role (B) | Recruiter.</a:t>
            </a:r>
          </a:p>
          <a:p>
            <a:r>
              <a:t>Must use (3 or more) | unconscious bias · It might be · One way to reduce it is… · structured interviews · pilot</a:t>
            </a:r>
          </a:p>
          <a:p>
            <a:r>
              <a:t>Goal | Raise the concern tactfully and propose one change.</a:t>
            </a:r>
          </a:p>
          <a:p>
            <a:r>
              <a:t>My notes | ____________________________________________</a:t>
            </a:r>
          </a:p>
          <a:p>
            <a:r>
              <a:t>Use hedging: “I may be wrong, but…”</a:t>
            </a:r>
          </a:p>
          <a:p>
            <a:r>
              <a:t>Give evidence (numbers).</a:t>
            </a:r>
          </a:p>
          <a:p>
            <a:r>
              <a:t>Handle a colleague who says “we hire the best”.</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Discussing a candidate fairly 公平地讨论候选人</a:t>
            </a:r>
          </a:p>
          <a:p>
            <a:r>
              <a:t>情景：After an interview, two interviewers compare notes.</a:t>
            </a:r>
          </a:p>
          <a:p>
            <a:r>
              <a:t>Role A: Interviewer 1 Role B: Interviewer 2</a:t>
            </a:r>
          </a:p>
          <a:p>
            <a:r>
              <a:t>先师生示范一遍，再两人一组练习，最后请 1–2 组上台表演，表现最好的组 +2。</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I liked her, she was easy to talk to.</a:t>
            </a:r>
          </a:p>
          <a:p>
            <a:r>
              <a:t>B: Careful. Is that a gut reaction? Let’s check our scores.</a:t>
            </a:r>
          </a:p>
          <a:p>
            <a:r>
              <a:t>A: You’re right. On the criteria, she scored three out of five.</a:t>
            </a:r>
          </a:p>
          <a:p>
            <a:r>
              <a:t>B: And the other candidate scored four. Did he answer the questions better?</a:t>
            </a:r>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Yes, with more specific examples.</a:t>
            </a:r>
          </a:p>
          <a:p>
            <a:r>
              <a:t>B: Then the evidence points to him.</a:t>
            </a:r>
          </a:p>
          <a:p>
            <a:r>
              <a:t>A: I see. I should challenge my assumptions.</a:t>
            </a:r>
          </a:p>
          <a:p>
            <a:r>
              <a:t>B: We all should. That’s why we have criteria.</a:t>
            </a:r>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学员两人一组，按角色卡即兴对话 3 分钟（不看范文）。完成后挑战进阶版任务，挑战成功 +2。</a:t>
            </a:r>
          </a:p>
          <a:p>
            <a:r>
              <a:t>Role card 6 | </a:t>
            </a:r>
          </a:p>
          <a:p>
            <a:r>
              <a:t>Situation | You check a decision for bias.</a:t>
            </a:r>
          </a:p>
          <a:p>
            <a:r>
              <a:t>Your role (A) | Interviewer who liked a candidate.</a:t>
            </a:r>
          </a:p>
          <a:p>
            <a:r>
              <a:t>Partner’s role (B) | Interviewer who checks. Candidates: ______________</a:t>
            </a:r>
          </a:p>
          <a:p>
            <a:r>
              <a:t>Must use (3 or more) | gut reaction · criteria · challenge assumptions · evidence · first impression</a:t>
            </a:r>
          </a:p>
          <a:p>
            <a:r>
              <a:t>Goal | Separate feelings from evidence and decide fairly.</a:t>
            </a:r>
          </a:p>
          <a:p>
            <a:r>
              <a:t>My notes | ____________________________________________</a:t>
            </a:r>
          </a:p>
          <a:p>
            <a:r>
              <a:t>Mention affinity bias.</a:t>
            </a:r>
          </a:p>
          <a:p>
            <a:r>
              <a:t>Suggest a third opinion.</a:t>
            </a:r>
          </a:p>
          <a:p>
            <a:r>
              <a:t>Write a short justification.</a:t>
            </a:r>
          </a:p>
        </p:txBody>
      </p:sp>
      <p:sp>
        <p:nvSpPr>
          <p:cNvPr id="4" name="Slide Number Placeholder 3"/>
          <p:cNvSpPr>
            <a:spLocks noGrp="1"/>
          </p:cNvSpPr>
          <p:nvPr>
            <p:ph type="sldNum" idx="5" sz="quarter"/>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小组讨论：每组抽 1–2 题，准备 2 分钟后派代表发言，鼓励使用 Starters 里的句型。</a:t>
            </a:r>
          </a:p>
          <a:p>
            <a:r>
              <a:t>1. Can bias ever be fully removed? | “Probably not, but…”</a:t>
            </a:r>
          </a:p>
          <a:p>
            <a:r>
              <a:t>2. Do you think CV photos should be banned? | “I think they… because…”</a:t>
            </a:r>
          </a:p>
          <a:p>
            <a:r>
              <a:t>3. How can candidates handle bias in interviews? | “They could… / It might help to…”</a:t>
            </a:r>
          </a:p>
          <a:p>
            <a:r>
              <a:t>4. Why is diversity good for companies? | “Because different people…”</a:t>
            </a:r>
          </a:p>
          <a:p>
            <a:r>
              <a:t>5. Who is responsible for reducing bias? | “Everyone, but especially…”</a:t>
            </a:r>
          </a:p>
        </p:txBody>
      </p:sp>
      <p:sp>
        <p:nvSpPr>
          <p:cNvPr id="4" name="Slide Number Placeholder 3"/>
          <p:cNvSpPr>
            <a:spLocks noGrp="1"/>
          </p:cNvSpPr>
          <p:nvPr>
            <p:ph type="sldNum" idx="5" sz="quarter"/>
          </p:nvPr>
        </p:nvSpPr>
        <p:spPr/>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范例回答：先请学员自己回答，再展示范例，标出可以借用的句型。</a:t>
            </a:r>
          </a:p>
          <a:p>
            <a:r>
              <a:t>“I don’t think bias can be completely removed because it’s part of how our brains work. But I believe it can be reduced. If companies use structured interviews, clear criteria and diverse panels, decisions become more consistent. It also helps to be aware of our own habits. The goal isn’t perfection. It’s fairer decisions.”</a:t>
            </a:r>
          </a:p>
          <a:p>
            <a:r>
              <a:t>“part of how our brains work” 大脑运作方式的一部分;“The goal isn’t… It’s…” 对比强调。</a:t>
            </a:r>
          </a:p>
        </p:txBody>
      </p:sp>
      <p:sp>
        <p:nvSpPr>
          <p:cNvPr id="4" name="Slide Number Placeholder 3"/>
          <p:cNvSpPr>
            <a:spLocks noGrp="1"/>
          </p:cNvSpPr>
          <p:nvPr>
            <p:ph type="sldNum" idx="5" sz="quarter"/>
          </p:nvPr>
        </p:nvSpPr>
        <p:spPr/>
      </p:sp>
    </p:spTree>
  </p:cSld>
  <p:clrMapOvr>
    <a:masterClrMapping/>
  </p:clrMapOvr>
</p:notes>
</file>

<file path=ppt/notesSlides/notesSlide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Discussing sensitive topics tactfully 谈敏感话题</a:t>
            </a:r>
          </a:p>
          <a:p>
            <a:r>
              <a:t>Too strong | More tactful</a:t>
            </a:r>
          </a:p>
          <a:p>
            <a:r>
              <a:t>You are biased. | There may be some bias in the process.</a:t>
            </a:r>
          </a:p>
          <a:p>
            <a:r>
              <a:t>Managers are unfair. | Decisions can sometimes feel unfair.</a:t>
            </a:r>
          </a:p>
          <a:p>
            <a:r>
              <a:t>Women are better at… | Some people tend to…</a:t>
            </a:r>
          </a:p>
          <a:p>
            <a:r>
              <a:t>That’s discrimination! | That could raise concerns about fairness.</a:t>
            </a:r>
          </a:p>
          <a:p/>
        </p:txBody>
      </p:sp>
      <p:sp>
        <p:nvSpPr>
          <p:cNvPr id="4" name="Slide Number Placeholder 3"/>
          <p:cNvSpPr>
            <a:spLocks noGrp="1"/>
          </p:cNvSpPr>
          <p:nvPr>
            <p:ph type="sldNum" idx="5" sz="quarter"/>
          </p:nvPr>
        </p:nvSpPr>
        <p:spPr/>
      </p:sp>
    </p:spTree>
  </p:cSld>
  <p:clrMapOvr>
    <a:masterClrMapping/>
  </p:clrMapOvr>
</p:notes>
</file>

<file path=ppt/notesSlides/notesSlide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Discussing sensitive topics tactfully 谈敏感话题</a:t>
            </a:r>
          </a:p>
          <a:p>
            <a:r>
              <a:t>Use modals (can, may, might, could) and tend to to avoid generalising.</a:t>
            </a:r>
          </a:p>
          <a:p/>
        </p:txBody>
      </p:sp>
      <p:sp>
        <p:nvSpPr>
          <p:cNvPr id="4" name="Slide Number Placeholder 3"/>
          <p:cNvSpPr>
            <a:spLocks noGrp="1"/>
          </p:cNvSpPr>
          <p:nvPr>
            <p:ph type="sldNum" idx="5" sz="quarter"/>
          </p:nvPr>
        </p:nvSpPr>
        <p:spPr/>
      </p:sp>
    </p:spTree>
  </p:cSld>
  <p:clrMapOvr>
    <a:masterClrMapping/>
  </p:clrMapOvr>
</p:notes>
</file>

<file path=ppt/notesSlides/notesSlide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The bias is affect hiring.  →  ✓ Bias affects hiring.  (动词形式)</a:t>
            </a:r>
          </a:p>
          <a:p>
            <a:r>
              <a:t>✗ It can lead to the unfair.  →  ✓ It can lead to unfairness. / unfair outcomes.  (名词)</a:t>
            </a:r>
          </a:p>
          <a:p>
            <a:r>
              <a:t>✗ Old people are not good at technology.  →  ✓ Some older people may find technology harder.  (避免刻板)</a:t>
            </a:r>
          </a:p>
          <a:p>
            <a:r>
              <a:t>Mistake Watch: Check affect (verb) vs effect (noun), aware of, everyone + singular, and avoid generalisations.</a:t>
            </a:r>
          </a:p>
        </p:txBody>
      </p:sp>
      <p:sp>
        <p:nvSpPr>
          <p:cNvPr id="4" name="Slide Number Placeholder 3"/>
          <p:cNvSpPr>
            <a:spLocks noGrp="1"/>
          </p:cNvSpPr>
          <p:nvPr>
            <p:ph type="sldNum" idx="5" sz="quarter"/>
          </p:nvPr>
        </p:nvSpPr>
        <p:spPr/>
      </p:sp>
    </p:spTree>
  </p:cSld>
  <p:clrMapOvr>
    <a:masterClrMapping/>
  </p:clrMapOvr>
</p:notes>
</file>

<file path=ppt/notesSlides/notesSlide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We should be aware about it.  →  ✓ We should be aware of it.  (aware of)</a:t>
            </a:r>
          </a:p>
          <a:p>
            <a:r>
              <a:t>✗ Everyone have bias.  →  ✓ Everyone has a bias. / Everybody is biased.  (everyone + 单数)</a:t>
            </a:r>
          </a:p>
          <a:p>
            <a:r>
              <a:t>✗ A fair hiring is important.  →  ✓ Fair hiring is important.  (不可数)</a:t>
            </a:r>
          </a:p>
          <a:p>
            <a:r>
              <a:t>Mistake Watch: Check affect (verb) vs effect (noun), aware of, everyone + singular, and avoid generalisations.</a:t>
            </a:r>
          </a:p>
        </p:txBody>
      </p:sp>
      <p:sp>
        <p:nvSpPr>
          <p:cNvPr id="4" name="Slide Number Placeholder 3"/>
          <p:cNvSpPr>
            <a:spLocks noGrp="1"/>
          </p:cNvSpPr>
          <p:nvPr>
            <p:ph type="sldNum" idx="5" sz="quarter"/>
          </p:nvPr>
        </p:nvSpPr>
        <p:spPr/>
      </p:sp>
    </p:spTree>
  </p:cSld>
  <p:clrMapOvr>
    <a:masterClrMapping/>
  </p:clrMapOvr>
</p:notes>
</file>

<file path=ppt/notesSlides/notesSlide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Cultural tips 文化小贴士</a:t>
            </a:r>
          </a:p>
          <a:p>
            <a:r>
              <a:t>Be careful with personal topics. In Western workplaces, age, marital status and religion can’t be used in hiring.</a:t>
            </a:r>
          </a:p>
          <a:p>
            <a:r>
              <a:t>Use “people” language. “People with gaps in CVs” rather than “women who had children”.</a:t>
            </a:r>
          </a:p>
          <a:p>
            <a:r>
              <a:t>Evidence-based decisions. Interviewers are asked to justify scores in writing.</a:t>
            </a:r>
          </a:p>
          <a:p>
            <a:r>
              <a:t>Discuss bias as a process issue. Not “you are biased” but “our process can allow bias”.</a:t>
            </a:r>
          </a:p>
          <a:p/>
        </p:txBody>
      </p:sp>
      <p:sp>
        <p:nvSpPr>
          <p:cNvPr id="4" name="Slide Number Placeholder 3"/>
          <p:cNvSpPr>
            <a:spLocks noGrp="1"/>
          </p:cNvSpPr>
          <p:nvPr>
            <p:ph type="sldNum" idx="5" sz="quarter"/>
          </p:nvPr>
        </p:nvSpPr>
        <p:spPr/>
      </p:sp>
    </p:spTree>
  </p:cSld>
  <p:clrMapOvr>
    <a:masterClrMapping/>
  </p:clrMapOvr>
</p:notes>
</file>

<file path=ppt/notesSlides/notesSlide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课堂小结：请学员对每一条自评 1–3 星，选一条“还没做到”的作为课后练习目标。</a:t>
            </a:r>
          </a:p>
          <a:p>
            <a:r>
              <a:t>I can explain unconscious bias and give an example.</a:t>
            </a:r>
          </a:p>
          <a:p>
            <a:r>
              <a:t>I can propose a fairer hiring process.</a:t>
            </a:r>
          </a:p>
          <a:p>
            <a:r>
              <a:t>I can discuss sensitive topics with hedging.</a:t>
            </a:r>
          </a:p>
          <a:p>
            <a:r>
              <a:t>I use affect (verb), aware of and everyone + singular correctly.</a:t>
            </a:r>
          </a:p>
          <a:p>
            <a:r>
              <a:t>I can use at least three ★ expressions from this lesson in my own sentences.</a:t>
            </a:r>
          </a:p>
        </p:txBody>
      </p:sp>
      <p:sp>
        <p:nvSpPr>
          <p:cNvPr id="4" name="Slide Number Placeholder 3"/>
          <p:cNvSpPr>
            <a:spLocks noGrp="1"/>
          </p:cNvSpPr>
          <p:nvPr>
            <p:ph type="sldNum" idx="5" sz="quarter"/>
          </p:nvPr>
        </p:nvSpPr>
        <p:spPr/>
      </p:sp>
    </p:spTree>
  </p:cSld>
  <p:clrMapOvr>
    <a:masterClrMapping/>
  </p:clrMapOvr>
</p:notes>
</file>

<file path=ppt/notesSlides/notesSlide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布置课后练习：每天 10 分钟，按下表完成，下节课开头抽查。</a:t>
            </a:r>
          </a:p>
          <a:p>
            <a:r>
              <a:t>Minutes | Activity</a:t>
            </a:r>
          </a:p>
          <a:p>
            <a:r>
              <a:t>0–2 | Read the 15 expressions aloud. Cover the English and say it from the Chinese. Pick 3 ★ items and make one true sentence with each.</a:t>
            </a:r>
          </a:p>
          <a:p>
            <a:r>
              <a:t>2–4 | Shadow the model dialogue: read it with the same rhythm and intonation.</a:t>
            </a:r>
          </a:p>
          <a:p>
            <a:r>
              <a:t>4–8 | Explain unconscious bias to a colleague in 60 seconds. Record it.</a:t>
            </a:r>
          </a:p>
          <a:p>
            <a:r>
              <a:t>8–10 | Listen to your recording. Check: affect vs effect, aware of, everyone + singular. Write 3 corrections and record again.</a:t>
            </a:r>
          </a:p>
          <a:p>
            <a:r>
              <a:t>Weekly rhythm: Mon–Tue Scenario 1 · Wed–Thu Scenario 2 · Fri Level-up variation · Weekend: do the Reading / Listening focus again without looking, then record the 1-minute speaking prompt and compare with Monday.</a:t>
            </a:r>
          </a:p>
        </p:txBody>
      </p:sp>
      <p:sp>
        <p:nvSpPr>
          <p:cNvPr id="4" name="Slide Number Placeholder 3"/>
          <p:cNvSpPr>
            <a:spLocks noGrp="1"/>
          </p:cNvSpPr>
          <p:nvPr>
            <p:ph type="sldNum" idx="5" sz="quarter"/>
          </p:nvPr>
        </p:nvSpPr>
        <p:spPr/>
      </p:sp>
    </p:spTree>
  </p:cSld>
  <p:clrMapOvr>
    <a:masterClrMapping/>
  </p:clrMapOvr>
</p:notes>
</file>

<file path=ppt/notesSlides/notesSlide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Lesson 35 · How to relaunch your career 如何重启职业生涯</a:t>
            </a:r>
          </a:p>
          <a:p>
            <a:r>
              <a:t>Goal: talk about a career break, explain a gap and describe how you will return to work.</a:t>
            </a:r>
          </a:p>
        </p:txBody>
      </p:sp>
      <p:sp>
        <p:nvSpPr>
          <p:cNvPr id="4" name="Slide Number Placeholder 3"/>
          <p:cNvSpPr>
            <a:spLocks noGrp="1"/>
          </p:cNvSpPr>
          <p:nvPr>
            <p:ph type="sldNum" idx="5" sz="quarter"/>
          </p:nvPr>
        </p:nvSpPr>
        <p:spPr/>
      </p:sp>
    </p:spTree>
  </p:cSld>
  <p:clrMapOvr>
    <a:masterClrMapping/>
  </p:clrMapOvr>
</p:notes>
</file>

<file path=ppt/notesSlides/notesSlide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热身：每题请一位学员用 2–3 句话回答，点击逐题出现。积极发言的小组 +1。</a:t>
            </a:r>
          </a:p>
          <a:p>
            <a:r>
              <a:t>“relaunch” = 重新启动;“career break” = 职业空档期。第 1 题现在完成时问经历。</a:t>
            </a:r>
          </a:p>
        </p:txBody>
      </p:sp>
      <p:sp>
        <p:nvSpPr>
          <p:cNvPr id="4" name="Slide Number Placeholder 3"/>
          <p:cNvSpPr>
            <a:spLocks noGrp="1"/>
          </p:cNvSpPr>
          <p:nvPr>
            <p:ph type="sldNum" idx="5" sz="quarter"/>
          </p:nvPr>
        </p:nvSpPr>
        <p:spPr/>
      </p:sp>
    </p:spTree>
  </p:cSld>
  <p:clrMapOvr>
    <a:masterClrMapping/>
  </p:clrMapOvr>
</p:notes>
</file>

<file path=ppt/notesSlides/notesSlide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一分钟挑战：给 1 分钟准备，然后每组派一人计时发言 60 秒，不停顿、不说中文即可得分。</a:t>
            </a:r>
          </a:p>
          <a:p>
            <a:r>
              <a:t>Imagine you are returning to work after a break. Explain your plan.</a:t>
            </a:r>
          </a:p>
          <a:p>
            <a:r>
              <a:t>Say: the break → what you did → what you learned → your plan.</a:t>
            </a:r>
          </a:p>
          <a:p>
            <a:r>
              <a:t>Useful starters: “I took a break to…” / “During that time, I…” / “I’m now ready to…” / “I’m updating my skills by…”</a:t>
            </a:r>
          </a:p>
          <a:p>
            <a:r>
              <a:t>“During that time” = 在那段时间里;“be ready to + 动词原形”。</a:t>
            </a:r>
          </a:p>
        </p:txBody>
      </p:sp>
      <p:sp>
        <p:nvSpPr>
          <p:cNvPr id="4" name="Slide Number Placeholder 3"/>
          <p:cNvSpPr>
            <a:spLocks noGrp="1"/>
          </p:cNvSpPr>
          <p:nvPr>
            <p:ph type="sldNum" idx="5" sz="quarter"/>
          </p:nvPr>
        </p:nvSpPr>
        <p:spPr/>
      </p:sp>
    </p:spTree>
  </p:cSld>
  <p:clrMapOvr>
    <a:masterClrMapping/>
  </p:clrMapOvr>
</p:notes>
</file>

<file path=ppt/notesSlides/notesSlide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阅读/听力：第一遍合上文本听老师朗读，抓大意；第二遍读文本找细节，再回答问题。</a:t>
            </a:r>
          </a:p>
          <a:p>
            <a:r>
              <a:t>Every year, thousands of professionals pause their careers to raise children, look after relatives, travel or recover from illness. When they return, many worry that employers will see the gap as a weakness. In practice, a break is easier to explain than people expect. The key is to be clear and positive. Say briefly why you stepped away, then focus on what you can offer now. Update your skills with a short course, and refresh your professional profile online. Contact former colleagues, since most opportunities come through people you already know. Some companies run “returnship” programmes, which are paid placements designed for experienced people returning to work. Finally, be patient. It can take months to find the right role, but a break does not erase years of experience.</a:t>
            </a:r>
          </a:p>
          <a:p/>
        </p:txBody>
      </p:sp>
      <p:sp>
        <p:nvSpPr>
          <p:cNvPr id="4" name="Slide Number Placeholder 3"/>
          <p:cNvSpPr>
            <a:spLocks noGrp="1"/>
          </p:cNvSpPr>
          <p:nvPr>
            <p:ph type="sldNum" idx="5" sz="quarter"/>
          </p:nvPr>
        </p:nvSpPr>
        <p:spPr/>
      </p:sp>
    </p:spTree>
  </p:cSld>
  <p:clrMapOvr>
    <a:masterClrMapping/>
  </p:clrMapOvr>
</p:notes>
</file>

<file path=ppt/notesSlides/notesSlide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先让各组讨论 1 分钟，再抢答。点击一次出现答案。</a:t>
            </a:r>
          </a:p>
          <a:p>
            <a:r>
              <a:t>Q1. Why do people take career breaks?</a:t>
            </a:r>
          </a:p>
          <a:p>
            <a:r>
              <a:t>A: To raise children, care for relatives, travel or recover from illness.</a:t>
            </a:r>
          </a:p>
          <a:p>
            <a:r>
              <a:t>Q2. What is a “returnship”?</a:t>
            </a:r>
          </a:p>
          <a:p>
            <a:r>
              <a:t>A: A paid placement for experienced people returning to work.</a:t>
            </a:r>
          </a:p>
          <a:p>
            <a:r>
              <a:t>Q3. What advice is given about explaining a gap?</a:t>
            </a:r>
          </a:p>
          <a:p>
            <a:r>
              <a:t>A: Be clear and positive, and focus on what you offer now.</a:t>
            </a:r>
          </a:p>
        </p:txBody>
      </p:sp>
      <p:sp>
        <p:nvSpPr>
          <p:cNvPr id="4" name="Slide Number Placeholder 3"/>
          <p:cNvSpPr>
            <a:spLocks noGrp="1"/>
          </p:cNvSpPr>
          <p:nvPr>
            <p:ph type="sldNum" idx="5" sz="quarter"/>
          </p:nvPr>
        </p:nvSpPr>
        <p:spPr/>
      </p:sp>
    </p:spTree>
  </p:cSld>
  <p:clrMapOvr>
    <a:masterClrMapping/>
  </p:clrMapOvr>
</p:notes>
</file>

<file path=ppt/notesSlides/notesSlide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1: Career break 职业空档期</a:t>
            </a:r>
          </a:p>
          <a:p>
            <a:r>
              <a:t>领读 → 学员跟读 → 请学员用表达造一个和自己工作相关的句子。</a:t>
            </a:r>
          </a:p>
          <a:p>
            <a:r>
              <a:t>career break (noun) 职业空档期 — “She took a career break to travel.”</a:t>
            </a:r>
          </a:p>
          <a:p>
            <a:r>
              <a:t>go back to work (phrasal verb) 重返工作 — “I’m ready to go back to work.”</a:t>
            </a:r>
          </a:p>
          <a:p>
            <a:r>
              <a:t>gap on your CV (noun) 简历空档 — “A gap on your CV is not a problem.”</a:t>
            </a:r>
          </a:p>
          <a:p>
            <a:r>
              <a:t>★ step away from (phrasal verb) 暂时离开 — “I stepped away from my career for a year.”</a:t>
            </a:r>
          </a:p>
          <a:p>
            <a:r>
              <a:t>★ returnship (noun) 回归实习计划 — “She joined a returnship.”</a:t>
            </a:r>
          </a:p>
        </p:txBody>
      </p:sp>
      <p:sp>
        <p:nvSpPr>
          <p:cNvPr id="4" name="Slide Number Placeholder 3"/>
          <p:cNvSpPr>
            <a:spLocks noGrp="1"/>
          </p:cNvSpPr>
          <p:nvPr>
            <p:ph type="sldNum" idx="5" sz="quarter"/>
          </p:nvPr>
        </p:nvSpPr>
        <p:spPr/>
      </p:sp>
    </p:spTree>
  </p:cSld>
  <p:clrMapOvr>
    <a:masterClrMapping/>
  </p:clrMapOvr>
</p:notes>
</file>

<file path=ppt/notesSlides/notesSlide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2: Relaunching 重新启动</a:t>
            </a:r>
          </a:p>
          <a:p>
            <a:r>
              <a:t>领读 → 学员跟读 → 请学员用表达造一个和自己工作相关的句子。</a:t>
            </a:r>
          </a:p>
          <a:p>
            <a:r>
              <a:t>refresh your skills (collocation) 更新技能 — “I’m refreshing my skills online.”</a:t>
            </a:r>
          </a:p>
          <a:p>
            <a:r>
              <a:t>update your CV (collocation) 更新简历 — “Update your CV before applying.”</a:t>
            </a:r>
          </a:p>
          <a:p>
            <a:r>
              <a:t>get back into (phrasal verb) 重新进入 — “It’s hard to get back into the market.”</a:t>
            </a:r>
          </a:p>
          <a:p>
            <a:r>
              <a:t>★ reconnect with (verb phrase) 重新联系 — “I reconnected with old colleagues.”</a:t>
            </a:r>
          </a:p>
          <a:p>
            <a:r>
              <a:t>★ transferable skills (noun) 可迁移技能 — “Parenting builds transferable skills.”</a:t>
            </a:r>
          </a:p>
        </p:txBody>
      </p:sp>
      <p:sp>
        <p:nvSpPr>
          <p:cNvPr id="4" name="Slide Number Placeholder 3"/>
          <p:cNvSpPr>
            <a:spLocks noGrp="1"/>
          </p:cNvSpPr>
          <p:nvPr>
            <p:ph type="sldNum" idx="5" sz="quarter"/>
          </p:nvPr>
        </p:nvSpPr>
        <p:spPr/>
      </p:sp>
    </p:spTree>
  </p:cSld>
  <p:clrMapOvr>
    <a:masterClrMapping/>
  </p:clrMapOvr>
</p:notes>
</file>

<file path=ppt/notesSlides/notesSlide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3: Moving forward 向前看</a:t>
            </a:r>
          </a:p>
          <a:p>
            <a:r>
              <a:t>领读 → 学员跟读 → 请学员用表达造一个和自己工作相关的句子。</a:t>
            </a:r>
          </a:p>
          <a:p>
            <a:r>
              <a:t>fresh start (noun) 重新开始 — “I wanted a fresh start.”</a:t>
            </a:r>
          </a:p>
          <a:p>
            <a:r>
              <a:t>restart / relaunch (verb) 重新开始 — “She relaunched her career at 40.”</a:t>
            </a:r>
          </a:p>
          <a:p>
            <a:r>
              <a:t>★ build up momentum (collocation) 积累势头 — “It takes time to build up momentum.”</a:t>
            </a:r>
          </a:p>
          <a:p>
            <a:r>
              <a:t>★ hit the ground running (idiom) 迅速上手 — “I want to hit the ground running.”</a:t>
            </a:r>
          </a:p>
          <a:p>
            <a:r>
              <a:t>★ ease back in (phrasal verb) 逐步回归 — “I’ll ease back in with part-time hours.”</a:t>
            </a:r>
          </a:p>
        </p:txBody>
      </p:sp>
      <p:sp>
        <p:nvSpPr>
          <p:cNvPr id="4" name="Slide Number Placeholder 3"/>
          <p:cNvSpPr>
            <a:spLocks noGrp="1"/>
          </p:cNvSpPr>
          <p:nvPr>
            <p:ph type="sldNum" idx="5" sz="quarter"/>
          </p:nvPr>
        </p:nvSpPr>
        <p:spPr/>
      </p:sp>
    </p:spTree>
  </p:cSld>
  <p:clrMapOvr>
    <a:masterClrMapping/>
  </p:clrMapOvr>
</p:notes>
</file>

<file path=ppt/notesSlides/notesSlide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抢答：老师指一张卡，各组抢答英文表达，答对 +1。点击按顺序揭晓答案。</a:t>
            </a:r>
          </a:p>
        </p:txBody>
      </p:sp>
      <p:sp>
        <p:nvSpPr>
          <p:cNvPr id="4" name="Slide Number Placeholder 3"/>
          <p:cNvSpPr>
            <a:spLocks noGrp="1"/>
          </p:cNvSpPr>
          <p:nvPr>
            <p:ph type="sldNum" idx="5" sz="quarter"/>
          </p:nvPr>
        </p:nvSpPr>
        <p:spPr/>
      </p:sp>
    </p:spTree>
  </p:cSld>
  <p:clrMapOvr>
    <a:masterClrMapping/>
  </p:clrMapOvr>
</p:notes>
</file>

<file path=ppt/notesSlides/notesSlide9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限时 2 分钟独立完成，然后逐题点击揭晓答案。全对的学员为小组 +1。</a:t>
            </a:r>
          </a:p>
          <a:p>
            <a:r>
              <a:t>break / gap / refresh / reconnect / transferable / running</a:t>
            </a:r>
          </a:p>
          <a:p>
            <a:r>
              <a:t>1. She took a career _______ to travel. → break</a:t>
            </a:r>
          </a:p>
          <a:p>
            <a:r>
              <a:t>2. A _______ on your CV is not a problem. → gap</a:t>
            </a:r>
          </a:p>
          <a:p>
            <a:r>
              <a:t>3. I’m trying to _______ my skills online. → refresh</a:t>
            </a:r>
          </a:p>
          <a:p>
            <a:r>
              <a:t>4. I want to _______ with old colleagues. → reconnect</a:t>
            </a:r>
          </a:p>
          <a:p>
            <a:r>
              <a:t>5. Parenting builds _______ skills. → transferable</a:t>
            </a:r>
          </a:p>
          <a:p>
            <a:r>
              <a:t>6. I want to hit the ground _______. → running</a:t>
            </a:r>
          </a:p>
          <a:p>
            <a:r>
              <a:t>Mistake Watch: (搭配) take a career break, return to work(不加 to the work), a gap IN your CV。</a:t>
            </a:r>
          </a:p>
        </p:txBody>
      </p:sp>
      <p:sp>
        <p:nvSpPr>
          <p:cNvPr id="4" name="Slide Number Placeholder 3"/>
          <p:cNvSpPr>
            <a:spLocks noGrp="1"/>
          </p:cNvSpPr>
          <p:nvPr>
            <p:ph type="sldNum" idx="5" sz="quarter"/>
          </p:nvPr>
        </p:nvSpPr>
        <p:spPr/>
      </p:sp>
    </p:spTree>
  </p:cSld>
  <p:clrMapOvr>
    <a:masterClrMapping/>
  </p:clrMapOvr>
</p:notes>
</file>

<file path=ppt/notesSlides/notesSlide9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Networking after a break 休假后的人脉联系</a:t>
            </a:r>
          </a:p>
          <a:p>
            <a:r>
              <a:t>情景：You contact a former colleague.</a:t>
            </a:r>
          </a:p>
          <a:p>
            <a:r>
              <a:t>Role A: You Role B: Former colleague</a:t>
            </a:r>
          </a:p>
          <a:p>
            <a:r>
              <a:t>先师生示范一遍，再两人一组练习，最后请 1–2 组上台表演，表现最好的组 +2。</a:t>
            </a:r>
          </a:p>
        </p:txBody>
      </p:sp>
      <p:sp>
        <p:nvSpPr>
          <p:cNvPr id="4" name="Slide Number Placeholder 3"/>
          <p:cNvSpPr>
            <a:spLocks noGrp="1"/>
          </p:cNvSpPr>
          <p:nvPr>
            <p:ph type="sldNum" idx="5" sz="quarter"/>
          </p:nvPr>
        </p:nvSpPr>
        <p:spPr/>
      </p:sp>
    </p:spTree>
  </p:cSld>
  <p:clrMapOvr>
    <a:masterClrMapping/>
  </p:clrMapOvr>
</p:notes>
</file>

<file path=ppt/notesSlides/notesSlide9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Hi Anna, it’s been a while. I’ve been out of work for two years, caring for my father.</a:t>
            </a:r>
          </a:p>
          <a:p>
            <a:r>
              <a:t>B: I’m sorry to hear that. How is he now?</a:t>
            </a:r>
          </a:p>
          <a:p>
            <a:r>
              <a:t>A: Much better, thanks. I’m ready to go back to work, and I’m refreshing my skills.</a:t>
            </a:r>
          </a:p>
          <a:p>
            <a:r>
              <a:t>B: What kind of role are you looking for?</a:t>
            </a:r>
          </a:p>
        </p:txBody>
      </p:sp>
      <p:sp>
        <p:nvSpPr>
          <p:cNvPr id="4" name="Slide Number Placeholder 3"/>
          <p:cNvSpPr>
            <a:spLocks noGrp="1"/>
          </p:cNvSpPr>
          <p:nvPr>
            <p:ph type="sldNum" idx="5" sz="quarter"/>
          </p:nvPr>
        </p:nvSpPr>
        <p:spPr/>
      </p:sp>
    </p:spTree>
  </p:cSld>
  <p:clrMapOvr>
    <a:masterClrMapping/>
  </p:clrMapOvr>
</p:notes>
</file>

<file path=ppt/notesSlides/notesSlide9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Project management again. I’d like to ease back in, maybe part-time.</a:t>
            </a:r>
          </a:p>
          <a:p>
            <a:r>
              <a:t>B: We might have something. Can you send me your updated CV?</a:t>
            </a:r>
          </a:p>
          <a:p>
            <a:r>
              <a:t>A: Of course. Thanks so much.</a:t>
            </a:r>
          </a:p>
          <a:p>
            <a:r>
              <a:t>B: No problem. Let’s reconnect next week.</a:t>
            </a:r>
          </a:p>
        </p:txBody>
      </p:sp>
      <p:sp>
        <p:nvSpPr>
          <p:cNvPr id="4" name="Slide Number Placeholder 3"/>
          <p:cNvSpPr>
            <a:spLocks noGrp="1"/>
          </p:cNvSpPr>
          <p:nvPr>
            <p:ph type="sldNum" idx="5" sz="quarter"/>
          </p:nvPr>
        </p:nvSpPr>
        <p:spPr/>
      </p:sp>
    </p:spTree>
  </p:cSld>
  <p:clrMapOvr>
    <a:masterClrMapping/>
  </p:clrMapOvr>
</p:notes>
</file>

<file path=ppt/notesSlides/notesSlide9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学员两人一组，按角色卡即兴对话 3 分钟（不看范文）。完成后挑战进阶版任务，挑战成功 +2。</a:t>
            </a:r>
          </a:p>
          <a:p>
            <a:r>
              <a:t>Role card 7 | </a:t>
            </a:r>
          </a:p>
          <a:p>
            <a:r>
              <a:t>Situation | You contact a former colleague after a break.</a:t>
            </a:r>
          </a:p>
          <a:p>
            <a:r>
              <a:t>Your role (A) | Returner. Break reason: ______________</a:t>
            </a:r>
          </a:p>
          <a:p>
            <a:r>
              <a:t>Partner’s role (B) | Former colleague.</a:t>
            </a:r>
          </a:p>
          <a:p>
            <a:r>
              <a:t>Must use (3 or more) | it’s been a while · ready to go back to work · refreshing my skills · ease back in · updated CV</a:t>
            </a:r>
          </a:p>
          <a:p>
            <a:r>
              <a:t>Goal | Explain the break briefly and say what you are looking for.</a:t>
            </a:r>
          </a:p>
          <a:p>
            <a:r>
              <a:t>My notes | ____________________________________________</a:t>
            </a:r>
          </a:p>
          <a:p>
            <a:r>
              <a:t>Offer something to them.</a:t>
            </a:r>
          </a:p>
          <a:p>
            <a:r>
              <a:t>Ask for advice, not a job.</a:t>
            </a:r>
          </a:p>
          <a:p>
            <a:r>
              <a:t>Suggest a coffee or call.</a:t>
            </a:r>
          </a:p>
        </p:txBody>
      </p:sp>
      <p:sp>
        <p:nvSpPr>
          <p:cNvPr id="4" name="Slide Number Placeholder 3"/>
          <p:cNvSpPr>
            <a:spLocks noGrp="1"/>
          </p:cNvSpPr>
          <p:nvPr>
            <p:ph type="sldNum" idx="5" sz="quarter"/>
          </p:nvPr>
        </p:nvSpPr>
        <p:spPr/>
      </p:sp>
    </p:spTree>
  </p:cSld>
  <p:clrMapOvr>
    <a:masterClrMapping/>
  </p:clrMapOvr>
</p:notes>
</file>

<file path=ppt/notesSlides/notesSlide9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Explaining a gap in an interview 面试中解释空档期</a:t>
            </a:r>
          </a:p>
          <a:p>
            <a:r>
              <a:t>情景：An interviewer asks about your CV gap.</a:t>
            </a:r>
          </a:p>
          <a:p>
            <a:r>
              <a:t>Role A: Interviewer Role B: Candidate</a:t>
            </a:r>
          </a:p>
          <a:p>
            <a:r>
              <a:t>先师生示范一遍，再两人一组练习，最后请 1–2 组上台表演，表现最好的组 +2。</a:t>
            </a:r>
          </a:p>
        </p:txBody>
      </p:sp>
      <p:sp>
        <p:nvSpPr>
          <p:cNvPr id="4" name="Slide Number Placeholder 3"/>
          <p:cNvSpPr>
            <a:spLocks noGrp="1"/>
          </p:cNvSpPr>
          <p:nvPr>
            <p:ph type="sldNum" idx="5" sz="quarter"/>
          </p:nvPr>
        </p:nvSpPr>
        <p:spPr/>
      </p:sp>
    </p:spTree>
  </p:cSld>
  <p:clrMapOvr>
    <a:masterClrMapping/>
  </p:clrMapOvr>
</p:notes>
</file>

<file path=ppt/notesSlides/notesSlide9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I see a gap on your CV between 2023 and 2025. Can you tell me about that?</a:t>
            </a:r>
          </a:p>
          <a:p>
            <a:r>
              <a:t>B: Yes. I took time out to care for a family member. During that time, I also completed a certificate in data analysis.</a:t>
            </a:r>
          </a:p>
          <a:p>
            <a:r>
              <a:t>A: How have you kept up to date?</a:t>
            </a:r>
          </a:p>
          <a:p>
            <a:r>
              <a:t>B: I’ve taken online courses and followed industry news.</a:t>
            </a:r>
          </a:p>
        </p:txBody>
      </p:sp>
      <p:sp>
        <p:nvSpPr>
          <p:cNvPr id="4" name="Slide Number Placeholder 3"/>
          <p:cNvSpPr>
            <a:spLocks noGrp="1"/>
          </p:cNvSpPr>
          <p:nvPr>
            <p:ph type="sldNum" idx="5" sz="quarter"/>
          </p:nvPr>
        </p:nvSpPr>
        <p:spPr/>
      </p:sp>
    </p:spTree>
  </p:cSld>
  <p:clrMapOvr>
    <a:masterClrMapping/>
  </p:clrMapOvr>
</p:notes>
</file>

<file path=ppt/notesSlides/notesSlide9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What would you bring to this role?</a:t>
            </a:r>
          </a:p>
          <a:p>
            <a:r>
              <a:t>B: Ten years of experience, plus fresh skills and strong motivation. I’m confident I can hit the ground running.</a:t>
            </a:r>
          </a:p>
          <a:p>
            <a:r>
              <a:t>A: Thank you. Any questions for us?</a:t>
            </a:r>
          </a:p>
          <a:p>
            <a:r>
              <a:t>B: Yes. What does onboarding look like?</a:t>
            </a:r>
          </a:p>
        </p:txBody>
      </p:sp>
      <p:sp>
        <p:nvSpPr>
          <p:cNvPr id="4" name="Slide Number Placeholder 3"/>
          <p:cNvSpPr>
            <a:spLocks noGrp="1"/>
          </p:cNvSpPr>
          <p:nvPr>
            <p:ph type="sldNum" idx="5" sz="quarter"/>
          </p:nvPr>
        </p:nvSpPr>
        <p:spPr/>
      </p:sp>
    </p:spTree>
  </p:cSld>
  <p:clrMapOvr>
    <a:masterClrMapping/>
  </p:clrMapOvr>
</p:notes>
</file>

<file path=ppt/notesSlides/notesSlide10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学员两人一组，按角色卡即兴对话 3 分钟（不看范文）。完成后挑战进阶版任务，挑战成功 +2。</a:t>
            </a:r>
          </a:p>
          <a:p>
            <a:r>
              <a:t>Role card 8 | </a:t>
            </a:r>
          </a:p>
          <a:p>
            <a:r>
              <a:t>Situation | You explain a gap confidently.</a:t>
            </a:r>
          </a:p>
          <a:p>
            <a:r>
              <a:t>Your role (A) | Interviewer.</a:t>
            </a:r>
          </a:p>
          <a:p>
            <a:r>
              <a:t>Partner’s role (B) | Candidate. Gap: ______________</a:t>
            </a:r>
          </a:p>
          <a:p>
            <a:r>
              <a:t>Must use (3 or more) | took time out · During that time · kept up to date · transferable skills · hit the ground running</a:t>
            </a:r>
          </a:p>
          <a:p>
            <a:r>
              <a:t>Goal | Explain briefly and turn the question into a strength.</a:t>
            </a:r>
          </a:p>
          <a:p>
            <a:r>
              <a:t>My notes | ____________________________________________</a:t>
            </a:r>
          </a:p>
          <a:p>
            <a:r>
              <a:t>Don’t over-explain.</a:t>
            </a:r>
          </a:p>
          <a:p>
            <a:r>
              <a:t>Mention a recent achievement.</a:t>
            </a:r>
          </a:p>
          <a:p>
            <a:r>
              <a:t>Ask about onboarding.</a:t>
            </a:r>
          </a:p>
        </p:txBody>
      </p:sp>
      <p:sp>
        <p:nvSpPr>
          <p:cNvPr id="4" name="Slide Number Placeholder 3"/>
          <p:cNvSpPr>
            <a:spLocks noGrp="1"/>
          </p:cNvSpPr>
          <p:nvPr>
            <p:ph type="sldNum" idx="5" sz="quarter"/>
          </p:nvPr>
        </p:nvSpPr>
        <p:spPr/>
      </p:sp>
    </p:spTree>
  </p:cSld>
  <p:clrMapOvr>
    <a:masterClrMapping/>
  </p:clrMapOvr>
</p:notes>
</file>

<file path=ppt/notesSlides/notesSlide10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小组讨论：每组抽 1–2 题，准备 2 分钟后派代表发言，鼓励使用 Starters 里的句型。</a:t>
            </a:r>
          </a:p>
          <a:p>
            <a:r>
              <a:t>1. Should employers value career breaks? | “I think they should because…”</a:t>
            </a:r>
          </a:p>
          <a:p>
            <a:r>
              <a:t>2. What skills do people gain during breaks? | “They might gain…”</a:t>
            </a:r>
          </a:p>
          <a:p>
            <a:r>
              <a:t>3. How can companies support returners? | “By offering… / They could…”</a:t>
            </a:r>
          </a:p>
          <a:p>
            <a:r>
              <a:t>4. What is the best way to prepare for a comeback? | “First, I’d…”</a:t>
            </a:r>
          </a:p>
          <a:p>
            <a:r>
              <a:t>5. Would you hire someone with a long gap? | “Yes, if… / It would depend on…”</a:t>
            </a:r>
          </a:p>
        </p:txBody>
      </p:sp>
      <p:sp>
        <p:nvSpPr>
          <p:cNvPr id="4" name="Slide Number Placeholder 3"/>
          <p:cNvSpPr>
            <a:spLocks noGrp="1"/>
          </p:cNvSpPr>
          <p:nvPr>
            <p:ph type="sldNum" idx="5" sz="quarter"/>
          </p:nvPr>
        </p:nvSpPr>
        <p:spPr/>
      </p:sp>
    </p:spTree>
  </p:cSld>
  <p:clrMapOvr>
    <a:masterClrMapping/>
  </p:clrMapOvr>
</p:notes>
</file>

<file path=ppt/notesSlides/notesSlide10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范例回答：先请学员自己回答，再展示范例，标出可以借用的句型。</a:t>
            </a:r>
          </a:p>
          <a:p>
            <a:r>
              <a:t>“Yes, I would, if they could show how they kept learning. A long gap itself isn’t a problem. People look after family, recover from illness or change direction. What matters is the person’s skills and attitude now. I’d ask about their plans and give them a practical task. Then I’d decide on the evidence.”</a:t>
            </a:r>
          </a:p>
          <a:p>
            <a:r>
              <a:t>“What matters is…” 重点句;“decide on the evidence” 依证据决定。</a:t>
            </a:r>
          </a:p>
        </p:txBody>
      </p:sp>
      <p:sp>
        <p:nvSpPr>
          <p:cNvPr id="4" name="Slide Number Placeholder 3"/>
          <p:cNvSpPr>
            <a:spLocks noGrp="1"/>
          </p:cNvSpPr>
          <p:nvPr>
            <p:ph type="sldNum" idx="5" sz="quarter"/>
          </p:nvPr>
        </p:nvSpPr>
        <p:spPr/>
      </p:sp>
    </p:spTree>
  </p:cSld>
  <p:clrMapOvr>
    <a:masterClrMapping/>
  </p:clrMapOvr>
</p:notes>
</file>

<file path=ppt/notesSlides/notesSlide10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Past events and present results 过去与现在的联系</a:t>
            </a:r>
          </a:p>
          <a:p>
            <a:r>
              <a:t>Tense | Example</a:t>
            </a:r>
          </a:p>
          <a:p>
            <a:r>
              <a:t>Present perfect | I’ve taken two online courses.</a:t>
            </a:r>
          </a:p>
          <a:p>
            <a:r>
              <a:t>Present perfect continuous | I’ve been refreshing my skills since March.</a:t>
            </a:r>
          </a:p>
          <a:p>
            <a:r>
              <a:t>Past simple | I left in 2023.</a:t>
            </a:r>
          </a:p>
          <a:p>
            <a:r>
              <a:t>Past perfect | I had worked for ten years before I left.</a:t>
            </a:r>
          </a:p>
          <a:p/>
        </p:txBody>
      </p:sp>
      <p:sp>
        <p:nvSpPr>
          <p:cNvPr id="4" name="Slide Number Placeholder 3"/>
          <p:cNvSpPr>
            <a:spLocks noGrp="1"/>
          </p:cNvSpPr>
          <p:nvPr>
            <p:ph type="sldNum" idx="5" sz="quarter"/>
          </p:nvPr>
        </p:nvSpPr>
        <p:spPr/>
      </p:sp>
    </p:spTree>
  </p:cSld>
  <p:clrMapOvr>
    <a:masterClrMapping/>
  </p:clrMapOvr>
</p:notes>
</file>

<file path=ppt/notesSlides/notesSlide10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Past events and present results 过去与现在的联系</a:t>
            </a:r>
          </a:p>
          <a:p>
            <a:r>
              <a:t>Use present perfect continuous for activities that started in the past and continue now.</a:t>
            </a:r>
          </a:p>
          <a:p/>
        </p:txBody>
      </p:sp>
      <p:sp>
        <p:nvSpPr>
          <p:cNvPr id="4" name="Slide Number Placeholder 3"/>
          <p:cNvSpPr>
            <a:spLocks noGrp="1"/>
          </p:cNvSpPr>
          <p:nvPr>
            <p:ph type="sldNum" idx="5" sz="quarter"/>
          </p:nvPr>
        </p:nvSpPr>
        <p:spPr/>
      </p:sp>
    </p:spTree>
  </p:cSld>
  <p:clrMapOvr>
    <a:masterClrMapping/>
  </p:clrMapOvr>
</p:notes>
</file>

<file path=ppt/notesSlides/notesSlide10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I am out of work since two years.  →  ✓ I’ve been out of work for two years.  (for + 一段时间)</a:t>
            </a:r>
          </a:p>
          <a:p>
            <a:r>
              <a:t>✗ I have left my job in 2023.  →  ✓ I left my job in 2023.  (过去时间用一般过去式)</a:t>
            </a:r>
          </a:p>
          <a:p>
            <a:r>
              <a:t>✗ I want to go back to the work.  →  ✓ I want to go back to work.  (go back to work)</a:t>
            </a:r>
          </a:p>
          <a:p>
            <a:r>
              <a:t>Mistake Watch: Check for/since, present perfect vs past simple, go back to work, look forward to + -ing.</a:t>
            </a:r>
          </a:p>
        </p:txBody>
      </p:sp>
      <p:sp>
        <p:nvSpPr>
          <p:cNvPr id="4" name="Slide Number Placeholder 3"/>
          <p:cNvSpPr>
            <a:spLocks noGrp="1"/>
          </p:cNvSpPr>
          <p:nvPr>
            <p:ph type="sldNum" idx="5" sz="quarter"/>
          </p:nvPr>
        </p:nvSpPr>
        <p:spPr/>
      </p:sp>
    </p:spTree>
  </p:cSld>
  <p:clrMapOvr>
    <a:masterClrMapping/>
  </p:clrMapOvr>
</p:notes>
</file>

<file path=ppt/notesSlides/notesSlide10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I take a break for one year.  →  ✓ I took a break for one year.  (过去式)</a:t>
            </a:r>
          </a:p>
          <a:p>
            <a:r>
              <a:t>✗ I’m looking forward to return.  →  ✓ I’m looking forward to returning.  (to + -ing)</a:t>
            </a:r>
          </a:p>
          <a:p>
            <a:r>
              <a:t>✗ I lost contact with my colleagues.  →  ✓ I lost touch with my colleagues.  (lose touch)</a:t>
            </a:r>
          </a:p>
          <a:p>
            <a:r>
              <a:t>Mistake Watch: Check for/since, present perfect vs past simple, go back to work, look forward to + -ing.</a:t>
            </a:r>
          </a:p>
        </p:txBody>
      </p:sp>
      <p:sp>
        <p:nvSpPr>
          <p:cNvPr id="4" name="Slide Number Placeholder 3"/>
          <p:cNvSpPr>
            <a:spLocks noGrp="1"/>
          </p:cNvSpPr>
          <p:nvPr>
            <p:ph type="sldNum" idx="5" sz="quarter"/>
          </p:nvPr>
        </p:nvSpPr>
        <p:spPr/>
      </p:sp>
    </p:spTree>
  </p:cSld>
  <p:clrMapOvr>
    <a:masterClrMapping/>
  </p:clrMapOvr>
</p:notes>
</file>

<file path=ppt/notesSlides/notesSlide10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Cultural tips 文化小贴士</a:t>
            </a:r>
          </a:p>
          <a:p>
            <a:r>
              <a:t>Be brief about personal reasons. One sentence is enough; you don’t need to give details.</a:t>
            </a:r>
          </a:p>
          <a:p>
            <a:r>
              <a:t>Show what you did. Courses, volunteering and freelance work count.</a:t>
            </a:r>
          </a:p>
          <a:p>
            <a:r>
              <a:t>Use your network. Many jobs are filled via contacts.</a:t>
            </a:r>
          </a:p>
          <a:p>
            <a:r>
              <a:t>Use LinkedIn. A current profile with a short “about” section is standard.</a:t>
            </a:r>
          </a:p>
          <a:p/>
        </p:txBody>
      </p:sp>
      <p:sp>
        <p:nvSpPr>
          <p:cNvPr id="4" name="Slide Number Placeholder 3"/>
          <p:cNvSpPr>
            <a:spLocks noGrp="1"/>
          </p:cNvSpPr>
          <p:nvPr>
            <p:ph type="sldNum" idx="5" sz="quarter"/>
          </p:nvPr>
        </p:nvSpPr>
        <p:spPr/>
      </p:sp>
    </p:spTree>
  </p:cSld>
  <p:clrMapOvr>
    <a:masterClrMapping/>
  </p:clrMapOvr>
</p:notes>
</file>

<file path=ppt/notesSlides/notesSlide10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课堂小结：请学员对每一条自评 1–3 星，选一条“还没做到”的作为课后练习目标。</a:t>
            </a:r>
          </a:p>
          <a:p>
            <a:r>
              <a:t>I can explain a career break briefly and positively.</a:t>
            </a:r>
          </a:p>
          <a:p>
            <a:r>
              <a:t>I can describe how I refresh my skills.</a:t>
            </a:r>
          </a:p>
          <a:p>
            <a:r>
              <a:t>I can contact a former colleague politely after a long time.</a:t>
            </a:r>
          </a:p>
          <a:p>
            <a:r>
              <a:t>I use present perfect (continuous) with for/since correctly.</a:t>
            </a:r>
          </a:p>
          <a:p>
            <a:r>
              <a:t>I can use at least three ★ expressions from this lesson in my own sentences.</a:t>
            </a:r>
          </a:p>
        </p:txBody>
      </p:sp>
      <p:sp>
        <p:nvSpPr>
          <p:cNvPr id="4" name="Slide Number Placeholder 3"/>
          <p:cNvSpPr>
            <a:spLocks noGrp="1"/>
          </p:cNvSpPr>
          <p:nvPr>
            <p:ph type="sldNum" idx="5" sz="quarter"/>
          </p:nvPr>
        </p:nvSpPr>
        <p:spPr/>
      </p:sp>
    </p:spTree>
  </p:cSld>
  <p:clrMapOvr>
    <a:masterClrMapping/>
  </p:clrMapOvr>
</p:notes>
</file>

<file path=ppt/notesSlides/notesSlide10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布置课后练习：每天 10 分钟，按下表完成，下节课开头抽查。</a:t>
            </a:r>
          </a:p>
          <a:p>
            <a:r>
              <a:t>Minutes | Activity</a:t>
            </a:r>
          </a:p>
          <a:p>
            <a:r>
              <a:t>0–2 | Read the 15 expressions aloud. Cover the English and say it from the Chinese. Pick 3 ★ items and make one true sentence with each.</a:t>
            </a:r>
          </a:p>
          <a:p>
            <a:r>
              <a:t>2–4 | Shadow the model dialogue: read it with the same rhythm and intonation.</a:t>
            </a:r>
          </a:p>
          <a:p>
            <a:r>
              <a:t>4–8 | Prepare a 3-sentence explanation of a gap and say it aloud.</a:t>
            </a:r>
          </a:p>
          <a:p>
            <a:r>
              <a:t>8–10 | Listen to your recording. Check: for/since, lose touch, to + -ing, past simple vs present perfect. Write 3 corrections and record again.</a:t>
            </a:r>
          </a:p>
          <a:p>
            <a:r>
              <a:t>Weekly rhythm: Mon–Tue Scenario 1 · Wed–Thu Scenario 2 · Fri Level-up variation · Weekend: do the Reading / Listening focus again without looking, then record the 1-minute speaking prompt and compare with Monday.</a:t>
            </a:r>
          </a:p>
        </p:txBody>
      </p:sp>
      <p:sp>
        <p:nvSpPr>
          <p:cNvPr id="4" name="Slide Number Placeholder 3"/>
          <p:cNvSpPr>
            <a:spLocks noGrp="1"/>
          </p:cNvSpPr>
          <p:nvPr>
            <p:ph type="sldNum" idx="5" sz="quarter"/>
          </p:nvPr>
        </p:nvSpPr>
        <p:spPr/>
      </p:sp>
    </p:spTree>
  </p:cSld>
  <p:clrMapOvr>
    <a:masterClrMapping/>
  </p:clrMapOvr>
</p:notes>
</file>

<file path=ppt/notesSlides/notesSlide1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Lesson 36 · Fail to have a great career 难以拥有伟大的职业生涯</a:t>
            </a:r>
          </a:p>
          <a:p>
            <a:r>
              <a:t>Goal: discuss the mistakes and misconceptions that hold careers back, and give or accept career feedback.</a:t>
            </a:r>
          </a:p>
        </p:txBody>
      </p:sp>
      <p:sp>
        <p:nvSpPr>
          <p:cNvPr id="4" name="Slide Number Placeholder 3"/>
          <p:cNvSpPr>
            <a:spLocks noGrp="1"/>
          </p:cNvSpPr>
          <p:nvPr>
            <p:ph type="sldNum" idx="5" sz="quarter"/>
          </p:nvPr>
        </p:nvSpPr>
        <p:spPr/>
      </p:sp>
    </p:spTree>
  </p:cSld>
  <p:clrMapOvr>
    <a:masterClrMapping/>
  </p:clrMapOvr>
</p:notes>
</file>

<file path=ppt/notesSlides/notesSlide1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热身：每题请一位学员用 2–3 句话回答，点击逐题出现。积极发言的小组 +1。</a:t>
            </a:r>
          </a:p>
          <a:p>
            <a:r>
              <a:t>标题 “Fail to have a great career” 为原文如此;本课讲”阻碍职业发展的错误与误解”。第 3 题 “stay too long” 注意过去式。</a:t>
            </a:r>
          </a:p>
        </p:txBody>
      </p:sp>
      <p:sp>
        <p:nvSpPr>
          <p:cNvPr id="4" name="Slide Number Placeholder 3"/>
          <p:cNvSpPr>
            <a:spLocks noGrp="1"/>
          </p:cNvSpPr>
          <p:nvPr>
            <p:ph type="sldNum" idx="5" sz="quarter"/>
          </p:nvPr>
        </p:nvSpPr>
        <p:spPr/>
      </p:sp>
    </p:spTree>
  </p:cSld>
  <p:clrMapOvr>
    <a:masterClrMapping/>
  </p:clrMapOvr>
</p:notes>
</file>

<file path=ppt/notesSlides/notesSlide1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一分钟挑战：给 1 分钟准备，然后每组派一人计时发言 60 秒，不停顿、不说中文即可得分。</a:t>
            </a:r>
          </a:p>
          <a:p>
            <a:r>
              <a:t>Talk about a career mistake you’ve seen or made and what to do instead.</a:t>
            </a:r>
          </a:p>
          <a:p>
            <a:r>
              <a:t>Say: the mistake → why it’s tempting → the effect → a better approach.</a:t>
            </a:r>
          </a:p>
          <a:p>
            <a:r>
              <a:t>Useful starters: “A common mistake is…” / “It’s tempting to…, but…” / “The result is that…” / “A better approach is to…”</a:t>
            </a:r>
          </a:p>
          <a:p>
            <a:r>
              <a:t>“It’s tempting to…” 容易想去…;“A better approach is to…” 更好的做法是…</a:t>
            </a:r>
          </a:p>
        </p:txBody>
      </p:sp>
      <p:sp>
        <p:nvSpPr>
          <p:cNvPr id="4" name="Slide Number Placeholder 3"/>
          <p:cNvSpPr>
            <a:spLocks noGrp="1"/>
          </p:cNvSpPr>
          <p:nvPr>
            <p:ph type="sldNum" idx="5" sz="quarter"/>
          </p:nvPr>
        </p:nvSpPr>
        <p:spPr/>
      </p:sp>
    </p:spTree>
  </p:cSld>
  <p:clrMapOvr>
    <a:masterClrMapping/>
  </p:clrMapOvr>
</p:notes>
</file>

<file path=ppt/notesSlides/notesSlide1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阅读/听力：第一遍合上文本听老师朗读，抓大意；第二遍读文本找细节，再回答问题。</a:t>
            </a:r>
          </a:p>
          <a:p>
            <a:r>
              <a:t>Many careers stall for reasons that have little to do with talent. The first myth is “good work speaks for itself”. In reality, people also need to share results and build relationships. The second is “I will be promoted when I am ready”. Promotions usually go to people who ask for more responsibility early. The third is “loyalty alone is rewarded”. Staying for years without learning anything new can make you less employable, not more. The fourth is “feedback is criticism”. People who actively ask for feedback improve faster, and they are often seen as confident rather than weak. None of these ideas is entirely false, which is why they last. But believing them too strongly can slow down even a talented person.</a:t>
            </a:r>
          </a:p>
          <a:p/>
        </p:txBody>
      </p:sp>
      <p:sp>
        <p:nvSpPr>
          <p:cNvPr id="4" name="Slide Number Placeholder 3"/>
          <p:cNvSpPr>
            <a:spLocks noGrp="1"/>
          </p:cNvSpPr>
          <p:nvPr>
            <p:ph type="sldNum" idx="5" sz="quarter"/>
          </p:nvPr>
        </p:nvSpPr>
        <p:spPr/>
      </p:sp>
    </p:spTree>
  </p:cSld>
  <p:clrMapOvr>
    <a:masterClrMapping/>
  </p:clrMapOvr>
</p:notes>
</file>

<file path=ppt/notesSlides/notesSlide1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先让各组讨论 1 分钟，再抢答。点击一次出现答案。</a:t>
            </a:r>
          </a:p>
          <a:p>
            <a:r>
              <a:t>Q1. Which myth is about promotion?</a:t>
            </a:r>
          </a:p>
          <a:p>
            <a:r>
              <a:t>A: “I will be promoted when I am ready.”</a:t>
            </a:r>
          </a:p>
          <a:p>
            <a:r>
              <a:t>Q2. Why can staying too long be a problem?</a:t>
            </a:r>
          </a:p>
          <a:p>
            <a:r>
              <a:t>A: If you stop learning, you may become less employable.</a:t>
            </a:r>
          </a:p>
          <a:p>
            <a:r>
              <a:t>Q3. What do people who ask for feedback gain?</a:t>
            </a:r>
          </a:p>
          <a:p>
            <a:r>
              <a:t>A: They improve faster and appear confident.</a:t>
            </a:r>
          </a:p>
        </p:txBody>
      </p:sp>
      <p:sp>
        <p:nvSpPr>
          <p:cNvPr id="4" name="Slide Number Placeholder 3"/>
          <p:cNvSpPr>
            <a:spLocks noGrp="1"/>
          </p:cNvSpPr>
          <p:nvPr>
            <p:ph type="sldNum" idx="5" sz="quarter"/>
          </p:nvPr>
        </p:nvSpPr>
        <p:spPr/>
      </p:sp>
    </p:spTree>
  </p:cSld>
  <p:clrMapOvr>
    <a:masterClrMapping/>
  </p:clrMapOvr>
</p:notes>
</file>

<file path=ppt/notesSlides/notesSlide1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1: Mistakes 常见错误</a:t>
            </a:r>
          </a:p>
          <a:p>
            <a:r>
              <a:t>领读 → 学员跟读 → 请学员用表达造一个和自己工作相关的句子。</a:t>
            </a:r>
          </a:p>
          <a:p>
            <a:r>
              <a:t>hold you back (phrasal verb) 阻碍你 — “Fear can hold you back.”</a:t>
            </a:r>
          </a:p>
          <a:p>
            <a:r>
              <a:t>stall (verb) 停滞 — “My career has stalled.”</a:t>
            </a:r>
          </a:p>
          <a:p>
            <a:r>
              <a:t>complacent (adjective) 自满的 — “Don’t get complacent.”</a:t>
            </a:r>
          </a:p>
          <a:p>
            <a:r>
              <a:t>★ plateau (noun/verb) 停滞期 — “Her career hit a plateau.”</a:t>
            </a:r>
          </a:p>
          <a:p>
            <a:r>
              <a:t>★ burn bridges (idiom) 断后路 — “Never burn bridges with former bosses.”</a:t>
            </a:r>
          </a:p>
        </p:txBody>
      </p:sp>
      <p:sp>
        <p:nvSpPr>
          <p:cNvPr id="4" name="Slide Number Placeholder 3"/>
          <p:cNvSpPr>
            <a:spLocks noGrp="1"/>
          </p:cNvSpPr>
          <p:nvPr>
            <p:ph type="sldNum" idx="5" sz="quarter"/>
          </p:nvPr>
        </p:nvSpPr>
        <p:spPr/>
      </p:sp>
    </p:spTree>
  </p:cSld>
  <p:clrMapOvr>
    <a:masterClrMapping/>
  </p:clrMapOvr>
</p:notes>
</file>

<file path=ppt/notesSlides/notesSlide1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2: Feedback 反馈</a:t>
            </a:r>
          </a:p>
          <a:p>
            <a:r>
              <a:t>领读 → 学员跟读 → 请学员用表达造一个和自己工作相关的句子。</a:t>
            </a:r>
          </a:p>
          <a:p>
            <a:r>
              <a:t>constructive feedback (noun) 建设性反馈 — “I welcome constructive feedback.”</a:t>
            </a:r>
          </a:p>
          <a:p>
            <a:r>
              <a:t>blind spot (noun) 盲点 — “Everyone has blind spots.”</a:t>
            </a:r>
          </a:p>
          <a:p>
            <a:r>
              <a:t>take (it) on board (idiom) 虚心接受 — “I’ll take your comments on board.”</a:t>
            </a:r>
          </a:p>
          <a:p>
            <a:r>
              <a:t>★ take criticism personally (collocation) 把批评当作人身攻击 — “Try not to take criticism personally.”</a:t>
            </a:r>
          </a:p>
          <a:p>
            <a:r>
              <a:t>★ ask for a candid view (collocation) 请求坦率意见 — “Ask a mentor for a candid view.”</a:t>
            </a:r>
          </a:p>
        </p:txBody>
      </p:sp>
      <p:sp>
        <p:nvSpPr>
          <p:cNvPr id="4" name="Slide Number Placeholder 3"/>
          <p:cNvSpPr>
            <a:spLocks noGrp="1"/>
          </p:cNvSpPr>
          <p:nvPr>
            <p:ph type="sldNum" idx="5" sz="quarter"/>
          </p:nvPr>
        </p:nvSpPr>
        <p:spPr/>
      </p:sp>
    </p:spTree>
  </p:cSld>
  <p:clrMapOvr>
    <a:masterClrMapping/>
  </p:clrMapOvr>
</p:notes>
</file>

<file path=ppt/notesSlides/notesSlide1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3: Doing better 改进</a:t>
            </a:r>
          </a:p>
          <a:p>
            <a:r>
              <a:t>领读 → 学员跟读 → 请学员用表达造一个和自己工作相关的句子。</a:t>
            </a:r>
          </a:p>
          <a:p>
            <a:r>
              <a:t>visibility (noun) 能见度 — “You need more visibility.”</a:t>
            </a:r>
          </a:p>
          <a:p>
            <a:r>
              <a:t>step up (phrasal verb) 挺身而出 — “She stepped up when needed.”</a:t>
            </a:r>
          </a:p>
          <a:p>
            <a:r>
              <a:t>★ outgrow (verb) 超越(现状) — “You’ve outgrown this role.”</a:t>
            </a:r>
          </a:p>
          <a:p>
            <a:r>
              <a:t>★ shift gears (idiom) 转换方式 — “It’s time to shift gears.”</a:t>
            </a:r>
          </a:p>
          <a:p>
            <a:r>
              <a:t>★ network strategically (collocation) 有策略地拓展人脉 — “He networks strategically.”</a:t>
            </a:r>
          </a:p>
        </p:txBody>
      </p:sp>
      <p:sp>
        <p:nvSpPr>
          <p:cNvPr id="4" name="Slide Number Placeholder 3"/>
          <p:cNvSpPr>
            <a:spLocks noGrp="1"/>
          </p:cNvSpPr>
          <p:nvPr>
            <p:ph type="sldNum" idx="5" sz="quarter"/>
          </p:nvPr>
        </p:nvSpPr>
        <p:spPr/>
      </p:sp>
    </p:spTree>
  </p:cSld>
  <p:clrMapOvr>
    <a:masterClrMapping/>
  </p:clrMapOvr>
</p:notes>
</file>

<file path=ppt/notesSlides/notesSlide1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抢答：老师指一张卡，各组抢答英文表达，答对 +1。点击按顺序揭晓答案。</a:t>
            </a:r>
          </a:p>
        </p:txBody>
      </p:sp>
      <p:sp>
        <p:nvSpPr>
          <p:cNvPr id="4" name="Slide Number Placeholder 3"/>
          <p:cNvSpPr>
            <a:spLocks noGrp="1"/>
          </p:cNvSpPr>
          <p:nvPr>
            <p:ph type="sldNum" idx="5" sz="quarter"/>
          </p:nvPr>
        </p:nvSpPr>
        <p:spPr/>
      </p:sp>
    </p:spTree>
  </p:cSld>
  <p:clrMapOvr>
    <a:masterClrMapping/>
  </p:clrMapOvr>
</p:notes>
</file>

<file path=ppt/notesSlides/notesSlide1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限时 2 分钟独立完成，然后逐题点击揭晓答案。全对的学员为小组 +1。</a:t>
            </a:r>
          </a:p>
          <a:p>
            <a:r>
              <a:t>back / stalled / complacent / blind / board / visibility</a:t>
            </a:r>
          </a:p>
          <a:p>
            <a:r>
              <a:t>1. Fear can hold you _______. → back</a:t>
            </a:r>
          </a:p>
          <a:p>
            <a:r>
              <a:t>2. My career has _______ for two years. → stalled</a:t>
            </a:r>
          </a:p>
          <a:p>
            <a:r>
              <a:t>3. Don’t get _______ after one success. → complacent</a:t>
            </a:r>
          </a:p>
          <a:p>
            <a:r>
              <a:t>4. Everyone has a _______ spot. → blind</a:t>
            </a:r>
          </a:p>
          <a:p>
            <a:r>
              <a:t>5. Thanks, I’ll take your comments on _______. → board</a:t>
            </a:r>
          </a:p>
          <a:p>
            <a:r>
              <a:t>6. You need more _______ in the company. → visibility</a:t>
            </a:r>
          </a:p>
          <a:p>
            <a:r>
              <a:t>Mistake Watch: (搭配) take feedback on board, give / receive feedback (feedback 不可数), hit a plateau。</a:t>
            </a:r>
          </a:p>
        </p:txBody>
      </p:sp>
      <p:sp>
        <p:nvSpPr>
          <p:cNvPr id="4" name="Slide Number Placeholder 3"/>
          <p:cNvSpPr>
            <a:spLocks noGrp="1"/>
          </p:cNvSpPr>
          <p:nvPr>
            <p:ph type="sldNum" idx="5" sz="quarter"/>
          </p:nvPr>
        </p:nvSpPr>
        <p:spPr/>
      </p:sp>
    </p:spTree>
  </p:cSld>
  <p:clrMapOvr>
    <a:masterClrMapping/>
  </p:clrMapOvr>
</p:notes>
</file>

<file path=ppt/notesSlides/notesSlide1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mentoring conversation 导师谈话</a:t>
            </a:r>
          </a:p>
          <a:p>
            <a:r>
              <a:t>情景：A mentor gives honest advice about stalled progress.</a:t>
            </a:r>
          </a:p>
          <a:p>
            <a:r>
              <a:t>Role A: Mentor Role B: Mentee</a:t>
            </a:r>
          </a:p>
          <a:p>
            <a:r>
              <a:t>先师生示范一遍，再两人一组练习，最后请 1–2 组上台表演，表现最好的组 +2。</a:t>
            </a:r>
          </a:p>
        </p:txBody>
      </p:sp>
      <p:sp>
        <p:nvSpPr>
          <p:cNvPr id="4" name="Slide Number Placeholder 3"/>
          <p:cNvSpPr>
            <a:spLocks noGrp="1"/>
          </p:cNvSpPr>
          <p:nvPr>
            <p:ph type="sldNum" idx="5" sz="quarter"/>
          </p:nvPr>
        </p:nvSpPr>
        <p:spPr/>
      </p:sp>
    </p:spTree>
  </p:cSld>
  <p:clrMapOvr>
    <a:masterClrMapping/>
  </p:clrMapOvr>
</p:notes>
</file>

<file path=ppt/notesSlides/notesSlide1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Can I give you some honest feedback?</a:t>
            </a:r>
          </a:p>
          <a:p>
            <a:r>
              <a:t>B: Of course. I’d welcome it.</a:t>
            </a:r>
          </a:p>
          <a:p>
            <a:r>
              <a:t>A: Your work is excellent, but your manager doesn’t see it. Visibility is the problem.</a:t>
            </a:r>
          </a:p>
          <a:p>
            <a:r>
              <a:t>B: I assumed good work speaks for itself.</a:t>
            </a:r>
          </a:p>
        </p:txBody>
      </p:sp>
      <p:sp>
        <p:nvSpPr>
          <p:cNvPr id="4" name="Slide Number Placeholder 3"/>
          <p:cNvSpPr>
            <a:spLocks noGrp="1"/>
          </p:cNvSpPr>
          <p:nvPr>
            <p:ph type="sldNum" idx="5" sz="quarter"/>
          </p:nvPr>
        </p:nvSpPr>
        <p:spPr/>
      </p:sp>
    </p:spTree>
  </p:cSld>
  <p:clrMapOvr>
    <a:masterClrMapping/>
  </p:clrMapOvr>
</p:notes>
</file>

<file path=ppt/notesSlides/notesSlide1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It’s a common myth. Try sharing results at team meetings and asking for bigger projects.</a:t>
            </a:r>
          </a:p>
          <a:p>
            <a:r>
              <a:t>B: I’m a bit shy about it.</a:t>
            </a:r>
          </a:p>
          <a:p>
            <a:r>
              <a:t>A: It’s tempting to wait, but a better approach is to start small, with one update a month.</a:t>
            </a:r>
          </a:p>
          <a:p>
            <a:r>
              <a:t>B: I’ll take that on board.</a:t>
            </a:r>
          </a:p>
        </p:txBody>
      </p:sp>
      <p:sp>
        <p:nvSpPr>
          <p:cNvPr id="4" name="Slide Number Placeholder 3"/>
          <p:cNvSpPr>
            <a:spLocks noGrp="1"/>
          </p:cNvSpPr>
          <p:nvPr>
            <p:ph type="sldNum" idx="5" sz="quarter"/>
          </p:nvPr>
        </p:nvSpPr>
        <p:spPr/>
      </p:sp>
    </p:spTree>
  </p:cSld>
  <p:clrMapOvr>
    <a:masterClrMapping/>
  </p:clrMapOvr>
</p:notes>
</file>

<file path=ppt/notesSlides/notesSlide1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学员两人一组，按角色卡即兴对话 3 分钟（不看范文）。完成后挑战进阶版任务，挑战成功 +2。</a:t>
            </a:r>
          </a:p>
          <a:p>
            <a:r>
              <a:t>Role card 9 | </a:t>
            </a:r>
          </a:p>
          <a:p>
            <a:r>
              <a:t>Situation | You give honest career feedback.</a:t>
            </a:r>
          </a:p>
          <a:p>
            <a:r>
              <a:t>Your role (A) | Mentor. Issue: ______________</a:t>
            </a:r>
          </a:p>
          <a:p>
            <a:r>
              <a:t>Partner’s role (B) | Mentee.</a:t>
            </a:r>
          </a:p>
          <a:p>
            <a:r>
              <a:t>Must use (3 or more) | honest feedback · blind spot · visibility · a common myth · take it on board</a:t>
            </a:r>
          </a:p>
          <a:p>
            <a:r>
              <a:t>Goal | Give feedback, hear the reaction and agree on one action.</a:t>
            </a:r>
          </a:p>
          <a:p>
            <a:r>
              <a:t>My notes | ____________________________________________</a:t>
            </a:r>
          </a:p>
          <a:p>
            <a:r>
              <a:t>Soften: “Can I make a suggestion?”</a:t>
            </a:r>
          </a:p>
          <a:p>
            <a:r>
              <a:t>Give a positive first.</a:t>
            </a:r>
          </a:p>
          <a:p>
            <a:r>
              <a:t>Agree on a follow-up date.</a:t>
            </a:r>
          </a:p>
        </p:txBody>
      </p:sp>
      <p:sp>
        <p:nvSpPr>
          <p:cNvPr id="4" name="Slide Number Placeholder 3"/>
          <p:cNvSpPr>
            <a:spLocks noGrp="1"/>
          </p:cNvSpPr>
          <p:nvPr>
            <p:ph type="sldNum" idx="5" sz="quarter"/>
          </p:nvPr>
        </p:nvSpPr>
        <p:spPr/>
      </p:sp>
    </p:spTree>
  </p:cSld>
  <p:clrMapOvr>
    <a:masterClrMapping/>
  </p:clrMapOvr>
</p:notes>
</file>

<file path=ppt/notesSlides/notesSlide1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Receiving criticism 接受批评</a:t>
            </a:r>
          </a:p>
          <a:p>
            <a:r>
              <a:t>情景：Your manager points out an issue.</a:t>
            </a:r>
          </a:p>
          <a:p>
            <a:r>
              <a:t>Role A: Manager Role B: You</a:t>
            </a:r>
          </a:p>
          <a:p>
            <a:r>
              <a:t>先师生示范一遍，再两人一组练习，最后请 1–2 组上台表演，表现最好的组 +2。</a:t>
            </a:r>
          </a:p>
        </p:txBody>
      </p:sp>
      <p:sp>
        <p:nvSpPr>
          <p:cNvPr id="4" name="Slide Number Placeholder 3"/>
          <p:cNvSpPr>
            <a:spLocks noGrp="1"/>
          </p:cNvSpPr>
          <p:nvPr>
            <p:ph type="sldNum" idx="5" sz="quarter"/>
          </p:nvPr>
        </p:nvSpPr>
        <p:spPr/>
      </p:sp>
    </p:spTree>
  </p:cSld>
  <p:clrMapOvr>
    <a:masterClrMapping/>
  </p:clrMapOvr>
</p:notes>
</file>

<file path=ppt/notesSlides/notesSlide1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I’ve noticed you sometimes avoid giving your opinion in meetings.</a:t>
            </a:r>
          </a:p>
          <a:p>
            <a:r>
              <a:t>B: That’s fair. I worry about being wrong.</a:t>
            </a:r>
          </a:p>
          <a:p>
            <a:r>
              <a:t>A: The team needs your input. It’s holding you back.</a:t>
            </a:r>
          </a:p>
          <a:p>
            <a:r>
              <a:t>B: I didn’t realise it came across that way. Thanks for being candid.</a:t>
            </a:r>
          </a:p>
          <a:p>
            <a:r>
              <a:t>A: Would it help to prepare one point before each meeting?</a:t>
            </a:r>
          </a:p>
          <a:p>
            <a:r>
              <a:t>B: Yes, I’ll try that.</a:t>
            </a:r>
          </a:p>
          <a:p>
            <a:r>
              <a:t>A: Good. Let’s check in next month.</a:t>
            </a:r>
          </a:p>
          <a:p>
            <a:r>
              <a:t>B: I’ll take it on board and stop taking it personally.</a:t>
            </a:r>
          </a:p>
        </p:txBody>
      </p:sp>
      <p:sp>
        <p:nvSpPr>
          <p:cNvPr id="4" name="Slide Number Placeholder 3"/>
          <p:cNvSpPr>
            <a:spLocks noGrp="1"/>
          </p:cNvSpPr>
          <p:nvPr>
            <p:ph type="sldNum" idx="5" sz="quarter"/>
          </p:nvPr>
        </p:nvSpPr>
        <p:spPr/>
      </p:sp>
    </p:spTree>
  </p:cSld>
  <p:clrMapOvr>
    <a:masterClrMapping/>
  </p:clrMapOvr>
</p:notes>
</file>

<file path=ppt/notesSlides/notesSlide1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学员两人一组，按角色卡即兴对话 3 分钟（不看范文）。完成后挑战进阶版任务，挑战成功 +2。</a:t>
            </a:r>
          </a:p>
          <a:p>
            <a:r>
              <a:t>Role card 10 | </a:t>
            </a:r>
          </a:p>
          <a:p>
            <a:r>
              <a:t>Situation | You react well to feedback.</a:t>
            </a:r>
          </a:p>
          <a:p>
            <a:r>
              <a:t>Your role (A) | Manager giving feedback: ______________</a:t>
            </a:r>
          </a:p>
          <a:p>
            <a:r>
              <a:t>Partner’s role (B) | Employee.</a:t>
            </a:r>
          </a:p>
          <a:p>
            <a:r>
              <a:t>Must use (3 or more) | That’s fair · I didn’t realise · candid · take it on board · stop taking it personally</a:t>
            </a:r>
          </a:p>
          <a:p>
            <a:r>
              <a:t>Goal | Accept criticism calmly and propose a change.</a:t>
            </a:r>
          </a:p>
          <a:p>
            <a:r>
              <a:t>My notes | ____________________________________________</a:t>
            </a:r>
          </a:p>
          <a:p>
            <a:r>
              <a:t>Ask for an example.</a:t>
            </a:r>
          </a:p>
          <a:p>
            <a:r>
              <a:t>Disagree politely with one point.</a:t>
            </a:r>
          </a:p>
          <a:p>
            <a:r>
              <a:t>Thank them for being honest.</a:t>
            </a:r>
          </a:p>
        </p:txBody>
      </p:sp>
      <p:sp>
        <p:nvSpPr>
          <p:cNvPr id="4" name="Slide Number Placeholder 3"/>
          <p:cNvSpPr>
            <a:spLocks noGrp="1"/>
          </p:cNvSpPr>
          <p:nvPr>
            <p:ph type="sldNum" idx="5" sz="quarter"/>
          </p:nvPr>
        </p:nvSpPr>
        <p:spPr/>
      </p:sp>
    </p:spTree>
  </p:cSld>
  <p:clrMapOvr>
    <a:masterClrMapping/>
  </p:clrMapOvr>
</p:notes>
</file>

<file path=ppt/notesSlides/notesSlide1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小组讨论：每组抽 1–2 题，准备 2 分钟后派代表发言，鼓励使用 Starters 里的句型。</a:t>
            </a:r>
          </a:p>
          <a:p>
            <a:r>
              <a:t>1. Which career myth do you hear most? | “I often hear that… but…”</a:t>
            </a:r>
          </a:p>
          <a:p>
            <a:r>
              <a:t>2. Why do people resist feedback? | “Because they feel… / They worry that…”</a:t>
            </a:r>
          </a:p>
          <a:p>
            <a:r>
              <a:t>3. Is it ever good to stay in one company for a long time? | “Yes, if… / It depends on…”</a:t>
            </a:r>
          </a:p>
          <a:p>
            <a:r>
              <a:t>4. How can you tell that your career has stalled? | “Signs include… / When you…”</a:t>
            </a:r>
          </a:p>
          <a:p>
            <a:r>
              <a:t>5. What would you tell your younger self? | “I’d tell myself to…”</a:t>
            </a:r>
          </a:p>
        </p:txBody>
      </p:sp>
      <p:sp>
        <p:nvSpPr>
          <p:cNvPr id="4" name="Slide Number Placeholder 3"/>
          <p:cNvSpPr>
            <a:spLocks noGrp="1"/>
          </p:cNvSpPr>
          <p:nvPr>
            <p:ph type="sldNum" idx="5" sz="quarter"/>
          </p:nvPr>
        </p:nvSpPr>
        <p:spPr/>
      </p:sp>
    </p:spTree>
  </p:cSld>
  <p:clrMapOvr>
    <a:masterClrMapping/>
  </p:clrMapOvr>
</p:notes>
</file>

<file path=ppt/notesSlides/notesSlide1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范例回答：先请学员自己回答，再展示范例，标出可以借用的句型。</a:t>
            </a:r>
          </a:p>
          <a:p>
            <a:r>
              <a:t>“I think people resist feedback because they feel it’s about them, not their work. Criticism can feel like an attack on identity. They may also worry about losing face. A good manager starts with something positive, is specific, and focuses on behaviour. For example,”In meetings you sometimes stay quiet,” not “You’re shy.””</a:t>
            </a:r>
          </a:p>
          <a:p>
            <a:r>
              <a:t>“lose face” 丢面子;“focus on behaviour” 聚焦行为。</a:t>
            </a:r>
          </a:p>
        </p:txBody>
      </p:sp>
      <p:sp>
        <p:nvSpPr>
          <p:cNvPr id="4" name="Slide Number Placeholder 3"/>
          <p:cNvSpPr>
            <a:spLocks noGrp="1"/>
          </p:cNvSpPr>
          <p:nvPr>
            <p:ph type="sldNum" idx="5" sz="quarter"/>
          </p:nvPr>
        </p:nvSpPr>
        <p:spPr/>
      </p:sp>
    </p:spTree>
  </p:cSld>
  <p:clrMapOvr>
    <a:masterClrMapping/>
  </p:clrMapOvr>
</p:notes>
</file>

<file path=ppt/notesSlides/notesSlide1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Giving and receiving feedback 给予与接受反馈</a:t>
            </a:r>
          </a:p>
          <a:p>
            <a:r>
              <a:t>Giving | Receiving</a:t>
            </a:r>
          </a:p>
          <a:p>
            <a:r>
              <a:t>Can I give you some feedback? | I’d welcome it. / Sure.</a:t>
            </a:r>
          </a:p>
          <a:p>
            <a:r>
              <a:t>One thing that worked well was… | Thanks. That’s helpful.</a:t>
            </a:r>
          </a:p>
          <a:p>
            <a:r>
              <a:t>One thing you could improve is… | That’s fair. Could you give an example?</a:t>
            </a:r>
          </a:p>
          <a:p>
            <a:r>
              <a:t>A better approach might be… | I’ll take that on board.</a:t>
            </a:r>
          </a:p>
          <a:p/>
        </p:txBody>
      </p:sp>
      <p:sp>
        <p:nvSpPr>
          <p:cNvPr id="4" name="Slide Number Placeholder 3"/>
          <p:cNvSpPr>
            <a:spLocks noGrp="1"/>
          </p:cNvSpPr>
          <p:nvPr>
            <p:ph type="sldNum" idx="5" sz="quarter"/>
          </p:nvPr>
        </p:nvSpPr>
        <p:spPr/>
      </p:sp>
    </p:spTree>
  </p:cSld>
  <p:clrMapOvr>
    <a:masterClrMapping/>
  </p:clrMapOvr>
</p:notes>
</file>

<file path=ppt/notesSlides/notesSlide1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Giving and receiving feedback 给予与接受反馈</a:t>
            </a:r>
          </a:p>
          <a:p>
            <a:r>
              <a:t>Use “could” and “might” to suggest, not command: You could try… / A better approach might be…</a:t>
            </a:r>
          </a:p>
          <a:p/>
        </p:txBody>
      </p:sp>
      <p:sp>
        <p:nvSpPr>
          <p:cNvPr id="4" name="Slide Number Placeholder 3"/>
          <p:cNvSpPr>
            <a:spLocks noGrp="1"/>
          </p:cNvSpPr>
          <p:nvPr>
            <p:ph type="sldNum" idx="5" sz="quarter"/>
          </p:nvPr>
        </p:nvSpPr>
        <p:spPr/>
      </p:sp>
    </p:spTree>
  </p:cSld>
  <p:clrMapOvr>
    <a:masterClrMapping/>
  </p:clrMapOvr>
</p:notes>
</file>

<file path=ppt/notesSlides/notesSlide1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He gave me many feedbacks.  →  ✓ He gave me a lot of feedback.  (feedback 不可数)</a:t>
            </a:r>
          </a:p>
          <a:p>
            <a:r>
              <a:t>✗ She is too much complacent.  →  ✓ She is too complacent.  (too + 形容词)</a:t>
            </a:r>
          </a:p>
          <a:p>
            <a:r>
              <a:t>✗ I suggest you to share more.  →  ✓ I suggest you share more. / suggest that you share.  (suggest 句型)</a:t>
            </a:r>
          </a:p>
          <a:p>
            <a:r>
              <a:t>Mistake Watch: Check uncountable feedback / advice, suggest that, depend on, agree with.</a:t>
            </a:r>
          </a:p>
        </p:txBody>
      </p:sp>
      <p:sp>
        <p:nvSpPr>
          <p:cNvPr id="4" name="Slide Number Placeholder 3"/>
          <p:cNvSpPr>
            <a:spLocks noGrp="1"/>
          </p:cNvSpPr>
          <p:nvPr>
            <p:ph type="sldNum" idx="5" sz="quarter"/>
          </p:nvPr>
        </p:nvSpPr>
        <p:spPr/>
      </p:sp>
    </p:spTree>
  </p:cSld>
  <p:clrMapOvr>
    <a:masterClrMapping/>
  </p:clrMapOvr>
</p:notes>
</file>

<file path=ppt/notesSlides/notesSlide1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I’m shy to speak up.  →  ✓ I’m shy about speaking up.  (shy about -ing)</a:t>
            </a:r>
          </a:p>
          <a:p>
            <a:r>
              <a:t>✗ It’s depends on the company.  →  ✓ It depends on the company.  (depend 动词)</a:t>
            </a:r>
          </a:p>
          <a:p>
            <a:r>
              <a:t>✗ I don’t agree your opinion.  →  ✓ I don’t agree with your opinion.  (agree with)</a:t>
            </a:r>
          </a:p>
          <a:p>
            <a:r>
              <a:t>Mistake Watch: Check uncountable feedback / advice, suggest that, depend on, agree with.</a:t>
            </a:r>
          </a:p>
        </p:txBody>
      </p:sp>
      <p:sp>
        <p:nvSpPr>
          <p:cNvPr id="4" name="Slide Number Placeholder 3"/>
          <p:cNvSpPr>
            <a:spLocks noGrp="1"/>
          </p:cNvSpPr>
          <p:nvPr>
            <p:ph type="sldNum" idx="5" sz="quarter"/>
          </p:nvPr>
        </p:nvSpPr>
        <p:spPr/>
      </p:sp>
    </p:spTree>
  </p:cSld>
  <p:clrMapOvr>
    <a:masterClrMapping/>
  </p:clrMapOvr>
</p:notes>
</file>

<file path=ppt/notesSlides/notesSlide1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Cultural tips 文化小贴士</a:t>
            </a:r>
          </a:p>
          <a:p>
            <a:r>
              <a:t>Feedback is a gift. In many Western workplaces, regular feedback is normal and expected.</a:t>
            </a:r>
          </a:p>
          <a:p>
            <a:r>
              <a:t>Sandwich method. Positive, improvement, positive. It softens criticism.</a:t>
            </a:r>
          </a:p>
          <a:p>
            <a:r>
              <a:t>Visibility matters. Politely sharing success is not boasting.</a:t>
            </a:r>
          </a:p>
          <a:p>
            <a:r>
              <a:t>Leave well. Say thanks, keep contact, don’t burn bridges.</a:t>
            </a:r>
          </a:p>
          <a:p/>
        </p:txBody>
      </p:sp>
      <p:sp>
        <p:nvSpPr>
          <p:cNvPr id="4" name="Slide Number Placeholder 3"/>
          <p:cNvSpPr>
            <a:spLocks noGrp="1"/>
          </p:cNvSpPr>
          <p:nvPr>
            <p:ph type="sldNum" idx="5" sz="quarter"/>
          </p:nvPr>
        </p:nvSpPr>
        <p:spPr/>
      </p:sp>
    </p:spTree>
  </p:cSld>
  <p:clrMapOvr>
    <a:masterClrMapping/>
  </p:clrMapOvr>
</p:notes>
</file>

<file path=ppt/notesSlides/notesSlide1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课堂小结：请学员对每一条自评 1–3 星，选一条“还没做到”的作为课后练习目标。</a:t>
            </a:r>
          </a:p>
          <a:p>
            <a:r>
              <a:t>I can name common career mistakes and myths.</a:t>
            </a:r>
          </a:p>
          <a:p>
            <a:r>
              <a:t>I can give feedback tactfully.</a:t>
            </a:r>
          </a:p>
          <a:p>
            <a:r>
              <a:t>I can accept feedback with I’ll take it on board.</a:t>
            </a:r>
          </a:p>
          <a:p>
            <a:r>
              <a:t>I use feedback / advice as uncountable nouns.</a:t>
            </a:r>
          </a:p>
          <a:p>
            <a:r>
              <a:t>I can use at least three ★ expressions from this lesson in my own sentences.</a:t>
            </a:r>
          </a:p>
        </p:txBody>
      </p:sp>
      <p:sp>
        <p:nvSpPr>
          <p:cNvPr id="4" name="Slide Number Placeholder 3"/>
          <p:cNvSpPr>
            <a:spLocks noGrp="1"/>
          </p:cNvSpPr>
          <p:nvPr>
            <p:ph type="sldNum" idx="5" sz="quarter"/>
          </p:nvPr>
        </p:nvSpPr>
        <p:spPr/>
      </p:sp>
    </p:spTree>
  </p:cSld>
  <p:clrMapOvr>
    <a:masterClrMapping/>
  </p:clrMapOvr>
</p:notes>
</file>

<file path=ppt/notesSlides/notesSlide1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布置课后练习：每天 10 分钟，按下表完成，下节课开头抽查。</a:t>
            </a:r>
          </a:p>
          <a:p>
            <a:r>
              <a:t>Minutes | Activity</a:t>
            </a:r>
          </a:p>
          <a:p>
            <a:r>
              <a:t>0–2 | Read the 15 expressions aloud. Cover the English and say it from the Chinese. Pick 3 ★ items and make one true sentence with each.</a:t>
            </a:r>
          </a:p>
          <a:p>
            <a:r>
              <a:t>2–4 | Shadow the model dialogue: read it with the same rhythm and intonation.</a:t>
            </a:r>
          </a:p>
          <a:p>
            <a:r>
              <a:t>4–8 | Give a colleague (or yourself) three sentences of feedback. Say them aloud.</a:t>
            </a:r>
          </a:p>
          <a:p>
            <a:r>
              <a:t>8–10 | Listen to your recording. Check: feedback uncountable, suggest that, depend on, agree with. Write 3 corrections and record again.</a:t>
            </a:r>
          </a:p>
          <a:p>
            <a:r>
              <a:t>Weekly rhythm: Mon–Tue Scenario 1 · Wed–Thu Scenario 2 · Fri Level-up variation · Weekend: do the Reading / Listening focus again without looking, then record the 1-minute speaking prompt and compare with Monday.</a:t>
            </a:r>
          </a:p>
        </p:txBody>
      </p:sp>
      <p:sp>
        <p:nvSpPr>
          <p:cNvPr id="4" name="Slide Number Placeholder 3"/>
          <p:cNvSpPr>
            <a:spLocks noGrp="1"/>
          </p:cNvSpPr>
          <p:nvPr>
            <p:ph type="sldNum" idx="5" sz="quarter"/>
          </p:nvPr>
        </p:nvSpPr>
        <p:spPr/>
      </p:sp>
    </p:spTree>
  </p:cSld>
  <p:clrMapOvr>
    <a:masterClrMapping/>
  </p:clrMapOvr>
</p:notes>
</file>

<file path=ppt/notesSlides/notesSlide1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单元复习游戏：各组轮流选数字，点击进入挑战页，完成挑战得分；盒子里有奖励、炸弹和偷分卡。</a:t>
            </a:r>
          </a:p>
          <a:p>
            <a:r>
              <a:t>挑战页右下角 ↩ Back 返回本页。挑战页为隐藏幻灯片，正常翻页不会出现。</a:t>
            </a:r>
          </a:p>
        </p:txBody>
      </p:sp>
      <p:sp>
        <p:nvSpPr>
          <p:cNvPr id="4" name="Slide Number Placeholder 3"/>
          <p:cNvSpPr>
            <a:spLocks noGrp="1"/>
          </p:cNvSpPr>
          <p:nvPr>
            <p:ph type="sldNum" idx="5" sz="quarter"/>
          </p:nvPr>
        </p:nvSpPr>
        <p:spPr/>
      </p:sp>
    </p:spTree>
  </p:cSld>
  <p:clrMapOvr>
    <a:masterClrMapping/>
  </p:clrMapOvr>
</p:notes>
</file>

<file path=ppt/notesSlides/notesSlide1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单元终极挑战：每题限时 10 秒抢答，答对 +1。点一次出题，再点一次出答案。</a:t>
            </a:r>
          </a:p>
          <a:p>
            <a:r>
              <a:t>“导致” in English? → lead to</a:t>
            </a:r>
          </a:p>
          <a:p>
            <a:r>
              <a:t>“额外努力” in English? → go the extra mile</a:t>
            </a:r>
          </a:p>
          <a:p>
            <a:r>
              <a:t>“重新开始” in English? → fresh start</a:t>
            </a:r>
          </a:p>
          <a:p>
            <a:r>
              <a:t>Fix it: It can lead to the unfair. → It can lead to unfairness. / unfair outcomes.</a:t>
            </a:r>
          </a:p>
          <a:p>
            <a:r>
              <a:t>Fix it: She is too much complacent. → She is too complacent.</a:t>
            </a:r>
          </a:p>
        </p:txBody>
      </p:sp>
      <p:sp>
        <p:nvSpPr>
          <p:cNvPr id="4" name="Slide Number Placeholder 3"/>
          <p:cNvSpPr>
            <a:spLocks noGrp="1"/>
          </p:cNvSpPr>
          <p:nvPr>
            <p:ph type="sldNum" idx="5" sz="quarter"/>
          </p:nvPr>
        </p:nvSpPr>
        <p:spPr/>
      </p:sp>
    </p:spTree>
  </p:cSld>
  <p:clrMapOvr>
    <a:masterClrMapping/>
  </p:clrMapOvr>
</p:notes>
</file>

<file path=ppt/notesSlides/notesSlide1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统计各组得分，宣布冠军组，全班鼓掌！</a:t>
            </a:r>
          </a:p>
        </p:txBody>
      </p:sp>
      <p:sp>
        <p:nvSpPr>
          <p:cNvPr id="4" name="Slide Number Placeholder 3"/>
          <p:cNvSpPr>
            <a:spLocks noGrp="1"/>
          </p:cNvSpPr>
          <p:nvPr>
            <p:ph type="sldNum" idx="5" sz="quarter"/>
          </p:nvPr>
        </p:nvSpPr>
        <p:spPr/>
      </p:sp>
    </p:spTree>
  </p:cSld>
  <p:clrMapOvr>
    <a:masterClrMapping/>
  </p:clrMapOvr>
</p:notes>
</file>

<file path=ppt/notesSlides/notesSlide1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结束：提醒学员完成每日 10 分钟练习，下节课开头抽查。</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slide" Target="slide4.xml"/><Relationship Id="rId4" Type="http://schemas.openxmlformats.org/officeDocument/2006/relationships/slide" Target="slide31.xml"/><Relationship Id="rId5" Type="http://schemas.openxmlformats.org/officeDocument/2006/relationships/slide" Target="slide56.xml"/><Relationship Id="rId6" Type="http://schemas.openxmlformats.org/officeDocument/2006/relationships/slide" Target="slide83.xml"/><Relationship Id="rId7" Type="http://schemas.openxmlformats.org/officeDocument/2006/relationships/slide" Target="slide110.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08.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09.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10.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1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1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13.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14.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15.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16.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1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18.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19.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20.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21.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2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23.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24.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25.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26.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2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28.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29.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30.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31.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3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33.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34.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35.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36.xml"/><Relationship Id="rId4" Type="http://schemas.openxmlformats.org/officeDocument/2006/relationships/slide" Target="slide137.xml"/><Relationship Id="rId5" Type="http://schemas.openxmlformats.org/officeDocument/2006/relationships/slide" Target="slide138.xml"/><Relationship Id="rId6" Type="http://schemas.openxmlformats.org/officeDocument/2006/relationships/slide" Target="slide139.xml"/><Relationship Id="rId7" Type="http://schemas.openxmlformats.org/officeDocument/2006/relationships/slide" Target="slide140.xml"/><Relationship Id="rId8" Type="http://schemas.openxmlformats.org/officeDocument/2006/relationships/slide" Target="slide141.xml"/><Relationship Id="rId9" Type="http://schemas.openxmlformats.org/officeDocument/2006/relationships/slide" Target="slide142.xml"/><Relationship Id="rId10" Type="http://schemas.openxmlformats.org/officeDocument/2006/relationships/slide" Target="slide143.xml"/><Relationship Id="rId11" Type="http://schemas.openxmlformats.org/officeDocument/2006/relationships/slide" Target="slide144.xml"/><Relationship Id="rId12" Type="http://schemas.openxmlformats.org/officeDocument/2006/relationships/slide" Target="slide145.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36.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36.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36.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36.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36.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36.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36.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36.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36.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37.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38.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39.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F2A44"/>
        </a:solidFill>
        <a:effectLst/>
      </p:bgPr>
    </p:bg>
    <p:spTree>
      <p:nvGrpSpPr>
        <p:cNvPr id="1" name=""/>
        <p:cNvGrpSpPr/>
        <p:nvPr/>
      </p:nvGrpSpPr>
      <p:grpSpPr/>
      <p:sp>
        <p:nvSpPr>
          <p:cNvPr id="2" name="TextBox 1"/>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FFC857"/>
                </a:solidFill>
                <a:latin typeface="Arial"/>
                <a:ea typeface="Microsoft YaHei"/>
              </a:rPr>
              <a:t>Business English · Level 7–8 · Unit 7</a:t>
            </a:r>
          </a:p>
        </p:txBody>
      </p:sp>
      <p:sp>
        <p:nvSpPr>
          <p:cNvPr id="3" name="TextBox 2"/>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FFC857"/>
                </a:solidFill>
                <a:latin typeface="Arial"/>
                <a:ea typeface="Microsoft YaHei"/>
              </a:rPr>
              <a:t>1</a:t>
            </a:r>
          </a:p>
        </p:txBody>
      </p:sp>
      <p:sp>
        <p:nvSpPr>
          <p:cNvPr id="4" name="Oval 3"/>
          <p:cNvSpPr/>
          <p:nvPr/>
        </p:nvSpPr>
        <p:spPr>
          <a:xfrm>
            <a:off x="9692640" y="457200"/>
            <a:ext cx="2011680" cy="201168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10698480" y="2286000"/>
            <a:ext cx="1097280" cy="109728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9052560" y="4480560"/>
            <a:ext cx="1463040" cy="146304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92640" y="457200"/>
            <a:ext cx="2011680" cy="2011680"/>
          </a:xfrm>
          <a:prstGeom prst="rect">
            <a:avLst/>
          </a:prstGeom>
          <a:noFill/>
        </p:spPr>
        <p:txBody>
          <a:bodyPr wrap="square" anchor="ctr">
            <a:spAutoFit/>
          </a:bodyPr>
          <a:lstStyle/>
          <a:p>
            <a:pPr algn="ctr">
              <a:lnSpc>
                <a:spcPct val="115000"/>
              </a:lnSpc>
              <a:spcAft>
                <a:spcPts val="800"/>
              </a:spcAft>
            </a:pPr>
            <a:r>
              <a:rPr sz="8000" b="0">
                <a:solidFill>
                  <a:srgbClr val="1F2A44"/>
                </a:solidFill>
                <a:latin typeface="Arial"/>
                <a:ea typeface="Microsoft YaHei"/>
              </a:rPr>
              <a:t>💼</a:t>
            </a:r>
          </a:p>
        </p:txBody>
      </p:sp>
      <p:sp>
        <p:nvSpPr>
          <p:cNvPr id="8" name="TextBox 7"/>
          <p:cNvSpPr txBox="1"/>
          <p:nvPr/>
        </p:nvSpPr>
        <p:spPr>
          <a:xfrm>
            <a:off x="822960" y="1188720"/>
            <a:ext cx="8229600" cy="457200"/>
          </a:xfrm>
          <a:prstGeom prst="rect">
            <a:avLst/>
          </a:prstGeom>
          <a:noFill/>
        </p:spPr>
        <p:txBody>
          <a:bodyPr wrap="square" anchor="t">
            <a:spAutoFit/>
          </a:bodyPr>
          <a:lstStyle/>
          <a:p>
            <a:pPr algn="l">
              <a:lnSpc>
                <a:spcPct val="115000"/>
              </a:lnSpc>
              <a:spcAft>
                <a:spcPts val="800"/>
              </a:spcAft>
            </a:pPr>
            <a:r>
              <a:rPr sz="2000" b="1">
                <a:solidFill>
                  <a:srgbClr val="FFC857"/>
                </a:solidFill>
                <a:latin typeface="Arial"/>
                <a:ea typeface="Microsoft YaHei"/>
              </a:rPr>
              <a:t>BUSINESS ENGLISH · LEVEL 7–8 · UNIT 7</a:t>
            </a:r>
          </a:p>
        </p:txBody>
      </p:sp>
      <p:sp>
        <p:nvSpPr>
          <p:cNvPr id="9" name="TextBox 8"/>
          <p:cNvSpPr txBox="1"/>
          <p:nvPr/>
        </p:nvSpPr>
        <p:spPr>
          <a:xfrm>
            <a:off x="822960" y="1691640"/>
            <a:ext cx="8046720" cy="1737360"/>
          </a:xfrm>
          <a:prstGeom prst="rect">
            <a:avLst/>
          </a:prstGeom>
          <a:noFill/>
        </p:spPr>
        <p:txBody>
          <a:bodyPr wrap="square" anchor="ctr">
            <a:spAutoFit/>
          </a:bodyPr>
          <a:lstStyle/>
          <a:p>
            <a:pPr algn="l">
              <a:lnSpc>
                <a:spcPct val="115000"/>
              </a:lnSpc>
              <a:spcAft>
                <a:spcPts val="800"/>
              </a:spcAft>
            </a:pPr>
            <a:r>
              <a:rPr sz="6000" b="1">
                <a:solidFill>
                  <a:srgbClr val="FFFFFF"/>
                </a:solidFill>
                <a:latin typeface="Arial"/>
                <a:ea typeface="Microsoft YaHei"/>
              </a:rPr>
              <a:t>Career Choices</a:t>
            </a:r>
          </a:p>
        </p:txBody>
      </p:sp>
      <p:sp>
        <p:nvSpPr>
          <p:cNvPr id="10" name="Rounded Rectangle 9"/>
          <p:cNvSpPr/>
          <p:nvPr/>
        </p:nvSpPr>
        <p:spPr>
          <a:xfrm>
            <a:off x="822960" y="3657600"/>
            <a:ext cx="1645920" cy="50292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CEFR B1→B2</a:t>
            </a:r>
          </a:p>
        </p:txBody>
      </p:sp>
      <p:sp>
        <p:nvSpPr>
          <p:cNvPr id="11" name="Rounded Rectangle 10"/>
          <p:cNvSpPr/>
          <p:nvPr/>
        </p:nvSpPr>
        <p:spPr>
          <a:xfrm>
            <a:off x="2606040" y="3657600"/>
            <a:ext cx="1527048" cy="50292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5 Lessons</a:t>
            </a:r>
          </a:p>
        </p:txBody>
      </p:sp>
      <p:sp>
        <p:nvSpPr>
          <p:cNvPr id="12" name="Rounded Rectangle 11"/>
          <p:cNvSpPr/>
          <p:nvPr/>
        </p:nvSpPr>
        <p:spPr>
          <a:xfrm>
            <a:off x="4270248" y="3657600"/>
            <a:ext cx="1408176" cy="50292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同桌英语</a:t>
            </a:r>
          </a:p>
        </p:txBody>
      </p:sp>
      <p:sp>
        <p:nvSpPr>
          <p:cNvPr id="13" name="TextBox 12"/>
          <p:cNvSpPr txBox="1"/>
          <p:nvPr/>
        </p:nvSpPr>
        <p:spPr>
          <a:xfrm>
            <a:off x="822960" y="4434840"/>
            <a:ext cx="8229600" cy="1463040"/>
          </a:xfrm>
          <a:prstGeom prst="rect">
            <a:avLst/>
          </a:prstGeom>
          <a:noFill/>
        </p:spPr>
        <p:txBody>
          <a:bodyPr wrap="square" anchor="t">
            <a:spAutoFit/>
          </a:bodyPr>
          <a:lstStyle/>
          <a:p>
            <a:pPr algn="l">
              <a:lnSpc>
                <a:spcPct val="115000"/>
              </a:lnSpc>
              <a:spcAft>
                <a:spcPts val="800"/>
              </a:spcAft>
            </a:pPr>
            <a:r>
              <a:rPr sz="1600" b="0">
                <a:solidFill>
                  <a:srgbClr val="FFFFFF"/>
                </a:solidFill>
                <a:latin typeface="Arial"/>
                <a:ea typeface="Microsoft YaHei"/>
              </a:rPr>
              <a:t>L32 Career choice · L33 Finding fulfilling work · L34 How unconscious bias affects hiring · L35 How to relaunch your career · L36 Fail to have a great career</a:t>
            </a:r>
          </a:p>
        </p:txBody>
      </p:sp>
    </p:spTree>
  </p:cSld>
  <p:clrMapOvr>
    <a:masterClrMapping/>
  </p:clrMapOvr>
  <p:transition spd="med">
    <p:fade/>
  </p:transition>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Team Challenge 小组积分赛</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Game rules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7</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a:t>
            </a:r>
          </a:p>
        </p:txBody>
      </p:sp>
      <p:sp>
        <p:nvSpPr>
          <p:cNvPr id="7" name="TextBox 6"/>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Speak up, answer fast, role-play well — every point counts.  积极发言、快速答题、精彩演绎都能得分</a:t>
            </a:r>
          </a:p>
        </p:txBody>
      </p:sp>
      <p:sp>
        <p:nvSpPr>
          <p:cNvPr id="8" name="Rounded Rectangle 7"/>
          <p:cNvSpPr/>
          <p:nvPr/>
        </p:nvSpPr>
        <p:spPr>
          <a:xfrm>
            <a:off x="548640" y="1691640"/>
            <a:ext cx="2606040" cy="2834640"/>
          </a:xfrm>
          <a:prstGeom prst="roundRect">
            <a:avLst>
              <a:gd name="adj" fmla="val 6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548640" y="1691640"/>
            <a:ext cx="2606040" cy="777240"/>
          </a:xfrm>
          <a:prstGeom prst="roundRect">
            <a:avLst>
              <a:gd name="adj" fmla="val 15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200" b="1">
                <a:solidFill>
                  <a:srgbClr val="FFFFFF"/>
                </a:solidFill>
                <a:latin typeface="Arial"/>
                <a:ea typeface="Microsoft YaHei"/>
              </a:rPr>
              <a:t>🦅 Team Alpha</a:t>
            </a:r>
          </a:p>
        </p:txBody>
      </p:sp>
      <p:sp>
        <p:nvSpPr>
          <p:cNvPr id="10" name="TextBox 9"/>
          <p:cNvSpPr txBox="1"/>
          <p:nvPr/>
        </p:nvSpPr>
        <p:spPr>
          <a:xfrm>
            <a:off x="548640" y="2697480"/>
            <a:ext cx="2606040" cy="822960"/>
          </a:xfrm>
          <a:prstGeom prst="rect">
            <a:avLst/>
          </a:prstGeom>
          <a:noFill/>
        </p:spPr>
        <p:txBody>
          <a:bodyPr wrap="square" anchor="t">
            <a:spAutoFit/>
          </a:bodyPr>
          <a:lstStyle/>
          <a:p>
            <a:pPr algn="ctr">
              <a:lnSpc>
                <a:spcPct val="115000"/>
              </a:lnSpc>
              <a:spcAft>
                <a:spcPts val="800"/>
              </a:spcAft>
            </a:pPr>
            <a:r>
              <a:rPr sz="2800" b="0">
                <a:solidFill>
                  <a:srgbClr val="FFC857"/>
                </a:solidFill>
                <a:latin typeface="Arial"/>
                <a:ea typeface="Microsoft YaHei"/>
              </a:rPr>
              <a:t>☆ ☆ ☆ ☆ ☆</a:t>
            </a:r>
          </a:p>
        </p:txBody>
      </p:sp>
      <p:sp>
        <p:nvSpPr>
          <p:cNvPr id="11" name="TextBox 10"/>
          <p:cNvSpPr txBox="1"/>
          <p:nvPr/>
        </p:nvSpPr>
        <p:spPr>
          <a:xfrm>
            <a:off x="548640" y="3611880"/>
            <a:ext cx="2606040" cy="640080"/>
          </a:xfrm>
          <a:prstGeom prst="rect">
            <a:avLst/>
          </a:prstGeom>
          <a:noFill/>
        </p:spPr>
        <p:txBody>
          <a:bodyPr wrap="square" anchor="t">
            <a:spAutoFit/>
          </a:bodyPr>
          <a:lstStyle/>
          <a:p>
            <a:pPr algn="ctr">
              <a:lnSpc>
                <a:spcPct val="115000"/>
              </a:lnSpc>
              <a:spcAft>
                <a:spcPts val="800"/>
              </a:spcAft>
            </a:pPr>
            <a:r>
              <a:rPr sz="2000" b="0">
                <a:solidFill>
                  <a:srgbClr val="5F677A"/>
                </a:solidFill>
                <a:latin typeface="Arial"/>
                <a:ea typeface="Microsoft YaHei"/>
              </a:rPr>
              <a:t>Score: ____</a:t>
            </a:r>
          </a:p>
        </p:txBody>
      </p:sp>
      <p:sp>
        <p:nvSpPr>
          <p:cNvPr id="12" name="Rounded Rectangle 11"/>
          <p:cNvSpPr/>
          <p:nvPr/>
        </p:nvSpPr>
        <p:spPr>
          <a:xfrm>
            <a:off x="3383280" y="1691640"/>
            <a:ext cx="2606040" cy="2834640"/>
          </a:xfrm>
          <a:prstGeom prst="roundRect">
            <a:avLst>
              <a:gd name="adj" fmla="val 6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3383280" y="1691640"/>
            <a:ext cx="2606040" cy="777240"/>
          </a:xfrm>
          <a:prstGeom prst="roundRect">
            <a:avLst>
              <a:gd name="adj" fmla="val 15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200" b="1">
                <a:solidFill>
                  <a:srgbClr val="FFFFFF"/>
                </a:solidFill>
                <a:latin typeface="Arial"/>
                <a:ea typeface="Microsoft YaHei"/>
              </a:rPr>
              <a:t>🐺 Team Bravo</a:t>
            </a:r>
          </a:p>
        </p:txBody>
      </p:sp>
      <p:sp>
        <p:nvSpPr>
          <p:cNvPr id="14" name="TextBox 13"/>
          <p:cNvSpPr txBox="1"/>
          <p:nvPr/>
        </p:nvSpPr>
        <p:spPr>
          <a:xfrm>
            <a:off x="3383280" y="2697480"/>
            <a:ext cx="2606040" cy="822960"/>
          </a:xfrm>
          <a:prstGeom prst="rect">
            <a:avLst/>
          </a:prstGeom>
          <a:noFill/>
        </p:spPr>
        <p:txBody>
          <a:bodyPr wrap="square" anchor="t">
            <a:spAutoFit/>
          </a:bodyPr>
          <a:lstStyle/>
          <a:p>
            <a:pPr algn="ctr">
              <a:lnSpc>
                <a:spcPct val="115000"/>
              </a:lnSpc>
              <a:spcAft>
                <a:spcPts val="800"/>
              </a:spcAft>
            </a:pPr>
            <a:r>
              <a:rPr sz="2800" b="0">
                <a:solidFill>
                  <a:srgbClr val="FFC857"/>
                </a:solidFill>
                <a:latin typeface="Arial"/>
                <a:ea typeface="Microsoft YaHei"/>
              </a:rPr>
              <a:t>☆ ☆ ☆ ☆ ☆</a:t>
            </a:r>
          </a:p>
        </p:txBody>
      </p:sp>
      <p:sp>
        <p:nvSpPr>
          <p:cNvPr id="15" name="TextBox 14"/>
          <p:cNvSpPr txBox="1"/>
          <p:nvPr/>
        </p:nvSpPr>
        <p:spPr>
          <a:xfrm>
            <a:off x="3383280" y="3611880"/>
            <a:ext cx="2606040" cy="640080"/>
          </a:xfrm>
          <a:prstGeom prst="rect">
            <a:avLst/>
          </a:prstGeom>
          <a:noFill/>
        </p:spPr>
        <p:txBody>
          <a:bodyPr wrap="square" anchor="t">
            <a:spAutoFit/>
          </a:bodyPr>
          <a:lstStyle/>
          <a:p>
            <a:pPr algn="ctr">
              <a:lnSpc>
                <a:spcPct val="115000"/>
              </a:lnSpc>
              <a:spcAft>
                <a:spcPts val="800"/>
              </a:spcAft>
            </a:pPr>
            <a:r>
              <a:rPr sz="2000" b="0">
                <a:solidFill>
                  <a:srgbClr val="5F677A"/>
                </a:solidFill>
                <a:latin typeface="Arial"/>
                <a:ea typeface="Microsoft YaHei"/>
              </a:rPr>
              <a:t>Score: ____</a:t>
            </a:r>
          </a:p>
        </p:txBody>
      </p:sp>
      <p:sp>
        <p:nvSpPr>
          <p:cNvPr id="16" name="Rounded Rectangle 15"/>
          <p:cNvSpPr/>
          <p:nvPr/>
        </p:nvSpPr>
        <p:spPr>
          <a:xfrm>
            <a:off x="6217920" y="1691640"/>
            <a:ext cx="2606040" cy="2834640"/>
          </a:xfrm>
          <a:prstGeom prst="roundRect">
            <a:avLst>
              <a:gd name="adj" fmla="val 6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217920" y="1691640"/>
            <a:ext cx="2606040" cy="777240"/>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200" b="1">
                <a:solidFill>
                  <a:srgbClr val="FFFFFF"/>
                </a:solidFill>
                <a:latin typeface="Arial"/>
                <a:ea typeface="Microsoft YaHei"/>
              </a:rPr>
              <a:t>🦁 Team Charlie</a:t>
            </a:r>
          </a:p>
        </p:txBody>
      </p:sp>
      <p:sp>
        <p:nvSpPr>
          <p:cNvPr id="18" name="TextBox 17"/>
          <p:cNvSpPr txBox="1"/>
          <p:nvPr/>
        </p:nvSpPr>
        <p:spPr>
          <a:xfrm>
            <a:off x="6217920" y="2697480"/>
            <a:ext cx="2606040" cy="822960"/>
          </a:xfrm>
          <a:prstGeom prst="rect">
            <a:avLst/>
          </a:prstGeom>
          <a:noFill/>
        </p:spPr>
        <p:txBody>
          <a:bodyPr wrap="square" anchor="t">
            <a:spAutoFit/>
          </a:bodyPr>
          <a:lstStyle/>
          <a:p>
            <a:pPr algn="ctr">
              <a:lnSpc>
                <a:spcPct val="115000"/>
              </a:lnSpc>
              <a:spcAft>
                <a:spcPts val="800"/>
              </a:spcAft>
            </a:pPr>
            <a:r>
              <a:rPr sz="2800" b="0">
                <a:solidFill>
                  <a:srgbClr val="FFC857"/>
                </a:solidFill>
                <a:latin typeface="Arial"/>
                <a:ea typeface="Microsoft YaHei"/>
              </a:rPr>
              <a:t>☆ ☆ ☆ ☆ ☆</a:t>
            </a:r>
          </a:p>
        </p:txBody>
      </p:sp>
      <p:sp>
        <p:nvSpPr>
          <p:cNvPr id="19" name="TextBox 18"/>
          <p:cNvSpPr txBox="1"/>
          <p:nvPr/>
        </p:nvSpPr>
        <p:spPr>
          <a:xfrm>
            <a:off x="6217920" y="3611880"/>
            <a:ext cx="2606040" cy="640080"/>
          </a:xfrm>
          <a:prstGeom prst="rect">
            <a:avLst/>
          </a:prstGeom>
          <a:noFill/>
        </p:spPr>
        <p:txBody>
          <a:bodyPr wrap="square" anchor="t">
            <a:spAutoFit/>
          </a:bodyPr>
          <a:lstStyle/>
          <a:p>
            <a:pPr algn="ctr">
              <a:lnSpc>
                <a:spcPct val="115000"/>
              </a:lnSpc>
              <a:spcAft>
                <a:spcPts val="800"/>
              </a:spcAft>
            </a:pPr>
            <a:r>
              <a:rPr sz="2000" b="0">
                <a:solidFill>
                  <a:srgbClr val="5F677A"/>
                </a:solidFill>
                <a:latin typeface="Arial"/>
                <a:ea typeface="Microsoft YaHei"/>
              </a:rPr>
              <a:t>Score: ____</a:t>
            </a:r>
          </a:p>
        </p:txBody>
      </p:sp>
      <p:sp>
        <p:nvSpPr>
          <p:cNvPr id="20" name="Rounded Rectangle 19"/>
          <p:cNvSpPr/>
          <p:nvPr/>
        </p:nvSpPr>
        <p:spPr>
          <a:xfrm>
            <a:off x="9052560" y="1691640"/>
            <a:ext cx="2606040" cy="2834640"/>
          </a:xfrm>
          <a:prstGeom prst="roundRect">
            <a:avLst>
              <a:gd name="adj" fmla="val 6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9052560" y="1691640"/>
            <a:ext cx="2606040" cy="777240"/>
          </a:xfrm>
          <a:prstGeom prst="roundRect">
            <a:avLst>
              <a:gd name="adj" fmla="val 15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200" b="1">
                <a:solidFill>
                  <a:srgbClr val="FFFFFF"/>
                </a:solidFill>
                <a:latin typeface="Arial"/>
                <a:ea typeface="Microsoft YaHei"/>
              </a:rPr>
              <a:t>🐬 Team Delta</a:t>
            </a:r>
          </a:p>
        </p:txBody>
      </p:sp>
      <p:sp>
        <p:nvSpPr>
          <p:cNvPr id="22" name="TextBox 21"/>
          <p:cNvSpPr txBox="1"/>
          <p:nvPr/>
        </p:nvSpPr>
        <p:spPr>
          <a:xfrm>
            <a:off x="9052560" y="2697480"/>
            <a:ext cx="2606040" cy="822960"/>
          </a:xfrm>
          <a:prstGeom prst="rect">
            <a:avLst/>
          </a:prstGeom>
          <a:noFill/>
        </p:spPr>
        <p:txBody>
          <a:bodyPr wrap="square" anchor="t">
            <a:spAutoFit/>
          </a:bodyPr>
          <a:lstStyle/>
          <a:p>
            <a:pPr algn="ctr">
              <a:lnSpc>
                <a:spcPct val="115000"/>
              </a:lnSpc>
              <a:spcAft>
                <a:spcPts val="800"/>
              </a:spcAft>
            </a:pPr>
            <a:r>
              <a:rPr sz="2800" b="0">
                <a:solidFill>
                  <a:srgbClr val="FFC857"/>
                </a:solidFill>
                <a:latin typeface="Arial"/>
                <a:ea typeface="Microsoft YaHei"/>
              </a:rPr>
              <a:t>☆ ☆ ☆ ☆ ☆</a:t>
            </a:r>
          </a:p>
        </p:txBody>
      </p:sp>
      <p:sp>
        <p:nvSpPr>
          <p:cNvPr id="23" name="TextBox 22"/>
          <p:cNvSpPr txBox="1"/>
          <p:nvPr/>
        </p:nvSpPr>
        <p:spPr>
          <a:xfrm>
            <a:off x="9052560" y="3611880"/>
            <a:ext cx="2606040" cy="640080"/>
          </a:xfrm>
          <a:prstGeom prst="rect">
            <a:avLst/>
          </a:prstGeom>
          <a:noFill/>
        </p:spPr>
        <p:txBody>
          <a:bodyPr wrap="square" anchor="t">
            <a:spAutoFit/>
          </a:bodyPr>
          <a:lstStyle/>
          <a:p>
            <a:pPr algn="ctr">
              <a:lnSpc>
                <a:spcPct val="115000"/>
              </a:lnSpc>
              <a:spcAft>
                <a:spcPts val="800"/>
              </a:spcAft>
            </a:pPr>
            <a:r>
              <a:rPr sz="2000" b="0">
                <a:solidFill>
                  <a:srgbClr val="5F677A"/>
                </a:solidFill>
                <a:latin typeface="Arial"/>
                <a:ea typeface="Microsoft YaHei"/>
              </a:rPr>
              <a:t>Score: ____</a:t>
            </a:r>
          </a:p>
        </p:txBody>
      </p:sp>
      <p:sp>
        <p:nvSpPr>
          <p:cNvPr id="24" name="Rounded Rectangle 23"/>
          <p:cNvSpPr/>
          <p:nvPr/>
        </p:nvSpPr>
        <p:spPr>
          <a:xfrm>
            <a:off x="548640" y="4846320"/>
            <a:ext cx="2606040" cy="77724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1F2A44"/>
                </a:solidFill>
                <a:latin typeface="Arial"/>
                <a:ea typeface="Microsoft YaHei"/>
              </a:rPr>
              <a:t>🎤 Speak in English  +1</a:t>
            </a:r>
          </a:p>
        </p:txBody>
      </p:sp>
      <p:sp>
        <p:nvSpPr>
          <p:cNvPr id="25" name="Rounded Rectangle 24"/>
          <p:cNvSpPr/>
          <p:nvPr/>
        </p:nvSpPr>
        <p:spPr>
          <a:xfrm>
            <a:off x="3383280" y="4846320"/>
            <a:ext cx="2606040" cy="77724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1F2A44"/>
                </a:solidFill>
                <a:latin typeface="Arial"/>
                <a:ea typeface="Microsoft YaHei"/>
              </a:rPr>
              <a:t>⚡ Fastest correct answer  +1</a:t>
            </a:r>
          </a:p>
        </p:txBody>
      </p:sp>
      <p:sp>
        <p:nvSpPr>
          <p:cNvPr id="26" name="Rounded Rectangle 25"/>
          <p:cNvSpPr/>
          <p:nvPr/>
        </p:nvSpPr>
        <p:spPr>
          <a:xfrm>
            <a:off x="6217920" y="4846320"/>
            <a:ext cx="2606040" cy="77724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1F2A44"/>
                </a:solidFill>
                <a:latin typeface="Arial"/>
                <a:ea typeface="Microsoft YaHei"/>
              </a:rPr>
              <a:t>🎭 Best role play  +2</a:t>
            </a:r>
          </a:p>
        </p:txBody>
      </p:sp>
      <p:sp>
        <p:nvSpPr>
          <p:cNvPr id="27" name="Rounded Rectangle 26"/>
          <p:cNvSpPr/>
          <p:nvPr/>
        </p:nvSpPr>
        <p:spPr>
          <a:xfrm>
            <a:off x="9052560" y="4846320"/>
            <a:ext cx="2606040" cy="77724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1F2A44"/>
                </a:solidFill>
                <a:latin typeface="Arial"/>
                <a:ea typeface="Microsoft YaHei"/>
              </a:rPr>
              <a:t>🎁 Lucky Box  ?</a:t>
            </a:r>
          </a:p>
        </p:txBody>
      </p:sp>
    </p:spTree>
  </p:cSld>
  <p:clrMapOvr>
    <a:masterClrMapping/>
  </p:clrMapOvr>
  <p:transition spd="med">
    <p:fade/>
  </p:transition>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Unit Roadmap 单元路线图</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Click a lesson</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7</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a:t>
            </a:r>
          </a:p>
        </p:txBody>
      </p:sp>
      <p:sp>
        <p:nvSpPr>
          <p:cNvPr id="7" name="Rounded Rectangle 6">
            <a:hlinkClick action="ppaction://hlinksldjump" r:id="rId3"/>
          </p:cNvPr>
          <p:cNvSpPr/>
          <p:nvPr/>
        </p:nvSpPr>
        <p:spPr>
          <a:xfrm>
            <a:off x="548640" y="1554480"/>
            <a:ext cx="3576218" cy="1234440"/>
          </a:xfrm>
          <a:prstGeom prst="roundRect">
            <a:avLst>
              <a:gd name="adj" fmla="val 12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58368" y="1851660"/>
            <a:ext cx="868680" cy="640080"/>
          </a:xfrm>
          <a:prstGeom prst="roundRect">
            <a:avLst>
              <a:gd name="adj" fmla="val 3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32</a:t>
            </a:r>
          </a:p>
        </p:txBody>
      </p:sp>
      <p:sp>
        <p:nvSpPr>
          <p:cNvPr id="9" name="TextBox 8"/>
          <p:cNvSpPr txBox="1"/>
          <p:nvPr/>
        </p:nvSpPr>
        <p:spPr>
          <a:xfrm>
            <a:off x="1645920" y="1581912"/>
            <a:ext cx="2387498" cy="1179576"/>
          </a:xfrm>
          <a:prstGeom prst="rect">
            <a:avLst/>
          </a:prstGeom>
          <a:noFill/>
        </p:spPr>
        <p:txBody>
          <a:bodyPr wrap="square" anchor="ctr">
            <a:spAutoFit/>
          </a:bodyPr>
          <a:lstStyle/>
          <a:p>
            <a:pPr algn="l">
              <a:lnSpc>
                <a:spcPct val="100000"/>
              </a:lnSpc>
              <a:spcAft>
                <a:spcPts val="100"/>
              </a:spcAft>
            </a:pPr>
            <a:r>
              <a:rPr sz="1800" b="1">
                <a:solidFill>
                  <a:srgbClr val="1F2A44"/>
                </a:solidFill>
                <a:latin typeface="Arial"/>
                <a:ea typeface="Microsoft YaHei"/>
              </a:rPr>
              <a:t>Career choice</a:t>
            </a:r>
          </a:p>
          <a:p>
            <a:pPr algn="l">
              <a:lnSpc>
                <a:spcPct val="100000"/>
              </a:lnSpc>
              <a:spcAft>
                <a:spcPts val="800"/>
              </a:spcAft>
            </a:pPr>
            <a:r>
              <a:rPr sz="1400" b="0">
                <a:solidFill>
                  <a:srgbClr val="5F677A"/>
                </a:solidFill>
                <a:latin typeface="Arial"/>
                <a:ea typeface="Microsoft YaHei"/>
              </a:rPr>
              <a:t>职业选择</a:t>
            </a:r>
          </a:p>
        </p:txBody>
      </p:sp>
      <p:sp>
        <p:nvSpPr>
          <p:cNvPr id="10" name="Rounded Rectangle 9">
            <a:hlinkClick action="ppaction://hlinksldjump" r:id="rId4"/>
          </p:cNvPr>
          <p:cNvSpPr/>
          <p:nvPr/>
        </p:nvSpPr>
        <p:spPr>
          <a:xfrm>
            <a:off x="4307738" y="1554480"/>
            <a:ext cx="3576218" cy="1234440"/>
          </a:xfrm>
          <a:prstGeom prst="roundRect">
            <a:avLst>
              <a:gd name="adj" fmla="val 12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417466" y="1851660"/>
            <a:ext cx="868680" cy="640080"/>
          </a:xfrm>
          <a:prstGeom prst="roundRect">
            <a:avLst>
              <a:gd name="adj" fmla="val 3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33</a:t>
            </a:r>
          </a:p>
        </p:txBody>
      </p:sp>
      <p:sp>
        <p:nvSpPr>
          <p:cNvPr id="12" name="TextBox 11"/>
          <p:cNvSpPr txBox="1"/>
          <p:nvPr/>
        </p:nvSpPr>
        <p:spPr>
          <a:xfrm>
            <a:off x="5405018" y="1581912"/>
            <a:ext cx="2387498" cy="1179576"/>
          </a:xfrm>
          <a:prstGeom prst="rect">
            <a:avLst/>
          </a:prstGeom>
          <a:noFill/>
        </p:spPr>
        <p:txBody>
          <a:bodyPr wrap="square" anchor="ctr">
            <a:spAutoFit/>
          </a:bodyPr>
          <a:lstStyle/>
          <a:p>
            <a:pPr algn="l">
              <a:lnSpc>
                <a:spcPct val="100000"/>
              </a:lnSpc>
              <a:spcAft>
                <a:spcPts val="100"/>
              </a:spcAft>
            </a:pPr>
            <a:r>
              <a:rPr sz="1800" b="1">
                <a:solidFill>
                  <a:srgbClr val="1F2A44"/>
                </a:solidFill>
                <a:latin typeface="Arial"/>
                <a:ea typeface="Microsoft YaHei"/>
              </a:rPr>
              <a:t>Finding fulfilling work</a:t>
            </a:r>
          </a:p>
          <a:p>
            <a:pPr algn="l">
              <a:lnSpc>
                <a:spcPct val="100000"/>
              </a:lnSpc>
              <a:spcAft>
                <a:spcPts val="800"/>
              </a:spcAft>
            </a:pPr>
            <a:r>
              <a:rPr sz="1400" b="0">
                <a:solidFill>
                  <a:srgbClr val="5F677A"/>
                </a:solidFill>
                <a:latin typeface="Arial"/>
                <a:ea typeface="Microsoft YaHei"/>
              </a:rPr>
              <a:t>寻找有意义的工作</a:t>
            </a:r>
          </a:p>
        </p:txBody>
      </p:sp>
      <p:sp>
        <p:nvSpPr>
          <p:cNvPr id="13" name="Rounded Rectangle 12">
            <a:hlinkClick action="ppaction://hlinksldjump" r:id="rId5"/>
          </p:cNvPr>
          <p:cNvSpPr/>
          <p:nvPr/>
        </p:nvSpPr>
        <p:spPr>
          <a:xfrm>
            <a:off x="8066836" y="1554480"/>
            <a:ext cx="3576218" cy="1234440"/>
          </a:xfrm>
          <a:prstGeom prst="roundRect">
            <a:avLst>
              <a:gd name="adj" fmla="val 12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8176564" y="1851660"/>
            <a:ext cx="868680" cy="640080"/>
          </a:xfrm>
          <a:prstGeom prst="roundRect">
            <a:avLst>
              <a:gd name="adj" fmla="val 3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34</a:t>
            </a:r>
          </a:p>
        </p:txBody>
      </p:sp>
      <p:sp>
        <p:nvSpPr>
          <p:cNvPr id="15" name="TextBox 14"/>
          <p:cNvSpPr txBox="1"/>
          <p:nvPr/>
        </p:nvSpPr>
        <p:spPr>
          <a:xfrm>
            <a:off x="9164116" y="1581912"/>
            <a:ext cx="2387498" cy="1179576"/>
          </a:xfrm>
          <a:prstGeom prst="rect">
            <a:avLst/>
          </a:prstGeom>
          <a:noFill/>
        </p:spPr>
        <p:txBody>
          <a:bodyPr wrap="square" anchor="ctr">
            <a:spAutoFit/>
          </a:bodyPr>
          <a:lstStyle/>
          <a:p>
            <a:pPr algn="l">
              <a:lnSpc>
                <a:spcPct val="100000"/>
              </a:lnSpc>
              <a:spcAft>
                <a:spcPts val="100"/>
              </a:spcAft>
            </a:pPr>
            <a:r>
              <a:rPr sz="1800" b="1">
                <a:solidFill>
                  <a:srgbClr val="1F2A44"/>
                </a:solidFill>
                <a:latin typeface="Arial"/>
                <a:ea typeface="Microsoft YaHei"/>
              </a:rPr>
              <a:t>How unconscious bias affects hiring</a:t>
            </a:r>
          </a:p>
          <a:p>
            <a:pPr algn="l">
              <a:lnSpc>
                <a:spcPct val="100000"/>
              </a:lnSpc>
              <a:spcAft>
                <a:spcPts val="800"/>
              </a:spcAft>
            </a:pPr>
            <a:r>
              <a:rPr sz="1400" b="0">
                <a:solidFill>
                  <a:srgbClr val="5F677A"/>
                </a:solidFill>
                <a:latin typeface="Arial"/>
                <a:ea typeface="Microsoft YaHei"/>
              </a:rPr>
              <a:t>无意识偏见如何影响招聘</a:t>
            </a:r>
          </a:p>
        </p:txBody>
      </p:sp>
      <p:sp>
        <p:nvSpPr>
          <p:cNvPr id="16" name="Rounded Rectangle 15">
            <a:hlinkClick action="ppaction://hlinksldjump" r:id="rId6"/>
          </p:cNvPr>
          <p:cNvSpPr/>
          <p:nvPr/>
        </p:nvSpPr>
        <p:spPr>
          <a:xfrm>
            <a:off x="548640" y="2971800"/>
            <a:ext cx="3576218" cy="1234440"/>
          </a:xfrm>
          <a:prstGeom prst="roundRect">
            <a:avLst>
              <a:gd name="adj" fmla="val 12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58368" y="3268980"/>
            <a:ext cx="868680" cy="640080"/>
          </a:xfrm>
          <a:prstGeom prst="roundRect">
            <a:avLst>
              <a:gd name="adj" fmla="val 3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35</a:t>
            </a:r>
          </a:p>
        </p:txBody>
      </p:sp>
      <p:sp>
        <p:nvSpPr>
          <p:cNvPr id="18" name="TextBox 17"/>
          <p:cNvSpPr txBox="1"/>
          <p:nvPr/>
        </p:nvSpPr>
        <p:spPr>
          <a:xfrm>
            <a:off x="1645920" y="2999232"/>
            <a:ext cx="2387498" cy="1179576"/>
          </a:xfrm>
          <a:prstGeom prst="rect">
            <a:avLst/>
          </a:prstGeom>
          <a:noFill/>
        </p:spPr>
        <p:txBody>
          <a:bodyPr wrap="square" anchor="ctr">
            <a:spAutoFit/>
          </a:bodyPr>
          <a:lstStyle/>
          <a:p>
            <a:pPr algn="l">
              <a:lnSpc>
                <a:spcPct val="100000"/>
              </a:lnSpc>
              <a:spcAft>
                <a:spcPts val="100"/>
              </a:spcAft>
            </a:pPr>
            <a:r>
              <a:rPr sz="1800" b="1">
                <a:solidFill>
                  <a:srgbClr val="1F2A44"/>
                </a:solidFill>
                <a:latin typeface="Arial"/>
                <a:ea typeface="Microsoft YaHei"/>
              </a:rPr>
              <a:t>How to relaunch your career</a:t>
            </a:r>
          </a:p>
          <a:p>
            <a:pPr algn="l">
              <a:lnSpc>
                <a:spcPct val="100000"/>
              </a:lnSpc>
              <a:spcAft>
                <a:spcPts val="800"/>
              </a:spcAft>
            </a:pPr>
            <a:r>
              <a:rPr sz="1400" b="0">
                <a:solidFill>
                  <a:srgbClr val="5F677A"/>
                </a:solidFill>
                <a:latin typeface="Arial"/>
                <a:ea typeface="Microsoft YaHei"/>
              </a:rPr>
              <a:t>如何重启职业生涯</a:t>
            </a:r>
          </a:p>
        </p:txBody>
      </p:sp>
      <p:sp>
        <p:nvSpPr>
          <p:cNvPr id="19" name="Rounded Rectangle 18">
            <a:hlinkClick action="ppaction://hlinksldjump" r:id="rId7"/>
          </p:cNvPr>
          <p:cNvSpPr/>
          <p:nvPr/>
        </p:nvSpPr>
        <p:spPr>
          <a:xfrm>
            <a:off x="4307738" y="2971800"/>
            <a:ext cx="3576218" cy="1234440"/>
          </a:xfrm>
          <a:prstGeom prst="roundRect">
            <a:avLst>
              <a:gd name="adj" fmla="val 12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4417466" y="3268980"/>
            <a:ext cx="868680" cy="640080"/>
          </a:xfrm>
          <a:prstGeom prst="roundRect">
            <a:avLst>
              <a:gd name="adj" fmla="val 3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36</a:t>
            </a:r>
          </a:p>
        </p:txBody>
      </p:sp>
      <p:sp>
        <p:nvSpPr>
          <p:cNvPr id="21" name="TextBox 20"/>
          <p:cNvSpPr txBox="1"/>
          <p:nvPr/>
        </p:nvSpPr>
        <p:spPr>
          <a:xfrm>
            <a:off x="5405018" y="2999232"/>
            <a:ext cx="2387498" cy="1179576"/>
          </a:xfrm>
          <a:prstGeom prst="rect">
            <a:avLst/>
          </a:prstGeom>
          <a:noFill/>
        </p:spPr>
        <p:txBody>
          <a:bodyPr wrap="square" anchor="ctr">
            <a:spAutoFit/>
          </a:bodyPr>
          <a:lstStyle/>
          <a:p>
            <a:pPr algn="l">
              <a:lnSpc>
                <a:spcPct val="100000"/>
              </a:lnSpc>
              <a:spcAft>
                <a:spcPts val="100"/>
              </a:spcAft>
            </a:pPr>
            <a:r>
              <a:rPr sz="1800" b="1">
                <a:solidFill>
                  <a:srgbClr val="1F2A44"/>
                </a:solidFill>
                <a:latin typeface="Arial"/>
                <a:ea typeface="Microsoft YaHei"/>
              </a:rPr>
              <a:t>Fail to have a great career</a:t>
            </a:r>
          </a:p>
          <a:p>
            <a:pPr algn="l">
              <a:lnSpc>
                <a:spcPct val="100000"/>
              </a:lnSpc>
              <a:spcAft>
                <a:spcPts val="800"/>
              </a:spcAft>
            </a:pPr>
            <a:r>
              <a:rPr sz="1400" b="0">
                <a:solidFill>
                  <a:srgbClr val="5F677A"/>
                </a:solidFill>
                <a:latin typeface="Arial"/>
                <a:ea typeface="Microsoft YaHei"/>
              </a:rPr>
              <a:t>难以拥有伟大的职业生涯</a:t>
            </a:r>
          </a:p>
        </p:txBody>
      </p:sp>
    </p:spTree>
  </p:cSld>
  <p:clrMapOvr>
    <a:masterClrMapping/>
  </p:clrMapOvr>
  <p:transition spd="med">
    <p:fade/>
  </p:transition>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F2A44"/>
        </a:solidFill>
        <a:effectLst/>
      </p:bgPr>
    </p:bg>
    <p:spTree>
      <p:nvGrpSpPr>
        <p:cNvPr id="1" name=""/>
        <p:cNvGrpSpPr/>
        <p:nvPr/>
      </p:nvGrpSpPr>
      <p:grpSpPr/>
      <p:sp>
        <p:nvSpPr>
          <p:cNvPr id="2" name="TextBox 1"/>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FFC857"/>
                </a:solidFill>
                <a:latin typeface="Arial"/>
                <a:ea typeface="Microsoft YaHei"/>
              </a:rPr>
              <a:t>Business English · Level 7–8 · Unit 7 · Lesson 32 Career choice</a:t>
            </a:r>
          </a:p>
        </p:txBody>
      </p:sp>
      <p:sp>
        <p:nvSpPr>
          <p:cNvPr id="3" name="TextBox 2"/>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FFC857"/>
                </a:solidFill>
                <a:latin typeface="Arial"/>
                <a:ea typeface="Microsoft YaHei"/>
              </a:rPr>
              <a:t>4</a:t>
            </a:r>
          </a:p>
        </p:txBody>
      </p:sp>
      <p:sp>
        <p:nvSpPr>
          <p:cNvPr id="4" name="Rounded Rectangle 3">
            <a:hlinkClick action="ppaction://hlinksldjump" r:id="rId2"/>
          </p:cNvPr>
          <p:cNvSpPr/>
          <p:nvPr/>
        </p:nvSpPr>
        <p:spPr>
          <a:xfrm>
            <a:off x="9677095" y="6382512"/>
            <a:ext cx="960120" cy="329184"/>
          </a:xfrm>
          <a:prstGeom prst="roundRect">
            <a:avLst>
              <a:gd name="adj" fmla="val 50000"/>
            </a:avLst>
          </a:prstGeom>
          <a:solidFill>
            <a:srgbClr val="3642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FFFFFF"/>
                </a:solidFill>
                <a:latin typeface="Arial"/>
                <a:ea typeface="Microsoft YaHei"/>
              </a:rPr>
              <a:t>🗺 Map</a:t>
            </a:r>
          </a:p>
        </p:txBody>
      </p:sp>
      <p:sp>
        <p:nvSpPr>
          <p:cNvPr id="5" name="Rectangle 4"/>
          <p:cNvSpPr/>
          <p:nvPr/>
        </p:nvSpPr>
        <p:spPr>
          <a:xfrm>
            <a:off x="822960" y="685800"/>
            <a:ext cx="1097280" cy="91440"/>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822960"/>
            <a:ext cx="5486400" cy="457200"/>
          </a:xfrm>
          <a:prstGeom prst="rect">
            <a:avLst/>
          </a:prstGeom>
          <a:noFill/>
        </p:spPr>
        <p:txBody>
          <a:bodyPr wrap="square" anchor="t">
            <a:spAutoFit/>
          </a:bodyPr>
          <a:lstStyle/>
          <a:p>
            <a:pPr algn="l">
              <a:lnSpc>
                <a:spcPct val="115000"/>
              </a:lnSpc>
              <a:spcAft>
                <a:spcPts val="800"/>
              </a:spcAft>
            </a:pPr>
            <a:r>
              <a:rPr sz="2200" b="1">
                <a:solidFill>
                  <a:srgbClr val="FFC857"/>
                </a:solidFill>
                <a:latin typeface="Arial"/>
                <a:ea typeface="Microsoft YaHei"/>
              </a:rPr>
              <a:t>LESSON 32</a:t>
            </a:r>
          </a:p>
        </p:txBody>
      </p:sp>
      <p:sp>
        <p:nvSpPr>
          <p:cNvPr id="7" name="TextBox 6"/>
          <p:cNvSpPr txBox="1"/>
          <p:nvPr/>
        </p:nvSpPr>
        <p:spPr>
          <a:xfrm>
            <a:off x="822960" y="1280160"/>
            <a:ext cx="10515600" cy="1280160"/>
          </a:xfrm>
          <a:prstGeom prst="rect">
            <a:avLst/>
          </a:prstGeom>
          <a:noFill/>
        </p:spPr>
        <p:txBody>
          <a:bodyPr wrap="square" anchor="ctr">
            <a:spAutoFit/>
          </a:bodyPr>
          <a:lstStyle/>
          <a:p>
            <a:pPr algn="l">
              <a:lnSpc>
                <a:spcPct val="115000"/>
              </a:lnSpc>
              <a:spcAft>
                <a:spcPts val="800"/>
              </a:spcAft>
            </a:pPr>
            <a:r>
              <a:rPr sz="5400" b="1">
                <a:solidFill>
                  <a:srgbClr val="FFFFFF"/>
                </a:solidFill>
                <a:latin typeface="Arial"/>
                <a:ea typeface="Microsoft YaHei"/>
              </a:rPr>
              <a:t>Career choice</a:t>
            </a:r>
          </a:p>
        </p:txBody>
      </p:sp>
      <p:sp>
        <p:nvSpPr>
          <p:cNvPr id="8" name="TextBox 7"/>
          <p:cNvSpPr txBox="1"/>
          <p:nvPr/>
        </p:nvSpPr>
        <p:spPr>
          <a:xfrm>
            <a:off x="822960" y="2560320"/>
            <a:ext cx="10515600" cy="548640"/>
          </a:xfrm>
          <a:prstGeom prst="rect">
            <a:avLst/>
          </a:prstGeom>
          <a:noFill/>
        </p:spPr>
        <p:txBody>
          <a:bodyPr wrap="square" anchor="t">
            <a:spAutoFit/>
          </a:bodyPr>
          <a:lstStyle/>
          <a:p>
            <a:pPr algn="l">
              <a:lnSpc>
                <a:spcPct val="115000"/>
              </a:lnSpc>
              <a:spcAft>
                <a:spcPts val="800"/>
              </a:spcAft>
            </a:pPr>
            <a:r>
              <a:rPr sz="2400" b="0">
                <a:solidFill>
                  <a:srgbClr val="FFFFFF"/>
                </a:solidFill>
                <a:latin typeface="Arial"/>
                <a:ea typeface="Microsoft YaHei"/>
              </a:rPr>
              <a:t>职业选择</a:t>
            </a:r>
          </a:p>
        </p:txBody>
      </p:sp>
      <p:sp>
        <p:nvSpPr>
          <p:cNvPr id="9" name="TextBox 8"/>
          <p:cNvSpPr txBox="1"/>
          <p:nvPr/>
        </p:nvSpPr>
        <p:spPr>
          <a:xfrm>
            <a:off x="822960" y="3246120"/>
            <a:ext cx="10515600" cy="914400"/>
          </a:xfrm>
          <a:prstGeom prst="rect">
            <a:avLst/>
          </a:prstGeom>
          <a:noFill/>
        </p:spPr>
        <p:txBody>
          <a:bodyPr wrap="square" anchor="t">
            <a:spAutoFit/>
          </a:bodyPr>
          <a:lstStyle/>
          <a:p>
            <a:pPr algn="l">
              <a:lnSpc>
                <a:spcPct val="115000"/>
              </a:lnSpc>
              <a:spcAft>
                <a:spcPts val="800"/>
              </a:spcAft>
            </a:pPr>
            <a:r>
              <a:rPr sz="2000" b="0">
                <a:solidFill>
                  <a:srgbClr val="FFC857"/>
                </a:solidFill>
                <a:latin typeface="Arial"/>
                <a:ea typeface="Microsoft YaHei"/>
              </a:rPr>
              <a:t>🎯 explain the factors behind a career choice and discuss your career path and plans with confidence.</a:t>
            </a:r>
          </a:p>
        </p:txBody>
      </p:sp>
      <p:sp>
        <p:nvSpPr>
          <p:cNvPr id="10" name="Rounded Rectangle 9"/>
          <p:cNvSpPr/>
          <p:nvPr/>
        </p:nvSpPr>
        <p:spPr>
          <a:xfrm>
            <a:off x="822960" y="4389120"/>
            <a:ext cx="1956816" cy="11430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01</a:t>
            </a:r>
          </a:p>
          <a:p>
            <a:pPr algn="ctr">
              <a:spcAft>
                <a:spcPts val="200"/>
              </a:spcAft>
            </a:pPr>
            <a:r>
              <a:rPr sz="1700" b="1">
                <a:solidFill>
                  <a:srgbClr val="FFFFFF"/>
                </a:solidFill>
                <a:latin typeface="Arial"/>
                <a:ea typeface="Microsoft YaHei"/>
              </a:rPr>
              <a:t>Warm up</a:t>
            </a:r>
          </a:p>
          <a:p>
            <a:pPr algn="ctr">
              <a:spcAft>
                <a:spcPts val="200"/>
              </a:spcAft>
            </a:pPr>
            <a:r>
              <a:rPr sz="1300" b="0">
                <a:solidFill>
                  <a:srgbClr val="FFFFFF"/>
                </a:solidFill>
                <a:latin typeface="Arial"/>
                <a:ea typeface="Microsoft YaHei"/>
              </a:rPr>
              <a:t>热身</a:t>
            </a:r>
          </a:p>
        </p:txBody>
      </p:sp>
      <p:sp>
        <p:nvSpPr>
          <p:cNvPr id="11" name="Rounded Rectangle 10"/>
          <p:cNvSpPr/>
          <p:nvPr/>
        </p:nvSpPr>
        <p:spPr>
          <a:xfrm>
            <a:off x="2962656" y="4389120"/>
            <a:ext cx="1956816" cy="11430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02</a:t>
            </a:r>
          </a:p>
          <a:p>
            <a:pPr algn="ctr">
              <a:spcAft>
                <a:spcPts val="200"/>
              </a:spcAft>
            </a:pPr>
            <a:r>
              <a:rPr sz="1700" b="1">
                <a:solidFill>
                  <a:srgbClr val="FFFFFF"/>
                </a:solidFill>
                <a:latin typeface="Arial"/>
                <a:ea typeface="Microsoft YaHei"/>
              </a:rPr>
              <a:t>Vocabulary</a:t>
            </a:r>
          </a:p>
          <a:p>
            <a:pPr algn="ctr">
              <a:spcAft>
                <a:spcPts val="200"/>
              </a:spcAft>
            </a:pPr>
            <a:r>
              <a:rPr sz="1300" b="0">
                <a:solidFill>
                  <a:srgbClr val="FFFFFF"/>
                </a:solidFill>
                <a:latin typeface="Arial"/>
                <a:ea typeface="Microsoft YaHei"/>
              </a:rPr>
              <a:t>词汇</a:t>
            </a:r>
          </a:p>
        </p:txBody>
      </p:sp>
      <p:sp>
        <p:nvSpPr>
          <p:cNvPr id="12" name="Rounded Rectangle 11"/>
          <p:cNvSpPr/>
          <p:nvPr/>
        </p:nvSpPr>
        <p:spPr>
          <a:xfrm>
            <a:off x="5102352" y="4389120"/>
            <a:ext cx="1956816" cy="11430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03</a:t>
            </a:r>
          </a:p>
          <a:p>
            <a:pPr algn="ctr">
              <a:spcAft>
                <a:spcPts val="200"/>
              </a:spcAft>
            </a:pPr>
            <a:r>
              <a:rPr sz="1700" b="1">
                <a:solidFill>
                  <a:srgbClr val="FFFFFF"/>
                </a:solidFill>
                <a:latin typeface="Arial"/>
                <a:ea typeface="Microsoft YaHei"/>
              </a:rPr>
              <a:t>Role play</a:t>
            </a:r>
          </a:p>
          <a:p>
            <a:pPr algn="ctr">
              <a:spcAft>
                <a:spcPts val="200"/>
              </a:spcAft>
            </a:pPr>
            <a:r>
              <a:rPr sz="1300" b="0">
                <a:solidFill>
                  <a:srgbClr val="FFFFFF"/>
                </a:solidFill>
                <a:latin typeface="Arial"/>
                <a:ea typeface="Microsoft YaHei"/>
              </a:rPr>
              <a:t>角色扮演</a:t>
            </a:r>
          </a:p>
        </p:txBody>
      </p:sp>
      <p:sp>
        <p:nvSpPr>
          <p:cNvPr id="13" name="Rounded Rectangle 12"/>
          <p:cNvSpPr/>
          <p:nvPr/>
        </p:nvSpPr>
        <p:spPr>
          <a:xfrm>
            <a:off x="7242048" y="4389120"/>
            <a:ext cx="1956816" cy="11430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04</a:t>
            </a:r>
          </a:p>
          <a:p>
            <a:pPr algn="ctr">
              <a:spcAft>
                <a:spcPts val="200"/>
              </a:spcAft>
            </a:pPr>
            <a:r>
              <a:rPr sz="1700" b="1">
                <a:solidFill>
                  <a:srgbClr val="FFFFFF"/>
                </a:solidFill>
                <a:latin typeface="Arial"/>
                <a:ea typeface="Microsoft YaHei"/>
              </a:rPr>
              <a:t>Discussion</a:t>
            </a:r>
          </a:p>
          <a:p>
            <a:pPr algn="ctr">
              <a:spcAft>
                <a:spcPts val="200"/>
              </a:spcAft>
            </a:pPr>
            <a:r>
              <a:rPr sz="1300" b="0">
                <a:solidFill>
                  <a:srgbClr val="FFFFFF"/>
                </a:solidFill>
                <a:latin typeface="Arial"/>
                <a:ea typeface="Microsoft YaHei"/>
              </a:rPr>
              <a:t>讨论</a:t>
            </a:r>
          </a:p>
        </p:txBody>
      </p:sp>
      <p:sp>
        <p:nvSpPr>
          <p:cNvPr id="14" name="Rounded Rectangle 13"/>
          <p:cNvSpPr/>
          <p:nvPr/>
        </p:nvSpPr>
        <p:spPr>
          <a:xfrm>
            <a:off x="9381744" y="4389120"/>
            <a:ext cx="1956816" cy="11430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05</a:t>
            </a:r>
          </a:p>
          <a:p>
            <a:pPr algn="ctr">
              <a:spcAft>
                <a:spcPts val="200"/>
              </a:spcAft>
            </a:pPr>
            <a:r>
              <a:rPr sz="1700" b="1">
                <a:solidFill>
                  <a:srgbClr val="FFFFFF"/>
                </a:solidFill>
                <a:latin typeface="Arial"/>
                <a:ea typeface="Microsoft YaHei"/>
              </a:rPr>
              <a:t>Language Tips</a:t>
            </a:r>
          </a:p>
          <a:p>
            <a:pPr algn="ctr">
              <a:spcAft>
                <a:spcPts val="200"/>
              </a:spcAft>
            </a:pPr>
            <a:r>
              <a:rPr sz="1300" b="0">
                <a:solidFill>
                  <a:srgbClr val="FFFFFF"/>
                </a:solidFill>
                <a:latin typeface="Arial"/>
                <a:ea typeface="Microsoft YaHei"/>
              </a:rPr>
              <a:t>语言贴士</a:t>
            </a:r>
          </a:p>
        </p:txBody>
      </p:sp>
    </p:spTree>
  </p:cSld>
  <p:clrMapOvr>
    <a:masterClrMapping/>
  </p:clrMapOvr>
  <p:transition spd="med">
    <p:fade/>
  </p:transition>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Warm up · Ice-breaker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7 · Lesson 32 Career choice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Answer in 2–3 sentences. Say it out loud!  用 2–3 句话回答，大声说出来</a:t>
            </a:r>
          </a:p>
        </p:txBody>
      </p:sp>
      <p:sp>
        <p:nvSpPr>
          <p:cNvPr id="9" name="Oval 8"/>
          <p:cNvSpPr/>
          <p:nvPr/>
        </p:nvSpPr>
        <p:spPr>
          <a:xfrm>
            <a:off x="548640" y="1600199"/>
            <a:ext cx="502920" cy="50292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54480"/>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Why did you choose your current career?</a:t>
            </a:r>
          </a:p>
        </p:txBody>
      </p:sp>
      <p:sp>
        <p:nvSpPr>
          <p:cNvPr id="12" name="Oval 11"/>
          <p:cNvSpPr/>
          <p:nvPr/>
        </p:nvSpPr>
        <p:spPr>
          <a:xfrm>
            <a:off x="548640" y="2304286"/>
            <a:ext cx="502920" cy="50292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258567"/>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258567"/>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What matters most to you in a job: salary, interest or stability?</a:t>
            </a:r>
          </a:p>
        </p:txBody>
      </p:sp>
      <p:sp>
        <p:nvSpPr>
          <p:cNvPr id="15" name="Oval 14"/>
          <p:cNvSpPr/>
          <p:nvPr/>
        </p:nvSpPr>
        <p:spPr>
          <a:xfrm>
            <a:off x="548640" y="3008373"/>
            <a:ext cx="502920" cy="50292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2962654"/>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2962654"/>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Did anyone influence your career choice?</a:t>
            </a:r>
          </a:p>
        </p:txBody>
      </p:sp>
      <p:sp>
        <p:nvSpPr>
          <p:cNvPr id="18" name="Oval 17"/>
          <p:cNvSpPr/>
          <p:nvPr/>
        </p:nvSpPr>
        <p:spPr>
          <a:xfrm>
            <a:off x="548640" y="3712460"/>
            <a:ext cx="502920" cy="50292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3666741"/>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3666741"/>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Where do you see yourself in five years?</a:t>
            </a:r>
          </a:p>
        </p:txBody>
      </p:sp>
      <p:sp>
        <p:nvSpPr>
          <p:cNvPr id="21" name="Oval 20"/>
          <p:cNvSpPr/>
          <p:nvPr/>
        </p:nvSpPr>
        <p:spPr>
          <a:xfrm>
            <a:off x="548640" y="4416547"/>
            <a:ext cx="502920" cy="502920"/>
          </a:xfrm>
          <a:prstGeom prst="ellipse">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5</a:t>
            </a:r>
          </a:p>
        </p:txBody>
      </p:sp>
      <p:sp>
        <p:nvSpPr>
          <p:cNvPr id="22" name="Rounded Rectangle 21"/>
          <p:cNvSpPr/>
          <p:nvPr/>
        </p:nvSpPr>
        <p:spPr>
          <a:xfrm>
            <a:off x="1234440" y="4370828"/>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325880" y="4370828"/>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Would you ever change your field completely?</a:t>
            </a:r>
          </a:p>
        </p:txBody>
      </p:sp>
      <p:sp>
        <p:nvSpPr>
          <p:cNvPr id="58" name="Rounded Rectangle 5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第 1 题 “Why did you choose…” 用过去式。第 4 题 “see yourself” = 想象自己。</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par>
                    <p:cTn id="56" fill="hold">
                      <p:stCondLst>
                        <p:cond delay="indefinite"/>
                      </p:stCondLst>
                      <p:childTnLst>
                        <p:par>
                          <p:cTn id="57" fill="hold">
                            <p:stCondLst>
                              <p:cond delay="0"/>
                            </p:stCondLst>
                            <p:childTnLst>
                              <p:par>
                                <p:cTn id="49" presetID="10" presetClass="entr" presetSubtype="0" fill="hold" nodeType="clickEffect">
                                  <p:stCondLst>
                                    <p:cond delay="0"/>
                                  </p:stCondLst>
                                  <p:childTnLst>
                                    <p:set>
                                      <p:cBhvr>
                                        <p:cTn id="47" dur="1" fill="hold">
                                          <p:stCondLst>
                                            <p:cond delay="0"/>
                                          </p:stCondLst>
                                        </p:cTn>
                                        <p:tgtEl>
                                          <p:spTgt spid="21"/>
                                        </p:tgtEl>
                                        <p:attrNameLst>
                                          <p:attrName>style.visibility</p:attrName>
                                        </p:attrNameLst>
                                      </p:cBhvr>
                                      <p:to>
                                        <p:strVal val="visible"/>
                                      </p:to>
                                    </p:set>
                                    <p:animEffect transition="in" filter="fade">
                                      <p:cBhvr>
                                        <p:cTn id="48" dur="400"/>
                                        <p:tgtEl>
                                          <p:spTgt spid="21"/>
                                        </p:tgtEl>
                                      </p:cBhvr>
                                    </p:animEffect>
                                  </p:childTnLst>
                                </p:cTn>
                              </p:par>
                              <p:par>
                                <p:cTn id="52" presetID="10" presetClass="entr" presetSubtype="0" fill="hold" nodeType="with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fade">
                                      <p:cBhvr>
                                        <p:cTn id="51" dur="400"/>
                                        <p:tgtEl>
                                          <p:spTgt spid="22"/>
                                        </p:tgtEl>
                                      </p:cBhvr>
                                    </p:animEffect>
                                  </p:childTnLst>
                                </p:cTn>
                              </p:par>
                              <p:par>
                                <p:cTn id="55" presetID="10" presetClass="entr" presetSubtype="0" fill="hold" nodeType="withEffect">
                                  <p:stCondLst>
                                    <p:cond delay="0"/>
                                  </p:stCondLst>
                                  <p:childTnLst>
                                    <p:set>
                                      <p:cBhvr>
                                        <p:cTn id="53" dur="1" fill="hold">
                                          <p:stCondLst>
                                            <p:cond delay="0"/>
                                          </p:stCondLst>
                                        </p:cTn>
                                        <p:tgtEl>
                                          <p:spTgt spid="23"/>
                                        </p:tgtEl>
                                        <p:attrNameLst>
                                          <p:attrName>style.visibility</p:attrName>
                                        </p:attrNameLst>
                                      </p:cBhvr>
                                      <p:to>
                                        <p:strVal val="visible"/>
                                      </p:to>
                                    </p:set>
                                    <p:animEffect transition="in" filter="fade">
                                      <p:cBhvr>
                                        <p:cTn id="5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1-Minute Challenge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7 · Lesson 32 Career choice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Oval 7"/>
          <p:cNvSpPr/>
          <p:nvPr/>
        </p:nvSpPr>
        <p:spPr>
          <a:xfrm>
            <a:off x="9814255" y="1463040"/>
            <a:ext cx="1737360" cy="173736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FFFFFF"/>
                </a:solidFill>
                <a:latin typeface="Arial"/>
                <a:ea typeface="Microsoft YaHei"/>
              </a:rPr>
              <a:t>⏱</a:t>
            </a:r>
          </a:p>
          <a:p>
            <a:pPr algn="ctr">
              <a:spcAft>
                <a:spcPts val="200"/>
              </a:spcAft>
            </a:pPr>
            <a:r>
              <a:rPr sz="2600" b="1">
                <a:solidFill>
                  <a:srgbClr val="FFFFFF"/>
                </a:solidFill>
                <a:latin typeface="Arial"/>
                <a:ea typeface="Microsoft YaHei"/>
              </a:rPr>
              <a:t>60s</a:t>
            </a:r>
          </a:p>
        </p:txBody>
      </p:sp>
      <p:sp>
        <p:nvSpPr>
          <p:cNvPr id="9" name="TextBox 8"/>
          <p:cNvSpPr txBox="1"/>
          <p:nvPr/>
        </p:nvSpPr>
        <p:spPr>
          <a:xfrm>
            <a:off x="548640" y="1417320"/>
            <a:ext cx="8778240" cy="1280160"/>
          </a:xfrm>
          <a:prstGeom prst="rect">
            <a:avLst/>
          </a:prstGeom>
          <a:noFill/>
        </p:spPr>
        <p:txBody>
          <a:bodyPr wrap="square" anchor="t">
            <a:spAutoFit/>
          </a:bodyPr>
          <a:lstStyle/>
          <a:p>
            <a:pPr algn="l">
              <a:lnSpc>
                <a:spcPct val="115000"/>
              </a:lnSpc>
              <a:spcAft>
                <a:spcPts val="200"/>
              </a:spcAft>
            </a:pPr>
            <a:r>
              <a:rPr sz="1400" b="0">
                <a:solidFill>
                  <a:srgbClr val="5F677A"/>
                </a:solidFill>
                <a:latin typeface="Arial"/>
                <a:ea typeface="Microsoft YaHei"/>
              </a:rPr>
              <a:t>TOPIC</a:t>
            </a:r>
          </a:p>
          <a:p>
            <a:pPr algn="l">
              <a:lnSpc>
                <a:spcPct val="115000"/>
              </a:lnSpc>
              <a:spcAft>
                <a:spcPts val="800"/>
              </a:spcAft>
            </a:pPr>
            <a:r>
              <a:rPr sz="3000" b="1">
                <a:solidFill>
                  <a:srgbClr val="1F2A44"/>
                </a:solidFill>
                <a:latin typeface="Arial"/>
                <a:ea typeface="Microsoft YaHei"/>
              </a:rPr>
              <a:t>Explain how you chose your career and what you want next.</a:t>
            </a:r>
          </a:p>
        </p:txBody>
      </p:sp>
      <p:sp>
        <p:nvSpPr>
          <p:cNvPr id="10" name="Rounded Rectangle 9"/>
          <p:cNvSpPr/>
          <p:nvPr/>
        </p:nvSpPr>
        <p:spPr>
          <a:xfrm>
            <a:off x="548640" y="3017520"/>
            <a:ext cx="2411730" cy="86868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 how you started</a:t>
            </a:r>
          </a:p>
        </p:txBody>
      </p:sp>
      <p:sp>
        <p:nvSpPr>
          <p:cNvPr id="11" name="Rounded Rectangle 10"/>
          <p:cNvSpPr/>
          <p:nvPr/>
        </p:nvSpPr>
        <p:spPr>
          <a:xfrm>
            <a:off x="3097530" y="3017520"/>
            <a:ext cx="2411730" cy="86868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 why you chose it</a:t>
            </a:r>
          </a:p>
        </p:txBody>
      </p:sp>
      <p:sp>
        <p:nvSpPr>
          <p:cNvPr id="12" name="Rounded Rectangle 11"/>
          <p:cNvSpPr/>
          <p:nvPr/>
        </p:nvSpPr>
        <p:spPr>
          <a:xfrm>
            <a:off x="5646420" y="3017520"/>
            <a:ext cx="2411730" cy="86868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 where you are now</a:t>
            </a:r>
          </a:p>
        </p:txBody>
      </p:sp>
      <p:sp>
        <p:nvSpPr>
          <p:cNvPr id="13" name="Rounded Rectangle 12"/>
          <p:cNvSpPr/>
          <p:nvPr/>
        </p:nvSpPr>
        <p:spPr>
          <a:xfrm>
            <a:off x="8195310" y="3017520"/>
            <a:ext cx="2411730" cy="86868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 your plan</a:t>
            </a:r>
          </a:p>
        </p:txBody>
      </p:sp>
      <p:sp>
        <p:nvSpPr>
          <p:cNvPr id="14" name="TextBox 13"/>
          <p:cNvSpPr txBox="1"/>
          <p:nvPr/>
        </p:nvSpPr>
        <p:spPr>
          <a:xfrm>
            <a:off x="548640" y="4069080"/>
            <a:ext cx="11094415" cy="365760"/>
          </a:xfrm>
          <a:prstGeom prst="rect">
            <a:avLst/>
          </a:prstGeom>
          <a:noFill/>
        </p:spPr>
        <p:txBody>
          <a:bodyPr wrap="square" anchor="t">
            <a:spAutoFit/>
          </a:bodyPr>
          <a:lstStyle/>
          <a:p>
            <a:pPr algn="l">
              <a:lnSpc>
                <a:spcPct val="115000"/>
              </a:lnSpc>
              <a:spcAft>
                <a:spcPts val="800"/>
              </a:spcAft>
            </a:pPr>
            <a:r>
              <a:rPr sz="1400" b="0">
                <a:solidFill>
                  <a:srgbClr val="5F677A"/>
                </a:solidFill>
                <a:latin typeface="Arial"/>
                <a:ea typeface="Microsoft YaHei"/>
              </a:rPr>
              <a:t>Useful starters 开头句</a:t>
            </a:r>
          </a:p>
        </p:txBody>
      </p:sp>
      <p:sp>
        <p:nvSpPr>
          <p:cNvPr id="15" name="TextBox 14"/>
          <p:cNvSpPr txBox="1"/>
          <p:nvPr/>
        </p:nvSpPr>
        <p:spPr>
          <a:xfrm>
            <a:off x="548640" y="4389120"/>
            <a:ext cx="11094415" cy="100584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 I ended up in… because…   💬 What attracted me to… was…   💬 I’m hoping to…   💬 Eventually, I’d like to…</a:t>
            </a:r>
          </a:p>
        </p:txBody>
      </p:sp>
      <p:sp>
        <p:nvSpPr>
          <p:cNvPr id="16" name="Rounded Rectangle 15"/>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“end up” = 最终落到;“What attracted me to X was…” 强调句。</a:t>
            </a:r>
          </a:p>
        </p:txBody>
      </p:sp>
    </p:spTree>
  </p:cSld>
  <p:clrMapOvr>
    <a:masterClrMapping/>
  </p:clrMapOvr>
  <p:transition spd="med">
    <p:fade/>
  </p:transition>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700" b="1">
                <a:solidFill>
                  <a:srgbClr val="1F2A44"/>
                </a:solidFill>
                <a:latin typeface="Arial"/>
                <a:ea typeface="Microsoft YaHei"/>
              </a:rPr>
              <a:t>📖 Reading · Three questions before choosing</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121 words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7 · Lesson 32 Career choice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280160"/>
            <a:ext cx="11094415" cy="489204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280160"/>
            <a:ext cx="109728" cy="4892040"/>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1463040"/>
            <a:ext cx="10545775" cy="4526280"/>
          </a:xfrm>
          <a:prstGeom prst="rect">
            <a:avLst/>
          </a:prstGeom>
          <a:noFill/>
        </p:spPr>
        <p:txBody>
          <a:bodyPr wrap="square" anchor="t">
            <a:spAutoFit/>
          </a:bodyPr>
          <a:lstStyle/>
          <a:p>
            <a:pPr algn="l">
              <a:lnSpc>
                <a:spcPct val="130000"/>
              </a:lnSpc>
              <a:spcAft>
                <a:spcPts val="800"/>
              </a:spcAft>
            </a:pPr>
            <a:r>
              <a:rPr sz="2200" b="0">
                <a:solidFill>
                  <a:srgbClr val="1F2A44"/>
                </a:solidFill>
                <a:latin typeface="Arial"/>
                <a:ea typeface="Microsoft YaHei"/>
              </a:rPr>
              <a:t>Choosing a career is rarely a single decision. It is a series of small ones. Career advisers often suggest asking three questions. First, what are you good at? Be honest about skills, not only interests. Second, what do you enjoy doing, even on a bad day? Interest keeps you going when the work gets hard. Third, what does the market need? A job you love but that pays too little for your needs may cause stress later. The best choices usually sit where these three overlap. It also helps to treat your first job as an experiment rather than a life sentence. Many people change direction two or three times, and each move teaches them something about what they really want.</a:t>
            </a:r>
          </a:p>
        </p:txBody>
      </p:sp>
    </p:spTree>
  </p:cSld>
  <p:clrMapOvr>
    <a:masterClrMapping/>
  </p:clrMapOvr>
  <p:transition spd="med">
    <p:fade/>
  </p:transition>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Check Your Understanding</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Reading</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7 · Lesson 32 Career choice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Discuss with your team, then answer. Click to check.  小组讨论后抢答，点击核对答案</a:t>
            </a:r>
          </a:p>
        </p:txBody>
      </p:sp>
      <p:sp>
        <p:nvSpPr>
          <p:cNvPr id="9" name="TextBox 8"/>
          <p:cNvSpPr txBox="1"/>
          <p:nvPr/>
        </p:nvSpPr>
        <p:spPr>
          <a:xfrm>
            <a:off x="548640" y="150876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Q1. What are the three questions?</a:t>
            </a:r>
          </a:p>
        </p:txBody>
      </p:sp>
      <p:sp>
        <p:nvSpPr>
          <p:cNvPr id="10" name="Rounded Rectangle 9"/>
          <p:cNvSpPr/>
          <p:nvPr/>
        </p:nvSpPr>
        <p:spPr>
          <a:xfrm>
            <a:off x="822960" y="198424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What are you good at? What do you enjoy? What does the market need?</a:t>
            </a:r>
          </a:p>
        </p:txBody>
      </p:sp>
      <p:sp>
        <p:nvSpPr>
          <p:cNvPr id="11" name="TextBox 10"/>
          <p:cNvSpPr txBox="1"/>
          <p:nvPr/>
        </p:nvSpPr>
        <p:spPr>
          <a:xfrm>
            <a:off x="548640" y="309372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Q2. Why should you treat the first job as an experiment?</a:t>
            </a:r>
          </a:p>
        </p:txBody>
      </p:sp>
      <p:sp>
        <p:nvSpPr>
          <p:cNvPr id="12" name="Rounded Rectangle 11"/>
          <p:cNvSpPr/>
          <p:nvPr/>
        </p:nvSpPr>
        <p:spPr>
          <a:xfrm>
            <a:off x="822960" y="356920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Because many people change direction and learn from each move.</a:t>
            </a:r>
          </a:p>
        </p:txBody>
      </p:sp>
      <p:sp>
        <p:nvSpPr>
          <p:cNvPr id="13" name="TextBox 12"/>
          <p:cNvSpPr txBox="1"/>
          <p:nvPr/>
        </p:nvSpPr>
        <p:spPr>
          <a:xfrm>
            <a:off x="548640" y="467868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Q3. Why does the “market” question matter?</a:t>
            </a:r>
          </a:p>
        </p:txBody>
      </p:sp>
      <p:sp>
        <p:nvSpPr>
          <p:cNvPr id="14" name="Rounded Rectangle 13"/>
          <p:cNvSpPr/>
          <p:nvPr/>
        </p:nvSpPr>
        <p:spPr>
          <a:xfrm>
            <a:off x="822960" y="515416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A job that pays too little may cause stress later.</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1: Choosing a career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7 · Lesson 32 Career choice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选择职业</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career path</a:t>
            </a:r>
          </a:p>
          <a:p>
            <a:pPr algn="l">
              <a:lnSpc>
                <a:spcPct val="115000"/>
              </a:lnSpc>
              <a:spcAft>
                <a:spcPts val="800"/>
              </a:spcAft>
            </a:pPr>
            <a:r>
              <a:rPr sz="1300" b="0">
                <a:solidFill>
                  <a:srgbClr val="5F677A"/>
                </a:solidFill>
                <a:latin typeface="Arial"/>
                <a:ea typeface="Microsoft YaHei"/>
              </a:rPr>
              <a:t>noun</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职业道路</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“She followed an unusual career path.”</a:t>
            </a:r>
          </a:p>
        </p:txBody>
      </p:sp>
      <p:sp>
        <p:nvSpPr>
          <p:cNvPr id="14" name="Rounded Rectangle 13"/>
          <p:cNvSpPr/>
          <p:nvPr/>
        </p:nvSpPr>
        <p:spPr>
          <a:xfrm>
            <a:off x="548640" y="21209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6304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pursue a career in</a:t>
            </a:r>
          </a:p>
          <a:p>
            <a:pPr algn="l">
              <a:lnSpc>
                <a:spcPct val="115000"/>
              </a:lnSpc>
              <a:spcAft>
                <a:spcPts val="800"/>
              </a:spcAft>
            </a:pPr>
            <a:r>
              <a:rPr sz="1300" b="0">
                <a:solidFill>
                  <a:srgbClr val="5F677A"/>
                </a:solidFill>
                <a:latin typeface="Arial"/>
                <a:ea typeface="Microsoft YaHei"/>
              </a:rPr>
              <a:t>collocation</a:t>
            </a:r>
          </a:p>
        </p:txBody>
      </p:sp>
      <p:sp>
        <p:nvSpPr>
          <p:cNvPr id="17" name="TextBox 16"/>
          <p:cNvSpPr txBox="1"/>
          <p:nvPr/>
        </p:nvSpPr>
        <p:spPr>
          <a:xfrm>
            <a:off x="4206240" y="21666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从事…的职业</a:t>
            </a:r>
          </a:p>
        </p:txBody>
      </p:sp>
      <p:sp>
        <p:nvSpPr>
          <p:cNvPr id="18" name="TextBox 17"/>
          <p:cNvSpPr txBox="1"/>
          <p:nvPr/>
        </p:nvSpPr>
        <p:spPr>
          <a:xfrm>
            <a:off x="6675120" y="21666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 want to pursue a career in finance.”</a:t>
            </a:r>
          </a:p>
        </p:txBody>
      </p:sp>
      <p:sp>
        <p:nvSpPr>
          <p:cNvPr id="19" name="Rounded Rectangle 18"/>
          <p:cNvSpPr/>
          <p:nvPr/>
        </p:nvSpPr>
        <p:spPr>
          <a:xfrm>
            <a:off x="548640" y="28244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2824480"/>
            <a:ext cx="91440" cy="6304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287020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be drawn to</a:t>
            </a:r>
          </a:p>
          <a:p>
            <a:pPr algn="l">
              <a:lnSpc>
                <a:spcPct val="115000"/>
              </a:lnSpc>
              <a:spcAft>
                <a:spcPts val="800"/>
              </a:spcAft>
            </a:pPr>
            <a:r>
              <a:rPr sz="1300" b="0">
                <a:solidFill>
                  <a:srgbClr val="5F677A"/>
                </a:solidFill>
                <a:latin typeface="Arial"/>
                <a:ea typeface="Microsoft YaHei"/>
              </a:rPr>
              <a:t>phrase</a:t>
            </a:r>
          </a:p>
        </p:txBody>
      </p:sp>
      <p:sp>
        <p:nvSpPr>
          <p:cNvPr id="22" name="TextBox 21"/>
          <p:cNvSpPr txBox="1"/>
          <p:nvPr/>
        </p:nvSpPr>
        <p:spPr>
          <a:xfrm>
            <a:off x="4206240" y="28702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被…吸引</a:t>
            </a:r>
          </a:p>
        </p:txBody>
      </p:sp>
      <p:sp>
        <p:nvSpPr>
          <p:cNvPr id="23" name="TextBox 22"/>
          <p:cNvSpPr txBox="1"/>
          <p:nvPr/>
        </p:nvSpPr>
        <p:spPr>
          <a:xfrm>
            <a:off x="6675120" y="28702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 was drawn to marketing.”</a:t>
            </a:r>
          </a:p>
        </p:txBody>
      </p:sp>
      <p:sp>
        <p:nvSpPr>
          <p:cNvPr id="24" name="Rounded Rectangle 23"/>
          <p:cNvSpPr/>
          <p:nvPr/>
        </p:nvSpPr>
        <p:spPr>
          <a:xfrm>
            <a:off x="548640" y="352806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52806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57378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end up (doing)</a:t>
            </a:r>
          </a:p>
          <a:p>
            <a:pPr algn="l">
              <a:lnSpc>
                <a:spcPct val="115000"/>
              </a:lnSpc>
              <a:spcAft>
                <a:spcPts val="800"/>
              </a:spcAft>
            </a:pPr>
            <a:r>
              <a:rPr sz="1300" b="0">
                <a:solidFill>
                  <a:srgbClr val="5F677A"/>
                </a:solidFill>
                <a:latin typeface="Arial"/>
                <a:ea typeface="Microsoft YaHei"/>
              </a:rPr>
              <a:t>phrasal verb</a:t>
            </a:r>
          </a:p>
        </p:txBody>
      </p:sp>
      <p:sp>
        <p:nvSpPr>
          <p:cNvPr id="27" name="TextBox 26"/>
          <p:cNvSpPr txBox="1"/>
          <p:nvPr/>
        </p:nvSpPr>
        <p:spPr>
          <a:xfrm>
            <a:off x="4206240" y="357378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最终(做了…)</a:t>
            </a:r>
          </a:p>
        </p:txBody>
      </p:sp>
      <p:sp>
        <p:nvSpPr>
          <p:cNvPr id="28" name="TextBox 27"/>
          <p:cNvSpPr txBox="1"/>
          <p:nvPr/>
        </p:nvSpPr>
        <p:spPr>
          <a:xfrm>
            <a:off x="6675120" y="357378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 ended up in HR by accident.”</a:t>
            </a:r>
          </a:p>
        </p:txBody>
      </p:sp>
      <p:sp>
        <p:nvSpPr>
          <p:cNvPr id="29" name="Rounded Rectangle 28"/>
          <p:cNvSpPr/>
          <p:nvPr/>
        </p:nvSpPr>
        <p:spPr>
          <a:xfrm>
            <a:off x="548640" y="423164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23164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27736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find your calling</a:t>
            </a:r>
          </a:p>
          <a:p>
            <a:pPr algn="l">
              <a:lnSpc>
                <a:spcPct val="115000"/>
              </a:lnSpc>
              <a:spcAft>
                <a:spcPts val="800"/>
              </a:spcAft>
            </a:pPr>
            <a:r>
              <a:rPr sz="1300" b="0">
                <a:solidFill>
                  <a:srgbClr val="5F677A"/>
                </a:solidFill>
                <a:latin typeface="Arial"/>
                <a:ea typeface="Microsoft YaHei"/>
              </a:rPr>
              <a:t>collocation</a:t>
            </a:r>
          </a:p>
        </p:txBody>
      </p:sp>
      <p:sp>
        <p:nvSpPr>
          <p:cNvPr id="32" name="TextBox 31"/>
          <p:cNvSpPr txBox="1"/>
          <p:nvPr/>
        </p:nvSpPr>
        <p:spPr>
          <a:xfrm>
            <a:off x="4206240" y="427736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找到天职</a:t>
            </a:r>
          </a:p>
        </p:txBody>
      </p:sp>
      <p:sp>
        <p:nvSpPr>
          <p:cNvPr id="33" name="TextBox 32"/>
          <p:cNvSpPr txBox="1"/>
          <p:nvPr/>
        </p:nvSpPr>
        <p:spPr>
          <a:xfrm>
            <a:off x="6675120" y="427736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“She found her calling in teaching.”</a:t>
            </a:r>
          </a:p>
        </p:txBody>
      </p:sp>
    </p:spTree>
  </p:cSld>
  <p:clrMapOvr>
    <a:masterClrMapping/>
  </p:clrMapOvr>
  <p:transition spd="med">
    <p:fade/>
  </p:transition>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2: Factors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7 · Lesson 32 Career choice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考虑因素</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job security</a:t>
            </a:r>
          </a:p>
          <a:p>
            <a:pPr algn="l">
              <a:lnSpc>
                <a:spcPct val="115000"/>
              </a:lnSpc>
              <a:spcAft>
                <a:spcPts val="800"/>
              </a:spcAft>
            </a:pPr>
            <a:r>
              <a:rPr sz="1300" b="0">
                <a:solidFill>
                  <a:srgbClr val="5F677A"/>
                </a:solidFill>
                <a:latin typeface="Arial"/>
                <a:ea typeface="Microsoft YaHei"/>
              </a:rPr>
              <a:t>noun</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工作稳定性</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“Job security matters to me.”</a:t>
            </a:r>
          </a:p>
        </p:txBody>
      </p:sp>
      <p:sp>
        <p:nvSpPr>
          <p:cNvPr id="14" name="Rounded Rectangle 13"/>
          <p:cNvSpPr/>
          <p:nvPr/>
        </p:nvSpPr>
        <p:spPr>
          <a:xfrm>
            <a:off x="548640" y="21209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6304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work-life balance</a:t>
            </a:r>
          </a:p>
          <a:p>
            <a:pPr algn="l">
              <a:lnSpc>
                <a:spcPct val="115000"/>
              </a:lnSpc>
              <a:spcAft>
                <a:spcPts val="800"/>
              </a:spcAft>
            </a:pPr>
            <a:r>
              <a:rPr sz="1300" b="0">
                <a:solidFill>
                  <a:srgbClr val="5F677A"/>
                </a:solidFill>
                <a:latin typeface="Arial"/>
                <a:ea typeface="Microsoft YaHei"/>
              </a:rPr>
              <a:t>noun</a:t>
            </a:r>
          </a:p>
        </p:txBody>
      </p:sp>
      <p:sp>
        <p:nvSpPr>
          <p:cNvPr id="17" name="TextBox 16"/>
          <p:cNvSpPr txBox="1"/>
          <p:nvPr/>
        </p:nvSpPr>
        <p:spPr>
          <a:xfrm>
            <a:off x="4206240" y="21666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工作生活平衡</a:t>
            </a:r>
          </a:p>
        </p:txBody>
      </p:sp>
      <p:sp>
        <p:nvSpPr>
          <p:cNvPr id="18" name="TextBox 17"/>
          <p:cNvSpPr txBox="1"/>
          <p:nvPr/>
        </p:nvSpPr>
        <p:spPr>
          <a:xfrm>
            <a:off x="6675120" y="21666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 want better work-life balance.”</a:t>
            </a:r>
          </a:p>
        </p:txBody>
      </p:sp>
      <p:sp>
        <p:nvSpPr>
          <p:cNvPr id="19" name="Rounded Rectangle 18"/>
          <p:cNvSpPr/>
          <p:nvPr/>
        </p:nvSpPr>
        <p:spPr>
          <a:xfrm>
            <a:off x="548640" y="28244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2824480"/>
            <a:ext cx="91440" cy="6304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287020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salary / pay package</a:t>
            </a:r>
          </a:p>
          <a:p>
            <a:pPr algn="l">
              <a:lnSpc>
                <a:spcPct val="115000"/>
              </a:lnSpc>
              <a:spcAft>
                <a:spcPts val="800"/>
              </a:spcAft>
            </a:pPr>
            <a:r>
              <a:rPr sz="1300" b="0">
                <a:solidFill>
                  <a:srgbClr val="5F677A"/>
                </a:solidFill>
                <a:latin typeface="Arial"/>
                <a:ea typeface="Microsoft YaHei"/>
              </a:rPr>
              <a:t>noun</a:t>
            </a:r>
          </a:p>
        </p:txBody>
      </p:sp>
      <p:sp>
        <p:nvSpPr>
          <p:cNvPr id="22" name="TextBox 21"/>
          <p:cNvSpPr txBox="1"/>
          <p:nvPr/>
        </p:nvSpPr>
        <p:spPr>
          <a:xfrm>
            <a:off x="4206240" y="28702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薪酬</a:t>
            </a:r>
          </a:p>
        </p:txBody>
      </p:sp>
      <p:sp>
        <p:nvSpPr>
          <p:cNvPr id="23" name="TextBox 22"/>
          <p:cNvSpPr txBox="1"/>
          <p:nvPr/>
        </p:nvSpPr>
        <p:spPr>
          <a:xfrm>
            <a:off x="6675120" y="28702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“The pay package includes a bonus.”</a:t>
            </a:r>
          </a:p>
        </p:txBody>
      </p:sp>
      <p:sp>
        <p:nvSpPr>
          <p:cNvPr id="24" name="Rounded Rectangle 23"/>
          <p:cNvSpPr/>
          <p:nvPr/>
        </p:nvSpPr>
        <p:spPr>
          <a:xfrm>
            <a:off x="548640" y="352806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52806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57378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prospects</a:t>
            </a:r>
          </a:p>
          <a:p>
            <a:pPr algn="l">
              <a:lnSpc>
                <a:spcPct val="115000"/>
              </a:lnSpc>
              <a:spcAft>
                <a:spcPts val="800"/>
              </a:spcAft>
            </a:pPr>
            <a:r>
              <a:rPr sz="1300" b="0">
                <a:solidFill>
                  <a:srgbClr val="5F677A"/>
                </a:solidFill>
                <a:latin typeface="Arial"/>
                <a:ea typeface="Microsoft YaHei"/>
              </a:rPr>
              <a:t>noun</a:t>
            </a:r>
          </a:p>
        </p:txBody>
      </p:sp>
      <p:sp>
        <p:nvSpPr>
          <p:cNvPr id="27" name="TextBox 26"/>
          <p:cNvSpPr txBox="1"/>
          <p:nvPr/>
        </p:nvSpPr>
        <p:spPr>
          <a:xfrm>
            <a:off x="4206240" y="357378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前景</a:t>
            </a:r>
          </a:p>
        </p:txBody>
      </p:sp>
      <p:sp>
        <p:nvSpPr>
          <p:cNvPr id="28" name="TextBox 27"/>
          <p:cNvSpPr txBox="1"/>
          <p:nvPr/>
        </p:nvSpPr>
        <p:spPr>
          <a:xfrm>
            <a:off x="6675120" y="357378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“The career prospects are excellent.”</a:t>
            </a:r>
          </a:p>
        </p:txBody>
      </p:sp>
      <p:sp>
        <p:nvSpPr>
          <p:cNvPr id="29" name="Rounded Rectangle 28"/>
          <p:cNvSpPr/>
          <p:nvPr/>
        </p:nvSpPr>
        <p:spPr>
          <a:xfrm>
            <a:off x="548640" y="423164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23164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27736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a stepping stone</a:t>
            </a:r>
          </a:p>
          <a:p>
            <a:pPr algn="l">
              <a:lnSpc>
                <a:spcPct val="115000"/>
              </a:lnSpc>
              <a:spcAft>
                <a:spcPts val="800"/>
              </a:spcAft>
            </a:pPr>
            <a:r>
              <a:rPr sz="1300" b="0">
                <a:solidFill>
                  <a:srgbClr val="5F677A"/>
                </a:solidFill>
                <a:latin typeface="Arial"/>
                <a:ea typeface="Microsoft YaHei"/>
              </a:rPr>
              <a:t>noun</a:t>
            </a:r>
          </a:p>
        </p:txBody>
      </p:sp>
      <p:sp>
        <p:nvSpPr>
          <p:cNvPr id="32" name="TextBox 31"/>
          <p:cNvSpPr txBox="1"/>
          <p:nvPr/>
        </p:nvSpPr>
        <p:spPr>
          <a:xfrm>
            <a:off x="4206240" y="427736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跳板</a:t>
            </a:r>
          </a:p>
        </p:txBody>
      </p:sp>
      <p:sp>
        <p:nvSpPr>
          <p:cNvPr id="33" name="TextBox 32"/>
          <p:cNvSpPr txBox="1"/>
          <p:nvPr/>
        </p:nvSpPr>
        <p:spPr>
          <a:xfrm>
            <a:off x="6675120" y="427736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“This job is a stepping stone to management.”</a:t>
            </a:r>
          </a:p>
        </p:txBody>
      </p:sp>
    </p:spTree>
  </p:cSld>
  <p:clrMapOvr>
    <a:masterClrMapping/>
  </p:clrMapOvr>
  <p:transition spd="med">
    <p:fade/>
  </p:transition>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3: Plans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7 · Lesson 32 Career choice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计划</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aim for / aspire to</a:t>
            </a:r>
          </a:p>
          <a:p>
            <a:pPr algn="l">
              <a:lnSpc>
                <a:spcPct val="115000"/>
              </a:lnSpc>
              <a:spcAft>
                <a:spcPts val="800"/>
              </a:spcAft>
            </a:pPr>
            <a:r>
              <a:rPr sz="1300" b="0">
                <a:solidFill>
                  <a:srgbClr val="5F677A"/>
                </a:solidFill>
                <a:latin typeface="Arial"/>
                <a:ea typeface="Microsoft YaHei"/>
              </a:rPr>
              <a:t>verb</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力争/渴望</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 aspire to lead a team.”</a:t>
            </a:r>
          </a:p>
        </p:txBody>
      </p:sp>
      <p:sp>
        <p:nvSpPr>
          <p:cNvPr id="14" name="Rounded Rectangle 13"/>
          <p:cNvSpPr/>
          <p:nvPr/>
        </p:nvSpPr>
        <p:spPr>
          <a:xfrm>
            <a:off x="548640" y="21209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6304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gain experience</a:t>
            </a:r>
          </a:p>
          <a:p>
            <a:pPr algn="l">
              <a:lnSpc>
                <a:spcPct val="115000"/>
              </a:lnSpc>
              <a:spcAft>
                <a:spcPts val="800"/>
              </a:spcAft>
            </a:pPr>
            <a:r>
              <a:rPr sz="1300" b="0">
                <a:solidFill>
                  <a:srgbClr val="5F677A"/>
                </a:solidFill>
                <a:latin typeface="Arial"/>
                <a:ea typeface="Microsoft YaHei"/>
              </a:rPr>
              <a:t>collocation</a:t>
            </a:r>
          </a:p>
        </p:txBody>
      </p:sp>
      <p:sp>
        <p:nvSpPr>
          <p:cNvPr id="17" name="TextBox 16"/>
          <p:cNvSpPr txBox="1"/>
          <p:nvPr/>
        </p:nvSpPr>
        <p:spPr>
          <a:xfrm>
            <a:off x="4206240" y="21666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积累经验</a:t>
            </a:r>
          </a:p>
        </p:txBody>
      </p:sp>
      <p:sp>
        <p:nvSpPr>
          <p:cNvPr id="18" name="TextBox 17"/>
          <p:cNvSpPr txBox="1"/>
          <p:nvPr/>
        </p:nvSpPr>
        <p:spPr>
          <a:xfrm>
            <a:off x="6675120" y="21666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 want to gain experience abroad.”</a:t>
            </a:r>
          </a:p>
        </p:txBody>
      </p:sp>
      <p:sp>
        <p:nvSpPr>
          <p:cNvPr id="19" name="Rounded Rectangle 18"/>
          <p:cNvSpPr/>
          <p:nvPr/>
        </p:nvSpPr>
        <p:spPr>
          <a:xfrm>
            <a:off x="548640" y="28244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282448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287020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climb the ladder</a:t>
            </a:r>
          </a:p>
          <a:p>
            <a:pPr algn="l">
              <a:lnSpc>
                <a:spcPct val="115000"/>
              </a:lnSpc>
              <a:spcAft>
                <a:spcPts val="800"/>
              </a:spcAft>
            </a:pPr>
            <a:r>
              <a:rPr sz="1300" b="0">
                <a:solidFill>
                  <a:srgbClr val="5F677A"/>
                </a:solidFill>
                <a:latin typeface="Arial"/>
                <a:ea typeface="Microsoft YaHei"/>
              </a:rPr>
              <a:t>idiom</a:t>
            </a:r>
          </a:p>
        </p:txBody>
      </p:sp>
      <p:sp>
        <p:nvSpPr>
          <p:cNvPr id="22" name="TextBox 21"/>
          <p:cNvSpPr txBox="1"/>
          <p:nvPr/>
        </p:nvSpPr>
        <p:spPr>
          <a:xfrm>
            <a:off x="4206240" y="28702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晋升</a:t>
            </a:r>
          </a:p>
        </p:txBody>
      </p:sp>
      <p:sp>
        <p:nvSpPr>
          <p:cNvPr id="23" name="TextBox 22"/>
          <p:cNvSpPr txBox="1"/>
          <p:nvPr/>
        </p:nvSpPr>
        <p:spPr>
          <a:xfrm>
            <a:off x="6675120" y="28702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“He climbed the corporate ladder quickly.”</a:t>
            </a:r>
          </a:p>
        </p:txBody>
      </p:sp>
      <p:sp>
        <p:nvSpPr>
          <p:cNvPr id="24" name="Rounded Rectangle 23"/>
          <p:cNvSpPr/>
          <p:nvPr/>
        </p:nvSpPr>
        <p:spPr>
          <a:xfrm>
            <a:off x="548640" y="352806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52806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57378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switch careers</a:t>
            </a:r>
          </a:p>
          <a:p>
            <a:pPr algn="l">
              <a:lnSpc>
                <a:spcPct val="115000"/>
              </a:lnSpc>
              <a:spcAft>
                <a:spcPts val="800"/>
              </a:spcAft>
            </a:pPr>
            <a:r>
              <a:rPr sz="1300" b="0">
                <a:solidFill>
                  <a:srgbClr val="5F677A"/>
                </a:solidFill>
                <a:latin typeface="Arial"/>
                <a:ea typeface="Microsoft YaHei"/>
              </a:rPr>
              <a:t>collocation</a:t>
            </a:r>
          </a:p>
        </p:txBody>
      </p:sp>
      <p:sp>
        <p:nvSpPr>
          <p:cNvPr id="27" name="TextBox 26"/>
          <p:cNvSpPr txBox="1"/>
          <p:nvPr/>
        </p:nvSpPr>
        <p:spPr>
          <a:xfrm>
            <a:off x="4206240" y="357378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转行</a:t>
            </a:r>
          </a:p>
        </p:txBody>
      </p:sp>
      <p:sp>
        <p:nvSpPr>
          <p:cNvPr id="28" name="TextBox 27"/>
          <p:cNvSpPr txBox="1"/>
          <p:nvPr/>
        </p:nvSpPr>
        <p:spPr>
          <a:xfrm>
            <a:off x="6675120" y="357378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“She switched careers at 35.”</a:t>
            </a:r>
          </a:p>
        </p:txBody>
      </p:sp>
      <p:sp>
        <p:nvSpPr>
          <p:cNvPr id="29" name="Rounded Rectangle 28"/>
          <p:cNvSpPr/>
          <p:nvPr/>
        </p:nvSpPr>
        <p:spPr>
          <a:xfrm>
            <a:off x="548640" y="423164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23164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27736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keep my options open</a:t>
            </a:r>
          </a:p>
          <a:p>
            <a:pPr algn="l">
              <a:lnSpc>
                <a:spcPct val="115000"/>
              </a:lnSpc>
              <a:spcAft>
                <a:spcPts val="800"/>
              </a:spcAft>
            </a:pPr>
            <a:r>
              <a:rPr sz="1300" b="0">
                <a:solidFill>
                  <a:srgbClr val="5F677A"/>
                </a:solidFill>
                <a:latin typeface="Arial"/>
                <a:ea typeface="Microsoft YaHei"/>
              </a:rPr>
              <a:t>idiom</a:t>
            </a:r>
          </a:p>
        </p:txBody>
      </p:sp>
      <p:sp>
        <p:nvSpPr>
          <p:cNvPr id="32" name="TextBox 31"/>
          <p:cNvSpPr txBox="1"/>
          <p:nvPr/>
        </p:nvSpPr>
        <p:spPr>
          <a:xfrm>
            <a:off x="4206240" y="427736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保留选择余地</a:t>
            </a:r>
          </a:p>
        </p:txBody>
      </p:sp>
      <p:sp>
        <p:nvSpPr>
          <p:cNvPr id="33" name="TextBox 32"/>
          <p:cNvSpPr txBox="1"/>
          <p:nvPr/>
        </p:nvSpPr>
        <p:spPr>
          <a:xfrm>
            <a:off x="6675120" y="427736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“I’m keeping my options open.”</a:t>
            </a:r>
          </a:p>
        </p:txBody>
      </p:sp>
    </p:spTree>
  </p:cSld>
  <p:clrMapOvr>
    <a:masterClrMapping/>
  </p:clrMapOvr>
  <p:transition spd="med">
    <p:fade/>
  </p:transition>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Speed Round: Say it in English!</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Game</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7 · Lesson 32 Career choice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Read the Chinese, shout the English expression! Click to reveal.  看中文，抢答英文表达</a:t>
            </a:r>
          </a:p>
        </p:txBody>
      </p:sp>
      <p:sp>
        <p:nvSpPr>
          <p:cNvPr id="9" name="Rounded Rectangle 8"/>
          <p:cNvSpPr/>
          <p:nvPr/>
        </p:nvSpPr>
        <p:spPr>
          <a:xfrm>
            <a:off x="548640" y="155448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跳板</a:t>
            </a:r>
          </a:p>
        </p:txBody>
      </p:sp>
      <p:sp>
        <p:nvSpPr>
          <p:cNvPr id="11" name="Rounded Rectangle 10"/>
          <p:cNvSpPr/>
          <p:nvPr/>
        </p:nvSpPr>
        <p:spPr>
          <a:xfrm>
            <a:off x="685800" y="265176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a stepping stone</a:t>
            </a:r>
          </a:p>
        </p:txBody>
      </p:sp>
      <p:sp>
        <p:nvSpPr>
          <p:cNvPr id="12" name="Rounded Rectangle 11"/>
          <p:cNvSpPr/>
          <p:nvPr/>
        </p:nvSpPr>
        <p:spPr>
          <a:xfrm>
            <a:off x="3367963" y="155448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459403"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晋升</a:t>
            </a:r>
          </a:p>
        </p:txBody>
      </p:sp>
      <p:sp>
        <p:nvSpPr>
          <p:cNvPr id="14" name="Rounded Rectangle 13"/>
          <p:cNvSpPr/>
          <p:nvPr/>
        </p:nvSpPr>
        <p:spPr>
          <a:xfrm>
            <a:off x="3505123" y="265176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climb the ladder</a:t>
            </a:r>
          </a:p>
        </p:txBody>
      </p:sp>
      <p:sp>
        <p:nvSpPr>
          <p:cNvPr id="15" name="Rounded Rectangle 14"/>
          <p:cNvSpPr/>
          <p:nvPr/>
        </p:nvSpPr>
        <p:spPr>
          <a:xfrm>
            <a:off x="6187286" y="155448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78726"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工作稳定性</a:t>
            </a:r>
          </a:p>
        </p:txBody>
      </p:sp>
      <p:sp>
        <p:nvSpPr>
          <p:cNvPr id="17" name="Rounded Rectangle 16"/>
          <p:cNvSpPr/>
          <p:nvPr/>
        </p:nvSpPr>
        <p:spPr>
          <a:xfrm>
            <a:off x="6324446" y="265176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job security</a:t>
            </a:r>
          </a:p>
        </p:txBody>
      </p:sp>
      <p:sp>
        <p:nvSpPr>
          <p:cNvPr id="18" name="Rounded Rectangle 17"/>
          <p:cNvSpPr/>
          <p:nvPr/>
        </p:nvSpPr>
        <p:spPr>
          <a:xfrm>
            <a:off x="9006609" y="1554480"/>
            <a:ext cx="2636443" cy="2148840"/>
          </a:xfrm>
          <a:prstGeom prst="roundRect">
            <a:avLst>
              <a:gd name="adj" fmla="val 10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098049"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积累经验</a:t>
            </a:r>
          </a:p>
        </p:txBody>
      </p:sp>
      <p:sp>
        <p:nvSpPr>
          <p:cNvPr id="20" name="Rounded Rectangle 19"/>
          <p:cNvSpPr/>
          <p:nvPr/>
        </p:nvSpPr>
        <p:spPr>
          <a:xfrm>
            <a:off x="9143769" y="2651760"/>
            <a:ext cx="2362123" cy="9144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gain experience</a:t>
            </a:r>
          </a:p>
        </p:txBody>
      </p:sp>
      <p:sp>
        <p:nvSpPr>
          <p:cNvPr id="21" name="Rounded Rectangle 20"/>
          <p:cNvSpPr/>
          <p:nvPr/>
        </p:nvSpPr>
        <p:spPr>
          <a:xfrm>
            <a:off x="548640" y="3886200"/>
            <a:ext cx="2636443" cy="2148840"/>
          </a:xfrm>
          <a:prstGeom prst="roundRect">
            <a:avLst>
              <a:gd name="adj" fmla="val 10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力争/渴望</a:t>
            </a:r>
          </a:p>
        </p:txBody>
      </p:sp>
      <p:sp>
        <p:nvSpPr>
          <p:cNvPr id="23" name="Rounded Rectangle 22"/>
          <p:cNvSpPr/>
          <p:nvPr/>
        </p:nvSpPr>
        <p:spPr>
          <a:xfrm>
            <a:off x="685800" y="4983480"/>
            <a:ext cx="2362123" cy="9144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aim for / aspire to</a:t>
            </a:r>
          </a:p>
        </p:txBody>
      </p:sp>
      <p:sp>
        <p:nvSpPr>
          <p:cNvPr id="24" name="Rounded Rectangle 23"/>
          <p:cNvSpPr/>
          <p:nvPr/>
        </p:nvSpPr>
        <p:spPr>
          <a:xfrm>
            <a:off x="3367963" y="388620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459403"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保留选择余地</a:t>
            </a:r>
          </a:p>
        </p:txBody>
      </p:sp>
      <p:sp>
        <p:nvSpPr>
          <p:cNvPr id="26" name="Rounded Rectangle 25"/>
          <p:cNvSpPr/>
          <p:nvPr/>
        </p:nvSpPr>
        <p:spPr>
          <a:xfrm>
            <a:off x="3505123" y="498348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keep my options open</a:t>
            </a:r>
          </a:p>
        </p:txBody>
      </p:sp>
      <p:sp>
        <p:nvSpPr>
          <p:cNvPr id="27" name="Rounded Rectangle 26"/>
          <p:cNvSpPr/>
          <p:nvPr/>
        </p:nvSpPr>
        <p:spPr>
          <a:xfrm>
            <a:off x="6187286" y="388620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78726"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被…吸引</a:t>
            </a:r>
          </a:p>
        </p:txBody>
      </p:sp>
      <p:sp>
        <p:nvSpPr>
          <p:cNvPr id="29" name="Rounded Rectangle 28"/>
          <p:cNvSpPr/>
          <p:nvPr/>
        </p:nvSpPr>
        <p:spPr>
          <a:xfrm>
            <a:off x="6324446" y="498348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be drawn to</a:t>
            </a:r>
          </a:p>
        </p:txBody>
      </p:sp>
      <p:sp>
        <p:nvSpPr>
          <p:cNvPr id="30" name="Rounded Rectangle 29"/>
          <p:cNvSpPr/>
          <p:nvPr/>
        </p:nvSpPr>
        <p:spPr>
          <a:xfrm>
            <a:off x="9006609" y="388620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098049"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找到天职</a:t>
            </a:r>
          </a:p>
        </p:txBody>
      </p:sp>
      <p:sp>
        <p:nvSpPr>
          <p:cNvPr id="32" name="Rounded Rectangle 31"/>
          <p:cNvSpPr/>
          <p:nvPr/>
        </p:nvSpPr>
        <p:spPr>
          <a:xfrm>
            <a:off x="9143769" y="498348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find your calling</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1"/>
                                        </p:tgtEl>
                                        <p:attrNameLst>
                                          <p:attrName>style.visibility</p:attrName>
                                        </p:attrNameLst>
                                      </p:cBhvr>
                                      <p:to>
                                        <p:strVal val="visible"/>
                                      </p:to>
                                    </p:set>
                                    <p:animEffect transition="in" filter="fade">
                                      <p:cBhvr>
                                        <p:cTn id="4" dur="400"/>
                                        <p:tgtEl>
                                          <p:spTgt spid="1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4"/>
                                        </p:tgtEl>
                                        <p:attrNameLst>
                                          <p:attrName>style.visibility</p:attrName>
                                        </p:attrNameLst>
                                      </p:cBhvr>
                                      <p:to>
                                        <p:strVal val="visible"/>
                                      </p:to>
                                    </p:set>
                                    <p:animEffect transition="in" filter="fade">
                                      <p:cBhvr>
                                        <p:cTn id="9" dur="400"/>
                                        <p:tgtEl>
                                          <p:spTgt spid="14"/>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7"/>
                                        </p:tgtEl>
                                        <p:attrNameLst>
                                          <p:attrName>style.visibility</p:attrName>
                                        </p:attrNameLst>
                                      </p:cBhvr>
                                      <p:to>
                                        <p:strVal val="visible"/>
                                      </p:to>
                                    </p:set>
                                    <p:animEffect transition="in" filter="fade">
                                      <p:cBhvr>
                                        <p:cTn id="14" dur="400"/>
                                        <p:tgtEl>
                                          <p:spTgt spid="17"/>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0"/>
                                        </p:tgtEl>
                                        <p:attrNameLst>
                                          <p:attrName>style.visibility</p:attrName>
                                        </p:attrNameLst>
                                      </p:cBhvr>
                                      <p:to>
                                        <p:strVal val="visible"/>
                                      </p:to>
                                    </p:set>
                                    <p:animEffect transition="in" filter="fade">
                                      <p:cBhvr>
                                        <p:cTn id="19" dur="400"/>
                                        <p:tgtEl>
                                          <p:spTgt spid="20"/>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3"/>
                                        </p:tgtEl>
                                        <p:attrNameLst>
                                          <p:attrName>style.visibility</p:attrName>
                                        </p:attrNameLst>
                                      </p:cBhvr>
                                      <p:to>
                                        <p:strVal val="visible"/>
                                      </p:to>
                                    </p:set>
                                    <p:animEffect transition="in" filter="fade">
                                      <p:cBhvr>
                                        <p:cTn id="24" dur="400"/>
                                        <p:tgtEl>
                                          <p:spTgt spid="23"/>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26"/>
                                        </p:tgtEl>
                                        <p:attrNameLst>
                                          <p:attrName>style.visibility</p:attrName>
                                        </p:attrNameLst>
                                      </p:cBhvr>
                                      <p:to>
                                        <p:strVal val="visible"/>
                                      </p:to>
                                    </p:set>
                                    <p:animEffect transition="in" filter="fade">
                                      <p:cBhvr>
                                        <p:cTn id="29" dur="400"/>
                                        <p:tgtEl>
                                          <p:spTgt spid="26"/>
                                        </p:tgtEl>
                                      </p:cBhvr>
                                    </p:animEffect>
                                  </p:childTnLst>
                                </p:cTn>
                              </p:par>
                            </p:childTnLst>
                          </p:cTn>
                        </p:par>
                      </p:childTnLst>
                    </p:cTn>
                  </p:par>
                  <p:par>
                    <p:cTn id="36" fill="hold">
                      <p:stCondLst>
                        <p:cond delay="indefinite"/>
                      </p:stCondLst>
                      <p:childTnLst>
                        <p:par>
                          <p:cTn id="37" fill="hold">
                            <p:stCondLst>
                              <p:cond delay="0"/>
                            </p:stCondLst>
                            <p:childTnLst>
                              <p:par>
                                <p:cTn id="35" presetID="10" presetClass="entr" presetSubtype="0" fill="hold" nodeType="clickEffect">
                                  <p:stCondLst>
                                    <p:cond delay="0"/>
                                  </p:stCondLst>
                                  <p:childTnLst>
                                    <p:set>
                                      <p:cBhvr>
                                        <p:cTn id="33" dur="1" fill="hold">
                                          <p:stCondLst>
                                            <p:cond delay="0"/>
                                          </p:stCondLst>
                                        </p:cTn>
                                        <p:tgtEl>
                                          <p:spTgt spid="29"/>
                                        </p:tgtEl>
                                        <p:attrNameLst>
                                          <p:attrName>style.visibility</p:attrName>
                                        </p:attrNameLst>
                                      </p:cBhvr>
                                      <p:to>
                                        <p:strVal val="visible"/>
                                      </p:to>
                                    </p:set>
                                    <p:animEffect transition="in" filter="fade">
                                      <p:cBhvr>
                                        <p:cTn id="34" dur="400"/>
                                        <p:tgtEl>
                                          <p:spTgt spid="29"/>
                                        </p:tgtEl>
                                      </p:cBhvr>
                                    </p:animEffect>
                                  </p:childTnLst>
                                </p:cTn>
                              </p:par>
                            </p:childTnLst>
                          </p:cTn>
                        </p:par>
                      </p:childTnLst>
                    </p:cTn>
                  </p:par>
                  <p:par>
                    <p:cTn id="41" fill="hold">
                      <p:stCondLst>
                        <p:cond delay="indefinite"/>
                      </p:stCondLst>
                      <p:childTnLst>
                        <p:par>
                          <p:cTn id="42" fill="hold">
                            <p:stCondLst>
                              <p:cond delay="0"/>
                            </p:stCondLst>
                            <p:childTnLst>
                              <p:par>
                                <p:cTn id="40" presetID="10" presetClass="entr" presetSubtype="0" fill="hold" nodeType="clickEffect">
                                  <p:stCondLst>
                                    <p:cond delay="0"/>
                                  </p:stCondLst>
                                  <p:childTnLst>
                                    <p:set>
                                      <p:cBhvr>
                                        <p:cTn id="38" dur="1" fill="hold">
                                          <p:stCondLst>
                                            <p:cond delay="0"/>
                                          </p:stCondLst>
                                        </p:cTn>
                                        <p:tgtEl>
                                          <p:spTgt spid="32"/>
                                        </p:tgtEl>
                                        <p:attrNameLst>
                                          <p:attrName>style.visibility</p:attrName>
                                        </p:attrNameLst>
                                      </p:cBhvr>
                                      <p:to>
                                        <p:strVal val="visible"/>
                                      </p:to>
                                    </p:set>
                                    <p:animEffect transition="in" filter="fade">
                                      <p:cBhvr>
                                        <p:cTn id="39"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Mini Quiz: Fill in the Blanks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7 · Lesson 32 Career choice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463040" cy="457200"/>
          </a:xfrm>
          <a:prstGeom prst="rect">
            <a:avLst/>
          </a:prstGeom>
          <a:noFill/>
        </p:spPr>
        <p:txBody>
          <a:bodyPr wrap="square" anchor="ctr">
            <a:spAutoFit/>
          </a:bodyPr>
          <a:lstStyle/>
          <a:p>
            <a:pPr algn="l">
              <a:lnSpc>
                <a:spcPct val="115000"/>
              </a:lnSpc>
              <a:spcAft>
                <a:spcPts val="800"/>
              </a:spcAft>
            </a:pPr>
            <a:r>
              <a:rPr sz="1400" b="0">
                <a:solidFill>
                  <a:srgbClr val="5F677A"/>
                </a:solidFill>
                <a:latin typeface="Arial"/>
                <a:ea typeface="Microsoft YaHei"/>
              </a:rPr>
              <a:t>Word bank</a:t>
            </a:r>
          </a:p>
        </p:txBody>
      </p:sp>
      <p:sp>
        <p:nvSpPr>
          <p:cNvPr id="9" name="Rounded Rectangle 8"/>
          <p:cNvSpPr/>
          <p:nvPr/>
        </p:nvSpPr>
        <p:spPr>
          <a:xfrm>
            <a:off x="2011680" y="987552"/>
            <a:ext cx="804672" cy="41148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path</a:t>
            </a:r>
          </a:p>
        </p:txBody>
      </p:sp>
      <p:sp>
        <p:nvSpPr>
          <p:cNvPr id="10" name="Rounded Rectangle 9"/>
          <p:cNvSpPr/>
          <p:nvPr/>
        </p:nvSpPr>
        <p:spPr>
          <a:xfrm>
            <a:off x="2907792" y="987552"/>
            <a:ext cx="1024128" cy="41148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pursue</a:t>
            </a:r>
          </a:p>
        </p:txBody>
      </p:sp>
      <p:sp>
        <p:nvSpPr>
          <p:cNvPr id="11" name="Rounded Rectangle 10"/>
          <p:cNvSpPr/>
          <p:nvPr/>
        </p:nvSpPr>
        <p:spPr>
          <a:xfrm>
            <a:off x="4023360" y="987552"/>
            <a:ext cx="914400" cy="41148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drawn</a:t>
            </a:r>
          </a:p>
        </p:txBody>
      </p:sp>
      <p:sp>
        <p:nvSpPr>
          <p:cNvPr id="12" name="Rounded Rectangle 11"/>
          <p:cNvSpPr/>
          <p:nvPr/>
        </p:nvSpPr>
        <p:spPr>
          <a:xfrm>
            <a:off x="5029200" y="987552"/>
            <a:ext cx="1243584" cy="411480"/>
          </a:xfrm>
          <a:prstGeom prst="roundRect">
            <a:avLst>
              <a:gd name="adj" fmla="val 5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security</a:t>
            </a:r>
          </a:p>
        </p:txBody>
      </p:sp>
      <p:sp>
        <p:nvSpPr>
          <p:cNvPr id="13" name="Rounded Rectangle 12"/>
          <p:cNvSpPr/>
          <p:nvPr/>
        </p:nvSpPr>
        <p:spPr>
          <a:xfrm>
            <a:off x="6364224" y="987552"/>
            <a:ext cx="1353312" cy="411480"/>
          </a:xfrm>
          <a:prstGeom prst="roundRect">
            <a:avLst>
              <a:gd name="adj" fmla="val 5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prospects</a:t>
            </a:r>
          </a:p>
        </p:txBody>
      </p:sp>
      <p:sp>
        <p:nvSpPr>
          <p:cNvPr id="14" name="Rounded Rectangle 13"/>
          <p:cNvSpPr/>
          <p:nvPr/>
        </p:nvSpPr>
        <p:spPr>
          <a:xfrm>
            <a:off x="7808976" y="987552"/>
            <a:ext cx="1133856" cy="41148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options</a:t>
            </a:r>
          </a:p>
        </p:txBody>
      </p:sp>
      <p:sp>
        <p:nvSpPr>
          <p:cNvPr id="15" name="Rounded Rectangle 14"/>
          <p:cNvSpPr/>
          <p:nvPr/>
        </p:nvSpPr>
        <p:spPr>
          <a:xfrm>
            <a:off x="548640" y="16002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 y="160020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1.  She followed an unusual career _______.</a:t>
            </a:r>
          </a:p>
        </p:txBody>
      </p:sp>
      <p:sp>
        <p:nvSpPr>
          <p:cNvPr id="17" name="Rounded Rectangle 16"/>
          <p:cNvSpPr/>
          <p:nvPr/>
        </p:nvSpPr>
        <p:spPr>
          <a:xfrm>
            <a:off x="9082735" y="16550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path</a:t>
            </a:r>
          </a:p>
        </p:txBody>
      </p:sp>
      <p:sp>
        <p:nvSpPr>
          <p:cNvPr id="18" name="Rounded Rectangle 17"/>
          <p:cNvSpPr/>
          <p:nvPr/>
        </p:nvSpPr>
        <p:spPr>
          <a:xfrm>
            <a:off x="548640" y="227838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5800" y="227838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2.  I want to _______ a career in finance.</a:t>
            </a:r>
          </a:p>
        </p:txBody>
      </p:sp>
      <p:sp>
        <p:nvSpPr>
          <p:cNvPr id="20" name="Rounded Rectangle 19"/>
          <p:cNvSpPr/>
          <p:nvPr/>
        </p:nvSpPr>
        <p:spPr>
          <a:xfrm>
            <a:off x="9082735" y="233324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pursue</a:t>
            </a:r>
          </a:p>
        </p:txBody>
      </p:sp>
      <p:sp>
        <p:nvSpPr>
          <p:cNvPr id="21" name="Rounded Rectangle 20"/>
          <p:cNvSpPr/>
          <p:nvPr/>
        </p:nvSpPr>
        <p:spPr>
          <a:xfrm>
            <a:off x="548640" y="295656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295656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3.  I was _______ to marketing at university.</a:t>
            </a:r>
          </a:p>
        </p:txBody>
      </p:sp>
      <p:sp>
        <p:nvSpPr>
          <p:cNvPr id="23" name="Rounded Rectangle 22"/>
          <p:cNvSpPr/>
          <p:nvPr/>
        </p:nvSpPr>
        <p:spPr>
          <a:xfrm>
            <a:off x="9082735" y="301142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drawn</a:t>
            </a:r>
          </a:p>
        </p:txBody>
      </p:sp>
      <p:sp>
        <p:nvSpPr>
          <p:cNvPr id="24" name="Rounded Rectangle 23"/>
          <p:cNvSpPr/>
          <p:nvPr/>
        </p:nvSpPr>
        <p:spPr>
          <a:xfrm>
            <a:off x="548640" y="363474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85800" y="363474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4.  Job _______ matters to me more than pay.</a:t>
            </a:r>
          </a:p>
        </p:txBody>
      </p:sp>
      <p:sp>
        <p:nvSpPr>
          <p:cNvPr id="26" name="Rounded Rectangle 25"/>
          <p:cNvSpPr/>
          <p:nvPr/>
        </p:nvSpPr>
        <p:spPr>
          <a:xfrm>
            <a:off x="9082735" y="368960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security</a:t>
            </a:r>
          </a:p>
        </p:txBody>
      </p:sp>
      <p:sp>
        <p:nvSpPr>
          <p:cNvPr id="27" name="Rounded Rectangle 26"/>
          <p:cNvSpPr/>
          <p:nvPr/>
        </p:nvSpPr>
        <p:spPr>
          <a:xfrm>
            <a:off x="548640" y="431292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85800" y="431292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5.  The career _______ in this field are excellent.</a:t>
            </a:r>
          </a:p>
        </p:txBody>
      </p:sp>
      <p:sp>
        <p:nvSpPr>
          <p:cNvPr id="29" name="Rounded Rectangle 28"/>
          <p:cNvSpPr/>
          <p:nvPr/>
        </p:nvSpPr>
        <p:spPr>
          <a:xfrm>
            <a:off x="9082735" y="436778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prospects</a:t>
            </a:r>
          </a:p>
        </p:txBody>
      </p:sp>
      <p:sp>
        <p:nvSpPr>
          <p:cNvPr id="30" name="Rounded Rectangle 29"/>
          <p:cNvSpPr/>
          <p:nvPr/>
        </p:nvSpPr>
        <p:spPr>
          <a:xfrm>
            <a:off x="548640" y="49911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85800" y="499110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6.  I’m keeping my _______ open for now.</a:t>
            </a:r>
          </a:p>
        </p:txBody>
      </p:sp>
      <p:sp>
        <p:nvSpPr>
          <p:cNvPr id="32" name="Rounded Rectangle 31"/>
          <p:cNvSpPr/>
          <p:nvPr/>
        </p:nvSpPr>
        <p:spPr>
          <a:xfrm>
            <a:off x="9082735" y="50459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options</a:t>
            </a:r>
          </a:p>
        </p:txBody>
      </p:sp>
      <p:sp>
        <p:nvSpPr>
          <p:cNvPr id="33" name="Rounded Rectangle 32"/>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(介词) pursue a career IN, interested IN, good AT, a career AS a teacher。</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7"/>
                                        </p:tgtEl>
                                        <p:attrNameLst>
                                          <p:attrName>style.visibility</p:attrName>
                                        </p:attrNameLst>
                                      </p:cBhvr>
                                      <p:to>
                                        <p:strVal val="visible"/>
                                      </p:to>
                                    </p:set>
                                    <p:animEffect transition="in" filter="fade">
                                      <p:cBhvr>
                                        <p:cTn id="4" dur="400"/>
                                        <p:tgtEl>
                                          <p:spTgt spid="17"/>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0"/>
                                        </p:tgtEl>
                                        <p:attrNameLst>
                                          <p:attrName>style.visibility</p:attrName>
                                        </p:attrNameLst>
                                      </p:cBhvr>
                                      <p:to>
                                        <p:strVal val="visible"/>
                                      </p:to>
                                    </p:set>
                                    <p:animEffect transition="in" filter="fade">
                                      <p:cBhvr>
                                        <p:cTn id="9" dur="400"/>
                                        <p:tgtEl>
                                          <p:spTgt spid="20"/>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6"/>
                                        </p:tgtEl>
                                        <p:attrNameLst>
                                          <p:attrName>style.visibility</p:attrName>
                                        </p:attrNameLst>
                                      </p:cBhvr>
                                      <p:to>
                                        <p:strVal val="visible"/>
                                      </p:to>
                                    </p:set>
                                    <p:animEffect transition="in" filter="fade">
                                      <p:cBhvr>
                                        <p:cTn id="19" dur="400"/>
                                        <p:tgtEl>
                                          <p:spTgt spid="26"/>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9"/>
                                        </p:tgtEl>
                                        <p:attrNameLst>
                                          <p:attrName>style.visibility</p:attrName>
                                        </p:attrNameLst>
                                      </p:cBhvr>
                                      <p:to>
                                        <p:strVal val="visible"/>
                                      </p:to>
                                    </p:set>
                                    <p:animEffect transition="in" filter="fade">
                                      <p:cBhvr>
                                        <p:cTn id="24" dur="400"/>
                                        <p:tgtEl>
                                          <p:spTgt spid="29"/>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32"/>
                                        </p:tgtEl>
                                        <p:attrNameLst>
                                          <p:attrName>style.visibility</p:attrName>
                                        </p:attrNameLst>
                                      </p:cBhvr>
                                      <p:to>
                                        <p:strVal val="visible"/>
                                      </p:to>
                                    </p:set>
                                    <p:animEffect transition="in" filter="fade">
                                      <p:cBhvr>
                                        <p:cTn id="29"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Role Play · Why this career?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7 · Lesson 32 Career choice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为什么选这个职业</a:t>
            </a:r>
          </a:p>
        </p:txBody>
      </p:sp>
      <p:sp>
        <p:nvSpPr>
          <p:cNvPr id="9" name="Rounded Rectangle 8"/>
          <p:cNvSpPr/>
          <p:nvPr/>
        </p:nvSpPr>
        <p:spPr>
          <a:xfrm>
            <a:off x="548640" y="1463040"/>
            <a:ext cx="11094415" cy="1463040"/>
          </a:xfrm>
          <a:prstGeom prst="roundRect">
            <a:avLst>
              <a:gd name="adj" fmla="val 12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5F677A"/>
                </a:solidFill>
                <a:latin typeface="Arial"/>
                <a:ea typeface="Microsoft YaHei"/>
              </a:rPr>
              <a:t>📍 Situation 情景</a:t>
            </a:r>
          </a:p>
          <a:p>
            <a:pPr algn="l">
              <a:spcAft>
                <a:spcPts val="200"/>
              </a:spcAft>
            </a:pPr>
            <a:r>
              <a:rPr sz="2400" b="1">
                <a:solidFill>
                  <a:srgbClr val="1F2A44"/>
                </a:solidFill>
                <a:latin typeface="Arial"/>
                <a:ea typeface="Microsoft YaHei"/>
              </a:rPr>
              <a:t>A job interview question.</a:t>
            </a:r>
          </a:p>
        </p:txBody>
      </p:sp>
      <p:sp>
        <p:nvSpPr>
          <p:cNvPr id="10" name="Rounded Rectangle 9"/>
          <p:cNvSpPr/>
          <p:nvPr/>
        </p:nvSpPr>
        <p:spPr>
          <a:xfrm>
            <a:off x="548640"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77240" y="3429000"/>
            <a:ext cx="1097280" cy="109728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2" name="TextBox 11"/>
          <p:cNvSpPr txBox="1"/>
          <p:nvPr/>
        </p:nvSpPr>
        <p:spPr>
          <a:xfrm>
            <a:off x="2011680"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FF6B5B"/>
                </a:solidFill>
                <a:latin typeface="Arial"/>
                <a:ea typeface="Microsoft YaHei"/>
              </a:rPr>
              <a:t>Role A</a:t>
            </a:r>
          </a:p>
          <a:p>
            <a:pPr algn="l">
              <a:lnSpc>
                <a:spcPct val="115000"/>
              </a:lnSpc>
              <a:spcAft>
                <a:spcPts val="800"/>
              </a:spcAft>
            </a:pPr>
            <a:r>
              <a:rPr sz="2000" b="1">
                <a:solidFill>
                  <a:srgbClr val="1F2A44"/>
                </a:solidFill>
                <a:latin typeface="Arial"/>
                <a:ea typeface="Microsoft YaHei"/>
              </a:rPr>
              <a:t>Interviewer</a:t>
            </a:r>
          </a:p>
        </p:txBody>
      </p:sp>
      <p:sp>
        <p:nvSpPr>
          <p:cNvPr id="13" name="Rounded Rectangle 12"/>
          <p:cNvSpPr/>
          <p:nvPr/>
        </p:nvSpPr>
        <p:spPr>
          <a:xfrm>
            <a:off x="6233007"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1607" y="3429000"/>
            <a:ext cx="1097280" cy="109728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5" name="TextBox 14"/>
          <p:cNvSpPr txBox="1"/>
          <p:nvPr/>
        </p:nvSpPr>
        <p:spPr>
          <a:xfrm>
            <a:off x="7696047"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4A90E2"/>
                </a:solidFill>
                <a:latin typeface="Arial"/>
                <a:ea typeface="Microsoft YaHei"/>
              </a:rPr>
              <a:t>Role B</a:t>
            </a:r>
          </a:p>
          <a:p>
            <a:pPr algn="l">
              <a:lnSpc>
                <a:spcPct val="115000"/>
              </a:lnSpc>
              <a:spcAft>
                <a:spcPts val="800"/>
              </a:spcAft>
            </a:pPr>
            <a:r>
              <a:rPr sz="2000" b="1">
                <a:solidFill>
                  <a:srgbClr val="1F2A44"/>
                </a:solidFill>
                <a:latin typeface="Arial"/>
                <a:ea typeface="Microsoft YaHei"/>
              </a:rPr>
              <a:t>Candidate</a:t>
            </a:r>
          </a:p>
        </p:txBody>
      </p:sp>
    </p:spTree>
  </p:cSld>
  <p:clrMapOvr>
    <a:masterClrMapping/>
  </p:clrMapOvr>
  <p:transition spd="med">
    <p:fade/>
  </p:transition>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Model Dialogue · Why this career?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1/2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7 · Lesson 32 Career choice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1463040" y="1325880"/>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What made you choose a career in logistics?</a:t>
            </a:r>
          </a:p>
        </p:txBody>
      </p:sp>
      <p:sp>
        <p:nvSpPr>
          <p:cNvPr id="11" name="Rounded Rectangle 10"/>
          <p:cNvSpPr/>
          <p:nvPr/>
        </p:nvSpPr>
        <p:spPr>
          <a:xfrm>
            <a:off x="10911535" y="190804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34696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2133295" y="1908048"/>
            <a:ext cx="8595360" cy="78028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 ended up in it a bit by accident, to be honest. I took a summer job in a warehouse.</a:t>
            </a:r>
          </a:p>
        </p:txBody>
      </p:sp>
      <p:sp>
        <p:nvSpPr>
          <p:cNvPr id="14" name="Rounded Rectangle 13"/>
          <p:cNvSpPr/>
          <p:nvPr/>
        </p:nvSpPr>
        <p:spPr>
          <a:xfrm>
            <a:off x="548640" y="277977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321868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779776"/>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And what kept you in the field?</a:t>
            </a:r>
          </a:p>
        </p:txBody>
      </p:sp>
      <p:sp>
        <p:nvSpPr>
          <p:cNvPr id="17" name="Rounded Rectangle 16"/>
          <p:cNvSpPr/>
          <p:nvPr/>
        </p:nvSpPr>
        <p:spPr>
          <a:xfrm>
            <a:off x="10911535" y="336194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380085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361944"/>
            <a:ext cx="8595360" cy="78028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 was drawn to solving puzzles, like getting thousands of items to the right place on time.</a:t>
            </a:r>
          </a:p>
        </p:txBody>
      </p:sp>
    </p:spTree>
  </p:cSld>
  <p:clrMapOvr>
    <a:masterClrMapping/>
  </p:clrMapOvr>
  <p:transition spd="med">
    <p:fade/>
  </p:transition>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700" b="1">
                <a:solidFill>
                  <a:srgbClr val="1F2A44"/>
                </a:solidFill>
                <a:latin typeface="Arial"/>
                <a:ea typeface="Microsoft YaHei"/>
              </a:rPr>
              <a:t>🎭 Model Dialogue · Why this career?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2/2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7 · Lesson 32 Career choice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1463040" y="1325880"/>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Where do you see yourself in five years?</a:t>
            </a:r>
          </a:p>
        </p:txBody>
      </p:sp>
      <p:sp>
        <p:nvSpPr>
          <p:cNvPr id="11" name="Rounded Rectangle 10"/>
          <p:cNvSpPr/>
          <p:nvPr/>
        </p:nvSpPr>
        <p:spPr>
          <a:xfrm>
            <a:off x="10911535" y="190804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34696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2133295" y="1908048"/>
            <a:ext cx="8595360" cy="78028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I’d like to lead a team and gain experience in international shipping.</a:t>
            </a:r>
          </a:p>
        </p:txBody>
      </p:sp>
      <p:sp>
        <p:nvSpPr>
          <p:cNvPr id="14" name="Rounded Rectangle 13"/>
          <p:cNvSpPr/>
          <p:nvPr/>
        </p:nvSpPr>
        <p:spPr>
          <a:xfrm>
            <a:off x="548640" y="277977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321868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779776"/>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Sounds ambitious.</a:t>
            </a:r>
          </a:p>
        </p:txBody>
      </p:sp>
      <p:sp>
        <p:nvSpPr>
          <p:cNvPr id="17" name="Rounded Rectangle 16"/>
          <p:cNvSpPr/>
          <p:nvPr/>
        </p:nvSpPr>
        <p:spPr>
          <a:xfrm>
            <a:off x="10911535" y="336194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380085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361944"/>
            <a:ext cx="8595360" cy="78028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 try to be realistic, but yes. I aspire to manage a regional office.</a:t>
            </a:r>
          </a:p>
        </p:txBody>
      </p:sp>
    </p:spTree>
  </p:cSld>
  <p:clrMapOvr>
    <a:masterClrMapping/>
  </p:clrMapOvr>
  <p:transition spd="med">
    <p:fade/>
  </p:transition>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Your Turn · Why this career?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7 · Lesson 32 Career choice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Situation</a:t>
            </a:r>
          </a:p>
        </p:txBody>
      </p:sp>
      <p:sp>
        <p:nvSpPr>
          <p:cNvPr id="9" name="Rounded Rectangle 8"/>
          <p:cNvSpPr/>
          <p:nvPr/>
        </p:nvSpPr>
        <p:spPr>
          <a:xfrm>
            <a:off x="3017520" y="132588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You explain your career choice and plan.</a:t>
            </a:r>
          </a:p>
        </p:txBody>
      </p:sp>
      <p:sp>
        <p:nvSpPr>
          <p:cNvPr id="10" name="Rounded Rectangle 9"/>
          <p:cNvSpPr/>
          <p:nvPr/>
        </p:nvSpPr>
        <p:spPr>
          <a:xfrm>
            <a:off x="548640" y="1807464"/>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Your role (A)</a:t>
            </a:r>
          </a:p>
        </p:txBody>
      </p:sp>
      <p:sp>
        <p:nvSpPr>
          <p:cNvPr id="11" name="Rounded Rectangle 10"/>
          <p:cNvSpPr/>
          <p:nvPr/>
        </p:nvSpPr>
        <p:spPr>
          <a:xfrm>
            <a:off x="3017520" y="1807464"/>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Interviewer.</a:t>
            </a:r>
          </a:p>
        </p:txBody>
      </p:sp>
      <p:sp>
        <p:nvSpPr>
          <p:cNvPr id="12" name="Rounded Rectangle 11"/>
          <p:cNvSpPr/>
          <p:nvPr/>
        </p:nvSpPr>
        <p:spPr>
          <a:xfrm>
            <a:off x="548640" y="2289048"/>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Partner’s role (B)</a:t>
            </a:r>
          </a:p>
        </p:txBody>
      </p:sp>
      <p:sp>
        <p:nvSpPr>
          <p:cNvPr id="13" name="Rounded Rectangle 12"/>
          <p:cNvSpPr/>
          <p:nvPr/>
        </p:nvSpPr>
        <p:spPr>
          <a:xfrm>
            <a:off x="3017520" y="2289048"/>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Candidate. Your field: ______________</a:t>
            </a:r>
          </a:p>
        </p:txBody>
      </p:sp>
      <p:sp>
        <p:nvSpPr>
          <p:cNvPr id="14" name="Rounded Rectangle 13"/>
          <p:cNvSpPr/>
          <p:nvPr/>
        </p:nvSpPr>
        <p:spPr>
          <a:xfrm>
            <a:off x="548640" y="2770632"/>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Must use (3 or more)</a:t>
            </a:r>
          </a:p>
        </p:txBody>
      </p:sp>
      <p:sp>
        <p:nvSpPr>
          <p:cNvPr id="15" name="Rounded Rectangle 14"/>
          <p:cNvSpPr/>
          <p:nvPr/>
        </p:nvSpPr>
        <p:spPr>
          <a:xfrm>
            <a:off x="3017520" y="2770632"/>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drawn to · ended up · gain experience · aspire to · in five years</a:t>
            </a:r>
          </a:p>
        </p:txBody>
      </p:sp>
      <p:sp>
        <p:nvSpPr>
          <p:cNvPr id="16" name="Rounded Rectangle 15"/>
          <p:cNvSpPr/>
          <p:nvPr/>
        </p:nvSpPr>
        <p:spPr>
          <a:xfrm>
            <a:off x="548640" y="3252216"/>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Goal</a:t>
            </a:r>
          </a:p>
        </p:txBody>
      </p:sp>
      <p:sp>
        <p:nvSpPr>
          <p:cNvPr id="17" name="Rounded Rectangle 16"/>
          <p:cNvSpPr/>
          <p:nvPr/>
        </p:nvSpPr>
        <p:spPr>
          <a:xfrm>
            <a:off x="3017520" y="3252216"/>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Explain how you started, why you stayed and where you are heading.</a:t>
            </a:r>
          </a:p>
        </p:txBody>
      </p:sp>
      <p:sp>
        <p:nvSpPr>
          <p:cNvPr id="18" name="Rounded Rectangle 17"/>
          <p:cNvSpPr/>
          <p:nvPr/>
        </p:nvSpPr>
        <p:spPr>
          <a:xfrm>
            <a:off x="548640" y="373380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My notes</a:t>
            </a:r>
          </a:p>
        </p:txBody>
      </p:sp>
      <p:sp>
        <p:nvSpPr>
          <p:cNvPr id="19" name="Rounded Rectangle 18"/>
          <p:cNvSpPr/>
          <p:nvPr/>
        </p:nvSpPr>
        <p:spPr>
          <a:xfrm>
            <a:off x="3017520" y="373380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____________________________________________</a:t>
            </a:r>
          </a:p>
        </p:txBody>
      </p:sp>
      <p:sp>
        <p:nvSpPr>
          <p:cNvPr id="20" name="TextBox 19"/>
          <p:cNvSpPr txBox="1"/>
          <p:nvPr/>
        </p:nvSpPr>
        <p:spPr>
          <a:xfrm>
            <a:off x="548640" y="4306824"/>
            <a:ext cx="11094415" cy="365760"/>
          </a:xfrm>
          <a:prstGeom prst="rect">
            <a:avLst/>
          </a:prstGeom>
          <a:noFill/>
        </p:spPr>
        <p:txBody>
          <a:bodyPr wrap="square" anchor="t">
            <a:spAutoFit/>
          </a:bodyPr>
          <a:lstStyle/>
          <a:p>
            <a:pPr algn="l">
              <a:lnSpc>
                <a:spcPct val="115000"/>
              </a:lnSpc>
              <a:spcAft>
                <a:spcPts val="800"/>
              </a:spcAft>
            </a:pPr>
            <a:r>
              <a:rPr sz="1500" b="1">
                <a:solidFill>
                  <a:srgbClr val="FF6B5B"/>
                </a:solidFill>
                <a:latin typeface="Arial"/>
                <a:ea typeface="Microsoft YaHei"/>
              </a:rPr>
              <a:t>🔥 Level-up challenges 进阶挑战 (click)</a:t>
            </a:r>
          </a:p>
        </p:txBody>
      </p:sp>
      <p:sp>
        <p:nvSpPr>
          <p:cNvPr id="21" name="Rounded Rectangle 20"/>
          <p:cNvSpPr/>
          <p:nvPr/>
        </p:nvSpPr>
        <p:spPr>
          <a:xfrm>
            <a:off x="548640" y="4690872"/>
            <a:ext cx="3576218" cy="1527048"/>
          </a:xfrm>
          <a:prstGeom prst="roundRect">
            <a:avLst>
              <a:gd name="adj" fmla="val 12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Add a turning point in your career.</a:t>
            </a:r>
          </a:p>
        </p:txBody>
      </p:sp>
      <p:sp>
        <p:nvSpPr>
          <p:cNvPr id="22" name="Rounded Rectangle 21"/>
          <p:cNvSpPr/>
          <p:nvPr/>
        </p:nvSpPr>
        <p:spPr>
          <a:xfrm>
            <a:off x="4307738" y="4690872"/>
            <a:ext cx="3576218" cy="1527048"/>
          </a:xfrm>
          <a:prstGeom prst="roundRect">
            <a:avLst>
              <a:gd name="adj" fmla="val 12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Answer “What would you do if you could start again?”</a:t>
            </a:r>
          </a:p>
        </p:txBody>
      </p:sp>
      <p:sp>
        <p:nvSpPr>
          <p:cNvPr id="23" name="Rounded Rectangle 22"/>
          <p:cNvSpPr/>
          <p:nvPr/>
        </p:nvSpPr>
        <p:spPr>
          <a:xfrm>
            <a:off x="8066836" y="4690872"/>
            <a:ext cx="3576218" cy="1527048"/>
          </a:xfrm>
          <a:prstGeom prst="roundRect">
            <a:avLst>
              <a:gd name="adj" fmla="val 12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Be honest about a doubt.</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21"/>
                                        </p:tgtEl>
                                        <p:attrNameLst>
                                          <p:attrName>style.visibility</p:attrName>
                                        </p:attrNameLst>
                                      </p:cBhvr>
                                      <p:to>
                                        <p:strVal val="visible"/>
                                      </p:to>
                                    </p:set>
                                    <p:animEffect transition="in" filter="fade">
                                      <p:cBhvr>
                                        <p:cTn id="4" dur="400"/>
                                        <p:tgtEl>
                                          <p:spTgt spid="2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2"/>
                                        </p:tgtEl>
                                        <p:attrNameLst>
                                          <p:attrName>style.visibility</p:attrName>
                                        </p:attrNameLst>
                                      </p:cBhvr>
                                      <p:to>
                                        <p:strVal val="visible"/>
                                      </p:to>
                                    </p:set>
                                    <p:animEffect transition="in" filter="fade">
                                      <p:cBhvr>
                                        <p:cTn id="9" dur="400"/>
                                        <p:tgtEl>
                                          <p:spTgt spid="2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Role Play · Advising a graduate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7 · Lesson 32 Career choice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给毕业生建议</a:t>
            </a:r>
          </a:p>
        </p:txBody>
      </p:sp>
      <p:sp>
        <p:nvSpPr>
          <p:cNvPr id="9" name="Rounded Rectangle 8"/>
          <p:cNvSpPr/>
          <p:nvPr/>
        </p:nvSpPr>
        <p:spPr>
          <a:xfrm>
            <a:off x="548640" y="1463040"/>
            <a:ext cx="11094415" cy="1463040"/>
          </a:xfrm>
          <a:prstGeom prst="roundRect">
            <a:avLst>
              <a:gd name="adj" fmla="val 12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5F677A"/>
                </a:solidFill>
                <a:latin typeface="Arial"/>
                <a:ea typeface="Microsoft YaHei"/>
              </a:rPr>
              <a:t>📍 Situation 情景</a:t>
            </a:r>
          </a:p>
          <a:p>
            <a:pPr algn="l">
              <a:spcAft>
                <a:spcPts val="200"/>
              </a:spcAft>
            </a:pPr>
            <a:r>
              <a:rPr sz="2400" b="1">
                <a:solidFill>
                  <a:srgbClr val="1F2A44"/>
                </a:solidFill>
                <a:latin typeface="Arial"/>
                <a:ea typeface="Microsoft YaHei"/>
              </a:rPr>
              <a:t>A young person asks how to choose a career.</a:t>
            </a:r>
          </a:p>
        </p:txBody>
      </p:sp>
      <p:sp>
        <p:nvSpPr>
          <p:cNvPr id="10" name="Rounded Rectangle 9"/>
          <p:cNvSpPr/>
          <p:nvPr/>
        </p:nvSpPr>
        <p:spPr>
          <a:xfrm>
            <a:off x="548640"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77240" y="3429000"/>
            <a:ext cx="1097280" cy="109728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2" name="TextBox 11"/>
          <p:cNvSpPr txBox="1"/>
          <p:nvPr/>
        </p:nvSpPr>
        <p:spPr>
          <a:xfrm>
            <a:off x="2011680"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FF6B5B"/>
                </a:solidFill>
                <a:latin typeface="Arial"/>
                <a:ea typeface="Microsoft YaHei"/>
              </a:rPr>
              <a:t>Role A</a:t>
            </a:r>
          </a:p>
          <a:p>
            <a:pPr algn="l">
              <a:lnSpc>
                <a:spcPct val="115000"/>
              </a:lnSpc>
              <a:spcAft>
                <a:spcPts val="800"/>
              </a:spcAft>
            </a:pPr>
            <a:r>
              <a:rPr sz="2000" b="1">
                <a:solidFill>
                  <a:srgbClr val="1F2A44"/>
                </a:solidFill>
                <a:latin typeface="Arial"/>
                <a:ea typeface="Microsoft YaHei"/>
              </a:rPr>
              <a:t>Graduate</a:t>
            </a:r>
          </a:p>
        </p:txBody>
      </p:sp>
      <p:sp>
        <p:nvSpPr>
          <p:cNvPr id="13" name="Rounded Rectangle 12"/>
          <p:cNvSpPr/>
          <p:nvPr/>
        </p:nvSpPr>
        <p:spPr>
          <a:xfrm>
            <a:off x="6233007"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1607" y="3429000"/>
            <a:ext cx="1097280" cy="109728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5" name="TextBox 14"/>
          <p:cNvSpPr txBox="1"/>
          <p:nvPr/>
        </p:nvSpPr>
        <p:spPr>
          <a:xfrm>
            <a:off x="7696047"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4A90E2"/>
                </a:solidFill>
                <a:latin typeface="Arial"/>
                <a:ea typeface="Microsoft YaHei"/>
              </a:rPr>
              <a:t>Role B</a:t>
            </a:r>
          </a:p>
          <a:p>
            <a:pPr algn="l">
              <a:lnSpc>
                <a:spcPct val="115000"/>
              </a:lnSpc>
              <a:spcAft>
                <a:spcPts val="800"/>
              </a:spcAft>
            </a:pPr>
            <a:r>
              <a:rPr sz="2000" b="1">
                <a:solidFill>
                  <a:srgbClr val="1F2A44"/>
                </a:solidFill>
                <a:latin typeface="Arial"/>
                <a:ea typeface="Microsoft YaHei"/>
              </a:rPr>
              <a:t>Experienced colleague</a:t>
            </a:r>
          </a:p>
        </p:txBody>
      </p:sp>
    </p:spTree>
  </p:cSld>
  <p:clrMapOvr>
    <a:masterClrMapping/>
  </p:clrMapOvr>
  <p:transition spd="med">
    <p:fade/>
  </p:transition>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000" b="1">
                <a:solidFill>
                  <a:srgbClr val="1F2A44"/>
                </a:solidFill>
                <a:latin typeface="Arial"/>
                <a:ea typeface="Microsoft YaHei"/>
              </a:rPr>
              <a:t>🎭 Model Dialogue · Advising a graduate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1/2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7 · Lesson 32 Career choice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1463040" y="1325880"/>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 have two offers, and I don’t know how to choose.</a:t>
            </a:r>
          </a:p>
        </p:txBody>
      </p:sp>
      <p:sp>
        <p:nvSpPr>
          <p:cNvPr id="11" name="Rounded Rectangle 10"/>
          <p:cNvSpPr/>
          <p:nvPr/>
        </p:nvSpPr>
        <p:spPr>
          <a:xfrm>
            <a:off x="10911535" y="190804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34696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2133295" y="190804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What matters most: pay, learning or work-life balance?</a:t>
            </a:r>
          </a:p>
        </p:txBody>
      </p:sp>
      <p:sp>
        <p:nvSpPr>
          <p:cNvPr id="14" name="Rounded Rectangle 13"/>
          <p:cNvSpPr/>
          <p:nvPr/>
        </p:nvSpPr>
        <p:spPr>
          <a:xfrm>
            <a:off x="548640" y="249021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292912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490216"/>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Learning, I think. But the pay is better in the other job.</a:t>
            </a:r>
          </a:p>
        </p:txBody>
      </p:sp>
      <p:sp>
        <p:nvSpPr>
          <p:cNvPr id="17" name="Rounded Rectangle 16"/>
          <p:cNvSpPr/>
          <p:nvPr/>
        </p:nvSpPr>
        <p:spPr>
          <a:xfrm>
            <a:off x="10911535" y="307238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351129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07238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Think about prospects. Which gives you more options in three years?</a:t>
            </a:r>
          </a:p>
        </p:txBody>
      </p:sp>
    </p:spTree>
  </p:cSld>
  <p:clrMapOvr>
    <a:masterClrMapping/>
  </p:clrMapOvr>
  <p:transition spd="med">
    <p:fade/>
  </p:transition>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500" b="1">
                <a:solidFill>
                  <a:srgbClr val="1F2A44"/>
                </a:solidFill>
                <a:latin typeface="Arial"/>
                <a:ea typeface="Microsoft YaHei"/>
              </a:rPr>
              <a:t>🎭 Model Dialogue · Advising a graduate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2/2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7 · Lesson 32 Career choice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1463040" y="1325880"/>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The first. It’s a stepping stone to a global role.</a:t>
            </a:r>
          </a:p>
        </p:txBody>
      </p:sp>
      <p:sp>
        <p:nvSpPr>
          <p:cNvPr id="11" name="Rounded Rectangle 10"/>
          <p:cNvSpPr/>
          <p:nvPr/>
        </p:nvSpPr>
        <p:spPr>
          <a:xfrm>
            <a:off x="10911535" y="190804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34696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2133295" y="1908048"/>
            <a:ext cx="8595360" cy="78028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Then I’d lean that way. Remember, your first job isn’t a life sentence.</a:t>
            </a:r>
          </a:p>
        </p:txBody>
      </p:sp>
      <p:sp>
        <p:nvSpPr>
          <p:cNvPr id="14" name="Rounded Rectangle 13"/>
          <p:cNvSpPr/>
          <p:nvPr/>
        </p:nvSpPr>
        <p:spPr>
          <a:xfrm>
            <a:off x="548640" y="277977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321868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779776"/>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That’s reassuring.</a:t>
            </a:r>
          </a:p>
        </p:txBody>
      </p:sp>
      <p:sp>
        <p:nvSpPr>
          <p:cNvPr id="17" name="Rounded Rectangle 16"/>
          <p:cNvSpPr/>
          <p:nvPr/>
        </p:nvSpPr>
        <p:spPr>
          <a:xfrm>
            <a:off x="10911535" y="336194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380085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36194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Most people change direction a couple of times.</a:t>
            </a:r>
          </a:p>
        </p:txBody>
      </p:sp>
    </p:spTree>
  </p:cSld>
  <p:clrMapOvr>
    <a:masterClrMapping/>
  </p:clrMapOvr>
  <p:transition spd="med">
    <p:fade/>
  </p:transition>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Your Turn · Advising a graduate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7 · Lesson 32 Career choice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Situation</a:t>
            </a:r>
          </a:p>
        </p:txBody>
      </p:sp>
      <p:sp>
        <p:nvSpPr>
          <p:cNvPr id="9" name="Rounded Rectangle 8"/>
          <p:cNvSpPr/>
          <p:nvPr/>
        </p:nvSpPr>
        <p:spPr>
          <a:xfrm>
            <a:off x="3017520" y="132588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You advise on a career choice.</a:t>
            </a:r>
          </a:p>
        </p:txBody>
      </p:sp>
      <p:sp>
        <p:nvSpPr>
          <p:cNvPr id="10" name="Rounded Rectangle 9"/>
          <p:cNvSpPr/>
          <p:nvPr/>
        </p:nvSpPr>
        <p:spPr>
          <a:xfrm>
            <a:off x="548640" y="1807464"/>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Your role (A)</a:t>
            </a:r>
          </a:p>
        </p:txBody>
      </p:sp>
      <p:sp>
        <p:nvSpPr>
          <p:cNvPr id="11" name="Rounded Rectangle 10"/>
          <p:cNvSpPr/>
          <p:nvPr/>
        </p:nvSpPr>
        <p:spPr>
          <a:xfrm>
            <a:off x="3017520" y="1807464"/>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Graduate. Offers: ______________</a:t>
            </a:r>
          </a:p>
        </p:txBody>
      </p:sp>
      <p:sp>
        <p:nvSpPr>
          <p:cNvPr id="12" name="Rounded Rectangle 11"/>
          <p:cNvSpPr/>
          <p:nvPr/>
        </p:nvSpPr>
        <p:spPr>
          <a:xfrm>
            <a:off x="548640" y="2289048"/>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Partner’s role (B)</a:t>
            </a:r>
          </a:p>
        </p:txBody>
      </p:sp>
      <p:sp>
        <p:nvSpPr>
          <p:cNvPr id="13" name="Rounded Rectangle 12"/>
          <p:cNvSpPr/>
          <p:nvPr/>
        </p:nvSpPr>
        <p:spPr>
          <a:xfrm>
            <a:off x="3017520" y="2289048"/>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Adviser.</a:t>
            </a:r>
          </a:p>
        </p:txBody>
      </p:sp>
      <p:sp>
        <p:nvSpPr>
          <p:cNvPr id="14" name="Rounded Rectangle 13"/>
          <p:cNvSpPr/>
          <p:nvPr/>
        </p:nvSpPr>
        <p:spPr>
          <a:xfrm>
            <a:off x="548640" y="2770632"/>
            <a:ext cx="2377440" cy="65227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Must use (3 or more)</a:t>
            </a:r>
          </a:p>
        </p:txBody>
      </p:sp>
      <p:sp>
        <p:nvSpPr>
          <p:cNvPr id="15" name="Rounded Rectangle 14"/>
          <p:cNvSpPr/>
          <p:nvPr/>
        </p:nvSpPr>
        <p:spPr>
          <a:xfrm>
            <a:off x="3017520" y="2770632"/>
            <a:ext cx="8625535" cy="65227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what matters most · stepping stone · prospects · keep options open · not a life sentence</a:t>
            </a:r>
          </a:p>
        </p:txBody>
      </p:sp>
      <p:sp>
        <p:nvSpPr>
          <p:cNvPr id="16" name="Rounded Rectangle 15"/>
          <p:cNvSpPr/>
          <p:nvPr/>
        </p:nvSpPr>
        <p:spPr>
          <a:xfrm>
            <a:off x="548640" y="3496056"/>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Goal</a:t>
            </a:r>
          </a:p>
        </p:txBody>
      </p:sp>
      <p:sp>
        <p:nvSpPr>
          <p:cNvPr id="17" name="Rounded Rectangle 16"/>
          <p:cNvSpPr/>
          <p:nvPr/>
        </p:nvSpPr>
        <p:spPr>
          <a:xfrm>
            <a:off x="3017520" y="3496056"/>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Help the graduate compare options without telling them what to do.</a:t>
            </a:r>
          </a:p>
        </p:txBody>
      </p:sp>
      <p:sp>
        <p:nvSpPr>
          <p:cNvPr id="18" name="Rounded Rectangle 17"/>
          <p:cNvSpPr/>
          <p:nvPr/>
        </p:nvSpPr>
        <p:spPr>
          <a:xfrm>
            <a:off x="548640" y="397764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My notes</a:t>
            </a:r>
          </a:p>
        </p:txBody>
      </p:sp>
      <p:sp>
        <p:nvSpPr>
          <p:cNvPr id="19" name="Rounded Rectangle 18"/>
          <p:cNvSpPr/>
          <p:nvPr/>
        </p:nvSpPr>
        <p:spPr>
          <a:xfrm>
            <a:off x="3017520" y="397764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____________________________________________</a:t>
            </a:r>
          </a:p>
        </p:txBody>
      </p:sp>
      <p:sp>
        <p:nvSpPr>
          <p:cNvPr id="20" name="TextBox 19"/>
          <p:cNvSpPr txBox="1"/>
          <p:nvPr/>
        </p:nvSpPr>
        <p:spPr>
          <a:xfrm>
            <a:off x="548640" y="4550664"/>
            <a:ext cx="11094415" cy="365760"/>
          </a:xfrm>
          <a:prstGeom prst="rect">
            <a:avLst/>
          </a:prstGeom>
          <a:noFill/>
        </p:spPr>
        <p:txBody>
          <a:bodyPr wrap="square" anchor="t">
            <a:spAutoFit/>
          </a:bodyPr>
          <a:lstStyle/>
          <a:p>
            <a:pPr algn="l">
              <a:lnSpc>
                <a:spcPct val="115000"/>
              </a:lnSpc>
              <a:spcAft>
                <a:spcPts val="800"/>
              </a:spcAft>
            </a:pPr>
            <a:r>
              <a:rPr sz="1500" b="1">
                <a:solidFill>
                  <a:srgbClr val="FF6B5B"/>
                </a:solidFill>
                <a:latin typeface="Arial"/>
                <a:ea typeface="Microsoft YaHei"/>
              </a:rPr>
              <a:t>🔥 Level-up challenges 进阶挑战 (click)</a:t>
            </a:r>
          </a:p>
        </p:txBody>
      </p:sp>
      <p:sp>
        <p:nvSpPr>
          <p:cNvPr id="21" name="Rounded Rectangle 20"/>
          <p:cNvSpPr/>
          <p:nvPr/>
        </p:nvSpPr>
        <p:spPr>
          <a:xfrm>
            <a:off x="548640" y="4934712"/>
            <a:ext cx="3576218" cy="1283208"/>
          </a:xfrm>
          <a:prstGeom prst="roundRect">
            <a:avLst>
              <a:gd name="adj" fmla="val 12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Share a mistake you made.</a:t>
            </a:r>
          </a:p>
        </p:txBody>
      </p:sp>
      <p:sp>
        <p:nvSpPr>
          <p:cNvPr id="22" name="Rounded Rectangle 21"/>
          <p:cNvSpPr/>
          <p:nvPr/>
        </p:nvSpPr>
        <p:spPr>
          <a:xfrm>
            <a:off x="4307738" y="4934712"/>
            <a:ext cx="3576218" cy="1283208"/>
          </a:xfrm>
          <a:prstGeom prst="roundRect">
            <a:avLst>
              <a:gd name="adj" fmla="val 12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Ask “What would you regret not trying?”</a:t>
            </a:r>
          </a:p>
        </p:txBody>
      </p:sp>
      <p:sp>
        <p:nvSpPr>
          <p:cNvPr id="23" name="Rounded Rectangle 22"/>
          <p:cNvSpPr/>
          <p:nvPr/>
        </p:nvSpPr>
        <p:spPr>
          <a:xfrm>
            <a:off x="8066836" y="4934712"/>
            <a:ext cx="3576218" cy="1283208"/>
          </a:xfrm>
          <a:prstGeom prst="roundRect">
            <a:avLst>
              <a:gd name="adj" fmla="val 12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Suggest talking to someone in the field.</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21"/>
                                        </p:tgtEl>
                                        <p:attrNameLst>
                                          <p:attrName>style.visibility</p:attrName>
                                        </p:attrNameLst>
                                      </p:cBhvr>
                                      <p:to>
                                        <p:strVal val="visible"/>
                                      </p:to>
                                    </p:set>
                                    <p:animEffect transition="in" filter="fade">
                                      <p:cBhvr>
                                        <p:cTn id="4" dur="400"/>
                                        <p:tgtEl>
                                          <p:spTgt spid="2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2"/>
                                        </p:tgtEl>
                                        <p:attrNameLst>
                                          <p:attrName>style.visibility</p:attrName>
                                        </p:attrNameLst>
                                      </p:cBhvr>
                                      <p:to>
                                        <p:strVal val="visible"/>
                                      </p:to>
                                    </p:set>
                                    <p:animEffect transition="in" filter="fade">
                                      <p:cBhvr>
                                        <p:cTn id="9" dur="400"/>
                                        <p:tgtEl>
                                          <p:spTgt spid="2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Discussion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7 · Lesson 32 Career choice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Prepare 2–3 sentences. Use the starters!  每题准备 2–3 句话，用上句型</a:t>
            </a:r>
          </a:p>
        </p:txBody>
      </p:sp>
      <p:sp>
        <p:nvSpPr>
          <p:cNvPr id="9" name="Oval 8"/>
          <p:cNvSpPr/>
          <p:nvPr/>
        </p:nvSpPr>
        <p:spPr>
          <a:xfrm>
            <a:off x="548640" y="1554480"/>
            <a:ext cx="548640" cy="54864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0876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What is more important in a career: passion or pay?</a:t>
            </a:r>
          </a:p>
          <a:p>
            <a:pPr algn="l">
              <a:lnSpc>
                <a:spcPct val="115000"/>
              </a:lnSpc>
              <a:spcAft>
                <a:spcPts val="800"/>
              </a:spcAft>
            </a:pPr>
            <a:r>
              <a:rPr sz="1400" b="0">
                <a:solidFill>
                  <a:srgbClr val="5F677A"/>
                </a:solidFill>
                <a:latin typeface="Arial"/>
                <a:ea typeface="Microsoft YaHei"/>
              </a:rPr>
              <a:t>💬 “I’d say… because…”</a:t>
            </a:r>
          </a:p>
        </p:txBody>
      </p:sp>
      <p:sp>
        <p:nvSpPr>
          <p:cNvPr id="12" name="Oval 11"/>
          <p:cNvSpPr/>
          <p:nvPr/>
        </p:nvSpPr>
        <p:spPr>
          <a:xfrm>
            <a:off x="548640" y="2331720"/>
            <a:ext cx="548640" cy="54864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28600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33172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Is it OK to change careers several times?</a:t>
            </a:r>
          </a:p>
          <a:p>
            <a:pPr algn="l">
              <a:lnSpc>
                <a:spcPct val="115000"/>
              </a:lnSpc>
              <a:spcAft>
                <a:spcPts val="800"/>
              </a:spcAft>
            </a:pPr>
            <a:r>
              <a:rPr sz="1400" b="0">
                <a:solidFill>
                  <a:srgbClr val="5F677A"/>
                </a:solidFill>
                <a:latin typeface="Arial"/>
                <a:ea typeface="Microsoft YaHei"/>
              </a:rPr>
              <a:t>💬 “Yes, as long as… / It can be risky if…”</a:t>
            </a:r>
          </a:p>
        </p:txBody>
      </p:sp>
      <p:sp>
        <p:nvSpPr>
          <p:cNvPr id="15" name="Oval 14"/>
          <p:cNvSpPr/>
          <p:nvPr/>
        </p:nvSpPr>
        <p:spPr>
          <a:xfrm>
            <a:off x="548640" y="3108960"/>
            <a:ext cx="548640" cy="54864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306324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310896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How much should family influence a career choice?</a:t>
            </a:r>
          </a:p>
          <a:p>
            <a:pPr algn="l">
              <a:lnSpc>
                <a:spcPct val="115000"/>
              </a:lnSpc>
              <a:spcAft>
                <a:spcPts val="800"/>
              </a:spcAft>
            </a:pPr>
            <a:r>
              <a:rPr sz="1400" b="0">
                <a:solidFill>
                  <a:srgbClr val="5F677A"/>
                </a:solidFill>
                <a:latin typeface="Arial"/>
                <a:ea typeface="Microsoft YaHei"/>
              </a:rPr>
              <a:t>💬 “Family can be helpful, but…”</a:t>
            </a:r>
          </a:p>
        </p:txBody>
      </p:sp>
      <p:sp>
        <p:nvSpPr>
          <p:cNvPr id="18" name="Oval 17"/>
          <p:cNvSpPr/>
          <p:nvPr/>
        </p:nvSpPr>
        <p:spPr>
          <a:xfrm>
            <a:off x="548640" y="3886200"/>
            <a:ext cx="548640" cy="54864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384048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388620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What skills will matter most in the future?</a:t>
            </a:r>
          </a:p>
          <a:p>
            <a:pPr algn="l">
              <a:lnSpc>
                <a:spcPct val="115000"/>
              </a:lnSpc>
              <a:spcAft>
                <a:spcPts val="800"/>
              </a:spcAft>
            </a:pPr>
            <a:r>
              <a:rPr sz="1400" b="0">
                <a:solidFill>
                  <a:srgbClr val="5F677A"/>
                </a:solidFill>
                <a:latin typeface="Arial"/>
                <a:ea typeface="Microsoft YaHei"/>
              </a:rPr>
              <a:t>💬 “I think… will matter because…”</a:t>
            </a:r>
          </a:p>
        </p:txBody>
      </p:sp>
      <p:sp>
        <p:nvSpPr>
          <p:cNvPr id="21" name="Oval 20"/>
          <p:cNvSpPr/>
          <p:nvPr/>
        </p:nvSpPr>
        <p:spPr>
          <a:xfrm>
            <a:off x="548640" y="4663440"/>
            <a:ext cx="548640" cy="548640"/>
          </a:xfrm>
          <a:prstGeom prst="ellipse">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5</a:t>
            </a:r>
          </a:p>
        </p:txBody>
      </p:sp>
      <p:sp>
        <p:nvSpPr>
          <p:cNvPr id="22" name="Rounded Rectangle 21"/>
          <p:cNvSpPr/>
          <p:nvPr/>
        </p:nvSpPr>
        <p:spPr>
          <a:xfrm>
            <a:off x="1234440" y="461772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325880" y="466344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What would you advise a young person to study?</a:t>
            </a:r>
          </a:p>
          <a:p>
            <a:pPr algn="l">
              <a:lnSpc>
                <a:spcPct val="115000"/>
              </a:lnSpc>
              <a:spcAft>
                <a:spcPts val="800"/>
              </a:spcAft>
            </a:pPr>
            <a:r>
              <a:rPr sz="1400" b="0">
                <a:solidFill>
                  <a:srgbClr val="5F677A"/>
                </a:solidFill>
                <a:latin typeface="Arial"/>
                <a:ea typeface="Microsoft YaHei"/>
              </a:rPr>
              <a:t>💬 “I’d advise them to…”</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par>
                    <p:cTn id="56" fill="hold">
                      <p:stCondLst>
                        <p:cond delay="indefinite"/>
                      </p:stCondLst>
                      <p:childTnLst>
                        <p:par>
                          <p:cTn id="57" fill="hold">
                            <p:stCondLst>
                              <p:cond delay="0"/>
                            </p:stCondLst>
                            <p:childTnLst>
                              <p:par>
                                <p:cTn id="49" presetID="10" presetClass="entr" presetSubtype="0" fill="hold" nodeType="clickEffect">
                                  <p:stCondLst>
                                    <p:cond delay="0"/>
                                  </p:stCondLst>
                                  <p:childTnLst>
                                    <p:set>
                                      <p:cBhvr>
                                        <p:cTn id="47" dur="1" fill="hold">
                                          <p:stCondLst>
                                            <p:cond delay="0"/>
                                          </p:stCondLst>
                                        </p:cTn>
                                        <p:tgtEl>
                                          <p:spTgt spid="21"/>
                                        </p:tgtEl>
                                        <p:attrNameLst>
                                          <p:attrName>style.visibility</p:attrName>
                                        </p:attrNameLst>
                                      </p:cBhvr>
                                      <p:to>
                                        <p:strVal val="visible"/>
                                      </p:to>
                                    </p:set>
                                    <p:animEffect transition="in" filter="fade">
                                      <p:cBhvr>
                                        <p:cTn id="48" dur="400"/>
                                        <p:tgtEl>
                                          <p:spTgt spid="21"/>
                                        </p:tgtEl>
                                      </p:cBhvr>
                                    </p:animEffect>
                                  </p:childTnLst>
                                </p:cTn>
                              </p:par>
                              <p:par>
                                <p:cTn id="52" presetID="10" presetClass="entr" presetSubtype="0" fill="hold" nodeType="with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fade">
                                      <p:cBhvr>
                                        <p:cTn id="51" dur="400"/>
                                        <p:tgtEl>
                                          <p:spTgt spid="22"/>
                                        </p:tgtEl>
                                      </p:cBhvr>
                                    </p:animEffect>
                                  </p:childTnLst>
                                </p:cTn>
                              </p:par>
                              <p:par>
                                <p:cTn id="55" presetID="10" presetClass="entr" presetSubtype="0" fill="hold" nodeType="withEffect">
                                  <p:stCondLst>
                                    <p:cond delay="0"/>
                                  </p:stCondLst>
                                  <p:childTnLst>
                                    <p:set>
                                      <p:cBhvr>
                                        <p:cTn id="53" dur="1" fill="hold">
                                          <p:stCondLst>
                                            <p:cond delay="0"/>
                                          </p:stCondLst>
                                        </p:cTn>
                                        <p:tgtEl>
                                          <p:spTgt spid="23"/>
                                        </p:tgtEl>
                                        <p:attrNameLst>
                                          <p:attrName>style.visibility</p:attrName>
                                        </p:attrNameLst>
                                      </p:cBhvr>
                                      <p:to>
                                        <p:strVal val="visible"/>
                                      </p:to>
                                    </p:set>
                                    <p:animEffect transition="in" filter="fade">
                                      <p:cBhvr>
                                        <p:cTn id="5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Model Answer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7 · Lesson 32 Career choice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0584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Model answer (Question 1)</a:t>
            </a:r>
          </a:p>
        </p:txBody>
      </p:sp>
      <p:sp>
        <p:nvSpPr>
          <p:cNvPr id="9" name="Rounded Rectangle 8"/>
          <p:cNvSpPr/>
          <p:nvPr/>
        </p:nvSpPr>
        <p:spPr>
          <a:xfrm>
            <a:off x="548640" y="1463040"/>
            <a:ext cx="11094415" cy="406908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1371600"/>
            <a:ext cx="914400" cy="914400"/>
          </a:xfrm>
          <a:prstGeom prst="rect">
            <a:avLst/>
          </a:prstGeom>
          <a:noFill/>
        </p:spPr>
        <p:txBody>
          <a:bodyPr wrap="square" anchor="t">
            <a:spAutoFit/>
          </a:bodyPr>
          <a:lstStyle/>
          <a:p>
            <a:pPr algn="l">
              <a:lnSpc>
                <a:spcPct val="115000"/>
              </a:lnSpc>
              <a:spcAft>
                <a:spcPts val="800"/>
              </a:spcAft>
            </a:pPr>
            <a:r>
              <a:rPr sz="5400" b="0">
                <a:solidFill>
                  <a:srgbClr val="4A90E2"/>
                </a:solidFill>
                <a:latin typeface="Arial"/>
                <a:ea typeface="Microsoft YaHei"/>
              </a:rPr>
              <a:t>❝</a:t>
            </a:r>
          </a:p>
        </p:txBody>
      </p:sp>
      <p:sp>
        <p:nvSpPr>
          <p:cNvPr id="11" name="TextBox 10"/>
          <p:cNvSpPr txBox="1"/>
          <p:nvPr/>
        </p:nvSpPr>
        <p:spPr>
          <a:xfrm>
            <a:off x="1463040" y="1600200"/>
            <a:ext cx="9814255" cy="3794760"/>
          </a:xfrm>
          <a:prstGeom prst="rect">
            <a:avLst/>
          </a:prstGeom>
          <a:noFill/>
        </p:spPr>
        <p:txBody>
          <a:bodyPr wrap="square" anchor="t">
            <a:spAutoFit/>
          </a:bodyPr>
          <a:lstStyle/>
          <a:p>
            <a:pPr algn="l">
              <a:lnSpc>
                <a:spcPct val="130000"/>
              </a:lnSpc>
              <a:spcAft>
                <a:spcPts val="800"/>
              </a:spcAft>
            </a:pPr>
            <a:r>
              <a:rPr sz="2600" b="0">
                <a:solidFill>
                  <a:srgbClr val="1F2A44"/>
                </a:solidFill>
                <a:latin typeface="Arial"/>
                <a:ea typeface="Microsoft YaHei"/>
              </a:rPr>
              <a:t>I think both matter, but at different times. When you start, you need enough pay to live on. Later, passion keeps you going. The risk with passion alone is stress about money, and the risk with pay alone is boredom. Ideally, I’d look for work that I’m good at, that interests me and that pays reasonably well.</a:t>
            </a:r>
          </a:p>
        </p:txBody>
      </p:sp>
      <p:sp>
        <p:nvSpPr>
          <p:cNvPr id="12" name="Rounded Rectangle 11"/>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“enough pay to live on” 足够生活的薪水;“The risk with… is…”。</a:t>
            </a:r>
          </a:p>
        </p:txBody>
      </p:sp>
    </p:spTree>
  </p:cSld>
  <p:clrMapOvr>
    <a:masterClrMapping/>
  </p:clrMapOvr>
  <p:transition spd="med">
    <p:fade/>
  </p:transition>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Talking about experience and plans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7 · Lesson 32 Career choice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谈经历与计划</a:t>
            </a:r>
          </a:p>
        </p:txBody>
      </p:sp>
      <p:graphicFrame>
        <p:nvGraphicFramePr>
          <p:cNvPr id="9" name="Table 8"/>
          <p:cNvGraphicFramePr>
            <a:graphicFrameLocks noGrp="1"/>
          </p:cNvGraphicFramePr>
          <p:nvPr/>
        </p:nvGraphicFramePr>
        <p:xfrm>
          <a:off x="548640" y="1417320"/>
          <a:ext cx="11094415" cy="2042160"/>
        </p:xfrm>
        <a:graphic>
          <a:graphicData uri="http://schemas.openxmlformats.org/drawingml/2006/table">
            <a:tbl>
              <a:tblPr firstRow="1" bandRow="1">
                <a:tableStyleId>{5C22544A-7EE6-4342-B048-85BDC9FD1C3A}</a:tableStyleId>
              </a:tblPr>
              <a:tblGrid>
                <a:gridCol w="5547207"/>
                <a:gridCol w="5547208"/>
              </a:tblGrid>
              <a:tr h="408432">
                <a:tc>
                  <a:txBody>
                    <a:bodyPr wrap="square"/>
                    <a:lstStyle/>
                    <a:p>
                      <a:r>
                        <a:rPr sz="1600" b="1">
                          <a:solidFill>
                            <a:srgbClr val="FFFFFF"/>
                          </a:solidFill>
                          <a:latin typeface="Arial"/>
                          <a:ea typeface="Microsoft YaHei"/>
                        </a:rPr>
                        <a:t>Use</a:t>
                      </a:r>
                    </a:p>
                  </a:txBody>
                  <a:tcPr anchor="ctr">
                    <a:solidFill>
                      <a:srgbClr val="3CC49A"/>
                    </a:solidFill>
                  </a:tcPr>
                </a:tc>
                <a:tc>
                  <a:txBody>
                    <a:bodyPr wrap="square"/>
                    <a:lstStyle/>
                    <a:p>
                      <a:r>
                        <a:rPr sz="1600" b="1">
                          <a:solidFill>
                            <a:srgbClr val="FFFFFF"/>
                          </a:solidFill>
                          <a:latin typeface="Arial"/>
                          <a:ea typeface="Microsoft YaHei"/>
                        </a:rPr>
                        <a:t>Example</a:t>
                      </a:r>
                    </a:p>
                  </a:txBody>
                  <a:tcPr anchor="ctr">
                    <a:solidFill>
                      <a:srgbClr val="3CC49A"/>
                    </a:solidFill>
                  </a:tcPr>
                </a:tc>
              </a:tr>
              <a:tr h="408432">
                <a:tc>
                  <a:txBody>
                    <a:bodyPr wrap="square"/>
                    <a:lstStyle/>
                    <a:p>
                      <a:r>
                        <a:rPr sz="1600" b="1">
                          <a:solidFill>
                            <a:srgbClr val="1F2A44"/>
                          </a:solidFill>
                          <a:latin typeface="Arial"/>
                          <a:ea typeface="Microsoft YaHei"/>
                        </a:rPr>
                        <a:t>Present perfect (experience)</a:t>
                      </a:r>
                    </a:p>
                  </a:txBody>
                  <a:tcPr anchor="ctr">
                    <a:solidFill>
                      <a:srgbClr val="FFFFFF"/>
                    </a:solidFill>
                  </a:tcPr>
                </a:tc>
                <a:tc>
                  <a:txBody>
                    <a:bodyPr wrap="square"/>
                    <a:lstStyle/>
                    <a:p>
                      <a:r>
                        <a:rPr sz="1600" b="0">
                          <a:solidFill>
                            <a:srgbClr val="1F2A44"/>
                          </a:solidFill>
                          <a:latin typeface="Arial"/>
                          <a:ea typeface="Microsoft YaHei"/>
                        </a:rPr>
                        <a:t>I’ve worked in sales for six years.</a:t>
                      </a:r>
                    </a:p>
                  </a:txBody>
                  <a:tcPr anchor="ctr">
                    <a:solidFill>
                      <a:srgbClr val="FFFFFF"/>
                    </a:solidFill>
                  </a:tcPr>
                </a:tc>
              </a:tr>
              <a:tr h="408432">
                <a:tc>
                  <a:txBody>
                    <a:bodyPr wrap="square"/>
                    <a:lstStyle/>
                    <a:p>
                      <a:r>
                        <a:rPr sz="1600" b="1">
                          <a:solidFill>
                            <a:srgbClr val="1F2A44"/>
                          </a:solidFill>
                          <a:latin typeface="Arial"/>
                          <a:ea typeface="Microsoft YaHei"/>
                        </a:rPr>
                        <a:t>Past simple (finished time)</a:t>
                      </a:r>
                    </a:p>
                  </a:txBody>
                  <a:tcPr anchor="ctr">
                    <a:solidFill>
                      <a:srgbClr val="FFEFD9"/>
                    </a:solidFill>
                  </a:tcPr>
                </a:tc>
                <a:tc>
                  <a:txBody>
                    <a:bodyPr wrap="square"/>
                    <a:lstStyle/>
                    <a:p>
                      <a:r>
                        <a:rPr sz="1600" b="0">
                          <a:solidFill>
                            <a:srgbClr val="1F2A44"/>
                          </a:solidFill>
                          <a:latin typeface="Arial"/>
                          <a:ea typeface="Microsoft YaHei"/>
                        </a:rPr>
                        <a:t>I joined in 2019.</a:t>
                      </a:r>
                    </a:p>
                  </a:txBody>
                  <a:tcPr anchor="ctr">
                    <a:solidFill>
                      <a:srgbClr val="FFEFD9"/>
                    </a:solidFill>
                  </a:tcPr>
                </a:tc>
              </a:tr>
              <a:tr h="408432">
                <a:tc>
                  <a:txBody>
                    <a:bodyPr wrap="square"/>
                    <a:lstStyle/>
                    <a:p>
                      <a:r>
                        <a:rPr sz="1600" b="1">
                          <a:solidFill>
                            <a:srgbClr val="1F2A44"/>
                          </a:solidFill>
                          <a:latin typeface="Arial"/>
                          <a:ea typeface="Microsoft YaHei"/>
                        </a:rPr>
                        <a:t>I’m hoping to + verb</a:t>
                      </a:r>
                    </a:p>
                  </a:txBody>
                  <a:tcPr anchor="ctr">
                    <a:solidFill>
                      <a:srgbClr val="FFFFFF"/>
                    </a:solidFill>
                  </a:tcPr>
                </a:tc>
                <a:tc>
                  <a:txBody>
                    <a:bodyPr wrap="square"/>
                    <a:lstStyle/>
                    <a:p>
                      <a:r>
                        <a:rPr sz="1600" b="0">
                          <a:solidFill>
                            <a:srgbClr val="1F2A44"/>
                          </a:solidFill>
                          <a:latin typeface="Arial"/>
                          <a:ea typeface="Microsoft YaHei"/>
                        </a:rPr>
                        <a:t>I’m hoping to move into management.</a:t>
                      </a:r>
                    </a:p>
                  </a:txBody>
                  <a:tcPr anchor="ctr">
                    <a:solidFill>
                      <a:srgbClr val="FFFFFF"/>
                    </a:solidFill>
                  </a:tcPr>
                </a:tc>
              </a:tr>
              <a:tr h="408432">
                <a:tc>
                  <a:txBody>
                    <a:bodyPr wrap="square"/>
                    <a:lstStyle/>
                    <a:p>
                      <a:r>
                        <a:rPr sz="1600" b="1">
                          <a:solidFill>
                            <a:srgbClr val="1F2A44"/>
                          </a:solidFill>
                          <a:latin typeface="Arial"/>
                          <a:ea typeface="Microsoft YaHei"/>
                        </a:rPr>
                        <a:t>I’d like to / I’m planning to</a:t>
                      </a:r>
                    </a:p>
                  </a:txBody>
                  <a:tcPr anchor="ctr">
                    <a:solidFill>
                      <a:srgbClr val="FFEFD9"/>
                    </a:solidFill>
                  </a:tcPr>
                </a:tc>
                <a:tc>
                  <a:txBody>
                    <a:bodyPr wrap="square"/>
                    <a:lstStyle/>
                    <a:p>
                      <a:r>
                        <a:rPr sz="1600" b="0">
                          <a:solidFill>
                            <a:srgbClr val="1F2A44"/>
                          </a:solidFill>
                          <a:latin typeface="Arial"/>
                          <a:ea typeface="Microsoft YaHei"/>
                        </a:rPr>
                        <a:t>I’m planning to study part-time.</a:t>
                      </a:r>
                    </a:p>
                  </a:txBody>
                  <a:tcPr anchor="ctr">
                    <a:solidFill>
                      <a:srgbClr val="FFEFD9"/>
                    </a:solidFill>
                  </a:tcPr>
                </a:tc>
              </a:tr>
            </a:tbl>
          </a:graphicData>
        </a:graphic>
      </p:graphicFrame>
    </p:spTree>
  </p:cSld>
  <p:clrMapOvr>
    <a:masterClrMapping/>
  </p:clrMapOvr>
  <p:transition spd="med">
    <p:fade/>
  </p:transition>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Talking about experience and plans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7 · Lesson 32 Career choice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谈经历与计划</a:t>
            </a:r>
          </a:p>
        </p:txBody>
      </p:sp>
      <p:sp>
        <p:nvSpPr>
          <p:cNvPr id="9" name="Rounded Rectangle 8"/>
          <p:cNvSpPr/>
          <p:nvPr/>
        </p:nvSpPr>
        <p:spPr>
          <a:xfrm>
            <a:off x="548640" y="1417320"/>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44195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417320"/>
            <a:ext cx="10728655" cy="441959"/>
          </a:xfrm>
          <a:prstGeom prst="rect">
            <a:avLst/>
          </a:prstGeom>
          <a:noFill/>
        </p:spPr>
        <p:txBody>
          <a:bodyPr wrap="square" anchor="ctr">
            <a:spAutoFit/>
          </a:bodyPr>
          <a:lstStyle/>
          <a:p>
            <a:r>
              <a:rPr sz="1700" b="1">
                <a:solidFill>
                  <a:srgbClr val="FF6B5B"/>
                </a:solidFill>
                <a:latin typeface="Arial"/>
                <a:ea typeface="Microsoft YaHei"/>
              </a:rPr>
              <a:t>For + period, since + point in time: </a:t>
            </a:r>
            <a:r>
              <a:rPr sz="1700" b="0">
                <a:solidFill>
                  <a:srgbClr val="1F2A44"/>
                </a:solidFill>
                <a:latin typeface="Arial"/>
                <a:ea typeface="Microsoft YaHei"/>
              </a:rPr>
              <a:t>for six years, since 2019.</a:t>
            </a:r>
          </a:p>
        </p:txBody>
      </p:sp>
    </p:spTree>
  </p:cSld>
  <p:clrMapOvr>
    <a:masterClrMapping/>
  </p:clrMapOvr>
  <p:transition spd="med">
    <p:fade/>
  </p:transition>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7 · Lesson 32 Career choice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 work in sales since 2019.</a:t>
            </a:r>
          </a:p>
        </p:txBody>
      </p:sp>
      <p:sp>
        <p:nvSpPr>
          <p:cNvPr id="10" name="Rounded Rectangle 9"/>
          <p:cNvSpPr/>
          <p:nvPr/>
        </p:nvSpPr>
        <p:spPr>
          <a:xfrm>
            <a:off x="6187287" y="1463040"/>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I’ve worked in sales since 2019.</a:t>
            </a:r>
          </a:p>
          <a:p>
            <a:pPr algn="l">
              <a:spcAft>
                <a:spcPts val="200"/>
              </a:spcAft>
            </a:pPr>
            <a:r>
              <a:rPr sz="1200" b="0">
                <a:solidFill>
                  <a:srgbClr val="FFFFFF"/>
                </a:solidFill>
                <a:latin typeface="Arial"/>
                <a:ea typeface="Microsoft YaHei"/>
              </a:rPr>
              <a:t>现在完成时</a:t>
            </a:r>
          </a:p>
        </p:txBody>
      </p:sp>
      <p:sp>
        <p:nvSpPr>
          <p:cNvPr id="11" name="Rounded Rectangle 10"/>
          <p:cNvSpPr/>
          <p:nvPr/>
        </p:nvSpPr>
        <p:spPr>
          <a:xfrm>
            <a:off x="548640" y="2164079"/>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I’m interesting in finance.</a:t>
            </a:r>
          </a:p>
        </p:txBody>
      </p:sp>
      <p:sp>
        <p:nvSpPr>
          <p:cNvPr id="12" name="Rounded Rectangle 11"/>
          <p:cNvSpPr/>
          <p:nvPr/>
        </p:nvSpPr>
        <p:spPr>
          <a:xfrm>
            <a:off x="6187287" y="2164079"/>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I’m interested in finance.</a:t>
            </a:r>
          </a:p>
          <a:p>
            <a:pPr algn="l">
              <a:spcAft>
                <a:spcPts val="200"/>
              </a:spcAft>
            </a:pPr>
            <a:r>
              <a:rPr sz="1200" b="0">
                <a:solidFill>
                  <a:srgbClr val="FFFFFF"/>
                </a:solidFill>
                <a:latin typeface="Arial"/>
                <a:ea typeface="Microsoft YaHei"/>
              </a:rPr>
              <a:t>interested in</a:t>
            </a:r>
          </a:p>
        </p:txBody>
      </p:sp>
      <p:sp>
        <p:nvSpPr>
          <p:cNvPr id="13" name="Rounded Rectangle 12"/>
          <p:cNvSpPr/>
          <p:nvPr/>
        </p:nvSpPr>
        <p:spPr>
          <a:xfrm>
            <a:off x="548640" y="2865118"/>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I’m good in English.</a:t>
            </a:r>
          </a:p>
        </p:txBody>
      </p:sp>
      <p:sp>
        <p:nvSpPr>
          <p:cNvPr id="14" name="Rounded Rectangle 13"/>
          <p:cNvSpPr/>
          <p:nvPr/>
        </p:nvSpPr>
        <p:spPr>
          <a:xfrm>
            <a:off x="6187287" y="2865118"/>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I’m good at English.</a:t>
            </a:r>
          </a:p>
          <a:p>
            <a:pPr algn="l">
              <a:spcAft>
                <a:spcPts val="200"/>
              </a:spcAft>
            </a:pPr>
            <a:r>
              <a:rPr sz="1200" b="0">
                <a:solidFill>
                  <a:srgbClr val="FFFFFF"/>
                </a:solidFill>
                <a:latin typeface="Arial"/>
                <a:ea typeface="Microsoft YaHei"/>
              </a:rPr>
              <a:t>good at</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7 · Lesson 32 Career choice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 want to be a manager in future.</a:t>
            </a:r>
          </a:p>
        </p:txBody>
      </p:sp>
      <p:sp>
        <p:nvSpPr>
          <p:cNvPr id="10" name="Rounded Rectangle 9"/>
          <p:cNvSpPr/>
          <p:nvPr/>
        </p:nvSpPr>
        <p:spPr>
          <a:xfrm>
            <a:off x="6187287" y="1463040"/>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 want to become a manager in the future.</a:t>
            </a:r>
          </a:p>
          <a:p>
            <a:pPr algn="l">
              <a:spcAft>
                <a:spcPts val="200"/>
              </a:spcAft>
            </a:pPr>
            <a:r>
              <a:rPr sz="1200" b="0">
                <a:solidFill>
                  <a:srgbClr val="FFFFFF"/>
                </a:solidFill>
                <a:latin typeface="Arial"/>
                <a:ea typeface="Microsoft YaHei"/>
              </a:rPr>
              <a:t>the future</a:t>
            </a:r>
          </a:p>
        </p:txBody>
      </p:sp>
      <p:sp>
        <p:nvSpPr>
          <p:cNvPr id="11" name="Rounded Rectangle 10"/>
          <p:cNvSpPr/>
          <p:nvPr/>
        </p:nvSpPr>
        <p:spPr>
          <a:xfrm>
            <a:off x="548640" y="2164079"/>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 graduated from university in 2 years ago.</a:t>
            </a:r>
          </a:p>
        </p:txBody>
      </p:sp>
      <p:sp>
        <p:nvSpPr>
          <p:cNvPr id="12" name="Rounded Rectangle 11"/>
          <p:cNvSpPr/>
          <p:nvPr/>
        </p:nvSpPr>
        <p:spPr>
          <a:xfrm>
            <a:off x="6187287" y="2164079"/>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 graduated two years ago.</a:t>
            </a:r>
          </a:p>
          <a:p>
            <a:pPr algn="l">
              <a:spcAft>
                <a:spcPts val="200"/>
              </a:spcAft>
            </a:pPr>
            <a:r>
              <a:rPr sz="1200" b="0">
                <a:solidFill>
                  <a:srgbClr val="FFFFFF"/>
                </a:solidFill>
                <a:latin typeface="Arial"/>
                <a:ea typeface="Microsoft YaHei"/>
              </a:rPr>
              <a:t>ago 前不加 in</a:t>
            </a:r>
          </a:p>
        </p:txBody>
      </p:sp>
      <p:sp>
        <p:nvSpPr>
          <p:cNvPr id="13" name="Rounded Rectangle 12"/>
          <p:cNvSpPr/>
          <p:nvPr/>
        </p:nvSpPr>
        <p:spPr>
          <a:xfrm>
            <a:off x="548640" y="2865118"/>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My major is related with marketing.</a:t>
            </a:r>
          </a:p>
        </p:txBody>
      </p:sp>
      <p:sp>
        <p:nvSpPr>
          <p:cNvPr id="14" name="Rounded Rectangle 13"/>
          <p:cNvSpPr/>
          <p:nvPr/>
        </p:nvSpPr>
        <p:spPr>
          <a:xfrm>
            <a:off x="6187287" y="2865118"/>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My major is related to marketing.</a:t>
            </a:r>
          </a:p>
          <a:p>
            <a:pPr algn="l">
              <a:spcAft>
                <a:spcPts val="200"/>
              </a:spcAft>
            </a:pPr>
            <a:r>
              <a:rPr sz="1200" b="0">
                <a:solidFill>
                  <a:srgbClr val="FFFFFF"/>
                </a:solidFill>
                <a:latin typeface="Arial"/>
                <a:ea typeface="Microsoft YaHei"/>
              </a:rPr>
              <a:t>related to</a:t>
            </a:r>
          </a:p>
        </p:txBody>
      </p:sp>
      <p:sp>
        <p:nvSpPr>
          <p:cNvPr id="18" name="Rounded Rectangle 1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Check interested in, good at, for/since, ago, and in the future.</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Cultural tips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7 · Lesson 32 Career choice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文化小贴士</a:t>
            </a:r>
          </a:p>
        </p:txBody>
      </p:sp>
      <p:sp>
        <p:nvSpPr>
          <p:cNvPr id="9" name="Rounded Rectangle 8"/>
          <p:cNvSpPr/>
          <p:nvPr/>
        </p:nvSpPr>
        <p:spPr>
          <a:xfrm>
            <a:off x="548640" y="1417320"/>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44195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417320"/>
            <a:ext cx="10728655" cy="441959"/>
          </a:xfrm>
          <a:prstGeom prst="rect">
            <a:avLst/>
          </a:prstGeom>
          <a:noFill/>
        </p:spPr>
        <p:txBody>
          <a:bodyPr wrap="square" anchor="ctr">
            <a:spAutoFit/>
          </a:bodyPr>
          <a:lstStyle/>
          <a:p>
            <a:r>
              <a:rPr sz="1700" b="0">
                <a:solidFill>
                  <a:srgbClr val="1F2A44"/>
                </a:solidFill>
                <a:latin typeface="Arial"/>
                <a:ea typeface="Microsoft YaHei"/>
              </a:rPr>
              <a:t>Career paths are not linear. In the UK/US, changing fields is common and not seen as a weakness.</a:t>
            </a:r>
          </a:p>
        </p:txBody>
      </p:sp>
      <p:sp>
        <p:nvSpPr>
          <p:cNvPr id="12" name="Rounded Rectangle 11"/>
          <p:cNvSpPr/>
          <p:nvPr/>
        </p:nvSpPr>
        <p:spPr>
          <a:xfrm>
            <a:off x="548640" y="1950719"/>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1950719"/>
            <a:ext cx="91440" cy="441959"/>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1950719"/>
            <a:ext cx="10728655" cy="441959"/>
          </a:xfrm>
          <a:prstGeom prst="rect">
            <a:avLst/>
          </a:prstGeom>
          <a:noFill/>
        </p:spPr>
        <p:txBody>
          <a:bodyPr wrap="square" anchor="ctr">
            <a:spAutoFit/>
          </a:bodyPr>
          <a:lstStyle/>
          <a:p>
            <a:r>
              <a:rPr sz="1700" b="0">
                <a:solidFill>
                  <a:srgbClr val="1F2A44"/>
                </a:solidFill>
                <a:latin typeface="Arial"/>
                <a:ea typeface="Microsoft YaHei"/>
              </a:rPr>
              <a:t>Tell a story. “How I got here” in 3 sentences is a typical networking opener.</a:t>
            </a:r>
          </a:p>
        </p:txBody>
      </p:sp>
      <p:sp>
        <p:nvSpPr>
          <p:cNvPr id="15" name="Rounded Rectangle 14"/>
          <p:cNvSpPr/>
          <p:nvPr/>
        </p:nvSpPr>
        <p:spPr>
          <a:xfrm>
            <a:off x="548640" y="2484118"/>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2484118"/>
            <a:ext cx="91440" cy="441959"/>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2484118"/>
            <a:ext cx="10728655" cy="441959"/>
          </a:xfrm>
          <a:prstGeom prst="rect">
            <a:avLst/>
          </a:prstGeom>
          <a:noFill/>
        </p:spPr>
        <p:txBody>
          <a:bodyPr wrap="square" anchor="ctr">
            <a:spAutoFit/>
          </a:bodyPr>
          <a:lstStyle/>
          <a:p>
            <a:r>
              <a:rPr sz="1700" b="0">
                <a:solidFill>
                  <a:srgbClr val="1F2A44"/>
                </a:solidFill>
                <a:latin typeface="Arial"/>
                <a:ea typeface="Microsoft YaHei"/>
              </a:rPr>
              <a:t>Don’t ask about pay first. Ask about growth and learning; discuss pay later.</a:t>
            </a:r>
          </a:p>
        </p:txBody>
      </p:sp>
      <p:sp>
        <p:nvSpPr>
          <p:cNvPr id="18" name="Rounded Rectangle 17"/>
          <p:cNvSpPr/>
          <p:nvPr/>
        </p:nvSpPr>
        <p:spPr>
          <a:xfrm>
            <a:off x="548640" y="3017517"/>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48640" y="3017517"/>
            <a:ext cx="91440" cy="441959"/>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 y="3017517"/>
            <a:ext cx="10728655" cy="441959"/>
          </a:xfrm>
          <a:prstGeom prst="rect">
            <a:avLst/>
          </a:prstGeom>
          <a:noFill/>
        </p:spPr>
        <p:txBody>
          <a:bodyPr wrap="square" anchor="ctr">
            <a:spAutoFit/>
          </a:bodyPr>
          <a:lstStyle/>
          <a:p>
            <a:r>
              <a:rPr sz="1700" b="0">
                <a:solidFill>
                  <a:srgbClr val="1F2A44"/>
                </a:solidFill>
                <a:latin typeface="Arial"/>
                <a:ea typeface="Microsoft YaHei"/>
              </a:rPr>
              <a:t>Be positive about past employers. Never criticise them in an interview.</a:t>
            </a:r>
          </a:p>
        </p:txBody>
      </p:sp>
    </p:spTree>
  </p:cSld>
  <p:clrMapOvr>
    <a:masterClrMapping/>
  </p:clrMapOvr>
  <p:transition spd="med">
    <p:fade/>
  </p:transition>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Can-do Check 掌握度自检</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Lesson 32 wrap-up</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7 · Lesson 32 Career choice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Rate yourself: ⭐ not yet · ⭐⭐ almost · ⭐⭐⭐ I can do it!  给自己打星</a:t>
            </a:r>
          </a:p>
        </p:txBody>
      </p:sp>
      <p:sp>
        <p:nvSpPr>
          <p:cNvPr id="9" name="Rounded Rectangle 8"/>
          <p:cNvSpPr/>
          <p:nvPr/>
        </p:nvSpPr>
        <p:spPr>
          <a:xfrm>
            <a:off x="548640" y="1508760"/>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508760"/>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1" name="TextBox 10"/>
          <p:cNvSpPr txBox="1"/>
          <p:nvPr/>
        </p:nvSpPr>
        <p:spPr>
          <a:xfrm>
            <a:off x="1234440" y="1508760"/>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explain how I chose my career using drawn to / ended up.</a:t>
            </a:r>
          </a:p>
        </p:txBody>
      </p:sp>
      <p:sp>
        <p:nvSpPr>
          <p:cNvPr id="12" name="TextBox 11"/>
          <p:cNvSpPr txBox="1"/>
          <p:nvPr/>
        </p:nvSpPr>
        <p:spPr>
          <a:xfrm>
            <a:off x="9539935" y="1508760"/>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3" name="Rounded Rectangle 12"/>
          <p:cNvSpPr/>
          <p:nvPr/>
        </p:nvSpPr>
        <p:spPr>
          <a:xfrm>
            <a:off x="548640" y="2106168"/>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2106168"/>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5" name="TextBox 14"/>
          <p:cNvSpPr txBox="1"/>
          <p:nvPr/>
        </p:nvSpPr>
        <p:spPr>
          <a:xfrm>
            <a:off x="1234440" y="2106168"/>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talk about plans with I’m hoping to / I aspire to.</a:t>
            </a:r>
          </a:p>
        </p:txBody>
      </p:sp>
      <p:sp>
        <p:nvSpPr>
          <p:cNvPr id="16" name="TextBox 15"/>
          <p:cNvSpPr txBox="1"/>
          <p:nvPr/>
        </p:nvSpPr>
        <p:spPr>
          <a:xfrm>
            <a:off x="9539935" y="2106168"/>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7" name="Rounded Rectangle 16"/>
          <p:cNvSpPr/>
          <p:nvPr/>
        </p:nvSpPr>
        <p:spPr>
          <a:xfrm>
            <a:off x="548640" y="2703576"/>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2703576"/>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9" name="TextBox 18"/>
          <p:cNvSpPr txBox="1"/>
          <p:nvPr/>
        </p:nvSpPr>
        <p:spPr>
          <a:xfrm>
            <a:off x="1234440" y="2703576"/>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compare career factors (security, pay, balance).</a:t>
            </a:r>
          </a:p>
        </p:txBody>
      </p:sp>
      <p:sp>
        <p:nvSpPr>
          <p:cNvPr id="20" name="TextBox 19"/>
          <p:cNvSpPr txBox="1"/>
          <p:nvPr/>
        </p:nvSpPr>
        <p:spPr>
          <a:xfrm>
            <a:off x="9539935" y="2703576"/>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1" name="Rounded Rectangle 20"/>
          <p:cNvSpPr/>
          <p:nvPr/>
        </p:nvSpPr>
        <p:spPr>
          <a:xfrm>
            <a:off x="548640" y="3300984"/>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3300984"/>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3" name="TextBox 22"/>
          <p:cNvSpPr txBox="1"/>
          <p:nvPr/>
        </p:nvSpPr>
        <p:spPr>
          <a:xfrm>
            <a:off x="1234440" y="3300984"/>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use present perfect with for/since correctly.</a:t>
            </a:r>
          </a:p>
        </p:txBody>
      </p:sp>
      <p:sp>
        <p:nvSpPr>
          <p:cNvPr id="24" name="TextBox 23"/>
          <p:cNvSpPr txBox="1"/>
          <p:nvPr/>
        </p:nvSpPr>
        <p:spPr>
          <a:xfrm>
            <a:off x="9539935" y="3300984"/>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5" name="Rounded Rectangle 24"/>
          <p:cNvSpPr/>
          <p:nvPr/>
        </p:nvSpPr>
        <p:spPr>
          <a:xfrm>
            <a:off x="548640" y="3898392"/>
            <a:ext cx="11094415" cy="8107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3898392"/>
            <a:ext cx="548640" cy="8107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7" name="TextBox 26"/>
          <p:cNvSpPr txBox="1"/>
          <p:nvPr/>
        </p:nvSpPr>
        <p:spPr>
          <a:xfrm>
            <a:off x="1234440" y="3898392"/>
            <a:ext cx="8168335" cy="8107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use at least three ★ expressions from this lesson in my own sentences.</a:t>
            </a:r>
          </a:p>
        </p:txBody>
      </p:sp>
      <p:sp>
        <p:nvSpPr>
          <p:cNvPr id="28" name="TextBox 27"/>
          <p:cNvSpPr txBox="1"/>
          <p:nvPr/>
        </p:nvSpPr>
        <p:spPr>
          <a:xfrm>
            <a:off x="9539935" y="3898392"/>
            <a:ext cx="2011680" cy="8107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Tree>
  </p:cSld>
  <p:clrMapOvr>
    <a:masterClrMapping/>
  </p:clrMapOvr>
  <p:transition spd="med">
    <p:fade/>
  </p:transition>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After Class: 10-Minute Daily Plan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课后练习</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7 · Lesson 32 Career choice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1554480" cy="713232"/>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0–2</a:t>
            </a:r>
          </a:p>
        </p:txBody>
      </p:sp>
      <p:sp>
        <p:nvSpPr>
          <p:cNvPr id="9" name="Rounded Rectangle 8"/>
          <p:cNvSpPr/>
          <p:nvPr/>
        </p:nvSpPr>
        <p:spPr>
          <a:xfrm>
            <a:off x="2240280" y="1325880"/>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Read the 15 expressions aloud. Cover the English and say it from the Chinese. Pick 3 ★ items and make one true sentence with each.</a:t>
            </a:r>
          </a:p>
        </p:txBody>
      </p:sp>
      <p:sp>
        <p:nvSpPr>
          <p:cNvPr id="10" name="Rounded Rectangle 9"/>
          <p:cNvSpPr/>
          <p:nvPr/>
        </p:nvSpPr>
        <p:spPr>
          <a:xfrm>
            <a:off x="548640" y="2112264"/>
            <a:ext cx="1554480" cy="438912"/>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2–4</a:t>
            </a:r>
          </a:p>
        </p:txBody>
      </p:sp>
      <p:sp>
        <p:nvSpPr>
          <p:cNvPr id="11" name="Rounded Rectangle 10"/>
          <p:cNvSpPr/>
          <p:nvPr/>
        </p:nvSpPr>
        <p:spPr>
          <a:xfrm>
            <a:off x="2240280" y="2112264"/>
            <a:ext cx="9402775" cy="43891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Shadow the model dialogue: read it with the same rhythm and intonation.</a:t>
            </a:r>
          </a:p>
        </p:txBody>
      </p:sp>
      <p:sp>
        <p:nvSpPr>
          <p:cNvPr id="12" name="Rounded Rectangle 11"/>
          <p:cNvSpPr/>
          <p:nvPr/>
        </p:nvSpPr>
        <p:spPr>
          <a:xfrm>
            <a:off x="548640" y="2624328"/>
            <a:ext cx="1554480" cy="438912"/>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4–8</a:t>
            </a:r>
          </a:p>
        </p:txBody>
      </p:sp>
      <p:sp>
        <p:nvSpPr>
          <p:cNvPr id="13" name="Rounded Rectangle 12"/>
          <p:cNvSpPr/>
          <p:nvPr/>
        </p:nvSpPr>
        <p:spPr>
          <a:xfrm>
            <a:off x="2240280" y="2624328"/>
            <a:ext cx="9402775" cy="43891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Record your “career story” in 60 seconds, then add your five-year plan.</a:t>
            </a:r>
          </a:p>
        </p:txBody>
      </p:sp>
      <p:sp>
        <p:nvSpPr>
          <p:cNvPr id="14" name="Rounded Rectangle 13"/>
          <p:cNvSpPr/>
          <p:nvPr/>
        </p:nvSpPr>
        <p:spPr>
          <a:xfrm>
            <a:off x="548640" y="3136392"/>
            <a:ext cx="1554480" cy="713232"/>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8–10</a:t>
            </a:r>
          </a:p>
        </p:txBody>
      </p:sp>
      <p:sp>
        <p:nvSpPr>
          <p:cNvPr id="15" name="Rounded Rectangle 14"/>
          <p:cNvSpPr/>
          <p:nvPr/>
        </p:nvSpPr>
        <p:spPr>
          <a:xfrm>
            <a:off x="2240280" y="3136392"/>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Listen to your recording. Check: for/since, interested in, good at, the future. Write 3 corrections and record again.</a:t>
            </a:r>
          </a:p>
        </p:txBody>
      </p:sp>
      <p:sp>
        <p:nvSpPr>
          <p:cNvPr id="16" name="Rounded Rectangle 15"/>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Weekly rhythm: Mon–Tue Scenario 1 · Wed–Thu Scenario 2 · Fri Level-up variation · Weekend: do the Reading / Listening focus again without looking, then record the 1-minute speaking prompt and compare with Monday.</a:t>
            </a:r>
          </a:p>
        </p:txBody>
      </p:sp>
    </p:spTree>
  </p:cSld>
  <p:clrMapOvr>
    <a:masterClrMapping/>
  </p:clrMapOvr>
  <p:transition spd="med">
    <p:fade/>
  </p:transition>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1F2A44"/>
        </a:solidFill>
        <a:effectLst/>
      </p:bgPr>
    </p:bg>
    <p:spTree>
      <p:nvGrpSpPr>
        <p:cNvPr id="1" name=""/>
        <p:cNvGrpSpPr/>
        <p:nvPr/>
      </p:nvGrpSpPr>
      <p:grpSpPr/>
      <p:sp>
        <p:nvSpPr>
          <p:cNvPr id="2" name="TextBox 1"/>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FFC857"/>
                </a:solidFill>
                <a:latin typeface="Arial"/>
                <a:ea typeface="Microsoft YaHei"/>
              </a:rPr>
              <a:t>Business English · Level 7–8 · Unit 7 · Lesson 33 Finding fulfilling work</a:t>
            </a:r>
          </a:p>
        </p:txBody>
      </p:sp>
      <p:sp>
        <p:nvSpPr>
          <p:cNvPr id="3" name="TextBox 2"/>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FFC857"/>
                </a:solidFill>
                <a:latin typeface="Arial"/>
                <a:ea typeface="Microsoft YaHei"/>
              </a:rPr>
              <a:t>31</a:t>
            </a:r>
          </a:p>
        </p:txBody>
      </p:sp>
      <p:sp>
        <p:nvSpPr>
          <p:cNvPr id="4" name="Rounded Rectangle 3">
            <a:hlinkClick action="ppaction://hlinksldjump" r:id="rId2"/>
          </p:cNvPr>
          <p:cNvSpPr/>
          <p:nvPr/>
        </p:nvSpPr>
        <p:spPr>
          <a:xfrm>
            <a:off x="9677095" y="6382512"/>
            <a:ext cx="960120" cy="329184"/>
          </a:xfrm>
          <a:prstGeom prst="roundRect">
            <a:avLst>
              <a:gd name="adj" fmla="val 50000"/>
            </a:avLst>
          </a:prstGeom>
          <a:solidFill>
            <a:srgbClr val="3642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FFFFFF"/>
                </a:solidFill>
                <a:latin typeface="Arial"/>
                <a:ea typeface="Microsoft YaHei"/>
              </a:rPr>
              <a:t>🗺 Map</a:t>
            </a:r>
          </a:p>
        </p:txBody>
      </p:sp>
      <p:sp>
        <p:nvSpPr>
          <p:cNvPr id="5" name="Rectangle 4"/>
          <p:cNvSpPr/>
          <p:nvPr/>
        </p:nvSpPr>
        <p:spPr>
          <a:xfrm>
            <a:off x="822960" y="685800"/>
            <a:ext cx="1097280" cy="91440"/>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822960"/>
            <a:ext cx="5486400" cy="457200"/>
          </a:xfrm>
          <a:prstGeom prst="rect">
            <a:avLst/>
          </a:prstGeom>
          <a:noFill/>
        </p:spPr>
        <p:txBody>
          <a:bodyPr wrap="square" anchor="t">
            <a:spAutoFit/>
          </a:bodyPr>
          <a:lstStyle/>
          <a:p>
            <a:pPr algn="l">
              <a:lnSpc>
                <a:spcPct val="115000"/>
              </a:lnSpc>
              <a:spcAft>
                <a:spcPts val="800"/>
              </a:spcAft>
            </a:pPr>
            <a:r>
              <a:rPr sz="2200" b="1">
                <a:solidFill>
                  <a:srgbClr val="FFC857"/>
                </a:solidFill>
                <a:latin typeface="Arial"/>
                <a:ea typeface="Microsoft YaHei"/>
              </a:rPr>
              <a:t>LESSON 33</a:t>
            </a:r>
          </a:p>
        </p:txBody>
      </p:sp>
      <p:sp>
        <p:nvSpPr>
          <p:cNvPr id="7" name="TextBox 6"/>
          <p:cNvSpPr txBox="1"/>
          <p:nvPr/>
        </p:nvSpPr>
        <p:spPr>
          <a:xfrm>
            <a:off x="822960" y="1280160"/>
            <a:ext cx="10515600" cy="1280160"/>
          </a:xfrm>
          <a:prstGeom prst="rect">
            <a:avLst/>
          </a:prstGeom>
          <a:noFill/>
        </p:spPr>
        <p:txBody>
          <a:bodyPr wrap="square" anchor="ctr">
            <a:spAutoFit/>
          </a:bodyPr>
          <a:lstStyle/>
          <a:p>
            <a:pPr algn="l">
              <a:lnSpc>
                <a:spcPct val="115000"/>
              </a:lnSpc>
              <a:spcAft>
                <a:spcPts val="800"/>
              </a:spcAft>
            </a:pPr>
            <a:r>
              <a:rPr sz="5400" b="1">
                <a:solidFill>
                  <a:srgbClr val="FFFFFF"/>
                </a:solidFill>
                <a:latin typeface="Arial"/>
                <a:ea typeface="Microsoft YaHei"/>
              </a:rPr>
              <a:t>Finding fulfilling work</a:t>
            </a:r>
          </a:p>
        </p:txBody>
      </p:sp>
      <p:sp>
        <p:nvSpPr>
          <p:cNvPr id="8" name="TextBox 7"/>
          <p:cNvSpPr txBox="1"/>
          <p:nvPr/>
        </p:nvSpPr>
        <p:spPr>
          <a:xfrm>
            <a:off x="822960" y="2560320"/>
            <a:ext cx="10515600" cy="548640"/>
          </a:xfrm>
          <a:prstGeom prst="rect">
            <a:avLst/>
          </a:prstGeom>
          <a:noFill/>
        </p:spPr>
        <p:txBody>
          <a:bodyPr wrap="square" anchor="t">
            <a:spAutoFit/>
          </a:bodyPr>
          <a:lstStyle/>
          <a:p>
            <a:pPr algn="l">
              <a:lnSpc>
                <a:spcPct val="115000"/>
              </a:lnSpc>
              <a:spcAft>
                <a:spcPts val="800"/>
              </a:spcAft>
            </a:pPr>
            <a:r>
              <a:rPr sz="2400" b="0">
                <a:solidFill>
                  <a:srgbClr val="FFFFFF"/>
                </a:solidFill>
                <a:latin typeface="Arial"/>
                <a:ea typeface="Microsoft YaHei"/>
              </a:rPr>
              <a:t>寻找有意义的工作</a:t>
            </a:r>
          </a:p>
        </p:txBody>
      </p:sp>
      <p:sp>
        <p:nvSpPr>
          <p:cNvPr id="9" name="TextBox 8"/>
          <p:cNvSpPr txBox="1"/>
          <p:nvPr/>
        </p:nvSpPr>
        <p:spPr>
          <a:xfrm>
            <a:off x="822960" y="3246120"/>
            <a:ext cx="10515600" cy="914400"/>
          </a:xfrm>
          <a:prstGeom prst="rect">
            <a:avLst/>
          </a:prstGeom>
          <a:noFill/>
        </p:spPr>
        <p:txBody>
          <a:bodyPr wrap="square" anchor="t">
            <a:spAutoFit/>
          </a:bodyPr>
          <a:lstStyle/>
          <a:p>
            <a:pPr algn="l">
              <a:lnSpc>
                <a:spcPct val="115000"/>
              </a:lnSpc>
              <a:spcAft>
                <a:spcPts val="800"/>
              </a:spcAft>
            </a:pPr>
            <a:r>
              <a:rPr sz="2000" b="0">
                <a:solidFill>
                  <a:srgbClr val="FFC857"/>
                </a:solidFill>
                <a:latin typeface="Arial"/>
                <a:ea typeface="Microsoft YaHei"/>
              </a:rPr>
              <a:t>🎯 discuss what makes work meaningful and talk about job satisfaction, purpose and motivation.</a:t>
            </a:r>
          </a:p>
        </p:txBody>
      </p:sp>
      <p:sp>
        <p:nvSpPr>
          <p:cNvPr id="10" name="Rounded Rectangle 9"/>
          <p:cNvSpPr/>
          <p:nvPr/>
        </p:nvSpPr>
        <p:spPr>
          <a:xfrm>
            <a:off x="822960" y="4389120"/>
            <a:ext cx="1956816" cy="11430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01</a:t>
            </a:r>
          </a:p>
          <a:p>
            <a:pPr algn="ctr">
              <a:spcAft>
                <a:spcPts val="200"/>
              </a:spcAft>
            </a:pPr>
            <a:r>
              <a:rPr sz="1700" b="1">
                <a:solidFill>
                  <a:srgbClr val="FFFFFF"/>
                </a:solidFill>
                <a:latin typeface="Arial"/>
                <a:ea typeface="Microsoft YaHei"/>
              </a:rPr>
              <a:t>Warm up</a:t>
            </a:r>
          </a:p>
          <a:p>
            <a:pPr algn="ctr">
              <a:spcAft>
                <a:spcPts val="200"/>
              </a:spcAft>
            </a:pPr>
            <a:r>
              <a:rPr sz="1300" b="0">
                <a:solidFill>
                  <a:srgbClr val="FFFFFF"/>
                </a:solidFill>
                <a:latin typeface="Arial"/>
                <a:ea typeface="Microsoft YaHei"/>
              </a:rPr>
              <a:t>热身</a:t>
            </a:r>
          </a:p>
        </p:txBody>
      </p:sp>
      <p:sp>
        <p:nvSpPr>
          <p:cNvPr id="11" name="Rounded Rectangle 10"/>
          <p:cNvSpPr/>
          <p:nvPr/>
        </p:nvSpPr>
        <p:spPr>
          <a:xfrm>
            <a:off x="2962656" y="4389120"/>
            <a:ext cx="1956816" cy="11430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02</a:t>
            </a:r>
          </a:p>
          <a:p>
            <a:pPr algn="ctr">
              <a:spcAft>
                <a:spcPts val="200"/>
              </a:spcAft>
            </a:pPr>
            <a:r>
              <a:rPr sz="1700" b="1">
                <a:solidFill>
                  <a:srgbClr val="FFFFFF"/>
                </a:solidFill>
                <a:latin typeface="Arial"/>
                <a:ea typeface="Microsoft YaHei"/>
              </a:rPr>
              <a:t>Vocabulary</a:t>
            </a:r>
          </a:p>
          <a:p>
            <a:pPr algn="ctr">
              <a:spcAft>
                <a:spcPts val="200"/>
              </a:spcAft>
            </a:pPr>
            <a:r>
              <a:rPr sz="1300" b="0">
                <a:solidFill>
                  <a:srgbClr val="FFFFFF"/>
                </a:solidFill>
                <a:latin typeface="Arial"/>
                <a:ea typeface="Microsoft YaHei"/>
              </a:rPr>
              <a:t>词汇</a:t>
            </a:r>
          </a:p>
        </p:txBody>
      </p:sp>
      <p:sp>
        <p:nvSpPr>
          <p:cNvPr id="12" name="Rounded Rectangle 11"/>
          <p:cNvSpPr/>
          <p:nvPr/>
        </p:nvSpPr>
        <p:spPr>
          <a:xfrm>
            <a:off x="5102352" y="4389120"/>
            <a:ext cx="1956816" cy="11430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03</a:t>
            </a:r>
          </a:p>
          <a:p>
            <a:pPr algn="ctr">
              <a:spcAft>
                <a:spcPts val="200"/>
              </a:spcAft>
            </a:pPr>
            <a:r>
              <a:rPr sz="1700" b="1">
                <a:solidFill>
                  <a:srgbClr val="FFFFFF"/>
                </a:solidFill>
                <a:latin typeface="Arial"/>
                <a:ea typeface="Microsoft YaHei"/>
              </a:rPr>
              <a:t>Role play</a:t>
            </a:r>
          </a:p>
          <a:p>
            <a:pPr algn="ctr">
              <a:spcAft>
                <a:spcPts val="200"/>
              </a:spcAft>
            </a:pPr>
            <a:r>
              <a:rPr sz="1300" b="0">
                <a:solidFill>
                  <a:srgbClr val="FFFFFF"/>
                </a:solidFill>
                <a:latin typeface="Arial"/>
                <a:ea typeface="Microsoft YaHei"/>
              </a:rPr>
              <a:t>角色扮演</a:t>
            </a:r>
          </a:p>
        </p:txBody>
      </p:sp>
      <p:sp>
        <p:nvSpPr>
          <p:cNvPr id="13" name="Rounded Rectangle 12"/>
          <p:cNvSpPr/>
          <p:nvPr/>
        </p:nvSpPr>
        <p:spPr>
          <a:xfrm>
            <a:off x="7242048" y="4389120"/>
            <a:ext cx="1956816" cy="11430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04</a:t>
            </a:r>
          </a:p>
          <a:p>
            <a:pPr algn="ctr">
              <a:spcAft>
                <a:spcPts val="200"/>
              </a:spcAft>
            </a:pPr>
            <a:r>
              <a:rPr sz="1700" b="1">
                <a:solidFill>
                  <a:srgbClr val="FFFFFF"/>
                </a:solidFill>
                <a:latin typeface="Arial"/>
                <a:ea typeface="Microsoft YaHei"/>
              </a:rPr>
              <a:t>Discussion</a:t>
            </a:r>
          </a:p>
          <a:p>
            <a:pPr algn="ctr">
              <a:spcAft>
                <a:spcPts val="200"/>
              </a:spcAft>
            </a:pPr>
            <a:r>
              <a:rPr sz="1300" b="0">
                <a:solidFill>
                  <a:srgbClr val="FFFFFF"/>
                </a:solidFill>
                <a:latin typeface="Arial"/>
                <a:ea typeface="Microsoft YaHei"/>
              </a:rPr>
              <a:t>讨论</a:t>
            </a:r>
          </a:p>
        </p:txBody>
      </p:sp>
      <p:sp>
        <p:nvSpPr>
          <p:cNvPr id="14" name="Rounded Rectangle 13"/>
          <p:cNvSpPr/>
          <p:nvPr/>
        </p:nvSpPr>
        <p:spPr>
          <a:xfrm>
            <a:off x="9381744" y="4389120"/>
            <a:ext cx="1956816" cy="11430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05</a:t>
            </a:r>
          </a:p>
          <a:p>
            <a:pPr algn="ctr">
              <a:spcAft>
                <a:spcPts val="200"/>
              </a:spcAft>
            </a:pPr>
            <a:r>
              <a:rPr sz="1700" b="1">
                <a:solidFill>
                  <a:srgbClr val="FFFFFF"/>
                </a:solidFill>
                <a:latin typeface="Arial"/>
                <a:ea typeface="Microsoft YaHei"/>
              </a:rPr>
              <a:t>Language Tips</a:t>
            </a:r>
          </a:p>
          <a:p>
            <a:pPr algn="ctr">
              <a:spcAft>
                <a:spcPts val="200"/>
              </a:spcAft>
            </a:pPr>
            <a:r>
              <a:rPr sz="1300" b="0">
                <a:solidFill>
                  <a:srgbClr val="FFFFFF"/>
                </a:solidFill>
                <a:latin typeface="Arial"/>
                <a:ea typeface="Microsoft YaHei"/>
              </a:rPr>
              <a:t>语言贴士</a:t>
            </a:r>
          </a:p>
        </p:txBody>
      </p:sp>
    </p:spTree>
  </p:cSld>
  <p:clrMapOvr>
    <a:masterClrMapping/>
  </p:clrMapOvr>
  <p:transition spd="med">
    <p:fade/>
  </p:transition>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Warm up · Ice-breaker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7 · Lesson 33 Finding fulfilling work</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Answer in 2–3 sentences. Say it out loud!  用 2–3 句话回答，大声说出来</a:t>
            </a:r>
          </a:p>
        </p:txBody>
      </p:sp>
      <p:sp>
        <p:nvSpPr>
          <p:cNvPr id="9" name="Oval 8"/>
          <p:cNvSpPr/>
          <p:nvPr/>
        </p:nvSpPr>
        <p:spPr>
          <a:xfrm>
            <a:off x="548640" y="1600199"/>
            <a:ext cx="502920" cy="50292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54480"/>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What makes a job fulfilling for you?</a:t>
            </a:r>
          </a:p>
        </p:txBody>
      </p:sp>
      <p:sp>
        <p:nvSpPr>
          <p:cNvPr id="12" name="Oval 11"/>
          <p:cNvSpPr/>
          <p:nvPr/>
        </p:nvSpPr>
        <p:spPr>
          <a:xfrm>
            <a:off x="548640" y="2304286"/>
            <a:ext cx="502920" cy="50292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258567"/>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258567"/>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Do you feel your work has a purpose?</a:t>
            </a:r>
          </a:p>
        </p:txBody>
      </p:sp>
      <p:sp>
        <p:nvSpPr>
          <p:cNvPr id="15" name="Oval 14"/>
          <p:cNvSpPr/>
          <p:nvPr/>
        </p:nvSpPr>
        <p:spPr>
          <a:xfrm>
            <a:off x="548640" y="3008373"/>
            <a:ext cx="502920" cy="50292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2962654"/>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2962654"/>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Would you take a lower-paid job that you loved?</a:t>
            </a:r>
          </a:p>
        </p:txBody>
      </p:sp>
      <p:sp>
        <p:nvSpPr>
          <p:cNvPr id="18" name="Oval 17"/>
          <p:cNvSpPr/>
          <p:nvPr/>
        </p:nvSpPr>
        <p:spPr>
          <a:xfrm>
            <a:off x="548640" y="3712460"/>
            <a:ext cx="502920" cy="50292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3666741"/>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3666741"/>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When do you feel most motivated at work?</a:t>
            </a:r>
          </a:p>
        </p:txBody>
      </p:sp>
      <p:sp>
        <p:nvSpPr>
          <p:cNvPr id="21" name="Oval 20"/>
          <p:cNvSpPr/>
          <p:nvPr/>
        </p:nvSpPr>
        <p:spPr>
          <a:xfrm>
            <a:off x="548640" y="4416547"/>
            <a:ext cx="502920" cy="502920"/>
          </a:xfrm>
          <a:prstGeom prst="ellipse">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5</a:t>
            </a:r>
          </a:p>
        </p:txBody>
      </p:sp>
      <p:sp>
        <p:nvSpPr>
          <p:cNvPr id="22" name="Rounded Rectangle 21"/>
          <p:cNvSpPr/>
          <p:nvPr/>
        </p:nvSpPr>
        <p:spPr>
          <a:xfrm>
            <a:off x="1234440" y="4370828"/>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325880" y="4370828"/>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What would your dream job look like?</a:t>
            </a:r>
          </a:p>
        </p:txBody>
      </p:sp>
      <p:sp>
        <p:nvSpPr>
          <p:cNvPr id="58" name="Rounded Rectangle 5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“fulfilling” = 有成就感的;“purpose” = 目的/意义。第 3 题 “Would you take…” 是假设句。</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par>
                    <p:cTn id="56" fill="hold">
                      <p:stCondLst>
                        <p:cond delay="indefinite"/>
                      </p:stCondLst>
                      <p:childTnLst>
                        <p:par>
                          <p:cTn id="57" fill="hold">
                            <p:stCondLst>
                              <p:cond delay="0"/>
                            </p:stCondLst>
                            <p:childTnLst>
                              <p:par>
                                <p:cTn id="49" presetID="10" presetClass="entr" presetSubtype="0" fill="hold" nodeType="clickEffect">
                                  <p:stCondLst>
                                    <p:cond delay="0"/>
                                  </p:stCondLst>
                                  <p:childTnLst>
                                    <p:set>
                                      <p:cBhvr>
                                        <p:cTn id="47" dur="1" fill="hold">
                                          <p:stCondLst>
                                            <p:cond delay="0"/>
                                          </p:stCondLst>
                                        </p:cTn>
                                        <p:tgtEl>
                                          <p:spTgt spid="21"/>
                                        </p:tgtEl>
                                        <p:attrNameLst>
                                          <p:attrName>style.visibility</p:attrName>
                                        </p:attrNameLst>
                                      </p:cBhvr>
                                      <p:to>
                                        <p:strVal val="visible"/>
                                      </p:to>
                                    </p:set>
                                    <p:animEffect transition="in" filter="fade">
                                      <p:cBhvr>
                                        <p:cTn id="48" dur="400"/>
                                        <p:tgtEl>
                                          <p:spTgt spid="21"/>
                                        </p:tgtEl>
                                      </p:cBhvr>
                                    </p:animEffect>
                                  </p:childTnLst>
                                </p:cTn>
                              </p:par>
                              <p:par>
                                <p:cTn id="52" presetID="10" presetClass="entr" presetSubtype="0" fill="hold" nodeType="with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fade">
                                      <p:cBhvr>
                                        <p:cTn id="51" dur="400"/>
                                        <p:tgtEl>
                                          <p:spTgt spid="22"/>
                                        </p:tgtEl>
                                      </p:cBhvr>
                                    </p:animEffect>
                                  </p:childTnLst>
                                </p:cTn>
                              </p:par>
                              <p:par>
                                <p:cTn id="55" presetID="10" presetClass="entr" presetSubtype="0" fill="hold" nodeType="withEffect">
                                  <p:stCondLst>
                                    <p:cond delay="0"/>
                                  </p:stCondLst>
                                  <p:childTnLst>
                                    <p:set>
                                      <p:cBhvr>
                                        <p:cTn id="53" dur="1" fill="hold">
                                          <p:stCondLst>
                                            <p:cond delay="0"/>
                                          </p:stCondLst>
                                        </p:cTn>
                                        <p:tgtEl>
                                          <p:spTgt spid="23"/>
                                        </p:tgtEl>
                                        <p:attrNameLst>
                                          <p:attrName>style.visibility</p:attrName>
                                        </p:attrNameLst>
                                      </p:cBhvr>
                                      <p:to>
                                        <p:strVal val="visible"/>
                                      </p:to>
                                    </p:set>
                                    <p:animEffect transition="in" filter="fade">
                                      <p:cBhvr>
                                        <p:cTn id="5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1-Minute Challenge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7 · Lesson 33 Finding fulfilling work</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Oval 7"/>
          <p:cNvSpPr/>
          <p:nvPr/>
        </p:nvSpPr>
        <p:spPr>
          <a:xfrm>
            <a:off x="9814255" y="1463040"/>
            <a:ext cx="1737360" cy="173736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FFFFFF"/>
                </a:solidFill>
                <a:latin typeface="Arial"/>
                <a:ea typeface="Microsoft YaHei"/>
              </a:rPr>
              <a:t>⏱</a:t>
            </a:r>
          </a:p>
          <a:p>
            <a:pPr algn="ctr">
              <a:spcAft>
                <a:spcPts val="200"/>
              </a:spcAft>
            </a:pPr>
            <a:r>
              <a:rPr sz="2600" b="1">
                <a:solidFill>
                  <a:srgbClr val="FFFFFF"/>
                </a:solidFill>
                <a:latin typeface="Arial"/>
                <a:ea typeface="Microsoft YaHei"/>
              </a:rPr>
              <a:t>60s</a:t>
            </a:r>
          </a:p>
        </p:txBody>
      </p:sp>
      <p:sp>
        <p:nvSpPr>
          <p:cNvPr id="9" name="TextBox 8"/>
          <p:cNvSpPr txBox="1"/>
          <p:nvPr/>
        </p:nvSpPr>
        <p:spPr>
          <a:xfrm>
            <a:off x="548640" y="1417320"/>
            <a:ext cx="8778240" cy="1280160"/>
          </a:xfrm>
          <a:prstGeom prst="rect">
            <a:avLst/>
          </a:prstGeom>
          <a:noFill/>
        </p:spPr>
        <p:txBody>
          <a:bodyPr wrap="square" anchor="t">
            <a:spAutoFit/>
          </a:bodyPr>
          <a:lstStyle/>
          <a:p>
            <a:pPr algn="l">
              <a:lnSpc>
                <a:spcPct val="115000"/>
              </a:lnSpc>
              <a:spcAft>
                <a:spcPts val="200"/>
              </a:spcAft>
            </a:pPr>
            <a:r>
              <a:rPr sz="1400" b="0">
                <a:solidFill>
                  <a:srgbClr val="5F677A"/>
                </a:solidFill>
                <a:latin typeface="Arial"/>
                <a:ea typeface="Microsoft YaHei"/>
              </a:rPr>
              <a:t>TOPIC</a:t>
            </a:r>
          </a:p>
          <a:p>
            <a:pPr algn="l">
              <a:lnSpc>
                <a:spcPct val="115000"/>
              </a:lnSpc>
              <a:spcAft>
                <a:spcPts val="800"/>
              </a:spcAft>
            </a:pPr>
            <a:r>
              <a:rPr sz="3000" b="1">
                <a:solidFill>
                  <a:srgbClr val="1F2A44"/>
                </a:solidFill>
                <a:latin typeface="Arial"/>
                <a:ea typeface="Microsoft YaHei"/>
              </a:rPr>
              <a:t>Describe the kind of work that would make you feel fulfilled.</a:t>
            </a:r>
          </a:p>
        </p:txBody>
      </p:sp>
      <p:sp>
        <p:nvSpPr>
          <p:cNvPr id="10" name="Rounded Rectangle 9"/>
          <p:cNvSpPr/>
          <p:nvPr/>
        </p:nvSpPr>
        <p:spPr>
          <a:xfrm>
            <a:off x="548640" y="3017520"/>
            <a:ext cx="2411730" cy="86868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 what you do now</a:t>
            </a:r>
          </a:p>
        </p:txBody>
      </p:sp>
      <p:sp>
        <p:nvSpPr>
          <p:cNvPr id="11" name="Rounded Rectangle 10"/>
          <p:cNvSpPr/>
          <p:nvPr/>
        </p:nvSpPr>
        <p:spPr>
          <a:xfrm>
            <a:off x="3097530" y="3017520"/>
            <a:ext cx="2411730" cy="86868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 what’s missing</a:t>
            </a:r>
          </a:p>
        </p:txBody>
      </p:sp>
      <p:sp>
        <p:nvSpPr>
          <p:cNvPr id="12" name="Rounded Rectangle 11"/>
          <p:cNvSpPr/>
          <p:nvPr/>
        </p:nvSpPr>
        <p:spPr>
          <a:xfrm>
            <a:off x="5646420" y="3017520"/>
            <a:ext cx="2411730" cy="86868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 what a fulfilling job would offer</a:t>
            </a:r>
          </a:p>
        </p:txBody>
      </p:sp>
      <p:sp>
        <p:nvSpPr>
          <p:cNvPr id="13" name="Rounded Rectangle 12"/>
          <p:cNvSpPr/>
          <p:nvPr/>
        </p:nvSpPr>
        <p:spPr>
          <a:xfrm>
            <a:off x="8195310" y="3017520"/>
            <a:ext cx="2411730" cy="86868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 how to move closer</a:t>
            </a:r>
          </a:p>
        </p:txBody>
      </p:sp>
      <p:sp>
        <p:nvSpPr>
          <p:cNvPr id="14" name="TextBox 13"/>
          <p:cNvSpPr txBox="1"/>
          <p:nvPr/>
        </p:nvSpPr>
        <p:spPr>
          <a:xfrm>
            <a:off x="548640" y="4069080"/>
            <a:ext cx="11094415" cy="365760"/>
          </a:xfrm>
          <a:prstGeom prst="rect">
            <a:avLst/>
          </a:prstGeom>
          <a:noFill/>
        </p:spPr>
        <p:txBody>
          <a:bodyPr wrap="square" anchor="t">
            <a:spAutoFit/>
          </a:bodyPr>
          <a:lstStyle/>
          <a:p>
            <a:pPr algn="l">
              <a:lnSpc>
                <a:spcPct val="115000"/>
              </a:lnSpc>
              <a:spcAft>
                <a:spcPts val="800"/>
              </a:spcAft>
            </a:pPr>
            <a:r>
              <a:rPr sz="1400" b="0">
                <a:solidFill>
                  <a:srgbClr val="5F677A"/>
                </a:solidFill>
                <a:latin typeface="Arial"/>
                <a:ea typeface="Microsoft YaHei"/>
              </a:rPr>
              <a:t>Useful starters 开头句</a:t>
            </a:r>
          </a:p>
        </p:txBody>
      </p:sp>
      <p:sp>
        <p:nvSpPr>
          <p:cNvPr id="15" name="TextBox 14"/>
          <p:cNvSpPr txBox="1"/>
          <p:nvPr/>
        </p:nvSpPr>
        <p:spPr>
          <a:xfrm>
            <a:off x="548640" y="4389120"/>
            <a:ext cx="11094415" cy="100584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 What I find rewarding is…   💬 I’d feel more fulfilled if…   💬 It’s important to me that…   💬 I’d love to…</a:t>
            </a:r>
          </a:p>
        </p:txBody>
      </p:sp>
      <p:sp>
        <p:nvSpPr>
          <p:cNvPr id="16" name="Rounded Rectangle 15"/>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“rewarding” = 有回报的/有意义的;“I’d feel… if…” 第二条件句。</a:t>
            </a:r>
          </a:p>
        </p:txBody>
      </p:sp>
    </p:spTree>
  </p:cSld>
  <p:clrMapOvr>
    <a:masterClrMapping/>
  </p:clrMapOvr>
  <p:transition spd="med">
    <p:fade/>
  </p:transition>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100" b="1">
                <a:solidFill>
                  <a:srgbClr val="1F2A44"/>
                </a:solidFill>
                <a:latin typeface="Arial"/>
                <a:ea typeface="Microsoft YaHei"/>
              </a:rPr>
              <a:t>📖 Reading · Meaning beyond the salary</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123 words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7 · Lesson 33 Finding fulfilling work</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280160"/>
            <a:ext cx="11094415" cy="489204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280160"/>
            <a:ext cx="109728" cy="4892040"/>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1463040"/>
            <a:ext cx="10545775" cy="4526280"/>
          </a:xfrm>
          <a:prstGeom prst="rect">
            <a:avLst/>
          </a:prstGeom>
          <a:noFill/>
        </p:spPr>
        <p:txBody>
          <a:bodyPr wrap="square" anchor="t">
            <a:spAutoFit/>
          </a:bodyPr>
          <a:lstStyle/>
          <a:p>
            <a:pPr algn="l">
              <a:lnSpc>
                <a:spcPct val="130000"/>
              </a:lnSpc>
              <a:spcAft>
                <a:spcPts val="800"/>
              </a:spcAft>
            </a:pPr>
            <a:r>
              <a:rPr sz="2200" b="0">
                <a:solidFill>
                  <a:srgbClr val="1F2A44"/>
                </a:solidFill>
                <a:latin typeface="Arial"/>
                <a:ea typeface="Microsoft YaHei"/>
              </a:rPr>
              <a:t>Surveys regularly show that salary is not the main reason people stay in a job. What keeps them there is a sense of progress, good relationships and the feeling that their work matters. Researchers often describe three ingredients of fulfilling work: autonomy, mastery and purpose. Autonomy means having some control over how you work. Mastery means getting better at something difficult. Purpose means seeing how your work helps others. You do not have to change jobs to find more of these. Some people redesign their current role, for example by taking on a project they care about or mentoring a new colleague. Small changes can make a job feel more meaningful, and they are often easier to achieve than a full career change.</a:t>
            </a:r>
          </a:p>
        </p:txBody>
      </p:sp>
    </p:spTree>
  </p:cSld>
  <p:clrMapOvr>
    <a:masterClrMapping/>
  </p:clrMapOvr>
  <p:transition spd="med">
    <p:fade/>
  </p:transition>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Check Your Understanding</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Reading</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7 · Lesson 33 Finding fulfilling work</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Discuss with your team, then answer. Click to check.  小组讨论后抢答，点击核对答案</a:t>
            </a:r>
          </a:p>
        </p:txBody>
      </p:sp>
      <p:sp>
        <p:nvSpPr>
          <p:cNvPr id="9" name="TextBox 8"/>
          <p:cNvSpPr txBox="1"/>
          <p:nvPr/>
        </p:nvSpPr>
        <p:spPr>
          <a:xfrm>
            <a:off x="548640" y="150876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Q1. What are the three ingredients of fulfilling work?</a:t>
            </a:r>
          </a:p>
        </p:txBody>
      </p:sp>
      <p:sp>
        <p:nvSpPr>
          <p:cNvPr id="10" name="Rounded Rectangle 9"/>
          <p:cNvSpPr/>
          <p:nvPr/>
        </p:nvSpPr>
        <p:spPr>
          <a:xfrm>
            <a:off x="822960" y="198424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Autonomy, mastery and purpose.</a:t>
            </a:r>
          </a:p>
        </p:txBody>
      </p:sp>
      <p:sp>
        <p:nvSpPr>
          <p:cNvPr id="11" name="TextBox 10"/>
          <p:cNvSpPr txBox="1"/>
          <p:nvPr/>
        </p:nvSpPr>
        <p:spPr>
          <a:xfrm>
            <a:off x="548640" y="309372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Q2. What does “autonomy” mean?</a:t>
            </a:r>
          </a:p>
        </p:txBody>
      </p:sp>
      <p:sp>
        <p:nvSpPr>
          <p:cNvPr id="12" name="Rounded Rectangle 11"/>
          <p:cNvSpPr/>
          <p:nvPr/>
        </p:nvSpPr>
        <p:spPr>
          <a:xfrm>
            <a:off x="822960" y="356920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Having some control over how you work.</a:t>
            </a:r>
          </a:p>
        </p:txBody>
      </p:sp>
      <p:sp>
        <p:nvSpPr>
          <p:cNvPr id="13" name="TextBox 12"/>
          <p:cNvSpPr txBox="1"/>
          <p:nvPr/>
        </p:nvSpPr>
        <p:spPr>
          <a:xfrm>
            <a:off x="548640" y="467868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Q3. How can you find more meaning without changing jobs?</a:t>
            </a:r>
          </a:p>
        </p:txBody>
      </p:sp>
      <p:sp>
        <p:nvSpPr>
          <p:cNvPr id="14" name="Rounded Rectangle 13"/>
          <p:cNvSpPr/>
          <p:nvPr/>
        </p:nvSpPr>
        <p:spPr>
          <a:xfrm>
            <a:off x="822960" y="515416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By redesigning your role: taking on a project you care about or mentoring a colleague.</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1: Fulfilment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7 · Lesson 33 Finding fulfilling work</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成就感</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fulfilling / rewarding</a:t>
            </a:r>
          </a:p>
          <a:p>
            <a:pPr algn="l">
              <a:lnSpc>
                <a:spcPct val="115000"/>
              </a:lnSpc>
              <a:spcAft>
                <a:spcPts val="800"/>
              </a:spcAft>
            </a:pPr>
            <a:r>
              <a:rPr sz="1300" b="0">
                <a:solidFill>
                  <a:srgbClr val="5F677A"/>
                </a:solidFill>
                <a:latin typeface="Arial"/>
                <a:ea typeface="Microsoft YaHei"/>
              </a:rPr>
              <a:t>adjective</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有成就感的</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“Teaching is a rewarding job.”</a:t>
            </a:r>
          </a:p>
        </p:txBody>
      </p:sp>
      <p:sp>
        <p:nvSpPr>
          <p:cNvPr id="14" name="Rounded Rectangle 13"/>
          <p:cNvSpPr/>
          <p:nvPr/>
        </p:nvSpPr>
        <p:spPr>
          <a:xfrm>
            <a:off x="548640" y="21209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6304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a sense of purpose</a:t>
            </a:r>
          </a:p>
          <a:p>
            <a:pPr algn="l">
              <a:lnSpc>
                <a:spcPct val="115000"/>
              </a:lnSpc>
              <a:spcAft>
                <a:spcPts val="800"/>
              </a:spcAft>
            </a:pPr>
            <a:r>
              <a:rPr sz="1300" b="0">
                <a:solidFill>
                  <a:srgbClr val="5F677A"/>
                </a:solidFill>
                <a:latin typeface="Arial"/>
                <a:ea typeface="Microsoft YaHei"/>
              </a:rPr>
              <a:t>noun phrase</a:t>
            </a:r>
          </a:p>
        </p:txBody>
      </p:sp>
      <p:sp>
        <p:nvSpPr>
          <p:cNvPr id="17" name="TextBox 16"/>
          <p:cNvSpPr txBox="1"/>
          <p:nvPr/>
        </p:nvSpPr>
        <p:spPr>
          <a:xfrm>
            <a:off x="4206240" y="21666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使命感</a:t>
            </a:r>
          </a:p>
        </p:txBody>
      </p:sp>
      <p:sp>
        <p:nvSpPr>
          <p:cNvPr id="18" name="TextBox 17"/>
          <p:cNvSpPr txBox="1"/>
          <p:nvPr/>
        </p:nvSpPr>
        <p:spPr>
          <a:xfrm>
            <a:off x="6675120" y="21666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 want a sense of purpose.”</a:t>
            </a:r>
          </a:p>
        </p:txBody>
      </p:sp>
      <p:sp>
        <p:nvSpPr>
          <p:cNvPr id="19" name="Rounded Rectangle 18"/>
          <p:cNvSpPr/>
          <p:nvPr/>
        </p:nvSpPr>
        <p:spPr>
          <a:xfrm>
            <a:off x="548640" y="28244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2824480"/>
            <a:ext cx="91440" cy="6304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287020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job satisfaction</a:t>
            </a:r>
          </a:p>
          <a:p>
            <a:pPr algn="l">
              <a:lnSpc>
                <a:spcPct val="115000"/>
              </a:lnSpc>
              <a:spcAft>
                <a:spcPts val="800"/>
              </a:spcAft>
            </a:pPr>
            <a:r>
              <a:rPr sz="1300" b="0">
                <a:solidFill>
                  <a:srgbClr val="5F677A"/>
                </a:solidFill>
                <a:latin typeface="Arial"/>
                <a:ea typeface="Microsoft YaHei"/>
              </a:rPr>
              <a:t>noun</a:t>
            </a:r>
          </a:p>
        </p:txBody>
      </p:sp>
      <p:sp>
        <p:nvSpPr>
          <p:cNvPr id="22" name="TextBox 21"/>
          <p:cNvSpPr txBox="1"/>
          <p:nvPr/>
        </p:nvSpPr>
        <p:spPr>
          <a:xfrm>
            <a:off x="4206240" y="28702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工作满意度</a:t>
            </a:r>
          </a:p>
        </p:txBody>
      </p:sp>
      <p:sp>
        <p:nvSpPr>
          <p:cNvPr id="23" name="TextBox 22"/>
          <p:cNvSpPr txBox="1"/>
          <p:nvPr/>
        </p:nvSpPr>
        <p:spPr>
          <a:xfrm>
            <a:off x="6675120" y="28702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“Job satisfaction is high here.”</a:t>
            </a:r>
          </a:p>
        </p:txBody>
      </p:sp>
      <p:sp>
        <p:nvSpPr>
          <p:cNvPr id="24" name="Rounded Rectangle 23"/>
          <p:cNvSpPr/>
          <p:nvPr/>
        </p:nvSpPr>
        <p:spPr>
          <a:xfrm>
            <a:off x="548640" y="352806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52806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57378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find your passion</a:t>
            </a:r>
          </a:p>
          <a:p>
            <a:pPr algn="l">
              <a:lnSpc>
                <a:spcPct val="115000"/>
              </a:lnSpc>
              <a:spcAft>
                <a:spcPts val="800"/>
              </a:spcAft>
            </a:pPr>
            <a:r>
              <a:rPr sz="1300" b="0">
                <a:solidFill>
                  <a:srgbClr val="5F677A"/>
                </a:solidFill>
                <a:latin typeface="Arial"/>
                <a:ea typeface="Microsoft YaHei"/>
              </a:rPr>
              <a:t>collocation</a:t>
            </a:r>
          </a:p>
        </p:txBody>
      </p:sp>
      <p:sp>
        <p:nvSpPr>
          <p:cNvPr id="27" name="TextBox 26"/>
          <p:cNvSpPr txBox="1"/>
          <p:nvPr/>
        </p:nvSpPr>
        <p:spPr>
          <a:xfrm>
            <a:off x="4206240" y="357378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找到热情所在</a:t>
            </a:r>
          </a:p>
        </p:txBody>
      </p:sp>
      <p:sp>
        <p:nvSpPr>
          <p:cNvPr id="28" name="TextBox 27"/>
          <p:cNvSpPr txBox="1"/>
          <p:nvPr/>
        </p:nvSpPr>
        <p:spPr>
          <a:xfrm>
            <a:off x="6675120" y="357378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“She found her passion in design.”</a:t>
            </a:r>
          </a:p>
        </p:txBody>
      </p:sp>
      <p:sp>
        <p:nvSpPr>
          <p:cNvPr id="29" name="Rounded Rectangle 28"/>
          <p:cNvSpPr/>
          <p:nvPr/>
        </p:nvSpPr>
        <p:spPr>
          <a:xfrm>
            <a:off x="548640" y="423164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23164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27736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make a difference</a:t>
            </a:r>
          </a:p>
          <a:p>
            <a:pPr algn="l">
              <a:lnSpc>
                <a:spcPct val="115000"/>
              </a:lnSpc>
              <a:spcAft>
                <a:spcPts val="800"/>
              </a:spcAft>
            </a:pPr>
            <a:r>
              <a:rPr sz="1300" b="0">
                <a:solidFill>
                  <a:srgbClr val="5F677A"/>
                </a:solidFill>
                <a:latin typeface="Arial"/>
                <a:ea typeface="Microsoft YaHei"/>
              </a:rPr>
              <a:t>idiom</a:t>
            </a:r>
          </a:p>
        </p:txBody>
      </p:sp>
      <p:sp>
        <p:nvSpPr>
          <p:cNvPr id="32" name="TextBox 31"/>
          <p:cNvSpPr txBox="1"/>
          <p:nvPr/>
        </p:nvSpPr>
        <p:spPr>
          <a:xfrm>
            <a:off x="4206240" y="427736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产生影响</a:t>
            </a:r>
          </a:p>
        </p:txBody>
      </p:sp>
      <p:sp>
        <p:nvSpPr>
          <p:cNvPr id="33" name="TextBox 32"/>
          <p:cNvSpPr txBox="1"/>
          <p:nvPr/>
        </p:nvSpPr>
        <p:spPr>
          <a:xfrm>
            <a:off x="6675120" y="427736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 want to make a difference.”</a:t>
            </a:r>
          </a:p>
        </p:txBody>
      </p:sp>
    </p:spTree>
  </p:cSld>
  <p:clrMapOvr>
    <a:masterClrMapping/>
  </p:clrMapOvr>
  <p:transition spd="med">
    <p:fade/>
  </p:transition>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2: Motivation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7 · Lesson 33 Finding fulfilling work</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动力</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motivated / motivating</a:t>
            </a:r>
          </a:p>
          <a:p>
            <a:pPr algn="l">
              <a:lnSpc>
                <a:spcPct val="115000"/>
              </a:lnSpc>
              <a:spcAft>
                <a:spcPts val="800"/>
              </a:spcAft>
            </a:pPr>
            <a:r>
              <a:rPr sz="1300" b="0">
                <a:solidFill>
                  <a:srgbClr val="5F677A"/>
                </a:solidFill>
                <a:latin typeface="Arial"/>
                <a:ea typeface="Microsoft YaHei"/>
              </a:rPr>
              <a:t>adjective</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有动力的/激励人的</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 feel motivated when I learn.”</a:t>
            </a:r>
          </a:p>
        </p:txBody>
      </p:sp>
      <p:sp>
        <p:nvSpPr>
          <p:cNvPr id="14" name="Rounded Rectangle 13"/>
          <p:cNvSpPr/>
          <p:nvPr/>
        </p:nvSpPr>
        <p:spPr>
          <a:xfrm>
            <a:off x="548640" y="21209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6304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autonomy</a:t>
            </a:r>
          </a:p>
          <a:p>
            <a:pPr algn="l">
              <a:lnSpc>
                <a:spcPct val="115000"/>
              </a:lnSpc>
              <a:spcAft>
                <a:spcPts val="800"/>
              </a:spcAft>
            </a:pPr>
            <a:r>
              <a:rPr sz="1300" b="0">
                <a:solidFill>
                  <a:srgbClr val="5F677A"/>
                </a:solidFill>
                <a:latin typeface="Arial"/>
                <a:ea typeface="Microsoft YaHei"/>
              </a:rPr>
              <a:t>noun</a:t>
            </a:r>
          </a:p>
        </p:txBody>
      </p:sp>
      <p:sp>
        <p:nvSpPr>
          <p:cNvPr id="17" name="TextBox 16"/>
          <p:cNvSpPr txBox="1"/>
          <p:nvPr/>
        </p:nvSpPr>
        <p:spPr>
          <a:xfrm>
            <a:off x="4206240" y="21666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自主权</a:t>
            </a:r>
          </a:p>
        </p:txBody>
      </p:sp>
      <p:sp>
        <p:nvSpPr>
          <p:cNvPr id="18" name="TextBox 17"/>
          <p:cNvSpPr txBox="1"/>
          <p:nvPr/>
        </p:nvSpPr>
        <p:spPr>
          <a:xfrm>
            <a:off x="6675120" y="21666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“We value autonomy.”</a:t>
            </a:r>
          </a:p>
        </p:txBody>
      </p:sp>
      <p:sp>
        <p:nvSpPr>
          <p:cNvPr id="19" name="Rounded Rectangle 18"/>
          <p:cNvSpPr/>
          <p:nvPr/>
        </p:nvSpPr>
        <p:spPr>
          <a:xfrm>
            <a:off x="548640" y="28244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2824480"/>
            <a:ext cx="91440" cy="6304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287020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recognition</a:t>
            </a:r>
          </a:p>
          <a:p>
            <a:pPr algn="l">
              <a:lnSpc>
                <a:spcPct val="115000"/>
              </a:lnSpc>
              <a:spcAft>
                <a:spcPts val="800"/>
              </a:spcAft>
            </a:pPr>
            <a:r>
              <a:rPr sz="1300" b="0">
                <a:solidFill>
                  <a:srgbClr val="5F677A"/>
                </a:solidFill>
                <a:latin typeface="Arial"/>
                <a:ea typeface="Microsoft YaHei"/>
              </a:rPr>
              <a:t>noun</a:t>
            </a:r>
          </a:p>
        </p:txBody>
      </p:sp>
      <p:sp>
        <p:nvSpPr>
          <p:cNvPr id="22" name="TextBox 21"/>
          <p:cNvSpPr txBox="1"/>
          <p:nvPr/>
        </p:nvSpPr>
        <p:spPr>
          <a:xfrm>
            <a:off x="4206240" y="28702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认可</a:t>
            </a:r>
          </a:p>
        </p:txBody>
      </p:sp>
      <p:sp>
        <p:nvSpPr>
          <p:cNvPr id="23" name="TextBox 22"/>
          <p:cNvSpPr txBox="1"/>
          <p:nvPr/>
        </p:nvSpPr>
        <p:spPr>
          <a:xfrm>
            <a:off x="6675120" y="28702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“People need recognition.”</a:t>
            </a:r>
          </a:p>
        </p:txBody>
      </p:sp>
      <p:sp>
        <p:nvSpPr>
          <p:cNvPr id="24" name="Rounded Rectangle 23"/>
          <p:cNvSpPr/>
          <p:nvPr/>
        </p:nvSpPr>
        <p:spPr>
          <a:xfrm>
            <a:off x="548640" y="352806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52806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57378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a sense of belonging</a:t>
            </a:r>
          </a:p>
          <a:p>
            <a:pPr algn="l">
              <a:lnSpc>
                <a:spcPct val="115000"/>
              </a:lnSpc>
              <a:spcAft>
                <a:spcPts val="800"/>
              </a:spcAft>
            </a:pPr>
            <a:r>
              <a:rPr sz="1300" b="0">
                <a:solidFill>
                  <a:srgbClr val="5F677A"/>
                </a:solidFill>
                <a:latin typeface="Arial"/>
                <a:ea typeface="Microsoft YaHei"/>
              </a:rPr>
              <a:t>noun</a:t>
            </a:r>
          </a:p>
        </p:txBody>
      </p:sp>
      <p:sp>
        <p:nvSpPr>
          <p:cNvPr id="27" name="TextBox 26"/>
          <p:cNvSpPr txBox="1"/>
          <p:nvPr/>
        </p:nvSpPr>
        <p:spPr>
          <a:xfrm>
            <a:off x="4206240" y="357378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归属感</a:t>
            </a:r>
          </a:p>
        </p:txBody>
      </p:sp>
      <p:sp>
        <p:nvSpPr>
          <p:cNvPr id="28" name="TextBox 27"/>
          <p:cNvSpPr txBox="1"/>
          <p:nvPr/>
        </p:nvSpPr>
        <p:spPr>
          <a:xfrm>
            <a:off x="6675120" y="357378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“A sense of belonging keeps people.”</a:t>
            </a:r>
          </a:p>
        </p:txBody>
      </p:sp>
      <p:sp>
        <p:nvSpPr>
          <p:cNvPr id="29" name="Rounded Rectangle 28"/>
          <p:cNvSpPr/>
          <p:nvPr/>
        </p:nvSpPr>
        <p:spPr>
          <a:xfrm>
            <a:off x="548640" y="423164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23164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27736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go the extra mile</a:t>
            </a:r>
          </a:p>
          <a:p>
            <a:pPr algn="l">
              <a:lnSpc>
                <a:spcPct val="115000"/>
              </a:lnSpc>
              <a:spcAft>
                <a:spcPts val="800"/>
              </a:spcAft>
            </a:pPr>
            <a:r>
              <a:rPr sz="1300" b="0">
                <a:solidFill>
                  <a:srgbClr val="5F677A"/>
                </a:solidFill>
                <a:latin typeface="Arial"/>
                <a:ea typeface="Microsoft YaHei"/>
              </a:rPr>
              <a:t>idiom</a:t>
            </a:r>
          </a:p>
        </p:txBody>
      </p:sp>
      <p:sp>
        <p:nvSpPr>
          <p:cNvPr id="32" name="TextBox 31"/>
          <p:cNvSpPr txBox="1"/>
          <p:nvPr/>
        </p:nvSpPr>
        <p:spPr>
          <a:xfrm>
            <a:off x="4206240" y="427736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额外努力</a:t>
            </a:r>
          </a:p>
        </p:txBody>
      </p:sp>
      <p:sp>
        <p:nvSpPr>
          <p:cNvPr id="33" name="TextBox 32"/>
          <p:cNvSpPr txBox="1"/>
          <p:nvPr/>
        </p:nvSpPr>
        <p:spPr>
          <a:xfrm>
            <a:off x="6675120" y="427736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“She always goes the extra mile.”</a:t>
            </a:r>
          </a:p>
        </p:txBody>
      </p:sp>
    </p:spTree>
  </p:cSld>
  <p:clrMapOvr>
    <a:masterClrMapping/>
  </p:clrMapOvr>
  <p:transition spd="med">
    <p:fade/>
  </p:transition>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3: Growth</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7 · Lesson 33 Finding fulfilling work</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成长</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personal growth</a:t>
            </a:r>
          </a:p>
          <a:p>
            <a:pPr algn="l">
              <a:lnSpc>
                <a:spcPct val="115000"/>
              </a:lnSpc>
              <a:spcAft>
                <a:spcPts val="800"/>
              </a:spcAft>
            </a:pPr>
            <a:r>
              <a:rPr sz="1300" b="0">
                <a:solidFill>
                  <a:srgbClr val="5F677A"/>
                </a:solidFill>
                <a:latin typeface="Arial"/>
                <a:ea typeface="Microsoft YaHei"/>
              </a:rPr>
              <a:t>noun</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个人成长</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“This role offers personal growth.”</a:t>
            </a:r>
          </a:p>
        </p:txBody>
      </p:sp>
      <p:sp>
        <p:nvSpPr>
          <p:cNvPr id="14" name="Rounded Rectangle 13"/>
          <p:cNvSpPr/>
          <p:nvPr/>
        </p:nvSpPr>
        <p:spPr>
          <a:xfrm>
            <a:off x="548640" y="21209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6304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take on</a:t>
            </a:r>
          </a:p>
          <a:p>
            <a:pPr algn="l">
              <a:lnSpc>
                <a:spcPct val="115000"/>
              </a:lnSpc>
              <a:spcAft>
                <a:spcPts val="800"/>
              </a:spcAft>
            </a:pPr>
            <a:r>
              <a:rPr sz="1300" b="0">
                <a:solidFill>
                  <a:srgbClr val="5F677A"/>
                </a:solidFill>
                <a:latin typeface="Arial"/>
                <a:ea typeface="Microsoft YaHei"/>
              </a:rPr>
              <a:t>phrasal verb</a:t>
            </a:r>
          </a:p>
        </p:txBody>
      </p:sp>
      <p:sp>
        <p:nvSpPr>
          <p:cNvPr id="17" name="TextBox 16"/>
          <p:cNvSpPr txBox="1"/>
          <p:nvPr/>
        </p:nvSpPr>
        <p:spPr>
          <a:xfrm>
            <a:off x="4206240" y="21666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承担</a:t>
            </a:r>
          </a:p>
        </p:txBody>
      </p:sp>
      <p:sp>
        <p:nvSpPr>
          <p:cNvPr id="18" name="TextBox 17"/>
          <p:cNvSpPr txBox="1"/>
          <p:nvPr/>
        </p:nvSpPr>
        <p:spPr>
          <a:xfrm>
            <a:off x="6675120" y="21666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 took on a new project.”</a:t>
            </a:r>
          </a:p>
        </p:txBody>
      </p:sp>
      <p:sp>
        <p:nvSpPr>
          <p:cNvPr id="19" name="Rounded Rectangle 18"/>
          <p:cNvSpPr/>
          <p:nvPr/>
        </p:nvSpPr>
        <p:spPr>
          <a:xfrm>
            <a:off x="548640" y="28244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282448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287020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stretch assignment</a:t>
            </a:r>
          </a:p>
          <a:p>
            <a:pPr algn="l">
              <a:lnSpc>
                <a:spcPct val="115000"/>
              </a:lnSpc>
              <a:spcAft>
                <a:spcPts val="800"/>
              </a:spcAft>
            </a:pPr>
            <a:r>
              <a:rPr sz="1300" b="0">
                <a:solidFill>
                  <a:srgbClr val="5F677A"/>
                </a:solidFill>
                <a:latin typeface="Arial"/>
                <a:ea typeface="Microsoft YaHei"/>
              </a:rPr>
              <a:t>noun</a:t>
            </a:r>
          </a:p>
        </p:txBody>
      </p:sp>
      <p:sp>
        <p:nvSpPr>
          <p:cNvPr id="22" name="TextBox 21"/>
          <p:cNvSpPr txBox="1"/>
          <p:nvPr/>
        </p:nvSpPr>
        <p:spPr>
          <a:xfrm>
            <a:off x="4206240" y="28702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挑战性任务</a:t>
            </a:r>
          </a:p>
        </p:txBody>
      </p:sp>
      <p:sp>
        <p:nvSpPr>
          <p:cNvPr id="23" name="TextBox 22"/>
          <p:cNvSpPr txBox="1"/>
          <p:nvPr/>
        </p:nvSpPr>
        <p:spPr>
          <a:xfrm>
            <a:off x="6675120" y="28702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“A stretch assignment helped me grow.”</a:t>
            </a:r>
          </a:p>
        </p:txBody>
      </p:sp>
      <p:sp>
        <p:nvSpPr>
          <p:cNvPr id="24" name="Rounded Rectangle 23"/>
          <p:cNvSpPr/>
          <p:nvPr/>
        </p:nvSpPr>
        <p:spPr>
          <a:xfrm>
            <a:off x="548640" y="352806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52806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57378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feel stuck in a rut</a:t>
            </a:r>
          </a:p>
          <a:p>
            <a:pPr algn="l">
              <a:lnSpc>
                <a:spcPct val="115000"/>
              </a:lnSpc>
              <a:spcAft>
                <a:spcPts val="800"/>
              </a:spcAft>
            </a:pPr>
            <a:r>
              <a:rPr sz="1300" b="0">
                <a:solidFill>
                  <a:srgbClr val="5F677A"/>
                </a:solidFill>
                <a:latin typeface="Arial"/>
                <a:ea typeface="Microsoft YaHei"/>
              </a:rPr>
              <a:t>idiom</a:t>
            </a:r>
          </a:p>
        </p:txBody>
      </p:sp>
      <p:sp>
        <p:nvSpPr>
          <p:cNvPr id="27" name="TextBox 26"/>
          <p:cNvSpPr txBox="1"/>
          <p:nvPr/>
        </p:nvSpPr>
        <p:spPr>
          <a:xfrm>
            <a:off x="4206240" y="357378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一成不变</a:t>
            </a:r>
          </a:p>
        </p:txBody>
      </p:sp>
      <p:sp>
        <p:nvSpPr>
          <p:cNvPr id="28" name="TextBox 27"/>
          <p:cNvSpPr txBox="1"/>
          <p:nvPr/>
        </p:nvSpPr>
        <p:spPr>
          <a:xfrm>
            <a:off x="6675120" y="357378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 feel stuck in a rut.”</a:t>
            </a:r>
          </a:p>
        </p:txBody>
      </p:sp>
      <p:sp>
        <p:nvSpPr>
          <p:cNvPr id="29" name="Rounded Rectangle 28"/>
          <p:cNvSpPr/>
          <p:nvPr/>
        </p:nvSpPr>
        <p:spPr>
          <a:xfrm>
            <a:off x="548640" y="423164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231640"/>
            <a:ext cx="91440" cy="9352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277360"/>
            <a:ext cx="3429000" cy="8712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burnt out / disengaged</a:t>
            </a:r>
          </a:p>
          <a:p>
            <a:pPr algn="l">
              <a:lnSpc>
                <a:spcPct val="115000"/>
              </a:lnSpc>
              <a:spcAft>
                <a:spcPts val="800"/>
              </a:spcAft>
            </a:pPr>
            <a:r>
              <a:rPr sz="1300" b="0">
                <a:solidFill>
                  <a:srgbClr val="5F677A"/>
                </a:solidFill>
                <a:latin typeface="Arial"/>
                <a:ea typeface="Microsoft YaHei"/>
              </a:rPr>
              <a:t>adjective</a:t>
            </a:r>
          </a:p>
        </p:txBody>
      </p:sp>
      <p:sp>
        <p:nvSpPr>
          <p:cNvPr id="32" name="TextBox 31"/>
          <p:cNvSpPr txBox="1"/>
          <p:nvPr/>
        </p:nvSpPr>
        <p:spPr>
          <a:xfrm>
            <a:off x="4206240" y="427736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倦怠/不投入</a:t>
            </a:r>
          </a:p>
        </p:txBody>
      </p:sp>
      <p:sp>
        <p:nvSpPr>
          <p:cNvPr id="33" name="TextBox 32"/>
          <p:cNvSpPr txBox="1"/>
          <p:nvPr/>
        </p:nvSpPr>
        <p:spPr>
          <a:xfrm>
            <a:off x="6675120" y="427736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“He felt disengaged at work.”</a:t>
            </a:r>
          </a:p>
        </p:txBody>
      </p:sp>
    </p:spTree>
  </p:cSld>
  <p:clrMapOvr>
    <a:masterClrMapping/>
  </p:clrMapOvr>
  <p:transition spd="med">
    <p:fade/>
  </p:transition>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Speed Round: Say it in English!</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Game</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7 · Lesson 33 Finding fulfilling work</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Read the Chinese, shout the English expression! Click to reveal.  看中文，抢答英文表达</a:t>
            </a:r>
          </a:p>
        </p:txBody>
      </p:sp>
      <p:sp>
        <p:nvSpPr>
          <p:cNvPr id="9" name="Rounded Rectangle 8"/>
          <p:cNvSpPr/>
          <p:nvPr/>
        </p:nvSpPr>
        <p:spPr>
          <a:xfrm>
            <a:off x="548640" y="155448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有动力的/激励人的</a:t>
            </a:r>
          </a:p>
        </p:txBody>
      </p:sp>
      <p:sp>
        <p:nvSpPr>
          <p:cNvPr id="11" name="Rounded Rectangle 10"/>
          <p:cNvSpPr/>
          <p:nvPr/>
        </p:nvSpPr>
        <p:spPr>
          <a:xfrm>
            <a:off x="685800" y="265176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motivated / motivating</a:t>
            </a:r>
          </a:p>
        </p:txBody>
      </p:sp>
      <p:sp>
        <p:nvSpPr>
          <p:cNvPr id="12" name="Rounded Rectangle 11"/>
          <p:cNvSpPr/>
          <p:nvPr/>
        </p:nvSpPr>
        <p:spPr>
          <a:xfrm>
            <a:off x="3367963" y="155448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459403"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归属感</a:t>
            </a:r>
          </a:p>
        </p:txBody>
      </p:sp>
      <p:sp>
        <p:nvSpPr>
          <p:cNvPr id="14" name="Rounded Rectangle 13"/>
          <p:cNvSpPr/>
          <p:nvPr/>
        </p:nvSpPr>
        <p:spPr>
          <a:xfrm>
            <a:off x="3505123" y="265176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a sense of belonging</a:t>
            </a:r>
          </a:p>
        </p:txBody>
      </p:sp>
      <p:sp>
        <p:nvSpPr>
          <p:cNvPr id="15" name="Rounded Rectangle 14"/>
          <p:cNvSpPr/>
          <p:nvPr/>
        </p:nvSpPr>
        <p:spPr>
          <a:xfrm>
            <a:off x="6187286" y="155448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78726"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承担</a:t>
            </a:r>
          </a:p>
        </p:txBody>
      </p:sp>
      <p:sp>
        <p:nvSpPr>
          <p:cNvPr id="17" name="Rounded Rectangle 16"/>
          <p:cNvSpPr/>
          <p:nvPr/>
        </p:nvSpPr>
        <p:spPr>
          <a:xfrm>
            <a:off x="6324446" y="265176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take on</a:t>
            </a:r>
          </a:p>
        </p:txBody>
      </p:sp>
      <p:sp>
        <p:nvSpPr>
          <p:cNvPr id="18" name="Rounded Rectangle 17"/>
          <p:cNvSpPr/>
          <p:nvPr/>
        </p:nvSpPr>
        <p:spPr>
          <a:xfrm>
            <a:off x="9006609" y="1554480"/>
            <a:ext cx="2636443" cy="2148840"/>
          </a:xfrm>
          <a:prstGeom prst="roundRect">
            <a:avLst>
              <a:gd name="adj" fmla="val 10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098049"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工作满意度</a:t>
            </a:r>
          </a:p>
        </p:txBody>
      </p:sp>
      <p:sp>
        <p:nvSpPr>
          <p:cNvPr id="20" name="Rounded Rectangle 19"/>
          <p:cNvSpPr/>
          <p:nvPr/>
        </p:nvSpPr>
        <p:spPr>
          <a:xfrm>
            <a:off x="9143769" y="2651760"/>
            <a:ext cx="2362123" cy="9144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job satisfaction</a:t>
            </a:r>
          </a:p>
        </p:txBody>
      </p:sp>
      <p:sp>
        <p:nvSpPr>
          <p:cNvPr id="21" name="Rounded Rectangle 20"/>
          <p:cNvSpPr/>
          <p:nvPr/>
        </p:nvSpPr>
        <p:spPr>
          <a:xfrm>
            <a:off x="548640" y="3886200"/>
            <a:ext cx="2636443" cy="2148840"/>
          </a:xfrm>
          <a:prstGeom prst="roundRect">
            <a:avLst>
              <a:gd name="adj" fmla="val 10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个人成长</a:t>
            </a:r>
          </a:p>
        </p:txBody>
      </p:sp>
      <p:sp>
        <p:nvSpPr>
          <p:cNvPr id="23" name="Rounded Rectangle 22"/>
          <p:cNvSpPr/>
          <p:nvPr/>
        </p:nvSpPr>
        <p:spPr>
          <a:xfrm>
            <a:off x="685800" y="4983480"/>
            <a:ext cx="2362123" cy="9144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personal growth</a:t>
            </a:r>
          </a:p>
        </p:txBody>
      </p:sp>
      <p:sp>
        <p:nvSpPr>
          <p:cNvPr id="24" name="Rounded Rectangle 23"/>
          <p:cNvSpPr/>
          <p:nvPr/>
        </p:nvSpPr>
        <p:spPr>
          <a:xfrm>
            <a:off x="3367963" y="388620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459403"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一成不变</a:t>
            </a:r>
          </a:p>
        </p:txBody>
      </p:sp>
      <p:sp>
        <p:nvSpPr>
          <p:cNvPr id="26" name="Rounded Rectangle 25"/>
          <p:cNvSpPr/>
          <p:nvPr/>
        </p:nvSpPr>
        <p:spPr>
          <a:xfrm>
            <a:off x="3505123" y="498348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feel stuck in a rut</a:t>
            </a:r>
          </a:p>
        </p:txBody>
      </p:sp>
      <p:sp>
        <p:nvSpPr>
          <p:cNvPr id="27" name="Rounded Rectangle 26"/>
          <p:cNvSpPr/>
          <p:nvPr/>
        </p:nvSpPr>
        <p:spPr>
          <a:xfrm>
            <a:off x="6187286" y="388620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78726"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额外努力</a:t>
            </a:r>
          </a:p>
        </p:txBody>
      </p:sp>
      <p:sp>
        <p:nvSpPr>
          <p:cNvPr id="29" name="Rounded Rectangle 28"/>
          <p:cNvSpPr/>
          <p:nvPr/>
        </p:nvSpPr>
        <p:spPr>
          <a:xfrm>
            <a:off x="6324446" y="498348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go the extra mile</a:t>
            </a:r>
          </a:p>
        </p:txBody>
      </p:sp>
      <p:sp>
        <p:nvSpPr>
          <p:cNvPr id="30" name="Rounded Rectangle 29"/>
          <p:cNvSpPr/>
          <p:nvPr/>
        </p:nvSpPr>
        <p:spPr>
          <a:xfrm>
            <a:off x="9006609" y="388620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098049"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认可</a:t>
            </a:r>
          </a:p>
        </p:txBody>
      </p:sp>
      <p:sp>
        <p:nvSpPr>
          <p:cNvPr id="32" name="Rounded Rectangle 31"/>
          <p:cNvSpPr/>
          <p:nvPr/>
        </p:nvSpPr>
        <p:spPr>
          <a:xfrm>
            <a:off x="9143769" y="498348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recognition</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1"/>
                                        </p:tgtEl>
                                        <p:attrNameLst>
                                          <p:attrName>style.visibility</p:attrName>
                                        </p:attrNameLst>
                                      </p:cBhvr>
                                      <p:to>
                                        <p:strVal val="visible"/>
                                      </p:to>
                                    </p:set>
                                    <p:animEffect transition="in" filter="fade">
                                      <p:cBhvr>
                                        <p:cTn id="4" dur="400"/>
                                        <p:tgtEl>
                                          <p:spTgt spid="1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4"/>
                                        </p:tgtEl>
                                        <p:attrNameLst>
                                          <p:attrName>style.visibility</p:attrName>
                                        </p:attrNameLst>
                                      </p:cBhvr>
                                      <p:to>
                                        <p:strVal val="visible"/>
                                      </p:to>
                                    </p:set>
                                    <p:animEffect transition="in" filter="fade">
                                      <p:cBhvr>
                                        <p:cTn id="9" dur="400"/>
                                        <p:tgtEl>
                                          <p:spTgt spid="14"/>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7"/>
                                        </p:tgtEl>
                                        <p:attrNameLst>
                                          <p:attrName>style.visibility</p:attrName>
                                        </p:attrNameLst>
                                      </p:cBhvr>
                                      <p:to>
                                        <p:strVal val="visible"/>
                                      </p:to>
                                    </p:set>
                                    <p:animEffect transition="in" filter="fade">
                                      <p:cBhvr>
                                        <p:cTn id="14" dur="400"/>
                                        <p:tgtEl>
                                          <p:spTgt spid="17"/>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0"/>
                                        </p:tgtEl>
                                        <p:attrNameLst>
                                          <p:attrName>style.visibility</p:attrName>
                                        </p:attrNameLst>
                                      </p:cBhvr>
                                      <p:to>
                                        <p:strVal val="visible"/>
                                      </p:to>
                                    </p:set>
                                    <p:animEffect transition="in" filter="fade">
                                      <p:cBhvr>
                                        <p:cTn id="19" dur="400"/>
                                        <p:tgtEl>
                                          <p:spTgt spid="20"/>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3"/>
                                        </p:tgtEl>
                                        <p:attrNameLst>
                                          <p:attrName>style.visibility</p:attrName>
                                        </p:attrNameLst>
                                      </p:cBhvr>
                                      <p:to>
                                        <p:strVal val="visible"/>
                                      </p:to>
                                    </p:set>
                                    <p:animEffect transition="in" filter="fade">
                                      <p:cBhvr>
                                        <p:cTn id="24" dur="400"/>
                                        <p:tgtEl>
                                          <p:spTgt spid="23"/>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26"/>
                                        </p:tgtEl>
                                        <p:attrNameLst>
                                          <p:attrName>style.visibility</p:attrName>
                                        </p:attrNameLst>
                                      </p:cBhvr>
                                      <p:to>
                                        <p:strVal val="visible"/>
                                      </p:to>
                                    </p:set>
                                    <p:animEffect transition="in" filter="fade">
                                      <p:cBhvr>
                                        <p:cTn id="29" dur="400"/>
                                        <p:tgtEl>
                                          <p:spTgt spid="26"/>
                                        </p:tgtEl>
                                      </p:cBhvr>
                                    </p:animEffect>
                                  </p:childTnLst>
                                </p:cTn>
                              </p:par>
                            </p:childTnLst>
                          </p:cTn>
                        </p:par>
                      </p:childTnLst>
                    </p:cTn>
                  </p:par>
                  <p:par>
                    <p:cTn id="36" fill="hold">
                      <p:stCondLst>
                        <p:cond delay="indefinite"/>
                      </p:stCondLst>
                      <p:childTnLst>
                        <p:par>
                          <p:cTn id="37" fill="hold">
                            <p:stCondLst>
                              <p:cond delay="0"/>
                            </p:stCondLst>
                            <p:childTnLst>
                              <p:par>
                                <p:cTn id="35" presetID="10" presetClass="entr" presetSubtype="0" fill="hold" nodeType="clickEffect">
                                  <p:stCondLst>
                                    <p:cond delay="0"/>
                                  </p:stCondLst>
                                  <p:childTnLst>
                                    <p:set>
                                      <p:cBhvr>
                                        <p:cTn id="33" dur="1" fill="hold">
                                          <p:stCondLst>
                                            <p:cond delay="0"/>
                                          </p:stCondLst>
                                        </p:cTn>
                                        <p:tgtEl>
                                          <p:spTgt spid="29"/>
                                        </p:tgtEl>
                                        <p:attrNameLst>
                                          <p:attrName>style.visibility</p:attrName>
                                        </p:attrNameLst>
                                      </p:cBhvr>
                                      <p:to>
                                        <p:strVal val="visible"/>
                                      </p:to>
                                    </p:set>
                                    <p:animEffect transition="in" filter="fade">
                                      <p:cBhvr>
                                        <p:cTn id="34" dur="400"/>
                                        <p:tgtEl>
                                          <p:spTgt spid="29"/>
                                        </p:tgtEl>
                                      </p:cBhvr>
                                    </p:animEffect>
                                  </p:childTnLst>
                                </p:cTn>
                              </p:par>
                            </p:childTnLst>
                          </p:cTn>
                        </p:par>
                      </p:childTnLst>
                    </p:cTn>
                  </p:par>
                  <p:par>
                    <p:cTn id="41" fill="hold">
                      <p:stCondLst>
                        <p:cond delay="indefinite"/>
                      </p:stCondLst>
                      <p:childTnLst>
                        <p:par>
                          <p:cTn id="42" fill="hold">
                            <p:stCondLst>
                              <p:cond delay="0"/>
                            </p:stCondLst>
                            <p:childTnLst>
                              <p:par>
                                <p:cTn id="40" presetID="10" presetClass="entr" presetSubtype="0" fill="hold" nodeType="clickEffect">
                                  <p:stCondLst>
                                    <p:cond delay="0"/>
                                  </p:stCondLst>
                                  <p:childTnLst>
                                    <p:set>
                                      <p:cBhvr>
                                        <p:cTn id="38" dur="1" fill="hold">
                                          <p:stCondLst>
                                            <p:cond delay="0"/>
                                          </p:stCondLst>
                                        </p:cTn>
                                        <p:tgtEl>
                                          <p:spTgt spid="32"/>
                                        </p:tgtEl>
                                        <p:attrNameLst>
                                          <p:attrName>style.visibility</p:attrName>
                                        </p:attrNameLst>
                                      </p:cBhvr>
                                      <p:to>
                                        <p:strVal val="visible"/>
                                      </p:to>
                                    </p:set>
                                    <p:animEffect transition="in" filter="fade">
                                      <p:cBhvr>
                                        <p:cTn id="39"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Mini Quiz: Fill in the Blanks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7 · Lesson 33 Finding fulfilling work</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40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463040" cy="457200"/>
          </a:xfrm>
          <a:prstGeom prst="rect">
            <a:avLst/>
          </a:prstGeom>
          <a:noFill/>
        </p:spPr>
        <p:txBody>
          <a:bodyPr wrap="square" anchor="ctr">
            <a:spAutoFit/>
          </a:bodyPr>
          <a:lstStyle/>
          <a:p>
            <a:pPr algn="l">
              <a:lnSpc>
                <a:spcPct val="115000"/>
              </a:lnSpc>
              <a:spcAft>
                <a:spcPts val="800"/>
              </a:spcAft>
            </a:pPr>
            <a:r>
              <a:rPr sz="1400" b="0">
                <a:solidFill>
                  <a:srgbClr val="5F677A"/>
                </a:solidFill>
                <a:latin typeface="Arial"/>
                <a:ea typeface="Microsoft YaHei"/>
              </a:rPr>
              <a:t>Word bank</a:t>
            </a:r>
          </a:p>
        </p:txBody>
      </p:sp>
      <p:sp>
        <p:nvSpPr>
          <p:cNvPr id="9" name="Rounded Rectangle 8"/>
          <p:cNvSpPr/>
          <p:nvPr/>
        </p:nvSpPr>
        <p:spPr>
          <a:xfrm>
            <a:off x="2011680" y="987552"/>
            <a:ext cx="1463040" cy="41148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fulfilling</a:t>
            </a:r>
          </a:p>
        </p:txBody>
      </p:sp>
      <p:sp>
        <p:nvSpPr>
          <p:cNvPr id="10" name="Rounded Rectangle 9"/>
          <p:cNvSpPr/>
          <p:nvPr/>
        </p:nvSpPr>
        <p:spPr>
          <a:xfrm>
            <a:off x="3566160" y="987552"/>
            <a:ext cx="1133856" cy="41148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purpose</a:t>
            </a:r>
          </a:p>
        </p:txBody>
      </p:sp>
      <p:sp>
        <p:nvSpPr>
          <p:cNvPr id="11" name="Rounded Rectangle 10"/>
          <p:cNvSpPr/>
          <p:nvPr/>
        </p:nvSpPr>
        <p:spPr>
          <a:xfrm>
            <a:off x="4791456" y="987552"/>
            <a:ext cx="1682495" cy="41148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satisfaction</a:t>
            </a:r>
          </a:p>
        </p:txBody>
      </p:sp>
      <p:sp>
        <p:nvSpPr>
          <p:cNvPr id="12" name="Rounded Rectangle 11"/>
          <p:cNvSpPr/>
          <p:nvPr/>
        </p:nvSpPr>
        <p:spPr>
          <a:xfrm>
            <a:off x="6565391" y="987552"/>
            <a:ext cx="1463040" cy="411480"/>
          </a:xfrm>
          <a:prstGeom prst="roundRect">
            <a:avLst>
              <a:gd name="adj" fmla="val 5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difference</a:t>
            </a:r>
          </a:p>
        </p:txBody>
      </p:sp>
      <p:sp>
        <p:nvSpPr>
          <p:cNvPr id="13" name="Rounded Rectangle 12"/>
          <p:cNvSpPr/>
          <p:nvPr/>
        </p:nvSpPr>
        <p:spPr>
          <a:xfrm>
            <a:off x="8119871" y="987552"/>
            <a:ext cx="1243584" cy="411480"/>
          </a:xfrm>
          <a:prstGeom prst="roundRect">
            <a:avLst>
              <a:gd name="adj" fmla="val 5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autonomy</a:t>
            </a:r>
          </a:p>
        </p:txBody>
      </p:sp>
      <p:sp>
        <p:nvSpPr>
          <p:cNvPr id="14" name="Rounded Rectangle 13"/>
          <p:cNvSpPr/>
          <p:nvPr/>
        </p:nvSpPr>
        <p:spPr>
          <a:xfrm>
            <a:off x="9454895" y="987552"/>
            <a:ext cx="694944" cy="41148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rut</a:t>
            </a:r>
          </a:p>
        </p:txBody>
      </p:sp>
      <p:sp>
        <p:nvSpPr>
          <p:cNvPr id="15" name="Rounded Rectangle 14"/>
          <p:cNvSpPr/>
          <p:nvPr/>
        </p:nvSpPr>
        <p:spPr>
          <a:xfrm>
            <a:off x="548640" y="16002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 y="160020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1.  Teaching is a very _______ job.</a:t>
            </a:r>
          </a:p>
        </p:txBody>
      </p:sp>
      <p:sp>
        <p:nvSpPr>
          <p:cNvPr id="17" name="Rounded Rectangle 16"/>
          <p:cNvSpPr/>
          <p:nvPr/>
        </p:nvSpPr>
        <p:spPr>
          <a:xfrm>
            <a:off x="9082735" y="16550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fulfilling</a:t>
            </a:r>
          </a:p>
        </p:txBody>
      </p:sp>
      <p:sp>
        <p:nvSpPr>
          <p:cNvPr id="18" name="Rounded Rectangle 17"/>
          <p:cNvSpPr/>
          <p:nvPr/>
        </p:nvSpPr>
        <p:spPr>
          <a:xfrm>
            <a:off x="548640" y="227838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5800" y="227838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2.  I’m looking for a sense of _______.</a:t>
            </a:r>
          </a:p>
        </p:txBody>
      </p:sp>
      <p:sp>
        <p:nvSpPr>
          <p:cNvPr id="20" name="Rounded Rectangle 19"/>
          <p:cNvSpPr/>
          <p:nvPr/>
        </p:nvSpPr>
        <p:spPr>
          <a:xfrm>
            <a:off x="9082735" y="233324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purpose</a:t>
            </a:r>
          </a:p>
        </p:txBody>
      </p:sp>
      <p:sp>
        <p:nvSpPr>
          <p:cNvPr id="21" name="Rounded Rectangle 20"/>
          <p:cNvSpPr/>
          <p:nvPr/>
        </p:nvSpPr>
        <p:spPr>
          <a:xfrm>
            <a:off x="548640" y="295656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295656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3.  Job _______ is high in our team.</a:t>
            </a:r>
          </a:p>
        </p:txBody>
      </p:sp>
      <p:sp>
        <p:nvSpPr>
          <p:cNvPr id="23" name="Rounded Rectangle 22"/>
          <p:cNvSpPr/>
          <p:nvPr/>
        </p:nvSpPr>
        <p:spPr>
          <a:xfrm>
            <a:off x="9082735" y="301142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satisfaction</a:t>
            </a:r>
          </a:p>
        </p:txBody>
      </p:sp>
      <p:sp>
        <p:nvSpPr>
          <p:cNvPr id="24" name="Rounded Rectangle 23"/>
          <p:cNvSpPr/>
          <p:nvPr/>
        </p:nvSpPr>
        <p:spPr>
          <a:xfrm>
            <a:off x="548640" y="363474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85800" y="363474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4.  I want to make a _______ in people’s lives.</a:t>
            </a:r>
          </a:p>
        </p:txBody>
      </p:sp>
      <p:sp>
        <p:nvSpPr>
          <p:cNvPr id="26" name="Rounded Rectangle 25"/>
          <p:cNvSpPr/>
          <p:nvPr/>
        </p:nvSpPr>
        <p:spPr>
          <a:xfrm>
            <a:off x="9082735" y="368960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difference</a:t>
            </a:r>
          </a:p>
        </p:txBody>
      </p:sp>
      <p:sp>
        <p:nvSpPr>
          <p:cNvPr id="27" name="Rounded Rectangle 26"/>
          <p:cNvSpPr/>
          <p:nvPr/>
        </p:nvSpPr>
        <p:spPr>
          <a:xfrm>
            <a:off x="548640" y="431292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85800" y="431292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5.  We value _______ and trust our staff.</a:t>
            </a:r>
          </a:p>
        </p:txBody>
      </p:sp>
      <p:sp>
        <p:nvSpPr>
          <p:cNvPr id="29" name="Rounded Rectangle 28"/>
          <p:cNvSpPr/>
          <p:nvPr/>
        </p:nvSpPr>
        <p:spPr>
          <a:xfrm>
            <a:off x="9082735" y="436778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autonomy</a:t>
            </a:r>
          </a:p>
        </p:txBody>
      </p:sp>
      <p:sp>
        <p:nvSpPr>
          <p:cNvPr id="30" name="Rounded Rectangle 29"/>
          <p:cNvSpPr/>
          <p:nvPr/>
        </p:nvSpPr>
        <p:spPr>
          <a:xfrm>
            <a:off x="548640" y="49911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85800" y="499110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6.  I feel stuck in a _______.</a:t>
            </a:r>
          </a:p>
        </p:txBody>
      </p:sp>
      <p:sp>
        <p:nvSpPr>
          <p:cNvPr id="32" name="Rounded Rectangle 31"/>
          <p:cNvSpPr/>
          <p:nvPr/>
        </p:nvSpPr>
        <p:spPr>
          <a:xfrm>
            <a:off x="9082735" y="50459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rut</a:t>
            </a:r>
          </a:p>
        </p:txBody>
      </p:sp>
      <p:sp>
        <p:nvSpPr>
          <p:cNvPr id="33" name="Rounded Rectangle 32"/>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(词性) motivated(人) vs motivating(事物), fulfilled(人) vs fulfilling(工作)。</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7"/>
                                        </p:tgtEl>
                                        <p:attrNameLst>
                                          <p:attrName>style.visibility</p:attrName>
                                        </p:attrNameLst>
                                      </p:cBhvr>
                                      <p:to>
                                        <p:strVal val="visible"/>
                                      </p:to>
                                    </p:set>
                                    <p:animEffect transition="in" filter="fade">
                                      <p:cBhvr>
                                        <p:cTn id="4" dur="400"/>
                                        <p:tgtEl>
                                          <p:spTgt spid="17"/>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0"/>
                                        </p:tgtEl>
                                        <p:attrNameLst>
                                          <p:attrName>style.visibility</p:attrName>
                                        </p:attrNameLst>
                                      </p:cBhvr>
                                      <p:to>
                                        <p:strVal val="visible"/>
                                      </p:to>
                                    </p:set>
                                    <p:animEffect transition="in" filter="fade">
                                      <p:cBhvr>
                                        <p:cTn id="9" dur="400"/>
                                        <p:tgtEl>
                                          <p:spTgt spid="20"/>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6"/>
                                        </p:tgtEl>
                                        <p:attrNameLst>
                                          <p:attrName>style.visibility</p:attrName>
                                        </p:attrNameLst>
                                      </p:cBhvr>
                                      <p:to>
                                        <p:strVal val="visible"/>
                                      </p:to>
                                    </p:set>
                                    <p:animEffect transition="in" filter="fade">
                                      <p:cBhvr>
                                        <p:cTn id="19" dur="400"/>
                                        <p:tgtEl>
                                          <p:spTgt spid="26"/>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9"/>
                                        </p:tgtEl>
                                        <p:attrNameLst>
                                          <p:attrName>style.visibility</p:attrName>
                                        </p:attrNameLst>
                                      </p:cBhvr>
                                      <p:to>
                                        <p:strVal val="visible"/>
                                      </p:to>
                                    </p:set>
                                    <p:animEffect transition="in" filter="fade">
                                      <p:cBhvr>
                                        <p:cTn id="24" dur="400"/>
                                        <p:tgtEl>
                                          <p:spTgt spid="29"/>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32"/>
                                        </p:tgtEl>
                                        <p:attrNameLst>
                                          <p:attrName>style.visibility</p:attrName>
                                        </p:attrNameLst>
                                      </p:cBhvr>
                                      <p:to>
                                        <p:strVal val="visible"/>
                                      </p:to>
                                    </p:set>
                                    <p:animEffect transition="in" filter="fade">
                                      <p:cBhvr>
                                        <p:cTn id="29"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Role Play · Talking to a mentor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7 · Lesson 33 Finding fulfilling work</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41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与导师交流</a:t>
            </a:r>
          </a:p>
        </p:txBody>
      </p:sp>
      <p:sp>
        <p:nvSpPr>
          <p:cNvPr id="9" name="Rounded Rectangle 8"/>
          <p:cNvSpPr/>
          <p:nvPr/>
        </p:nvSpPr>
        <p:spPr>
          <a:xfrm>
            <a:off x="548640" y="1463040"/>
            <a:ext cx="11094415" cy="1463040"/>
          </a:xfrm>
          <a:prstGeom prst="roundRect">
            <a:avLst>
              <a:gd name="adj" fmla="val 12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5F677A"/>
                </a:solidFill>
                <a:latin typeface="Arial"/>
                <a:ea typeface="Microsoft YaHei"/>
              </a:rPr>
              <a:t>📍 Situation 情景</a:t>
            </a:r>
          </a:p>
          <a:p>
            <a:pPr algn="l">
              <a:spcAft>
                <a:spcPts val="200"/>
              </a:spcAft>
            </a:pPr>
            <a:r>
              <a:rPr sz="2400" b="1">
                <a:solidFill>
                  <a:srgbClr val="1F2A44"/>
                </a:solidFill>
                <a:latin typeface="Arial"/>
                <a:ea typeface="Microsoft YaHei"/>
              </a:rPr>
              <a:t>You feel something is missing at work.</a:t>
            </a:r>
          </a:p>
        </p:txBody>
      </p:sp>
      <p:sp>
        <p:nvSpPr>
          <p:cNvPr id="10" name="Rounded Rectangle 9"/>
          <p:cNvSpPr/>
          <p:nvPr/>
        </p:nvSpPr>
        <p:spPr>
          <a:xfrm>
            <a:off x="548640"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77240" y="3429000"/>
            <a:ext cx="1097280" cy="109728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2" name="TextBox 11"/>
          <p:cNvSpPr txBox="1"/>
          <p:nvPr/>
        </p:nvSpPr>
        <p:spPr>
          <a:xfrm>
            <a:off x="2011680"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FF6B5B"/>
                </a:solidFill>
                <a:latin typeface="Arial"/>
                <a:ea typeface="Microsoft YaHei"/>
              </a:rPr>
              <a:t>Role A</a:t>
            </a:r>
          </a:p>
          <a:p>
            <a:pPr algn="l">
              <a:lnSpc>
                <a:spcPct val="115000"/>
              </a:lnSpc>
              <a:spcAft>
                <a:spcPts val="800"/>
              </a:spcAft>
            </a:pPr>
            <a:r>
              <a:rPr sz="2000" b="1">
                <a:solidFill>
                  <a:srgbClr val="1F2A44"/>
                </a:solidFill>
                <a:latin typeface="Arial"/>
                <a:ea typeface="Microsoft YaHei"/>
              </a:rPr>
              <a:t>Mentor</a:t>
            </a:r>
          </a:p>
        </p:txBody>
      </p:sp>
      <p:sp>
        <p:nvSpPr>
          <p:cNvPr id="13" name="Rounded Rectangle 12"/>
          <p:cNvSpPr/>
          <p:nvPr/>
        </p:nvSpPr>
        <p:spPr>
          <a:xfrm>
            <a:off x="6233007"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1607" y="3429000"/>
            <a:ext cx="1097280" cy="109728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5" name="TextBox 14"/>
          <p:cNvSpPr txBox="1"/>
          <p:nvPr/>
        </p:nvSpPr>
        <p:spPr>
          <a:xfrm>
            <a:off x="7696047"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4A90E2"/>
                </a:solidFill>
                <a:latin typeface="Arial"/>
                <a:ea typeface="Microsoft YaHei"/>
              </a:rPr>
              <a:t>Role B</a:t>
            </a:r>
          </a:p>
          <a:p>
            <a:pPr algn="l">
              <a:lnSpc>
                <a:spcPct val="115000"/>
              </a:lnSpc>
              <a:spcAft>
                <a:spcPts val="800"/>
              </a:spcAft>
            </a:pPr>
            <a:r>
              <a:rPr sz="2000" b="1">
                <a:solidFill>
                  <a:srgbClr val="1F2A44"/>
                </a:solidFill>
                <a:latin typeface="Arial"/>
                <a:ea typeface="Microsoft YaHei"/>
              </a:rPr>
              <a:t>You</a:t>
            </a:r>
          </a:p>
        </p:txBody>
      </p:sp>
    </p:spTree>
  </p:cSld>
  <p:clrMapOvr>
    <a:masterClrMapping/>
  </p:clrMapOvr>
  <p:transition spd="med">
    <p:fade/>
  </p:transition>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000" b="1">
                <a:solidFill>
                  <a:srgbClr val="1F2A44"/>
                </a:solidFill>
                <a:latin typeface="Arial"/>
                <a:ea typeface="Microsoft YaHei"/>
              </a:rPr>
              <a:t>🎭 Model Dialogue · Talking to a mentor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1/1</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7 · Lesson 33 Finding fulfilling work</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42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1463040" y="1325880"/>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How’s work going?</a:t>
            </a:r>
          </a:p>
        </p:txBody>
      </p:sp>
      <p:sp>
        <p:nvSpPr>
          <p:cNvPr id="11" name="Rounded Rectangle 10"/>
          <p:cNvSpPr/>
          <p:nvPr/>
        </p:nvSpPr>
        <p:spPr>
          <a:xfrm>
            <a:off x="10911535" y="190804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34696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2133295" y="190804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Fine on paper, but I feel stuck in a rut. Nothing feels fulfilling.</a:t>
            </a:r>
          </a:p>
        </p:txBody>
      </p:sp>
      <p:sp>
        <p:nvSpPr>
          <p:cNvPr id="14" name="Rounded Rectangle 13"/>
          <p:cNvSpPr/>
          <p:nvPr/>
        </p:nvSpPr>
        <p:spPr>
          <a:xfrm>
            <a:off x="548640" y="249021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292912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490216"/>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What would make it feel more rewarding?</a:t>
            </a:r>
          </a:p>
        </p:txBody>
      </p:sp>
      <p:sp>
        <p:nvSpPr>
          <p:cNvPr id="17" name="Rounded Rectangle 16"/>
          <p:cNvSpPr/>
          <p:nvPr/>
        </p:nvSpPr>
        <p:spPr>
          <a:xfrm>
            <a:off x="10911535" y="307238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351129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07238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I’d like to make a difference, and to have more say in how I work.</a:t>
            </a:r>
          </a:p>
        </p:txBody>
      </p:sp>
      <p:sp>
        <p:nvSpPr>
          <p:cNvPr id="20" name="Rounded Rectangle 19"/>
          <p:cNvSpPr/>
          <p:nvPr/>
        </p:nvSpPr>
        <p:spPr>
          <a:xfrm>
            <a:off x="548640" y="3654552"/>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21" name="TextBox 20"/>
          <p:cNvSpPr txBox="1"/>
          <p:nvPr/>
        </p:nvSpPr>
        <p:spPr>
          <a:xfrm>
            <a:off x="274320" y="4093464"/>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2" name="Rounded Rectangle 21"/>
          <p:cNvSpPr/>
          <p:nvPr/>
        </p:nvSpPr>
        <p:spPr>
          <a:xfrm>
            <a:off x="1463040" y="3654552"/>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Could you take on a project that matters to you?</a:t>
            </a:r>
          </a:p>
        </p:txBody>
      </p:sp>
      <p:sp>
        <p:nvSpPr>
          <p:cNvPr id="23" name="Rounded Rectangle 22"/>
          <p:cNvSpPr/>
          <p:nvPr/>
        </p:nvSpPr>
        <p:spPr>
          <a:xfrm>
            <a:off x="10911535" y="4236720"/>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24" name="TextBox 23"/>
          <p:cNvSpPr txBox="1"/>
          <p:nvPr/>
        </p:nvSpPr>
        <p:spPr>
          <a:xfrm>
            <a:off x="10637215" y="467563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5" name="Rounded Rectangle 24"/>
          <p:cNvSpPr/>
          <p:nvPr/>
        </p:nvSpPr>
        <p:spPr>
          <a:xfrm>
            <a:off x="2133295" y="4236720"/>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Maybe. There’s a customer experience project I’m interested in.</a:t>
            </a:r>
          </a:p>
        </p:txBody>
      </p:sp>
      <p:sp>
        <p:nvSpPr>
          <p:cNvPr id="26" name="Rounded Rectangle 25"/>
          <p:cNvSpPr/>
          <p:nvPr/>
        </p:nvSpPr>
        <p:spPr>
          <a:xfrm>
            <a:off x="548640" y="4818888"/>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27" name="TextBox 26"/>
          <p:cNvSpPr txBox="1"/>
          <p:nvPr/>
        </p:nvSpPr>
        <p:spPr>
          <a:xfrm>
            <a:off x="274320" y="525780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8" name="Rounded Rectangle 27"/>
          <p:cNvSpPr/>
          <p:nvPr/>
        </p:nvSpPr>
        <p:spPr>
          <a:xfrm>
            <a:off x="1463040" y="4818888"/>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Then ask your manager. Show how it helps the team.</a:t>
            </a:r>
          </a:p>
        </p:txBody>
      </p:sp>
      <p:sp>
        <p:nvSpPr>
          <p:cNvPr id="29" name="Rounded Rectangle 28"/>
          <p:cNvSpPr/>
          <p:nvPr/>
        </p:nvSpPr>
        <p:spPr>
          <a:xfrm>
            <a:off x="10911535" y="5401056"/>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30" name="TextBox 29"/>
          <p:cNvSpPr txBox="1"/>
          <p:nvPr/>
        </p:nvSpPr>
        <p:spPr>
          <a:xfrm>
            <a:off x="10637215" y="583996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31" name="Rounded Rectangle 30"/>
          <p:cNvSpPr/>
          <p:nvPr/>
        </p:nvSpPr>
        <p:spPr>
          <a:xfrm>
            <a:off x="2133295" y="5401056"/>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Good idea. I’ll set up a meeting.</a:t>
            </a:r>
          </a:p>
        </p:txBody>
      </p:sp>
    </p:spTree>
  </p:cSld>
  <p:clrMapOvr>
    <a:masterClrMapping/>
  </p:clrMapOvr>
  <p:transition spd="med">
    <p:fade/>
  </p:transition>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Your Turn · Talking to a mentor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7 · Lesson 33 Finding fulfilling work</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43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Situation</a:t>
            </a:r>
          </a:p>
        </p:txBody>
      </p:sp>
      <p:sp>
        <p:nvSpPr>
          <p:cNvPr id="9" name="Rounded Rectangle 8"/>
          <p:cNvSpPr/>
          <p:nvPr/>
        </p:nvSpPr>
        <p:spPr>
          <a:xfrm>
            <a:off x="3017520" y="132588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You talk about what’s missing at work.</a:t>
            </a:r>
          </a:p>
        </p:txBody>
      </p:sp>
      <p:sp>
        <p:nvSpPr>
          <p:cNvPr id="10" name="Rounded Rectangle 9"/>
          <p:cNvSpPr/>
          <p:nvPr/>
        </p:nvSpPr>
        <p:spPr>
          <a:xfrm>
            <a:off x="548640" y="1807464"/>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Your role (A)</a:t>
            </a:r>
          </a:p>
        </p:txBody>
      </p:sp>
      <p:sp>
        <p:nvSpPr>
          <p:cNvPr id="11" name="Rounded Rectangle 10"/>
          <p:cNvSpPr/>
          <p:nvPr/>
        </p:nvSpPr>
        <p:spPr>
          <a:xfrm>
            <a:off x="3017520" y="1807464"/>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Mentor.</a:t>
            </a:r>
          </a:p>
        </p:txBody>
      </p:sp>
      <p:sp>
        <p:nvSpPr>
          <p:cNvPr id="12" name="Rounded Rectangle 11"/>
          <p:cNvSpPr/>
          <p:nvPr/>
        </p:nvSpPr>
        <p:spPr>
          <a:xfrm>
            <a:off x="548640" y="2289048"/>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Partner’s role (B)</a:t>
            </a:r>
          </a:p>
        </p:txBody>
      </p:sp>
      <p:sp>
        <p:nvSpPr>
          <p:cNvPr id="13" name="Rounded Rectangle 12"/>
          <p:cNvSpPr/>
          <p:nvPr/>
        </p:nvSpPr>
        <p:spPr>
          <a:xfrm>
            <a:off x="3017520" y="2289048"/>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Employee. Feeling: ______________</a:t>
            </a:r>
          </a:p>
        </p:txBody>
      </p:sp>
      <p:sp>
        <p:nvSpPr>
          <p:cNvPr id="14" name="Rounded Rectangle 13"/>
          <p:cNvSpPr/>
          <p:nvPr/>
        </p:nvSpPr>
        <p:spPr>
          <a:xfrm>
            <a:off x="548640" y="2770632"/>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Must use (3 or more)</a:t>
            </a:r>
          </a:p>
        </p:txBody>
      </p:sp>
      <p:sp>
        <p:nvSpPr>
          <p:cNvPr id="15" name="Rounded Rectangle 14"/>
          <p:cNvSpPr/>
          <p:nvPr/>
        </p:nvSpPr>
        <p:spPr>
          <a:xfrm>
            <a:off x="3017520" y="2770632"/>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stuck in a rut · rewarding · make a difference · take on · sense of purpose</a:t>
            </a:r>
          </a:p>
        </p:txBody>
      </p:sp>
      <p:sp>
        <p:nvSpPr>
          <p:cNvPr id="16" name="Rounded Rectangle 15"/>
          <p:cNvSpPr/>
          <p:nvPr/>
        </p:nvSpPr>
        <p:spPr>
          <a:xfrm>
            <a:off x="548640" y="3252216"/>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Goal</a:t>
            </a:r>
          </a:p>
        </p:txBody>
      </p:sp>
      <p:sp>
        <p:nvSpPr>
          <p:cNvPr id="17" name="Rounded Rectangle 16"/>
          <p:cNvSpPr/>
          <p:nvPr/>
        </p:nvSpPr>
        <p:spPr>
          <a:xfrm>
            <a:off x="3017520" y="3252216"/>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Explain what’s missing, what you’d like and one concrete step.</a:t>
            </a:r>
          </a:p>
        </p:txBody>
      </p:sp>
      <p:sp>
        <p:nvSpPr>
          <p:cNvPr id="18" name="Rounded Rectangle 17"/>
          <p:cNvSpPr/>
          <p:nvPr/>
        </p:nvSpPr>
        <p:spPr>
          <a:xfrm>
            <a:off x="548640" y="373380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My notes</a:t>
            </a:r>
          </a:p>
        </p:txBody>
      </p:sp>
      <p:sp>
        <p:nvSpPr>
          <p:cNvPr id="19" name="Rounded Rectangle 18"/>
          <p:cNvSpPr/>
          <p:nvPr/>
        </p:nvSpPr>
        <p:spPr>
          <a:xfrm>
            <a:off x="3017520" y="373380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____________________________________________</a:t>
            </a:r>
          </a:p>
        </p:txBody>
      </p:sp>
      <p:sp>
        <p:nvSpPr>
          <p:cNvPr id="20" name="TextBox 19"/>
          <p:cNvSpPr txBox="1"/>
          <p:nvPr/>
        </p:nvSpPr>
        <p:spPr>
          <a:xfrm>
            <a:off x="548640" y="4306824"/>
            <a:ext cx="11094415" cy="365760"/>
          </a:xfrm>
          <a:prstGeom prst="rect">
            <a:avLst/>
          </a:prstGeom>
          <a:noFill/>
        </p:spPr>
        <p:txBody>
          <a:bodyPr wrap="square" anchor="t">
            <a:spAutoFit/>
          </a:bodyPr>
          <a:lstStyle/>
          <a:p>
            <a:pPr algn="l">
              <a:lnSpc>
                <a:spcPct val="115000"/>
              </a:lnSpc>
              <a:spcAft>
                <a:spcPts val="800"/>
              </a:spcAft>
            </a:pPr>
            <a:r>
              <a:rPr sz="1500" b="1">
                <a:solidFill>
                  <a:srgbClr val="FF6B5B"/>
                </a:solidFill>
                <a:latin typeface="Arial"/>
                <a:ea typeface="Microsoft YaHei"/>
              </a:rPr>
              <a:t>🔥 Level-up challenges 进阶挑战 (click)</a:t>
            </a:r>
          </a:p>
        </p:txBody>
      </p:sp>
      <p:sp>
        <p:nvSpPr>
          <p:cNvPr id="21" name="Rounded Rectangle 20"/>
          <p:cNvSpPr/>
          <p:nvPr/>
        </p:nvSpPr>
        <p:spPr>
          <a:xfrm>
            <a:off x="548640" y="4690872"/>
            <a:ext cx="3576218" cy="1527048"/>
          </a:xfrm>
          <a:prstGeom prst="roundRect">
            <a:avLst>
              <a:gd name="adj" fmla="val 12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Say what you’d miss if you left.</a:t>
            </a:r>
          </a:p>
        </p:txBody>
      </p:sp>
      <p:sp>
        <p:nvSpPr>
          <p:cNvPr id="22" name="Rounded Rectangle 21"/>
          <p:cNvSpPr/>
          <p:nvPr/>
        </p:nvSpPr>
        <p:spPr>
          <a:xfrm>
            <a:off x="4307738" y="4690872"/>
            <a:ext cx="3576218" cy="1527048"/>
          </a:xfrm>
          <a:prstGeom prst="roundRect">
            <a:avLst>
              <a:gd name="adj" fmla="val 12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Give a concrete example of a good day.</a:t>
            </a:r>
          </a:p>
        </p:txBody>
      </p:sp>
      <p:sp>
        <p:nvSpPr>
          <p:cNvPr id="23" name="Rounded Rectangle 22"/>
          <p:cNvSpPr/>
          <p:nvPr/>
        </p:nvSpPr>
        <p:spPr>
          <a:xfrm>
            <a:off x="8066836" y="4690872"/>
            <a:ext cx="3576218" cy="1527048"/>
          </a:xfrm>
          <a:prstGeom prst="roundRect">
            <a:avLst>
              <a:gd name="adj" fmla="val 12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Mention a worry about asking.</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21"/>
                                        </p:tgtEl>
                                        <p:attrNameLst>
                                          <p:attrName>style.visibility</p:attrName>
                                        </p:attrNameLst>
                                      </p:cBhvr>
                                      <p:to>
                                        <p:strVal val="visible"/>
                                      </p:to>
                                    </p:set>
                                    <p:animEffect transition="in" filter="fade">
                                      <p:cBhvr>
                                        <p:cTn id="4" dur="400"/>
                                        <p:tgtEl>
                                          <p:spTgt spid="2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2"/>
                                        </p:tgtEl>
                                        <p:attrNameLst>
                                          <p:attrName>style.visibility</p:attrName>
                                        </p:attrNameLst>
                                      </p:cBhvr>
                                      <p:to>
                                        <p:strVal val="visible"/>
                                      </p:to>
                                    </p:set>
                                    <p:animEffect transition="in" filter="fade">
                                      <p:cBhvr>
                                        <p:cTn id="9" dur="400"/>
                                        <p:tgtEl>
                                          <p:spTgt spid="2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100" b="1">
                <a:solidFill>
                  <a:srgbClr val="1F2A44"/>
                </a:solidFill>
                <a:latin typeface="Arial"/>
                <a:ea typeface="Microsoft YaHei"/>
              </a:rPr>
              <a:t>🎭 Role Play · A job satisfaction chat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7 · Lesson 33 Finding fulfilling work</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44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工作满意度谈话</a:t>
            </a:r>
          </a:p>
        </p:txBody>
      </p:sp>
      <p:sp>
        <p:nvSpPr>
          <p:cNvPr id="9" name="Rounded Rectangle 8"/>
          <p:cNvSpPr/>
          <p:nvPr/>
        </p:nvSpPr>
        <p:spPr>
          <a:xfrm>
            <a:off x="548640" y="1463040"/>
            <a:ext cx="11094415" cy="1463040"/>
          </a:xfrm>
          <a:prstGeom prst="roundRect">
            <a:avLst>
              <a:gd name="adj" fmla="val 12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5F677A"/>
                </a:solidFill>
                <a:latin typeface="Arial"/>
                <a:ea typeface="Microsoft YaHei"/>
              </a:rPr>
              <a:t>📍 Situation 情景</a:t>
            </a:r>
          </a:p>
          <a:p>
            <a:pPr algn="l">
              <a:spcAft>
                <a:spcPts val="200"/>
              </a:spcAft>
            </a:pPr>
            <a:r>
              <a:rPr sz="2400" b="1">
                <a:solidFill>
                  <a:srgbClr val="1F2A44"/>
                </a:solidFill>
                <a:latin typeface="Arial"/>
                <a:ea typeface="Microsoft YaHei"/>
              </a:rPr>
              <a:t>A manager asks about your motivation.</a:t>
            </a:r>
          </a:p>
        </p:txBody>
      </p:sp>
      <p:sp>
        <p:nvSpPr>
          <p:cNvPr id="10" name="Rounded Rectangle 9"/>
          <p:cNvSpPr/>
          <p:nvPr/>
        </p:nvSpPr>
        <p:spPr>
          <a:xfrm>
            <a:off x="548640"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77240" y="3429000"/>
            <a:ext cx="1097280" cy="109728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2" name="TextBox 11"/>
          <p:cNvSpPr txBox="1"/>
          <p:nvPr/>
        </p:nvSpPr>
        <p:spPr>
          <a:xfrm>
            <a:off x="2011680"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FF6B5B"/>
                </a:solidFill>
                <a:latin typeface="Arial"/>
                <a:ea typeface="Microsoft YaHei"/>
              </a:rPr>
              <a:t>Role A</a:t>
            </a:r>
          </a:p>
          <a:p>
            <a:pPr algn="l">
              <a:lnSpc>
                <a:spcPct val="115000"/>
              </a:lnSpc>
              <a:spcAft>
                <a:spcPts val="800"/>
              </a:spcAft>
            </a:pPr>
            <a:r>
              <a:rPr sz="2000" b="1">
                <a:solidFill>
                  <a:srgbClr val="1F2A44"/>
                </a:solidFill>
                <a:latin typeface="Arial"/>
                <a:ea typeface="Microsoft YaHei"/>
              </a:rPr>
              <a:t>Manager</a:t>
            </a:r>
          </a:p>
        </p:txBody>
      </p:sp>
      <p:sp>
        <p:nvSpPr>
          <p:cNvPr id="13" name="Rounded Rectangle 12"/>
          <p:cNvSpPr/>
          <p:nvPr/>
        </p:nvSpPr>
        <p:spPr>
          <a:xfrm>
            <a:off x="6233007"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1607" y="3429000"/>
            <a:ext cx="1097280" cy="109728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5" name="TextBox 14"/>
          <p:cNvSpPr txBox="1"/>
          <p:nvPr/>
        </p:nvSpPr>
        <p:spPr>
          <a:xfrm>
            <a:off x="7696047"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4A90E2"/>
                </a:solidFill>
                <a:latin typeface="Arial"/>
                <a:ea typeface="Microsoft YaHei"/>
              </a:rPr>
              <a:t>Role B</a:t>
            </a:r>
          </a:p>
          <a:p>
            <a:pPr algn="l">
              <a:lnSpc>
                <a:spcPct val="115000"/>
              </a:lnSpc>
              <a:spcAft>
                <a:spcPts val="800"/>
              </a:spcAft>
            </a:pPr>
            <a:r>
              <a:rPr sz="2000" b="1">
                <a:solidFill>
                  <a:srgbClr val="1F2A44"/>
                </a:solidFill>
                <a:latin typeface="Arial"/>
                <a:ea typeface="Microsoft YaHei"/>
              </a:rPr>
              <a:t>Employee</a:t>
            </a:r>
          </a:p>
        </p:txBody>
      </p:sp>
    </p:spTree>
  </p:cSld>
  <p:clrMapOvr>
    <a:masterClrMapping/>
  </p:clrMapOvr>
  <p:transition spd="med">
    <p:fade/>
  </p:transition>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800" b="1">
                <a:solidFill>
                  <a:srgbClr val="1F2A44"/>
                </a:solidFill>
                <a:latin typeface="Arial"/>
                <a:ea typeface="Microsoft YaHei"/>
              </a:rPr>
              <a:t>🎭 Model Dialogue · A job satisfaction chat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1/1</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7 · Lesson 33 Finding fulfilling work</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45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1463040" y="1325880"/>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I’d like to hear how you feel about your role. What motivates you?</a:t>
            </a:r>
          </a:p>
        </p:txBody>
      </p:sp>
      <p:sp>
        <p:nvSpPr>
          <p:cNvPr id="11" name="Rounded Rectangle 10"/>
          <p:cNvSpPr/>
          <p:nvPr/>
        </p:nvSpPr>
        <p:spPr>
          <a:xfrm>
            <a:off x="10911535" y="190804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34696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2133295" y="190804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Learning new things, and recognition when I do well.</a:t>
            </a:r>
          </a:p>
        </p:txBody>
      </p:sp>
      <p:sp>
        <p:nvSpPr>
          <p:cNvPr id="14" name="Rounded Rectangle 13"/>
          <p:cNvSpPr/>
          <p:nvPr/>
        </p:nvSpPr>
        <p:spPr>
          <a:xfrm>
            <a:off x="548640" y="249021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292912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490216"/>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And what takes away your motivation?</a:t>
            </a:r>
          </a:p>
        </p:txBody>
      </p:sp>
      <p:sp>
        <p:nvSpPr>
          <p:cNvPr id="17" name="Rounded Rectangle 16"/>
          <p:cNvSpPr/>
          <p:nvPr/>
        </p:nvSpPr>
        <p:spPr>
          <a:xfrm>
            <a:off x="10911535" y="307238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351129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07238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Repetitive tasks with no clear purpose.</a:t>
            </a:r>
          </a:p>
        </p:txBody>
      </p:sp>
      <p:sp>
        <p:nvSpPr>
          <p:cNvPr id="20" name="Rounded Rectangle 19"/>
          <p:cNvSpPr/>
          <p:nvPr/>
        </p:nvSpPr>
        <p:spPr>
          <a:xfrm>
            <a:off x="548640" y="3654552"/>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21" name="TextBox 20"/>
          <p:cNvSpPr txBox="1"/>
          <p:nvPr/>
        </p:nvSpPr>
        <p:spPr>
          <a:xfrm>
            <a:off x="274320" y="4093464"/>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2" name="Rounded Rectangle 21"/>
          <p:cNvSpPr/>
          <p:nvPr/>
        </p:nvSpPr>
        <p:spPr>
          <a:xfrm>
            <a:off x="1463040" y="3654552"/>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 see. Would a stretch assignment help?</a:t>
            </a:r>
          </a:p>
        </p:txBody>
      </p:sp>
      <p:sp>
        <p:nvSpPr>
          <p:cNvPr id="23" name="Rounded Rectangle 22"/>
          <p:cNvSpPr/>
          <p:nvPr/>
        </p:nvSpPr>
        <p:spPr>
          <a:xfrm>
            <a:off x="10911535" y="4236720"/>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24" name="TextBox 23"/>
          <p:cNvSpPr txBox="1"/>
          <p:nvPr/>
        </p:nvSpPr>
        <p:spPr>
          <a:xfrm>
            <a:off x="10637215" y="467563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5" name="Rounded Rectangle 24"/>
          <p:cNvSpPr/>
          <p:nvPr/>
        </p:nvSpPr>
        <p:spPr>
          <a:xfrm>
            <a:off x="2133295" y="4236720"/>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Definitely. I’m happy to go the extra mile if I can learn.</a:t>
            </a:r>
          </a:p>
        </p:txBody>
      </p:sp>
      <p:sp>
        <p:nvSpPr>
          <p:cNvPr id="26" name="Rounded Rectangle 25"/>
          <p:cNvSpPr/>
          <p:nvPr/>
        </p:nvSpPr>
        <p:spPr>
          <a:xfrm>
            <a:off x="548640" y="4818888"/>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27" name="TextBox 26"/>
          <p:cNvSpPr txBox="1"/>
          <p:nvPr/>
        </p:nvSpPr>
        <p:spPr>
          <a:xfrm>
            <a:off x="274320" y="525780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8" name="Rounded Rectangle 27"/>
          <p:cNvSpPr/>
          <p:nvPr/>
        </p:nvSpPr>
        <p:spPr>
          <a:xfrm>
            <a:off x="1463040" y="4818888"/>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Let’s find one for next quarter.</a:t>
            </a:r>
          </a:p>
        </p:txBody>
      </p:sp>
      <p:sp>
        <p:nvSpPr>
          <p:cNvPr id="29" name="Rounded Rectangle 28"/>
          <p:cNvSpPr/>
          <p:nvPr/>
        </p:nvSpPr>
        <p:spPr>
          <a:xfrm>
            <a:off x="10911535" y="5401056"/>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30" name="TextBox 29"/>
          <p:cNvSpPr txBox="1"/>
          <p:nvPr/>
        </p:nvSpPr>
        <p:spPr>
          <a:xfrm>
            <a:off x="10637215" y="583996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31" name="Rounded Rectangle 30"/>
          <p:cNvSpPr/>
          <p:nvPr/>
        </p:nvSpPr>
        <p:spPr>
          <a:xfrm>
            <a:off x="2133295" y="5401056"/>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Thank you. That means a lot.</a:t>
            </a:r>
          </a:p>
        </p:txBody>
      </p:sp>
    </p:spTree>
  </p:cSld>
  <p:clrMapOvr>
    <a:masterClrMapping/>
  </p:clrMapOvr>
  <p:transition spd="med">
    <p:fade/>
  </p:transition>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100" b="1">
                <a:solidFill>
                  <a:srgbClr val="1F2A44"/>
                </a:solidFill>
                <a:latin typeface="Arial"/>
                <a:ea typeface="Microsoft YaHei"/>
              </a:rPr>
              <a:t>🎯 Your Turn · A job satisfaction chat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7 · Lesson 33 Finding fulfilling work</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46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Situation</a:t>
            </a:r>
          </a:p>
        </p:txBody>
      </p:sp>
      <p:sp>
        <p:nvSpPr>
          <p:cNvPr id="9" name="Rounded Rectangle 8"/>
          <p:cNvSpPr/>
          <p:nvPr/>
        </p:nvSpPr>
        <p:spPr>
          <a:xfrm>
            <a:off x="3017520" y="132588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You discuss motivation with your manager.</a:t>
            </a:r>
          </a:p>
        </p:txBody>
      </p:sp>
      <p:sp>
        <p:nvSpPr>
          <p:cNvPr id="10" name="Rounded Rectangle 9"/>
          <p:cNvSpPr/>
          <p:nvPr/>
        </p:nvSpPr>
        <p:spPr>
          <a:xfrm>
            <a:off x="548640" y="1807464"/>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Your role (A)</a:t>
            </a:r>
          </a:p>
        </p:txBody>
      </p:sp>
      <p:sp>
        <p:nvSpPr>
          <p:cNvPr id="11" name="Rounded Rectangle 10"/>
          <p:cNvSpPr/>
          <p:nvPr/>
        </p:nvSpPr>
        <p:spPr>
          <a:xfrm>
            <a:off x="3017520" y="1807464"/>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Manager.</a:t>
            </a:r>
          </a:p>
        </p:txBody>
      </p:sp>
      <p:sp>
        <p:nvSpPr>
          <p:cNvPr id="12" name="Rounded Rectangle 11"/>
          <p:cNvSpPr/>
          <p:nvPr/>
        </p:nvSpPr>
        <p:spPr>
          <a:xfrm>
            <a:off x="548640" y="2289048"/>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Partner’s role (B)</a:t>
            </a:r>
          </a:p>
        </p:txBody>
      </p:sp>
      <p:sp>
        <p:nvSpPr>
          <p:cNvPr id="13" name="Rounded Rectangle 12"/>
          <p:cNvSpPr/>
          <p:nvPr/>
        </p:nvSpPr>
        <p:spPr>
          <a:xfrm>
            <a:off x="3017520" y="2289048"/>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Employee. Motivators: ______________</a:t>
            </a:r>
          </a:p>
        </p:txBody>
      </p:sp>
      <p:sp>
        <p:nvSpPr>
          <p:cNvPr id="14" name="Rounded Rectangle 13"/>
          <p:cNvSpPr/>
          <p:nvPr/>
        </p:nvSpPr>
        <p:spPr>
          <a:xfrm>
            <a:off x="548640" y="2770632"/>
            <a:ext cx="2377440" cy="65227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Must use (3 or more)</a:t>
            </a:r>
          </a:p>
        </p:txBody>
      </p:sp>
      <p:sp>
        <p:nvSpPr>
          <p:cNvPr id="15" name="Rounded Rectangle 14"/>
          <p:cNvSpPr/>
          <p:nvPr/>
        </p:nvSpPr>
        <p:spPr>
          <a:xfrm>
            <a:off x="3017520" y="2770632"/>
            <a:ext cx="8625535" cy="65227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motivates me · recognition · stretch assignment · go the extra mile · personal growth</a:t>
            </a:r>
          </a:p>
        </p:txBody>
      </p:sp>
      <p:sp>
        <p:nvSpPr>
          <p:cNvPr id="16" name="Rounded Rectangle 15"/>
          <p:cNvSpPr/>
          <p:nvPr/>
        </p:nvSpPr>
        <p:spPr>
          <a:xfrm>
            <a:off x="548640" y="3496056"/>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Goal</a:t>
            </a:r>
          </a:p>
        </p:txBody>
      </p:sp>
      <p:sp>
        <p:nvSpPr>
          <p:cNvPr id="17" name="Rounded Rectangle 16"/>
          <p:cNvSpPr/>
          <p:nvPr/>
        </p:nvSpPr>
        <p:spPr>
          <a:xfrm>
            <a:off x="3017520" y="3496056"/>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Describe what motivates you and what discourages you, and agree on one action.</a:t>
            </a:r>
          </a:p>
        </p:txBody>
      </p:sp>
      <p:sp>
        <p:nvSpPr>
          <p:cNvPr id="18" name="Rounded Rectangle 17"/>
          <p:cNvSpPr/>
          <p:nvPr/>
        </p:nvSpPr>
        <p:spPr>
          <a:xfrm>
            <a:off x="548640" y="397764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My notes</a:t>
            </a:r>
          </a:p>
        </p:txBody>
      </p:sp>
      <p:sp>
        <p:nvSpPr>
          <p:cNvPr id="19" name="Rounded Rectangle 18"/>
          <p:cNvSpPr/>
          <p:nvPr/>
        </p:nvSpPr>
        <p:spPr>
          <a:xfrm>
            <a:off x="3017520" y="397764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____________________________________________</a:t>
            </a:r>
          </a:p>
        </p:txBody>
      </p:sp>
      <p:sp>
        <p:nvSpPr>
          <p:cNvPr id="20" name="TextBox 19"/>
          <p:cNvSpPr txBox="1"/>
          <p:nvPr/>
        </p:nvSpPr>
        <p:spPr>
          <a:xfrm>
            <a:off x="548640" y="4550664"/>
            <a:ext cx="11094415" cy="365760"/>
          </a:xfrm>
          <a:prstGeom prst="rect">
            <a:avLst/>
          </a:prstGeom>
          <a:noFill/>
        </p:spPr>
        <p:txBody>
          <a:bodyPr wrap="square" anchor="t">
            <a:spAutoFit/>
          </a:bodyPr>
          <a:lstStyle/>
          <a:p>
            <a:pPr algn="l">
              <a:lnSpc>
                <a:spcPct val="115000"/>
              </a:lnSpc>
              <a:spcAft>
                <a:spcPts val="800"/>
              </a:spcAft>
            </a:pPr>
            <a:r>
              <a:rPr sz="1500" b="1">
                <a:solidFill>
                  <a:srgbClr val="FF6B5B"/>
                </a:solidFill>
                <a:latin typeface="Arial"/>
                <a:ea typeface="Microsoft YaHei"/>
              </a:rPr>
              <a:t>🔥 Level-up challenges 进阶挑战 (click)</a:t>
            </a:r>
          </a:p>
        </p:txBody>
      </p:sp>
      <p:sp>
        <p:nvSpPr>
          <p:cNvPr id="21" name="Rounded Rectangle 20"/>
          <p:cNvSpPr/>
          <p:nvPr/>
        </p:nvSpPr>
        <p:spPr>
          <a:xfrm>
            <a:off x="548640" y="4934712"/>
            <a:ext cx="3576218" cy="1283208"/>
          </a:xfrm>
          <a:prstGeom prst="roundRect">
            <a:avLst>
              <a:gd name="adj" fmla="val 12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Mention autonomy.</a:t>
            </a:r>
          </a:p>
        </p:txBody>
      </p:sp>
      <p:sp>
        <p:nvSpPr>
          <p:cNvPr id="22" name="Rounded Rectangle 21"/>
          <p:cNvSpPr/>
          <p:nvPr/>
        </p:nvSpPr>
        <p:spPr>
          <a:xfrm>
            <a:off x="4307738" y="4934712"/>
            <a:ext cx="3576218" cy="1283208"/>
          </a:xfrm>
          <a:prstGeom prst="roundRect">
            <a:avLst>
              <a:gd name="adj" fmla="val 12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Raise a concern respectfully.</a:t>
            </a:r>
          </a:p>
        </p:txBody>
      </p:sp>
      <p:sp>
        <p:nvSpPr>
          <p:cNvPr id="23" name="Rounded Rectangle 22"/>
          <p:cNvSpPr/>
          <p:nvPr/>
        </p:nvSpPr>
        <p:spPr>
          <a:xfrm>
            <a:off x="8066836" y="4934712"/>
            <a:ext cx="3576218" cy="1283208"/>
          </a:xfrm>
          <a:prstGeom prst="roundRect">
            <a:avLst>
              <a:gd name="adj" fmla="val 12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Ask for feedback on your development.</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21"/>
                                        </p:tgtEl>
                                        <p:attrNameLst>
                                          <p:attrName>style.visibility</p:attrName>
                                        </p:attrNameLst>
                                      </p:cBhvr>
                                      <p:to>
                                        <p:strVal val="visible"/>
                                      </p:to>
                                    </p:set>
                                    <p:animEffect transition="in" filter="fade">
                                      <p:cBhvr>
                                        <p:cTn id="4" dur="400"/>
                                        <p:tgtEl>
                                          <p:spTgt spid="2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2"/>
                                        </p:tgtEl>
                                        <p:attrNameLst>
                                          <p:attrName>style.visibility</p:attrName>
                                        </p:attrNameLst>
                                      </p:cBhvr>
                                      <p:to>
                                        <p:strVal val="visible"/>
                                      </p:to>
                                    </p:set>
                                    <p:animEffect transition="in" filter="fade">
                                      <p:cBhvr>
                                        <p:cTn id="9" dur="400"/>
                                        <p:tgtEl>
                                          <p:spTgt spid="2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Discussion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7 · Lesson 33 Finding fulfilling work</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47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Prepare 2–3 sentences. Use the starters!  每题准备 2–3 句话，用上句型</a:t>
            </a:r>
          </a:p>
        </p:txBody>
      </p:sp>
      <p:sp>
        <p:nvSpPr>
          <p:cNvPr id="9" name="Oval 8"/>
          <p:cNvSpPr/>
          <p:nvPr/>
        </p:nvSpPr>
        <p:spPr>
          <a:xfrm>
            <a:off x="548640" y="1554480"/>
            <a:ext cx="548640" cy="54864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0876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Is it realistic to expect work to be fulfilling?</a:t>
            </a:r>
          </a:p>
          <a:p>
            <a:pPr algn="l">
              <a:lnSpc>
                <a:spcPct val="115000"/>
              </a:lnSpc>
              <a:spcAft>
                <a:spcPts val="800"/>
              </a:spcAft>
            </a:pPr>
            <a:r>
              <a:rPr sz="1400" b="0">
                <a:solidFill>
                  <a:srgbClr val="5F677A"/>
                </a:solidFill>
                <a:latin typeface="Arial"/>
                <a:ea typeface="Microsoft YaHei"/>
              </a:rPr>
              <a:t>💬 “Ideally, but… / It depends on…”</a:t>
            </a:r>
          </a:p>
        </p:txBody>
      </p:sp>
      <p:sp>
        <p:nvSpPr>
          <p:cNvPr id="12" name="Oval 11"/>
          <p:cNvSpPr/>
          <p:nvPr/>
        </p:nvSpPr>
        <p:spPr>
          <a:xfrm>
            <a:off x="548640" y="2331720"/>
            <a:ext cx="548640" cy="54864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28600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33172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What do you find rewarding about your job?</a:t>
            </a:r>
          </a:p>
          <a:p>
            <a:pPr algn="l">
              <a:lnSpc>
                <a:spcPct val="115000"/>
              </a:lnSpc>
              <a:spcAft>
                <a:spcPts val="800"/>
              </a:spcAft>
            </a:pPr>
            <a:r>
              <a:rPr sz="1400" b="0">
                <a:solidFill>
                  <a:srgbClr val="5F677A"/>
                </a:solidFill>
                <a:latin typeface="Arial"/>
                <a:ea typeface="Microsoft YaHei"/>
              </a:rPr>
              <a:t>💬 “What I find rewarding is…”</a:t>
            </a:r>
          </a:p>
        </p:txBody>
      </p:sp>
      <p:sp>
        <p:nvSpPr>
          <p:cNvPr id="15" name="Oval 14"/>
          <p:cNvSpPr/>
          <p:nvPr/>
        </p:nvSpPr>
        <p:spPr>
          <a:xfrm>
            <a:off x="548640" y="3108960"/>
            <a:ext cx="548640" cy="54864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306324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310896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Can money buy job satisfaction?</a:t>
            </a:r>
          </a:p>
          <a:p>
            <a:pPr algn="l">
              <a:lnSpc>
                <a:spcPct val="115000"/>
              </a:lnSpc>
              <a:spcAft>
                <a:spcPts val="800"/>
              </a:spcAft>
            </a:pPr>
            <a:r>
              <a:rPr sz="1400" b="0">
                <a:solidFill>
                  <a:srgbClr val="5F677A"/>
                </a:solidFill>
                <a:latin typeface="Arial"/>
                <a:ea typeface="Microsoft YaHei"/>
              </a:rPr>
              <a:t>💬 “Only up to a point.”</a:t>
            </a:r>
          </a:p>
        </p:txBody>
      </p:sp>
      <p:sp>
        <p:nvSpPr>
          <p:cNvPr id="18" name="Oval 17"/>
          <p:cNvSpPr/>
          <p:nvPr/>
        </p:nvSpPr>
        <p:spPr>
          <a:xfrm>
            <a:off x="548640" y="3886200"/>
            <a:ext cx="548640" cy="54864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384048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388620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How can managers make work more meaningful?</a:t>
            </a:r>
          </a:p>
          <a:p>
            <a:pPr algn="l">
              <a:lnSpc>
                <a:spcPct val="115000"/>
              </a:lnSpc>
              <a:spcAft>
                <a:spcPts val="800"/>
              </a:spcAft>
            </a:pPr>
            <a:r>
              <a:rPr sz="1400" b="0">
                <a:solidFill>
                  <a:srgbClr val="5F677A"/>
                </a:solidFill>
                <a:latin typeface="Arial"/>
                <a:ea typeface="Microsoft YaHei"/>
              </a:rPr>
              <a:t>💬 “They could… / By…”</a:t>
            </a:r>
          </a:p>
        </p:txBody>
      </p:sp>
      <p:sp>
        <p:nvSpPr>
          <p:cNvPr id="21" name="Oval 20"/>
          <p:cNvSpPr/>
          <p:nvPr/>
        </p:nvSpPr>
        <p:spPr>
          <a:xfrm>
            <a:off x="548640" y="4663440"/>
            <a:ext cx="548640" cy="548640"/>
          </a:xfrm>
          <a:prstGeom prst="ellipse">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5</a:t>
            </a:r>
          </a:p>
        </p:txBody>
      </p:sp>
      <p:sp>
        <p:nvSpPr>
          <p:cNvPr id="22" name="Rounded Rectangle 21"/>
          <p:cNvSpPr/>
          <p:nvPr/>
        </p:nvSpPr>
        <p:spPr>
          <a:xfrm>
            <a:off x="1234440" y="461772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325880" y="466344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Would you do your job if you didn’t need money?</a:t>
            </a:r>
          </a:p>
          <a:p>
            <a:pPr algn="l">
              <a:lnSpc>
                <a:spcPct val="115000"/>
              </a:lnSpc>
              <a:spcAft>
                <a:spcPts val="800"/>
              </a:spcAft>
            </a:pPr>
            <a:r>
              <a:rPr sz="1400" b="0">
                <a:solidFill>
                  <a:srgbClr val="5F677A"/>
                </a:solidFill>
                <a:latin typeface="Arial"/>
                <a:ea typeface="Microsoft YaHei"/>
              </a:rPr>
              <a:t>💬 “I’d probably… because…”</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par>
                    <p:cTn id="56" fill="hold">
                      <p:stCondLst>
                        <p:cond delay="indefinite"/>
                      </p:stCondLst>
                      <p:childTnLst>
                        <p:par>
                          <p:cTn id="57" fill="hold">
                            <p:stCondLst>
                              <p:cond delay="0"/>
                            </p:stCondLst>
                            <p:childTnLst>
                              <p:par>
                                <p:cTn id="49" presetID="10" presetClass="entr" presetSubtype="0" fill="hold" nodeType="clickEffect">
                                  <p:stCondLst>
                                    <p:cond delay="0"/>
                                  </p:stCondLst>
                                  <p:childTnLst>
                                    <p:set>
                                      <p:cBhvr>
                                        <p:cTn id="47" dur="1" fill="hold">
                                          <p:stCondLst>
                                            <p:cond delay="0"/>
                                          </p:stCondLst>
                                        </p:cTn>
                                        <p:tgtEl>
                                          <p:spTgt spid="21"/>
                                        </p:tgtEl>
                                        <p:attrNameLst>
                                          <p:attrName>style.visibility</p:attrName>
                                        </p:attrNameLst>
                                      </p:cBhvr>
                                      <p:to>
                                        <p:strVal val="visible"/>
                                      </p:to>
                                    </p:set>
                                    <p:animEffect transition="in" filter="fade">
                                      <p:cBhvr>
                                        <p:cTn id="48" dur="400"/>
                                        <p:tgtEl>
                                          <p:spTgt spid="21"/>
                                        </p:tgtEl>
                                      </p:cBhvr>
                                    </p:animEffect>
                                  </p:childTnLst>
                                </p:cTn>
                              </p:par>
                              <p:par>
                                <p:cTn id="52" presetID="10" presetClass="entr" presetSubtype="0" fill="hold" nodeType="with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fade">
                                      <p:cBhvr>
                                        <p:cTn id="51" dur="400"/>
                                        <p:tgtEl>
                                          <p:spTgt spid="22"/>
                                        </p:tgtEl>
                                      </p:cBhvr>
                                    </p:animEffect>
                                  </p:childTnLst>
                                </p:cTn>
                              </p:par>
                              <p:par>
                                <p:cTn id="55" presetID="10" presetClass="entr" presetSubtype="0" fill="hold" nodeType="withEffect">
                                  <p:stCondLst>
                                    <p:cond delay="0"/>
                                  </p:stCondLst>
                                  <p:childTnLst>
                                    <p:set>
                                      <p:cBhvr>
                                        <p:cTn id="53" dur="1" fill="hold">
                                          <p:stCondLst>
                                            <p:cond delay="0"/>
                                          </p:stCondLst>
                                        </p:cTn>
                                        <p:tgtEl>
                                          <p:spTgt spid="23"/>
                                        </p:tgtEl>
                                        <p:attrNameLst>
                                          <p:attrName>style.visibility</p:attrName>
                                        </p:attrNameLst>
                                      </p:cBhvr>
                                      <p:to>
                                        <p:strVal val="visible"/>
                                      </p:to>
                                    </p:set>
                                    <p:animEffect transition="in" filter="fade">
                                      <p:cBhvr>
                                        <p:cTn id="5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Model Answer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7 · Lesson 33 Finding fulfilling work</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48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0584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Model answer (Question 3)</a:t>
            </a:r>
          </a:p>
        </p:txBody>
      </p:sp>
      <p:sp>
        <p:nvSpPr>
          <p:cNvPr id="9" name="Rounded Rectangle 8"/>
          <p:cNvSpPr/>
          <p:nvPr/>
        </p:nvSpPr>
        <p:spPr>
          <a:xfrm>
            <a:off x="548640" y="1463040"/>
            <a:ext cx="11094415" cy="406908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1371600"/>
            <a:ext cx="914400" cy="914400"/>
          </a:xfrm>
          <a:prstGeom prst="rect">
            <a:avLst/>
          </a:prstGeom>
          <a:noFill/>
        </p:spPr>
        <p:txBody>
          <a:bodyPr wrap="square" anchor="t">
            <a:spAutoFit/>
          </a:bodyPr>
          <a:lstStyle/>
          <a:p>
            <a:pPr algn="l">
              <a:lnSpc>
                <a:spcPct val="115000"/>
              </a:lnSpc>
              <a:spcAft>
                <a:spcPts val="800"/>
              </a:spcAft>
            </a:pPr>
            <a:r>
              <a:rPr sz="5400" b="0">
                <a:solidFill>
                  <a:srgbClr val="4A90E2"/>
                </a:solidFill>
                <a:latin typeface="Arial"/>
                <a:ea typeface="Microsoft YaHei"/>
              </a:rPr>
              <a:t>❝</a:t>
            </a:r>
          </a:p>
        </p:txBody>
      </p:sp>
      <p:sp>
        <p:nvSpPr>
          <p:cNvPr id="11" name="TextBox 10"/>
          <p:cNvSpPr txBox="1"/>
          <p:nvPr/>
        </p:nvSpPr>
        <p:spPr>
          <a:xfrm>
            <a:off x="1463040" y="1600200"/>
            <a:ext cx="9814255" cy="3794760"/>
          </a:xfrm>
          <a:prstGeom prst="rect">
            <a:avLst/>
          </a:prstGeom>
          <a:noFill/>
        </p:spPr>
        <p:txBody>
          <a:bodyPr wrap="square" anchor="t">
            <a:spAutoFit/>
          </a:bodyPr>
          <a:lstStyle/>
          <a:p>
            <a:pPr algn="l">
              <a:lnSpc>
                <a:spcPct val="130000"/>
              </a:lnSpc>
              <a:spcAft>
                <a:spcPts val="800"/>
              </a:spcAft>
            </a:pPr>
            <a:r>
              <a:rPr sz="2600" b="0">
                <a:solidFill>
                  <a:srgbClr val="1F2A44"/>
                </a:solidFill>
                <a:latin typeface="Arial"/>
                <a:ea typeface="Microsoft YaHei"/>
              </a:rPr>
              <a:t>Money can reduce stress, but I don’t think it buys satisfaction. Research shows pay matters up to a point, and then things like respect, autonomy and meaning matter more. I have seen well-paid people leave jobs because they felt unappreciated. So money may attract people, but it doesn’t always keep them.</a:t>
            </a:r>
          </a:p>
        </p:txBody>
      </p:sp>
      <p:sp>
        <p:nvSpPr>
          <p:cNvPr id="12" name="Rounded Rectangle 11"/>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“up to a point” = 在一定程度上;“unappreciated” 未被赏识。</a:t>
            </a:r>
          </a:p>
        </p:txBody>
      </p:sp>
    </p:spTree>
  </p:cSld>
  <p:clrMapOvr>
    <a:masterClrMapping/>
  </p:clrMapOvr>
  <p:transition spd="med">
    <p:fade/>
  </p:transition>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Wishes and hypotheticals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7 · Lesson 33 Finding fulfilling work</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49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愿望与假设</a:t>
            </a:r>
          </a:p>
        </p:txBody>
      </p:sp>
      <p:graphicFrame>
        <p:nvGraphicFramePr>
          <p:cNvPr id="9" name="Table 8"/>
          <p:cNvGraphicFramePr>
            <a:graphicFrameLocks noGrp="1"/>
          </p:cNvGraphicFramePr>
          <p:nvPr/>
        </p:nvGraphicFramePr>
        <p:xfrm>
          <a:off x="548640" y="1417320"/>
          <a:ext cx="11094415" cy="2042160"/>
        </p:xfrm>
        <a:graphic>
          <a:graphicData uri="http://schemas.openxmlformats.org/drawingml/2006/table">
            <a:tbl>
              <a:tblPr firstRow="1" bandRow="1">
                <a:tableStyleId>{5C22544A-7EE6-4342-B048-85BDC9FD1C3A}</a:tableStyleId>
              </a:tblPr>
              <a:tblGrid>
                <a:gridCol w="5547207"/>
                <a:gridCol w="5547208"/>
              </a:tblGrid>
              <a:tr h="408432">
                <a:tc>
                  <a:txBody>
                    <a:bodyPr wrap="square"/>
                    <a:lstStyle/>
                    <a:p>
                      <a:r>
                        <a:rPr sz="1600" b="1">
                          <a:solidFill>
                            <a:srgbClr val="FFFFFF"/>
                          </a:solidFill>
                          <a:latin typeface="Arial"/>
                          <a:ea typeface="Microsoft YaHei"/>
                        </a:rPr>
                        <a:t>Structure</a:t>
                      </a:r>
                    </a:p>
                  </a:txBody>
                  <a:tcPr anchor="ctr">
                    <a:solidFill>
                      <a:srgbClr val="3CC49A"/>
                    </a:solidFill>
                  </a:tcPr>
                </a:tc>
                <a:tc>
                  <a:txBody>
                    <a:bodyPr wrap="square"/>
                    <a:lstStyle/>
                    <a:p>
                      <a:r>
                        <a:rPr sz="1600" b="1">
                          <a:solidFill>
                            <a:srgbClr val="FFFFFF"/>
                          </a:solidFill>
                          <a:latin typeface="Arial"/>
                          <a:ea typeface="Microsoft YaHei"/>
                        </a:rPr>
                        <a:t>Example</a:t>
                      </a:r>
                    </a:p>
                  </a:txBody>
                  <a:tcPr anchor="ctr">
                    <a:solidFill>
                      <a:srgbClr val="3CC49A"/>
                    </a:solidFill>
                  </a:tcPr>
                </a:tc>
              </a:tr>
              <a:tr h="408432">
                <a:tc>
                  <a:txBody>
                    <a:bodyPr wrap="square"/>
                    <a:lstStyle/>
                    <a:p>
                      <a:r>
                        <a:rPr sz="1600" b="1">
                          <a:solidFill>
                            <a:srgbClr val="1F2A44"/>
                          </a:solidFill>
                          <a:latin typeface="Arial"/>
                          <a:ea typeface="Microsoft YaHei"/>
                        </a:rPr>
                        <a:t>I wish + past</a:t>
                      </a:r>
                    </a:p>
                  </a:txBody>
                  <a:tcPr anchor="ctr">
                    <a:solidFill>
                      <a:srgbClr val="FFFFFF"/>
                    </a:solidFill>
                  </a:tcPr>
                </a:tc>
                <a:tc>
                  <a:txBody>
                    <a:bodyPr wrap="square"/>
                    <a:lstStyle/>
                    <a:p>
                      <a:r>
                        <a:rPr sz="1600" b="0">
                          <a:solidFill>
                            <a:srgbClr val="1F2A44"/>
                          </a:solidFill>
                          <a:latin typeface="Arial"/>
                          <a:ea typeface="Microsoft YaHei"/>
                        </a:rPr>
                        <a:t>I wish I had more say. / I wish I could choose.</a:t>
                      </a:r>
                    </a:p>
                  </a:txBody>
                  <a:tcPr anchor="ctr">
                    <a:solidFill>
                      <a:srgbClr val="FFFFFF"/>
                    </a:solidFill>
                  </a:tcPr>
                </a:tc>
              </a:tr>
              <a:tr h="408432">
                <a:tc>
                  <a:txBody>
                    <a:bodyPr wrap="square"/>
                    <a:lstStyle/>
                    <a:p>
                      <a:r>
                        <a:rPr sz="1600" b="1">
                          <a:solidFill>
                            <a:srgbClr val="1F2A44"/>
                          </a:solidFill>
                          <a:latin typeface="Arial"/>
                          <a:ea typeface="Microsoft YaHei"/>
                        </a:rPr>
                        <a:t>If + past, would + verb</a:t>
                      </a:r>
                    </a:p>
                  </a:txBody>
                  <a:tcPr anchor="ctr">
                    <a:solidFill>
                      <a:srgbClr val="FFEFD9"/>
                    </a:solidFill>
                  </a:tcPr>
                </a:tc>
                <a:tc>
                  <a:txBody>
                    <a:bodyPr wrap="square"/>
                    <a:lstStyle/>
                    <a:p>
                      <a:r>
                        <a:rPr sz="1600" b="0">
                          <a:solidFill>
                            <a:srgbClr val="1F2A44"/>
                          </a:solidFill>
                          <a:latin typeface="Arial"/>
                          <a:ea typeface="Microsoft YaHei"/>
                        </a:rPr>
                        <a:t>If I had more autonomy, I’d feel happier.</a:t>
                      </a:r>
                    </a:p>
                  </a:txBody>
                  <a:tcPr anchor="ctr">
                    <a:solidFill>
                      <a:srgbClr val="FFEFD9"/>
                    </a:solidFill>
                  </a:tcPr>
                </a:tc>
              </a:tr>
              <a:tr h="408432">
                <a:tc>
                  <a:txBody>
                    <a:bodyPr wrap="square"/>
                    <a:lstStyle/>
                    <a:p>
                      <a:r>
                        <a:rPr sz="1600" b="1">
                          <a:solidFill>
                            <a:srgbClr val="1F2A44"/>
                          </a:solidFill>
                          <a:latin typeface="Arial"/>
                          <a:ea typeface="Microsoft YaHei"/>
                        </a:rPr>
                        <a:t>I’d rather + verb</a:t>
                      </a:r>
                    </a:p>
                  </a:txBody>
                  <a:tcPr anchor="ctr">
                    <a:solidFill>
                      <a:srgbClr val="FFFFFF"/>
                    </a:solidFill>
                  </a:tcPr>
                </a:tc>
                <a:tc>
                  <a:txBody>
                    <a:bodyPr wrap="square"/>
                    <a:lstStyle/>
                    <a:p>
                      <a:r>
                        <a:rPr sz="1600" b="0">
                          <a:solidFill>
                            <a:srgbClr val="1F2A44"/>
                          </a:solidFill>
                          <a:latin typeface="Arial"/>
                          <a:ea typeface="Microsoft YaHei"/>
                        </a:rPr>
                        <a:t>I’d rather learn than earn more.</a:t>
                      </a:r>
                    </a:p>
                  </a:txBody>
                  <a:tcPr anchor="ctr">
                    <a:solidFill>
                      <a:srgbClr val="FFFFFF"/>
                    </a:solidFill>
                  </a:tcPr>
                </a:tc>
              </a:tr>
              <a:tr h="408432">
                <a:tc>
                  <a:txBody>
                    <a:bodyPr wrap="square"/>
                    <a:lstStyle/>
                    <a:p>
                      <a:r>
                        <a:rPr sz="1600" b="1">
                          <a:solidFill>
                            <a:srgbClr val="1F2A44"/>
                          </a:solidFill>
                          <a:latin typeface="Arial"/>
                          <a:ea typeface="Microsoft YaHei"/>
                        </a:rPr>
                        <a:t>I’d like to + verb</a:t>
                      </a:r>
                    </a:p>
                  </a:txBody>
                  <a:tcPr anchor="ctr">
                    <a:solidFill>
                      <a:srgbClr val="FFEFD9"/>
                    </a:solidFill>
                  </a:tcPr>
                </a:tc>
                <a:tc>
                  <a:txBody>
                    <a:bodyPr wrap="square"/>
                    <a:lstStyle/>
                    <a:p>
                      <a:r>
                        <a:rPr sz="1600" b="0">
                          <a:solidFill>
                            <a:srgbClr val="1F2A44"/>
                          </a:solidFill>
                          <a:latin typeface="Arial"/>
                          <a:ea typeface="Microsoft YaHei"/>
                        </a:rPr>
                        <a:t>I’d like to work on bigger projects.</a:t>
                      </a:r>
                    </a:p>
                  </a:txBody>
                  <a:tcPr anchor="ctr">
                    <a:solidFill>
                      <a:srgbClr val="FFEFD9"/>
                    </a:solidFill>
                  </a:tcPr>
                </a:tc>
              </a:tr>
            </a:tbl>
          </a:graphicData>
        </a:graphic>
      </p:graphicFrame>
    </p:spTree>
  </p:cSld>
  <p:clrMapOvr>
    <a:masterClrMapping/>
  </p:clrMapOvr>
  <p:transition spd="med">
    <p:fade/>
  </p:transition>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Wishes and hypotheticals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7 · Lesson 33 Finding fulfilling work</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50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愿望与假设</a:t>
            </a:r>
          </a:p>
        </p:txBody>
      </p:sp>
      <p:sp>
        <p:nvSpPr>
          <p:cNvPr id="9" name="Rounded Rectangle 8"/>
          <p:cNvSpPr/>
          <p:nvPr/>
        </p:nvSpPr>
        <p:spPr>
          <a:xfrm>
            <a:off x="548640" y="1417320"/>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44195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417320"/>
            <a:ext cx="10728655" cy="441959"/>
          </a:xfrm>
          <a:prstGeom prst="rect">
            <a:avLst/>
          </a:prstGeom>
          <a:noFill/>
        </p:spPr>
        <p:txBody>
          <a:bodyPr wrap="square" anchor="ctr">
            <a:spAutoFit/>
          </a:bodyPr>
          <a:lstStyle/>
          <a:p>
            <a:r>
              <a:rPr sz="1700" b="1">
                <a:solidFill>
                  <a:srgbClr val="FF6B5B"/>
                </a:solidFill>
                <a:latin typeface="Arial"/>
                <a:ea typeface="Microsoft YaHei"/>
              </a:rPr>
              <a:t>After I wish, use the past for present wishes: </a:t>
            </a:r>
            <a:r>
              <a:rPr sz="1700" b="0">
                <a:solidFill>
                  <a:srgbClr val="1F2A44"/>
                </a:solidFill>
                <a:latin typeface="Arial"/>
                <a:ea typeface="Microsoft YaHei"/>
              </a:rPr>
              <a:t>I wish I knew, I wish I had more time.</a:t>
            </a:r>
          </a:p>
        </p:txBody>
      </p:sp>
    </p:spTree>
  </p:cSld>
  <p:clrMapOvr>
    <a:masterClrMapping/>
  </p:clrMapOvr>
  <p:transition spd="med">
    <p:fade/>
  </p:transition>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7 · Lesson 33 Finding fulfilling work</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51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 am motivating at work.</a:t>
            </a:r>
          </a:p>
        </p:txBody>
      </p:sp>
      <p:sp>
        <p:nvSpPr>
          <p:cNvPr id="10" name="Rounded Rectangle 9"/>
          <p:cNvSpPr/>
          <p:nvPr/>
        </p:nvSpPr>
        <p:spPr>
          <a:xfrm>
            <a:off x="6187287" y="1463040"/>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 am motivated at work.</a:t>
            </a:r>
          </a:p>
          <a:p>
            <a:pPr algn="l">
              <a:spcAft>
                <a:spcPts val="200"/>
              </a:spcAft>
            </a:pPr>
            <a:r>
              <a:rPr sz="1200" b="0">
                <a:solidFill>
                  <a:srgbClr val="FFFFFF"/>
                </a:solidFill>
                <a:latin typeface="Arial"/>
                <a:ea typeface="Microsoft YaHei"/>
              </a:rPr>
              <a:t>motivated 表感受</a:t>
            </a:r>
          </a:p>
        </p:txBody>
      </p:sp>
      <p:sp>
        <p:nvSpPr>
          <p:cNvPr id="11" name="Rounded Rectangle 10"/>
          <p:cNvSpPr/>
          <p:nvPr/>
        </p:nvSpPr>
        <p:spPr>
          <a:xfrm>
            <a:off x="548640" y="2164079"/>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The job is very bored.</a:t>
            </a:r>
          </a:p>
        </p:txBody>
      </p:sp>
      <p:sp>
        <p:nvSpPr>
          <p:cNvPr id="12" name="Rounded Rectangle 11"/>
          <p:cNvSpPr/>
          <p:nvPr/>
        </p:nvSpPr>
        <p:spPr>
          <a:xfrm>
            <a:off x="6187287" y="2164079"/>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The job is very boring.</a:t>
            </a:r>
          </a:p>
          <a:p>
            <a:pPr algn="l">
              <a:spcAft>
                <a:spcPts val="200"/>
              </a:spcAft>
            </a:pPr>
            <a:r>
              <a:rPr sz="1200" b="0">
                <a:solidFill>
                  <a:srgbClr val="FFFFFF"/>
                </a:solidFill>
                <a:latin typeface="Arial"/>
                <a:ea typeface="Microsoft YaHei"/>
              </a:rPr>
              <a:t>-ing 形容事物</a:t>
            </a:r>
          </a:p>
        </p:txBody>
      </p:sp>
      <p:sp>
        <p:nvSpPr>
          <p:cNvPr id="13" name="Rounded Rectangle 12"/>
          <p:cNvSpPr/>
          <p:nvPr/>
        </p:nvSpPr>
        <p:spPr>
          <a:xfrm>
            <a:off x="548640" y="2865118"/>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 wish I have more time.</a:t>
            </a:r>
          </a:p>
        </p:txBody>
      </p:sp>
      <p:sp>
        <p:nvSpPr>
          <p:cNvPr id="14" name="Rounded Rectangle 13"/>
          <p:cNvSpPr/>
          <p:nvPr/>
        </p:nvSpPr>
        <p:spPr>
          <a:xfrm>
            <a:off x="6187287" y="2865118"/>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 wish I had more time.</a:t>
            </a:r>
          </a:p>
          <a:p>
            <a:pPr algn="l">
              <a:spcAft>
                <a:spcPts val="200"/>
              </a:spcAft>
            </a:pPr>
            <a:r>
              <a:rPr sz="1200" b="0">
                <a:solidFill>
                  <a:srgbClr val="FFFFFF"/>
                </a:solidFill>
                <a:latin typeface="Arial"/>
                <a:ea typeface="Microsoft YaHei"/>
              </a:rPr>
              <a:t>wish + 过去式</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7 · Lesson 33 Finding fulfilling work</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52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85343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If I will change jobs, I will be happier.</a:t>
            </a:r>
          </a:p>
        </p:txBody>
      </p:sp>
      <p:sp>
        <p:nvSpPr>
          <p:cNvPr id="10" name="Rounded Rectangle 9"/>
          <p:cNvSpPr/>
          <p:nvPr/>
        </p:nvSpPr>
        <p:spPr>
          <a:xfrm>
            <a:off x="6187287" y="1463040"/>
            <a:ext cx="5455767" cy="85343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If I changed jobs, I’d be happier. / If I change… I’ll…</a:t>
            </a:r>
          </a:p>
          <a:p>
            <a:pPr algn="l">
              <a:spcAft>
                <a:spcPts val="200"/>
              </a:spcAft>
            </a:pPr>
            <a:r>
              <a:rPr sz="1200" b="0">
                <a:solidFill>
                  <a:srgbClr val="FFFFFF"/>
                </a:solidFill>
                <a:latin typeface="Arial"/>
                <a:ea typeface="Microsoft YaHei"/>
              </a:rPr>
              <a:t>条件句</a:t>
            </a:r>
          </a:p>
        </p:txBody>
      </p:sp>
      <p:sp>
        <p:nvSpPr>
          <p:cNvPr id="11" name="Rounded Rectangle 10"/>
          <p:cNvSpPr/>
          <p:nvPr/>
        </p:nvSpPr>
        <p:spPr>
          <a:xfrm>
            <a:off x="548640" y="2407919"/>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 feel sense of purpose.</a:t>
            </a:r>
          </a:p>
        </p:txBody>
      </p:sp>
      <p:sp>
        <p:nvSpPr>
          <p:cNvPr id="12" name="Rounded Rectangle 11"/>
          <p:cNvSpPr/>
          <p:nvPr/>
        </p:nvSpPr>
        <p:spPr>
          <a:xfrm>
            <a:off x="6187287" y="2407919"/>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 feel a sense of purpose.</a:t>
            </a:r>
          </a:p>
          <a:p>
            <a:pPr algn="l">
              <a:spcAft>
                <a:spcPts val="200"/>
              </a:spcAft>
            </a:pPr>
            <a:r>
              <a:rPr sz="1200" b="0">
                <a:solidFill>
                  <a:srgbClr val="FFFFFF"/>
                </a:solidFill>
                <a:latin typeface="Arial"/>
                <a:ea typeface="Microsoft YaHei"/>
              </a:rPr>
              <a:t>a sense of</a:t>
            </a:r>
          </a:p>
        </p:txBody>
      </p:sp>
      <p:sp>
        <p:nvSpPr>
          <p:cNvPr id="13" name="Rounded Rectangle 12"/>
          <p:cNvSpPr/>
          <p:nvPr/>
        </p:nvSpPr>
        <p:spPr>
          <a:xfrm>
            <a:off x="548640" y="3108958"/>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It’s meaningful to me do this.</a:t>
            </a:r>
          </a:p>
        </p:txBody>
      </p:sp>
      <p:sp>
        <p:nvSpPr>
          <p:cNvPr id="14" name="Rounded Rectangle 13"/>
          <p:cNvSpPr/>
          <p:nvPr/>
        </p:nvSpPr>
        <p:spPr>
          <a:xfrm>
            <a:off x="6187287" y="3108958"/>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It’s meaningful to me. / I find it meaningful.</a:t>
            </a:r>
          </a:p>
          <a:p>
            <a:pPr algn="l">
              <a:spcAft>
                <a:spcPts val="200"/>
              </a:spcAft>
            </a:pPr>
            <a:r>
              <a:rPr sz="1200" b="0">
                <a:solidFill>
                  <a:srgbClr val="FFFFFF"/>
                </a:solidFill>
                <a:latin typeface="Arial"/>
                <a:ea typeface="Microsoft YaHei"/>
              </a:rPr>
              <a:t>句式</a:t>
            </a:r>
          </a:p>
        </p:txBody>
      </p:sp>
      <p:sp>
        <p:nvSpPr>
          <p:cNvPr id="18" name="Rounded Rectangle 1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Check -ed vs -ing adjectives, wish + past, conditionals, and a sense of purpose.</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Cultural tips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7 · Lesson 33 Finding fulfilling work</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53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文化小贴士</a:t>
            </a:r>
          </a:p>
        </p:txBody>
      </p:sp>
      <p:sp>
        <p:nvSpPr>
          <p:cNvPr id="9" name="Rounded Rectangle 8"/>
          <p:cNvSpPr/>
          <p:nvPr/>
        </p:nvSpPr>
        <p:spPr>
          <a:xfrm>
            <a:off x="548640" y="1417320"/>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44195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417320"/>
            <a:ext cx="10728655" cy="441959"/>
          </a:xfrm>
          <a:prstGeom prst="rect">
            <a:avLst/>
          </a:prstGeom>
          <a:noFill/>
        </p:spPr>
        <p:txBody>
          <a:bodyPr wrap="square" anchor="ctr">
            <a:spAutoFit/>
          </a:bodyPr>
          <a:lstStyle/>
          <a:p>
            <a:r>
              <a:rPr sz="1700" b="0">
                <a:solidFill>
                  <a:srgbClr val="1F2A44"/>
                </a:solidFill>
                <a:latin typeface="Arial"/>
                <a:ea typeface="Microsoft YaHei"/>
              </a:rPr>
              <a:t>Talk about purpose openly. Western companies often include “purpose” in interviews.</a:t>
            </a:r>
          </a:p>
        </p:txBody>
      </p:sp>
      <p:sp>
        <p:nvSpPr>
          <p:cNvPr id="12" name="Rounded Rectangle 11"/>
          <p:cNvSpPr/>
          <p:nvPr/>
        </p:nvSpPr>
        <p:spPr>
          <a:xfrm>
            <a:off x="548640" y="1950719"/>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1950719"/>
            <a:ext cx="91440" cy="441959"/>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1950719"/>
            <a:ext cx="10728655" cy="441959"/>
          </a:xfrm>
          <a:prstGeom prst="rect">
            <a:avLst/>
          </a:prstGeom>
          <a:noFill/>
        </p:spPr>
        <p:txBody>
          <a:bodyPr wrap="square" anchor="ctr">
            <a:spAutoFit/>
          </a:bodyPr>
          <a:lstStyle/>
          <a:p>
            <a:r>
              <a:rPr sz="1700" b="0">
                <a:solidFill>
                  <a:srgbClr val="1F2A44"/>
                </a:solidFill>
                <a:latin typeface="Arial"/>
                <a:ea typeface="Microsoft YaHei"/>
              </a:rPr>
              <a:t>Don’t equate fulfilment with a “dream job”. Many people build it in small steps.</a:t>
            </a:r>
          </a:p>
        </p:txBody>
      </p:sp>
      <p:sp>
        <p:nvSpPr>
          <p:cNvPr id="15" name="Rounded Rectangle 14"/>
          <p:cNvSpPr/>
          <p:nvPr/>
        </p:nvSpPr>
        <p:spPr>
          <a:xfrm>
            <a:off x="548640" y="2484118"/>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2484118"/>
            <a:ext cx="91440" cy="441959"/>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2484118"/>
            <a:ext cx="10728655" cy="441959"/>
          </a:xfrm>
          <a:prstGeom prst="rect">
            <a:avLst/>
          </a:prstGeom>
          <a:noFill/>
        </p:spPr>
        <p:txBody>
          <a:bodyPr wrap="square" anchor="ctr">
            <a:spAutoFit/>
          </a:bodyPr>
          <a:lstStyle/>
          <a:p>
            <a:r>
              <a:rPr sz="1700" b="0">
                <a:solidFill>
                  <a:srgbClr val="1F2A44"/>
                </a:solidFill>
                <a:latin typeface="Arial"/>
                <a:ea typeface="Microsoft YaHei"/>
              </a:rPr>
              <a:t>Say what you need. Managers can’t guess; “I’d like more responsibility” is normal.</a:t>
            </a:r>
          </a:p>
        </p:txBody>
      </p:sp>
      <p:sp>
        <p:nvSpPr>
          <p:cNvPr id="18" name="Rounded Rectangle 17"/>
          <p:cNvSpPr/>
          <p:nvPr/>
        </p:nvSpPr>
        <p:spPr>
          <a:xfrm>
            <a:off x="548640" y="3017517"/>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48640" y="3017517"/>
            <a:ext cx="91440" cy="441959"/>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 y="3017517"/>
            <a:ext cx="10728655" cy="441959"/>
          </a:xfrm>
          <a:prstGeom prst="rect">
            <a:avLst/>
          </a:prstGeom>
          <a:noFill/>
        </p:spPr>
        <p:txBody>
          <a:bodyPr wrap="square" anchor="ctr">
            <a:spAutoFit/>
          </a:bodyPr>
          <a:lstStyle/>
          <a:p>
            <a:r>
              <a:rPr sz="1700" b="0">
                <a:solidFill>
                  <a:srgbClr val="1F2A44"/>
                </a:solidFill>
                <a:latin typeface="Arial"/>
                <a:ea typeface="Microsoft YaHei"/>
              </a:rPr>
              <a:t>Gratitude counts. Thanking people is part of recognition.</a:t>
            </a:r>
          </a:p>
        </p:txBody>
      </p:sp>
    </p:spTree>
  </p:cSld>
  <p:clrMapOvr>
    <a:masterClrMapping/>
  </p:clrMapOvr>
  <p:transition spd="med">
    <p:fade/>
  </p:transition>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Can-do Check 掌握度自检</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Lesson 33 wrap-up</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7 · Lesson 33 Finding fulfilling work</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54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Rate yourself: ⭐ not yet · ⭐⭐ almost · ⭐⭐⭐ I can do it!  给自己打星</a:t>
            </a:r>
          </a:p>
        </p:txBody>
      </p:sp>
      <p:sp>
        <p:nvSpPr>
          <p:cNvPr id="9" name="Rounded Rectangle 8"/>
          <p:cNvSpPr/>
          <p:nvPr/>
        </p:nvSpPr>
        <p:spPr>
          <a:xfrm>
            <a:off x="548640" y="1508760"/>
            <a:ext cx="11094415" cy="8107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508760"/>
            <a:ext cx="548640" cy="8107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1" name="TextBox 10"/>
          <p:cNvSpPr txBox="1"/>
          <p:nvPr/>
        </p:nvSpPr>
        <p:spPr>
          <a:xfrm>
            <a:off x="1234440" y="1508760"/>
            <a:ext cx="8168335" cy="8107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say what makes work fulfilling using rewarding / a sense of purpose.</a:t>
            </a:r>
          </a:p>
        </p:txBody>
      </p:sp>
      <p:sp>
        <p:nvSpPr>
          <p:cNvPr id="12" name="TextBox 11"/>
          <p:cNvSpPr txBox="1"/>
          <p:nvPr/>
        </p:nvSpPr>
        <p:spPr>
          <a:xfrm>
            <a:off x="9539935" y="1508760"/>
            <a:ext cx="2011680" cy="8107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3" name="Rounded Rectangle 12"/>
          <p:cNvSpPr/>
          <p:nvPr/>
        </p:nvSpPr>
        <p:spPr>
          <a:xfrm>
            <a:off x="548640" y="2410968"/>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2410968"/>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5" name="TextBox 14"/>
          <p:cNvSpPr txBox="1"/>
          <p:nvPr/>
        </p:nvSpPr>
        <p:spPr>
          <a:xfrm>
            <a:off x="1234440" y="2410968"/>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describe my motivation and what discourages me.</a:t>
            </a:r>
          </a:p>
        </p:txBody>
      </p:sp>
      <p:sp>
        <p:nvSpPr>
          <p:cNvPr id="16" name="TextBox 15"/>
          <p:cNvSpPr txBox="1"/>
          <p:nvPr/>
        </p:nvSpPr>
        <p:spPr>
          <a:xfrm>
            <a:off x="9539935" y="2410968"/>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7" name="Rounded Rectangle 16"/>
          <p:cNvSpPr/>
          <p:nvPr/>
        </p:nvSpPr>
        <p:spPr>
          <a:xfrm>
            <a:off x="548640" y="3008376"/>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3008376"/>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9" name="TextBox 18"/>
          <p:cNvSpPr txBox="1"/>
          <p:nvPr/>
        </p:nvSpPr>
        <p:spPr>
          <a:xfrm>
            <a:off x="1234440" y="3008376"/>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use wish + past and second conditional.</a:t>
            </a:r>
          </a:p>
        </p:txBody>
      </p:sp>
      <p:sp>
        <p:nvSpPr>
          <p:cNvPr id="20" name="TextBox 19"/>
          <p:cNvSpPr txBox="1"/>
          <p:nvPr/>
        </p:nvSpPr>
        <p:spPr>
          <a:xfrm>
            <a:off x="9539935" y="3008376"/>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1" name="Rounded Rectangle 20"/>
          <p:cNvSpPr/>
          <p:nvPr/>
        </p:nvSpPr>
        <p:spPr>
          <a:xfrm>
            <a:off x="548640" y="3605784"/>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3605784"/>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3" name="TextBox 22"/>
          <p:cNvSpPr txBox="1"/>
          <p:nvPr/>
        </p:nvSpPr>
        <p:spPr>
          <a:xfrm>
            <a:off x="1234440" y="3605784"/>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use motivated / motivating correctly.</a:t>
            </a:r>
          </a:p>
        </p:txBody>
      </p:sp>
      <p:sp>
        <p:nvSpPr>
          <p:cNvPr id="24" name="TextBox 23"/>
          <p:cNvSpPr txBox="1"/>
          <p:nvPr/>
        </p:nvSpPr>
        <p:spPr>
          <a:xfrm>
            <a:off x="9539935" y="3605784"/>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5" name="Rounded Rectangle 24"/>
          <p:cNvSpPr/>
          <p:nvPr/>
        </p:nvSpPr>
        <p:spPr>
          <a:xfrm>
            <a:off x="548640" y="4203192"/>
            <a:ext cx="11094415" cy="8107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4203192"/>
            <a:ext cx="548640" cy="8107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7" name="TextBox 26"/>
          <p:cNvSpPr txBox="1"/>
          <p:nvPr/>
        </p:nvSpPr>
        <p:spPr>
          <a:xfrm>
            <a:off x="1234440" y="4203192"/>
            <a:ext cx="8168335" cy="8107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use at least three ★ expressions from this lesson in my own sentences.</a:t>
            </a:r>
          </a:p>
        </p:txBody>
      </p:sp>
      <p:sp>
        <p:nvSpPr>
          <p:cNvPr id="28" name="TextBox 27"/>
          <p:cNvSpPr txBox="1"/>
          <p:nvPr/>
        </p:nvSpPr>
        <p:spPr>
          <a:xfrm>
            <a:off x="9539935" y="4203192"/>
            <a:ext cx="2011680" cy="8107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Tree>
  </p:cSld>
  <p:clrMapOvr>
    <a:masterClrMapping/>
  </p:clrMapOvr>
  <p:transition spd="med">
    <p:fade/>
  </p:transition>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After Class: 10-Minute Daily Plan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课后练习</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7 · Lesson 33 Finding fulfilling work</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55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1554480" cy="713232"/>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0–2</a:t>
            </a:r>
          </a:p>
        </p:txBody>
      </p:sp>
      <p:sp>
        <p:nvSpPr>
          <p:cNvPr id="9" name="Rounded Rectangle 8"/>
          <p:cNvSpPr/>
          <p:nvPr/>
        </p:nvSpPr>
        <p:spPr>
          <a:xfrm>
            <a:off x="2240280" y="1325880"/>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Read the 15 expressions aloud. Cover the English and say it from the Chinese. Pick 3 ★ items and make one true sentence with each.</a:t>
            </a:r>
          </a:p>
        </p:txBody>
      </p:sp>
      <p:sp>
        <p:nvSpPr>
          <p:cNvPr id="10" name="Rounded Rectangle 9"/>
          <p:cNvSpPr/>
          <p:nvPr/>
        </p:nvSpPr>
        <p:spPr>
          <a:xfrm>
            <a:off x="548640" y="2112264"/>
            <a:ext cx="1554480" cy="438912"/>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2–4</a:t>
            </a:r>
          </a:p>
        </p:txBody>
      </p:sp>
      <p:sp>
        <p:nvSpPr>
          <p:cNvPr id="11" name="Rounded Rectangle 10"/>
          <p:cNvSpPr/>
          <p:nvPr/>
        </p:nvSpPr>
        <p:spPr>
          <a:xfrm>
            <a:off x="2240280" y="2112264"/>
            <a:ext cx="9402775" cy="43891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Shadow the model dialogue: read it with the same rhythm and intonation.</a:t>
            </a:r>
          </a:p>
        </p:txBody>
      </p:sp>
      <p:sp>
        <p:nvSpPr>
          <p:cNvPr id="12" name="Rounded Rectangle 11"/>
          <p:cNvSpPr/>
          <p:nvPr/>
        </p:nvSpPr>
        <p:spPr>
          <a:xfrm>
            <a:off x="548640" y="2624328"/>
            <a:ext cx="1554480" cy="438912"/>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4–8</a:t>
            </a:r>
          </a:p>
        </p:txBody>
      </p:sp>
      <p:sp>
        <p:nvSpPr>
          <p:cNvPr id="13" name="Rounded Rectangle 12"/>
          <p:cNvSpPr/>
          <p:nvPr/>
        </p:nvSpPr>
        <p:spPr>
          <a:xfrm>
            <a:off x="2240280" y="2624328"/>
            <a:ext cx="9402775" cy="43891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Describe your ideal day at work in 60 seconds.</a:t>
            </a:r>
          </a:p>
        </p:txBody>
      </p:sp>
      <p:sp>
        <p:nvSpPr>
          <p:cNvPr id="14" name="Rounded Rectangle 13"/>
          <p:cNvSpPr/>
          <p:nvPr/>
        </p:nvSpPr>
        <p:spPr>
          <a:xfrm>
            <a:off x="548640" y="3136392"/>
            <a:ext cx="1554480" cy="713232"/>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8–10</a:t>
            </a:r>
          </a:p>
        </p:txBody>
      </p:sp>
      <p:sp>
        <p:nvSpPr>
          <p:cNvPr id="15" name="Rounded Rectangle 14"/>
          <p:cNvSpPr/>
          <p:nvPr/>
        </p:nvSpPr>
        <p:spPr>
          <a:xfrm>
            <a:off x="2240280" y="3136392"/>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Listen to your recording. Check: -ed/-ing adjectives, wish + past, second conditional. Write 3 corrections and record again.</a:t>
            </a:r>
          </a:p>
        </p:txBody>
      </p:sp>
      <p:sp>
        <p:nvSpPr>
          <p:cNvPr id="16" name="Rounded Rectangle 15"/>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Weekly rhythm: Mon–Tue Scenario 1 · Wed–Thu Scenario 2 · Fri Level-up variation · Weekend: do the Reading / Listening focus again without looking, then record the 1-minute speaking prompt and compare with Monday.</a:t>
            </a:r>
          </a:p>
        </p:txBody>
      </p:sp>
    </p:spTree>
  </p:cSld>
  <p:clrMapOvr>
    <a:masterClrMapping/>
  </p:clrMapOvr>
  <p:transition spd="med">
    <p:fade/>
  </p:transition>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1F2A44"/>
        </a:solidFill>
        <a:effectLst/>
      </p:bgPr>
    </p:bg>
    <p:spTree>
      <p:nvGrpSpPr>
        <p:cNvPr id="1" name=""/>
        <p:cNvGrpSpPr/>
        <p:nvPr/>
      </p:nvGrpSpPr>
      <p:grpSpPr/>
      <p:sp>
        <p:nvSpPr>
          <p:cNvPr id="2" name="TextBox 1"/>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FFC857"/>
                </a:solidFill>
                <a:latin typeface="Arial"/>
                <a:ea typeface="Microsoft YaHei"/>
              </a:rPr>
              <a:t>Business English · Level 7–8 · Unit 7 · Lesson 34 How unconscious bias affects hiring</a:t>
            </a:r>
          </a:p>
        </p:txBody>
      </p:sp>
      <p:sp>
        <p:nvSpPr>
          <p:cNvPr id="3" name="TextBox 2"/>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FFC857"/>
                </a:solidFill>
                <a:latin typeface="Arial"/>
                <a:ea typeface="Microsoft YaHei"/>
              </a:rPr>
              <a:t>56</a:t>
            </a:r>
          </a:p>
        </p:txBody>
      </p:sp>
      <p:sp>
        <p:nvSpPr>
          <p:cNvPr id="4" name="Rounded Rectangle 3">
            <a:hlinkClick action="ppaction://hlinksldjump" r:id="rId2"/>
          </p:cNvPr>
          <p:cNvSpPr/>
          <p:nvPr/>
        </p:nvSpPr>
        <p:spPr>
          <a:xfrm>
            <a:off x="9677095" y="6382512"/>
            <a:ext cx="960120" cy="329184"/>
          </a:xfrm>
          <a:prstGeom prst="roundRect">
            <a:avLst>
              <a:gd name="adj" fmla="val 50000"/>
            </a:avLst>
          </a:prstGeom>
          <a:solidFill>
            <a:srgbClr val="3642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FFFFFF"/>
                </a:solidFill>
                <a:latin typeface="Arial"/>
                <a:ea typeface="Microsoft YaHei"/>
              </a:rPr>
              <a:t>🗺 Map</a:t>
            </a:r>
          </a:p>
        </p:txBody>
      </p:sp>
      <p:sp>
        <p:nvSpPr>
          <p:cNvPr id="5" name="Rectangle 4"/>
          <p:cNvSpPr/>
          <p:nvPr/>
        </p:nvSpPr>
        <p:spPr>
          <a:xfrm>
            <a:off x="822960" y="685800"/>
            <a:ext cx="1097280" cy="91440"/>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822960"/>
            <a:ext cx="5486400" cy="457200"/>
          </a:xfrm>
          <a:prstGeom prst="rect">
            <a:avLst/>
          </a:prstGeom>
          <a:noFill/>
        </p:spPr>
        <p:txBody>
          <a:bodyPr wrap="square" anchor="t">
            <a:spAutoFit/>
          </a:bodyPr>
          <a:lstStyle/>
          <a:p>
            <a:pPr algn="l">
              <a:lnSpc>
                <a:spcPct val="115000"/>
              </a:lnSpc>
              <a:spcAft>
                <a:spcPts val="800"/>
              </a:spcAft>
            </a:pPr>
            <a:r>
              <a:rPr sz="2200" b="1">
                <a:solidFill>
                  <a:srgbClr val="FFC857"/>
                </a:solidFill>
                <a:latin typeface="Arial"/>
                <a:ea typeface="Microsoft YaHei"/>
              </a:rPr>
              <a:t>LESSON 34</a:t>
            </a:r>
          </a:p>
        </p:txBody>
      </p:sp>
      <p:sp>
        <p:nvSpPr>
          <p:cNvPr id="7" name="TextBox 6"/>
          <p:cNvSpPr txBox="1"/>
          <p:nvPr/>
        </p:nvSpPr>
        <p:spPr>
          <a:xfrm>
            <a:off x="822960" y="1280160"/>
            <a:ext cx="10515600" cy="1280160"/>
          </a:xfrm>
          <a:prstGeom prst="rect">
            <a:avLst/>
          </a:prstGeom>
          <a:noFill/>
        </p:spPr>
        <p:txBody>
          <a:bodyPr wrap="square" anchor="ctr">
            <a:spAutoFit/>
          </a:bodyPr>
          <a:lstStyle/>
          <a:p>
            <a:pPr algn="l">
              <a:lnSpc>
                <a:spcPct val="115000"/>
              </a:lnSpc>
              <a:spcAft>
                <a:spcPts val="800"/>
              </a:spcAft>
            </a:pPr>
            <a:r>
              <a:rPr sz="4300" b="1">
                <a:solidFill>
                  <a:srgbClr val="FFFFFF"/>
                </a:solidFill>
                <a:latin typeface="Arial"/>
                <a:ea typeface="Microsoft YaHei"/>
              </a:rPr>
              <a:t>How unconscious bias affects hiring</a:t>
            </a:r>
          </a:p>
        </p:txBody>
      </p:sp>
      <p:sp>
        <p:nvSpPr>
          <p:cNvPr id="8" name="TextBox 7"/>
          <p:cNvSpPr txBox="1"/>
          <p:nvPr/>
        </p:nvSpPr>
        <p:spPr>
          <a:xfrm>
            <a:off x="822960" y="2560320"/>
            <a:ext cx="10515600" cy="548640"/>
          </a:xfrm>
          <a:prstGeom prst="rect">
            <a:avLst/>
          </a:prstGeom>
          <a:noFill/>
        </p:spPr>
        <p:txBody>
          <a:bodyPr wrap="square" anchor="t">
            <a:spAutoFit/>
          </a:bodyPr>
          <a:lstStyle/>
          <a:p>
            <a:pPr algn="l">
              <a:lnSpc>
                <a:spcPct val="115000"/>
              </a:lnSpc>
              <a:spcAft>
                <a:spcPts val="800"/>
              </a:spcAft>
            </a:pPr>
            <a:r>
              <a:rPr sz="2400" b="0">
                <a:solidFill>
                  <a:srgbClr val="FFFFFF"/>
                </a:solidFill>
                <a:latin typeface="Arial"/>
                <a:ea typeface="Microsoft YaHei"/>
              </a:rPr>
              <a:t>无意识偏见如何影响招聘</a:t>
            </a:r>
          </a:p>
        </p:txBody>
      </p:sp>
      <p:sp>
        <p:nvSpPr>
          <p:cNvPr id="9" name="TextBox 8"/>
          <p:cNvSpPr txBox="1"/>
          <p:nvPr/>
        </p:nvSpPr>
        <p:spPr>
          <a:xfrm>
            <a:off x="822960" y="3246120"/>
            <a:ext cx="10515600" cy="914400"/>
          </a:xfrm>
          <a:prstGeom prst="rect">
            <a:avLst/>
          </a:prstGeom>
          <a:noFill/>
        </p:spPr>
        <p:txBody>
          <a:bodyPr wrap="square" anchor="t">
            <a:spAutoFit/>
          </a:bodyPr>
          <a:lstStyle/>
          <a:p>
            <a:pPr algn="l">
              <a:lnSpc>
                <a:spcPct val="115000"/>
              </a:lnSpc>
              <a:spcAft>
                <a:spcPts val="800"/>
              </a:spcAft>
            </a:pPr>
            <a:r>
              <a:rPr sz="2000" b="0">
                <a:solidFill>
                  <a:srgbClr val="FFC857"/>
                </a:solidFill>
                <a:latin typeface="Arial"/>
                <a:ea typeface="Microsoft YaHei"/>
              </a:rPr>
              <a:t>🎯 talk about unconscious bias in hiring, give examples and suggest fair practices in a tactful way.</a:t>
            </a:r>
          </a:p>
        </p:txBody>
      </p:sp>
      <p:sp>
        <p:nvSpPr>
          <p:cNvPr id="10" name="Rounded Rectangle 9"/>
          <p:cNvSpPr/>
          <p:nvPr/>
        </p:nvSpPr>
        <p:spPr>
          <a:xfrm>
            <a:off x="822960" y="4389120"/>
            <a:ext cx="1956816" cy="11430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01</a:t>
            </a:r>
          </a:p>
          <a:p>
            <a:pPr algn="ctr">
              <a:spcAft>
                <a:spcPts val="200"/>
              </a:spcAft>
            </a:pPr>
            <a:r>
              <a:rPr sz="1700" b="1">
                <a:solidFill>
                  <a:srgbClr val="FFFFFF"/>
                </a:solidFill>
                <a:latin typeface="Arial"/>
                <a:ea typeface="Microsoft YaHei"/>
              </a:rPr>
              <a:t>Warm up</a:t>
            </a:r>
          </a:p>
          <a:p>
            <a:pPr algn="ctr">
              <a:spcAft>
                <a:spcPts val="200"/>
              </a:spcAft>
            </a:pPr>
            <a:r>
              <a:rPr sz="1300" b="0">
                <a:solidFill>
                  <a:srgbClr val="FFFFFF"/>
                </a:solidFill>
                <a:latin typeface="Arial"/>
                <a:ea typeface="Microsoft YaHei"/>
              </a:rPr>
              <a:t>热身</a:t>
            </a:r>
          </a:p>
        </p:txBody>
      </p:sp>
      <p:sp>
        <p:nvSpPr>
          <p:cNvPr id="11" name="Rounded Rectangle 10"/>
          <p:cNvSpPr/>
          <p:nvPr/>
        </p:nvSpPr>
        <p:spPr>
          <a:xfrm>
            <a:off x="2962656" y="4389120"/>
            <a:ext cx="1956816" cy="11430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02</a:t>
            </a:r>
          </a:p>
          <a:p>
            <a:pPr algn="ctr">
              <a:spcAft>
                <a:spcPts val="200"/>
              </a:spcAft>
            </a:pPr>
            <a:r>
              <a:rPr sz="1700" b="1">
                <a:solidFill>
                  <a:srgbClr val="FFFFFF"/>
                </a:solidFill>
                <a:latin typeface="Arial"/>
                <a:ea typeface="Microsoft YaHei"/>
              </a:rPr>
              <a:t>Vocabulary</a:t>
            </a:r>
          </a:p>
          <a:p>
            <a:pPr algn="ctr">
              <a:spcAft>
                <a:spcPts val="200"/>
              </a:spcAft>
            </a:pPr>
            <a:r>
              <a:rPr sz="1300" b="0">
                <a:solidFill>
                  <a:srgbClr val="FFFFFF"/>
                </a:solidFill>
                <a:latin typeface="Arial"/>
                <a:ea typeface="Microsoft YaHei"/>
              </a:rPr>
              <a:t>词汇</a:t>
            </a:r>
          </a:p>
        </p:txBody>
      </p:sp>
      <p:sp>
        <p:nvSpPr>
          <p:cNvPr id="12" name="Rounded Rectangle 11"/>
          <p:cNvSpPr/>
          <p:nvPr/>
        </p:nvSpPr>
        <p:spPr>
          <a:xfrm>
            <a:off x="5102352" y="4389120"/>
            <a:ext cx="1956816" cy="11430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03</a:t>
            </a:r>
          </a:p>
          <a:p>
            <a:pPr algn="ctr">
              <a:spcAft>
                <a:spcPts val="200"/>
              </a:spcAft>
            </a:pPr>
            <a:r>
              <a:rPr sz="1700" b="1">
                <a:solidFill>
                  <a:srgbClr val="FFFFFF"/>
                </a:solidFill>
                <a:latin typeface="Arial"/>
                <a:ea typeface="Microsoft YaHei"/>
              </a:rPr>
              <a:t>Role play</a:t>
            </a:r>
          </a:p>
          <a:p>
            <a:pPr algn="ctr">
              <a:spcAft>
                <a:spcPts val="200"/>
              </a:spcAft>
            </a:pPr>
            <a:r>
              <a:rPr sz="1300" b="0">
                <a:solidFill>
                  <a:srgbClr val="FFFFFF"/>
                </a:solidFill>
                <a:latin typeface="Arial"/>
                <a:ea typeface="Microsoft YaHei"/>
              </a:rPr>
              <a:t>角色扮演</a:t>
            </a:r>
          </a:p>
        </p:txBody>
      </p:sp>
      <p:sp>
        <p:nvSpPr>
          <p:cNvPr id="13" name="Rounded Rectangle 12"/>
          <p:cNvSpPr/>
          <p:nvPr/>
        </p:nvSpPr>
        <p:spPr>
          <a:xfrm>
            <a:off x="7242048" y="4389120"/>
            <a:ext cx="1956816" cy="11430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04</a:t>
            </a:r>
          </a:p>
          <a:p>
            <a:pPr algn="ctr">
              <a:spcAft>
                <a:spcPts val="200"/>
              </a:spcAft>
            </a:pPr>
            <a:r>
              <a:rPr sz="1700" b="1">
                <a:solidFill>
                  <a:srgbClr val="FFFFFF"/>
                </a:solidFill>
                <a:latin typeface="Arial"/>
                <a:ea typeface="Microsoft YaHei"/>
              </a:rPr>
              <a:t>Discussion</a:t>
            </a:r>
          </a:p>
          <a:p>
            <a:pPr algn="ctr">
              <a:spcAft>
                <a:spcPts val="200"/>
              </a:spcAft>
            </a:pPr>
            <a:r>
              <a:rPr sz="1300" b="0">
                <a:solidFill>
                  <a:srgbClr val="FFFFFF"/>
                </a:solidFill>
                <a:latin typeface="Arial"/>
                <a:ea typeface="Microsoft YaHei"/>
              </a:rPr>
              <a:t>讨论</a:t>
            </a:r>
          </a:p>
        </p:txBody>
      </p:sp>
      <p:sp>
        <p:nvSpPr>
          <p:cNvPr id="14" name="Rounded Rectangle 13"/>
          <p:cNvSpPr/>
          <p:nvPr/>
        </p:nvSpPr>
        <p:spPr>
          <a:xfrm>
            <a:off x="9381744" y="4389120"/>
            <a:ext cx="1956816" cy="11430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05</a:t>
            </a:r>
          </a:p>
          <a:p>
            <a:pPr algn="ctr">
              <a:spcAft>
                <a:spcPts val="200"/>
              </a:spcAft>
            </a:pPr>
            <a:r>
              <a:rPr sz="1700" b="1">
                <a:solidFill>
                  <a:srgbClr val="FFFFFF"/>
                </a:solidFill>
                <a:latin typeface="Arial"/>
                <a:ea typeface="Microsoft YaHei"/>
              </a:rPr>
              <a:t>Language Tips</a:t>
            </a:r>
          </a:p>
          <a:p>
            <a:pPr algn="ctr">
              <a:spcAft>
                <a:spcPts val="200"/>
              </a:spcAft>
            </a:pPr>
            <a:r>
              <a:rPr sz="1300" b="0">
                <a:solidFill>
                  <a:srgbClr val="FFFFFF"/>
                </a:solidFill>
                <a:latin typeface="Arial"/>
                <a:ea typeface="Microsoft YaHei"/>
              </a:rPr>
              <a:t>语言贴士</a:t>
            </a:r>
          </a:p>
        </p:txBody>
      </p:sp>
    </p:spTree>
  </p:cSld>
  <p:clrMapOvr>
    <a:masterClrMapping/>
  </p:clrMapOvr>
  <p:transition spd="med">
    <p:fade/>
  </p:transition>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Warm up · Ice-breaker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7 · Lesson 34 How unconscious bias affects hiring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57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Answer in 2–3 sentences. Say it out loud!  用 2–3 句话回答，大声说出来</a:t>
            </a:r>
          </a:p>
        </p:txBody>
      </p:sp>
      <p:sp>
        <p:nvSpPr>
          <p:cNvPr id="9" name="Oval 8"/>
          <p:cNvSpPr/>
          <p:nvPr/>
        </p:nvSpPr>
        <p:spPr>
          <a:xfrm>
            <a:off x="548640" y="1600199"/>
            <a:ext cx="502920" cy="50292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54480"/>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Have you heard of unconscious bias? What does it mean to you?</a:t>
            </a:r>
          </a:p>
        </p:txBody>
      </p:sp>
      <p:sp>
        <p:nvSpPr>
          <p:cNvPr id="12" name="Oval 11"/>
          <p:cNvSpPr/>
          <p:nvPr/>
        </p:nvSpPr>
        <p:spPr>
          <a:xfrm>
            <a:off x="548640" y="2304286"/>
            <a:ext cx="502920" cy="50292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258567"/>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258567"/>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Do first impressions affect how you judge people?</a:t>
            </a:r>
          </a:p>
        </p:txBody>
      </p:sp>
      <p:sp>
        <p:nvSpPr>
          <p:cNvPr id="15" name="Oval 14"/>
          <p:cNvSpPr/>
          <p:nvPr/>
        </p:nvSpPr>
        <p:spPr>
          <a:xfrm>
            <a:off x="548640" y="3008373"/>
            <a:ext cx="502920" cy="50292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2962654"/>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2962654"/>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What could make hiring fairer?</a:t>
            </a:r>
          </a:p>
        </p:txBody>
      </p:sp>
      <p:sp>
        <p:nvSpPr>
          <p:cNvPr id="18" name="Oval 17"/>
          <p:cNvSpPr/>
          <p:nvPr/>
        </p:nvSpPr>
        <p:spPr>
          <a:xfrm>
            <a:off x="548640" y="3712460"/>
            <a:ext cx="502920" cy="50292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3666741"/>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3666741"/>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Have you ever felt you were judged unfairly?</a:t>
            </a:r>
          </a:p>
        </p:txBody>
      </p:sp>
      <p:sp>
        <p:nvSpPr>
          <p:cNvPr id="21" name="Oval 20"/>
          <p:cNvSpPr/>
          <p:nvPr/>
        </p:nvSpPr>
        <p:spPr>
          <a:xfrm>
            <a:off x="548640" y="4416547"/>
            <a:ext cx="502920" cy="502920"/>
          </a:xfrm>
          <a:prstGeom prst="ellipse">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5</a:t>
            </a:r>
          </a:p>
        </p:txBody>
      </p:sp>
      <p:sp>
        <p:nvSpPr>
          <p:cNvPr id="22" name="Rounded Rectangle 21"/>
          <p:cNvSpPr/>
          <p:nvPr/>
        </p:nvSpPr>
        <p:spPr>
          <a:xfrm>
            <a:off x="1234440" y="4370828"/>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325880" y="4370828"/>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Who should be responsible for fair hiring?</a:t>
            </a:r>
          </a:p>
        </p:txBody>
      </p:sp>
      <p:sp>
        <p:nvSpPr>
          <p:cNvPr id="58" name="Rounded Rectangle 5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“bias” = 偏见;“unconscious” = 无意识的。谈敏感话题时多用 can / may / tend to,避免绝对化。</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par>
                    <p:cTn id="56" fill="hold">
                      <p:stCondLst>
                        <p:cond delay="indefinite"/>
                      </p:stCondLst>
                      <p:childTnLst>
                        <p:par>
                          <p:cTn id="57" fill="hold">
                            <p:stCondLst>
                              <p:cond delay="0"/>
                            </p:stCondLst>
                            <p:childTnLst>
                              <p:par>
                                <p:cTn id="49" presetID="10" presetClass="entr" presetSubtype="0" fill="hold" nodeType="clickEffect">
                                  <p:stCondLst>
                                    <p:cond delay="0"/>
                                  </p:stCondLst>
                                  <p:childTnLst>
                                    <p:set>
                                      <p:cBhvr>
                                        <p:cTn id="47" dur="1" fill="hold">
                                          <p:stCondLst>
                                            <p:cond delay="0"/>
                                          </p:stCondLst>
                                        </p:cTn>
                                        <p:tgtEl>
                                          <p:spTgt spid="21"/>
                                        </p:tgtEl>
                                        <p:attrNameLst>
                                          <p:attrName>style.visibility</p:attrName>
                                        </p:attrNameLst>
                                      </p:cBhvr>
                                      <p:to>
                                        <p:strVal val="visible"/>
                                      </p:to>
                                    </p:set>
                                    <p:animEffect transition="in" filter="fade">
                                      <p:cBhvr>
                                        <p:cTn id="48" dur="400"/>
                                        <p:tgtEl>
                                          <p:spTgt spid="21"/>
                                        </p:tgtEl>
                                      </p:cBhvr>
                                    </p:animEffect>
                                  </p:childTnLst>
                                </p:cTn>
                              </p:par>
                              <p:par>
                                <p:cTn id="52" presetID="10" presetClass="entr" presetSubtype="0" fill="hold" nodeType="with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fade">
                                      <p:cBhvr>
                                        <p:cTn id="51" dur="400"/>
                                        <p:tgtEl>
                                          <p:spTgt spid="22"/>
                                        </p:tgtEl>
                                      </p:cBhvr>
                                    </p:animEffect>
                                  </p:childTnLst>
                                </p:cTn>
                              </p:par>
                              <p:par>
                                <p:cTn id="55" presetID="10" presetClass="entr" presetSubtype="0" fill="hold" nodeType="withEffect">
                                  <p:stCondLst>
                                    <p:cond delay="0"/>
                                  </p:stCondLst>
                                  <p:childTnLst>
                                    <p:set>
                                      <p:cBhvr>
                                        <p:cTn id="53" dur="1" fill="hold">
                                          <p:stCondLst>
                                            <p:cond delay="0"/>
                                          </p:stCondLst>
                                        </p:cTn>
                                        <p:tgtEl>
                                          <p:spTgt spid="23"/>
                                        </p:tgtEl>
                                        <p:attrNameLst>
                                          <p:attrName>style.visibility</p:attrName>
                                        </p:attrNameLst>
                                      </p:cBhvr>
                                      <p:to>
                                        <p:strVal val="visible"/>
                                      </p:to>
                                    </p:set>
                                    <p:animEffect transition="in" filter="fade">
                                      <p:cBhvr>
                                        <p:cTn id="5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1-Minute Challenge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7 · Lesson 34 How unconscious bias affects hiring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58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Oval 7"/>
          <p:cNvSpPr/>
          <p:nvPr/>
        </p:nvSpPr>
        <p:spPr>
          <a:xfrm>
            <a:off x="9814255" y="1463040"/>
            <a:ext cx="1737360" cy="173736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FFFFFF"/>
                </a:solidFill>
                <a:latin typeface="Arial"/>
                <a:ea typeface="Microsoft YaHei"/>
              </a:rPr>
              <a:t>⏱</a:t>
            </a:r>
          </a:p>
          <a:p>
            <a:pPr algn="ctr">
              <a:spcAft>
                <a:spcPts val="200"/>
              </a:spcAft>
            </a:pPr>
            <a:r>
              <a:rPr sz="2600" b="1">
                <a:solidFill>
                  <a:srgbClr val="FFFFFF"/>
                </a:solidFill>
                <a:latin typeface="Arial"/>
                <a:ea typeface="Microsoft YaHei"/>
              </a:rPr>
              <a:t>60s</a:t>
            </a:r>
          </a:p>
        </p:txBody>
      </p:sp>
      <p:sp>
        <p:nvSpPr>
          <p:cNvPr id="9" name="TextBox 8"/>
          <p:cNvSpPr txBox="1"/>
          <p:nvPr/>
        </p:nvSpPr>
        <p:spPr>
          <a:xfrm>
            <a:off x="548640" y="1417320"/>
            <a:ext cx="8778240" cy="1280160"/>
          </a:xfrm>
          <a:prstGeom prst="rect">
            <a:avLst/>
          </a:prstGeom>
          <a:noFill/>
        </p:spPr>
        <p:txBody>
          <a:bodyPr wrap="square" anchor="t">
            <a:spAutoFit/>
          </a:bodyPr>
          <a:lstStyle/>
          <a:p>
            <a:pPr algn="l">
              <a:lnSpc>
                <a:spcPct val="115000"/>
              </a:lnSpc>
              <a:spcAft>
                <a:spcPts val="200"/>
              </a:spcAft>
            </a:pPr>
            <a:r>
              <a:rPr sz="1400" b="0">
                <a:solidFill>
                  <a:srgbClr val="5F677A"/>
                </a:solidFill>
                <a:latin typeface="Arial"/>
                <a:ea typeface="Microsoft YaHei"/>
              </a:rPr>
              <a:t>TOPIC</a:t>
            </a:r>
          </a:p>
          <a:p>
            <a:pPr algn="l">
              <a:lnSpc>
                <a:spcPct val="115000"/>
              </a:lnSpc>
              <a:spcAft>
                <a:spcPts val="800"/>
              </a:spcAft>
            </a:pPr>
            <a:r>
              <a:rPr sz="3000" b="1">
                <a:solidFill>
                  <a:srgbClr val="1F2A44"/>
                </a:solidFill>
                <a:latin typeface="Arial"/>
                <a:ea typeface="Microsoft YaHei"/>
              </a:rPr>
              <a:t>Explain what unconscious bias is and give one way to reduce it in hiring.</a:t>
            </a:r>
          </a:p>
        </p:txBody>
      </p:sp>
      <p:sp>
        <p:nvSpPr>
          <p:cNvPr id="10" name="Rounded Rectangle 9"/>
          <p:cNvSpPr/>
          <p:nvPr/>
        </p:nvSpPr>
        <p:spPr>
          <a:xfrm>
            <a:off x="548640" y="3017520"/>
            <a:ext cx="2411730" cy="86868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 define bias</a:t>
            </a:r>
          </a:p>
        </p:txBody>
      </p:sp>
      <p:sp>
        <p:nvSpPr>
          <p:cNvPr id="11" name="Rounded Rectangle 10"/>
          <p:cNvSpPr/>
          <p:nvPr/>
        </p:nvSpPr>
        <p:spPr>
          <a:xfrm>
            <a:off x="3097530" y="3017520"/>
            <a:ext cx="2411730" cy="86868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 give an example</a:t>
            </a:r>
          </a:p>
        </p:txBody>
      </p:sp>
      <p:sp>
        <p:nvSpPr>
          <p:cNvPr id="12" name="Rounded Rectangle 11"/>
          <p:cNvSpPr/>
          <p:nvPr/>
        </p:nvSpPr>
        <p:spPr>
          <a:xfrm>
            <a:off x="5646420" y="3017520"/>
            <a:ext cx="2411730" cy="86868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 explain the effect</a:t>
            </a:r>
          </a:p>
        </p:txBody>
      </p:sp>
      <p:sp>
        <p:nvSpPr>
          <p:cNvPr id="13" name="Rounded Rectangle 12"/>
          <p:cNvSpPr/>
          <p:nvPr/>
        </p:nvSpPr>
        <p:spPr>
          <a:xfrm>
            <a:off x="8195310" y="3017520"/>
            <a:ext cx="2411730" cy="86868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 suggest a solution</a:t>
            </a:r>
          </a:p>
        </p:txBody>
      </p:sp>
      <p:sp>
        <p:nvSpPr>
          <p:cNvPr id="14" name="TextBox 13"/>
          <p:cNvSpPr txBox="1"/>
          <p:nvPr/>
        </p:nvSpPr>
        <p:spPr>
          <a:xfrm>
            <a:off x="548640" y="4069080"/>
            <a:ext cx="11094415" cy="365760"/>
          </a:xfrm>
          <a:prstGeom prst="rect">
            <a:avLst/>
          </a:prstGeom>
          <a:noFill/>
        </p:spPr>
        <p:txBody>
          <a:bodyPr wrap="square" anchor="t">
            <a:spAutoFit/>
          </a:bodyPr>
          <a:lstStyle/>
          <a:p>
            <a:pPr algn="l">
              <a:lnSpc>
                <a:spcPct val="115000"/>
              </a:lnSpc>
              <a:spcAft>
                <a:spcPts val="800"/>
              </a:spcAft>
            </a:pPr>
            <a:r>
              <a:rPr sz="1400" b="0">
                <a:solidFill>
                  <a:srgbClr val="5F677A"/>
                </a:solidFill>
                <a:latin typeface="Arial"/>
                <a:ea typeface="Microsoft YaHei"/>
              </a:rPr>
              <a:t>Useful starters 开头句</a:t>
            </a:r>
          </a:p>
        </p:txBody>
      </p:sp>
      <p:sp>
        <p:nvSpPr>
          <p:cNvPr id="15" name="TextBox 14"/>
          <p:cNvSpPr txBox="1"/>
          <p:nvPr/>
        </p:nvSpPr>
        <p:spPr>
          <a:xfrm>
            <a:off x="548640" y="4389120"/>
            <a:ext cx="11094415" cy="100584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 Unconscious bias is…   💬 For example, …   💬 This can lead to…   💬 One way to reduce it is to…</a:t>
            </a:r>
          </a:p>
        </p:txBody>
      </p:sp>
      <p:sp>
        <p:nvSpPr>
          <p:cNvPr id="16" name="Rounded Rectangle 15"/>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“reduce” 后接名词;“One way to + 动词原形” 提方案。</a:t>
            </a:r>
          </a:p>
        </p:txBody>
      </p:sp>
    </p:spTree>
  </p:cSld>
  <p:clrMapOvr>
    <a:masterClrMapping/>
  </p:clrMapOvr>
  <p:transition spd="med">
    <p:fade/>
  </p:transition>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Reading · The shortlist problem</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128 words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7 · Lesson 34 How unconscious bias affects hiring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59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280160"/>
            <a:ext cx="11094415" cy="489204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280160"/>
            <a:ext cx="109728" cy="4892040"/>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1463040"/>
            <a:ext cx="10545775" cy="4526280"/>
          </a:xfrm>
          <a:prstGeom prst="rect">
            <a:avLst/>
          </a:prstGeom>
          <a:noFill/>
        </p:spPr>
        <p:txBody>
          <a:bodyPr wrap="square" anchor="t">
            <a:spAutoFit/>
          </a:bodyPr>
          <a:lstStyle/>
          <a:p>
            <a:pPr algn="l">
              <a:lnSpc>
                <a:spcPct val="130000"/>
              </a:lnSpc>
              <a:spcAft>
                <a:spcPts val="800"/>
              </a:spcAft>
            </a:pPr>
            <a:r>
              <a:rPr sz="2200" b="0">
                <a:solidFill>
                  <a:srgbClr val="1F2A44"/>
                </a:solidFill>
                <a:latin typeface="Arial"/>
                <a:ea typeface="Microsoft YaHei"/>
              </a:rPr>
              <a:t>Unconscious bias means automatic preferences that affect decisions without our noticing. In hiring, it can appear in small ways. A recruiter may favour someone from the same university, or think a candidate “feels right” because they share hobbies. Others may judge a name, an accent or a gap on a CV before they read the qualifications. Individually these reactions seem small, but together they can shape who gets an interview. Many companies try to reduce the problem. They use structured interviews, where every candidate answers the same questions, and score answers against clear criteria. Some remove names and photos from CVs in the first round. None of this is perfect, but it makes decisions more consistent and easier to explain. Awareness is the first step, not the last.</a:t>
            </a:r>
          </a:p>
        </p:txBody>
      </p:sp>
    </p:spTree>
  </p:cSld>
  <p:clrMapOvr>
    <a:masterClrMapping/>
  </p:clrMapOvr>
  <p:transition spd="med">
    <p:fade/>
  </p:transition>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Check Your Understanding</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Reading</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7 · Lesson 34 How unconscious bias affects hiring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60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Discuss with your team, then answer. Click to check.  小组讨论后抢答，点击核对答案</a:t>
            </a:r>
          </a:p>
        </p:txBody>
      </p:sp>
      <p:sp>
        <p:nvSpPr>
          <p:cNvPr id="9" name="TextBox 8"/>
          <p:cNvSpPr txBox="1"/>
          <p:nvPr/>
        </p:nvSpPr>
        <p:spPr>
          <a:xfrm>
            <a:off x="548640" y="150876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Q1. What is unconscious bias?</a:t>
            </a:r>
          </a:p>
        </p:txBody>
      </p:sp>
      <p:sp>
        <p:nvSpPr>
          <p:cNvPr id="10" name="Rounded Rectangle 9"/>
          <p:cNvSpPr/>
          <p:nvPr/>
        </p:nvSpPr>
        <p:spPr>
          <a:xfrm>
            <a:off x="822960" y="198424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Automatic preferences that affect decisions without us noticing.</a:t>
            </a:r>
          </a:p>
        </p:txBody>
      </p:sp>
      <p:sp>
        <p:nvSpPr>
          <p:cNvPr id="11" name="TextBox 10"/>
          <p:cNvSpPr txBox="1"/>
          <p:nvPr/>
        </p:nvSpPr>
        <p:spPr>
          <a:xfrm>
            <a:off x="548640" y="309372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Q2. Give two examples of bias mentioned.</a:t>
            </a:r>
          </a:p>
        </p:txBody>
      </p:sp>
      <p:sp>
        <p:nvSpPr>
          <p:cNvPr id="12" name="Rounded Rectangle 11"/>
          <p:cNvSpPr/>
          <p:nvPr/>
        </p:nvSpPr>
        <p:spPr>
          <a:xfrm>
            <a:off x="822960" y="356920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Favouring the same university; judging names, accents or CV gaps.</a:t>
            </a:r>
          </a:p>
        </p:txBody>
      </p:sp>
      <p:sp>
        <p:nvSpPr>
          <p:cNvPr id="13" name="TextBox 12"/>
          <p:cNvSpPr txBox="1"/>
          <p:nvPr/>
        </p:nvSpPr>
        <p:spPr>
          <a:xfrm>
            <a:off x="548640" y="467868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Q3. What do structured interviews do?</a:t>
            </a:r>
          </a:p>
        </p:txBody>
      </p:sp>
      <p:sp>
        <p:nvSpPr>
          <p:cNvPr id="14" name="Rounded Rectangle 13"/>
          <p:cNvSpPr/>
          <p:nvPr/>
        </p:nvSpPr>
        <p:spPr>
          <a:xfrm>
            <a:off x="822960" y="515416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Every candidate answers the same questions and is scored against clear criteria.</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1: Bias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7 · Lesson 34 How unconscious bias affects hiring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61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偏见</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unconscious bias</a:t>
            </a:r>
          </a:p>
          <a:p>
            <a:pPr algn="l">
              <a:lnSpc>
                <a:spcPct val="115000"/>
              </a:lnSpc>
              <a:spcAft>
                <a:spcPts val="800"/>
              </a:spcAft>
            </a:pPr>
            <a:r>
              <a:rPr sz="1300" b="0">
                <a:solidFill>
                  <a:srgbClr val="5F677A"/>
                </a:solidFill>
                <a:latin typeface="Arial"/>
                <a:ea typeface="Microsoft YaHei"/>
              </a:rPr>
              <a:t>noun</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无意识偏见</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“Unconscious bias can affect interviews.”</a:t>
            </a:r>
          </a:p>
        </p:txBody>
      </p:sp>
      <p:sp>
        <p:nvSpPr>
          <p:cNvPr id="14" name="Rounded Rectangle 13"/>
          <p:cNvSpPr/>
          <p:nvPr/>
        </p:nvSpPr>
        <p:spPr>
          <a:xfrm>
            <a:off x="548640" y="21209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6304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first impression</a:t>
            </a:r>
          </a:p>
          <a:p>
            <a:pPr algn="l">
              <a:lnSpc>
                <a:spcPct val="115000"/>
              </a:lnSpc>
              <a:spcAft>
                <a:spcPts val="800"/>
              </a:spcAft>
            </a:pPr>
            <a:r>
              <a:rPr sz="1300" b="0">
                <a:solidFill>
                  <a:srgbClr val="5F677A"/>
                </a:solidFill>
                <a:latin typeface="Arial"/>
                <a:ea typeface="Microsoft YaHei"/>
              </a:rPr>
              <a:t>noun</a:t>
            </a:r>
          </a:p>
        </p:txBody>
      </p:sp>
      <p:sp>
        <p:nvSpPr>
          <p:cNvPr id="17" name="TextBox 16"/>
          <p:cNvSpPr txBox="1"/>
          <p:nvPr/>
        </p:nvSpPr>
        <p:spPr>
          <a:xfrm>
            <a:off x="4206240" y="21666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第一印象</a:t>
            </a:r>
          </a:p>
        </p:txBody>
      </p:sp>
      <p:sp>
        <p:nvSpPr>
          <p:cNvPr id="18" name="TextBox 17"/>
          <p:cNvSpPr txBox="1"/>
          <p:nvPr/>
        </p:nvSpPr>
        <p:spPr>
          <a:xfrm>
            <a:off x="6675120" y="21666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“First impressions often last.”</a:t>
            </a:r>
          </a:p>
        </p:txBody>
      </p:sp>
      <p:sp>
        <p:nvSpPr>
          <p:cNvPr id="19" name="Rounded Rectangle 18"/>
          <p:cNvSpPr/>
          <p:nvPr/>
        </p:nvSpPr>
        <p:spPr>
          <a:xfrm>
            <a:off x="548640" y="28244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2824480"/>
            <a:ext cx="91440" cy="6304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287020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stereotype</a:t>
            </a:r>
          </a:p>
          <a:p>
            <a:pPr algn="l">
              <a:lnSpc>
                <a:spcPct val="115000"/>
              </a:lnSpc>
              <a:spcAft>
                <a:spcPts val="800"/>
              </a:spcAft>
            </a:pPr>
            <a:r>
              <a:rPr sz="1300" b="0">
                <a:solidFill>
                  <a:srgbClr val="5F677A"/>
                </a:solidFill>
                <a:latin typeface="Arial"/>
                <a:ea typeface="Microsoft YaHei"/>
              </a:rPr>
              <a:t>noun/verb</a:t>
            </a:r>
          </a:p>
        </p:txBody>
      </p:sp>
      <p:sp>
        <p:nvSpPr>
          <p:cNvPr id="22" name="TextBox 21"/>
          <p:cNvSpPr txBox="1"/>
          <p:nvPr/>
        </p:nvSpPr>
        <p:spPr>
          <a:xfrm>
            <a:off x="4206240" y="28702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刻板印象</a:t>
            </a:r>
          </a:p>
        </p:txBody>
      </p:sp>
      <p:sp>
        <p:nvSpPr>
          <p:cNvPr id="23" name="TextBox 22"/>
          <p:cNvSpPr txBox="1"/>
          <p:nvPr/>
        </p:nvSpPr>
        <p:spPr>
          <a:xfrm>
            <a:off x="6675120" y="28702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“Don’t stereotype candidates.”</a:t>
            </a:r>
          </a:p>
        </p:txBody>
      </p:sp>
      <p:sp>
        <p:nvSpPr>
          <p:cNvPr id="24" name="Rounded Rectangle 23"/>
          <p:cNvSpPr/>
          <p:nvPr/>
        </p:nvSpPr>
        <p:spPr>
          <a:xfrm>
            <a:off x="548640" y="352806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52806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57378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gut reaction</a:t>
            </a:r>
          </a:p>
          <a:p>
            <a:pPr algn="l">
              <a:lnSpc>
                <a:spcPct val="115000"/>
              </a:lnSpc>
              <a:spcAft>
                <a:spcPts val="800"/>
              </a:spcAft>
            </a:pPr>
            <a:r>
              <a:rPr sz="1300" b="0">
                <a:solidFill>
                  <a:srgbClr val="5F677A"/>
                </a:solidFill>
                <a:latin typeface="Arial"/>
                <a:ea typeface="Microsoft YaHei"/>
              </a:rPr>
              <a:t>noun</a:t>
            </a:r>
          </a:p>
        </p:txBody>
      </p:sp>
      <p:sp>
        <p:nvSpPr>
          <p:cNvPr id="27" name="TextBox 26"/>
          <p:cNvSpPr txBox="1"/>
          <p:nvPr/>
        </p:nvSpPr>
        <p:spPr>
          <a:xfrm>
            <a:off x="4206240" y="357378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直觉反应</a:t>
            </a:r>
          </a:p>
        </p:txBody>
      </p:sp>
      <p:sp>
        <p:nvSpPr>
          <p:cNvPr id="28" name="TextBox 27"/>
          <p:cNvSpPr txBox="1"/>
          <p:nvPr/>
        </p:nvSpPr>
        <p:spPr>
          <a:xfrm>
            <a:off x="6675120" y="357378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“He had a gut reaction to her accent.”</a:t>
            </a:r>
          </a:p>
        </p:txBody>
      </p:sp>
      <p:sp>
        <p:nvSpPr>
          <p:cNvPr id="29" name="Rounded Rectangle 28"/>
          <p:cNvSpPr/>
          <p:nvPr/>
        </p:nvSpPr>
        <p:spPr>
          <a:xfrm>
            <a:off x="548640" y="423164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23164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27736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affinity bias</a:t>
            </a:r>
          </a:p>
          <a:p>
            <a:pPr algn="l">
              <a:lnSpc>
                <a:spcPct val="115000"/>
              </a:lnSpc>
              <a:spcAft>
                <a:spcPts val="800"/>
              </a:spcAft>
            </a:pPr>
            <a:r>
              <a:rPr sz="1300" b="0">
                <a:solidFill>
                  <a:srgbClr val="5F677A"/>
                </a:solidFill>
                <a:latin typeface="Arial"/>
                <a:ea typeface="Microsoft YaHei"/>
              </a:rPr>
              <a:t>noun</a:t>
            </a:r>
          </a:p>
        </p:txBody>
      </p:sp>
      <p:sp>
        <p:nvSpPr>
          <p:cNvPr id="32" name="TextBox 31"/>
          <p:cNvSpPr txBox="1"/>
          <p:nvPr/>
        </p:nvSpPr>
        <p:spPr>
          <a:xfrm>
            <a:off x="4206240" y="427736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亲和偏见(偏爱相似者)</a:t>
            </a:r>
          </a:p>
        </p:txBody>
      </p:sp>
      <p:sp>
        <p:nvSpPr>
          <p:cNvPr id="33" name="TextBox 32"/>
          <p:cNvSpPr txBox="1"/>
          <p:nvPr/>
        </p:nvSpPr>
        <p:spPr>
          <a:xfrm>
            <a:off x="6675120" y="427736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“Affinity bias favours people like us.”</a:t>
            </a:r>
          </a:p>
        </p:txBody>
      </p:sp>
    </p:spTree>
  </p:cSld>
  <p:clrMapOvr>
    <a:masterClrMapping/>
  </p:clrMapOvr>
  <p:transition spd="med">
    <p:fade/>
  </p:transition>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2: Fair hiring</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7 · Lesson 34 How unconscious bias affects hiring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62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公平招聘</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structured interview</a:t>
            </a:r>
          </a:p>
          <a:p>
            <a:pPr algn="l">
              <a:lnSpc>
                <a:spcPct val="115000"/>
              </a:lnSpc>
              <a:spcAft>
                <a:spcPts val="800"/>
              </a:spcAft>
            </a:pPr>
            <a:r>
              <a:rPr sz="1300" b="0">
                <a:solidFill>
                  <a:srgbClr val="5F677A"/>
                </a:solidFill>
                <a:latin typeface="Arial"/>
                <a:ea typeface="Microsoft YaHei"/>
              </a:rPr>
              <a:t>noun</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结构化面试</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“We use structured interviews.”</a:t>
            </a:r>
          </a:p>
        </p:txBody>
      </p:sp>
      <p:sp>
        <p:nvSpPr>
          <p:cNvPr id="14" name="Rounded Rectangle 13"/>
          <p:cNvSpPr/>
          <p:nvPr/>
        </p:nvSpPr>
        <p:spPr>
          <a:xfrm>
            <a:off x="548640" y="21209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6304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diverse / diversity</a:t>
            </a:r>
          </a:p>
          <a:p>
            <a:pPr algn="l">
              <a:lnSpc>
                <a:spcPct val="115000"/>
              </a:lnSpc>
              <a:spcAft>
                <a:spcPts val="800"/>
              </a:spcAft>
            </a:pPr>
            <a:r>
              <a:rPr sz="1300" b="0">
                <a:solidFill>
                  <a:srgbClr val="5F677A"/>
                </a:solidFill>
                <a:latin typeface="Arial"/>
                <a:ea typeface="Microsoft YaHei"/>
              </a:rPr>
              <a:t>adjective/noun</a:t>
            </a:r>
          </a:p>
        </p:txBody>
      </p:sp>
      <p:sp>
        <p:nvSpPr>
          <p:cNvPr id="17" name="TextBox 16"/>
          <p:cNvSpPr txBox="1"/>
          <p:nvPr/>
        </p:nvSpPr>
        <p:spPr>
          <a:xfrm>
            <a:off x="4206240" y="21666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多元的</a:t>
            </a:r>
          </a:p>
        </p:txBody>
      </p:sp>
      <p:sp>
        <p:nvSpPr>
          <p:cNvPr id="18" name="TextBox 17"/>
          <p:cNvSpPr txBox="1"/>
          <p:nvPr/>
        </p:nvSpPr>
        <p:spPr>
          <a:xfrm>
            <a:off x="6675120" y="21666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“We want a diverse team.”</a:t>
            </a:r>
          </a:p>
        </p:txBody>
      </p:sp>
      <p:sp>
        <p:nvSpPr>
          <p:cNvPr id="19" name="Rounded Rectangle 18"/>
          <p:cNvSpPr/>
          <p:nvPr/>
        </p:nvSpPr>
        <p:spPr>
          <a:xfrm>
            <a:off x="548640" y="28244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2824480"/>
            <a:ext cx="91440" cy="6304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287020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level playing field</a:t>
            </a:r>
          </a:p>
          <a:p>
            <a:pPr algn="l">
              <a:lnSpc>
                <a:spcPct val="115000"/>
              </a:lnSpc>
              <a:spcAft>
                <a:spcPts val="800"/>
              </a:spcAft>
            </a:pPr>
            <a:r>
              <a:rPr sz="1300" b="0">
                <a:solidFill>
                  <a:srgbClr val="5F677A"/>
                </a:solidFill>
                <a:latin typeface="Arial"/>
                <a:ea typeface="Microsoft YaHei"/>
              </a:rPr>
              <a:t>idiom</a:t>
            </a:r>
          </a:p>
        </p:txBody>
      </p:sp>
      <p:sp>
        <p:nvSpPr>
          <p:cNvPr id="22" name="TextBox 21"/>
          <p:cNvSpPr txBox="1"/>
          <p:nvPr/>
        </p:nvSpPr>
        <p:spPr>
          <a:xfrm>
            <a:off x="4206240" y="28702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公平竞争环境</a:t>
            </a:r>
          </a:p>
        </p:txBody>
      </p:sp>
      <p:sp>
        <p:nvSpPr>
          <p:cNvPr id="23" name="TextBox 22"/>
          <p:cNvSpPr txBox="1"/>
          <p:nvPr/>
        </p:nvSpPr>
        <p:spPr>
          <a:xfrm>
            <a:off x="6675120" y="28702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“We need a level playing field.”</a:t>
            </a:r>
          </a:p>
        </p:txBody>
      </p:sp>
      <p:sp>
        <p:nvSpPr>
          <p:cNvPr id="24" name="Rounded Rectangle 23"/>
          <p:cNvSpPr/>
          <p:nvPr/>
        </p:nvSpPr>
        <p:spPr>
          <a:xfrm>
            <a:off x="548640" y="352806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52806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57378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blind recruitment</a:t>
            </a:r>
          </a:p>
          <a:p>
            <a:pPr algn="l">
              <a:lnSpc>
                <a:spcPct val="115000"/>
              </a:lnSpc>
              <a:spcAft>
                <a:spcPts val="800"/>
              </a:spcAft>
            </a:pPr>
            <a:r>
              <a:rPr sz="1300" b="0">
                <a:solidFill>
                  <a:srgbClr val="5F677A"/>
                </a:solidFill>
                <a:latin typeface="Arial"/>
                <a:ea typeface="Microsoft YaHei"/>
              </a:rPr>
              <a:t>noun</a:t>
            </a:r>
          </a:p>
        </p:txBody>
      </p:sp>
      <p:sp>
        <p:nvSpPr>
          <p:cNvPr id="27" name="TextBox 26"/>
          <p:cNvSpPr txBox="1"/>
          <p:nvPr/>
        </p:nvSpPr>
        <p:spPr>
          <a:xfrm>
            <a:off x="4206240" y="357378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匿名招聘</a:t>
            </a:r>
          </a:p>
        </p:txBody>
      </p:sp>
      <p:sp>
        <p:nvSpPr>
          <p:cNvPr id="28" name="TextBox 27"/>
          <p:cNvSpPr txBox="1"/>
          <p:nvPr/>
        </p:nvSpPr>
        <p:spPr>
          <a:xfrm>
            <a:off x="6675120" y="357378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“Blind recruitment hides names.”</a:t>
            </a:r>
          </a:p>
        </p:txBody>
      </p:sp>
      <p:sp>
        <p:nvSpPr>
          <p:cNvPr id="29" name="Rounded Rectangle 28"/>
          <p:cNvSpPr/>
          <p:nvPr/>
        </p:nvSpPr>
        <p:spPr>
          <a:xfrm>
            <a:off x="548640" y="423164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23164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27736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screen out</a:t>
            </a:r>
          </a:p>
          <a:p>
            <a:pPr algn="l">
              <a:lnSpc>
                <a:spcPct val="115000"/>
              </a:lnSpc>
              <a:spcAft>
                <a:spcPts val="800"/>
              </a:spcAft>
            </a:pPr>
            <a:r>
              <a:rPr sz="1300" b="0">
                <a:solidFill>
                  <a:srgbClr val="5F677A"/>
                </a:solidFill>
                <a:latin typeface="Arial"/>
                <a:ea typeface="Microsoft YaHei"/>
              </a:rPr>
              <a:t>phrasal verb</a:t>
            </a:r>
          </a:p>
        </p:txBody>
      </p:sp>
      <p:sp>
        <p:nvSpPr>
          <p:cNvPr id="32" name="TextBox 31"/>
          <p:cNvSpPr txBox="1"/>
          <p:nvPr/>
        </p:nvSpPr>
        <p:spPr>
          <a:xfrm>
            <a:off x="4206240" y="427736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筛除</a:t>
            </a:r>
          </a:p>
        </p:txBody>
      </p:sp>
      <p:sp>
        <p:nvSpPr>
          <p:cNvPr id="33" name="TextBox 32"/>
          <p:cNvSpPr txBox="1"/>
          <p:nvPr/>
        </p:nvSpPr>
        <p:spPr>
          <a:xfrm>
            <a:off x="6675120" y="427736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“Don’t screen out people unfairly.”</a:t>
            </a:r>
          </a:p>
        </p:txBody>
      </p:sp>
    </p:spTree>
  </p:cSld>
  <p:clrMapOvr>
    <a:masterClrMapping/>
  </p:clrMapOvr>
  <p:transition spd="med">
    <p:fade/>
  </p:transition>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3: Describing effects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7 · Lesson 34 How unconscious bias affects hiring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63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描述影响</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affect / influence</a:t>
            </a:r>
          </a:p>
          <a:p>
            <a:pPr algn="l">
              <a:lnSpc>
                <a:spcPct val="115000"/>
              </a:lnSpc>
              <a:spcAft>
                <a:spcPts val="800"/>
              </a:spcAft>
            </a:pPr>
            <a:r>
              <a:rPr sz="1300" b="0">
                <a:solidFill>
                  <a:srgbClr val="5F677A"/>
                </a:solidFill>
                <a:latin typeface="Arial"/>
                <a:ea typeface="Microsoft YaHei"/>
              </a:rPr>
              <a:t>verb</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影响</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“Bias can influence decisions.”</a:t>
            </a:r>
          </a:p>
        </p:txBody>
      </p:sp>
      <p:sp>
        <p:nvSpPr>
          <p:cNvPr id="14" name="Rounded Rectangle 13"/>
          <p:cNvSpPr/>
          <p:nvPr/>
        </p:nvSpPr>
        <p:spPr>
          <a:xfrm>
            <a:off x="548640" y="21209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6304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lead to</a:t>
            </a:r>
          </a:p>
          <a:p>
            <a:pPr algn="l">
              <a:lnSpc>
                <a:spcPct val="115000"/>
              </a:lnSpc>
              <a:spcAft>
                <a:spcPts val="800"/>
              </a:spcAft>
            </a:pPr>
            <a:r>
              <a:rPr sz="1300" b="0">
                <a:solidFill>
                  <a:srgbClr val="5F677A"/>
                </a:solidFill>
                <a:latin typeface="Arial"/>
                <a:ea typeface="Microsoft YaHei"/>
              </a:rPr>
              <a:t>verb phrase</a:t>
            </a:r>
          </a:p>
        </p:txBody>
      </p:sp>
      <p:sp>
        <p:nvSpPr>
          <p:cNvPr id="17" name="TextBox 16"/>
          <p:cNvSpPr txBox="1"/>
          <p:nvPr/>
        </p:nvSpPr>
        <p:spPr>
          <a:xfrm>
            <a:off x="4206240" y="21666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导致</a:t>
            </a:r>
          </a:p>
        </p:txBody>
      </p:sp>
      <p:sp>
        <p:nvSpPr>
          <p:cNvPr id="18" name="TextBox 17"/>
          <p:cNvSpPr txBox="1"/>
          <p:nvPr/>
        </p:nvSpPr>
        <p:spPr>
          <a:xfrm>
            <a:off x="6675120" y="21666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“It can lead to unfair outcomes.”</a:t>
            </a:r>
          </a:p>
        </p:txBody>
      </p:sp>
      <p:sp>
        <p:nvSpPr>
          <p:cNvPr id="19" name="Rounded Rectangle 18"/>
          <p:cNvSpPr/>
          <p:nvPr/>
        </p:nvSpPr>
        <p:spPr>
          <a:xfrm>
            <a:off x="548640" y="28244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282448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287020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perpetuate</a:t>
            </a:r>
          </a:p>
          <a:p>
            <a:pPr algn="l">
              <a:lnSpc>
                <a:spcPct val="115000"/>
              </a:lnSpc>
              <a:spcAft>
                <a:spcPts val="800"/>
              </a:spcAft>
            </a:pPr>
            <a:r>
              <a:rPr sz="1300" b="0">
                <a:solidFill>
                  <a:srgbClr val="5F677A"/>
                </a:solidFill>
                <a:latin typeface="Arial"/>
                <a:ea typeface="Microsoft YaHei"/>
              </a:rPr>
              <a:t>verb</a:t>
            </a:r>
          </a:p>
        </p:txBody>
      </p:sp>
      <p:sp>
        <p:nvSpPr>
          <p:cNvPr id="22" name="TextBox 21"/>
          <p:cNvSpPr txBox="1"/>
          <p:nvPr/>
        </p:nvSpPr>
        <p:spPr>
          <a:xfrm>
            <a:off x="4206240" y="28702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使延续</a:t>
            </a:r>
          </a:p>
        </p:txBody>
      </p:sp>
      <p:sp>
        <p:nvSpPr>
          <p:cNvPr id="23" name="TextBox 22"/>
          <p:cNvSpPr txBox="1"/>
          <p:nvPr/>
        </p:nvSpPr>
        <p:spPr>
          <a:xfrm>
            <a:off x="6675120" y="28702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“This perpetuates inequality.”</a:t>
            </a:r>
          </a:p>
        </p:txBody>
      </p:sp>
      <p:sp>
        <p:nvSpPr>
          <p:cNvPr id="24" name="Rounded Rectangle 23"/>
          <p:cNvSpPr/>
          <p:nvPr/>
        </p:nvSpPr>
        <p:spPr>
          <a:xfrm>
            <a:off x="548640" y="352806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52806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57378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be aware of</a:t>
            </a:r>
          </a:p>
          <a:p>
            <a:pPr algn="l">
              <a:lnSpc>
                <a:spcPct val="115000"/>
              </a:lnSpc>
              <a:spcAft>
                <a:spcPts val="800"/>
              </a:spcAft>
            </a:pPr>
            <a:r>
              <a:rPr sz="1300" b="0">
                <a:solidFill>
                  <a:srgbClr val="5F677A"/>
                </a:solidFill>
                <a:latin typeface="Arial"/>
                <a:ea typeface="Microsoft YaHei"/>
              </a:rPr>
              <a:t>phrase</a:t>
            </a:r>
          </a:p>
        </p:txBody>
      </p:sp>
      <p:sp>
        <p:nvSpPr>
          <p:cNvPr id="27" name="TextBox 26"/>
          <p:cNvSpPr txBox="1"/>
          <p:nvPr/>
        </p:nvSpPr>
        <p:spPr>
          <a:xfrm>
            <a:off x="4206240" y="357378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意识到</a:t>
            </a:r>
          </a:p>
        </p:txBody>
      </p:sp>
      <p:sp>
        <p:nvSpPr>
          <p:cNvPr id="28" name="TextBox 27"/>
          <p:cNvSpPr txBox="1"/>
          <p:nvPr/>
        </p:nvSpPr>
        <p:spPr>
          <a:xfrm>
            <a:off x="6675120" y="357378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“We should be aware of our biases.”</a:t>
            </a:r>
          </a:p>
        </p:txBody>
      </p:sp>
      <p:sp>
        <p:nvSpPr>
          <p:cNvPr id="29" name="Rounded Rectangle 28"/>
          <p:cNvSpPr/>
          <p:nvPr/>
        </p:nvSpPr>
        <p:spPr>
          <a:xfrm>
            <a:off x="548640" y="423164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23164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27736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challenge assumptions</a:t>
            </a:r>
          </a:p>
          <a:p>
            <a:pPr algn="l">
              <a:lnSpc>
                <a:spcPct val="115000"/>
              </a:lnSpc>
              <a:spcAft>
                <a:spcPts val="800"/>
              </a:spcAft>
            </a:pPr>
            <a:r>
              <a:rPr sz="1300" b="0">
                <a:solidFill>
                  <a:srgbClr val="5F677A"/>
                </a:solidFill>
                <a:latin typeface="Arial"/>
                <a:ea typeface="Microsoft YaHei"/>
              </a:rPr>
              <a:t>collocation</a:t>
            </a:r>
          </a:p>
        </p:txBody>
      </p:sp>
      <p:sp>
        <p:nvSpPr>
          <p:cNvPr id="32" name="TextBox 31"/>
          <p:cNvSpPr txBox="1"/>
          <p:nvPr/>
        </p:nvSpPr>
        <p:spPr>
          <a:xfrm>
            <a:off x="4206240" y="427736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质疑假设</a:t>
            </a:r>
          </a:p>
        </p:txBody>
      </p:sp>
      <p:sp>
        <p:nvSpPr>
          <p:cNvPr id="33" name="TextBox 32"/>
          <p:cNvSpPr txBox="1"/>
          <p:nvPr/>
        </p:nvSpPr>
        <p:spPr>
          <a:xfrm>
            <a:off x="6675120" y="427736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“We need to challenge our assumptions.”</a:t>
            </a:r>
          </a:p>
        </p:txBody>
      </p:sp>
    </p:spTree>
  </p:cSld>
  <p:clrMapOvr>
    <a:masterClrMapping/>
  </p:clrMapOvr>
  <p:transition spd="med">
    <p:fade/>
  </p:transition>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Speed Round: Say it in English!</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Game</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7 · Lesson 34 How unconscious bias affects hiring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64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Read the Chinese, shout the English expression! Click to reveal.  看中文，抢答英文表达</a:t>
            </a:r>
          </a:p>
        </p:txBody>
      </p:sp>
      <p:sp>
        <p:nvSpPr>
          <p:cNvPr id="9" name="Rounded Rectangle 8"/>
          <p:cNvSpPr/>
          <p:nvPr/>
        </p:nvSpPr>
        <p:spPr>
          <a:xfrm>
            <a:off x="548640" y="155448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导致</a:t>
            </a:r>
          </a:p>
        </p:txBody>
      </p:sp>
      <p:sp>
        <p:nvSpPr>
          <p:cNvPr id="11" name="Rounded Rectangle 10"/>
          <p:cNvSpPr/>
          <p:nvPr/>
        </p:nvSpPr>
        <p:spPr>
          <a:xfrm>
            <a:off x="685800" y="265176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lead to</a:t>
            </a:r>
          </a:p>
        </p:txBody>
      </p:sp>
      <p:sp>
        <p:nvSpPr>
          <p:cNvPr id="12" name="Rounded Rectangle 11"/>
          <p:cNvSpPr/>
          <p:nvPr/>
        </p:nvSpPr>
        <p:spPr>
          <a:xfrm>
            <a:off x="3367963" y="155448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459403"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无意识偏见</a:t>
            </a:r>
          </a:p>
        </p:txBody>
      </p:sp>
      <p:sp>
        <p:nvSpPr>
          <p:cNvPr id="14" name="Rounded Rectangle 13"/>
          <p:cNvSpPr/>
          <p:nvPr/>
        </p:nvSpPr>
        <p:spPr>
          <a:xfrm>
            <a:off x="3505123" y="265176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unconscious bias</a:t>
            </a:r>
          </a:p>
        </p:txBody>
      </p:sp>
      <p:sp>
        <p:nvSpPr>
          <p:cNvPr id="15" name="Rounded Rectangle 14"/>
          <p:cNvSpPr/>
          <p:nvPr/>
        </p:nvSpPr>
        <p:spPr>
          <a:xfrm>
            <a:off x="6187286" y="155448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78726"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筛除</a:t>
            </a:r>
          </a:p>
        </p:txBody>
      </p:sp>
      <p:sp>
        <p:nvSpPr>
          <p:cNvPr id="17" name="Rounded Rectangle 16"/>
          <p:cNvSpPr/>
          <p:nvPr/>
        </p:nvSpPr>
        <p:spPr>
          <a:xfrm>
            <a:off x="6324446" y="265176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screen out</a:t>
            </a:r>
          </a:p>
        </p:txBody>
      </p:sp>
      <p:sp>
        <p:nvSpPr>
          <p:cNvPr id="18" name="Rounded Rectangle 17"/>
          <p:cNvSpPr/>
          <p:nvPr/>
        </p:nvSpPr>
        <p:spPr>
          <a:xfrm>
            <a:off x="9006609" y="1554480"/>
            <a:ext cx="2636443" cy="2148840"/>
          </a:xfrm>
          <a:prstGeom prst="roundRect">
            <a:avLst>
              <a:gd name="adj" fmla="val 10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098049"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使延续</a:t>
            </a:r>
          </a:p>
        </p:txBody>
      </p:sp>
      <p:sp>
        <p:nvSpPr>
          <p:cNvPr id="20" name="Rounded Rectangle 19"/>
          <p:cNvSpPr/>
          <p:nvPr/>
        </p:nvSpPr>
        <p:spPr>
          <a:xfrm>
            <a:off x="9143769" y="2651760"/>
            <a:ext cx="2362123" cy="9144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perpetuate</a:t>
            </a:r>
          </a:p>
        </p:txBody>
      </p:sp>
      <p:sp>
        <p:nvSpPr>
          <p:cNvPr id="21" name="Rounded Rectangle 20"/>
          <p:cNvSpPr/>
          <p:nvPr/>
        </p:nvSpPr>
        <p:spPr>
          <a:xfrm>
            <a:off x="548640" y="3886200"/>
            <a:ext cx="2636443" cy="2148840"/>
          </a:xfrm>
          <a:prstGeom prst="roundRect">
            <a:avLst>
              <a:gd name="adj" fmla="val 10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第一印象</a:t>
            </a:r>
          </a:p>
        </p:txBody>
      </p:sp>
      <p:sp>
        <p:nvSpPr>
          <p:cNvPr id="23" name="Rounded Rectangle 22"/>
          <p:cNvSpPr/>
          <p:nvPr/>
        </p:nvSpPr>
        <p:spPr>
          <a:xfrm>
            <a:off x="685800" y="4983480"/>
            <a:ext cx="2362123" cy="9144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first impression</a:t>
            </a:r>
          </a:p>
        </p:txBody>
      </p:sp>
      <p:sp>
        <p:nvSpPr>
          <p:cNvPr id="24" name="Rounded Rectangle 23"/>
          <p:cNvSpPr/>
          <p:nvPr/>
        </p:nvSpPr>
        <p:spPr>
          <a:xfrm>
            <a:off x="3367963" y="388620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459403"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匿名招聘</a:t>
            </a:r>
          </a:p>
        </p:txBody>
      </p:sp>
      <p:sp>
        <p:nvSpPr>
          <p:cNvPr id="26" name="Rounded Rectangle 25"/>
          <p:cNvSpPr/>
          <p:nvPr/>
        </p:nvSpPr>
        <p:spPr>
          <a:xfrm>
            <a:off x="3505123" y="498348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blind recruitment</a:t>
            </a:r>
          </a:p>
        </p:txBody>
      </p:sp>
      <p:sp>
        <p:nvSpPr>
          <p:cNvPr id="27" name="Rounded Rectangle 26"/>
          <p:cNvSpPr/>
          <p:nvPr/>
        </p:nvSpPr>
        <p:spPr>
          <a:xfrm>
            <a:off x="6187286" y="388620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78726"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意识到</a:t>
            </a:r>
          </a:p>
        </p:txBody>
      </p:sp>
      <p:sp>
        <p:nvSpPr>
          <p:cNvPr id="29" name="Rounded Rectangle 28"/>
          <p:cNvSpPr/>
          <p:nvPr/>
        </p:nvSpPr>
        <p:spPr>
          <a:xfrm>
            <a:off x="6324446" y="498348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be aware of</a:t>
            </a:r>
          </a:p>
        </p:txBody>
      </p:sp>
      <p:sp>
        <p:nvSpPr>
          <p:cNvPr id="30" name="Rounded Rectangle 29"/>
          <p:cNvSpPr/>
          <p:nvPr/>
        </p:nvSpPr>
        <p:spPr>
          <a:xfrm>
            <a:off x="9006609" y="388620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098049"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刻板印象</a:t>
            </a:r>
          </a:p>
        </p:txBody>
      </p:sp>
      <p:sp>
        <p:nvSpPr>
          <p:cNvPr id="32" name="Rounded Rectangle 31"/>
          <p:cNvSpPr/>
          <p:nvPr/>
        </p:nvSpPr>
        <p:spPr>
          <a:xfrm>
            <a:off x="9143769" y="498348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stereotype</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1"/>
                                        </p:tgtEl>
                                        <p:attrNameLst>
                                          <p:attrName>style.visibility</p:attrName>
                                        </p:attrNameLst>
                                      </p:cBhvr>
                                      <p:to>
                                        <p:strVal val="visible"/>
                                      </p:to>
                                    </p:set>
                                    <p:animEffect transition="in" filter="fade">
                                      <p:cBhvr>
                                        <p:cTn id="4" dur="400"/>
                                        <p:tgtEl>
                                          <p:spTgt spid="1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4"/>
                                        </p:tgtEl>
                                        <p:attrNameLst>
                                          <p:attrName>style.visibility</p:attrName>
                                        </p:attrNameLst>
                                      </p:cBhvr>
                                      <p:to>
                                        <p:strVal val="visible"/>
                                      </p:to>
                                    </p:set>
                                    <p:animEffect transition="in" filter="fade">
                                      <p:cBhvr>
                                        <p:cTn id="9" dur="400"/>
                                        <p:tgtEl>
                                          <p:spTgt spid="14"/>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7"/>
                                        </p:tgtEl>
                                        <p:attrNameLst>
                                          <p:attrName>style.visibility</p:attrName>
                                        </p:attrNameLst>
                                      </p:cBhvr>
                                      <p:to>
                                        <p:strVal val="visible"/>
                                      </p:to>
                                    </p:set>
                                    <p:animEffect transition="in" filter="fade">
                                      <p:cBhvr>
                                        <p:cTn id="14" dur="400"/>
                                        <p:tgtEl>
                                          <p:spTgt spid="17"/>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0"/>
                                        </p:tgtEl>
                                        <p:attrNameLst>
                                          <p:attrName>style.visibility</p:attrName>
                                        </p:attrNameLst>
                                      </p:cBhvr>
                                      <p:to>
                                        <p:strVal val="visible"/>
                                      </p:to>
                                    </p:set>
                                    <p:animEffect transition="in" filter="fade">
                                      <p:cBhvr>
                                        <p:cTn id="19" dur="400"/>
                                        <p:tgtEl>
                                          <p:spTgt spid="20"/>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3"/>
                                        </p:tgtEl>
                                        <p:attrNameLst>
                                          <p:attrName>style.visibility</p:attrName>
                                        </p:attrNameLst>
                                      </p:cBhvr>
                                      <p:to>
                                        <p:strVal val="visible"/>
                                      </p:to>
                                    </p:set>
                                    <p:animEffect transition="in" filter="fade">
                                      <p:cBhvr>
                                        <p:cTn id="24" dur="400"/>
                                        <p:tgtEl>
                                          <p:spTgt spid="23"/>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26"/>
                                        </p:tgtEl>
                                        <p:attrNameLst>
                                          <p:attrName>style.visibility</p:attrName>
                                        </p:attrNameLst>
                                      </p:cBhvr>
                                      <p:to>
                                        <p:strVal val="visible"/>
                                      </p:to>
                                    </p:set>
                                    <p:animEffect transition="in" filter="fade">
                                      <p:cBhvr>
                                        <p:cTn id="29" dur="400"/>
                                        <p:tgtEl>
                                          <p:spTgt spid="26"/>
                                        </p:tgtEl>
                                      </p:cBhvr>
                                    </p:animEffect>
                                  </p:childTnLst>
                                </p:cTn>
                              </p:par>
                            </p:childTnLst>
                          </p:cTn>
                        </p:par>
                      </p:childTnLst>
                    </p:cTn>
                  </p:par>
                  <p:par>
                    <p:cTn id="36" fill="hold">
                      <p:stCondLst>
                        <p:cond delay="indefinite"/>
                      </p:stCondLst>
                      <p:childTnLst>
                        <p:par>
                          <p:cTn id="37" fill="hold">
                            <p:stCondLst>
                              <p:cond delay="0"/>
                            </p:stCondLst>
                            <p:childTnLst>
                              <p:par>
                                <p:cTn id="35" presetID="10" presetClass="entr" presetSubtype="0" fill="hold" nodeType="clickEffect">
                                  <p:stCondLst>
                                    <p:cond delay="0"/>
                                  </p:stCondLst>
                                  <p:childTnLst>
                                    <p:set>
                                      <p:cBhvr>
                                        <p:cTn id="33" dur="1" fill="hold">
                                          <p:stCondLst>
                                            <p:cond delay="0"/>
                                          </p:stCondLst>
                                        </p:cTn>
                                        <p:tgtEl>
                                          <p:spTgt spid="29"/>
                                        </p:tgtEl>
                                        <p:attrNameLst>
                                          <p:attrName>style.visibility</p:attrName>
                                        </p:attrNameLst>
                                      </p:cBhvr>
                                      <p:to>
                                        <p:strVal val="visible"/>
                                      </p:to>
                                    </p:set>
                                    <p:animEffect transition="in" filter="fade">
                                      <p:cBhvr>
                                        <p:cTn id="34" dur="400"/>
                                        <p:tgtEl>
                                          <p:spTgt spid="29"/>
                                        </p:tgtEl>
                                      </p:cBhvr>
                                    </p:animEffect>
                                  </p:childTnLst>
                                </p:cTn>
                              </p:par>
                            </p:childTnLst>
                          </p:cTn>
                        </p:par>
                      </p:childTnLst>
                    </p:cTn>
                  </p:par>
                  <p:par>
                    <p:cTn id="41" fill="hold">
                      <p:stCondLst>
                        <p:cond delay="indefinite"/>
                      </p:stCondLst>
                      <p:childTnLst>
                        <p:par>
                          <p:cTn id="42" fill="hold">
                            <p:stCondLst>
                              <p:cond delay="0"/>
                            </p:stCondLst>
                            <p:childTnLst>
                              <p:par>
                                <p:cTn id="40" presetID="10" presetClass="entr" presetSubtype="0" fill="hold" nodeType="clickEffect">
                                  <p:stCondLst>
                                    <p:cond delay="0"/>
                                  </p:stCondLst>
                                  <p:childTnLst>
                                    <p:set>
                                      <p:cBhvr>
                                        <p:cTn id="38" dur="1" fill="hold">
                                          <p:stCondLst>
                                            <p:cond delay="0"/>
                                          </p:stCondLst>
                                        </p:cTn>
                                        <p:tgtEl>
                                          <p:spTgt spid="32"/>
                                        </p:tgtEl>
                                        <p:attrNameLst>
                                          <p:attrName>style.visibility</p:attrName>
                                        </p:attrNameLst>
                                      </p:cBhvr>
                                      <p:to>
                                        <p:strVal val="visible"/>
                                      </p:to>
                                    </p:set>
                                    <p:animEffect transition="in" filter="fade">
                                      <p:cBhvr>
                                        <p:cTn id="39"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Mini Quiz: Fill in the Blanks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7 · Lesson 34 How unconscious bias affects hiring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65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463040" cy="457200"/>
          </a:xfrm>
          <a:prstGeom prst="rect">
            <a:avLst/>
          </a:prstGeom>
          <a:noFill/>
        </p:spPr>
        <p:txBody>
          <a:bodyPr wrap="square" anchor="ctr">
            <a:spAutoFit/>
          </a:bodyPr>
          <a:lstStyle/>
          <a:p>
            <a:pPr algn="l">
              <a:lnSpc>
                <a:spcPct val="115000"/>
              </a:lnSpc>
              <a:spcAft>
                <a:spcPts val="800"/>
              </a:spcAft>
            </a:pPr>
            <a:r>
              <a:rPr sz="1400" b="0">
                <a:solidFill>
                  <a:srgbClr val="5F677A"/>
                </a:solidFill>
                <a:latin typeface="Arial"/>
                <a:ea typeface="Microsoft YaHei"/>
              </a:rPr>
              <a:t>Word bank</a:t>
            </a:r>
          </a:p>
        </p:txBody>
      </p:sp>
      <p:sp>
        <p:nvSpPr>
          <p:cNvPr id="9" name="Rounded Rectangle 8"/>
          <p:cNvSpPr/>
          <p:nvPr/>
        </p:nvSpPr>
        <p:spPr>
          <a:xfrm>
            <a:off x="2011680" y="987552"/>
            <a:ext cx="1572767" cy="41148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unconscious</a:t>
            </a:r>
          </a:p>
        </p:txBody>
      </p:sp>
      <p:sp>
        <p:nvSpPr>
          <p:cNvPr id="10" name="Rounded Rectangle 9"/>
          <p:cNvSpPr/>
          <p:nvPr/>
        </p:nvSpPr>
        <p:spPr>
          <a:xfrm>
            <a:off x="3675887" y="987552"/>
            <a:ext cx="1463040" cy="41148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impression</a:t>
            </a:r>
          </a:p>
        </p:txBody>
      </p:sp>
      <p:sp>
        <p:nvSpPr>
          <p:cNvPr id="11" name="Rounded Rectangle 10"/>
          <p:cNvSpPr/>
          <p:nvPr/>
        </p:nvSpPr>
        <p:spPr>
          <a:xfrm>
            <a:off x="5230367" y="987552"/>
            <a:ext cx="1463040" cy="41148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stereotype</a:t>
            </a:r>
          </a:p>
        </p:txBody>
      </p:sp>
      <p:sp>
        <p:nvSpPr>
          <p:cNvPr id="12" name="Rounded Rectangle 11"/>
          <p:cNvSpPr/>
          <p:nvPr/>
        </p:nvSpPr>
        <p:spPr>
          <a:xfrm>
            <a:off x="6784847" y="987552"/>
            <a:ext cx="1463040" cy="411480"/>
          </a:xfrm>
          <a:prstGeom prst="roundRect">
            <a:avLst>
              <a:gd name="adj" fmla="val 5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structured</a:t>
            </a:r>
          </a:p>
        </p:txBody>
      </p:sp>
      <p:sp>
        <p:nvSpPr>
          <p:cNvPr id="13" name="Rounded Rectangle 12"/>
          <p:cNvSpPr/>
          <p:nvPr/>
        </p:nvSpPr>
        <p:spPr>
          <a:xfrm>
            <a:off x="8339327" y="987552"/>
            <a:ext cx="1133856" cy="411480"/>
          </a:xfrm>
          <a:prstGeom prst="roundRect">
            <a:avLst>
              <a:gd name="adj" fmla="val 5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diverse</a:t>
            </a:r>
          </a:p>
        </p:txBody>
      </p:sp>
      <p:sp>
        <p:nvSpPr>
          <p:cNvPr id="14" name="Rounded Rectangle 13"/>
          <p:cNvSpPr/>
          <p:nvPr/>
        </p:nvSpPr>
        <p:spPr>
          <a:xfrm>
            <a:off x="9564623" y="987552"/>
            <a:ext cx="1133856" cy="41148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playing</a:t>
            </a:r>
          </a:p>
        </p:txBody>
      </p:sp>
      <p:sp>
        <p:nvSpPr>
          <p:cNvPr id="15" name="Rounded Rectangle 14"/>
          <p:cNvSpPr/>
          <p:nvPr/>
        </p:nvSpPr>
        <p:spPr>
          <a:xfrm>
            <a:off x="548640" y="16002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 y="160020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1.  _______ bias can affect interviews.</a:t>
            </a:r>
          </a:p>
        </p:txBody>
      </p:sp>
      <p:sp>
        <p:nvSpPr>
          <p:cNvPr id="17" name="Rounded Rectangle 16"/>
          <p:cNvSpPr/>
          <p:nvPr/>
        </p:nvSpPr>
        <p:spPr>
          <a:xfrm>
            <a:off x="9082735" y="16550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Unconscious</a:t>
            </a:r>
          </a:p>
        </p:txBody>
      </p:sp>
      <p:sp>
        <p:nvSpPr>
          <p:cNvPr id="18" name="Rounded Rectangle 17"/>
          <p:cNvSpPr/>
          <p:nvPr/>
        </p:nvSpPr>
        <p:spPr>
          <a:xfrm>
            <a:off x="548640" y="227838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5800" y="227838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2.  First _______ often last.</a:t>
            </a:r>
          </a:p>
        </p:txBody>
      </p:sp>
      <p:sp>
        <p:nvSpPr>
          <p:cNvPr id="20" name="Rounded Rectangle 19"/>
          <p:cNvSpPr/>
          <p:nvPr/>
        </p:nvSpPr>
        <p:spPr>
          <a:xfrm>
            <a:off x="9082735" y="233324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impressions</a:t>
            </a:r>
          </a:p>
        </p:txBody>
      </p:sp>
      <p:sp>
        <p:nvSpPr>
          <p:cNvPr id="21" name="Rounded Rectangle 20"/>
          <p:cNvSpPr/>
          <p:nvPr/>
        </p:nvSpPr>
        <p:spPr>
          <a:xfrm>
            <a:off x="548640" y="295656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295656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3.  We should not _______ candidates.</a:t>
            </a:r>
          </a:p>
        </p:txBody>
      </p:sp>
      <p:sp>
        <p:nvSpPr>
          <p:cNvPr id="23" name="Rounded Rectangle 22"/>
          <p:cNvSpPr/>
          <p:nvPr/>
        </p:nvSpPr>
        <p:spPr>
          <a:xfrm>
            <a:off x="9082735" y="301142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stereotype</a:t>
            </a:r>
          </a:p>
        </p:txBody>
      </p:sp>
      <p:sp>
        <p:nvSpPr>
          <p:cNvPr id="24" name="Rounded Rectangle 23"/>
          <p:cNvSpPr/>
          <p:nvPr/>
        </p:nvSpPr>
        <p:spPr>
          <a:xfrm>
            <a:off x="548640" y="363474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85800" y="363474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4.  We use _______ interviews with the same questions.</a:t>
            </a:r>
          </a:p>
        </p:txBody>
      </p:sp>
      <p:sp>
        <p:nvSpPr>
          <p:cNvPr id="26" name="Rounded Rectangle 25"/>
          <p:cNvSpPr/>
          <p:nvPr/>
        </p:nvSpPr>
        <p:spPr>
          <a:xfrm>
            <a:off x="9082735" y="368960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structured</a:t>
            </a:r>
          </a:p>
        </p:txBody>
      </p:sp>
      <p:sp>
        <p:nvSpPr>
          <p:cNvPr id="27" name="Rounded Rectangle 26"/>
          <p:cNvSpPr/>
          <p:nvPr/>
        </p:nvSpPr>
        <p:spPr>
          <a:xfrm>
            <a:off x="548640" y="431292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85800" y="431292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5.  We want a _______ team.</a:t>
            </a:r>
          </a:p>
        </p:txBody>
      </p:sp>
      <p:sp>
        <p:nvSpPr>
          <p:cNvPr id="29" name="Rounded Rectangle 28"/>
          <p:cNvSpPr/>
          <p:nvPr/>
        </p:nvSpPr>
        <p:spPr>
          <a:xfrm>
            <a:off x="9082735" y="436778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diverse</a:t>
            </a:r>
          </a:p>
        </p:txBody>
      </p:sp>
      <p:sp>
        <p:nvSpPr>
          <p:cNvPr id="30" name="Rounded Rectangle 29"/>
          <p:cNvSpPr/>
          <p:nvPr/>
        </p:nvSpPr>
        <p:spPr>
          <a:xfrm>
            <a:off x="548640" y="49911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85800" y="499110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6.  We need a level _______ field.</a:t>
            </a:r>
          </a:p>
        </p:txBody>
      </p:sp>
      <p:sp>
        <p:nvSpPr>
          <p:cNvPr id="32" name="Rounded Rectangle 31"/>
          <p:cNvSpPr/>
          <p:nvPr/>
        </p:nvSpPr>
        <p:spPr>
          <a:xfrm>
            <a:off x="9082735" y="50459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playing</a:t>
            </a:r>
          </a:p>
        </p:txBody>
      </p:sp>
      <p:sp>
        <p:nvSpPr>
          <p:cNvPr id="33" name="Rounded Rectangle 32"/>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(拼写与词性) bias 可作名词, biased(形容词)“a biased decision”;diverse(形)、diversity(名)。</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7"/>
                                        </p:tgtEl>
                                        <p:attrNameLst>
                                          <p:attrName>style.visibility</p:attrName>
                                        </p:attrNameLst>
                                      </p:cBhvr>
                                      <p:to>
                                        <p:strVal val="visible"/>
                                      </p:to>
                                    </p:set>
                                    <p:animEffect transition="in" filter="fade">
                                      <p:cBhvr>
                                        <p:cTn id="4" dur="400"/>
                                        <p:tgtEl>
                                          <p:spTgt spid="17"/>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0"/>
                                        </p:tgtEl>
                                        <p:attrNameLst>
                                          <p:attrName>style.visibility</p:attrName>
                                        </p:attrNameLst>
                                      </p:cBhvr>
                                      <p:to>
                                        <p:strVal val="visible"/>
                                      </p:to>
                                    </p:set>
                                    <p:animEffect transition="in" filter="fade">
                                      <p:cBhvr>
                                        <p:cTn id="9" dur="400"/>
                                        <p:tgtEl>
                                          <p:spTgt spid="20"/>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6"/>
                                        </p:tgtEl>
                                        <p:attrNameLst>
                                          <p:attrName>style.visibility</p:attrName>
                                        </p:attrNameLst>
                                      </p:cBhvr>
                                      <p:to>
                                        <p:strVal val="visible"/>
                                      </p:to>
                                    </p:set>
                                    <p:animEffect transition="in" filter="fade">
                                      <p:cBhvr>
                                        <p:cTn id="19" dur="400"/>
                                        <p:tgtEl>
                                          <p:spTgt spid="26"/>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9"/>
                                        </p:tgtEl>
                                        <p:attrNameLst>
                                          <p:attrName>style.visibility</p:attrName>
                                        </p:attrNameLst>
                                      </p:cBhvr>
                                      <p:to>
                                        <p:strVal val="visible"/>
                                      </p:to>
                                    </p:set>
                                    <p:animEffect transition="in" filter="fade">
                                      <p:cBhvr>
                                        <p:cTn id="24" dur="400"/>
                                        <p:tgtEl>
                                          <p:spTgt spid="29"/>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32"/>
                                        </p:tgtEl>
                                        <p:attrNameLst>
                                          <p:attrName>style.visibility</p:attrName>
                                        </p:attrNameLst>
                                      </p:cBhvr>
                                      <p:to>
                                        <p:strVal val="visible"/>
                                      </p:to>
                                    </p:set>
                                    <p:animEffect transition="in" filter="fade">
                                      <p:cBhvr>
                                        <p:cTn id="29"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600" b="1">
                <a:solidFill>
                  <a:srgbClr val="1F2A44"/>
                </a:solidFill>
                <a:latin typeface="Arial"/>
                <a:ea typeface="Microsoft YaHei"/>
              </a:rPr>
              <a:t>🎭 Role Play · Raising awareness in a meeting</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7 · Lesson 34 How unconscious bias affects hiring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66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在会议上提出偏见问题</a:t>
            </a:r>
          </a:p>
        </p:txBody>
      </p:sp>
      <p:sp>
        <p:nvSpPr>
          <p:cNvPr id="9" name="Rounded Rectangle 8"/>
          <p:cNvSpPr/>
          <p:nvPr/>
        </p:nvSpPr>
        <p:spPr>
          <a:xfrm>
            <a:off x="548640" y="1463040"/>
            <a:ext cx="11094415" cy="1463040"/>
          </a:xfrm>
          <a:prstGeom prst="roundRect">
            <a:avLst>
              <a:gd name="adj" fmla="val 12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5F677A"/>
                </a:solidFill>
                <a:latin typeface="Arial"/>
                <a:ea typeface="Microsoft YaHei"/>
              </a:rPr>
              <a:t>📍 Situation 情景</a:t>
            </a:r>
          </a:p>
          <a:p>
            <a:pPr algn="l">
              <a:spcAft>
                <a:spcPts val="200"/>
              </a:spcAft>
            </a:pPr>
            <a:r>
              <a:rPr sz="2400" b="1">
                <a:solidFill>
                  <a:srgbClr val="1F2A44"/>
                </a:solidFill>
                <a:latin typeface="Arial"/>
                <a:ea typeface="Microsoft YaHei"/>
              </a:rPr>
              <a:t>You suggest changes to a shortlist process.</a:t>
            </a:r>
          </a:p>
        </p:txBody>
      </p:sp>
      <p:sp>
        <p:nvSpPr>
          <p:cNvPr id="10" name="Rounded Rectangle 9"/>
          <p:cNvSpPr/>
          <p:nvPr/>
        </p:nvSpPr>
        <p:spPr>
          <a:xfrm>
            <a:off x="548640"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77240" y="3429000"/>
            <a:ext cx="1097280" cy="109728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2" name="TextBox 11"/>
          <p:cNvSpPr txBox="1"/>
          <p:nvPr/>
        </p:nvSpPr>
        <p:spPr>
          <a:xfrm>
            <a:off x="2011680"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FF6B5B"/>
                </a:solidFill>
                <a:latin typeface="Arial"/>
                <a:ea typeface="Microsoft YaHei"/>
              </a:rPr>
              <a:t>Role A</a:t>
            </a:r>
          </a:p>
          <a:p>
            <a:pPr algn="l">
              <a:lnSpc>
                <a:spcPct val="115000"/>
              </a:lnSpc>
              <a:spcAft>
                <a:spcPts val="800"/>
              </a:spcAft>
            </a:pPr>
            <a:r>
              <a:rPr sz="2000" b="1">
                <a:solidFill>
                  <a:srgbClr val="1F2A44"/>
                </a:solidFill>
                <a:latin typeface="Arial"/>
                <a:ea typeface="Microsoft YaHei"/>
              </a:rPr>
              <a:t>HR manager</a:t>
            </a:r>
          </a:p>
        </p:txBody>
      </p:sp>
      <p:sp>
        <p:nvSpPr>
          <p:cNvPr id="13" name="Rounded Rectangle 12"/>
          <p:cNvSpPr/>
          <p:nvPr/>
        </p:nvSpPr>
        <p:spPr>
          <a:xfrm>
            <a:off x="6233007"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1607" y="3429000"/>
            <a:ext cx="1097280" cy="109728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5" name="TextBox 14"/>
          <p:cNvSpPr txBox="1"/>
          <p:nvPr/>
        </p:nvSpPr>
        <p:spPr>
          <a:xfrm>
            <a:off x="7696047"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4A90E2"/>
                </a:solidFill>
                <a:latin typeface="Arial"/>
                <a:ea typeface="Microsoft YaHei"/>
              </a:rPr>
              <a:t>Role B</a:t>
            </a:r>
          </a:p>
          <a:p>
            <a:pPr algn="l">
              <a:lnSpc>
                <a:spcPct val="115000"/>
              </a:lnSpc>
              <a:spcAft>
                <a:spcPts val="800"/>
              </a:spcAft>
            </a:pPr>
            <a:r>
              <a:rPr sz="2000" b="1">
                <a:solidFill>
                  <a:srgbClr val="1F2A44"/>
                </a:solidFill>
                <a:latin typeface="Arial"/>
                <a:ea typeface="Microsoft YaHei"/>
              </a:rPr>
              <a:t>Recruiter</a:t>
            </a:r>
          </a:p>
        </p:txBody>
      </p:sp>
    </p:spTree>
  </p:cSld>
  <p:clrMapOvr>
    <a:masterClrMapping/>
  </p:clrMapOvr>
  <p:transition spd="med">
    <p:fade/>
  </p:transition>
</p:sld>
</file>

<file path=ppt/slides/slide6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400" b="1">
                <a:solidFill>
                  <a:srgbClr val="1F2A44"/>
                </a:solidFill>
                <a:latin typeface="Arial"/>
                <a:ea typeface="Microsoft YaHei"/>
              </a:rPr>
              <a:t>🎭 Model Dialogue · Raising awareness in a meeting</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1/2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7 · Lesson 34 How unconscious bias affects hiring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67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1463040" y="1325880"/>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 wanted to raise something about our shortlist. Most candidates come from the same three universities.</a:t>
            </a:r>
          </a:p>
        </p:txBody>
      </p:sp>
      <p:sp>
        <p:nvSpPr>
          <p:cNvPr id="11" name="Rounded Rectangle 10"/>
          <p:cNvSpPr/>
          <p:nvPr/>
        </p:nvSpPr>
        <p:spPr>
          <a:xfrm>
            <a:off x="10911535" y="219760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63652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2133295" y="219760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Do you think that’s bias?</a:t>
            </a:r>
          </a:p>
        </p:txBody>
      </p:sp>
      <p:sp>
        <p:nvSpPr>
          <p:cNvPr id="14" name="Rounded Rectangle 13"/>
          <p:cNvSpPr/>
          <p:nvPr/>
        </p:nvSpPr>
        <p:spPr>
          <a:xfrm>
            <a:off x="548640" y="277977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321868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779776"/>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It might be. Unconscious bias can lead to us favouring people like ourselves.</a:t>
            </a:r>
          </a:p>
        </p:txBody>
      </p:sp>
      <p:sp>
        <p:nvSpPr>
          <p:cNvPr id="17" name="Rounded Rectangle 16"/>
          <p:cNvSpPr/>
          <p:nvPr/>
        </p:nvSpPr>
        <p:spPr>
          <a:xfrm>
            <a:off x="10911535" y="365150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409041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65150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That’s a fair point. What can we do about it?</a:t>
            </a:r>
          </a:p>
        </p:txBody>
      </p:sp>
    </p:spTree>
  </p:cSld>
  <p:clrMapOvr>
    <a:masterClrMapping/>
  </p:clrMapOvr>
  <p:transition spd="med">
    <p:fade/>
  </p:transition>
</p:sld>
</file>

<file path=ppt/slides/slide6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Model Dialogue · Raising awareness in a meeting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2/2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7 · Lesson 34 How unconscious bias affects hiring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68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1463040" y="1325880"/>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One way to reduce it is to use structured interviews and score everyone against the same criteria.</a:t>
            </a:r>
          </a:p>
        </p:txBody>
      </p:sp>
      <p:sp>
        <p:nvSpPr>
          <p:cNvPr id="11" name="Rounded Rectangle 10"/>
          <p:cNvSpPr/>
          <p:nvPr/>
        </p:nvSpPr>
        <p:spPr>
          <a:xfrm>
            <a:off x="10911535" y="219760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63652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2133295" y="219760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And the CVs?</a:t>
            </a:r>
          </a:p>
        </p:txBody>
      </p:sp>
      <p:sp>
        <p:nvSpPr>
          <p:cNvPr id="14" name="Rounded Rectangle 13"/>
          <p:cNvSpPr/>
          <p:nvPr/>
        </p:nvSpPr>
        <p:spPr>
          <a:xfrm>
            <a:off x="548640" y="277977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321868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779776"/>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We could try blind recruitment for the first round.</a:t>
            </a:r>
          </a:p>
        </p:txBody>
      </p:sp>
      <p:sp>
        <p:nvSpPr>
          <p:cNvPr id="17" name="Rounded Rectangle 16"/>
          <p:cNvSpPr/>
          <p:nvPr/>
        </p:nvSpPr>
        <p:spPr>
          <a:xfrm>
            <a:off x="10911535" y="336194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380085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36194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Let’s pilot it for one role.</a:t>
            </a:r>
          </a:p>
        </p:txBody>
      </p:sp>
    </p:spTree>
  </p:cSld>
  <p:clrMapOvr>
    <a:masterClrMapping/>
  </p:clrMapOvr>
  <p:transition spd="med">
    <p:fade/>
  </p:transition>
</p:sld>
</file>

<file path=ppt/slides/slide6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600" b="1">
                <a:solidFill>
                  <a:srgbClr val="1F2A44"/>
                </a:solidFill>
                <a:latin typeface="Arial"/>
                <a:ea typeface="Microsoft YaHei"/>
              </a:rPr>
              <a:t>🎯 Your Turn · Raising awareness in a meeting</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7 · Lesson 34 How unconscious bias affects hiring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69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Situation</a:t>
            </a:r>
          </a:p>
        </p:txBody>
      </p:sp>
      <p:sp>
        <p:nvSpPr>
          <p:cNvPr id="9" name="Rounded Rectangle 8"/>
          <p:cNvSpPr/>
          <p:nvPr/>
        </p:nvSpPr>
        <p:spPr>
          <a:xfrm>
            <a:off x="3017520" y="132588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You suggest a fairer process.</a:t>
            </a:r>
          </a:p>
        </p:txBody>
      </p:sp>
      <p:sp>
        <p:nvSpPr>
          <p:cNvPr id="10" name="Rounded Rectangle 9"/>
          <p:cNvSpPr/>
          <p:nvPr/>
        </p:nvSpPr>
        <p:spPr>
          <a:xfrm>
            <a:off x="548640" y="1807464"/>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Your role (A)</a:t>
            </a:r>
          </a:p>
        </p:txBody>
      </p:sp>
      <p:sp>
        <p:nvSpPr>
          <p:cNvPr id="11" name="Rounded Rectangle 10"/>
          <p:cNvSpPr/>
          <p:nvPr/>
        </p:nvSpPr>
        <p:spPr>
          <a:xfrm>
            <a:off x="3017520" y="1807464"/>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HR manager. Concern: ______________</a:t>
            </a:r>
          </a:p>
        </p:txBody>
      </p:sp>
      <p:sp>
        <p:nvSpPr>
          <p:cNvPr id="12" name="Rounded Rectangle 11"/>
          <p:cNvSpPr/>
          <p:nvPr/>
        </p:nvSpPr>
        <p:spPr>
          <a:xfrm>
            <a:off x="548640" y="2289048"/>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Partner’s role (B)</a:t>
            </a:r>
          </a:p>
        </p:txBody>
      </p:sp>
      <p:sp>
        <p:nvSpPr>
          <p:cNvPr id="13" name="Rounded Rectangle 12"/>
          <p:cNvSpPr/>
          <p:nvPr/>
        </p:nvSpPr>
        <p:spPr>
          <a:xfrm>
            <a:off x="3017520" y="2289048"/>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Recruiter.</a:t>
            </a:r>
          </a:p>
        </p:txBody>
      </p:sp>
      <p:sp>
        <p:nvSpPr>
          <p:cNvPr id="14" name="Rounded Rectangle 13"/>
          <p:cNvSpPr/>
          <p:nvPr/>
        </p:nvSpPr>
        <p:spPr>
          <a:xfrm>
            <a:off x="548640" y="2770632"/>
            <a:ext cx="2377440" cy="65227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Must use (3 or more)</a:t>
            </a:r>
          </a:p>
        </p:txBody>
      </p:sp>
      <p:sp>
        <p:nvSpPr>
          <p:cNvPr id="15" name="Rounded Rectangle 14"/>
          <p:cNvSpPr/>
          <p:nvPr/>
        </p:nvSpPr>
        <p:spPr>
          <a:xfrm>
            <a:off x="3017520" y="2770632"/>
            <a:ext cx="8625535" cy="65227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unconscious bias · It might be · One way to reduce it is… · structured interviews · pilot</a:t>
            </a:r>
          </a:p>
        </p:txBody>
      </p:sp>
      <p:sp>
        <p:nvSpPr>
          <p:cNvPr id="16" name="Rounded Rectangle 15"/>
          <p:cNvSpPr/>
          <p:nvPr/>
        </p:nvSpPr>
        <p:spPr>
          <a:xfrm>
            <a:off x="548640" y="3496056"/>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Goal</a:t>
            </a:r>
          </a:p>
        </p:txBody>
      </p:sp>
      <p:sp>
        <p:nvSpPr>
          <p:cNvPr id="17" name="Rounded Rectangle 16"/>
          <p:cNvSpPr/>
          <p:nvPr/>
        </p:nvSpPr>
        <p:spPr>
          <a:xfrm>
            <a:off x="3017520" y="3496056"/>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Raise the concern tactfully and propose one change.</a:t>
            </a:r>
          </a:p>
        </p:txBody>
      </p:sp>
      <p:sp>
        <p:nvSpPr>
          <p:cNvPr id="18" name="Rounded Rectangle 17"/>
          <p:cNvSpPr/>
          <p:nvPr/>
        </p:nvSpPr>
        <p:spPr>
          <a:xfrm>
            <a:off x="548640" y="397764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My notes</a:t>
            </a:r>
          </a:p>
        </p:txBody>
      </p:sp>
      <p:sp>
        <p:nvSpPr>
          <p:cNvPr id="19" name="Rounded Rectangle 18"/>
          <p:cNvSpPr/>
          <p:nvPr/>
        </p:nvSpPr>
        <p:spPr>
          <a:xfrm>
            <a:off x="3017520" y="397764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____________________________________________</a:t>
            </a:r>
          </a:p>
        </p:txBody>
      </p:sp>
      <p:sp>
        <p:nvSpPr>
          <p:cNvPr id="20" name="TextBox 19"/>
          <p:cNvSpPr txBox="1"/>
          <p:nvPr/>
        </p:nvSpPr>
        <p:spPr>
          <a:xfrm>
            <a:off x="548640" y="4550664"/>
            <a:ext cx="11094415" cy="365760"/>
          </a:xfrm>
          <a:prstGeom prst="rect">
            <a:avLst/>
          </a:prstGeom>
          <a:noFill/>
        </p:spPr>
        <p:txBody>
          <a:bodyPr wrap="square" anchor="t">
            <a:spAutoFit/>
          </a:bodyPr>
          <a:lstStyle/>
          <a:p>
            <a:pPr algn="l">
              <a:lnSpc>
                <a:spcPct val="115000"/>
              </a:lnSpc>
              <a:spcAft>
                <a:spcPts val="800"/>
              </a:spcAft>
            </a:pPr>
            <a:r>
              <a:rPr sz="1500" b="1">
                <a:solidFill>
                  <a:srgbClr val="FF6B5B"/>
                </a:solidFill>
                <a:latin typeface="Arial"/>
                <a:ea typeface="Microsoft YaHei"/>
              </a:rPr>
              <a:t>🔥 Level-up challenges 进阶挑战 (click)</a:t>
            </a:r>
          </a:p>
        </p:txBody>
      </p:sp>
      <p:sp>
        <p:nvSpPr>
          <p:cNvPr id="21" name="Rounded Rectangle 20"/>
          <p:cNvSpPr/>
          <p:nvPr/>
        </p:nvSpPr>
        <p:spPr>
          <a:xfrm>
            <a:off x="548640" y="4934712"/>
            <a:ext cx="3576218" cy="1283208"/>
          </a:xfrm>
          <a:prstGeom prst="roundRect">
            <a:avLst>
              <a:gd name="adj" fmla="val 12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Use hedging: “I may be wrong, but…”</a:t>
            </a:r>
          </a:p>
        </p:txBody>
      </p:sp>
      <p:sp>
        <p:nvSpPr>
          <p:cNvPr id="22" name="Rounded Rectangle 21"/>
          <p:cNvSpPr/>
          <p:nvPr/>
        </p:nvSpPr>
        <p:spPr>
          <a:xfrm>
            <a:off x="4307738" y="4934712"/>
            <a:ext cx="3576218" cy="1283208"/>
          </a:xfrm>
          <a:prstGeom prst="roundRect">
            <a:avLst>
              <a:gd name="adj" fmla="val 12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Give evidence (numbers).</a:t>
            </a:r>
          </a:p>
        </p:txBody>
      </p:sp>
      <p:sp>
        <p:nvSpPr>
          <p:cNvPr id="23" name="Rounded Rectangle 22"/>
          <p:cNvSpPr/>
          <p:nvPr/>
        </p:nvSpPr>
        <p:spPr>
          <a:xfrm>
            <a:off x="8066836" y="4934712"/>
            <a:ext cx="3576218" cy="1283208"/>
          </a:xfrm>
          <a:prstGeom prst="roundRect">
            <a:avLst>
              <a:gd name="adj" fmla="val 12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Handle a colleague who says “we hire the best”.</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21"/>
                                        </p:tgtEl>
                                        <p:attrNameLst>
                                          <p:attrName>style.visibility</p:attrName>
                                        </p:attrNameLst>
                                      </p:cBhvr>
                                      <p:to>
                                        <p:strVal val="visible"/>
                                      </p:to>
                                    </p:set>
                                    <p:animEffect transition="in" filter="fade">
                                      <p:cBhvr>
                                        <p:cTn id="4" dur="400"/>
                                        <p:tgtEl>
                                          <p:spTgt spid="2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2"/>
                                        </p:tgtEl>
                                        <p:attrNameLst>
                                          <p:attrName>style.visibility</p:attrName>
                                        </p:attrNameLst>
                                      </p:cBhvr>
                                      <p:to>
                                        <p:strVal val="visible"/>
                                      </p:to>
                                    </p:set>
                                    <p:animEffect transition="in" filter="fade">
                                      <p:cBhvr>
                                        <p:cTn id="9" dur="400"/>
                                        <p:tgtEl>
                                          <p:spTgt spid="2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700" b="1">
                <a:solidFill>
                  <a:srgbClr val="1F2A44"/>
                </a:solidFill>
                <a:latin typeface="Arial"/>
                <a:ea typeface="Microsoft YaHei"/>
              </a:rPr>
              <a:t>🎭 Role Play · Discussing a candidate fairly</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7 · Lesson 34 How unconscious bias affects hiring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70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公平地讨论候选人</a:t>
            </a:r>
          </a:p>
        </p:txBody>
      </p:sp>
      <p:sp>
        <p:nvSpPr>
          <p:cNvPr id="9" name="Rounded Rectangle 8"/>
          <p:cNvSpPr/>
          <p:nvPr/>
        </p:nvSpPr>
        <p:spPr>
          <a:xfrm>
            <a:off x="548640" y="1463040"/>
            <a:ext cx="11094415" cy="1463040"/>
          </a:xfrm>
          <a:prstGeom prst="roundRect">
            <a:avLst>
              <a:gd name="adj" fmla="val 12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5F677A"/>
                </a:solidFill>
                <a:latin typeface="Arial"/>
                <a:ea typeface="Microsoft YaHei"/>
              </a:rPr>
              <a:t>📍 Situation 情景</a:t>
            </a:r>
          </a:p>
          <a:p>
            <a:pPr algn="l">
              <a:spcAft>
                <a:spcPts val="200"/>
              </a:spcAft>
            </a:pPr>
            <a:r>
              <a:rPr sz="2400" b="1">
                <a:solidFill>
                  <a:srgbClr val="1F2A44"/>
                </a:solidFill>
                <a:latin typeface="Arial"/>
                <a:ea typeface="Microsoft YaHei"/>
              </a:rPr>
              <a:t>After an interview, two interviewers compare notes.</a:t>
            </a:r>
          </a:p>
        </p:txBody>
      </p:sp>
      <p:sp>
        <p:nvSpPr>
          <p:cNvPr id="10" name="Rounded Rectangle 9"/>
          <p:cNvSpPr/>
          <p:nvPr/>
        </p:nvSpPr>
        <p:spPr>
          <a:xfrm>
            <a:off x="548640"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77240" y="3429000"/>
            <a:ext cx="1097280" cy="109728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2" name="TextBox 11"/>
          <p:cNvSpPr txBox="1"/>
          <p:nvPr/>
        </p:nvSpPr>
        <p:spPr>
          <a:xfrm>
            <a:off x="2011680"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FF6B5B"/>
                </a:solidFill>
                <a:latin typeface="Arial"/>
                <a:ea typeface="Microsoft YaHei"/>
              </a:rPr>
              <a:t>Role A</a:t>
            </a:r>
          </a:p>
          <a:p>
            <a:pPr algn="l">
              <a:lnSpc>
                <a:spcPct val="115000"/>
              </a:lnSpc>
              <a:spcAft>
                <a:spcPts val="800"/>
              </a:spcAft>
            </a:pPr>
            <a:r>
              <a:rPr sz="2000" b="1">
                <a:solidFill>
                  <a:srgbClr val="1F2A44"/>
                </a:solidFill>
                <a:latin typeface="Arial"/>
                <a:ea typeface="Microsoft YaHei"/>
              </a:rPr>
              <a:t>Interviewer 1</a:t>
            </a:r>
          </a:p>
        </p:txBody>
      </p:sp>
      <p:sp>
        <p:nvSpPr>
          <p:cNvPr id="13" name="Rounded Rectangle 12"/>
          <p:cNvSpPr/>
          <p:nvPr/>
        </p:nvSpPr>
        <p:spPr>
          <a:xfrm>
            <a:off x="6233007"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1607" y="3429000"/>
            <a:ext cx="1097280" cy="109728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5" name="TextBox 14"/>
          <p:cNvSpPr txBox="1"/>
          <p:nvPr/>
        </p:nvSpPr>
        <p:spPr>
          <a:xfrm>
            <a:off x="7696047"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4A90E2"/>
                </a:solidFill>
                <a:latin typeface="Arial"/>
                <a:ea typeface="Microsoft YaHei"/>
              </a:rPr>
              <a:t>Role B</a:t>
            </a:r>
          </a:p>
          <a:p>
            <a:pPr algn="l">
              <a:lnSpc>
                <a:spcPct val="115000"/>
              </a:lnSpc>
              <a:spcAft>
                <a:spcPts val="800"/>
              </a:spcAft>
            </a:pPr>
            <a:r>
              <a:rPr sz="2000" b="1">
                <a:solidFill>
                  <a:srgbClr val="1F2A44"/>
                </a:solidFill>
                <a:latin typeface="Arial"/>
                <a:ea typeface="Microsoft YaHei"/>
              </a:rPr>
              <a:t>Interviewer 2</a:t>
            </a:r>
          </a:p>
        </p:txBody>
      </p:sp>
    </p:spTree>
  </p:cSld>
  <p:clrMapOvr>
    <a:masterClrMapping/>
  </p:clrMapOvr>
  <p:transition spd="med">
    <p:fade/>
  </p:transition>
</p:sld>
</file>

<file path=ppt/slides/slide7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400" b="1">
                <a:solidFill>
                  <a:srgbClr val="1F2A44"/>
                </a:solidFill>
                <a:latin typeface="Arial"/>
                <a:ea typeface="Microsoft YaHei"/>
              </a:rPr>
              <a:t>🎭 Model Dialogue · Discussing a candidate fairly</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1/2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7 · Lesson 34 How unconscious bias affects hiring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71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1463040" y="1325880"/>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 liked her, she was easy to talk to.</a:t>
            </a:r>
          </a:p>
        </p:txBody>
      </p:sp>
      <p:sp>
        <p:nvSpPr>
          <p:cNvPr id="11" name="Rounded Rectangle 10"/>
          <p:cNvSpPr/>
          <p:nvPr/>
        </p:nvSpPr>
        <p:spPr>
          <a:xfrm>
            <a:off x="10911535" y="190804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34696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2133295" y="190804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Careful. Is that a gut reaction? Let’s check our scores.</a:t>
            </a:r>
          </a:p>
        </p:txBody>
      </p:sp>
      <p:sp>
        <p:nvSpPr>
          <p:cNvPr id="14" name="Rounded Rectangle 13"/>
          <p:cNvSpPr/>
          <p:nvPr/>
        </p:nvSpPr>
        <p:spPr>
          <a:xfrm>
            <a:off x="548640" y="249021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292912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490216"/>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You’re right. On the criteria, she scored three out of five.</a:t>
            </a:r>
          </a:p>
        </p:txBody>
      </p:sp>
      <p:sp>
        <p:nvSpPr>
          <p:cNvPr id="17" name="Rounded Rectangle 16"/>
          <p:cNvSpPr/>
          <p:nvPr/>
        </p:nvSpPr>
        <p:spPr>
          <a:xfrm>
            <a:off x="10911535" y="307238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351129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072384"/>
            <a:ext cx="8595360" cy="78028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And the other candidate scored four. Did he answer the questions better?</a:t>
            </a:r>
          </a:p>
        </p:txBody>
      </p:sp>
    </p:spTree>
  </p:cSld>
  <p:clrMapOvr>
    <a:masterClrMapping/>
  </p:clrMapOvr>
  <p:transition spd="med">
    <p:fade/>
  </p:transition>
</p:sld>
</file>

<file path=ppt/slides/slide7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Model Dialogue · Discussing a candidate fairly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2/2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7 · Lesson 34 How unconscious bias affects hiring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72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1463040" y="1325880"/>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Yes, with more specific examples.</a:t>
            </a:r>
          </a:p>
        </p:txBody>
      </p:sp>
      <p:sp>
        <p:nvSpPr>
          <p:cNvPr id="11" name="Rounded Rectangle 10"/>
          <p:cNvSpPr/>
          <p:nvPr/>
        </p:nvSpPr>
        <p:spPr>
          <a:xfrm>
            <a:off x="10911535" y="190804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34696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2133295" y="190804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Then the evidence points to him.</a:t>
            </a:r>
          </a:p>
        </p:txBody>
      </p:sp>
      <p:sp>
        <p:nvSpPr>
          <p:cNvPr id="14" name="Rounded Rectangle 13"/>
          <p:cNvSpPr/>
          <p:nvPr/>
        </p:nvSpPr>
        <p:spPr>
          <a:xfrm>
            <a:off x="548640" y="249021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292912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490216"/>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 see. I should challenge my assumptions.</a:t>
            </a:r>
          </a:p>
        </p:txBody>
      </p:sp>
      <p:sp>
        <p:nvSpPr>
          <p:cNvPr id="17" name="Rounded Rectangle 16"/>
          <p:cNvSpPr/>
          <p:nvPr/>
        </p:nvSpPr>
        <p:spPr>
          <a:xfrm>
            <a:off x="10911535" y="307238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351129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07238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We all should. That’s why we have criteria.</a:t>
            </a:r>
          </a:p>
        </p:txBody>
      </p:sp>
    </p:spTree>
  </p:cSld>
  <p:clrMapOvr>
    <a:masterClrMapping/>
  </p:clrMapOvr>
  <p:transition spd="med">
    <p:fade/>
  </p:transition>
</p:sld>
</file>

<file path=ppt/slides/slide7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700" b="1">
                <a:solidFill>
                  <a:srgbClr val="1F2A44"/>
                </a:solidFill>
                <a:latin typeface="Arial"/>
                <a:ea typeface="Microsoft YaHei"/>
              </a:rPr>
              <a:t>🎯 Your Turn · Discussing a candidate fairly</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7 · Lesson 34 How unconscious bias affects hiring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73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Situation</a:t>
            </a:r>
          </a:p>
        </p:txBody>
      </p:sp>
      <p:sp>
        <p:nvSpPr>
          <p:cNvPr id="9" name="Rounded Rectangle 8"/>
          <p:cNvSpPr/>
          <p:nvPr/>
        </p:nvSpPr>
        <p:spPr>
          <a:xfrm>
            <a:off x="3017520" y="132588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You check a decision for bias.</a:t>
            </a:r>
          </a:p>
        </p:txBody>
      </p:sp>
      <p:sp>
        <p:nvSpPr>
          <p:cNvPr id="10" name="Rounded Rectangle 9"/>
          <p:cNvSpPr/>
          <p:nvPr/>
        </p:nvSpPr>
        <p:spPr>
          <a:xfrm>
            <a:off x="548640" y="1807464"/>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Your role (A)</a:t>
            </a:r>
          </a:p>
        </p:txBody>
      </p:sp>
      <p:sp>
        <p:nvSpPr>
          <p:cNvPr id="11" name="Rounded Rectangle 10"/>
          <p:cNvSpPr/>
          <p:nvPr/>
        </p:nvSpPr>
        <p:spPr>
          <a:xfrm>
            <a:off x="3017520" y="1807464"/>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Interviewer who liked a candidate.</a:t>
            </a:r>
          </a:p>
        </p:txBody>
      </p:sp>
      <p:sp>
        <p:nvSpPr>
          <p:cNvPr id="12" name="Rounded Rectangle 11"/>
          <p:cNvSpPr/>
          <p:nvPr/>
        </p:nvSpPr>
        <p:spPr>
          <a:xfrm>
            <a:off x="548640" y="2289048"/>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Partner’s role (B)</a:t>
            </a:r>
          </a:p>
        </p:txBody>
      </p:sp>
      <p:sp>
        <p:nvSpPr>
          <p:cNvPr id="13" name="Rounded Rectangle 12"/>
          <p:cNvSpPr/>
          <p:nvPr/>
        </p:nvSpPr>
        <p:spPr>
          <a:xfrm>
            <a:off x="3017520" y="2289048"/>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Interviewer who checks. Candidates: ______________</a:t>
            </a:r>
          </a:p>
        </p:txBody>
      </p:sp>
      <p:sp>
        <p:nvSpPr>
          <p:cNvPr id="14" name="Rounded Rectangle 13"/>
          <p:cNvSpPr/>
          <p:nvPr/>
        </p:nvSpPr>
        <p:spPr>
          <a:xfrm>
            <a:off x="548640" y="2770632"/>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Must use (3 or more)</a:t>
            </a:r>
          </a:p>
        </p:txBody>
      </p:sp>
      <p:sp>
        <p:nvSpPr>
          <p:cNvPr id="15" name="Rounded Rectangle 14"/>
          <p:cNvSpPr/>
          <p:nvPr/>
        </p:nvSpPr>
        <p:spPr>
          <a:xfrm>
            <a:off x="3017520" y="2770632"/>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gut reaction · criteria · challenge assumptions · evidence · first impression</a:t>
            </a:r>
          </a:p>
        </p:txBody>
      </p:sp>
      <p:sp>
        <p:nvSpPr>
          <p:cNvPr id="16" name="Rounded Rectangle 15"/>
          <p:cNvSpPr/>
          <p:nvPr/>
        </p:nvSpPr>
        <p:spPr>
          <a:xfrm>
            <a:off x="548640" y="3252216"/>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Goal</a:t>
            </a:r>
          </a:p>
        </p:txBody>
      </p:sp>
      <p:sp>
        <p:nvSpPr>
          <p:cNvPr id="17" name="Rounded Rectangle 16"/>
          <p:cNvSpPr/>
          <p:nvPr/>
        </p:nvSpPr>
        <p:spPr>
          <a:xfrm>
            <a:off x="3017520" y="3252216"/>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Separate feelings from evidence and decide fairly.</a:t>
            </a:r>
          </a:p>
        </p:txBody>
      </p:sp>
      <p:sp>
        <p:nvSpPr>
          <p:cNvPr id="18" name="Rounded Rectangle 17"/>
          <p:cNvSpPr/>
          <p:nvPr/>
        </p:nvSpPr>
        <p:spPr>
          <a:xfrm>
            <a:off x="548640" y="373380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My notes</a:t>
            </a:r>
          </a:p>
        </p:txBody>
      </p:sp>
      <p:sp>
        <p:nvSpPr>
          <p:cNvPr id="19" name="Rounded Rectangle 18"/>
          <p:cNvSpPr/>
          <p:nvPr/>
        </p:nvSpPr>
        <p:spPr>
          <a:xfrm>
            <a:off x="3017520" y="373380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____________________________________________</a:t>
            </a:r>
          </a:p>
        </p:txBody>
      </p:sp>
      <p:sp>
        <p:nvSpPr>
          <p:cNvPr id="20" name="TextBox 19"/>
          <p:cNvSpPr txBox="1"/>
          <p:nvPr/>
        </p:nvSpPr>
        <p:spPr>
          <a:xfrm>
            <a:off x="548640" y="4306824"/>
            <a:ext cx="11094415" cy="365760"/>
          </a:xfrm>
          <a:prstGeom prst="rect">
            <a:avLst/>
          </a:prstGeom>
          <a:noFill/>
        </p:spPr>
        <p:txBody>
          <a:bodyPr wrap="square" anchor="t">
            <a:spAutoFit/>
          </a:bodyPr>
          <a:lstStyle/>
          <a:p>
            <a:pPr algn="l">
              <a:lnSpc>
                <a:spcPct val="115000"/>
              </a:lnSpc>
              <a:spcAft>
                <a:spcPts val="800"/>
              </a:spcAft>
            </a:pPr>
            <a:r>
              <a:rPr sz="1500" b="1">
                <a:solidFill>
                  <a:srgbClr val="FF6B5B"/>
                </a:solidFill>
                <a:latin typeface="Arial"/>
                <a:ea typeface="Microsoft YaHei"/>
              </a:rPr>
              <a:t>🔥 Level-up challenges 进阶挑战 (click)</a:t>
            </a:r>
          </a:p>
        </p:txBody>
      </p:sp>
      <p:sp>
        <p:nvSpPr>
          <p:cNvPr id="21" name="Rounded Rectangle 20"/>
          <p:cNvSpPr/>
          <p:nvPr/>
        </p:nvSpPr>
        <p:spPr>
          <a:xfrm>
            <a:off x="548640" y="4690872"/>
            <a:ext cx="3576218" cy="1527048"/>
          </a:xfrm>
          <a:prstGeom prst="roundRect">
            <a:avLst>
              <a:gd name="adj" fmla="val 12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Mention affinity bias.</a:t>
            </a:r>
          </a:p>
        </p:txBody>
      </p:sp>
      <p:sp>
        <p:nvSpPr>
          <p:cNvPr id="22" name="Rounded Rectangle 21"/>
          <p:cNvSpPr/>
          <p:nvPr/>
        </p:nvSpPr>
        <p:spPr>
          <a:xfrm>
            <a:off x="4307738" y="4690872"/>
            <a:ext cx="3576218" cy="1527048"/>
          </a:xfrm>
          <a:prstGeom prst="roundRect">
            <a:avLst>
              <a:gd name="adj" fmla="val 12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Suggest a third opinion.</a:t>
            </a:r>
          </a:p>
        </p:txBody>
      </p:sp>
      <p:sp>
        <p:nvSpPr>
          <p:cNvPr id="23" name="Rounded Rectangle 22"/>
          <p:cNvSpPr/>
          <p:nvPr/>
        </p:nvSpPr>
        <p:spPr>
          <a:xfrm>
            <a:off x="8066836" y="4690872"/>
            <a:ext cx="3576218" cy="1527048"/>
          </a:xfrm>
          <a:prstGeom prst="roundRect">
            <a:avLst>
              <a:gd name="adj" fmla="val 12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Write a short justification.</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21"/>
                                        </p:tgtEl>
                                        <p:attrNameLst>
                                          <p:attrName>style.visibility</p:attrName>
                                        </p:attrNameLst>
                                      </p:cBhvr>
                                      <p:to>
                                        <p:strVal val="visible"/>
                                      </p:to>
                                    </p:set>
                                    <p:animEffect transition="in" filter="fade">
                                      <p:cBhvr>
                                        <p:cTn id="4" dur="400"/>
                                        <p:tgtEl>
                                          <p:spTgt spid="2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2"/>
                                        </p:tgtEl>
                                        <p:attrNameLst>
                                          <p:attrName>style.visibility</p:attrName>
                                        </p:attrNameLst>
                                      </p:cBhvr>
                                      <p:to>
                                        <p:strVal val="visible"/>
                                      </p:to>
                                    </p:set>
                                    <p:animEffect transition="in" filter="fade">
                                      <p:cBhvr>
                                        <p:cTn id="9" dur="400"/>
                                        <p:tgtEl>
                                          <p:spTgt spid="2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Discussion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7 · Lesson 34 How unconscious bias affects hiring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74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Prepare 2–3 sentences. Use the starters!  每题准备 2–3 句话，用上句型</a:t>
            </a:r>
          </a:p>
        </p:txBody>
      </p:sp>
      <p:sp>
        <p:nvSpPr>
          <p:cNvPr id="9" name="Oval 8"/>
          <p:cNvSpPr/>
          <p:nvPr/>
        </p:nvSpPr>
        <p:spPr>
          <a:xfrm>
            <a:off x="548640" y="1554480"/>
            <a:ext cx="548640" cy="54864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0876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Can bias ever be fully removed?</a:t>
            </a:r>
          </a:p>
          <a:p>
            <a:pPr algn="l">
              <a:lnSpc>
                <a:spcPct val="115000"/>
              </a:lnSpc>
              <a:spcAft>
                <a:spcPts val="800"/>
              </a:spcAft>
            </a:pPr>
            <a:r>
              <a:rPr sz="1400" b="0">
                <a:solidFill>
                  <a:srgbClr val="5F677A"/>
                </a:solidFill>
                <a:latin typeface="Arial"/>
                <a:ea typeface="Microsoft YaHei"/>
              </a:rPr>
              <a:t>💬 “Probably not, but…”</a:t>
            </a:r>
          </a:p>
        </p:txBody>
      </p:sp>
      <p:sp>
        <p:nvSpPr>
          <p:cNvPr id="12" name="Oval 11"/>
          <p:cNvSpPr/>
          <p:nvPr/>
        </p:nvSpPr>
        <p:spPr>
          <a:xfrm>
            <a:off x="548640" y="2331720"/>
            <a:ext cx="548640" cy="54864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28600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33172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Do you think CV photos should be banned?</a:t>
            </a:r>
          </a:p>
          <a:p>
            <a:pPr algn="l">
              <a:lnSpc>
                <a:spcPct val="115000"/>
              </a:lnSpc>
              <a:spcAft>
                <a:spcPts val="800"/>
              </a:spcAft>
            </a:pPr>
            <a:r>
              <a:rPr sz="1400" b="0">
                <a:solidFill>
                  <a:srgbClr val="5F677A"/>
                </a:solidFill>
                <a:latin typeface="Arial"/>
                <a:ea typeface="Microsoft YaHei"/>
              </a:rPr>
              <a:t>💬 “I think they… because…”</a:t>
            </a:r>
          </a:p>
        </p:txBody>
      </p:sp>
      <p:sp>
        <p:nvSpPr>
          <p:cNvPr id="15" name="Oval 14"/>
          <p:cNvSpPr/>
          <p:nvPr/>
        </p:nvSpPr>
        <p:spPr>
          <a:xfrm>
            <a:off x="548640" y="3108960"/>
            <a:ext cx="548640" cy="54864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306324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310896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How can candidates handle bias in interviews?</a:t>
            </a:r>
          </a:p>
          <a:p>
            <a:pPr algn="l">
              <a:lnSpc>
                <a:spcPct val="115000"/>
              </a:lnSpc>
              <a:spcAft>
                <a:spcPts val="800"/>
              </a:spcAft>
            </a:pPr>
            <a:r>
              <a:rPr sz="1400" b="0">
                <a:solidFill>
                  <a:srgbClr val="5F677A"/>
                </a:solidFill>
                <a:latin typeface="Arial"/>
                <a:ea typeface="Microsoft YaHei"/>
              </a:rPr>
              <a:t>💬 “They could… / It might help to…”</a:t>
            </a:r>
          </a:p>
        </p:txBody>
      </p:sp>
      <p:sp>
        <p:nvSpPr>
          <p:cNvPr id="18" name="Oval 17"/>
          <p:cNvSpPr/>
          <p:nvPr/>
        </p:nvSpPr>
        <p:spPr>
          <a:xfrm>
            <a:off x="548640" y="3886200"/>
            <a:ext cx="548640" cy="54864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384048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388620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Why is diversity good for companies?</a:t>
            </a:r>
          </a:p>
          <a:p>
            <a:pPr algn="l">
              <a:lnSpc>
                <a:spcPct val="115000"/>
              </a:lnSpc>
              <a:spcAft>
                <a:spcPts val="800"/>
              </a:spcAft>
            </a:pPr>
            <a:r>
              <a:rPr sz="1400" b="0">
                <a:solidFill>
                  <a:srgbClr val="5F677A"/>
                </a:solidFill>
                <a:latin typeface="Arial"/>
                <a:ea typeface="Microsoft YaHei"/>
              </a:rPr>
              <a:t>💬 “Because different people…”</a:t>
            </a:r>
          </a:p>
        </p:txBody>
      </p:sp>
      <p:sp>
        <p:nvSpPr>
          <p:cNvPr id="21" name="Oval 20"/>
          <p:cNvSpPr/>
          <p:nvPr/>
        </p:nvSpPr>
        <p:spPr>
          <a:xfrm>
            <a:off x="548640" y="4663440"/>
            <a:ext cx="548640" cy="548640"/>
          </a:xfrm>
          <a:prstGeom prst="ellipse">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5</a:t>
            </a:r>
          </a:p>
        </p:txBody>
      </p:sp>
      <p:sp>
        <p:nvSpPr>
          <p:cNvPr id="22" name="Rounded Rectangle 21"/>
          <p:cNvSpPr/>
          <p:nvPr/>
        </p:nvSpPr>
        <p:spPr>
          <a:xfrm>
            <a:off x="1234440" y="461772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325880" y="466344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Who is responsible for reducing bias?</a:t>
            </a:r>
          </a:p>
          <a:p>
            <a:pPr algn="l">
              <a:lnSpc>
                <a:spcPct val="115000"/>
              </a:lnSpc>
              <a:spcAft>
                <a:spcPts val="800"/>
              </a:spcAft>
            </a:pPr>
            <a:r>
              <a:rPr sz="1400" b="0">
                <a:solidFill>
                  <a:srgbClr val="5F677A"/>
                </a:solidFill>
                <a:latin typeface="Arial"/>
                <a:ea typeface="Microsoft YaHei"/>
              </a:rPr>
              <a:t>💬 “Everyone, but especially…”</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par>
                    <p:cTn id="56" fill="hold">
                      <p:stCondLst>
                        <p:cond delay="indefinite"/>
                      </p:stCondLst>
                      <p:childTnLst>
                        <p:par>
                          <p:cTn id="57" fill="hold">
                            <p:stCondLst>
                              <p:cond delay="0"/>
                            </p:stCondLst>
                            <p:childTnLst>
                              <p:par>
                                <p:cTn id="49" presetID="10" presetClass="entr" presetSubtype="0" fill="hold" nodeType="clickEffect">
                                  <p:stCondLst>
                                    <p:cond delay="0"/>
                                  </p:stCondLst>
                                  <p:childTnLst>
                                    <p:set>
                                      <p:cBhvr>
                                        <p:cTn id="47" dur="1" fill="hold">
                                          <p:stCondLst>
                                            <p:cond delay="0"/>
                                          </p:stCondLst>
                                        </p:cTn>
                                        <p:tgtEl>
                                          <p:spTgt spid="21"/>
                                        </p:tgtEl>
                                        <p:attrNameLst>
                                          <p:attrName>style.visibility</p:attrName>
                                        </p:attrNameLst>
                                      </p:cBhvr>
                                      <p:to>
                                        <p:strVal val="visible"/>
                                      </p:to>
                                    </p:set>
                                    <p:animEffect transition="in" filter="fade">
                                      <p:cBhvr>
                                        <p:cTn id="48" dur="400"/>
                                        <p:tgtEl>
                                          <p:spTgt spid="21"/>
                                        </p:tgtEl>
                                      </p:cBhvr>
                                    </p:animEffect>
                                  </p:childTnLst>
                                </p:cTn>
                              </p:par>
                              <p:par>
                                <p:cTn id="52" presetID="10" presetClass="entr" presetSubtype="0" fill="hold" nodeType="with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fade">
                                      <p:cBhvr>
                                        <p:cTn id="51" dur="400"/>
                                        <p:tgtEl>
                                          <p:spTgt spid="22"/>
                                        </p:tgtEl>
                                      </p:cBhvr>
                                    </p:animEffect>
                                  </p:childTnLst>
                                </p:cTn>
                              </p:par>
                              <p:par>
                                <p:cTn id="55" presetID="10" presetClass="entr" presetSubtype="0" fill="hold" nodeType="withEffect">
                                  <p:stCondLst>
                                    <p:cond delay="0"/>
                                  </p:stCondLst>
                                  <p:childTnLst>
                                    <p:set>
                                      <p:cBhvr>
                                        <p:cTn id="53" dur="1" fill="hold">
                                          <p:stCondLst>
                                            <p:cond delay="0"/>
                                          </p:stCondLst>
                                        </p:cTn>
                                        <p:tgtEl>
                                          <p:spTgt spid="23"/>
                                        </p:tgtEl>
                                        <p:attrNameLst>
                                          <p:attrName>style.visibility</p:attrName>
                                        </p:attrNameLst>
                                      </p:cBhvr>
                                      <p:to>
                                        <p:strVal val="visible"/>
                                      </p:to>
                                    </p:set>
                                    <p:animEffect transition="in" filter="fade">
                                      <p:cBhvr>
                                        <p:cTn id="5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Model Answer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7 · Lesson 34 How unconscious bias affects hiring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75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0584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Model answer (Question 1)</a:t>
            </a:r>
          </a:p>
        </p:txBody>
      </p:sp>
      <p:sp>
        <p:nvSpPr>
          <p:cNvPr id="9" name="Rounded Rectangle 8"/>
          <p:cNvSpPr/>
          <p:nvPr/>
        </p:nvSpPr>
        <p:spPr>
          <a:xfrm>
            <a:off x="548640" y="1463040"/>
            <a:ext cx="11094415" cy="406908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1371600"/>
            <a:ext cx="914400" cy="914400"/>
          </a:xfrm>
          <a:prstGeom prst="rect">
            <a:avLst/>
          </a:prstGeom>
          <a:noFill/>
        </p:spPr>
        <p:txBody>
          <a:bodyPr wrap="square" anchor="t">
            <a:spAutoFit/>
          </a:bodyPr>
          <a:lstStyle/>
          <a:p>
            <a:pPr algn="l">
              <a:lnSpc>
                <a:spcPct val="115000"/>
              </a:lnSpc>
              <a:spcAft>
                <a:spcPts val="800"/>
              </a:spcAft>
            </a:pPr>
            <a:r>
              <a:rPr sz="5400" b="0">
                <a:solidFill>
                  <a:srgbClr val="4A90E2"/>
                </a:solidFill>
                <a:latin typeface="Arial"/>
                <a:ea typeface="Microsoft YaHei"/>
              </a:rPr>
              <a:t>❝</a:t>
            </a:r>
          </a:p>
        </p:txBody>
      </p:sp>
      <p:sp>
        <p:nvSpPr>
          <p:cNvPr id="11" name="TextBox 10"/>
          <p:cNvSpPr txBox="1"/>
          <p:nvPr/>
        </p:nvSpPr>
        <p:spPr>
          <a:xfrm>
            <a:off x="1463040" y="1600200"/>
            <a:ext cx="9814255" cy="3794760"/>
          </a:xfrm>
          <a:prstGeom prst="rect">
            <a:avLst/>
          </a:prstGeom>
          <a:noFill/>
        </p:spPr>
        <p:txBody>
          <a:bodyPr wrap="square" anchor="t">
            <a:spAutoFit/>
          </a:bodyPr>
          <a:lstStyle/>
          <a:p>
            <a:pPr algn="l">
              <a:lnSpc>
                <a:spcPct val="130000"/>
              </a:lnSpc>
              <a:spcAft>
                <a:spcPts val="800"/>
              </a:spcAft>
            </a:pPr>
            <a:r>
              <a:rPr sz="2600" b="0">
                <a:solidFill>
                  <a:srgbClr val="1F2A44"/>
                </a:solidFill>
                <a:latin typeface="Arial"/>
                <a:ea typeface="Microsoft YaHei"/>
              </a:rPr>
              <a:t>I don’t think bias can be completely removed because it’s part of how our brains work. But I believe it can be reduced. If companies use structured interviews, clear criteria and diverse panels, decisions become more consistent. It also helps to be aware of our own habits. The goal isn’t perfection. It’s fairer decisions.</a:t>
            </a:r>
          </a:p>
        </p:txBody>
      </p:sp>
      <p:sp>
        <p:nvSpPr>
          <p:cNvPr id="12" name="Rounded Rectangle 11"/>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“part of how our brains work” 大脑运作方式的一部分;“The goal isn’t… It’s…” 对比强调。</a:t>
            </a:r>
          </a:p>
        </p:txBody>
      </p:sp>
    </p:spTree>
  </p:cSld>
  <p:clrMapOvr>
    <a:masterClrMapping/>
  </p:clrMapOvr>
  <p:transition spd="med">
    <p:fade/>
  </p:transition>
</p:sld>
</file>

<file path=ppt/slides/slide7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000" b="1">
                <a:solidFill>
                  <a:srgbClr val="1F2A44"/>
                </a:solidFill>
                <a:latin typeface="Arial"/>
                <a:ea typeface="Microsoft YaHei"/>
              </a:rPr>
              <a:t>💡 Discussing sensitive topics tactfully</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7 · Lesson 34 How unconscious bias affects hiring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76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谈敏感话题</a:t>
            </a:r>
          </a:p>
        </p:txBody>
      </p:sp>
      <p:graphicFrame>
        <p:nvGraphicFramePr>
          <p:cNvPr id="9" name="Table 8"/>
          <p:cNvGraphicFramePr>
            <a:graphicFrameLocks noGrp="1"/>
          </p:cNvGraphicFramePr>
          <p:nvPr/>
        </p:nvGraphicFramePr>
        <p:xfrm>
          <a:off x="548640" y="1417320"/>
          <a:ext cx="11094415" cy="2042160"/>
        </p:xfrm>
        <a:graphic>
          <a:graphicData uri="http://schemas.openxmlformats.org/drawingml/2006/table">
            <a:tbl>
              <a:tblPr firstRow="1" bandRow="1">
                <a:tableStyleId>{5C22544A-7EE6-4342-B048-85BDC9FD1C3A}</a:tableStyleId>
              </a:tblPr>
              <a:tblGrid>
                <a:gridCol w="5547207"/>
                <a:gridCol w="5547208"/>
              </a:tblGrid>
              <a:tr h="408432">
                <a:tc>
                  <a:txBody>
                    <a:bodyPr wrap="square"/>
                    <a:lstStyle/>
                    <a:p>
                      <a:r>
                        <a:rPr sz="1600" b="1">
                          <a:solidFill>
                            <a:srgbClr val="FFFFFF"/>
                          </a:solidFill>
                          <a:latin typeface="Arial"/>
                          <a:ea typeface="Microsoft YaHei"/>
                        </a:rPr>
                        <a:t>Too strong</a:t>
                      </a:r>
                    </a:p>
                  </a:txBody>
                  <a:tcPr anchor="ctr">
                    <a:solidFill>
                      <a:srgbClr val="3CC49A"/>
                    </a:solidFill>
                  </a:tcPr>
                </a:tc>
                <a:tc>
                  <a:txBody>
                    <a:bodyPr wrap="square"/>
                    <a:lstStyle/>
                    <a:p>
                      <a:r>
                        <a:rPr sz="1600" b="1">
                          <a:solidFill>
                            <a:srgbClr val="FFFFFF"/>
                          </a:solidFill>
                          <a:latin typeface="Arial"/>
                          <a:ea typeface="Microsoft YaHei"/>
                        </a:rPr>
                        <a:t>More tactful</a:t>
                      </a:r>
                    </a:p>
                  </a:txBody>
                  <a:tcPr anchor="ctr">
                    <a:solidFill>
                      <a:srgbClr val="3CC49A"/>
                    </a:solidFill>
                  </a:tcPr>
                </a:tc>
              </a:tr>
              <a:tr h="408432">
                <a:tc>
                  <a:txBody>
                    <a:bodyPr wrap="square"/>
                    <a:lstStyle/>
                    <a:p>
                      <a:r>
                        <a:rPr sz="1600" b="1">
                          <a:solidFill>
                            <a:srgbClr val="1F2A44"/>
                          </a:solidFill>
                          <a:latin typeface="Arial"/>
                          <a:ea typeface="Microsoft YaHei"/>
                        </a:rPr>
                        <a:t>You are biased.</a:t>
                      </a:r>
                    </a:p>
                  </a:txBody>
                  <a:tcPr anchor="ctr">
                    <a:solidFill>
                      <a:srgbClr val="FFFFFF"/>
                    </a:solidFill>
                  </a:tcPr>
                </a:tc>
                <a:tc>
                  <a:txBody>
                    <a:bodyPr wrap="square"/>
                    <a:lstStyle/>
                    <a:p>
                      <a:r>
                        <a:rPr sz="1600" b="0">
                          <a:solidFill>
                            <a:srgbClr val="1F2A44"/>
                          </a:solidFill>
                          <a:latin typeface="Arial"/>
                          <a:ea typeface="Microsoft YaHei"/>
                        </a:rPr>
                        <a:t>There may be some bias in the process.</a:t>
                      </a:r>
                    </a:p>
                  </a:txBody>
                  <a:tcPr anchor="ctr">
                    <a:solidFill>
                      <a:srgbClr val="FFFFFF"/>
                    </a:solidFill>
                  </a:tcPr>
                </a:tc>
              </a:tr>
              <a:tr h="408432">
                <a:tc>
                  <a:txBody>
                    <a:bodyPr wrap="square"/>
                    <a:lstStyle/>
                    <a:p>
                      <a:r>
                        <a:rPr sz="1600" b="1">
                          <a:solidFill>
                            <a:srgbClr val="1F2A44"/>
                          </a:solidFill>
                          <a:latin typeface="Arial"/>
                          <a:ea typeface="Microsoft YaHei"/>
                        </a:rPr>
                        <a:t>Managers are unfair.</a:t>
                      </a:r>
                    </a:p>
                  </a:txBody>
                  <a:tcPr anchor="ctr">
                    <a:solidFill>
                      <a:srgbClr val="FFEFD9"/>
                    </a:solidFill>
                  </a:tcPr>
                </a:tc>
                <a:tc>
                  <a:txBody>
                    <a:bodyPr wrap="square"/>
                    <a:lstStyle/>
                    <a:p>
                      <a:r>
                        <a:rPr sz="1600" b="0">
                          <a:solidFill>
                            <a:srgbClr val="1F2A44"/>
                          </a:solidFill>
                          <a:latin typeface="Arial"/>
                          <a:ea typeface="Microsoft YaHei"/>
                        </a:rPr>
                        <a:t>Decisions can sometimes feel unfair.</a:t>
                      </a:r>
                    </a:p>
                  </a:txBody>
                  <a:tcPr anchor="ctr">
                    <a:solidFill>
                      <a:srgbClr val="FFEFD9"/>
                    </a:solidFill>
                  </a:tcPr>
                </a:tc>
              </a:tr>
              <a:tr h="408432">
                <a:tc>
                  <a:txBody>
                    <a:bodyPr wrap="square"/>
                    <a:lstStyle/>
                    <a:p>
                      <a:r>
                        <a:rPr sz="1600" b="1">
                          <a:solidFill>
                            <a:srgbClr val="1F2A44"/>
                          </a:solidFill>
                          <a:latin typeface="Arial"/>
                          <a:ea typeface="Microsoft YaHei"/>
                        </a:rPr>
                        <a:t>Women are better at…</a:t>
                      </a:r>
                    </a:p>
                  </a:txBody>
                  <a:tcPr anchor="ctr">
                    <a:solidFill>
                      <a:srgbClr val="FFFFFF"/>
                    </a:solidFill>
                  </a:tcPr>
                </a:tc>
                <a:tc>
                  <a:txBody>
                    <a:bodyPr wrap="square"/>
                    <a:lstStyle/>
                    <a:p>
                      <a:r>
                        <a:rPr sz="1600" b="0">
                          <a:solidFill>
                            <a:srgbClr val="1F2A44"/>
                          </a:solidFill>
                          <a:latin typeface="Arial"/>
                          <a:ea typeface="Microsoft YaHei"/>
                        </a:rPr>
                        <a:t>Some people tend to…</a:t>
                      </a:r>
                    </a:p>
                  </a:txBody>
                  <a:tcPr anchor="ctr">
                    <a:solidFill>
                      <a:srgbClr val="FFFFFF"/>
                    </a:solidFill>
                  </a:tcPr>
                </a:tc>
              </a:tr>
              <a:tr h="408432">
                <a:tc>
                  <a:txBody>
                    <a:bodyPr wrap="square"/>
                    <a:lstStyle/>
                    <a:p>
                      <a:r>
                        <a:rPr sz="1600" b="1">
                          <a:solidFill>
                            <a:srgbClr val="1F2A44"/>
                          </a:solidFill>
                          <a:latin typeface="Arial"/>
                          <a:ea typeface="Microsoft YaHei"/>
                        </a:rPr>
                        <a:t>That’s discrimination!</a:t>
                      </a:r>
                    </a:p>
                  </a:txBody>
                  <a:tcPr anchor="ctr">
                    <a:solidFill>
                      <a:srgbClr val="FFEFD9"/>
                    </a:solidFill>
                  </a:tcPr>
                </a:tc>
                <a:tc>
                  <a:txBody>
                    <a:bodyPr wrap="square"/>
                    <a:lstStyle/>
                    <a:p>
                      <a:r>
                        <a:rPr sz="1600" b="0">
                          <a:solidFill>
                            <a:srgbClr val="1F2A44"/>
                          </a:solidFill>
                          <a:latin typeface="Arial"/>
                          <a:ea typeface="Microsoft YaHei"/>
                        </a:rPr>
                        <a:t>That could raise concerns about fairness.</a:t>
                      </a:r>
                    </a:p>
                  </a:txBody>
                  <a:tcPr anchor="ctr">
                    <a:solidFill>
                      <a:srgbClr val="FFEFD9"/>
                    </a:solidFill>
                  </a:tcPr>
                </a:tc>
              </a:tr>
            </a:tbl>
          </a:graphicData>
        </a:graphic>
      </p:graphicFrame>
    </p:spTree>
  </p:cSld>
  <p:clrMapOvr>
    <a:masterClrMapping/>
  </p:clrMapOvr>
  <p:transition spd="med">
    <p:fade/>
  </p:transition>
</p:sld>
</file>

<file path=ppt/slides/slide7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000" b="1">
                <a:solidFill>
                  <a:srgbClr val="1F2A44"/>
                </a:solidFill>
                <a:latin typeface="Arial"/>
                <a:ea typeface="Microsoft YaHei"/>
              </a:rPr>
              <a:t>💡 Discussing sensitive topics tactfully</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7 · Lesson 34 How unconscious bias affects hiring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77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谈敏感话题</a:t>
            </a:r>
          </a:p>
        </p:txBody>
      </p:sp>
      <p:sp>
        <p:nvSpPr>
          <p:cNvPr id="9" name="Rounded Rectangle 8"/>
          <p:cNvSpPr/>
          <p:nvPr/>
        </p:nvSpPr>
        <p:spPr>
          <a:xfrm>
            <a:off x="548640" y="1417320"/>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44195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417320"/>
            <a:ext cx="10728655" cy="441959"/>
          </a:xfrm>
          <a:prstGeom prst="rect">
            <a:avLst/>
          </a:prstGeom>
          <a:noFill/>
        </p:spPr>
        <p:txBody>
          <a:bodyPr wrap="square" anchor="ctr">
            <a:spAutoFit/>
          </a:bodyPr>
          <a:lstStyle/>
          <a:p>
            <a:r>
              <a:rPr sz="1700" b="0">
                <a:solidFill>
                  <a:srgbClr val="1F2A44"/>
                </a:solidFill>
                <a:latin typeface="Arial"/>
                <a:ea typeface="Microsoft YaHei"/>
              </a:rPr>
              <a:t>Use modals (can, may, might, could) and tend to to avoid generalising.</a:t>
            </a:r>
          </a:p>
        </p:txBody>
      </p:sp>
    </p:spTree>
  </p:cSld>
  <p:clrMapOvr>
    <a:masterClrMapping/>
  </p:clrMapOvr>
  <p:transition spd="med">
    <p:fade/>
  </p:transition>
</p:sld>
</file>

<file path=ppt/slides/slide7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7 · Lesson 34 How unconscious bias affects hiring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78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The bias is affect hiring.</a:t>
            </a:r>
          </a:p>
        </p:txBody>
      </p:sp>
      <p:sp>
        <p:nvSpPr>
          <p:cNvPr id="10" name="Rounded Rectangle 9"/>
          <p:cNvSpPr/>
          <p:nvPr/>
        </p:nvSpPr>
        <p:spPr>
          <a:xfrm>
            <a:off x="6187287" y="1463040"/>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Bias affects hiring.</a:t>
            </a:r>
          </a:p>
          <a:p>
            <a:pPr algn="l">
              <a:spcAft>
                <a:spcPts val="200"/>
              </a:spcAft>
            </a:pPr>
            <a:r>
              <a:rPr sz="1200" b="0">
                <a:solidFill>
                  <a:srgbClr val="FFFFFF"/>
                </a:solidFill>
                <a:latin typeface="Arial"/>
                <a:ea typeface="Microsoft YaHei"/>
              </a:rPr>
              <a:t>动词形式</a:t>
            </a:r>
          </a:p>
        </p:txBody>
      </p:sp>
      <p:sp>
        <p:nvSpPr>
          <p:cNvPr id="11" name="Rounded Rectangle 10"/>
          <p:cNvSpPr/>
          <p:nvPr/>
        </p:nvSpPr>
        <p:spPr>
          <a:xfrm>
            <a:off x="548640" y="2164079"/>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It can lead to the unfair.</a:t>
            </a:r>
          </a:p>
        </p:txBody>
      </p:sp>
      <p:sp>
        <p:nvSpPr>
          <p:cNvPr id="12" name="Rounded Rectangle 11"/>
          <p:cNvSpPr/>
          <p:nvPr/>
        </p:nvSpPr>
        <p:spPr>
          <a:xfrm>
            <a:off x="6187287" y="2164079"/>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It can lead to unfairness. / unfair outcomes.</a:t>
            </a:r>
          </a:p>
          <a:p>
            <a:pPr algn="l">
              <a:spcAft>
                <a:spcPts val="200"/>
              </a:spcAft>
            </a:pPr>
            <a:r>
              <a:rPr sz="1200" b="0">
                <a:solidFill>
                  <a:srgbClr val="FFFFFF"/>
                </a:solidFill>
                <a:latin typeface="Arial"/>
                <a:ea typeface="Microsoft YaHei"/>
              </a:rPr>
              <a:t>名词</a:t>
            </a:r>
          </a:p>
        </p:txBody>
      </p:sp>
      <p:sp>
        <p:nvSpPr>
          <p:cNvPr id="13" name="Rounded Rectangle 12"/>
          <p:cNvSpPr/>
          <p:nvPr/>
        </p:nvSpPr>
        <p:spPr>
          <a:xfrm>
            <a:off x="548640" y="2865118"/>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Old people are not good at technology.</a:t>
            </a:r>
          </a:p>
        </p:txBody>
      </p:sp>
      <p:sp>
        <p:nvSpPr>
          <p:cNvPr id="14" name="Rounded Rectangle 13"/>
          <p:cNvSpPr/>
          <p:nvPr/>
        </p:nvSpPr>
        <p:spPr>
          <a:xfrm>
            <a:off x="6187287" y="2865118"/>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Some older people may find technology harder.</a:t>
            </a:r>
          </a:p>
          <a:p>
            <a:pPr algn="l">
              <a:spcAft>
                <a:spcPts val="200"/>
              </a:spcAft>
            </a:pPr>
            <a:r>
              <a:rPr sz="1200" b="0">
                <a:solidFill>
                  <a:srgbClr val="FFFFFF"/>
                </a:solidFill>
                <a:latin typeface="Arial"/>
                <a:ea typeface="Microsoft YaHei"/>
              </a:rPr>
              <a:t>避免刻板</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7 · Lesson 34 How unconscious bias affects hiring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79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We should be aware about it.</a:t>
            </a:r>
          </a:p>
        </p:txBody>
      </p:sp>
      <p:sp>
        <p:nvSpPr>
          <p:cNvPr id="10" name="Rounded Rectangle 9"/>
          <p:cNvSpPr/>
          <p:nvPr/>
        </p:nvSpPr>
        <p:spPr>
          <a:xfrm>
            <a:off x="6187287" y="1463040"/>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We should be aware of it.</a:t>
            </a:r>
          </a:p>
          <a:p>
            <a:pPr algn="l">
              <a:spcAft>
                <a:spcPts val="200"/>
              </a:spcAft>
            </a:pPr>
            <a:r>
              <a:rPr sz="1200" b="0">
                <a:solidFill>
                  <a:srgbClr val="FFFFFF"/>
                </a:solidFill>
                <a:latin typeface="Arial"/>
                <a:ea typeface="Microsoft YaHei"/>
              </a:rPr>
              <a:t>aware of</a:t>
            </a:r>
          </a:p>
        </p:txBody>
      </p:sp>
      <p:sp>
        <p:nvSpPr>
          <p:cNvPr id="11" name="Rounded Rectangle 10"/>
          <p:cNvSpPr/>
          <p:nvPr/>
        </p:nvSpPr>
        <p:spPr>
          <a:xfrm>
            <a:off x="548640" y="2164079"/>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Everyone have bias.</a:t>
            </a:r>
          </a:p>
        </p:txBody>
      </p:sp>
      <p:sp>
        <p:nvSpPr>
          <p:cNvPr id="12" name="Rounded Rectangle 11"/>
          <p:cNvSpPr/>
          <p:nvPr/>
        </p:nvSpPr>
        <p:spPr>
          <a:xfrm>
            <a:off x="6187287" y="2164079"/>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Everyone has a bias. / Everybody is biased.</a:t>
            </a:r>
          </a:p>
          <a:p>
            <a:pPr algn="l">
              <a:spcAft>
                <a:spcPts val="200"/>
              </a:spcAft>
            </a:pPr>
            <a:r>
              <a:rPr sz="1200" b="0">
                <a:solidFill>
                  <a:srgbClr val="FFFFFF"/>
                </a:solidFill>
                <a:latin typeface="Arial"/>
                <a:ea typeface="Microsoft YaHei"/>
              </a:rPr>
              <a:t>everyone + 单数</a:t>
            </a:r>
          </a:p>
        </p:txBody>
      </p:sp>
      <p:sp>
        <p:nvSpPr>
          <p:cNvPr id="13" name="Rounded Rectangle 12"/>
          <p:cNvSpPr/>
          <p:nvPr/>
        </p:nvSpPr>
        <p:spPr>
          <a:xfrm>
            <a:off x="548640" y="2865118"/>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A fair hiring is important.</a:t>
            </a:r>
          </a:p>
        </p:txBody>
      </p:sp>
      <p:sp>
        <p:nvSpPr>
          <p:cNvPr id="14" name="Rounded Rectangle 13"/>
          <p:cNvSpPr/>
          <p:nvPr/>
        </p:nvSpPr>
        <p:spPr>
          <a:xfrm>
            <a:off x="6187287" y="2865118"/>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Fair hiring is important.</a:t>
            </a:r>
          </a:p>
          <a:p>
            <a:pPr algn="l">
              <a:spcAft>
                <a:spcPts val="200"/>
              </a:spcAft>
            </a:pPr>
            <a:r>
              <a:rPr sz="1200" b="0">
                <a:solidFill>
                  <a:srgbClr val="FFFFFF"/>
                </a:solidFill>
                <a:latin typeface="Arial"/>
                <a:ea typeface="Microsoft YaHei"/>
              </a:rPr>
              <a:t>不可数</a:t>
            </a:r>
          </a:p>
        </p:txBody>
      </p:sp>
      <p:sp>
        <p:nvSpPr>
          <p:cNvPr id="18" name="Rounded Rectangle 1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Check affect (verb) vs effect (noun), aware of, everyone + singular, and avoid generalisations.</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Cultural tips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7 · Lesson 34 How unconscious bias affects hiring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80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文化小贴士</a:t>
            </a:r>
          </a:p>
        </p:txBody>
      </p:sp>
      <p:sp>
        <p:nvSpPr>
          <p:cNvPr id="9" name="Rounded Rectangle 8"/>
          <p:cNvSpPr/>
          <p:nvPr/>
        </p:nvSpPr>
        <p:spPr>
          <a:xfrm>
            <a:off x="548640" y="1417320"/>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70103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417320"/>
            <a:ext cx="10728655" cy="701039"/>
          </a:xfrm>
          <a:prstGeom prst="rect">
            <a:avLst/>
          </a:prstGeom>
          <a:noFill/>
        </p:spPr>
        <p:txBody>
          <a:bodyPr wrap="square" anchor="ctr">
            <a:spAutoFit/>
          </a:bodyPr>
          <a:lstStyle/>
          <a:p>
            <a:r>
              <a:rPr sz="1700" b="0">
                <a:solidFill>
                  <a:srgbClr val="1F2A44"/>
                </a:solidFill>
                <a:latin typeface="Arial"/>
                <a:ea typeface="Microsoft YaHei"/>
              </a:rPr>
              <a:t>Be careful with personal topics. In Western workplaces, age, marital status and religion can’t be used in hiring.</a:t>
            </a:r>
          </a:p>
        </p:txBody>
      </p:sp>
      <p:sp>
        <p:nvSpPr>
          <p:cNvPr id="12" name="Rounded Rectangle 11"/>
          <p:cNvSpPr/>
          <p:nvPr/>
        </p:nvSpPr>
        <p:spPr>
          <a:xfrm>
            <a:off x="548640" y="2209799"/>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2209799"/>
            <a:ext cx="91440" cy="441959"/>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2209799"/>
            <a:ext cx="10728655" cy="441959"/>
          </a:xfrm>
          <a:prstGeom prst="rect">
            <a:avLst/>
          </a:prstGeom>
          <a:noFill/>
        </p:spPr>
        <p:txBody>
          <a:bodyPr wrap="square" anchor="ctr">
            <a:spAutoFit/>
          </a:bodyPr>
          <a:lstStyle/>
          <a:p>
            <a:r>
              <a:rPr sz="1700" b="0">
                <a:solidFill>
                  <a:srgbClr val="1F2A44"/>
                </a:solidFill>
                <a:latin typeface="Arial"/>
                <a:ea typeface="Microsoft YaHei"/>
              </a:rPr>
              <a:t>Use “people” language. “People with gaps in CVs” rather than “women who had children”.</a:t>
            </a:r>
          </a:p>
        </p:txBody>
      </p:sp>
      <p:sp>
        <p:nvSpPr>
          <p:cNvPr id="15" name="Rounded Rectangle 14"/>
          <p:cNvSpPr/>
          <p:nvPr/>
        </p:nvSpPr>
        <p:spPr>
          <a:xfrm>
            <a:off x="548640" y="2743198"/>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2743198"/>
            <a:ext cx="91440" cy="441959"/>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2743198"/>
            <a:ext cx="10728655" cy="441959"/>
          </a:xfrm>
          <a:prstGeom prst="rect">
            <a:avLst/>
          </a:prstGeom>
          <a:noFill/>
        </p:spPr>
        <p:txBody>
          <a:bodyPr wrap="square" anchor="ctr">
            <a:spAutoFit/>
          </a:bodyPr>
          <a:lstStyle/>
          <a:p>
            <a:r>
              <a:rPr sz="1700" b="0">
                <a:solidFill>
                  <a:srgbClr val="1F2A44"/>
                </a:solidFill>
                <a:latin typeface="Arial"/>
                <a:ea typeface="Microsoft YaHei"/>
              </a:rPr>
              <a:t>Evidence-based decisions. Interviewers are asked to justify scores in writing.</a:t>
            </a:r>
          </a:p>
        </p:txBody>
      </p:sp>
      <p:sp>
        <p:nvSpPr>
          <p:cNvPr id="18" name="Rounded Rectangle 17"/>
          <p:cNvSpPr/>
          <p:nvPr/>
        </p:nvSpPr>
        <p:spPr>
          <a:xfrm>
            <a:off x="548640" y="3276597"/>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48640" y="3276597"/>
            <a:ext cx="91440" cy="441959"/>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 y="3276597"/>
            <a:ext cx="10728655" cy="441959"/>
          </a:xfrm>
          <a:prstGeom prst="rect">
            <a:avLst/>
          </a:prstGeom>
          <a:noFill/>
        </p:spPr>
        <p:txBody>
          <a:bodyPr wrap="square" anchor="ctr">
            <a:spAutoFit/>
          </a:bodyPr>
          <a:lstStyle/>
          <a:p>
            <a:r>
              <a:rPr sz="1700" b="0">
                <a:solidFill>
                  <a:srgbClr val="1F2A44"/>
                </a:solidFill>
                <a:latin typeface="Arial"/>
                <a:ea typeface="Microsoft YaHei"/>
              </a:rPr>
              <a:t>Discuss bias as a process issue. Not “you are biased” but “our process can allow bias”.</a:t>
            </a:r>
          </a:p>
        </p:txBody>
      </p:sp>
    </p:spTree>
  </p:cSld>
  <p:clrMapOvr>
    <a:masterClrMapping/>
  </p:clrMapOvr>
  <p:transition spd="med">
    <p:fade/>
  </p:transition>
</p:sld>
</file>

<file path=ppt/slides/slide8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Can-do Check 掌握度自检</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Lesson 34 wrap-up</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7 · Lesson 34 How unconscious bias affects hiring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81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Rate yourself: ⭐ not yet · ⭐⭐ almost · ⭐⭐⭐ I can do it!  给自己打星</a:t>
            </a:r>
          </a:p>
        </p:txBody>
      </p:sp>
      <p:sp>
        <p:nvSpPr>
          <p:cNvPr id="9" name="Rounded Rectangle 8"/>
          <p:cNvSpPr/>
          <p:nvPr/>
        </p:nvSpPr>
        <p:spPr>
          <a:xfrm>
            <a:off x="548640" y="1508760"/>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508760"/>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1" name="TextBox 10"/>
          <p:cNvSpPr txBox="1"/>
          <p:nvPr/>
        </p:nvSpPr>
        <p:spPr>
          <a:xfrm>
            <a:off x="1234440" y="1508760"/>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explain unconscious bias and give an example.</a:t>
            </a:r>
          </a:p>
        </p:txBody>
      </p:sp>
      <p:sp>
        <p:nvSpPr>
          <p:cNvPr id="12" name="TextBox 11"/>
          <p:cNvSpPr txBox="1"/>
          <p:nvPr/>
        </p:nvSpPr>
        <p:spPr>
          <a:xfrm>
            <a:off x="9539935" y="1508760"/>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3" name="Rounded Rectangle 12"/>
          <p:cNvSpPr/>
          <p:nvPr/>
        </p:nvSpPr>
        <p:spPr>
          <a:xfrm>
            <a:off x="548640" y="2106168"/>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2106168"/>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5" name="TextBox 14"/>
          <p:cNvSpPr txBox="1"/>
          <p:nvPr/>
        </p:nvSpPr>
        <p:spPr>
          <a:xfrm>
            <a:off x="1234440" y="2106168"/>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propose a fairer hiring process.</a:t>
            </a:r>
          </a:p>
        </p:txBody>
      </p:sp>
      <p:sp>
        <p:nvSpPr>
          <p:cNvPr id="16" name="TextBox 15"/>
          <p:cNvSpPr txBox="1"/>
          <p:nvPr/>
        </p:nvSpPr>
        <p:spPr>
          <a:xfrm>
            <a:off x="9539935" y="2106168"/>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7" name="Rounded Rectangle 16"/>
          <p:cNvSpPr/>
          <p:nvPr/>
        </p:nvSpPr>
        <p:spPr>
          <a:xfrm>
            <a:off x="548640" y="2703576"/>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2703576"/>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9" name="TextBox 18"/>
          <p:cNvSpPr txBox="1"/>
          <p:nvPr/>
        </p:nvSpPr>
        <p:spPr>
          <a:xfrm>
            <a:off x="1234440" y="2703576"/>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discuss sensitive topics with hedging.</a:t>
            </a:r>
          </a:p>
        </p:txBody>
      </p:sp>
      <p:sp>
        <p:nvSpPr>
          <p:cNvPr id="20" name="TextBox 19"/>
          <p:cNvSpPr txBox="1"/>
          <p:nvPr/>
        </p:nvSpPr>
        <p:spPr>
          <a:xfrm>
            <a:off x="9539935" y="2703576"/>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1" name="Rounded Rectangle 20"/>
          <p:cNvSpPr/>
          <p:nvPr/>
        </p:nvSpPr>
        <p:spPr>
          <a:xfrm>
            <a:off x="548640" y="3300984"/>
            <a:ext cx="11094415" cy="8107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3300984"/>
            <a:ext cx="548640" cy="8107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3" name="TextBox 22"/>
          <p:cNvSpPr txBox="1"/>
          <p:nvPr/>
        </p:nvSpPr>
        <p:spPr>
          <a:xfrm>
            <a:off x="1234440" y="3300984"/>
            <a:ext cx="8168335" cy="8107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use affect (verb), aware of and everyone + singular correctly.</a:t>
            </a:r>
          </a:p>
        </p:txBody>
      </p:sp>
      <p:sp>
        <p:nvSpPr>
          <p:cNvPr id="24" name="TextBox 23"/>
          <p:cNvSpPr txBox="1"/>
          <p:nvPr/>
        </p:nvSpPr>
        <p:spPr>
          <a:xfrm>
            <a:off x="9539935" y="3300984"/>
            <a:ext cx="2011680" cy="8107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5" name="Rounded Rectangle 24"/>
          <p:cNvSpPr/>
          <p:nvPr/>
        </p:nvSpPr>
        <p:spPr>
          <a:xfrm>
            <a:off x="548640" y="4203192"/>
            <a:ext cx="11094415" cy="8107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4203192"/>
            <a:ext cx="548640" cy="8107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7" name="TextBox 26"/>
          <p:cNvSpPr txBox="1"/>
          <p:nvPr/>
        </p:nvSpPr>
        <p:spPr>
          <a:xfrm>
            <a:off x="1234440" y="4203192"/>
            <a:ext cx="8168335" cy="8107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use at least three ★ expressions from this lesson in my own sentences.</a:t>
            </a:r>
          </a:p>
        </p:txBody>
      </p:sp>
      <p:sp>
        <p:nvSpPr>
          <p:cNvPr id="28" name="TextBox 27"/>
          <p:cNvSpPr txBox="1"/>
          <p:nvPr/>
        </p:nvSpPr>
        <p:spPr>
          <a:xfrm>
            <a:off x="9539935" y="4203192"/>
            <a:ext cx="2011680" cy="8107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Tree>
  </p:cSld>
  <p:clrMapOvr>
    <a:masterClrMapping/>
  </p:clrMapOvr>
  <p:transition spd="med">
    <p:fade/>
  </p:transition>
</p:sld>
</file>

<file path=ppt/slides/slide8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After Class: 10-Minute Daily Plan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课后练习</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7 · Lesson 34 How unconscious bias affects hiring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82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1554480" cy="713232"/>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0–2</a:t>
            </a:r>
          </a:p>
        </p:txBody>
      </p:sp>
      <p:sp>
        <p:nvSpPr>
          <p:cNvPr id="9" name="Rounded Rectangle 8"/>
          <p:cNvSpPr/>
          <p:nvPr/>
        </p:nvSpPr>
        <p:spPr>
          <a:xfrm>
            <a:off x="2240280" y="1325880"/>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Read the 15 expressions aloud. Cover the English and say it from the Chinese. Pick 3 ★ items and make one true sentence with each.</a:t>
            </a:r>
          </a:p>
        </p:txBody>
      </p:sp>
      <p:sp>
        <p:nvSpPr>
          <p:cNvPr id="10" name="Rounded Rectangle 9"/>
          <p:cNvSpPr/>
          <p:nvPr/>
        </p:nvSpPr>
        <p:spPr>
          <a:xfrm>
            <a:off x="548640" y="2112264"/>
            <a:ext cx="1554480" cy="438912"/>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2–4</a:t>
            </a:r>
          </a:p>
        </p:txBody>
      </p:sp>
      <p:sp>
        <p:nvSpPr>
          <p:cNvPr id="11" name="Rounded Rectangle 10"/>
          <p:cNvSpPr/>
          <p:nvPr/>
        </p:nvSpPr>
        <p:spPr>
          <a:xfrm>
            <a:off x="2240280" y="2112264"/>
            <a:ext cx="9402775" cy="43891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Shadow the model dialogue: read it with the same rhythm and intonation.</a:t>
            </a:r>
          </a:p>
        </p:txBody>
      </p:sp>
      <p:sp>
        <p:nvSpPr>
          <p:cNvPr id="12" name="Rounded Rectangle 11"/>
          <p:cNvSpPr/>
          <p:nvPr/>
        </p:nvSpPr>
        <p:spPr>
          <a:xfrm>
            <a:off x="548640" y="2624328"/>
            <a:ext cx="1554480" cy="438912"/>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4–8</a:t>
            </a:r>
          </a:p>
        </p:txBody>
      </p:sp>
      <p:sp>
        <p:nvSpPr>
          <p:cNvPr id="13" name="Rounded Rectangle 12"/>
          <p:cNvSpPr/>
          <p:nvPr/>
        </p:nvSpPr>
        <p:spPr>
          <a:xfrm>
            <a:off x="2240280" y="2624328"/>
            <a:ext cx="9402775" cy="43891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Explain unconscious bias to a colleague in 60 seconds. Record it.</a:t>
            </a:r>
          </a:p>
        </p:txBody>
      </p:sp>
      <p:sp>
        <p:nvSpPr>
          <p:cNvPr id="14" name="Rounded Rectangle 13"/>
          <p:cNvSpPr/>
          <p:nvPr/>
        </p:nvSpPr>
        <p:spPr>
          <a:xfrm>
            <a:off x="548640" y="3136392"/>
            <a:ext cx="1554480" cy="713232"/>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8–10</a:t>
            </a:r>
          </a:p>
        </p:txBody>
      </p:sp>
      <p:sp>
        <p:nvSpPr>
          <p:cNvPr id="15" name="Rounded Rectangle 14"/>
          <p:cNvSpPr/>
          <p:nvPr/>
        </p:nvSpPr>
        <p:spPr>
          <a:xfrm>
            <a:off x="2240280" y="3136392"/>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Listen to your recording. Check: affect vs effect, aware of, everyone + singular. Write 3 corrections and record again.</a:t>
            </a:r>
          </a:p>
        </p:txBody>
      </p:sp>
      <p:sp>
        <p:nvSpPr>
          <p:cNvPr id="16" name="Rounded Rectangle 15"/>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Weekly rhythm: Mon–Tue Scenario 1 · Wed–Thu Scenario 2 · Fri Level-up variation · Weekend: do the Reading / Listening focus again without looking, then record the 1-minute speaking prompt and compare with Monday.</a:t>
            </a:r>
          </a:p>
        </p:txBody>
      </p:sp>
    </p:spTree>
  </p:cSld>
  <p:clrMapOvr>
    <a:masterClrMapping/>
  </p:clrMapOvr>
  <p:transition spd="med">
    <p:fade/>
  </p:transition>
</p:sld>
</file>

<file path=ppt/slides/slide83.xml><?xml version="1.0" encoding="utf-8"?>
<p:sld xmlns:a="http://schemas.openxmlformats.org/drawingml/2006/main" xmlns:p="http://schemas.openxmlformats.org/presentationml/2006/main" xmlns:r="http://schemas.openxmlformats.org/officeDocument/2006/relationships">
  <p:cSld>
    <p:bg>
      <p:bgPr>
        <a:solidFill>
          <a:srgbClr val="1F2A44"/>
        </a:solidFill>
        <a:effectLst/>
      </p:bgPr>
    </p:bg>
    <p:spTree>
      <p:nvGrpSpPr>
        <p:cNvPr id="1" name=""/>
        <p:cNvGrpSpPr/>
        <p:nvPr/>
      </p:nvGrpSpPr>
      <p:grpSpPr/>
      <p:sp>
        <p:nvSpPr>
          <p:cNvPr id="2" name="TextBox 1"/>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FFC857"/>
                </a:solidFill>
                <a:latin typeface="Arial"/>
                <a:ea typeface="Microsoft YaHei"/>
              </a:rPr>
              <a:t>Business English · Level 7–8 · Unit 7 · Lesson 35 How to relaunch your career</a:t>
            </a:r>
          </a:p>
        </p:txBody>
      </p:sp>
      <p:sp>
        <p:nvSpPr>
          <p:cNvPr id="3" name="TextBox 2"/>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FFC857"/>
                </a:solidFill>
                <a:latin typeface="Arial"/>
                <a:ea typeface="Microsoft YaHei"/>
              </a:rPr>
              <a:t>83</a:t>
            </a:r>
          </a:p>
        </p:txBody>
      </p:sp>
      <p:sp>
        <p:nvSpPr>
          <p:cNvPr id="4" name="Rounded Rectangle 3">
            <a:hlinkClick action="ppaction://hlinksldjump" r:id="rId2"/>
          </p:cNvPr>
          <p:cNvSpPr/>
          <p:nvPr/>
        </p:nvSpPr>
        <p:spPr>
          <a:xfrm>
            <a:off x="9677095" y="6382512"/>
            <a:ext cx="960120" cy="329184"/>
          </a:xfrm>
          <a:prstGeom prst="roundRect">
            <a:avLst>
              <a:gd name="adj" fmla="val 50000"/>
            </a:avLst>
          </a:prstGeom>
          <a:solidFill>
            <a:srgbClr val="3642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FFFFFF"/>
                </a:solidFill>
                <a:latin typeface="Arial"/>
                <a:ea typeface="Microsoft YaHei"/>
              </a:rPr>
              <a:t>🗺 Map</a:t>
            </a:r>
          </a:p>
        </p:txBody>
      </p:sp>
      <p:sp>
        <p:nvSpPr>
          <p:cNvPr id="5" name="Rectangle 4"/>
          <p:cNvSpPr/>
          <p:nvPr/>
        </p:nvSpPr>
        <p:spPr>
          <a:xfrm>
            <a:off x="822960" y="685800"/>
            <a:ext cx="1097280" cy="91440"/>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822960"/>
            <a:ext cx="5486400" cy="457200"/>
          </a:xfrm>
          <a:prstGeom prst="rect">
            <a:avLst/>
          </a:prstGeom>
          <a:noFill/>
        </p:spPr>
        <p:txBody>
          <a:bodyPr wrap="square" anchor="t">
            <a:spAutoFit/>
          </a:bodyPr>
          <a:lstStyle/>
          <a:p>
            <a:pPr algn="l">
              <a:lnSpc>
                <a:spcPct val="115000"/>
              </a:lnSpc>
              <a:spcAft>
                <a:spcPts val="800"/>
              </a:spcAft>
            </a:pPr>
            <a:r>
              <a:rPr sz="2200" b="1">
                <a:solidFill>
                  <a:srgbClr val="FFC857"/>
                </a:solidFill>
                <a:latin typeface="Arial"/>
                <a:ea typeface="Microsoft YaHei"/>
              </a:rPr>
              <a:t>LESSON 35</a:t>
            </a:r>
          </a:p>
        </p:txBody>
      </p:sp>
      <p:sp>
        <p:nvSpPr>
          <p:cNvPr id="7" name="TextBox 6"/>
          <p:cNvSpPr txBox="1"/>
          <p:nvPr/>
        </p:nvSpPr>
        <p:spPr>
          <a:xfrm>
            <a:off x="822960" y="1280160"/>
            <a:ext cx="10515600" cy="1280160"/>
          </a:xfrm>
          <a:prstGeom prst="rect">
            <a:avLst/>
          </a:prstGeom>
          <a:noFill/>
        </p:spPr>
        <p:txBody>
          <a:bodyPr wrap="square" anchor="ctr">
            <a:spAutoFit/>
          </a:bodyPr>
          <a:lstStyle/>
          <a:p>
            <a:pPr algn="l">
              <a:lnSpc>
                <a:spcPct val="115000"/>
              </a:lnSpc>
              <a:spcAft>
                <a:spcPts val="800"/>
              </a:spcAft>
            </a:pPr>
            <a:r>
              <a:rPr sz="5400" b="1">
                <a:solidFill>
                  <a:srgbClr val="FFFFFF"/>
                </a:solidFill>
                <a:latin typeface="Arial"/>
                <a:ea typeface="Microsoft YaHei"/>
              </a:rPr>
              <a:t>How to relaunch your career</a:t>
            </a:r>
          </a:p>
        </p:txBody>
      </p:sp>
      <p:sp>
        <p:nvSpPr>
          <p:cNvPr id="8" name="TextBox 7"/>
          <p:cNvSpPr txBox="1"/>
          <p:nvPr/>
        </p:nvSpPr>
        <p:spPr>
          <a:xfrm>
            <a:off x="822960" y="2560320"/>
            <a:ext cx="10515600" cy="548640"/>
          </a:xfrm>
          <a:prstGeom prst="rect">
            <a:avLst/>
          </a:prstGeom>
          <a:noFill/>
        </p:spPr>
        <p:txBody>
          <a:bodyPr wrap="square" anchor="t">
            <a:spAutoFit/>
          </a:bodyPr>
          <a:lstStyle/>
          <a:p>
            <a:pPr algn="l">
              <a:lnSpc>
                <a:spcPct val="115000"/>
              </a:lnSpc>
              <a:spcAft>
                <a:spcPts val="800"/>
              </a:spcAft>
            </a:pPr>
            <a:r>
              <a:rPr sz="2400" b="0">
                <a:solidFill>
                  <a:srgbClr val="FFFFFF"/>
                </a:solidFill>
                <a:latin typeface="Arial"/>
                <a:ea typeface="Microsoft YaHei"/>
              </a:rPr>
              <a:t>如何重启职业生涯</a:t>
            </a:r>
          </a:p>
        </p:txBody>
      </p:sp>
      <p:sp>
        <p:nvSpPr>
          <p:cNvPr id="9" name="TextBox 8"/>
          <p:cNvSpPr txBox="1"/>
          <p:nvPr/>
        </p:nvSpPr>
        <p:spPr>
          <a:xfrm>
            <a:off x="822960" y="3246120"/>
            <a:ext cx="10515600" cy="914400"/>
          </a:xfrm>
          <a:prstGeom prst="rect">
            <a:avLst/>
          </a:prstGeom>
          <a:noFill/>
        </p:spPr>
        <p:txBody>
          <a:bodyPr wrap="square" anchor="t">
            <a:spAutoFit/>
          </a:bodyPr>
          <a:lstStyle/>
          <a:p>
            <a:pPr algn="l">
              <a:lnSpc>
                <a:spcPct val="115000"/>
              </a:lnSpc>
              <a:spcAft>
                <a:spcPts val="800"/>
              </a:spcAft>
            </a:pPr>
            <a:r>
              <a:rPr sz="2000" b="0">
                <a:solidFill>
                  <a:srgbClr val="FFC857"/>
                </a:solidFill>
                <a:latin typeface="Arial"/>
                <a:ea typeface="Microsoft YaHei"/>
              </a:rPr>
              <a:t>🎯 talk about a career break, explain a gap and describe how you will return to work.</a:t>
            </a:r>
          </a:p>
        </p:txBody>
      </p:sp>
      <p:sp>
        <p:nvSpPr>
          <p:cNvPr id="10" name="Rounded Rectangle 9"/>
          <p:cNvSpPr/>
          <p:nvPr/>
        </p:nvSpPr>
        <p:spPr>
          <a:xfrm>
            <a:off x="822960" y="4389120"/>
            <a:ext cx="1956816" cy="11430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01</a:t>
            </a:r>
          </a:p>
          <a:p>
            <a:pPr algn="ctr">
              <a:spcAft>
                <a:spcPts val="200"/>
              </a:spcAft>
            </a:pPr>
            <a:r>
              <a:rPr sz="1700" b="1">
                <a:solidFill>
                  <a:srgbClr val="FFFFFF"/>
                </a:solidFill>
                <a:latin typeface="Arial"/>
                <a:ea typeface="Microsoft YaHei"/>
              </a:rPr>
              <a:t>Warm up</a:t>
            </a:r>
          </a:p>
          <a:p>
            <a:pPr algn="ctr">
              <a:spcAft>
                <a:spcPts val="200"/>
              </a:spcAft>
            </a:pPr>
            <a:r>
              <a:rPr sz="1300" b="0">
                <a:solidFill>
                  <a:srgbClr val="FFFFFF"/>
                </a:solidFill>
                <a:latin typeface="Arial"/>
                <a:ea typeface="Microsoft YaHei"/>
              </a:rPr>
              <a:t>热身</a:t>
            </a:r>
          </a:p>
        </p:txBody>
      </p:sp>
      <p:sp>
        <p:nvSpPr>
          <p:cNvPr id="11" name="Rounded Rectangle 10"/>
          <p:cNvSpPr/>
          <p:nvPr/>
        </p:nvSpPr>
        <p:spPr>
          <a:xfrm>
            <a:off x="2962656" y="4389120"/>
            <a:ext cx="1956816" cy="11430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02</a:t>
            </a:r>
          </a:p>
          <a:p>
            <a:pPr algn="ctr">
              <a:spcAft>
                <a:spcPts val="200"/>
              </a:spcAft>
            </a:pPr>
            <a:r>
              <a:rPr sz="1700" b="1">
                <a:solidFill>
                  <a:srgbClr val="FFFFFF"/>
                </a:solidFill>
                <a:latin typeface="Arial"/>
                <a:ea typeface="Microsoft YaHei"/>
              </a:rPr>
              <a:t>Vocabulary</a:t>
            </a:r>
          </a:p>
          <a:p>
            <a:pPr algn="ctr">
              <a:spcAft>
                <a:spcPts val="200"/>
              </a:spcAft>
            </a:pPr>
            <a:r>
              <a:rPr sz="1300" b="0">
                <a:solidFill>
                  <a:srgbClr val="FFFFFF"/>
                </a:solidFill>
                <a:latin typeface="Arial"/>
                <a:ea typeface="Microsoft YaHei"/>
              </a:rPr>
              <a:t>词汇</a:t>
            </a:r>
          </a:p>
        </p:txBody>
      </p:sp>
      <p:sp>
        <p:nvSpPr>
          <p:cNvPr id="12" name="Rounded Rectangle 11"/>
          <p:cNvSpPr/>
          <p:nvPr/>
        </p:nvSpPr>
        <p:spPr>
          <a:xfrm>
            <a:off x="5102352" y="4389120"/>
            <a:ext cx="1956816" cy="11430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03</a:t>
            </a:r>
          </a:p>
          <a:p>
            <a:pPr algn="ctr">
              <a:spcAft>
                <a:spcPts val="200"/>
              </a:spcAft>
            </a:pPr>
            <a:r>
              <a:rPr sz="1700" b="1">
                <a:solidFill>
                  <a:srgbClr val="FFFFFF"/>
                </a:solidFill>
                <a:latin typeface="Arial"/>
                <a:ea typeface="Microsoft YaHei"/>
              </a:rPr>
              <a:t>Role play</a:t>
            </a:r>
          </a:p>
          <a:p>
            <a:pPr algn="ctr">
              <a:spcAft>
                <a:spcPts val="200"/>
              </a:spcAft>
            </a:pPr>
            <a:r>
              <a:rPr sz="1300" b="0">
                <a:solidFill>
                  <a:srgbClr val="FFFFFF"/>
                </a:solidFill>
                <a:latin typeface="Arial"/>
                <a:ea typeface="Microsoft YaHei"/>
              </a:rPr>
              <a:t>角色扮演</a:t>
            </a:r>
          </a:p>
        </p:txBody>
      </p:sp>
      <p:sp>
        <p:nvSpPr>
          <p:cNvPr id="13" name="Rounded Rectangle 12"/>
          <p:cNvSpPr/>
          <p:nvPr/>
        </p:nvSpPr>
        <p:spPr>
          <a:xfrm>
            <a:off x="7242048" y="4389120"/>
            <a:ext cx="1956816" cy="11430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04</a:t>
            </a:r>
          </a:p>
          <a:p>
            <a:pPr algn="ctr">
              <a:spcAft>
                <a:spcPts val="200"/>
              </a:spcAft>
            </a:pPr>
            <a:r>
              <a:rPr sz="1700" b="1">
                <a:solidFill>
                  <a:srgbClr val="FFFFFF"/>
                </a:solidFill>
                <a:latin typeface="Arial"/>
                <a:ea typeface="Microsoft YaHei"/>
              </a:rPr>
              <a:t>Discussion</a:t>
            </a:r>
          </a:p>
          <a:p>
            <a:pPr algn="ctr">
              <a:spcAft>
                <a:spcPts val="200"/>
              </a:spcAft>
            </a:pPr>
            <a:r>
              <a:rPr sz="1300" b="0">
                <a:solidFill>
                  <a:srgbClr val="FFFFFF"/>
                </a:solidFill>
                <a:latin typeface="Arial"/>
                <a:ea typeface="Microsoft YaHei"/>
              </a:rPr>
              <a:t>讨论</a:t>
            </a:r>
          </a:p>
        </p:txBody>
      </p:sp>
      <p:sp>
        <p:nvSpPr>
          <p:cNvPr id="14" name="Rounded Rectangle 13"/>
          <p:cNvSpPr/>
          <p:nvPr/>
        </p:nvSpPr>
        <p:spPr>
          <a:xfrm>
            <a:off x="9381744" y="4389120"/>
            <a:ext cx="1956816" cy="11430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05</a:t>
            </a:r>
          </a:p>
          <a:p>
            <a:pPr algn="ctr">
              <a:spcAft>
                <a:spcPts val="200"/>
              </a:spcAft>
            </a:pPr>
            <a:r>
              <a:rPr sz="1700" b="1">
                <a:solidFill>
                  <a:srgbClr val="FFFFFF"/>
                </a:solidFill>
                <a:latin typeface="Arial"/>
                <a:ea typeface="Microsoft YaHei"/>
              </a:rPr>
              <a:t>Language Tips</a:t>
            </a:r>
          </a:p>
          <a:p>
            <a:pPr algn="ctr">
              <a:spcAft>
                <a:spcPts val="200"/>
              </a:spcAft>
            </a:pPr>
            <a:r>
              <a:rPr sz="1300" b="0">
                <a:solidFill>
                  <a:srgbClr val="FFFFFF"/>
                </a:solidFill>
                <a:latin typeface="Arial"/>
                <a:ea typeface="Microsoft YaHei"/>
              </a:rPr>
              <a:t>语言贴士</a:t>
            </a:r>
          </a:p>
        </p:txBody>
      </p:sp>
    </p:spTree>
  </p:cSld>
  <p:clrMapOvr>
    <a:masterClrMapping/>
  </p:clrMapOvr>
  <p:transition spd="med">
    <p:fade/>
  </p:transition>
</p:sld>
</file>

<file path=ppt/slides/slide8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Warm up · Ice-breaker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7 · Lesson 35 How to relaunch your career</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84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Answer in 2–3 sentences. Say it out loud!  用 2–3 句话回答，大声说出来</a:t>
            </a:r>
          </a:p>
        </p:txBody>
      </p:sp>
      <p:sp>
        <p:nvSpPr>
          <p:cNvPr id="9" name="Oval 8"/>
          <p:cNvSpPr/>
          <p:nvPr/>
        </p:nvSpPr>
        <p:spPr>
          <a:xfrm>
            <a:off x="548640" y="1600199"/>
            <a:ext cx="502920" cy="50292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54480"/>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Have you ever taken a career break? Would you?</a:t>
            </a:r>
          </a:p>
        </p:txBody>
      </p:sp>
      <p:sp>
        <p:nvSpPr>
          <p:cNvPr id="12" name="Oval 11"/>
          <p:cNvSpPr/>
          <p:nvPr/>
        </p:nvSpPr>
        <p:spPr>
          <a:xfrm>
            <a:off x="548640" y="2304286"/>
            <a:ext cx="502920" cy="50292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258567"/>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258567"/>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What skills could you lose during a break?</a:t>
            </a:r>
          </a:p>
        </p:txBody>
      </p:sp>
      <p:sp>
        <p:nvSpPr>
          <p:cNvPr id="15" name="Oval 14"/>
          <p:cNvSpPr/>
          <p:nvPr/>
        </p:nvSpPr>
        <p:spPr>
          <a:xfrm>
            <a:off x="548640" y="3008373"/>
            <a:ext cx="502920" cy="50292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2962654"/>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2962654"/>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Why might someone want to restart their career?</a:t>
            </a:r>
          </a:p>
        </p:txBody>
      </p:sp>
      <p:sp>
        <p:nvSpPr>
          <p:cNvPr id="18" name="Oval 17"/>
          <p:cNvSpPr/>
          <p:nvPr/>
        </p:nvSpPr>
        <p:spPr>
          <a:xfrm>
            <a:off x="548640" y="3712460"/>
            <a:ext cx="502920" cy="50292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3666741"/>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3666741"/>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How would you explain a gap in your CV?</a:t>
            </a:r>
          </a:p>
        </p:txBody>
      </p:sp>
      <p:sp>
        <p:nvSpPr>
          <p:cNvPr id="21" name="Oval 20"/>
          <p:cNvSpPr/>
          <p:nvPr/>
        </p:nvSpPr>
        <p:spPr>
          <a:xfrm>
            <a:off x="548640" y="4416547"/>
            <a:ext cx="502920" cy="502920"/>
          </a:xfrm>
          <a:prstGeom prst="ellipse">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5</a:t>
            </a:r>
          </a:p>
        </p:txBody>
      </p:sp>
      <p:sp>
        <p:nvSpPr>
          <p:cNvPr id="22" name="Rounded Rectangle 21"/>
          <p:cNvSpPr/>
          <p:nvPr/>
        </p:nvSpPr>
        <p:spPr>
          <a:xfrm>
            <a:off x="1234440" y="4370828"/>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325880" y="4370828"/>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Who could help you return to work?</a:t>
            </a:r>
          </a:p>
        </p:txBody>
      </p:sp>
      <p:sp>
        <p:nvSpPr>
          <p:cNvPr id="58" name="Rounded Rectangle 5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“relaunch” = 重新启动;“career break” = 职业空档期。第 1 题现在完成时问经历。</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par>
                    <p:cTn id="56" fill="hold">
                      <p:stCondLst>
                        <p:cond delay="indefinite"/>
                      </p:stCondLst>
                      <p:childTnLst>
                        <p:par>
                          <p:cTn id="57" fill="hold">
                            <p:stCondLst>
                              <p:cond delay="0"/>
                            </p:stCondLst>
                            <p:childTnLst>
                              <p:par>
                                <p:cTn id="49" presetID="10" presetClass="entr" presetSubtype="0" fill="hold" nodeType="clickEffect">
                                  <p:stCondLst>
                                    <p:cond delay="0"/>
                                  </p:stCondLst>
                                  <p:childTnLst>
                                    <p:set>
                                      <p:cBhvr>
                                        <p:cTn id="47" dur="1" fill="hold">
                                          <p:stCondLst>
                                            <p:cond delay="0"/>
                                          </p:stCondLst>
                                        </p:cTn>
                                        <p:tgtEl>
                                          <p:spTgt spid="21"/>
                                        </p:tgtEl>
                                        <p:attrNameLst>
                                          <p:attrName>style.visibility</p:attrName>
                                        </p:attrNameLst>
                                      </p:cBhvr>
                                      <p:to>
                                        <p:strVal val="visible"/>
                                      </p:to>
                                    </p:set>
                                    <p:animEffect transition="in" filter="fade">
                                      <p:cBhvr>
                                        <p:cTn id="48" dur="400"/>
                                        <p:tgtEl>
                                          <p:spTgt spid="21"/>
                                        </p:tgtEl>
                                      </p:cBhvr>
                                    </p:animEffect>
                                  </p:childTnLst>
                                </p:cTn>
                              </p:par>
                              <p:par>
                                <p:cTn id="52" presetID="10" presetClass="entr" presetSubtype="0" fill="hold" nodeType="with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fade">
                                      <p:cBhvr>
                                        <p:cTn id="51" dur="400"/>
                                        <p:tgtEl>
                                          <p:spTgt spid="22"/>
                                        </p:tgtEl>
                                      </p:cBhvr>
                                    </p:animEffect>
                                  </p:childTnLst>
                                </p:cTn>
                              </p:par>
                              <p:par>
                                <p:cTn id="55" presetID="10" presetClass="entr" presetSubtype="0" fill="hold" nodeType="withEffect">
                                  <p:stCondLst>
                                    <p:cond delay="0"/>
                                  </p:stCondLst>
                                  <p:childTnLst>
                                    <p:set>
                                      <p:cBhvr>
                                        <p:cTn id="53" dur="1" fill="hold">
                                          <p:stCondLst>
                                            <p:cond delay="0"/>
                                          </p:stCondLst>
                                        </p:cTn>
                                        <p:tgtEl>
                                          <p:spTgt spid="23"/>
                                        </p:tgtEl>
                                        <p:attrNameLst>
                                          <p:attrName>style.visibility</p:attrName>
                                        </p:attrNameLst>
                                      </p:cBhvr>
                                      <p:to>
                                        <p:strVal val="visible"/>
                                      </p:to>
                                    </p:set>
                                    <p:animEffect transition="in" filter="fade">
                                      <p:cBhvr>
                                        <p:cTn id="5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1-Minute Challenge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7 · Lesson 35 How to relaunch your career</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85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Oval 7"/>
          <p:cNvSpPr/>
          <p:nvPr/>
        </p:nvSpPr>
        <p:spPr>
          <a:xfrm>
            <a:off x="9814255" y="1463040"/>
            <a:ext cx="1737360" cy="173736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FFFFFF"/>
                </a:solidFill>
                <a:latin typeface="Arial"/>
                <a:ea typeface="Microsoft YaHei"/>
              </a:rPr>
              <a:t>⏱</a:t>
            </a:r>
          </a:p>
          <a:p>
            <a:pPr algn="ctr">
              <a:spcAft>
                <a:spcPts val="200"/>
              </a:spcAft>
            </a:pPr>
            <a:r>
              <a:rPr sz="2600" b="1">
                <a:solidFill>
                  <a:srgbClr val="FFFFFF"/>
                </a:solidFill>
                <a:latin typeface="Arial"/>
                <a:ea typeface="Microsoft YaHei"/>
              </a:rPr>
              <a:t>60s</a:t>
            </a:r>
          </a:p>
        </p:txBody>
      </p:sp>
      <p:sp>
        <p:nvSpPr>
          <p:cNvPr id="9" name="TextBox 8"/>
          <p:cNvSpPr txBox="1"/>
          <p:nvPr/>
        </p:nvSpPr>
        <p:spPr>
          <a:xfrm>
            <a:off x="548640" y="1417320"/>
            <a:ext cx="8778240" cy="1280160"/>
          </a:xfrm>
          <a:prstGeom prst="rect">
            <a:avLst/>
          </a:prstGeom>
          <a:noFill/>
        </p:spPr>
        <p:txBody>
          <a:bodyPr wrap="square" anchor="t">
            <a:spAutoFit/>
          </a:bodyPr>
          <a:lstStyle/>
          <a:p>
            <a:pPr algn="l">
              <a:lnSpc>
                <a:spcPct val="115000"/>
              </a:lnSpc>
              <a:spcAft>
                <a:spcPts val="200"/>
              </a:spcAft>
            </a:pPr>
            <a:r>
              <a:rPr sz="1400" b="0">
                <a:solidFill>
                  <a:srgbClr val="5F677A"/>
                </a:solidFill>
                <a:latin typeface="Arial"/>
                <a:ea typeface="Microsoft YaHei"/>
              </a:rPr>
              <a:t>TOPIC</a:t>
            </a:r>
          </a:p>
          <a:p>
            <a:pPr algn="l">
              <a:lnSpc>
                <a:spcPct val="115000"/>
              </a:lnSpc>
              <a:spcAft>
                <a:spcPts val="800"/>
              </a:spcAft>
            </a:pPr>
            <a:r>
              <a:rPr sz="3000" b="1">
                <a:solidFill>
                  <a:srgbClr val="1F2A44"/>
                </a:solidFill>
                <a:latin typeface="Arial"/>
                <a:ea typeface="Microsoft YaHei"/>
              </a:rPr>
              <a:t>Imagine you are returning to work after a break. Explain your plan.</a:t>
            </a:r>
          </a:p>
        </p:txBody>
      </p:sp>
      <p:sp>
        <p:nvSpPr>
          <p:cNvPr id="10" name="Rounded Rectangle 9"/>
          <p:cNvSpPr/>
          <p:nvPr/>
        </p:nvSpPr>
        <p:spPr>
          <a:xfrm>
            <a:off x="548640" y="3017520"/>
            <a:ext cx="2411730" cy="86868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 the break</a:t>
            </a:r>
          </a:p>
        </p:txBody>
      </p:sp>
      <p:sp>
        <p:nvSpPr>
          <p:cNvPr id="11" name="Rounded Rectangle 10"/>
          <p:cNvSpPr/>
          <p:nvPr/>
        </p:nvSpPr>
        <p:spPr>
          <a:xfrm>
            <a:off x="3097530" y="3017520"/>
            <a:ext cx="2411730" cy="86868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 what you did</a:t>
            </a:r>
          </a:p>
        </p:txBody>
      </p:sp>
      <p:sp>
        <p:nvSpPr>
          <p:cNvPr id="12" name="Rounded Rectangle 11"/>
          <p:cNvSpPr/>
          <p:nvPr/>
        </p:nvSpPr>
        <p:spPr>
          <a:xfrm>
            <a:off x="5646420" y="3017520"/>
            <a:ext cx="2411730" cy="86868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 what you learned</a:t>
            </a:r>
          </a:p>
        </p:txBody>
      </p:sp>
      <p:sp>
        <p:nvSpPr>
          <p:cNvPr id="13" name="Rounded Rectangle 12"/>
          <p:cNvSpPr/>
          <p:nvPr/>
        </p:nvSpPr>
        <p:spPr>
          <a:xfrm>
            <a:off x="8195310" y="3017520"/>
            <a:ext cx="2411730" cy="86868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 your plan</a:t>
            </a:r>
          </a:p>
        </p:txBody>
      </p:sp>
      <p:sp>
        <p:nvSpPr>
          <p:cNvPr id="14" name="TextBox 13"/>
          <p:cNvSpPr txBox="1"/>
          <p:nvPr/>
        </p:nvSpPr>
        <p:spPr>
          <a:xfrm>
            <a:off x="548640" y="4069080"/>
            <a:ext cx="11094415" cy="365760"/>
          </a:xfrm>
          <a:prstGeom prst="rect">
            <a:avLst/>
          </a:prstGeom>
          <a:noFill/>
        </p:spPr>
        <p:txBody>
          <a:bodyPr wrap="square" anchor="t">
            <a:spAutoFit/>
          </a:bodyPr>
          <a:lstStyle/>
          <a:p>
            <a:pPr algn="l">
              <a:lnSpc>
                <a:spcPct val="115000"/>
              </a:lnSpc>
              <a:spcAft>
                <a:spcPts val="800"/>
              </a:spcAft>
            </a:pPr>
            <a:r>
              <a:rPr sz="1400" b="0">
                <a:solidFill>
                  <a:srgbClr val="5F677A"/>
                </a:solidFill>
                <a:latin typeface="Arial"/>
                <a:ea typeface="Microsoft YaHei"/>
              </a:rPr>
              <a:t>Useful starters 开头句</a:t>
            </a:r>
          </a:p>
        </p:txBody>
      </p:sp>
      <p:sp>
        <p:nvSpPr>
          <p:cNvPr id="15" name="TextBox 14"/>
          <p:cNvSpPr txBox="1"/>
          <p:nvPr/>
        </p:nvSpPr>
        <p:spPr>
          <a:xfrm>
            <a:off x="548640" y="4389120"/>
            <a:ext cx="11094415" cy="100584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 I took a break to…   💬 During that time, I…   💬 I’m now ready to…   💬 I’m updating my skills by…</a:t>
            </a:r>
          </a:p>
        </p:txBody>
      </p:sp>
      <p:sp>
        <p:nvSpPr>
          <p:cNvPr id="16" name="Rounded Rectangle 15"/>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“During that time” = 在那段时间里;“be ready to + 动词原形”。</a:t>
            </a:r>
          </a:p>
        </p:txBody>
      </p:sp>
    </p:spTree>
  </p:cSld>
  <p:clrMapOvr>
    <a:masterClrMapping/>
  </p:clrMapOvr>
  <p:transition spd="med">
    <p:fade/>
  </p:transition>
</p:sld>
</file>

<file path=ppt/slides/slide8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Reading · Coming back stronger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128 words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7 · Lesson 35 How to relaunch your career</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86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280160"/>
            <a:ext cx="11094415" cy="489204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280160"/>
            <a:ext cx="109728" cy="4892040"/>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1463040"/>
            <a:ext cx="10545775" cy="4526280"/>
          </a:xfrm>
          <a:prstGeom prst="rect">
            <a:avLst/>
          </a:prstGeom>
          <a:noFill/>
        </p:spPr>
        <p:txBody>
          <a:bodyPr wrap="square" anchor="t">
            <a:spAutoFit/>
          </a:bodyPr>
          <a:lstStyle/>
          <a:p>
            <a:pPr algn="l">
              <a:lnSpc>
                <a:spcPct val="130000"/>
              </a:lnSpc>
              <a:spcAft>
                <a:spcPts val="800"/>
              </a:spcAft>
            </a:pPr>
            <a:r>
              <a:rPr sz="2200" b="0">
                <a:solidFill>
                  <a:srgbClr val="1F2A44"/>
                </a:solidFill>
                <a:latin typeface="Arial"/>
                <a:ea typeface="Microsoft YaHei"/>
              </a:rPr>
              <a:t>Every year, thousands of professionals pause their careers to raise children, look after relatives, travel or recover from illness. When they return, many worry that employers will see the gap as a weakness. In practice, a break is easier to explain than people expect. The key is to be clear and positive. Say briefly why you stepped away, then focus on what you can offer now. Update your skills with a short course, and refresh your professional profile online. Contact former colleagues, since most opportunities come through people you already know. Some companies run “returnship” programmes, which are paid placements designed for experienced people returning to work. Finally, be patient. It can take months to find the right role, but a break does not erase years of experience.</a:t>
            </a:r>
          </a:p>
        </p:txBody>
      </p:sp>
    </p:spTree>
  </p:cSld>
  <p:clrMapOvr>
    <a:masterClrMapping/>
  </p:clrMapOvr>
  <p:transition spd="med">
    <p:fade/>
  </p:transition>
</p:sld>
</file>

<file path=ppt/slides/slide8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Check Your Understanding</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Reading</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7 · Lesson 35 How to relaunch your career</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87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Discuss with your team, then answer. Click to check.  小组讨论后抢答，点击核对答案</a:t>
            </a:r>
          </a:p>
        </p:txBody>
      </p:sp>
      <p:sp>
        <p:nvSpPr>
          <p:cNvPr id="9" name="TextBox 8"/>
          <p:cNvSpPr txBox="1"/>
          <p:nvPr/>
        </p:nvSpPr>
        <p:spPr>
          <a:xfrm>
            <a:off x="548640" y="150876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Q1. Why do people take career breaks?</a:t>
            </a:r>
          </a:p>
        </p:txBody>
      </p:sp>
      <p:sp>
        <p:nvSpPr>
          <p:cNvPr id="10" name="Rounded Rectangle 9"/>
          <p:cNvSpPr/>
          <p:nvPr/>
        </p:nvSpPr>
        <p:spPr>
          <a:xfrm>
            <a:off x="822960" y="198424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To raise children, care for relatives, travel or recover from illness.</a:t>
            </a:r>
          </a:p>
        </p:txBody>
      </p:sp>
      <p:sp>
        <p:nvSpPr>
          <p:cNvPr id="11" name="TextBox 10"/>
          <p:cNvSpPr txBox="1"/>
          <p:nvPr/>
        </p:nvSpPr>
        <p:spPr>
          <a:xfrm>
            <a:off x="548640" y="309372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Q2. What is a “returnship”?</a:t>
            </a:r>
          </a:p>
        </p:txBody>
      </p:sp>
      <p:sp>
        <p:nvSpPr>
          <p:cNvPr id="12" name="Rounded Rectangle 11"/>
          <p:cNvSpPr/>
          <p:nvPr/>
        </p:nvSpPr>
        <p:spPr>
          <a:xfrm>
            <a:off x="822960" y="356920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A paid placement for experienced people returning to work.</a:t>
            </a:r>
          </a:p>
        </p:txBody>
      </p:sp>
      <p:sp>
        <p:nvSpPr>
          <p:cNvPr id="13" name="TextBox 12"/>
          <p:cNvSpPr txBox="1"/>
          <p:nvPr/>
        </p:nvSpPr>
        <p:spPr>
          <a:xfrm>
            <a:off x="548640" y="467868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Q3. What advice is given about explaining a gap?</a:t>
            </a:r>
          </a:p>
        </p:txBody>
      </p:sp>
      <p:sp>
        <p:nvSpPr>
          <p:cNvPr id="14" name="Rounded Rectangle 13"/>
          <p:cNvSpPr/>
          <p:nvPr/>
        </p:nvSpPr>
        <p:spPr>
          <a:xfrm>
            <a:off x="822960" y="515416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Be clear and positive, and focus on what you offer now.</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1: Career break</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7 · Lesson 35 How to relaunch your career</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88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职业空档期</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career break</a:t>
            </a:r>
          </a:p>
          <a:p>
            <a:pPr algn="l">
              <a:lnSpc>
                <a:spcPct val="115000"/>
              </a:lnSpc>
              <a:spcAft>
                <a:spcPts val="800"/>
              </a:spcAft>
            </a:pPr>
            <a:r>
              <a:rPr sz="1300" b="0">
                <a:solidFill>
                  <a:srgbClr val="5F677A"/>
                </a:solidFill>
                <a:latin typeface="Arial"/>
                <a:ea typeface="Microsoft YaHei"/>
              </a:rPr>
              <a:t>noun</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职业空档期</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“She took a career break to travel.”</a:t>
            </a:r>
          </a:p>
        </p:txBody>
      </p:sp>
      <p:sp>
        <p:nvSpPr>
          <p:cNvPr id="14" name="Rounded Rectangle 13"/>
          <p:cNvSpPr/>
          <p:nvPr/>
        </p:nvSpPr>
        <p:spPr>
          <a:xfrm>
            <a:off x="548640" y="21209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6304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go back to work</a:t>
            </a:r>
          </a:p>
          <a:p>
            <a:pPr algn="l">
              <a:lnSpc>
                <a:spcPct val="115000"/>
              </a:lnSpc>
              <a:spcAft>
                <a:spcPts val="800"/>
              </a:spcAft>
            </a:pPr>
            <a:r>
              <a:rPr sz="1300" b="0">
                <a:solidFill>
                  <a:srgbClr val="5F677A"/>
                </a:solidFill>
                <a:latin typeface="Arial"/>
                <a:ea typeface="Microsoft YaHei"/>
              </a:rPr>
              <a:t>phrasal verb</a:t>
            </a:r>
          </a:p>
        </p:txBody>
      </p:sp>
      <p:sp>
        <p:nvSpPr>
          <p:cNvPr id="17" name="TextBox 16"/>
          <p:cNvSpPr txBox="1"/>
          <p:nvPr/>
        </p:nvSpPr>
        <p:spPr>
          <a:xfrm>
            <a:off x="4206240" y="21666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重返工作</a:t>
            </a:r>
          </a:p>
        </p:txBody>
      </p:sp>
      <p:sp>
        <p:nvSpPr>
          <p:cNvPr id="18" name="TextBox 17"/>
          <p:cNvSpPr txBox="1"/>
          <p:nvPr/>
        </p:nvSpPr>
        <p:spPr>
          <a:xfrm>
            <a:off x="6675120" y="21666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“I’m ready to go back to work.”</a:t>
            </a:r>
          </a:p>
        </p:txBody>
      </p:sp>
      <p:sp>
        <p:nvSpPr>
          <p:cNvPr id="19" name="Rounded Rectangle 18"/>
          <p:cNvSpPr/>
          <p:nvPr/>
        </p:nvSpPr>
        <p:spPr>
          <a:xfrm>
            <a:off x="548640" y="28244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2824480"/>
            <a:ext cx="91440" cy="6304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287020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gap on your CV</a:t>
            </a:r>
          </a:p>
          <a:p>
            <a:pPr algn="l">
              <a:lnSpc>
                <a:spcPct val="115000"/>
              </a:lnSpc>
              <a:spcAft>
                <a:spcPts val="800"/>
              </a:spcAft>
            </a:pPr>
            <a:r>
              <a:rPr sz="1300" b="0">
                <a:solidFill>
                  <a:srgbClr val="5F677A"/>
                </a:solidFill>
                <a:latin typeface="Arial"/>
                <a:ea typeface="Microsoft YaHei"/>
              </a:rPr>
              <a:t>noun</a:t>
            </a:r>
          </a:p>
        </p:txBody>
      </p:sp>
      <p:sp>
        <p:nvSpPr>
          <p:cNvPr id="22" name="TextBox 21"/>
          <p:cNvSpPr txBox="1"/>
          <p:nvPr/>
        </p:nvSpPr>
        <p:spPr>
          <a:xfrm>
            <a:off x="4206240" y="28702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简历空档</a:t>
            </a:r>
          </a:p>
        </p:txBody>
      </p:sp>
      <p:sp>
        <p:nvSpPr>
          <p:cNvPr id="23" name="TextBox 22"/>
          <p:cNvSpPr txBox="1"/>
          <p:nvPr/>
        </p:nvSpPr>
        <p:spPr>
          <a:xfrm>
            <a:off x="6675120" y="28702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“A gap on your CV is not a problem.”</a:t>
            </a:r>
          </a:p>
        </p:txBody>
      </p:sp>
      <p:sp>
        <p:nvSpPr>
          <p:cNvPr id="24" name="Rounded Rectangle 23"/>
          <p:cNvSpPr/>
          <p:nvPr/>
        </p:nvSpPr>
        <p:spPr>
          <a:xfrm>
            <a:off x="548640" y="352806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52806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57378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step away from</a:t>
            </a:r>
          </a:p>
          <a:p>
            <a:pPr algn="l">
              <a:lnSpc>
                <a:spcPct val="115000"/>
              </a:lnSpc>
              <a:spcAft>
                <a:spcPts val="800"/>
              </a:spcAft>
            </a:pPr>
            <a:r>
              <a:rPr sz="1300" b="0">
                <a:solidFill>
                  <a:srgbClr val="5F677A"/>
                </a:solidFill>
                <a:latin typeface="Arial"/>
                <a:ea typeface="Microsoft YaHei"/>
              </a:rPr>
              <a:t>phrasal verb</a:t>
            </a:r>
          </a:p>
        </p:txBody>
      </p:sp>
      <p:sp>
        <p:nvSpPr>
          <p:cNvPr id="27" name="TextBox 26"/>
          <p:cNvSpPr txBox="1"/>
          <p:nvPr/>
        </p:nvSpPr>
        <p:spPr>
          <a:xfrm>
            <a:off x="4206240" y="357378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暂时离开</a:t>
            </a:r>
          </a:p>
        </p:txBody>
      </p:sp>
      <p:sp>
        <p:nvSpPr>
          <p:cNvPr id="28" name="TextBox 27"/>
          <p:cNvSpPr txBox="1"/>
          <p:nvPr/>
        </p:nvSpPr>
        <p:spPr>
          <a:xfrm>
            <a:off x="6675120" y="357378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 stepped away from my career for a year.”</a:t>
            </a:r>
          </a:p>
        </p:txBody>
      </p:sp>
      <p:sp>
        <p:nvSpPr>
          <p:cNvPr id="29" name="Rounded Rectangle 28"/>
          <p:cNvSpPr/>
          <p:nvPr/>
        </p:nvSpPr>
        <p:spPr>
          <a:xfrm>
            <a:off x="548640" y="423164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23164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27736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returnship</a:t>
            </a:r>
          </a:p>
          <a:p>
            <a:pPr algn="l">
              <a:lnSpc>
                <a:spcPct val="115000"/>
              </a:lnSpc>
              <a:spcAft>
                <a:spcPts val="800"/>
              </a:spcAft>
            </a:pPr>
            <a:r>
              <a:rPr sz="1300" b="0">
                <a:solidFill>
                  <a:srgbClr val="5F677A"/>
                </a:solidFill>
                <a:latin typeface="Arial"/>
                <a:ea typeface="Microsoft YaHei"/>
              </a:rPr>
              <a:t>noun</a:t>
            </a:r>
          </a:p>
        </p:txBody>
      </p:sp>
      <p:sp>
        <p:nvSpPr>
          <p:cNvPr id="32" name="TextBox 31"/>
          <p:cNvSpPr txBox="1"/>
          <p:nvPr/>
        </p:nvSpPr>
        <p:spPr>
          <a:xfrm>
            <a:off x="4206240" y="427736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回归实习计划</a:t>
            </a:r>
          </a:p>
        </p:txBody>
      </p:sp>
      <p:sp>
        <p:nvSpPr>
          <p:cNvPr id="33" name="TextBox 32"/>
          <p:cNvSpPr txBox="1"/>
          <p:nvPr/>
        </p:nvSpPr>
        <p:spPr>
          <a:xfrm>
            <a:off x="6675120" y="427736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“She joined a returnship.”</a:t>
            </a:r>
          </a:p>
        </p:txBody>
      </p:sp>
    </p:spTree>
  </p:cSld>
  <p:clrMapOvr>
    <a:masterClrMapping/>
  </p:clrMapOvr>
  <p:transition spd="med">
    <p:fade/>
  </p:transition>
</p:sld>
</file>

<file path=ppt/slides/slide8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2: Relaunching</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7 · Lesson 35 How to relaunch your career</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89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重新启动</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refresh your skills</a:t>
            </a:r>
          </a:p>
          <a:p>
            <a:pPr algn="l">
              <a:lnSpc>
                <a:spcPct val="115000"/>
              </a:lnSpc>
              <a:spcAft>
                <a:spcPts val="800"/>
              </a:spcAft>
            </a:pPr>
            <a:r>
              <a:rPr sz="1300" b="0">
                <a:solidFill>
                  <a:srgbClr val="5F677A"/>
                </a:solidFill>
                <a:latin typeface="Arial"/>
                <a:ea typeface="Microsoft YaHei"/>
              </a:rPr>
              <a:t>collocation</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更新技能</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“I’m refreshing my skills online.”</a:t>
            </a:r>
          </a:p>
        </p:txBody>
      </p:sp>
      <p:sp>
        <p:nvSpPr>
          <p:cNvPr id="14" name="Rounded Rectangle 13"/>
          <p:cNvSpPr/>
          <p:nvPr/>
        </p:nvSpPr>
        <p:spPr>
          <a:xfrm>
            <a:off x="548640" y="21209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6304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update your CV</a:t>
            </a:r>
          </a:p>
          <a:p>
            <a:pPr algn="l">
              <a:lnSpc>
                <a:spcPct val="115000"/>
              </a:lnSpc>
              <a:spcAft>
                <a:spcPts val="800"/>
              </a:spcAft>
            </a:pPr>
            <a:r>
              <a:rPr sz="1300" b="0">
                <a:solidFill>
                  <a:srgbClr val="5F677A"/>
                </a:solidFill>
                <a:latin typeface="Arial"/>
                <a:ea typeface="Microsoft YaHei"/>
              </a:rPr>
              <a:t>collocation</a:t>
            </a:r>
          </a:p>
        </p:txBody>
      </p:sp>
      <p:sp>
        <p:nvSpPr>
          <p:cNvPr id="17" name="TextBox 16"/>
          <p:cNvSpPr txBox="1"/>
          <p:nvPr/>
        </p:nvSpPr>
        <p:spPr>
          <a:xfrm>
            <a:off x="4206240" y="21666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更新简历</a:t>
            </a:r>
          </a:p>
        </p:txBody>
      </p:sp>
      <p:sp>
        <p:nvSpPr>
          <p:cNvPr id="18" name="TextBox 17"/>
          <p:cNvSpPr txBox="1"/>
          <p:nvPr/>
        </p:nvSpPr>
        <p:spPr>
          <a:xfrm>
            <a:off x="6675120" y="21666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“Update your CV before applying.”</a:t>
            </a:r>
          </a:p>
        </p:txBody>
      </p:sp>
      <p:sp>
        <p:nvSpPr>
          <p:cNvPr id="19" name="Rounded Rectangle 18"/>
          <p:cNvSpPr/>
          <p:nvPr/>
        </p:nvSpPr>
        <p:spPr>
          <a:xfrm>
            <a:off x="548640" y="28244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2824480"/>
            <a:ext cx="91440" cy="6304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287020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get back into</a:t>
            </a:r>
          </a:p>
          <a:p>
            <a:pPr algn="l">
              <a:lnSpc>
                <a:spcPct val="115000"/>
              </a:lnSpc>
              <a:spcAft>
                <a:spcPts val="800"/>
              </a:spcAft>
            </a:pPr>
            <a:r>
              <a:rPr sz="1300" b="0">
                <a:solidFill>
                  <a:srgbClr val="5F677A"/>
                </a:solidFill>
                <a:latin typeface="Arial"/>
                <a:ea typeface="Microsoft YaHei"/>
              </a:rPr>
              <a:t>phrasal verb</a:t>
            </a:r>
          </a:p>
        </p:txBody>
      </p:sp>
      <p:sp>
        <p:nvSpPr>
          <p:cNvPr id="22" name="TextBox 21"/>
          <p:cNvSpPr txBox="1"/>
          <p:nvPr/>
        </p:nvSpPr>
        <p:spPr>
          <a:xfrm>
            <a:off x="4206240" y="28702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重新进入</a:t>
            </a:r>
          </a:p>
        </p:txBody>
      </p:sp>
      <p:sp>
        <p:nvSpPr>
          <p:cNvPr id="23" name="TextBox 22"/>
          <p:cNvSpPr txBox="1"/>
          <p:nvPr/>
        </p:nvSpPr>
        <p:spPr>
          <a:xfrm>
            <a:off x="6675120" y="28702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“It’s hard to get back into the market.”</a:t>
            </a:r>
          </a:p>
        </p:txBody>
      </p:sp>
      <p:sp>
        <p:nvSpPr>
          <p:cNvPr id="24" name="Rounded Rectangle 23"/>
          <p:cNvSpPr/>
          <p:nvPr/>
        </p:nvSpPr>
        <p:spPr>
          <a:xfrm>
            <a:off x="548640" y="352806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52806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57378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reconnect with</a:t>
            </a:r>
          </a:p>
          <a:p>
            <a:pPr algn="l">
              <a:lnSpc>
                <a:spcPct val="115000"/>
              </a:lnSpc>
              <a:spcAft>
                <a:spcPts val="800"/>
              </a:spcAft>
            </a:pPr>
            <a:r>
              <a:rPr sz="1300" b="0">
                <a:solidFill>
                  <a:srgbClr val="5F677A"/>
                </a:solidFill>
                <a:latin typeface="Arial"/>
                <a:ea typeface="Microsoft YaHei"/>
              </a:rPr>
              <a:t>verb phrase</a:t>
            </a:r>
          </a:p>
        </p:txBody>
      </p:sp>
      <p:sp>
        <p:nvSpPr>
          <p:cNvPr id="27" name="TextBox 26"/>
          <p:cNvSpPr txBox="1"/>
          <p:nvPr/>
        </p:nvSpPr>
        <p:spPr>
          <a:xfrm>
            <a:off x="4206240" y="357378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重新联系</a:t>
            </a:r>
          </a:p>
        </p:txBody>
      </p:sp>
      <p:sp>
        <p:nvSpPr>
          <p:cNvPr id="28" name="TextBox 27"/>
          <p:cNvSpPr txBox="1"/>
          <p:nvPr/>
        </p:nvSpPr>
        <p:spPr>
          <a:xfrm>
            <a:off x="6675120" y="357378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 reconnected with old colleagues.”</a:t>
            </a:r>
          </a:p>
        </p:txBody>
      </p:sp>
      <p:sp>
        <p:nvSpPr>
          <p:cNvPr id="29" name="Rounded Rectangle 28"/>
          <p:cNvSpPr/>
          <p:nvPr/>
        </p:nvSpPr>
        <p:spPr>
          <a:xfrm>
            <a:off x="548640" y="423164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23164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27736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transferable skills</a:t>
            </a:r>
          </a:p>
          <a:p>
            <a:pPr algn="l">
              <a:lnSpc>
                <a:spcPct val="115000"/>
              </a:lnSpc>
              <a:spcAft>
                <a:spcPts val="800"/>
              </a:spcAft>
            </a:pPr>
            <a:r>
              <a:rPr sz="1300" b="0">
                <a:solidFill>
                  <a:srgbClr val="5F677A"/>
                </a:solidFill>
                <a:latin typeface="Arial"/>
                <a:ea typeface="Microsoft YaHei"/>
              </a:rPr>
              <a:t>noun</a:t>
            </a:r>
          </a:p>
        </p:txBody>
      </p:sp>
      <p:sp>
        <p:nvSpPr>
          <p:cNvPr id="32" name="TextBox 31"/>
          <p:cNvSpPr txBox="1"/>
          <p:nvPr/>
        </p:nvSpPr>
        <p:spPr>
          <a:xfrm>
            <a:off x="4206240" y="427736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可迁移技能</a:t>
            </a:r>
          </a:p>
        </p:txBody>
      </p:sp>
      <p:sp>
        <p:nvSpPr>
          <p:cNvPr id="33" name="TextBox 32"/>
          <p:cNvSpPr txBox="1"/>
          <p:nvPr/>
        </p:nvSpPr>
        <p:spPr>
          <a:xfrm>
            <a:off x="6675120" y="427736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“Parenting builds transferable skills.”</a:t>
            </a:r>
          </a:p>
        </p:txBody>
      </p:sp>
    </p:spTree>
  </p:cSld>
  <p:clrMapOvr>
    <a:masterClrMapping/>
  </p:clrMapOvr>
  <p:transition spd="med">
    <p:fade/>
  </p:transition>
</p:sld>
</file>

<file path=ppt/slides/slide9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3: Moving forward</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7 · Lesson 35 How to relaunch your career</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90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向前看</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fresh start</a:t>
            </a:r>
          </a:p>
          <a:p>
            <a:pPr algn="l">
              <a:lnSpc>
                <a:spcPct val="115000"/>
              </a:lnSpc>
              <a:spcAft>
                <a:spcPts val="800"/>
              </a:spcAft>
            </a:pPr>
            <a:r>
              <a:rPr sz="1300" b="0">
                <a:solidFill>
                  <a:srgbClr val="5F677A"/>
                </a:solidFill>
                <a:latin typeface="Arial"/>
                <a:ea typeface="Microsoft YaHei"/>
              </a:rPr>
              <a:t>noun</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重新开始</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 wanted a fresh start.”</a:t>
            </a:r>
          </a:p>
        </p:txBody>
      </p:sp>
      <p:sp>
        <p:nvSpPr>
          <p:cNvPr id="14" name="Rounded Rectangle 13"/>
          <p:cNvSpPr/>
          <p:nvPr/>
        </p:nvSpPr>
        <p:spPr>
          <a:xfrm>
            <a:off x="548640" y="21209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6304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restart / relaunch</a:t>
            </a:r>
          </a:p>
          <a:p>
            <a:pPr algn="l">
              <a:lnSpc>
                <a:spcPct val="115000"/>
              </a:lnSpc>
              <a:spcAft>
                <a:spcPts val="800"/>
              </a:spcAft>
            </a:pPr>
            <a:r>
              <a:rPr sz="1300" b="0">
                <a:solidFill>
                  <a:srgbClr val="5F677A"/>
                </a:solidFill>
                <a:latin typeface="Arial"/>
                <a:ea typeface="Microsoft YaHei"/>
              </a:rPr>
              <a:t>verb</a:t>
            </a:r>
          </a:p>
        </p:txBody>
      </p:sp>
      <p:sp>
        <p:nvSpPr>
          <p:cNvPr id="17" name="TextBox 16"/>
          <p:cNvSpPr txBox="1"/>
          <p:nvPr/>
        </p:nvSpPr>
        <p:spPr>
          <a:xfrm>
            <a:off x="4206240" y="21666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重新开始</a:t>
            </a:r>
          </a:p>
        </p:txBody>
      </p:sp>
      <p:sp>
        <p:nvSpPr>
          <p:cNvPr id="18" name="TextBox 17"/>
          <p:cNvSpPr txBox="1"/>
          <p:nvPr/>
        </p:nvSpPr>
        <p:spPr>
          <a:xfrm>
            <a:off x="6675120" y="21666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“She relaunched her career at 40.”</a:t>
            </a:r>
          </a:p>
        </p:txBody>
      </p:sp>
      <p:sp>
        <p:nvSpPr>
          <p:cNvPr id="19" name="Rounded Rectangle 18"/>
          <p:cNvSpPr/>
          <p:nvPr/>
        </p:nvSpPr>
        <p:spPr>
          <a:xfrm>
            <a:off x="548640" y="28244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282448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287020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build up momentum</a:t>
            </a:r>
          </a:p>
          <a:p>
            <a:pPr algn="l">
              <a:lnSpc>
                <a:spcPct val="115000"/>
              </a:lnSpc>
              <a:spcAft>
                <a:spcPts val="800"/>
              </a:spcAft>
            </a:pPr>
            <a:r>
              <a:rPr sz="1300" b="0">
                <a:solidFill>
                  <a:srgbClr val="5F677A"/>
                </a:solidFill>
                <a:latin typeface="Arial"/>
                <a:ea typeface="Microsoft YaHei"/>
              </a:rPr>
              <a:t>collocation</a:t>
            </a:r>
          </a:p>
        </p:txBody>
      </p:sp>
      <p:sp>
        <p:nvSpPr>
          <p:cNvPr id="22" name="TextBox 21"/>
          <p:cNvSpPr txBox="1"/>
          <p:nvPr/>
        </p:nvSpPr>
        <p:spPr>
          <a:xfrm>
            <a:off x="4206240" y="28702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积累势头</a:t>
            </a:r>
          </a:p>
        </p:txBody>
      </p:sp>
      <p:sp>
        <p:nvSpPr>
          <p:cNvPr id="23" name="TextBox 22"/>
          <p:cNvSpPr txBox="1"/>
          <p:nvPr/>
        </p:nvSpPr>
        <p:spPr>
          <a:xfrm>
            <a:off x="6675120" y="28702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“It takes time to build up momentum.”</a:t>
            </a:r>
          </a:p>
        </p:txBody>
      </p:sp>
      <p:sp>
        <p:nvSpPr>
          <p:cNvPr id="24" name="Rounded Rectangle 23"/>
          <p:cNvSpPr/>
          <p:nvPr/>
        </p:nvSpPr>
        <p:spPr>
          <a:xfrm>
            <a:off x="548640" y="352806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528060"/>
            <a:ext cx="91440" cy="9352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573780"/>
            <a:ext cx="3429000" cy="8712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hit the ground running</a:t>
            </a:r>
          </a:p>
          <a:p>
            <a:pPr algn="l">
              <a:lnSpc>
                <a:spcPct val="115000"/>
              </a:lnSpc>
              <a:spcAft>
                <a:spcPts val="800"/>
              </a:spcAft>
            </a:pPr>
            <a:r>
              <a:rPr sz="1300" b="0">
                <a:solidFill>
                  <a:srgbClr val="5F677A"/>
                </a:solidFill>
                <a:latin typeface="Arial"/>
                <a:ea typeface="Microsoft YaHei"/>
              </a:rPr>
              <a:t>idiom</a:t>
            </a:r>
          </a:p>
        </p:txBody>
      </p:sp>
      <p:sp>
        <p:nvSpPr>
          <p:cNvPr id="27" name="TextBox 26"/>
          <p:cNvSpPr txBox="1"/>
          <p:nvPr/>
        </p:nvSpPr>
        <p:spPr>
          <a:xfrm>
            <a:off x="4206240" y="357378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迅速上手</a:t>
            </a:r>
          </a:p>
        </p:txBody>
      </p:sp>
      <p:sp>
        <p:nvSpPr>
          <p:cNvPr id="28" name="TextBox 27"/>
          <p:cNvSpPr txBox="1"/>
          <p:nvPr/>
        </p:nvSpPr>
        <p:spPr>
          <a:xfrm>
            <a:off x="6675120" y="357378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 want to hit the ground running.”</a:t>
            </a:r>
          </a:p>
        </p:txBody>
      </p:sp>
      <p:sp>
        <p:nvSpPr>
          <p:cNvPr id="29" name="Rounded Rectangle 28"/>
          <p:cNvSpPr/>
          <p:nvPr/>
        </p:nvSpPr>
        <p:spPr>
          <a:xfrm>
            <a:off x="548640" y="453644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53644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58216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ease back in</a:t>
            </a:r>
          </a:p>
          <a:p>
            <a:pPr algn="l">
              <a:lnSpc>
                <a:spcPct val="115000"/>
              </a:lnSpc>
              <a:spcAft>
                <a:spcPts val="800"/>
              </a:spcAft>
            </a:pPr>
            <a:r>
              <a:rPr sz="1300" b="0">
                <a:solidFill>
                  <a:srgbClr val="5F677A"/>
                </a:solidFill>
                <a:latin typeface="Arial"/>
                <a:ea typeface="Microsoft YaHei"/>
              </a:rPr>
              <a:t>phrasal verb</a:t>
            </a:r>
          </a:p>
        </p:txBody>
      </p:sp>
      <p:sp>
        <p:nvSpPr>
          <p:cNvPr id="32" name="TextBox 31"/>
          <p:cNvSpPr txBox="1"/>
          <p:nvPr/>
        </p:nvSpPr>
        <p:spPr>
          <a:xfrm>
            <a:off x="4206240" y="458216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逐步回归</a:t>
            </a:r>
          </a:p>
        </p:txBody>
      </p:sp>
      <p:sp>
        <p:nvSpPr>
          <p:cNvPr id="33" name="TextBox 32"/>
          <p:cNvSpPr txBox="1"/>
          <p:nvPr/>
        </p:nvSpPr>
        <p:spPr>
          <a:xfrm>
            <a:off x="6675120" y="458216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“I’ll ease back in with part-time hours.”</a:t>
            </a:r>
          </a:p>
        </p:txBody>
      </p:sp>
    </p:spTree>
  </p:cSld>
  <p:clrMapOvr>
    <a:masterClrMapping/>
  </p:clrMapOvr>
  <p:transition spd="med">
    <p:fade/>
  </p:transition>
</p:sld>
</file>

<file path=ppt/slides/slide9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Speed Round: Say it in English!</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Game</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7 · Lesson 35 How to relaunch your career</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91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Read the Chinese, shout the English expression! Click to reveal.  看中文，抢答英文表达</a:t>
            </a:r>
          </a:p>
        </p:txBody>
      </p:sp>
      <p:sp>
        <p:nvSpPr>
          <p:cNvPr id="9" name="Rounded Rectangle 8"/>
          <p:cNvSpPr/>
          <p:nvPr/>
        </p:nvSpPr>
        <p:spPr>
          <a:xfrm>
            <a:off x="548640" y="155448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回归实习计划</a:t>
            </a:r>
          </a:p>
        </p:txBody>
      </p:sp>
      <p:sp>
        <p:nvSpPr>
          <p:cNvPr id="11" name="Rounded Rectangle 10"/>
          <p:cNvSpPr/>
          <p:nvPr/>
        </p:nvSpPr>
        <p:spPr>
          <a:xfrm>
            <a:off x="685800" y="265176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returnship</a:t>
            </a:r>
          </a:p>
        </p:txBody>
      </p:sp>
      <p:sp>
        <p:nvSpPr>
          <p:cNvPr id="12" name="Rounded Rectangle 11"/>
          <p:cNvSpPr/>
          <p:nvPr/>
        </p:nvSpPr>
        <p:spPr>
          <a:xfrm>
            <a:off x="3367963" y="155448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459403"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迅速上手</a:t>
            </a:r>
          </a:p>
        </p:txBody>
      </p:sp>
      <p:sp>
        <p:nvSpPr>
          <p:cNvPr id="14" name="Rounded Rectangle 13"/>
          <p:cNvSpPr/>
          <p:nvPr/>
        </p:nvSpPr>
        <p:spPr>
          <a:xfrm>
            <a:off x="3505123" y="265176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hit the ground running</a:t>
            </a:r>
          </a:p>
        </p:txBody>
      </p:sp>
      <p:sp>
        <p:nvSpPr>
          <p:cNvPr id="15" name="Rounded Rectangle 14"/>
          <p:cNvSpPr/>
          <p:nvPr/>
        </p:nvSpPr>
        <p:spPr>
          <a:xfrm>
            <a:off x="6187286" y="155448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78726"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重新进入</a:t>
            </a:r>
          </a:p>
        </p:txBody>
      </p:sp>
      <p:sp>
        <p:nvSpPr>
          <p:cNvPr id="17" name="Rounded Rectangle 16"/>
          <p:cNvSpPr/>
          <p:nvPr/>
        </p:nvSpPr>
        <p:spPr>
          <a:xfrm>
            <a:off x="6324446" y="265176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get back into</a:t>
            </a:r>
          </a:p>
        </p:txBody>
      </p:sp>
      <p:sp>
        <p:nvSpPr>
          <p:cNvPr id="18" name="Rounded Rectangle 17"/>
          <p:cNvSpPr/>
          <p:nvPr/>
        </p:nvSpPr>
        <p:spPr>
          <a:xfrm>
            <a:off x="9006609" y="1554480"/>
            <a:ext cx="2636443" cy="2148840"/>
          </a:xfrm>
          <a:prstGeom prst="roundRect">
            <a:avLst>
              <a:gd name="adj" fmla="val 10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098049"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暂时离开</a:t>
            </a:r>
          </a:p>
        </p:txBody>
      </p:sp>
      <p:sp>
        <p:nvSpPr>
          <p:cNvPr id="20" name="Rounded Rectangle 19"/>
          <p:cNvSpPr/>
          <p:nvPr/>
        </p:nvSpPr>
        <p:spPr>
          <a:xfrm>
            <a:off x="9143769" y="2651760"/>
            <a:ext cx="2362123" cy="9144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step away from</a:t>
            </a:r>
          </a:p>
        </p:txBody>
      </p:sp>
      <p:sp>
        <p:nvSpPr>
          <p:cNvPr id="21" name="Rounded Rectangle 20"/>
          <p:cNvSpPr/>
          <p:nvPr/>
        </p:nvSpPr>
        <p:spPr>
          <a:xfrm>
            <a:off x="548640" y="3886200"/>
            <a:ext cx="2636443" cy="2148840"/>
          </a:xfrm>
          <a:prstGeom prst="roundRect">
            <a:avLst>
              <a:gd name="adj" fmla="val 10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重新开始</a:t>
            </a:r>
          </a:p>
        </p:txBody>
      </p:sp>
      <p:sp>
        <p:nvSpPr>
          <p:cNvPr id="23" name="Rounded Rectangle 22"/>
          <p:cNvSpPr/>
          <p:nvPr/>
        </p:nvSpPr>
        <p:spPr>
          <a:xfrm>
            <a:off x="685800" y="4983480"/>
            <a:ext cx="2362123" cy="9144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fresh start</a:t>
            </a:r>
          </a:p>
        </p:txBody>
      </p:sp>
      <p:sp>
        <p:nvSpPr>
          <p:cNvPr id="24" name="Rounded Rectangle 23"/>
          <p:cNvSpPr/>
          <p:nvPr/>
        </p:nvSpPr>
        <p:spPr>
          <a:xfrm>
            <a:off x="3367963" y="388620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459403"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简历空档</a:t>
            </a:r>
          </a:p>
        </p:txBody>
      </p:sp>
      <p:sp>
        <p:nvSpPr>
          <p:cNvPr id="26" name="Rounded Rectangle 25"/>
          <p:cNvSpPr/>
          <p:nvPr/>
        </p:nvSpPr>
        <p:spPr>
          <a:xfrm>
            <a:off x="3505123" y="498348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gap on your CV</a:t>
            </a:r>
          </a:p>
        </p:txBody>
      </p:sp>
      <p:sp>
        <p:nvSpPr>
          <p:cNvPr id="27" name="Rounded Rectangle 26"/>
          <p:cNvSpPr/>
          <p:nvPr/>
        </p:nvSpPr>
        <p:spPr>
          <a:xfrm>
            <a:off x="6187286" y="388620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78726"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更新技能</a:t>
            </a:r>
          </a:p>
        </p:txBody>
      </p:sp>
      <p:sp>
        <p:nvSpPr>
          <p:cNvPr id="29" name="Rounded Rectangle 28"/>
          <p:cNvSpPr/>
          <p:nvPr/>
        </p:nvSpPr>
        <p:spPr>
          <a:xfrm>
            <a:off x="6324446" y="498348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refresh your skills</a:t>
            </a:r>
          </a:p>
        </p:txBody>
      </p:sp>
      <p:sp>
        <p:nvSpPr>
          <p:cNvPr id="30" name="Rounded Rectangle 29"/>
          <p:cNvSpPr/>
          <p:nvPr/>
        </p:nvSpPr>
        <p:spPr>
          <a:xfrm>
            <a:off x="9006609" y="388620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098049"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逐步回归</a:t>
            </a:r>
          </a:p>
        </p:txBody>
      </p:sp>
      <p:sp>
        <p:nvSpPr>
          <p:cNvPr id="32" name="Rounded Rectangle 31"/>
          <p:cNvSpPr/>
          <p:nvPr/>
        </p:nvSpPr>
        <p:spPr>
          <a:xfrm>
            <a:off x="9143769" y="498348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ease back in</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1"/>
                                        </p:tgtEl>
                                        <p:attrNameLst>
                                          <p:attrName>style.visibility</p:attrName>
                                        </p:attrNameLst>
                                      </p:cBhvr>
                                      <p:to>
                                        <p:strVal val="visible"/>
                                      </p:to>
                                    </p:set>
                                    <p:animEffect transition="in" filter="fade">
                                      <p:cBhvr>
                                        <p:cTn id="4" dur="400"/>
                                        <p:tgtEl>
                                          <p:spTgt spid="1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4"/>
                                        </p:tgtEl>
                                        <p:attrNameLst>
                                          <p:attrName>style.visibility</p:attrName>
                                        </p:attrNameLst>
                                      </p:cBhvr>
                                      <p:to>
                                        <p:strVal val="visible"/>
                                      </p:to>
                                    </p:set>
                                    <p:animEffect transition="in" filter="fade">
                                      <p:cBhvr>
                                        <p:cTn id="9" dur="400"/>
                                        <p:tgtEl>
                                          <p:spTgt spid="14"/>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7"/>
                                        </p:tgtEl>
                                        <p:attrNameLst>
                                          <p:attrName>style.visibility</p:attrName>
                                        </p:attrNameLst>
                                      </p:cBhvr>
                                      <p:to>
                                        <p:strVal val="visible"/>
                                      </p:to>
                                    </p:set>
                                    <p:animEffect transition="in" filter="fade">
                                      <p:cBhvr>
                                        <p:cTn id="14" dur="400"/>
                                        <p:tgtEl>
                                          <p:spTgt spid="17"/>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0"/>
                                        </p:tgtEl>
                                        <p:attrNameLst>
                                          <p:attrName>style.visibility</p:attrName>
                                        </p:attrNameLst>
                                      </p:cBhvr>
                                      <p:to>
                                        <p:strVal val="visible"/>
                                      </p:to>
                                    </p:set>
                                    <p:animEffect transition="in" filter="fade">
                                      <p:cBhvr>
                                        <p:cTn id="19" dur="400"/>
                                        <p:tgtEl>
                                          <p:spTgt spid="20"/>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3"/>
                                        </p:tgtEl>
                                        <p:attrNameLst>
                                          <p:attrName>style.visibility</p:attrName>
                                        </p:attrNameLst>
                                      </p:cBhvr>
                                      <p:to>
                                        <p:strVal val="visible"/>
                                      </p:to>
                                    </p:set>
                                    <p:animEffect transition="in" filter="fade">
                                      <p:cBhvr>
                                        <p:cTn id="24" dur="400"/>
                                        <p:tgtEl>
                                          <p:spTgt spid="23"/>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26"/>
                                        </p:tgtEl>
                                        <p:attrNameLst>
                                          <p:attrName>style.visibility</p:attrName>
                                        </p:attrNameLst>
                                      </p:cBhvr>
                                      <p:to>
                                        <p:strVal val="visible"/>
                                      </p:to>
                                    </p:set>
                                    <p:animEffect transition="in" filter="fade">
                                      <p:cBhvr>
                                        <p:cTn id="29" dur="400"/>
                                        <p:tgtEl>
                                          <p:spTgt spid="26"/>
                                        </p:tgtEl>
                                      </p:cBhvr>
                                    </p:animEffect>
                                  </p:childTnLst>
                                </p:cTn>
                              </p:par>
                            </p:childTnLst>
                          </p:cTn>
                        </p:par>
                      </p:childTnLst>
                    </p:cTn>
                  </p:par>
                  <p:par>
                    <p:cTn id="36" fill="hold">
                      <p:stCondLst>
                        <p:cond delay="indefinite"/>
                      </p:stCondLst>
                      <p:childTnLst>
                        <p:par>
                          <p:cTn id="37" fill="hold">
                            <p:stCondLst>
                              <p:cond delay="0"/>
                            </p:stCondLst>
                            <p:childTnLst>
                              <p:par>
                                <p:cTn id="35" presetID="10" presetClass="entr" presetSubtype="0" fill="hold" nodeType="clickEffect">
                                  <p:stCondLst>
                                    <p:cond delay="0"/>
                                  </p:stCondLst>
                                  <p:childTnLst>
                                    <p:set>
                                      <p:cBhvr>
                                        <p:cTn id="33" dur="1" fill="hold">
                                          <p:stCondLst>
                                            <p:cond delay="0"/>
                                          </p:stCondLst>
                                        </p:cTn>
                                        <p:tgtEl>
                                          <p:spTgt spid="29"/>
                                        </p:tgtEl>
                                        <p:attrNameLst>
                                          <p:attrName>style.visibility</p:attrName>
                                        </p:attrNameLst>
                                      </p:cBhvr>
                                      <p:to>
                                        <p:strVal val="visible"/>
                                      </p:to>
                                    </p:set>
                                    <p:animEffect transition="in" filter="fade">
                                      <p:cBhvr>
                                        <p:cTn id="34" dur="400"/>
                                        <p:tgtEl>
                                          <p:spTgt spid="29"/>
                                        </p:tgtEl>
                                      </p:cBhvr>
                                    </p:animEffect>
                                  </p:childTnLst>
                                </p:cTn>
                              </p:par>
                            </p:childTnLst>
                          </p:cTn>
                        </p:par>
                      </p:childTnLst>
                    </p:cTn>
                  </p:par>
                  <p:par>
                    <p:cTn id="41" fill="hold">
                      <p:stCondLst>
                        <p:cond delay="indefinite"/>
                      </p:stCondLst>
                      <p:childTnLst>
                        <p:par>
                          <p:cTn id="42" fill="hold">
                            <p:stCondLst>
                              <p:cond delay="0"/>
                            </p:stCondLst>
                            <p:childTnLst>
                              <p:par>
                                <p:cTn id="40" presetID="10" presetClass="entr" presetSubtype="0" fill="hold" nodeType="clickEffect">
                                  <p:stCondLst>
                                    <p:cond delay="0"/>
                                  </p:stCondLst>
                                  <p:childTnLst>
                                    <p:set>
                                      <p:cBhvr>
                                        <p:cTn id="38" dur="1" fill="hold">
                                          <p:stCondLst>
                                            <p:cond delay="0"/>
                                          </p:stCondLst>
                                        </p:cTn>
                                        <p:tgtEl>
                                          <p:spTgt spid="32"/>
                                        </p:tgtEl>
                                        <p:attrNameLst>
                                          <p:attrName>style.visibility</p:attrName>
                                        </p:attrNameLst>
                                      </p:cBhvr>
                                      <p:to>
                                        <p:strVal val="visible"/>
                                      </p:to>
                                    </p:set>
                                    <p:animEffect transition="in" filter="fade">
                                      <p:cBhvr>
                                        <p:cTn id="39"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Mini Quiz: Fill in the Blanks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7 · Lesson 35 How to relaunch your career</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92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463040" cy="457200"/>
          </a:xfrm>
          <a:prstGeom prst="rect">
            <a:avLst/>
          </a:prstGeom>
          <a:noFill/>
        </p:spPr>
        <p:txBody>
          <a:bodyPr wrap="square" anchor="ctr">
            <a:spAutoFit/>
          </a:bodyPr>
          <a:lstStyle/>
          <a:p>
            <a:pPr algn="l">
              <a:lnSpc>
                <a:spcPct val="115000"/>
              </a:lnSpc>
              <a:spcAft>
                <a:spcPts val="800"/>
              </a:spcAft>
            </a:pPr>
            <a:r>
              <a:rPr sz="1400" b="0">
                <a:solidFill>
                  <a:srgbClr val="5F677A"/>
                </a:solidFill>
                <a:latin typeface="Arial"/>
                <a:ea typeface="Microsoft YaHei"/>
              </a:rPr>
              <a:t>Word bank</a:t>
            </a:r>
          </a:p>
        </p:txBody>
      </p:sp>
      <p:sp>
        <p:nvSpPr>
          <p:cNvPr id="9" name="Rounded Rectangle 8"/>
          <p:cNvSpPr/>
          <p:nvPr/>
        </p:nvSpPr>
        <p:spPr>
          <a:xfrm>
            <a:off x="2011680" y="987552"/>
            <a:ext cx="914400" cy="41148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break</a:t>
            </a:r>
          </a:p>
        </p:txBody>
      </p:sp>
      <p:sp>
        <p:nvSpPr>
          <p:cNvPr id="10" name="Rounded Rectangle 9"/>
          <p:cNvSpPr/>
          <p:nvPr/>
        </p:nvSpPr>
        <p:spPr>
          <a:xfrm>
            <a:off x="3017520" y="987552"/>
            <a:ext cx="694944" cy="41148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gap</a:t>
            </a:r>
          </a:p>
        </p:txBody>
      </p:sp>
      <p:sp>
        <p:nvSpPr>
          <p:cNvPr id="11" name="Rounded Rectangle 10"/>
          <p:cNvSpPr/>
          <p:nvPr/>
        </p:nvSpPr>
        <p:spPr>
          <a:xfrm>
            <a:off x="3803904" y="987552"/>
            <a:ext cx="1133856" cy="41148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refresh</a:t>
            </a:r>
          </a:p>
        </p:txBody>
      </p:sp>
      <p:sp>
        <p:nvSpPr>
          <p:cNvPr id="12" name="Rounded Rectangle 11"/>
          <p:cNvSpPr/>
          <p:nvPr/>
        </p:nvSpPr>
        <p:spPr>
          <a:xfrm>
            <a:off x="5029200" y="987552"/>
            <a:ext cx="1353312" cy="411480"/>
          </a:xfrm>
          <a:prstGeom prst="roundRect">
            <a:avLst>
              <a:gd name="adj" fmla="val 5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reconnect</a:t>
            </a:r>
          </a:p>
        </p:txBody>
      </p:sp>
      <p:sp>
        <p:nvSpPr>
          <p:cNvPr id="13" name="Rounded Rectangle 12"/>
          <p:cNvSpPr/>
          <p:nvPr/>
        </p:nvSpPr>
        <p:spPr>
          <a:xfrm>
            <a:off x="6473952" y="987552"/>
            <a:ext cx="1682495" cy="411480"/>
          </a:xfrm>
          <a:prstGeom prst="roundRect">
            <a:avLst>
              <a:gd name="adj" fmla="val 5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transferable</a:t>
            </a:r>
          </a:p>
        </p:txBody>
      </p:sp>
      <p:sp>
        <p:nvSpPr>
          <p:cNvPr id="14" name="Rounded Rectangle 13"/>
          <p:cNvSpPr/>
          <p:nvPr/>
        </p:nvSpPr>
        <p:spPr>
          <a:xfrm>
            <a:off x="8247887" y="987552"/>
            <a:ext cx="1133856" cy="41148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running</a:t>
            </a:r>
          </a:p>
        </p:txBody>
      </p:sp>
      <p:sp>
        <p:nvSpPr>
          <p:cNvPr id="15" name="Rounded Rectangle 14"/>
          <p:cNvSpPr/>
          <p:nvPr/>
        </p:nvSpPr>
        <p:spPr>
          <a:xfrm>
            <a:off x="548640" y="16002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 y="160020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1.  She took a career _______ to travel.</a:t>
            </a:r>
          </a:p>
        </p:txBody>
      </p:sp>
      <p:sp>
        <p:nvSpPr>
          <p:cNvPr id="17" name="Rounded Rectangle 16"/>
          <p:cNvSpPr/>
          <p:nvPr/>
        </p:nvSpPr>
        <p:spPr>
          <a:xfrm>
            <a:off x="9082735" y="16550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break</a:t>
            </a:r>
          </a:p>
        </p:txBody>
      </p:sp>
      <p:sp>
        <p:nvSpPr>
          <p:cNvPr id="18" name="Rounded Rectangle 17"/>
          <p:cNvSpPr/>
          <p:nvPr/>
        </p:nvSpPr>
        <p:spPr>
          <a:xfrm>
            <a:off x="548640" y="227838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5800" y="227838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2.  A _______ on your CV is not a problem.</a:t>
            </a:r>
          </a:p>
        </p:txBody>
      </p:sp>
      <p:sp>
        <p:nvSpPr>
          <p:cNvPr id="20" name="Rounded Rectangle 19"/>
          <p:cNvSpPr/>
          <p:nvPr/>
        </p:nvSpPr>
        <p:spPr>
          <a:xfrm>
            <a:off x="9082735" y="233324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gap</a:t>
            </a:r>
          </a:p>
        </p:txBody>
      </p:sp>
      <p:sp>
        <p:nvSpPr>
          <p:cNvPr id="21" name="Rounded Rectangle 20"/>
          <p:cNvSpPr/>
          <p:nvPr/>
        </p:nvSpPr>
        <p:spPr>
          <a:xfrm>
            <a:off x="548640" y="295656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295656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3.  I’m trying to _______ my skills online.</a:t>
            </a:r>
          </a:p>
        </p:txBody>
      </p:sp>
      <p:sp>
        <p:nvSpPr>
          <p:cNvPr id="23" name="Rounded Rectangle 22"/>
          <p:cNvSpPr/>
          <p:nvPr/>
        </p:nvSpPr>
        <p:spPr>
          <a:xfrm>
            <a:off x="9082735" y="301142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refresh</a:t>
            </a:r>
          </a:p>
        </p:txBody>
      </p:sp>
      <p:sp>
        <p:nvSpPr>
          <p:cNvPr id="24" name="Rounded Rectangle 23"/>
          <p:cNvSpPr/>
          <p:nvPr/>
        </p:nvSpPr>
        <p:spPr>
          <a:xfrm>
            <a:off x="548640" y="363474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85800" y="363474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4.  I want to _______ with old colleagues.</a:t>
            </a:r>
          </a:p>
        </p:txBody>
      </p:sp>
      <p:sp>
        <p:nvSpPr>
          <p:cNvPr id="26" name="Rounded Rectangle 25"/>
          <p:cNvSpPr/>
          <p:nvPr/>
        </p:nvSpPr>
        <p:spPr>
          <a:xfrm>
            <a:off x="9082735" y="368960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reconnect</a:t>
            </a:r>
          </a:p>
        </p:txBody>
      </p:sp>
      <p:sp>
        <p:nvSpPr>
          <p:cNvPr id="27" name="Rounded Rectangle 26"/>
          <p:cNvSpPr/>
          <p:nvPr/>
        </p:nvSpPr>
        <p:spPr>
          <a:xfrm>
            <a:off x="548640" y="431292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85800" y="431292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5.  Parenting builds _______ skills.</a:t>
            </a:r>
          </a:p>
        </p:txBody>
      </p:sp>
      <p:sp>
        <p:nvSpPr>
          <p:cNvPr id="29" name="Rounded Rectangle 28"/>
          <p:cNvSpPr/>
          <p:nvPr/>
        </p:nvSpPr>
        <p:spPr>
          <a:xfrm>
            <a:off x="9082735" y="436778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transferable</a:t>
            </a:r>
          </a:p>
        </p:txBody>
      </p:sp>
      <p:sp>
        <p:nvSpPr>
          <p:cNvPr id="30" name="Rounded Rectangle 29"/>
          <p:cNvSpPr/>
          <p:nvPr/>
        </p:nvSpPr>
        <p:spPr>
          <a:xfrm>
            <a:off x="548640" y="49911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85800" y="499110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6.  I want to hit the ground _______.</a:t>
            </a:r>
          </a:p>
        </p:txBody>
      </p:sp>
      <p:sp>
        <p:nvSpPr>
          <p:cNvPr id="32" name="Rounded Rectangle 31"/>
          <p:cNvSpPr/>
          <p:nvPr/>
        </p:nvSpPr>
        <p:spPr>
          <a:xfrm>
            <a:off x="9082735" y="50459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running</a:t>
            </a:r>
          </a:p>
        </p:txBody>
      </p:sp>
      <p:sp>
        <p:nvSpPr>
          <p:cNvPr id="33" name="Rounded Rectangle 32"/>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(搭配) take a career break, return to work(不加 to the work), a gap IN your CV。</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7"/>
                                        </p:tgtEl>
                                        <p:attrNameLst>
                                          <p:attrName>style.visibility</p:attrName>
                                        </p:attrNameLst>
                                      </p:cBhvr>
                                      <p:to>
                                        <p:strVal val="visible"/>
                                      </p:to>
                                    </p:set>
                                    <p:animEffect transition="in" filter="fade">
                                      <p:cBhvr>
                                        <p:cTn id="4" dur="400"/>
                                        <p:tgtEl>
                                          <p:spTgt spid="17"/>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0"/>
                                        </p:tgtEl>
                                        <p:attrNameLst>
                                          <p:attrName>style.visibility</p:attrName>
                                        </p:attrNameLst>
                                      </p:cBhvr>
                                      <p:to>
                                        <p:strVal val="visible"/>
                                      </p:to>
                                    </p:set>
                                    <p:animEffect transition="in" filter="fade">
                                      <p:cBhvr>
                                        <p:cTn id="9" dur="400"/>
                                        <p:tgtEl>
                                          <p:spTgt spid="20"/>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6"/>
                                        </p:tgtEl>
                                        <p:attrNameLst>
                                          <p:attrName>style.visibility</p:attrName>
                                        </p:attrNameLst>
                                      </p:cBhvr>
                                      <p:to>
                                        <p:strVal val="visible"/>
                                      </p:to>
                                    </p:set>
                                    <p:animEffect transition="in" filter="fade">
                                      <p:cBhvr>
                                        <p:cTn id="19" dur="400"/>
                                        <p:tgtEl>
                                          <p:spTgt spid="26"/>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9"/>
                                        </p:tgtEl>
                                        <p:attrNameLst>
                                          <p:attrName>style.visibility</p:attrName>
                                        </p:attrNameLst>
                                      </p:cBhvr>
                                      <p:to>
                                        <p:strVal val="visible"/>
                                      </p:to>
                                    </p:set>
                                    <p:animEffect transition="in" filter="fade">
                                      <p:cBhvr>
                                        <p:cTn id="24" dur="400"/>
                                        <p:tgtEl>
                                          <p:spTgt spid="29"/>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32"/>
                                        </p:tgtEl>
                                        <p:attrNameLst>
                                          <p:attrName>style.visibility</p:attrName>
                                        </p:attrNameLst>
                                      </p:cBhvr>
                                      <p:to>
                                        <p:strVal val="visible"/>
                                      </p:to>
                                    </p:set>
                                    <p:animEffect transition="in" filter="fade">
                                      <p:cBhvr>
                                        <p:cTn id="29"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000" b="1">
                <a:solidFill>
                  <a:srgbClr val="1F2A44"/>
                </a:solidFill>
                <a:latin typeface="Arial"/>
                <a:ea typeface="Microsoft YaHei"/>
              </a:rPr>
              <a:t>🎭 Role Play · Networking after a break</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7 · Lesson 35 How to relaunch your career</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93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休假后的人脉联系</a:t>
            </a:r>
          </a:p>
        </p:txBody>
      </p:sp>
      <p:sp>
        <p:nvSpPr>
          <p:cNvPr id="9" name="Rounded Rectangle 8"/>
          <p:cNvSpPr/>
          <p:nvPr/>
        </p:nvSpPr>
        <p:spPr>
          <a:xfrm>
            <a:off x="548640" y="1463040"/>
            <a:ext cx="11094415" cy="1463040"/>
          </a:xfrm>
          <a:prstGeom prst="roundRect">
            <a:avLst>
              <a:gd name="adj" fmla="val 12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5F677A"/>
                </a:solidFill>
                <a:latin typeface="Arial"/>
                <a:ea typeface="Microsoft YaHei"/>
              </a:rPr>
              <a:t>📍 Situation 情景</a:t>
            </a:r>
          </a:p>
          <a:p>
            <a:pPr algn="l">
              <a:spcAft>
                <a:spcPts val="200"/>
              </a:spcAft>
            </a:pPr>
            <a:r>
              <a:rPr sz="2400" b="1">
                <a:solidFill>
                  <a:srgbClr val="1F2A44"/>
                </a:solidFill>
                <a:latin typeface="Arial"/>
                <a:ea typeface="Microsoft YaHei"/>
              </a:rPr>
              <a:t>You contact a former colleague.</a:t>
            </a:r>
          </a:p>
        </p:txBody>
      </p:sp>
      <p:sp>
        <p:nvSpPr>
          <p:cNvPr id="10" name="Rounded Rectangle 9"/>
          <p:cNvSpPr/>
          <p:nvPr/>
        </p:nvSpPr>
        <p:spPr>
          <a:xfrm>
            <a:off x="548640"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77240" y="3429000"/>
            <a:ext cx="1097280" cy="109728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2" name="TextBox 11"/>
          <p:cNvSpPr txBox="1"/>
          <p:nvPr/>
        </p:nvSpPr>
        <p:spPr>
          <a:xfrm>
            <a:off x="2011680"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FF6B5B"/>
                </a:solidFill>
                <a:latin typeface="Arial"/>
                <a:ea typeface="Microsoft YaHei"/>
              </a:rPr>
              <a:t>Role A</a:t>
            </a:r>
          </a:p>
          <a:p>
            <a:pPr algn="l">
              <a:lnSpc>
                <a:spcPct val="115000"/>
              </a:lnSpc>
              <a:spcAft>
                <a:spcPts val="800"/>
              </a:spcAft>
            </a:pPr>
            <a:r>
              <a:rPr sz="2000" b="1">
                <a:solidFill>
                  <a:srgbClr val="1F2A44"/>
                </a:solidFill>
                <a:latin typeface="Arial"/>
                <a:ea typeface="Microsoft YaHei"/>
              </a:rPr>
              <a:t>You</a:t>
            </a:r>
          </a:p>
        </p:txBody>
      </p:sp>
      <p:sp>
        <p:nvSpPr>
          <p:cNvPr id="13" name="Rounded Rectangle 12"/>
          <p:cNvSpPr/>
          <p:nvPr/>
        </p:nvSpPr>
        <p:spPr>
          <a:xfrm>
            <a:off x="6233007"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1607" y="3429000"/>
            <a:ext cx="1097280" cy="109728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5" name="TextBox 14"/>
          <p:cNvSpPr txBox="1"/>
          <p:nvPr/>
        </p:nvSpPr>
        <p:spPr>
          <a:xfrm>
            <a:off x="7696047"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4A90E2"/>
                </a:solidFill>
                <a:latin typeface="Arial"/>
                <a:ea typeface="Microsoft YaHei"/>
              </a:rPr>
              <a:t>Role B</a:t>
            </a:r>
          </a:p>
          <a:p>
            <a:pPr algn="l">
              <a:lnSpc>
                <a:spcPct val="115000"/>
              </a:lnSpc>
              <a:spcAft>
                <a:spcPts val="800"/>
              </a:spcAft>
            </a:pPr>
            <a:r>
              <a:rPr sz="2000" b="1">
                <a:solidFill>
                  <a:srgbClr val="1F2A44"/>
                </a:solidFill>
                <a:latin typeface="Arial"/>
                <a:ea typeface="Microsoft YaHei"/>
              </a:rPr>
              <a:t>Former colleague</a:t>
            </a:r>
          </a:p>
        </p:txBody>
      </p:sp>
    </p:spTree>
  </p:cSld>
  <p:clrMapOvr>
    <a:masterClrMapping/>
  </p:clrMapOvr>
  <p:transition spd="med">
    <p:fade/>
  </p:transition>
</p:sld>
</file>

<file path=ppt/slides/slide9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700" b="1">
                <a:solidFill>
                  <a:srgbClr val="1F2A44"/>
                </a:solidFill>
                <a:latin typeface="Arial"/>
                <a:ea typeface="Microsoft YaHei"/>
              </a:rPr>
              <a:t>🎭 Model Dialogue · Networking after a break</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1/2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7 · Lesson 35 How to relaunch your career</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94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1463040" y="1325880"/>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Hi Anna, it’s been a while. I’ve been out of work for two years, caring for my father.</a:t>
            </a:r>
          </a:p>
        </p:txBody>
      </p:sp>
      <p:sp>
        <p:nvSpPr>
          <p:cNvPr id="11" name="Rounded Rectangle 10"/>
          <p:cNvSpPr/>
          <p:nvPr/>
        </p:nvSpPr>
        <p:spPr>
          <a:xfrm>
            <a:off x="10911535" y="219760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63652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2133295" y="219760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I’m sorry to hear that. How is he now?</a:t>
            </a:r>
          </a:p>
        </p:txBody>
      </p:sp>
      <p:sp>
        <p:nvSpPr>
          <p:cNvPr id="14" name="Rounded Rectangle 13"/>
          <p:cNvSpPr/>
          <p:nvPr/>
        </p:nvSpPr>
        <p:spPr>
          <a:xfrm>
            <a:off x="548640" y="277977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321868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779776"/>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Much better, thanks. I’m ready to go back to work, and I’m refreshing my skills.</a:t>
            </a:r>
          </a:p>
        </p:txBody>
      </p:sp>
      <p:sp>
        <p:nvSpPr>
          <p:cNvPr id="17" name="Rounded Rectangle 16"/>
          <p:cNvSpPr/>
          <p:nvPr/>
        </p:nvSpPr>
        <p:spPr>
          <a:xfrm>
            <a:off x="10911535" y="365150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409041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65150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What kind of role are you looking for?</a:t>
            </a:r>
          </a:p>
        </p:txBody>
      </p:sp>
    </p:spTree>
  </p:cSld>
  <p:clrMapOvr>
    <a:masterClrMapping/>
  </p:clrMapOvr>
  <p:transition spd="med">
    <p:fade/>
  </p:transition>
</p:sld>
</file>

<file path=ppt/slides/slide9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300" b="1">
                <a:solidFill>
                  <a:srgbClr val="1F2A44"/>
                </a:solidFill>
                <a:latin typeface="Arial"/>
                <a:ea typeface="Microsoft YaHei"/>
              </a:rPr>
              <a:t>🎭 Model Dialogue · Networking after a break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2/2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7 · Lesson 35 How to relaunch your career</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95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1463040" y="1325880"/>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Project management again. I’d like to ease back in, maybe part-time.</a:t>
            </a:r>
          </a:p>
        </p:txBody>
      </p:sp>
      <p:sp>
        <p:nvSpPr>
          <p:cNvPr id="11" name="Rounded Rectangle 10"/>
          <p:cNvSpPr/>
          <p:nvPr/>
        </p:nvSpPr>
        <p:spPr>
          <a:xfrm>
            <a:off x="10911535" y="219760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63652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2133295" y="219760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We might have something. Can you send me your updated CV?</a:t>
            </a:r>
          </a:p>
        </p:txBody>
      </p:sp>
      <p:sp>
        <p:nvSpPr>
          <p:cNvPr id="14" name="Rounded Rectangle 13"/>
          <p:cNvSpPr/>
          <p:nvPr/>
        </p:nvSpPr>
        <p:spPr>
          <a:xfrm>
            <a:off x="548640" y="277977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321868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779776"/>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Of course. Thanks so much.</a:t>
            </a:r>
          </a:p>
        </p:txBody>
      </p:sp>
      <p:sp>
        <p:nvSpPr>
          <p:cNvPr id="17" name="Rounded Rectangle 16"/>
          <p:cNvSpPr/>
          <p:nvPr/>
        </p:nvSpPr>
        <p:spPr>
          <a:xfrm>
            <a:off x="10911535" y="336194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380085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36194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No problem. Let’s reconnect next week.</a:t>
            </a:r>
          </a:p>
        </p:txBody>
      </p:sp>
    </p:spTree>
  </p:cSld>
  <p:clrMapOvr>
    <a:masterClrMapping/>
  </p:clrMapOvr>
  <p:transition spd="med">
    <p:fade/>
  </p:transition>
</p:sld>
</file>

<file path=ppt/slides/slide9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000" b="1">
                <a:solidFill>
                  <a:srgbClr val="1F2A44"/>
                </a:solidFill>
                <a:latin typeface="Arial"/>
                <a:ea typeface="Microsoft YaHei"/>
              </a:rPr>
              <a:t>🎯 Your Turn · Networking after a break</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7 · Lesson 35 How to relaunch your career</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96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Situation</a:t>
            </a:r>
          </a:p>
        </p:txBody>
      </p:sp>
      <p:sp>
        <p:nvSpPr>
          <p:cNvPr id="9" name="Rounded Rectangle 8"/>
          <p:cNvSpPr/>
          <p:nvPr/>
        </p:nvSpPr>
        <p:spPr>
          <a:xfrm>
            <a:off x="3017520" y="132588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You contact a former colleague after a break.</a:t>
            </a:r>
          </a:p>
        </p:txBody>
      </p:sp>
      <p:sp>
        <p:nvSpPr>
          <p:cNvPr id="10" name="Rounded Rectangle 9"/>
          <p:cNvSpPr/>
          <p:nvPr/>
        </p:nvSpPr>
        <p:spPr>
          <a:xfrm>
            <a:off x="548640" y="1807464"/>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Your role (A)</a:t>
            </a:r>
          </a:p>
        </p:txBody>
      </p:sp>
      <p:sp>
        <p:nvSpPr>
          <p:cNvPr id="11" name="Rounded Rectangle 10"/>
          <p:cNvSpPr/>
          <p:nvPr/>
        </p:nvSpPr>
        <p:spPr>
          <a:xfrm>
            <a:off x="3017520" y="1807464"/>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Returner. Break reason: ______________</a:t>
            </a:r>
          </a:p>
        </p:txBody>
      </p:sp>
      <p:sp>
        <p:nvSpPr>
          <p:cNvPr id="12" name="Rounded Rectangle 11"/>
          <p:cNvSpPr/>
          <p:nvPr/>
        </p:nvSpPr>
        <p:spPr>
          <a:xfrm>
            <a:off x="548640" y="2289048"/>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Partner’s role (B)</a:t>
            </a:r>
          </a:p>
        </p:txBody>
      </p:sp>
      <p:sp>
        <p:nvSpPr>
          <p:cNvPr id="13" name="Rounded Rectangle 12"/>
          <p:cNvSpPr/>
          <p:nvPr/>
        </p:nvSpPr>
        <p:spPr>
          <a:xfrm>
            <a:off x="3017520" y="2289048"/>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Former colleague.</a:t>
            </a:r>
          </a:p>
        </p:txBody>
      </p:sp>
      <p:sp>
        <p:nvSpPr>
          <p:cNvPr id="14" name="Rounded Rectangle 13"/>
          <p:cNvSpPr/>
          <p:nvPr/>
        </p:nvSpPr>
        <p:spPr>
          <a:xfrm>
            <a:off x="548640" y="2770632"/>
            <a:ext cx="2377440" cy="65227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Must use (3 or more)</a:t>
            </a:r>
          </a:p>
        </p:txBody>
      </p:sp>
      <p:sp>
        <p:nvSpPr>
          <p:cNvPr id="15" name="Rounded Rectangle 14"/>
          <p:cNvSpPr/>
          <p:nvPr/>
        </p:nvSpPr>
        <p:spPr>
          <a:xfrm>
            <a:off x="3017520" y="2770632"/>
            <a:ext cx="8625535" cy="65227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it’s been a while · ready to go back to work · refreshing my skills · ease back in · updated CV</a:t>
            </a:r>
          </a:p>
        </p:txBody>
      </p:sp>
      <p:sp>
        <p:nvSpPr>
          <p:cNvPr id="16" name="Rounded Rectangle 15"/>
          <p:cNvSpPr/>
          <p:nvPr/>
        </p:nvSpPr>
        <p:spPr>
          <a:xfrm>
            <a:off x="548640" y="3496056"/>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Goal</a:t>
            </a:r>
          </a:p>
        </p:txBody>
      </p:sp>
      <p:sp>
        <p:nvSpPr>
          <p:cNvPr id="17" name="Rounded Rectangle 16"/>
          <p:cNvSpPr/>
          <p:nvPr/>
        </p:nvSpPr>
        <p:spPr>
          <a:xfrm>
            <a:off x="3017520" y="3496056"/>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Explain the break briefly and say what you are looking for.</a:t>
            </a:r>
          </a:p>
        </p:txBody>
      </p:sp>
      <p:sp>
        <p:nvSpPr>
          <p:cNvPr id="18" name="Rounded Rectangle 17"/>
          <p:cNvSpPr/>
          <p:nvPr/>
        </p:nvSpPr>
        <p:spPr>
          <a:xfrm>
            <a:off x="548640" y="397764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My notes</a:t>
            </a:r>
          </a:p>
        </p:txBody>
      </p:sp>
      <p:sp>
        <p:nvSpPr>
          <p:cNvPr id="19" name="Rounded Rectangle 18"/>
          <p:cNvSpPr/>
          <p:nvPr/>
        </p:nvSpPr>
        <p:spPr>
          <a:xfrm>
            <a:off x="3017520" y="397764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____________________________________________</a:t>
            </a:r>
          </a:p>
        </p:txBody>
      </p:sp>
      <p:sp>
        <p:nvSpPr>
          <p:cNvPr id="20" name="TextBox 19"/>
          <p:cNvSpPr txBox="1"/>
          <p:nvPr/>
        </p:nvSpPr>
        <p:spPr>
          <a:xfrm>
            <a:off x="548640" y="4550664"/>
            <a:ext cx="11094415" cy="365760"/>
          </a:xfrm>
          <a:prstGeom prst="rect">
            <a:avLst/>
          </a:prstGeom>
          <a:noFill/>
        </p:spPr>
        <p:txBody>
          <a:bodyPr wrap="square" anchor="t">
            <a:spAutoFit/>
          </a:bodyPr>
          <a:lstStyle/>
          <a:p>
            <a:pPr algn="l">
              <a:lnSpc>
                <a:spcPct val="115000"/>
              </a:lnSpc>
              <a:spcAft>
                <a:spcPts val="800"/>
              </a:spcAft>
            </a:pPr>
            <a:r>
              <a:rPr sz="1500" b="1">
                <a:solidFill>
                  <a:srgbClr val="FF6B5B"/>
                </a:solidFill>
                <a:latin typeface="Arial"/>
                <a:ea typeface="Microsoft YaHei"/>
              </a:rPr>
              <a:t>🔥 Level-up challenges 进阶挑战 (click)</a:t>
            </a:r>
          </a:p>
        </p:txBody>
      </p:sp>
      <p:sp>
        <p:nvSpPr>
          <p:cNvPr id="21" name="Rounded Rectangle 20"/>
          <p:cNvSpPr/>
          <p:nvPr/>
        </p:nvSpPr>
        <p:spPr>
          <a:xfrm>
            <a:off x="548640" y="4934712"/>
            <a:ext cx="3576218" cy="1283208"/>
          </a:xfrm>
          <a:prstGeom prst="roundRect">
            <a:avLst>
              <a:gd name="adj" fmla="val 12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Offer something to them.</a:t>
            </a:r>
          </a:p>
        </p:txBody>
      </p:sp>
      <p:sp>
        <p:nvSpPr>
          <p:cNvPr id="22" name="Rounded Rectangle 21"/>
          <p:cNvSpPr/>
          <p:nvPr/>
        </p:nvSpPr>
        <p:spPr>
          <a:xfrm>
            <a:off x="4307738" y="4934712"/>
            <a:ext cx="3576218" cy="1283208"/>
          </a:xfrm>
          <a:prstGeom prst="roundRect">
            <a:avLst>
              <a:gd name="adj" fmla="val 12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Ask for advice, not a job.</a:t>
            </a:r>
          </a:p>
        </p:txBody>
      </p:sp>
      <p:sp>
        <p:nvSpPr>
          <p:cNvPr id="23" name="Rounded Rectangle 22"/>
          <p:cNvSpPr/>
          <p:nvPr/>
        </p:nvSpPr>
        <p:spPr>
          <a:xfrm>
            <a:off x="8066836" y="4934712"/>
            <a:ext cx="3576218" cy="1283208"/>
          </a:xfrm>
          <a:prstGeom prst="roundRect">
            <a:avLst>
              <a:gd name="adj" fmla="val 12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Suggest a coffee or call.</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21"/>
                                        </p:tgtEl>
                                        <p:attrNameLst>
                                          <p:attrName>style.visibility</p:attrName>
                                        </p:attrNameLst>
                                      </p:cBhvr>
                                      <p:to>
                                        <p:strVal val="visible"/>
                                      </p:to>
                                    </p:set>
                                    <p:animEffect transition="in" filter="fade">
                                      <p:cBhvr>
                                        <p:cTn id="4" dur="400"/>
                                        <p:tgtEl>
                                          <p:spTgt spid="2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2"/>
                                        </p:tgtEl>
                                        <p:attrNameLst>
                                          <p:attrName>style.visibility</p:attrName>
                                        </p:attrNameLst>
                                      </p:cBhvr>
                                      <p:to>
                                        <p:strVal val="visible"/>
                                      </p:to>
                                    </p:set>
                                    <p:animEffect transition="in" filter="fade">
                                      <p:cBhvr>
                                        <p:cTn id="9" dur="400"/>
                                        <p:tgtEl>
                                          <p:spTgt spid="2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500" b="1">
                <a:solidFill>
                  <a:srgbClr val="1F2A44"/>
                </a:solidFill>
                <a:latin typeface="Arial"/>
                <a:ea typeface="Microsoft YaHei"/>
              </a:rPr>
              <a:t>🎭 Role Play · Explaining a gap in an interview</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7 · Lesson 35 How to relaunch your career</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97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面试中解释空档期</a:t>
            </a:r>
          </a:p>
        </p:txBody>
      </p:sp>
      <p:sp>
        <p:nvSpPr>
          <p:cNvPr id="9" name="Rounded Rectangle 8"/>
          <p:cNvSpPr/>
          <p:nvPr/>
        </p:nvSpPr>
        <p:spPr>
          <a:xfrm>
            <a:off x="548640" y="1463040"/>
            <a:ext cx="11094415" cy="1463040"/>
          </a:xfrm>
          <a:prstGeom prst="roundRect">
            <a:avLst>
              <a:gd name="adj" fmla="val 12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5F677A"/>
                </a:solidFill>
                <a:latin typeface="Arial"/>
                <a:ea typeface="Microsoft YaHei"/>
              </a:rPr>
              <a:t>📍 Situation 情景</a:t>
            </a:r>
          </a:p>
          <a:p>
            <a:pPr algn="l">
              <a:spcAft>
                <a:spcPts val="200"/>
              </a:spcAft>
            </a:pPr>
            <a:r>
              <a:rPr sz="2400" b="1">
                <a:solidFill>
                  <a:srgbClr val="1F2A44"/>
                </a:solidFill>
                <a:latin typeface="Arial"/>
                <a:ea typeface="Microsoft YaHei"/>
              </a:rPr>
              <a:t>An interviewer asks about your CV gap.</a:t>
            </a:r>
          </a:p>
        </p:txBody>
      </p:sp>
      <p:sp>
        <p:nvSpPr>
          <p:cNvPr id="10" name="Rounded Rectangle 9"/>
          <p:cNvSpPr/>
          <p:nvPr/>
        </p:nvSpPr>
        <p:spPr>
          <a:xfrm>
            <a:off x="548640"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77240" y="3429000"/>
            <a:ext cx="1097280" cy="109728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2" name="TextBox 11"/>
          <p:cNvSpPr txBox="1"/>
          <p:nvPr/>
        </p:nvSpPr>
        <p:spPr>
          <a:xfrm>
            <a:off x="2011680"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FF6B5B"/>
                </a:solidFill>
                <a:latin typeface="Arial"/>
                <a:ea typeface="Microsoft YaHei"/>
              </a:rPr>
              <a:t>Role A</a:t>
            </a:r>
          </a:p>
          <a:p>
            <a:pPr algn="l">
              <a:lnSpc>
                <a:spcPct val="115000"/>
              </a:lnSpc>
              <a:spcAft>
                <a:spcPts val="800"/>
              </a:spcAft>
            </a:pPr>
            <a:r>
              <a:rPr sz="2000" b="1">
                <a:solidFill>
                  <a:srgbClr val="1F2A44"/>
                </a:solidFill>
                <a:latin typeface="Arial"/>
                <a:ea typeface="Microsoft YaHei"/>
              </a:rPr>
              <a:t>Interviewer</a:t>
            </a:r>
          </a:p>
        </p:txBody>
      </p:sp>
      <p:sp>
        <p:nvSpPr>
          <p:cNvPr id="13" name="Rounded Rectangle 12"/>
          <p:cNvSpPr/>
          <p:nvPr/>
        </p:nvSpPr>
        <p:spPr>
          <a:xfrm>
            <a:off x="6233007"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1607" y="3429000"/>
            <a:ext cx="1097280" cy="109728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5" name="TextBox 14"/>
          <p:cNvSpPr txBox="1"/>
          <p:nvPr/>
        </p:nvSpPr>
        <p:spPr>
          <a:xfrm>
            <a:off x="7696047"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4A90E2"/>
                </a:solidFill>
                <a:latin typeface="Arial"/>
                <a:ea typeface="Microsoft YaHei"/>
              </a:rPr>
              <a:t>Role B</a:t>
            </a:r>
          </a:p>
          <a:p>
            <a:pPr algn="l">
              <a:lnSpc>
                <a:spcPct val="115000"/>
              </a:lnSpc>
              <a:spcAft>
                <a:spcPts val="800"/>
              </a:spcAft>
            </a:pPr>
            <a:r>
              <a:rPr sz="2000" b="1">
                <a:solidFill>
                  <a:srgbClr val="1F2A44"/>
                </a:solidFill>
                <a:latin typeface="Arial"/>
                <a:ea typeface="Microsoft YaHei"/>
              </a:rPr>
              <a:t>Candidate</a:t>
            </a:r>
          </a:p>
        </p:txBody>
      </p:sp>
    </p:spTree>
  </p:cSld>
  <p:clrMapOvr>
    <a:masterClrMapping/>
  </p:clrMapOvr>
  <p:transition spd="med">
    <p:fade/>
  </p:transition>
</p:sld>
</file>

<file path=ppt/slides/slide9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300" b="1">
                <a:solidFill>
                  <a:srgbClr val="1F2A44"/>
                </a:solidFill>
                <a:latin typeface="Arial"/>
                <a:ea typeface="Microsoft YaHei"/>
              </a:rPr>
              <a:t>🎭 Model Dialogue · Explaining a gap in an interview</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1/2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7 · Lesson 35 How to relaunch your career</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98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1463040" y="1325880"/>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 see a gap on your CV between 2023 and 2025. Can you tell me about that?</a:t>
            </a:r>
          </a:p>
        </p:txBody>
      </p:sp>
      <p:sp>
        <p:nvSpPr>
          <p:cNvPr id="11" name="Rounded Rectangle 10"/>
          <p:cNvSpPr/>
          <p:nvPr/>
        </p:nvSpPr>
        <p:spPr>
          <a:xfrm>
            <a:off x="10911535" y="219760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63652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2133295" y="2197608"/>
            <a:ext cx="8595360" cy="78028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Yes. I took time out to care for a family member. During that time, I also completed a certificate in data analysis.</a:t>
            </a:r>
          </a:p>
        </p:txBody>
      </p:sp>
      <p:sp>
        <p:nvSpPr>
          <p:cNvPr id="14" name="Rounded Rectangle 13"/>
          <p:cNvSpPr/>
          <p:nvPr/>
        </p:nvSpPr>
        <p:spPr>
          <a:xfrm>
            <a:off x="548640" y="306933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350824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3069336"/>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How have you kept up to date?</a:t>
            </a:r>
          </a:p>
        </p:txBody>
      </p:sp>
      <p:sp>
        <p:nvSpPr>
          <p:cNvPr id="17" name="Rounded Rectangle 16"/>
          <p:cNvSpPr/>
          <p:nvPr/>
        </p:nvSpPr>
        <p:spPr>
          <a:xfrm>
            <a:off x="10911535" y="365150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409041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65150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I’ve taken online courses and followed industry news.</a:t>
            </a:r>
          </a:p>
        </p:txBody>
      </p:sp>
    </p:spTree>
  </p:cSld>
  <p:clrMapOvr>
    <a:masterClrMapping/>
  </p:clrMapOvr>
  <p:transition spd="med">
    <p:fade/>
  </p:transition>
</p:sld>
</file>

<file path=ppt/slides/slide9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Model Dialogue · Explaining a gap in an interview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2/2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7 · Lesson 35 How to relaunch your career</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99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1463040" y="1325880"/>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What would you bring to this role?</a:t>
            </a:r>
          </a:p>
        </p:txBody>
      </p:sp>
      <p:sp>
        <p:nvSpPr>
          <p:cNvPr id="11" name="Rounded Rectangle 10"/>
          <p:cNvSpPr/>
          <p:nvPr/>
        </p:nvSpPr>
        <p:spPr>
          <a:xfrm>
            <a:off x="10911535" y="190804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34696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2133295" y="1908048"/>
            <a:ext cx="8595360" cy="78028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Ten years of experience, plus fresh skills and strong motivation. I’m confident I can hit the ground running.</a:t>
            </a:r>
          </a:p>
        </p:txBody>
      </p:sp>
      <p:sp>
        <p:nvSpPr>
          <p:cNvPr id="14" name="Rounded Rectangle 13"/>
          <p:cNvSpPr/>
          <p:nvPr/>
        </p:nvSpPr>
        <p:spPr>
          <a:xfrm>
            <a:off x="548640" y="277977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321868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779776"/>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Thank you. Any questions for us?</a:t>
            </a:r>
          </a:p>
        </p:txBody>
      </p:sp>
      <p:sp>
        <p:nvSpPr>
          <p:cNvPr id="17" name="Rounded Rectangle 16"/>
          <p:cNvSpPr/>
          <p:nvPr/>
        </p:nvSpPr>
        <p:spPr>
          <a:xfrm>
            <a:off x="10911535" y="336194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380085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36194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Yes. What does onboarding look like?</a:t>
            </a:r>
          </a:p>
        </p:txBody>
      </p:sp>
    </p:spTree>
  </p:cSld>
  <p:clrMapOvr>
    <a:masterClrMapping/>
  </p:clrMapOvr>
  <p:transition spd="med">
    <p:fade/>
  </p:transition>
</p:sld>
</file>

<file path=ppt/slides/slide10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500" b="1">
                <a:solidFill>
                  <a:srgbClr val="1F2A44"/>
                </a:solidFill>
                <a:latin typeface="Arial"/>
                <a:ea typeface="Microsoft YaHei"/>
              </a:rPr>
              <a:t>🎯 Your Turn · Explaining a gap in an interview</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7 · Lesson 35 How to relaunch your career</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100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Situation</a:t>
            </a:r>
          </a:p>
        </p:txBody>
      </p:sp>
      <p:sp>
        <p:nvSpPr>
          <p:cNvPr id="9" name="Rounded Rectangle 8"/>
          <p:cNvSpPr/>
          <p:nvPr/>
        </p:nvSpPr>
        <p:spPr>
          <a:xfrm>
            <a:off x="3017520" y="132588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You explain a gap confidently.</a:t>
            </a:r>
          </a:p>
        </p:txBody>
      </p:sp>
      <p:sp>
        <p:nvSpPr>
          <p:cNvPr id="10" name="Rounded Rectangle 9"/>
          <p:cNvSpPr/>
          <p:nvPr/>
        </p:nvSpPr>
        <p:spPr>
          <a:xfrm>
            <a:off x="548640" y="1807464"/>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Your role (A)</a:t>
            </a:r>
          </a:p>
        </p:txBody>
      </p:sp>
      <p:sp>
        <p:nvSpPr>
          <p:cNvPr id="11" name="Rounded Rectangle 10"/>
          <p:cNvSpPr/>
          <p:nvPr/>
        </p:nvSpPr>
        <p:spPr>
          <a:xfrm>
            <a:off x="3017520" y="1807464"/>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Interviewer.</a:t>
            </a:r>
          </a:p>
        </p:txBody>
      </p:sp>
      <p:sp>
        <p:nvSpPr>
          <p:cNvPr id="12" name="Rounded Rectangle 11"/>
          <p:cNvSpPr/>
          <p:nvPr/>
        </p:nvSpPr>
        <p:spPr>
          <a:xfrm>
            <a:off x="548640" y="2289048"/>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Partner’s role (B)</a:t>
            </a:r>
          </a:p>
        </p:txBody>
      </p:sp>
      <p:sp>
        <p:nvSpPr>
          <p:cNvPr id="13" name="Rounded Rectangle 12"/>
          <p:cNvSpPr/>
          <p:nvPr/>
        </p:nvSpPr>
        <p:spPr>
          <a:xfrm>
            <a:off x="3017520" y="2289048"/>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Candidate. Gap: ______________</a:t>
            </a:r>
          </a:p>
        </p:txBody>
      </p:sp>
      <p:sp>
        <p:nvSpPr>
          <p:cNvPr id="14" name="Rounded Rectangle 13"/>
          <p:cNvSpPr/>
          <p:nvPr/>
        </p:nvSpPr>
        <p:spPr>
          <a:xfrm>
            <a:off x="548640" y="2770632"/>
            <a:ext cx="2377440" cy="65227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Must use (3 or more)</a:t>
            </a:r>
          </a:p>
        </p:txBody>
      </p:sp>
      <p:sp>
        <p:nvSpPr>
          <p:cNvPr id="15" name="Rounded Rectangle 14"/>
          <p:cNvSpPr/>
          <p:nvPr/>
        </p:nvSpPr>
        <p:spPr>
          <a:xfrm>
            <a:off x="3017520" y="2770632"/>
            <a:ext cx="8625535" cy="65227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took time out · During that time · kept up to date · transferable skills · hit the ground running</a:t>
            </a:r>
          </a:p>
        </p:txBody>
      </p:sp>
      <p:sp>
        <p:nvSpPr>
          <p:cNvPr id="16" name="Rounded Rectangle 15"/>
          <p:cNvSpPr/>
          <p:nvPr/>
        </p:nvSpPr>
        <p:spPr>
          <a:xfrm>
            <a:off x="548640" y="3496056"/>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Goal</a:t>
            </a:r>
          </a:p>
        </p:txBody>
      </p:sp>
      <p:sp>
        <p:nvSpPr>
          <p:cNvPr id="17" name="Rounded Rectangle 16"/>
          <p:cNvSpPr/>
          <p:nvPr/>
        </p:nvSpPr>
        <p:spPr>
          <a:xfrm>
            <a:off x="3017520" y="3496056"/>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Explain briefly and turn the question into a strength.</a:t>
            </a:r>
          </a:p>
        </p:txBody>
      </p:sp>
      <p:sp>
        <p:nvSpPr>
          <p:cNvPr id="18" name="Rounded Rectangle 17"/>
          <p:cNvSpPr/>
          <p:nvPr/>
        </p:nvSpPr>
        <p:spPr>
          <a:xfrm>
            <a:off x="548640" y="397764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My notes</a:t>
            </a:r>
          </a:p>
        </p:txBody>
      </p:sp>
      <p:sp>
        <p:nvSpPr>
          <p:cNvPr id="19" name="Rounded Rectangle 18"/>
          <p:cNvSpPr/>
          <p:nvPr/>
        </p:nvSpPr>
        <p:spPr>
          <a:xfrm>
            <a:off x="3017520" y="397764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____________________________________________</a:t>
            </a:r>
          </a:p>
        </p:txBody>
      </p:sp>
      <p:sp>
        <p:nvSpPr>
          <p:cNvPr id="20" name="TextBox 19"/>
          <p:cNvSpPr txBox="1"/>
          <p:nvPr/>
        </p:nvSpPr>
        <p:spPr>
          <a:xfrm>
            <a:off x="548640" y="4550664"/>
            <a:ext cx="11094415" cy="365760"/>
          </a:xfrm>
          <a:prstGeom prst="rect">
            <a:avLst/>
          </a:prstGeom>
          <a:noFill/>
        </p:spPr>
        <p:txBody>
          <a:bodyPr wrap="square" anchor="t">
            <a:spAutoFit/>
          </a:bodyPr>
          <a:lstStyle/>
          <a:p>
            <a:pPr algn="l">
              <a:lnSpc>
                <a:spcPct val="115000"/>
              </a:lnSpc>
              <a:spcAft>
                <a:spcPts val="800"/>
              </a:spcAft>
            </a:pPr>
            <a:r>
              <a:rPr sz="1500" b="1">
                <a:solidFill>
                  <a:srgbClr val="FF6B5B"/>
                </a:solidFill>
                <a:latin typeface="Arial"/>
                <a:ea typeface="Microsoft YaHei"/>
              </a:rPr>
              <a:t>🔥 Level-up challenges 进阶挑战 (click)</a:t>
            </a:r>
          </a:p>
        </p:txBody>
      </p:sp>
      <p:sp>
        <p:nvSpPr>
          <p:cNvPr id="21" name="Rounded Rectangle 20"/>
          <p:cNvSpPr/>
          <p:nvPr/>
        </p:nvSpPr>
        <p:spPr>
          <a:xfrm>
            <a:off x="548640" y="4934712"/>
            <a:ext cx="3576218" cy="1283208"/>
          </a:xfrm>
          <a:prstGeom prst="roundRect">
            <a:avLst>
              <a:gd name="adj" fmla="val 12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Don’t over-explain.</a:t>
            </a:r>
          </a:p>
        </p:txBody>
      </p:sp>
      <p:sp>
        <p:nvSpPr>
          <p:cNvPr id="22" name="Rounded Rectangle 21"/>
          <p:cNvSpPr/>
          <p:nvPr/>
        </p:nvSpPr>
        <p:spPr>
          <a:xfrm>
            <a:off x="4307738" y="4934712"/>
            <a:ext cx="3576218" cy="1283208"/>
          </a:xfrm>
          <a:prstGeom prst="roundRect">
            <a:avLst>
              <a:gd name="adj" fmla="val 12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Mention a recent achievement.</a:t>
            </a:r>
          </a:p>
        </p:txBody>
      </p:sp>
      <p:sp>
        <p:nvSpPr>
          <p:cNvPr id="23" name="Rounded Rectangle 22"/>
          <p:cNvSpPr/>
          <p:nvPr/>
        </p:nvSpPr>
        <p:spPr>
          <a:xfrm>
            <a:off x="8066836" y="4934712"/>
            <a:ext cx="3576218" cy="1283208"/>
          </a:xfrm>
          <a:prstGeom prst="roundRect">
            <a:avLst>
              <a:gd name="adj" fmla="val 12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Ask about onboarding.</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21"/>
                                        </p:tgtEl>
                                        <p:attrNameLst>
                                          <p:attrName>style.visibility</p:attrName>
                                        </p:attrNameLst>
                                      </p:cBhvr>
                                      <p:to>
                                        <p:strVal val="visible"/>
                                      </p:to>
                                    </p:set>
                                    <p:animEffect transition="in" filter="fade">
                                      <p:cBhvr>
                                        <p:cTn id="4" dur="400"/>
                                        <p:tgtEl>
                                          <p:spTgt spid="2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2"/>
                                        </p:tgtEl>
                                        <p:attrNameLst>
                                          <p:attrName>style.visibility</p:attrName>
                                        </p:attrNameLst>
                                      </p:cBhvr>
                                      <p:to>
                                        <p:strVal val="visible"/>
                                      </p:to>
                                    </p:set>
                                    <p:animEffect transition="in" filter="fade">
                                      <p:cBhvr>
                                        <p:cTn id="9" dur="400"/>
                                        <p:tgtEl>
                                          <p:spTgt spid="2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Discussion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7 · Lesson 35 How to relaunch your career</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101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Prepare 2–3 sentences. Use the starters!  每题准备 2–3 句话，用上句型</a:t>
            </a:r>
          </a:p>
        </p:txBody>
      </p:sp>
      <p:sp>
        <p:nvSpPr>
          <p:cNvPr id="9" name="Oval 8"/>
          <p:cNvSpPr/>
          <p:nvPr/>
        </p:nvSpPr>
        <p:spPr>
          <a:xfrm>
            <a:off x="548640" y="1554480"/>
            <a:ext cx="548640" cy="54864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0876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Should employers value career breaks?</a:t>
            </a:r>
          </a:p>
          <a:p>
            <a:pPr algn="l">
              <a:lnSpc>
                <a:spcPct val="115000"/>
              </a:lnSpc>
              <a:spcAft>
                <a:spcPts val="800"/>
              </a:spcAft>
            </a:pPr>
            <a:r>
              <a:rPr sz="1400" b="0">
                <a:solidFill>
                  <a:srgbClr val="5F677A"/>
                </a:solidFill>
                <a:latin typeface="Arial"/>
                <a:ea typeface="Microsoft YaHei"/>
              </a:rPr>
              <a:t>💬 “I think they should because…”</a:t>
            </a:r>
          </a:p>
        </p:txBody>
      </p:sp>
      <p:sp>
        <p:nvSpPr>
          <p:cNvPr id="12" name="Oval 11"/>
          <p:cNvSpPr/>
          <p:nvPr/>
        </p:nvSpPr>
        <p:spPr>
          <a:xfrm>
            <a:off x="548640" y="2331720"/>
            <a:ext cx="548640" cy="54864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28600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33172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What skills do people gain during breaks?</a:t>
            </a:r>
          </a:p>
          <a:p>
            <a:pPr algn="l">
              <a:lnSpc>
                <a:spcPct val="115000"/>
              </a:lnSpc>
              <a:spcAft>
                <a:spcPts val="800"/>
              </a:spcAft>
            </a:pPr>
            <a:r>
              <a:rPr sz="1400" b="0">
                <a:solidFill>
                  <a:srgbClr val="5F677A"/>
                </a:solidFill>
                <a:latin typeface="Arial"/>
                <a:ea typeface="Microsoft YaHei"/>
              </a:rPr>
              <a:t>💬 “They might gain…”</a:t>
            </a:r>
          </a:p>
        </p:txBody>
      </p:sp>
      <p:sp>
        <p:nvSpPr>
          <p:cNvPr id="15" name="Oval 14"/>
          <p:cNvSpPr/>
          <p:nvPr/>
        </p:nvSpPr>
        <p:spPr>
          <a:xfrm>
            <a:off x="548640" y="3108960"/>
            <a:ext cx="548640" cy="54864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306324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310896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How can companies support returners?</a:t>
            </a:r>
          </a:p>
          <a:p>
            <a:pPr algn="l">
              <a:lnSpc>
                <a:spcPct val="115000"/>
              </a:lnSpc>
              <a:spcAft>
                <a:spcPts val="800"/>
              </a:spcAft>
            </a:pPr>
            <a:r>
              <a:rPr sz="1400" b="0">
                <a:solidFill>
                  <a:srgbClr val="5F677A"/>
                </a:solidFill>
                <a:latin typeface="Arial"/>
                <a:ea typeface="Microsoft YaHei"/>
              </a:rPr>
              <a:t>💬 “By offering… / They could…”</a:t>
            </a:r>
          </a:p>
        </p:txBody>
      </p:sp>
      <p:sp>
        <p:nvSpPr>
          <p:cNvPr id="18" name="Oval 17"/>
          <p:cNvSpPr/>
          <p:nvPr/>
        </p:nvSpPr>
        <p:spPr>
          <a:xfrm>
            <a:off x="548640" y="3886200"/>
            <a:ext cx="548640" cy="54864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384048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388620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What is the best way to prepare for a comeback?</a:t>
            </a:r>
          </a:p>
          <a:p>
            <a:pPr algn="l">
              <a:lnSpc>
                <a:spcPct val="115000"/>
              </a:lnSpc>
              <a:spcAft>
                <a:spcPts val="800"/>
              </a:spcAft>
            </a:pPr>
            <a:r>
              <a:rPr sz="1400" b="0">
                <a:solidFill>
                  <a:srgbClr val="5F677A"/>
                </a:solidFill>
                <a:latin typeface="Arial"/>
                <a:ea typeface="Microsoft YaHei"/>
              </a:rPr>
              <a:t>💬 “First, I’d…”</a:t>
            </a:r>
          </a:p>
        </p:txBody>
      </p:sp>
      <p:sp>
        <p:nvSpPr>
          <p:cNvPr id="21" name="Oval 20"/>
          <p:cNvSpPr/>
          <p:nvPr/>
        </p:nvSpPr>
        <p:spPr>
          <a:xfrm>
            <a:off x="548640" y="4663440"/>
            <a:ext cx="548640" cy="548640"/>
          </a:xfrm>
          <a:prstGeom prst="ellipse">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5</a:t>
            </a:r>
          </a:p>
        </p:txBody>
      </p:sp>
      <p:sp>
        <p:nvSpPr>
          <p:cNvPr id="22" name="Rounded Rectangle 21"/>
          <p:cNvSpPr/>
          <p:nvPr/>
        </p:nvSpPr>
        <p:spPr>
          <a:xfrm>
            <a:off x="1234440" y="461772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325880" y="466344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Would you hire someone with a long gap?</a:t>
            </a:r>
          </a:p>
          <a:p>
            <a:pPr algn="l">
              <a:lnSpc>
                <a:spcPct val="115000"/>
              </a:lnSpc>
              <a:spcAft>
                <a:spcPts val="800"/>
              </a:spcAft>
            </a:pPr>
            <a:r>
              <a:rPr sz="1400" b="0">
                <a:solidFill>
                  <a:srgbClr val="5F677A"/>
                </a:solidFill>
                <a:latin typeface="Arial"/>
                <a:ea typeface="Microsoft YaHei"/>
              </a:rPr>
              <a:t>💬 “Yes, if… / It would depend on…”</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par>
                    <p:cTn id="56" fill="hold">
                      <p:stCondLst>
                        <p:cond delay="indefinite"/>
                      </p:stCondLst>
                      <p:childTnLst>
                        <p:par>
                          <p:cTn id="57" fill="hold">
                            <p:stCondLst>
                              <p:cond delay="0"/>
                            </p:stCondLst>
                            <p:childTnLst>
                              <p:par>
                                <p:cTn id="49" presetID="10" presetClass="entr" presetSubtype="0" fill="hold" nodeType="clickEffect">
                                  <p:stCondLst>
                                    <p:cond delay="0"/>
                                  </p:stCondLst>
                                  <p:childTnLst>
                                    <p:set>
                                      <p:cBhvr>
                                        <p:cTn id="47" dur="1" fill="hold">
                                          <p:stCondLst>
                                            <p:cond delay="0"/>
                                          </p:stCondLst>
                                        </p:cTn>
                                        <p:tgtEl>
                                          <p:spTgt spid="21"/>
                                        </p:tgtEl>
                                        <p:attrNameLst>
                                          <p:attrName>style.visibility</p:attrName>
                                        </p:attrNameLst>
                                      </p:cBhvr>
                                      <p:to>
                                        <p:strVal val="visible"/>
                                      </p:to>
                                    </p:set>
                                    <p:animEffect transition="in" filter="fade">
                                      <p:cBhvr>
                                        <p:cTn id="48" dur="400"/>
                                        <p:tgtEl>
                                          <p:spTgt spid="21"/>
                                        </p:tgtEl>
                                      </p:cBhvr>
                                    </p:animEffect>
                                  </p:childTnLst>
                                </p:cTn>
                              </p:par>
                              <p:par>
                                <p:cTn id="52" presetID="10" presetClass="entr" presetSubtype="0" fill="hold" nodeType="with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fade">
                                      <p:cBhvr>
                                        <p:cTn id="51" dur="400"/>
                                        <p:tgtEl>
                                          <p:spTgt spid="22"/>
                                        </p:tgtEl>
                                      </p:cBhvr>
                                    </p:animEffect>
                                  </p:childTnLst>
                                </p:cTn>
                              </p:par>
                              <p:par>
                                <p:cTn id="55" presetID="10" presetClass="entr" presetSubtype="0" fill="hold" nodeType="withEffect">
                                  <p:stCondLst>
                                    <p:cond delay="0"/>
                                  </p:stCondLst>
                                  <p:childTnLst>
                                    <p:set>
                                      <p:cBhvr>
                                        <p:cTn id="53" dur="1" fill="hold">
                                          <p:stCondLst>
                                            <p:cond delay="0"/>
                                          </p:stCondLst>
                                        </p:cTn>
                                        <p:tgtEl>
                                          <p:spTgt spid="23"/>
                                        </p:tgtEl>
                                        <p:attrNameLst>
                                          <p:attrName>style.visibility</p:attrName>
                                        </p:attrNameLst>
                                      </p:cBhvr>
                                      <p:to>
                                        <p:strVal val="visible"/>
                                      </p:to>
                                    </p:set>
                                    <p:animEffect transition="in" filter="fade">
                                      <p:cBhvr>
                                        <p:cTn id="5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Model Answer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7 · Lesson 35 How to relaunch your career</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102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0584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Model answer (Question 5)</a:t>
            </a:r>
          </a:p>
        </p:txBody>
      </p:sp>
      <p:sp>
        <p:nvSpPr>
          <p:cNvPr id="9" name="Rounded Rectangle 8"/>
          <p:cNvSpPr/>
          <p:nvPr/>
        </p:nvSpPr>
        <p:spPr>
          <a:xfrm>
            <a:off x="548640" y="1463040"/>
            <a:ext cx="11094415" cy="406908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1371600"/>
            <a:ext cx="914400" cy="914400"/>
          </a:xfrm>
          <a:prstGeom prst="rect">
            <a:avLst/>
          </a:prstGeom>
          <a:noFill/>
        </p:spPr>
        <p:txBody>
          <a:bodyPr wrap="square" anchor="t">
            <a:spAutoFit/>
          </a:bodyPr>
          <a:lstStyle/>
          <a:p>
            <a:pPr algn="l">
              <a:lnSpc>
                <a:spcPct val="115000"/>
              </a:lnSpc>
              <a:spcAft>
                <a:spcPts val="800"/>
              </a:spcAft>
            </a:pPr>
            <a:r>
              <a:rPr sz="5400" b="0">
                <a:solidFill>
                  <a:srgbClr val="4A90E2"/>
                </a:solidFill>
                <a:latin typeface="Arial"/>
                <a:ea typeface="Microsoft YaHei"/>
              </a:rPr>
              <a:t>❝</a:t>
            </a:r>
          </a:p>
        </p:txBody>
      </p:sp>
      <p:sp>
        <p:nvSpPr>
          <p:cNvPr id="11" name="TextBox 10"/>
          <p:cNvSpPr txBox="1"/>
          <p:nvPr/>
        </p:nvSpPr>
        <p:spPr>
          <a:xfrm>
            <a:off x="1463040" y="1600200"/>
            <a:ext cx="9814255" cy="3794760"/>
          </a:xfrm>
          <a:prstGeom prst="rect">
            <a:avLst/>
          </a:prstGeom>
          <a:noFill/>
        </p:spPr>
        <p:txBody>
          <a:bodyPr wrap="square" anchor="t">
            <a:spAutoFit/>
          </a:bodyPr>
          <a:lstStyle/>
          <a:p>
            <a:pPr algn="l">
              <a:lnSpc>
                <a:spcPct val="130000"/>
              </a:lnSpc>
              <a:spcAft>
                <a:spcPts val="800"/>
              </a:spcAft>
            </a:pPr>
            <a:r>
              <a:rPr sz="2600" b="0">
                <a:solidFill>
                  <a:srgbClr val="1F2A44"/>
                </a:solidFill>
                <a:latin typeface="Arial"/>
                <a:ea typeface="Microsoft YaHei"/>
              </a:rPr>
              <a:t>Yes, I would, if they could show how they kept learning. A long gap itself isn’t a problem. People look after family, recover from illness or change direction. What matters is the person’s skills and attitude now. I’d ask about their plans and give them a practical task. Then I’d decide on the evidence.</a:t>
            </a:r>
          </a:p>
        </p:txBody>
      </p:sp>
      <p:sp>
        <p:nvSpPr>
          <p:cNvPr id="12" name="Rounded Rectangle 11"/>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“What matters is…” 重点句;“decide on the evidence” 依证据决定。</a:t>
            </a:r>
          </a:p>
        </p:txBody>
      </p:sp>
    </p:spTree>
  </p:cSld>
  <p:clrMapOvr>
    <a:masterClrMapping/>
  </p:clrMapOvr>
  <p:transition spd="med">
    <p:fade/>
  </p:transition>
</p:sld>
</file>

<file path=ppt/slides/slide10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Past events and present results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7 · Lesson 35 How to relaunch your career</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103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过去与现在的联系</a:t>
            </a:r>
          </a:p>
        </p:txBody>
      </p:sp>
      <p:graphicFrame>
        <p:nvGraphicFramePr>
          <p:cNvPr id="9" name="Table 8"/>
          <p:cNvGraphicFramePr>
            <a:graphicFrameLocks noGrp="1"/>
          </p:cNvGraphicFramePr>
          <p:nvPr/>
        </p:nvGraphicFramePr>
        <p:xfrm>
          <a:off x="548640" y="1417320"/>
          <a:ext cx="11094415" cy="2042160"/>
        </p:xfrm>
        <a:graphic>
          <a:graphicData uri="http://schemas.openxmlformats.org/drawingml/2006/table">
            <a:tbl>
              <a:tblPr firstRow="1" bandRow="1">
                <a:tableStyleId>{5C22544A-7EE6-4342-B048-85BDC9FD1C3A}</a:tableStyleId>
              </a:tblPr>
              <a:tblGrid>
                <a:gridCol w="5547207"/>
                <a:gridCol w="5547208"/>
              </a:tblGrid>
              <a:tr h="408432">
                <a:tc>
                  <a:txBody>
                    <a:bodyPr wrap="square"/>
                    <a:lstStyle/>
                    <a:p>
                      <a:r>
                        <a:rPr sz="1600" b="1">
                          <a:solidFill>
                            <a:srgbClr val="FFFFFF"/>
                          </a:solidFill>
                          <a:latin typeface="Arial"/>
                          <a:ea typeface="Microsoft YaHei"/>
                        </a:rPr>
                        <a:t>Tense</a:t>
                      </a:r>
                    </a:p>
                  </a:txBody>
                  <a:tcPr anchor="ctr">
                    <a:solidFill>
                      <a:srgbClr val="3CC49A"/>
                    </a:solidFill>
                  </a:tcPr>
                </a:tc>
                <a:tc>
                  <a:txBody>
                    <a:bodyPr wrap="square"/>
                    <a:lstStyle/>
                    <a:p>
                      <a:r>
                        <a:rPr sz="1600" b="1">
                          <a:solidFill>
                            <a:srgbClr val="FFFFFF"/>
                          </a:solidFill>
                          <a:latin typeface="Arial"/>
                          <a:ea typeface="Microsoft YaHei"/>
                        </a:rPr>
                        <a:t>Example</a:t>
                      </a:r>
                    </a:p>
                  </a:txBody>
                  <a:tcPr anchor="ctr">
                    <a:solidFill>
                      <a:srgbClr val="3CC49A"/>
                    </a:solidFill>
                  </a:tcPr>
                </a:tc>
              </a:tr>
              <a:tr h="408432">
                <a:tc>
                  <a:txBody>
                    <a:bodyPr wrap="square"/>
                    <a:lstStyle/>
                    <a:p>
                      <a:r>
                        <a:rPr sz="1600" b="1">
                          <a:solidFill>
                            <a:srgbClr val="1F2A44"/>
                          </a:solidFill>
                          <a:latin typeface="Arial"/>
                          <a:ea typeface="Microsoft YaHei"/>
                        </a:rPr>
                        <a:t>Present perfect</a:t>
                      </a:r>
                    </a:p>
                  </a:txBody>
                  <a:tcPr anchor="ctr">
                    <a:solidFill>
                      <a:srgbClr val="FFFFFF"/>
                    </a:solidFill>
                  </a:tcPr>
                </a:tc>
                <a:tc>
                  <a:txBody>
                    <a:bodyPr wrap="square"/>
                    <a:lstStyle/>
                    <a:p>
                      <a:r>
                        <a:rPr sz="1600" b="0">
                          <a:solidFill>
                            <a:srgbClr val="1F2A44"/>
                          </a:solidFill>
                          <a:latin typeface="Arial"/>
                          <a:ea typeface="Microsoft YaHei"/>
                        </a:rPr>
                        <a:t>I’ve taken two online courses.</a:t>
                      </a:r>
                    </a:p>
                  </a:txBody>
                  <a:tcPr anchor="ctr">
                    <a:solidFill>
                      <a:srgbClr val="FFFFFF"/>
                    </a:solidFill>
                  </a:tcPr>
                </a:tc>
              </a:tr>
              <a:tr h="408432">
                <a:tc>
                  <a:txBody>
                    <a:bodyPr wrap="square"/>
                    <a:lstStyle/>
                    <a:p>
                      <a:r>
                        <a:rPr sz="1600" b="1">
                          <a:solidFill>
                            <a:srgbClr val="1F2A44"/>
                          </a:solidFill>
                          <a:latin typeface="Arial"/>
                          <a:ea typeface="Microsoft YaHei"/>
                        </a:rPr>
                        <a:t>Present perfect continuous</a:t>
                      </a:r>
                    </a:p>
                  </a:txBody>
                  <a:tcPr anchor="ctr">
                    <a:solidFill>
                      <a:srgbClr val="FFEFD9"/>
                    </a:solidFill>
                  </a:tcPr>
                </a:tc>
                <a:tc>
                  <a:txBody>
                    <a:bodyPr wrap="square"/>
                    <a:lstStyle/>
                    <a:p>
                      <a:r>
                        <a:rPr sz="1600" b="0">
                          <a:solidFill>
                            <a:srgbClr val="1F2A44"/>
                          </a:solidFill>
                          <a:latin typeface="Arial"/>
                          <a:ea typeface="Microsoft YaHei"/>
                        </a:rPr>
                        <a:t>I’ve been refreshing my skills since March.</a:t>
                      </a:r>
                    </a:p>
                  </a:txBody>
                  <a:tcPr anchor="ctr">
                    <a:solidFill>
                      <a:srgbClr val="FFEFD9"/>
                    </a:solidFill>
                  </a:tcPr>
                </a:tc>
              </a:tr>
              <a:tr h="408432">
                <a:tc>
                  <a:txBody>
                    <a:bodyPr wrap="square"/>
                    <a:lstStyle/>
                    <a:p>
                      <a:r>
                        <a:rPr sz="1600" b="1">
                          <a:solidFill>
                            <a:srgbClr val="1F2A44"/>
                          </a:solidFill>
                          <a:latin typeface="Arial"/>
                          <a:ea typeface="Microsoft YaHei"/>
                        </a:rPr>
                        <a:t>Past simple</a:t>
                      </a:r>
                    </a:p>
                  </a:txBody>
                  <a:tcPr anchor="ctr">
                    <a:solidFill>
                      <a:srgbClr val="FFFFFF"/>
                    </a:solidFill>
                  </a:tcPr>
                </a:tc>
                <a:tc>
                  <a:txBody>
                    <a:bodyPr wrap="square"/>
                    <a:lstStyle/>
                    <a:p>
                      <a:r>
                        <a:rPr sz="1600" b="0">
                          <a:solidFill>
                            <a:srgbClr val="1F2A44"/>
                          </a:solidFill>
                          <a:latin typeface="Arial"/>
                          <a:ea typeface="Microsoft YaHei"/>
                        </a:rPr>
                        <a:t>I left in 2023.</a:t>
                      </a:r>
                    </a:p>
                  </a:txBody>
                  <a:tcPr anchor="ctr">
                    <a:solidFill>
                      <a:srgbClr val="FFFFFF"/>
                    </a:solidFill>
                  </a:tcPr>
                </a:tc>
              </a:tr>
              <a:tr h="408432">
                <a:tc>
                  <a:txBody>
                    <a:bodyPr wrap="square"/>
                    <a:lstStyle/>
                    <a:p>
                      <a:r>
                        <a:rPr sz="1600" b="1">
                          <a:solidFill>
                            <a:srgbClr val="1F2A44"/>
                          </a:solidFill>
                          <a:latin typeface="Arial"/>
                          <a:ea typeface="Microsoft YaHei"/>
                        </a:rPr>
                        <a:t>Past perfect</a:t>
                      </a:r>
                    </a:p>
                  </a:txBody>
                  <a:tcPr anchor="ctr">
                    <a:solidFill>
                      <a:srgbClr val="FFEFD9"/>
                    </a:solidFill>
                  </a:tcPr>
                </a:tc>
                <a:tc>
                  <a:txBody>
                    <a:bodyPr wrap="square"/>
                    <a:lstStyle/>
                    <a:p>
                      <a:r>
                        <a:rPr sz="1600" b="0">
                          <a:solidFill>
                            <a:srgbClr val="1F2A44"/>
                          </a:solidFill>
                          <a:latin typeface="Arial"/>
                          <a:ea typeface="Microsoft YaHei"/>
                        </a:rPr>
                        <a:t>I had worked for ten years before I left.</a:t>
                      </a:r>
                    </a:p>
                  </a:txBody>
                  <a:tcPr anchor="ctr">
                    <a:solidFill>
                      <a:srgbClr val="FFEFD9"/>
                    </a:solidFill>
                  </a:tcPr>
                </a:tc>
              </a:tr>
            </a:tbl>
          </a:graphicData>
        </a:graphic>
      </p:graphicFrame>
    </p:spTree>
  </p:cSld>
  <p:clrMapOvr>
    <a:masterClrMapping/>
  </p:clrMapOvr>
  <p:transition spd="med">
    <p:fade/>
  </p:transition>
</p:sld>
</file>

<file path=ppt/slides/slide10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Past events and present results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7 · Lesson 35 How to relaunch your career</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104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过去与现在的联系</a:t>
            </a:r>
          </a:p>
        </p:txBody>
      </p:sp>
      <p:sp>
        <p:nvSpPr>
          <p:cNvPr id="9" name="Rounded Rectangle 8"/>
          <p:cNvSpPr/>
          <p:nvPr/>
        </p:nvSpPr>
        <p:spPr>
          <a:xfrm>
            <a:off x="548640" y="1417320"/>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44195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417320"/>
            <a:ext cx="10728655" cy="441959"/>
          </a:xfrm>
          <a:prstGeom prst="rect">
            <a:avLst/>
          </a:prstGeom>
          <a:noFill/>
        </p:spPr>
        <p:txBody>
          <a:bodyPr wrap="square" anchor="ctr">
            <a:spAutoFit/>
          </a:bodyPr>
          <a:lstStyle/>
          <a:p>
            <a:r>
              <a:rPr sz="1700" b="0">
                <a:solidFill>
                  <a:srgbClr val="1F2A44"/>
                </a:solidFill>
                <a:latin typeface="Arial"/>
                <a:ea typeface="Microsoft YaHei"/>
              </a:rPr>
              <a:t>Use present perfect continuous for activities that started in the past and continue now.</a:t>
            </a:r>
          </a:p>
        </p:txBody>
      </p:sp>
    </p:spTree>
  </p:cSld>
  <p:clrMapOvr>
    <a:masterClrMapping/>
  </p:clrMapOvr>
  <p:transition spd="med">
    <p:fade/>
  </p:transition>
</p:sld>
</file>

<file path=ppt/slides/slide10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7 · Lesson 35 How to relaunch your career</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105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 am out of work since two years.</a:t>
            </a:r>
          </a:p>
        </p:txBody>
      </p:sp>
      <p:sp>
        <p:nvSpPr>
          <p:cNvPr id="10" name="Rounded Rectangle 9"/>
          <p:cNvSpPr/>
          <p:nvPr/>
        </p:nvSpPr>
        <p:spPr>
          <a:xfrm>
            <a:off x="6187287" y="1463040"/>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I’ve been out of work for two years.</a:t>
            </a:r>
          </a:p>
          <a:p>
            <a:pPr algn="l">
              <a:spcAft>
                <a:spcPts val="200"/>
              </a:spcAft>
            </a:pPr>
            <a:r>
              <a:rPr sz="1200" b="0">
                <a:solidFill>
                  <a:srgbClr val="FFFFFF"/>
                </a:solidFill>
                <a:latin typeface="Arial"/>
                <a:ea typeface="Microsoft YaHei"/>
              </a:rPr>
              <a:t>for + 一段时间</a:t>
            </a:r>
          </a:p>
        </p:txBody>
      </p:sp>
      <p:sp>
        <p:nvSpPr>
          <p:cNvPr id="11" name="Rounded Rectangle 10"/>
          <p:cNvSpPr/>
          <p:nvPr/>
        </p:nvSpPr>
        <p:spPr>
          <a:xfrm>
            <a:off x="548640" y="2164079"/>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 have left my job in 2023.</a:t>
            </a:r>
          </a:p>
        </p:txBody>
      </p:sp>
      <p:sp>
        <p:nvSpPr>
          <p:cNvPr id="12" name="Rounded Rectangle 11"/>
          <p:cNvSpPr/>
          <p:nvPr/>
        </p:nvSpPr>
        <p:spPr>
          <a:xfrm>
            <a:off x="6187287" y="2164079"/>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 left my job in 2023.</a:t>
            </a:r>
          </a:p>
          <a:p>
            <a:pPr algn="l">
              <a:spcAft>
                <a:spcPts val="200"/>
              </a:spcAft>
            </a:pPr>
            <a:r>
              <a:rPr sz="1200" b="0">
                <a:solidFill>
                  <a:srgbClr val="FFFFFF"/>
                </a:solidFill>
                <a:latin typeface="Arial"/>
                <a:ea typeface="Microsoft YaHei"/>
              </a:rPr>
              <a:t>过去时间用一般过去式</a:t>
            </a:r>
          </a:p>
        </p:txBody>
      </p:sp>
      <p:sp>
        <p:nvSpPr>
          <p:cNvPr id="13" name="Rounded Rectangle 12"/>
          <p:cNvSpPr/>
          <p:nvPr/>
        </p:nvSpPr>
        <p:spPr>
          <a:xfrm>
            <a:off x="548640" y="2865118"/>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 want to go back to the work.</a:t>
            </a:r>
          </a:p>
        </p:txBody>
      </p:sp>
      <p:sp>
        <p:nvSpPr>
          <p:cNvPr id="14" name="Rounded Rectangle 13"/>
          <p:cNvSpPr/>
          <p:nvPr/>
        </p:nvSpPr>
        <p:spPr>
          <a:xfrm>
            <a:off x="6187287" y="2865118"/>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 want to go back to work.</a:t>
            </a:r>
          </a:p>
          <a:p>
            <a:pPr algn="l">
              <a:spcAft>
                <a:spcPts val="200"/>
              </a:spcAft>
            </a:pPr>
            <a:r>
              <a:rPr sz="1200" b="0">
                <a:solidFill>
                  <a:srgbClr val="FFFFFF"/>
                </a:solidFill>
                <a:latin typeface="Arial"/>
                <a:ea typeface="Microsoft YaHei"/>
              </a:rPr>
              <a:t>go back to work</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7 · Lesson 35 How to relaunch your career</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106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 take a break for one year.</a:t>
            </a:r>
          </a:p>
        </p:txBody>
      </p:sp>
      <p:sp>
        <p:nvSpPr>
          <p:cNvPr id="10" name="Rounded Rectangle 9"/>
          <p:cNvSpPr/>
          <p:nvPr/>
        </p:nvSpPr>
        <p:spPr>
          <a:xfrm>
            <a:off x="6187287" y="1463040"/>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 took a break for one year.</a:t>
            </a:r>
          </a:p>
          <a:p>
            <a:pPr algn="l">
              <a:spcAft>
                <a:spcPts val="200"/>
              </a:spcAft>
            </a:pPr>
            <a:r>
              <a:rPr sz="1200" b="0">
                <a:solidFill>
                  <a:srgbClr val="FFFFFF"/>
                </a:solidFill>
                <a:latin typeface="Arial"/>
                <a:ea typeface="Microsoft YaHei"/>
              </a:rPr>
              <a:t>过去式</a:t>
            </a:r>
          </a:p>
        </p:txBody>
      </p:sp>
      <p:sp>
        <p:nvSpPr>
          <p:cNvPr id="11" name="Rounded Rectangle 10"/>
          <p:cNvSpPr/>
          <p:nvPr/>
        </p:nvSpPr>
        <p:spPr>
          <a:xfrm>
            <a:off x="548640" y="2164079"/>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I’m looking forward to return.</a:t>
            </a:r>
          </a:p>
        </p:txBody>
      </p:sp>
      <p:sp>
        <p:nvSpPr>
          <p:cNvPr id="12" name="Rounded Rectangle 11"/>
          <p:cNvSpPr/>
          <p:nvPr/>
        </p:nvSpPr>
        <p:spPr>
          <a:xfrm>
            <a:off x="6187287" y="2164079"/>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I’m looking forward to returning.</a:t>
            </a:r>
          </a:p>
          <a:p>
            <a:pPr algn="l">
              <a:spcAft>
                <a:spcPts val="200"/>
              </a:spcAft>
            </a:pPr>
            <a:r>
              <a:rPr sz="1200" b="0">
                <a:solidFill>
                  <a:srgbClr val="FFFFFF"/>
                </a:solidFill>
                <a:latin typeface="Arial"/>
                <a:ea typeface="Microsoft YaHei"/>
              </a:rPr>
              <a:t>to + -ing</a:t>
            </a:r>
          </a:p>
        </p:txBody>
      </p:sp>
      <p:sp>
        <p:nvSpPr>
          <p:cNvPr id="13" name="Rounded Rectangle 12"/>
          <p:cNvSpPr/>
          <p:nvPr/>
        </p:nvSpPr>
        <p:spPr>
          <a:xfrm>
            <a:off x="548640" y="2865118"/>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 lost contact with my colleagues.</a:t>
            </a:r>
          </a:p>
        </p:txBody>
      </p:sp>
      <p:sp>
        <p:nvSpPr>
          <p:cNvPr id="14" name="Rounded Rectangle 13"/>
          <p:cNvSpPr/>
          <p:nvPr/>
        </p:nvSpPr>
        <p:spPr>
          <a:xfrm>
            <a:off x="6187287" y="2865118"/>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 lost touch with my colleagues.</a:t>
            </a:r>
          </a:p>
          <a:p>
            <a:pPr algn="l">
              <a:spcAft>
                <a:spcPts val="200"/>
              </a:spcAft>
            </a:pPr>
            <a:r>
              <a:rPr sz="1200" b="0">
                <a:solidFill>
                  <a:srgbClr val="FFFFFF"/>
                </a:solidFill>
                <a:latin typeface="Arial"/>
                <a:ea typeface="Microsoft YaHei"/>
              </a:rPr>
              <a:t>lose touch</a:t>
            </a:r>
          </a:p>
        </p:txBody>
      </p:sp>
      <p:sp>
        <p:nvSpPr>
          <p:cNvPr id="18" name="Rounded Rectangle 1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Check for/since, present perfect vs past simple, go back to work, look forward to + -ing.</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Cultural tips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7 · Lesson 35 How to relaunch your career</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107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文化小贴士</a:t>
            </a:r>
          </a:p>
        </p:txBody>
      </p:sp>
      <p:sp>
        <p:nvSpPr>
          <p:cNvPr id="9" name="Rounded Rectangle 8"/>
          <p:cNvSpPr/>
          <p:nvPr/>
        </p:nvSpPr>
        <p:spPr>
          <a:xfrm>
            <a:off x="548640" y="1417320"/>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44195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417320"/>
            <a:ext cx="10728655" cy="441959"/>
          </a:xfrm>
          <a:prstGeom prst="rect">
            <a:avLst/>
          </a:prstGeom>
          <a:noFill/>
        </p:spPr>
        <p:txBody>
          <a:bodyPr wrap="square" anchor="ctr">
            <a:spAutoFit/>
          </a:bodyPr>
          <a:lstStyle/>
          <a:p>
            <a:r>
              <a:rPr sz="1700" b="0">
                <a:solidFill>
                  <a:srgbClr val="1F2A44"/>
                </a:solidFill>
                <a:latin typeface="Arial"/>
                <a:ea typeface="Microsoft YaHei"/>
              </a:rPr>
              <a:t>Be brief about personal reasons. One sentence is enough; you don’t need to give details.</a:t>
            </a:r>
          </a:p>
        </p:txBody>
      </p:sp>
      <p:sp>
        <p:nvSpPr>
          <p:cNvPr id="12" name="Rounded Rectangle 11"/>
          <p:cNvSpPr/>
          <p:nvPr/>
        </p:nvSpPr>
        <p:spPr>
          <a:xfrm>
            <a:off x="548640" y="1950719"/>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1950719"/>
            <a:ext cx="91440" cy="441959"/>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1950719"/>
            <a:ext cx="10728655" cy="441959"/>
          </a:xfrm>
          <a:prstGeom prst="rect">
            <a:avLst/>
          </a:prstGeom>
          <a:noFill/>
        </p:spPr>
        <p:txBody>
          <a:bodyPr wrap="square" anchor="ctr">
            <a:spAutoFit/>
          </a:bodyPr>
          <a:lstStyle/>
          <a:p>
            <a:r>
              <a:rPr sz="1700" b="0">
                <a:solidFill>
                  <a:srgbClr val="1F2A44"/>
                </a:solidFill>
                <a:latin typeface="Arial"/>
                <a:ea typeface="Microsoft YaHei"/>
              </a:rPr>
              <a:t>Show what you did. Courses, volunteering and freelance work count.</a:t>
            </a:r>
          </a:p>
        </p:txBody>
      </p:sp>
      <p:sp>
        <p:nvSpPr>
          <p:cNvPr id="15" name="Rounded Rectangle 14"/>
          <p:cNvSpPr/>
          <p:nvPr/>
        </p:nvSpPr>
        <p:spPr>
          <a:xfrm>
            <a:off x="548640" y="2484118"/>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2484118"/>
            <a:ext cx="91440" cy="441959"/>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2484118"/>
            <a:ext cx="10728655" cy="441959"/>
          </a:xfrm>
          <a:prstGeom prst="rect">
            <a:avLst/>
          </a:prstGeom>
          <a:noFill/>
        </p:spPr>
        <p:txBody>
          <a:bodyPr wrap="square" anchor="ctr">
            <a:spAutoFit/>
          </a:bodyPr>
          <a:lstStyle/>
          <a:p>
            <a:r>
              <a:rPr sz="1700" b="0">
                <a:solidFill>
                  <a:srgbClr val="1F2A44"/>
                </a:solidFill>
                <a:latin typeface="Arial"/>
                <a:ea typeface="Microsoft YaHei"/>
              </a:rPr>
              <a:t>Use your network. Many jobs are filled via contacts.</a:t>
            </a:r>
          </a:p>
        </p:txBody>
      </p:sp>
      <p:sp>
        <p:nvSpPr>
          <p:cNvPr id="18" name="Rounded Rectangle 17"/>
          <p:cNvSpPr/>
          <p:nvPr/>
        </p:nvSpPr>
        <p:spPr>
          <a:xfrm>
            <a:off x="548640" y="3017517"/>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48640" y="3017517"/>
            <a:ext cx="91440" cy="441959"/>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 y="3017517"/>
            <a:ext cx="10728655" cy="441959"/>
          </a:xfrm>
          <a:prstGeom prst="rect">
            <a:avLst/>
          </a:prstGeom>
          <a:noFill/>
        </p:spPr>
        <p:txBody>
          <a:bodyPr wrap="square" anchor="ctr">
            <a:spAutoFit/>
          </a:bodyPr>
          <a:lstStyle/>
          <a:p>
            <a:r>
              <a:rPr sz="1700" b="0">
                <a:solidFill>
                  <a:srgbClr val="1F2A44"/>
                </a:solidFill>
                <a:latin typeface="Arial"/>
                <a:ea typeface="Microsoft YaHei"/>
              </a:rPr>
              <a:t>Use LinkedIn. A current profile with a short “about” section is standard.</a:t>
            </a:r>
          </a:p>
        </p:txBody>
      </p:sp>
    </p:spTree>
  </p:cSld>
  <p:clrMapOvr>
    <a:masterClrMapping/>
  </p:clrMapOvr>
  <p:transition spd="med">
    <p:fade/>
  </p:transition>
</p:sld>
</file>

<file path=ppt/slides/slide10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Can-do Check 掌握度自检</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Lesson 35 wrap-up</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7 · Lesson 35 How to relaunch your career</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108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Rate yourself: ⭐ not yet · ⭐⭐ almost · ⭐⭐⭐ I can do it!  给自己打星</a:t>
            </a:r>
          </a:p>
        </p:txBody>
      </p:sp>
      <p:sp>
        <p:nvSpPr>
          <p:cNvPr id="9" name="Rounded Rectangle 8"/>
          <p:cNvSpPr/>
          <p:nvPr/>
        </p:nvSpPr>
        <p:spPr>
          <a:xfrm>
            <a:off x="548640" y="1508760"/>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508760"/>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1" name="TextBox 10"/>
          <p:cNvSpPr txBox="1"/>
          <p:nvPr/>
        </p:nvSpPr>
        <p:spPr>
          <a:xfrm>
            <a:off x="1234440" y="1508760"/>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explain a career break briefly and positively.</a:t>
            </a:r>
          </a:p>
        </p:txBody>
      </p:sp>
      <p:sp>
        <p:nvSpPr>
          <p:cNvPr id="12" name="TextBox 11"/>
          <p:cNvSpPr txBox="1"/>
          <p:nvPr/>
        </p:nvSpPr>
        <p:spPr>
          <a:xfrm>
            <a:off x="9539935" y="1508760"/>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3" name="Rounded Rectangle 12"/>
          <p:cNvSpPr/>
          <p:nvPr/>
        </p:nvSpPr>
        <p:spPr>
          <a:xfrm>
            <a:off x="548640" y="2106168"/>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2106168"/>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5" name="TextBox 14"/>
          <p:cNvSpPr txBox="1"/>
          <p:nvPr/>
        </p:nvSpPr>
        <p:spPr>
          <a:xfrm>
            <a:off x="1234440" y="2106168"/>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describe how I refresh my skills.</a:t>
            </a:r>
          </a:p>
        </p:txBody>
      </p:sp>
      <p:sp>
        <p:nvSpPr>
          <p:cNvPr id="16" name="TextBox 15"/>
          <p:cNvSpPr txBox="1"/>
          <p:nvPr/>
        </p:nvSpPr>
        <p:spPr>
          <a:xfrm>
            <a:off x="9539935" y="2106168"/>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7" name="Rounded Rectangle 16"/>
          <p:cNvSpPr/>
          <p:nvPr/>
        </p:nvSpPr>
        <p:spPr>
          <a:xfrm>
            <a:off x="548640" y="2703576"/>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2703576"/>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9" name="TextBox 18"/>
          <p:cNvSpPr txBox="1"/>
          <p:nvPr/>
        </p:nvSpPr>
        <p:spPr>
          <a:xfrm>
            <a:off x="1234440" y="2703576"/>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contact a former colleague politely after a long time.</a:t>
            </a:r>
          </a:p>
        </p:txBody>
      </p:sp>
      <p:sp>
        <p:nvSpPr>
          <p:cNvPr id="20" name="TextBox 19"/>
          <p:cNvSpPr txBox="1"/>
          <p:nvPr/>
        </p:nvSpPr>
        <p:spPr>
          <a:xfrm>
            <a:off x="9539935" y="2703576"/>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1" name="Rounded Rectangle 20"/>
          <p:cNvSpPr/>
          <p:nvPr/>
        </p:nvSpPr>
        <p:spPr>
          <a:xfrm>
            <a:off x="548640" y="3300984"/>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3300984"/>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3" name="TextBox 22"/>
          <p:cNvSpPr txBox="1"/>
          <p:nvPr/>
        </p:nvSpPr>
        <p:spPr>
          <a:xfrm>
            <a:off x="1234440" y="3300984"/>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use present perfect (continuous) with for/since correctly.</a:t>
            </a:r>
          </a:p>
        </p:txBody>
      </p:sp>
      <p:sp>
        <p:nvSpPr>
          <p:cNvPr id="24" name="TextBox 23"/>
          <p:cNvSpPr txBox="1"/>
          <p:nvPr/>
        </p:nvSpPr>
        <p:spPr>
          <a:xfrm>
            <a:off x="9539935" y="3300984"/>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5" name="Rounded Rectangle 24"/>
          <p:cNvSpPr/>
          <p:nvPr/>
        </p:nvSpPr>
        <p:spPr>
          <a:xfrm>
            <a:off x="548640" y="3898392"/>
            <a:ext cx="11094415" cy="8107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3898392"/>
            <a:ext cx="548640" cy="8107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7" name="TextBox 26"/>
          <p:cNvSpPr txBox="1"/>
          <p:nvPr/>
        </p:nvSpPr>
        <p:spPr>
          <a:xfrm>
            <a:off x="1234440" y="3898392"/>
            <a:ext cx="8168335" cy="8107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use at least three ★ expressions from this lesson in my own sentences.</a:t>
            </a:r>
          </a:p>
        </p:txBody>
      </p:sp>
      <p:sp>
        <p:nvSpPr>
          <p:cNvPr id="28" name="TextBox 27"/>
          <p:cNvSpPr txBox="1"/>
          <p:nvPr/>
        </p:nvSpPr>
        <p:spPr>
          <a:xfrm>
            <a:off x="9539935" y="3898392"/>
            <a:ext cx="2011680" cy="8107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Tree>
  </p:cSld>
  <p:clrMapOvr>
    <a:masterClrMapping/>
  </p:clrMapOvr>
  <p:transition spd="med">
    <p:fade/>
  </p:transition>
</p:sld>
</file>

<file path=ppt/slides/slide10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After Class: 10-Minute Daily Plan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课后练习</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7 · Lesson 35 How to relaunch your career</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109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1554480" cy="713232"/>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0–2</a:t>
            </a:r>
          </a:p>
        </p:txBody>
      </p:sp>
      <p:sp>
        <p:nvSpPr>
          <p:cNvPr id="9" name="Rounded Rectangle 8"/>
          <p:cNvSpPr/>
          <p:nvPr/>
        </p:nvSpPr>
        <p:spPr>
          <a:xfrm>
            <a:off x="2240280" y="1325880"/>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Read the 15 expressions aloud. Cover the English and say it from the Chinese. Pick 3 ★ items and make one true sentence with each.</a:t>
            </a:r>
          </a:p>
        </p:txBody>
      </p:sp>
      <p:sp>
        <p:nvSpPr>
          <p:cNvPr id="10" name="Rounded Rectangle 9"/>
          <p:cNvSpPr/>
          <p:nvPr/>
        </p:nvSpPr>
        <p:spPr>
          <a:xfrm>
            <a:off x="548640" y="2112264"/>
            <a:ext cx="1554480" cy="438912"/>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2–4</a:t>
            </a:r>
          </a:p>
        </p:txBody>
      </p:sp>
      <p:sp>
        <p:nvSpPr>
          <p:cNvPr id="11" name="Rounded Rectangle 10"/>
          <p:cNvSpPr/>
          <p:nvPr/>
        </p:nvSpPr>
        <p:spPr>
          <a:xfrm>
            <a:off x="2240280" y="2112264"/>
            <a:ext cx="9402775" cy="43891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Shadow the model dialogue: read it with the same rhythm and intonation.</a:t>
            </a:r>
          </a:p>
        </p:txBody>
      </p:sp>
      <p:sp>
        <p:nvSpPr>
          <p:cNvPr id="12" name="Rounded Rectangle 11"/>
          <p:cNvSpPr/>
          <p:nvPr/>
        </p:nvSpPr>
        <p:spPr>
          <a:xfrm>
            <a:off x="548640" y="2624328"/>
            <a:ext cx="1554480" cy="438912"/>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4–8</a:t>
            </a:r>
          </a:p>
        </p:txBody>
      </p:sp>
      <p:sp>
        <p:nvSpPr>
          <p:cNvPr id="13" name="Rounded Rectangle 12"/>
          <p:cNvSpPr/>
          <p:nvPr/>
        </p:nvSpPr>
        <p:spPr>
          <a:xfrm>
            <a:off x="2240280" y="2624328"/>
            <a:ext cx="9402775" cy="43891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Prepare a 3-sentence explanation of a gap and say it aloud.</a:t>
            </a:r>
          </a:p>
        </p:txBody>
      </p:sp>
      <p:sp>
        <p:nvSpPr>
          <p:cNvPr id="14" name="Rounded Rectangle 13"/>
          <p:cNvSpPr/>
          <p:nvPr/>
        </p:nvSpPr>
        <p:spPr>
          <a:xfrm>
            <a:off x="548640" y="3136392"/>
            <a:ext cx="1554480" cy="713232"/>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8–10</a:t>
            </a:r>
          </a:p>
        </p:txBody>
      </p:sp>
      <p:sp>
        <p:nvSpPr>
          <p:cNvPr id="15" name="Rounded Rectangle 14"/>
          <p:cNvSpPr/>
          <p:nvPr/>
        </p:nvSpPr>
        <p:spPr>
          <a:xfrm>
            <a:off x="2240280" y="3136392"/>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Listen to your recording. Check: for/since, lose touch, to + -ing, past simple vs present perfect. Write 3 corrections and record again.</a:t>
            </a:r>
          </a:p>
        </p:txBody>
      </p:sp>
      <p:sp>
        <p:nvSpPr>
          <p:cNvPr id="16" name="Rounded Rectangle 15"/>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Weekly rhythm: Mon–Tue Scenario 1 · Wed–Thu Scenario 2 · Fri Level-up variation · Weekend: do the Reading / Listening focus again without looking, then record the 1-minute speaking prompt and compare with Monday.</a:t>
            </a:r>
          </a:p>
        </p:txBody>
      </p:sp>
    </p:spTree>
  </p:cSld>
  <p:clrMapOvr>
    <a:masterClrMapping/>
  </p:clrMapOvr>
  <p:transition spd="med">
    <p:fade/>
  </p:transition>
</p:sld>
</file>

<file path=ppt/slides/slide110.xml><?xml version="1.0" encoding="utf-8"?>
<p:sld xmlns:a="http://schemas.openxmlformats.org/drawingml/2006/main" xmlns:p="http://schemas.openxmlformats.org/presentationml/2006/main" xmlns:r="http://schemas.openxmlformats.org/officeDocument/2006/relationships">
  <p:cSld>
    <p:bg>
      <p:bgPr>
        <a:solidFill>
          <a:srgbClr val="1F2A44"/>
        </a:solidFill>
        <a:effectLst/>
      </p:bgPr>
    </p:bg>
    <p:spTree>
      <p:nvGrpSpPr>
        <p:cNvPr id="1" name=""/>
        <p:cNvGrpSpPr/>
        <p:nvPr/>
      </p:nvGrpSpPr>
      <p:grpSpPr/>
      <p:sp>
        <p:nvSpPr>
          <p:cNvPr id="2" name="TextBox 1"/>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FFC857"/>
                </a:solidFill>
                <a:latin typeface="Arial"/>
                <a:ea typeface="Microsoft YaHei"/>
              </a:rPr>
              <a:t>Business English · Level 7–8 · Unit 7 · Lesson 36 Fail to have a great career</a:t>
            </a:r>
          </a:p>
        </p:txBody>
      </p:sp>
      <p:sp>
        <p:nvSpPr>
          <p:cNvPr id="3" name="TextBox 2"/>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FFC857"/>
                </a:solidFill>
                <a:latin typeface="Arial"/>
                <a:ea typeface="Microsoft YaHei"/>
              </a:rPr>
              <a:t>110</a:t>
            </a:r>
          </a:p>
        </p:txBody>
      </p:sp>
      <p:sp>
        <p:nvSpPr>
          <p:cNvPr id="4" name="Rounded Rectangle 3">
            <a:hlinkClick action="ppaction://hlinksldjump" r:id="rId2"/>
          </p:cNvPr>
          <p:cNvSpPr/>
          <p:nvPr/>
        </p:nvSpPr>
        <p:spPr>
          <a:xfrm>
            <a:off x="9677095" y="6382512"/>
            <a:ext cx="960120" cy="329184"/>
          </a:xfrm>
          <a:prstGeom prst="roundRect">
            <a:avLst>
              <a:gd name="adj" fmla="val 50000"/>
            </a:avLst>
          </a:prstGeom>
          <a:solidFill>
            <a:srgbClr val="3642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FFFFFF"/>
                </a:solidFill>
                <a:latin typeface="Arial"/>
                <a:ea typeface="Microsoft YaHei"/>
              </a:rPr>
              <a:t>🗺 Map</a:t>
            </a:r>
          </a:p>
        </p:txBody>
      </p:sp>
      <p:sp>
        <p:nvSpPr>
          <p:cNvPr id="5" name="Rectangle 4"/>
          <p:cNvSpPr/>
          <p:nvPr/>
        </p:nvSpPr>
        <p:spPr>
          <a:xfrm>
            <a:off x="822960" y="685800"/>
            <a:ext cx="1097280" cy="91440"/>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822960"/>
            <a:ext cx="5486400" cy="457200"/>
          </a:xfrm>
          <a:prstGeom prst="rect">
            <a:avLst/>
          </a:prstGeom>
          <a:noFill/>
        </p:spPr>
        <p:txBody>
          <a:bodyPr wrap="square" anchor="t">
            <a:spAutoFit/>
          </a:bodyPr>
          <a:lstStyle/>
          <a:p>
            <a:pPr algn="l">
              <a:lnSpc>
                <a:spcPct val="115000"/>
              </a:lnSpc>
              <a:spcAft>
                <a:spcPts val="800"/>
              </a:spcAft>
            </a:pPr>
            <a:r>
              <a:rPr sz="2200" b="1">
                <a:solidFill>
                  <a:srgbClr val="FFC857"/>
                </a:solidFill>
                <a:latin typeface="Arial"/>
                <a:ea typeface="Microsoft YaHei"/>
              </a:rPr>
              <a:t>LESSON 36</a:t>
            </a:r>
          </a:p>
        </p:txBody>
      </p:sp>
      <p:sp>
        <p:nvSpPr>
          <p:cNvPr id="7" name="TextBox 6"/>
          <p:cNvSpPr txBox="1"/>
          <p:nvPr/>
        </p:nvSpPr>
        <p:spPr>
          <a:xfrm>
            <a:off x="822960" y="1280160"/>
            <a:ext cx="10515600" cy="1280160"/>
          </a:xfrm>
          <a:prstGeom prst="rect">
            <a:avLst/>
          </a:prstGeom>
          <a:noFill/>
        </p:spPr>
        <p:txBody>
          <a:bodyPr wrap="square" anchor="ctr">
            <a:spAutoFit/>
          </a:bodyPr>
          <a:lstStyle/>
          <a:p>
            <a:pPr algn="l">
              <a:lnSpc>
                <a:spcPct val="115000"/>
              </a:lnSpc>
              <a:spcAft>
                <a:spcPts val="800"/>
              </a:spcAft>
            </a:pPr>
            <a:r>
              <a:rPr sz="5400" b="1">
                <a:solidFill>
                  <a:srgbClr val="FFFFFF"/>
                </a:solidFill>
                <a:latin typeface="Arial"/>
                <a:ea typeface="Microsoft YaHei"/>
              </a:rPr>
              <a:t>Fail to have a great career</a:t>
            </a:r>
          </a:p>
        </p:txBody>
      </p:sp>
      <p:sp>
        <p:nvSpPr>
          <p:cNvPr id="8" name="TextBox 7"/>
          <p:cNvSpPr txBox="1"/>
          <p:nvPr/>
        </p:nvSpPr>
        <p:spPr>
          <a:xfrm>
            <a:off x="822960" y="2560320"/>
            <a:ext cx="10515600" cy="548640"/>
          </a:xfrm>
          <a:prstGeom prst="rect">
            <a:avLst/>
          </a:prstGeom>
          <a:noFill/>
        </p:spPr>
        <p:txBody>
          <a:bodyPr wrap="square" anchor="t">
            <a:spAutoFit/>
          </a:bodyPr>
          <a:lstStyle/>
          <a:p>
            <a:pPr algn="l">
              <a:lnSpc>
                <a:spcPct val="115000"/>
              </a:lnSpc>
              <a:spcAft>
                <a:spcPts val="800"/>
              </a:spcAft>
            </a:pPr>
            <a:r>
              <a:rPr sz="2400" b="0">
                <a:solidFill>
                  <a:srgbClr val="FFFFFF"/>
                </a:solidFill>
                <a:latin typeface="Arial"/>
                <a:ea typeface="Microsoft YaHei"/>
              </a:rPr>
              <a:t>难以拥有伟大的职业生涯</a:t>
            </a:r>
          </a:p>
        </p:txBody>
      </p:sp>
      <p:sp>
        <p:nvSpPr>
          <p:cNvPr id="9" name="TextBox 8"/>
          <p:cNvSpPr txBox="1"/>
          <p:nvPr/>
        </p:nvSpPr>
        <p:spPr>
          <a:xfrm>
            <a:off x="822960" y="3246120"/>
            <a:ext cx="10515600" cy="914400"/>
          </a:xfrm>
          <a:prstGeom prst="rect">
            <a:avLst/>
          </a:prstGeom>
          <a:noFill/>
        </p:spPr>
        <p:txBody>
          <a:bodyPr wrap="square" anchor="t">
            <a:spAutoFit/>
          </a:bodyPr>
          <a:lstStyle/>
          <a:p>
            <a:pPr algn="l">
              <a:lnSpc>
                <a:spcPct val="115000"/>
              </a:lnSpc>
              <a:spcAft>
                <a:spcPts val="800"/>
              </a:spcAft>
            </a:pPr>
            <a:r>
              <a:rPr sz="2000" b="0">
                <a:solidFill>
                  <a:srgbClr val="FFC857"/>
                </a:solidFill>
                <a:latin typeface="Arial"/>
                <a:ea typeface="Microsoft YaHei"/>
              </a:rPr>
              <a:t>🎯 discuss the mistakes and misconceptions that hold careers back, and give or accept career feedback.</a:t>
            </a:r>
          </a:p>
        </p:txBody>
      </p:sp>
      <p:sp>
        <p:nvSpPr>
          <p:cNvPr id="10" name="Rounded Rectangle 9"/>
          <p:cNvSpPr/>
          <p:nvPr/>
        </p:nvSpPr>
        <p:spPr>
          <a:xfrm>
            <a:off x="822960" y="4389120"/>
            <a:ext cx="1956816" cy="11430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01</a:t>
            </a:r>
          </a:p>
          <a:p>
            <a:pPr algn="ctr">
              <a:spcAft>
                <a:spcPts val="200"/>
              </a:spcAft>
            </a:pPr>
            <a:r>
              <a:rPr sz="1700" b="1">
                <a:solidFill>
                  <a:srgbClr val="FFFFFF"/>
                </a:solidFill>
                <a:latin typeface="Arial"/>
                <a:ea typeface="Microsoft YaHei"/>
              </a:rPr>
              <a:t>Warm up</a:t>
            </a:r>
          </a:p>
          <a:p>
            <a:pPr algn="ctr">
              <a:spcAft>
                <a:spcPts val="200"/>
              </a:spcAft>
            </a:pPr>
            <a:r>
              <a:rPr sz="1300" b="0">
                <a:solidFill>
                  <a:srgbClr val="FFFFFF"/>
                </a:solidFill>
                <a:latin typeface="Arial"/>
                <a:ea typeface="Microsoft YaHei"/>
              </a:rPr>
              <a:t>热身</a:t>
            </a:r>
          </a:p>
        </p:txBody>
      </p:sp>
      <p:sp>
        <p:nvSpPr>
          <p:cNvPr id="11" name="Rounded Rectangle 10"/>
          <p:cNvSpPr/>
          <p:nvPr/>
        </p:nvSpPr>
        <p:spPr>
          <a:xfrm>
            <a:off x="2962656" y="4389120"/>
            <a:ext cx="1956816" cy="11430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02</a:t>
            </a:r>
          </a:p>
          <a:p>
            <a:pPr algn="ctr">
              <a:spcAft>
                <a:spcPts val="200"/>
              </a:spcAft>
            </a:pPr>
            <a:r>
              <a:rPr sz="1700" b="1">
                <a:solidFill>
                  <a:srgbClr val="FFFFFF"/>
                </a:solidFill>
                <a:latin typeface="Arial"/>
                <a:ea typeface="Microsoft YaHei"/>
              </a:rPr>
              <a:t>Vocabulary</a:t>
            </a:r>
          </a:p>
          <a:p>
            <a:pPr algn="ctr">
              <a:spcAft>
                <a:spcPts val="200"/>
              </a:spcAft>
            </a:pPr>
            <a:r>
              <a:rPr sz="1300" b="0">
                <a:solidFill>
                  <a:srgbClr val="FFFFFF"/>
                </a:solidFill>
                <a:latin typeface="Arial"/>
                <a:ea typeface="Microsoft YaHei"/>
              </a:rPr>
              <a:t>词汇</a:t>
            </a:r>
          </a:p>
        </p:txBody>
      </p:sp>
      <p:sp>
        <p:nvSpPr>
          <p:cNvPr id="12" name="Rounded Rectangle 11"/>
          <p:cNvSpPr/>
          <p:nvPr/>
        </p:nvSpPr>
        <p:spPr>
          <a:xfrm>
            <a:off x="5102352" y="4389120"/>
            <a:ext cx="1956816" cy="11430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03</a:t>
            </a:r>
          </a:p>
          <a:p>
            <a:pPr algn="ctr">
              <a:spcAft>
                <a:spcPts val="200"/>
              </a:spcAft>
            </a:pPr>
            <a:r>
              <a:rPr sz="1700" b="1">
                <a:solidFill>
                  <a:srgbClr val="FFFFFF"/>
                </a:solidFill>
                <a:latin typeface="Arial"/>
                <a:ea typeface="Microsoft YaHei"/>
              </a:rPr>
              <a:t>Role play</a:t>
            </a:r>
          </a:p>
          <a:p>
            <a:pPr algn="ctr">
              <a:spcAft>
                <a:spcPts val="200"/>
              </a:spcAft>
            </a:pPr>
            <a:r>
              <a:rPr sz="1300" b="0">
                <a:solidFill>
                  <a:srgbClr val="FFFFFF"/>
                </a:solidFill>
                <a:latin typeface="Arial"/>
                <a:ea typeface="Microsoft YaHei"/>
              </a:rPr>
              <a:t>角色扮演</a:t>
            </a:r>
          </a:p>
        </p:txBody>
      </p:sp>
      <p:sp>
        <p:nvSpPr>
          <p:cNvPr id="13" name="Rounded Rectangle 12"/>
          <p:cNvSpPr/>
          <p:nvPr/>
        </p:nvSpPr>
        <p:spPr>
          <a:xfrm>
            <a:off x="7242048" y="4389120"/>
            <a:ext cx="1956816" cy="11430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04</a:t>
            </a:r>
          </a:p>
          <a:p>
            <a:pPr algn="ctr">
              <a:spcAft>
                <a:spcPts val="200"/>
              </a:spcAft>
            </a:pPr>
            <a:r>
              <a:rPr sz="1700" b="1">
                <a:solidFill>
                  <a:srgbClr val="FFFFFF"/>
                </a:solidFill>
                <a:latin typeface="Arial"/>
                <a:ea typeface="Microsoft YaHei"/>
              </a:rPr>
              <a:t>Discussion</a:t>
            </a:r>
          </a:p>
          <a:p>
            <a:pPr algn="ctr">
              <a:spcAft>
                <a:spcPts val="200"/>
              </a:spcAft>
            </a:pPr>
            <a:r>
              <a:rPr sz="1300" b="0">
                <a:solidFill>
                  <a:srgbClr val="FFFFFF"/>
                </a:solidFill>
                <a:latin typeface="Arial"/>
                <a:ea typeface="Microsoft YaHei"/>
              </a:rPr>
              <a:t>讨论</a:t>
            </a:r>
          </a:p>
        </p:txBody>
      </p:sp>
      <p:sp>
        <p:nvSpPr>
          <p:cNvPr id="14" name="Rounded Rectangle 13"/>
          <p:cNvSpPr/>
          <p:nvPr/>
        </p:nvSpPr>
        <p:spPr>
          <a:xfrm>
            <a:off x="9381744" y="4389120"/>
            <a:ext cx="1956816" cy="11430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05</a:t>
            </a:r>
          </a:p>
          <a:p>
            <a:pPr algn="ctr">
              <a:spcAft>
                <a:spcPts val="200"/>
              </a:spcAft>
            </a:pPr>
            <a:r>
              <a:rPr sz="1700" b="1">
                <a:solidFill>
                  <a:srgbClr val="FFFFFF"/>
                </a:solidFill>
                <a:latin typeface="Arial"/>
                <a:ea typeface="Microsoft YaHei"/>
              </a:rPr>
              <a:t>Language Tips</a:t>
            </a:r>
          </a:p>
          <a:p>
            <a:pPr algn="ctr">
              <a:spcAft>
                <a:spcPts val="200"/>
              </a:spcAft>
            </a:pPr>
            <a:r>
              <a:rPr sz="1300" b="0">
                <a:solidFill>
                  <a:srgbClr val="FFFFFF"/>
                </a:solidFill>
                <a:latin typeface="Arial"/>
                <a:ea typeface="Microsoft YaHei"/>
              </a:rPr>
              <a:t>语言贴士</a:t>
            </a:r>
          </a:p>
        </p:txBody>
      </p:sp>
    </p:spTree>
  </p:cSld>
  <p:clrMapOvr>
    <a:masterClrMapping/>
  </p:clrMapOvr>
  <p:transition spd="med">
    <p:fade/>
  </p:transition>
</p:sld>
</file>

<file path=ppt/slides/slide11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Warm up · Ice-breaker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7 · Lesson 36 Fail to have a great career</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111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Answer in 2–3 sentences. Say it out loud!  用 2–3 句话回答，大声说出来</a:t>
            </a:r>
          </a:p>
        </p:txBody>
      </p:sp>
      <p:sp>
        <p:nvSpPr>
          <p:cNvPr id="9" name="Oval 8"/>
          <p:cNvSpPr/>
          <p:nvPr/>
        </p:nvSpPr>
        <p:spPr>
          <a:xfrm>
            <a:off x="548640" y="1600199"/>
            <a:ext cx="502920" cy="50292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54480"/>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What mistakes can hold a career back?</a:t>
            </a:r>
          </a:p>
        </p:txBody>
      </p:sp>
      <p:sp>
        <p:nvSpPr>
          <p:cNvPr id="12" name="Oval 11"/>
          <p:cNvSpPr/>
          <p:nvPr/>
        </p:nvSpPr>
        <p:spPr>
          <a:xfrm>
            <a:off x="548640" y="2304286"/>
            <a:ext cx="502920" cy="50292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258567"/>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258567"/>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Do you think talent or hard work matters more?</a:t>
            </a:r>
          </a:p>
        </p:txBody>
      </p:sp>
      <p:sp>
        <p:nvSpPr>
          <p:cNvPr id="15" name="Oval 14"/>
          <p:cNvSpPr/>
          <p:nvPr/>
        </p:nvSpPr>
        <p:spPr>
          <a:xfrm>
            <a:off x="548640" y="3008373"/>
            <a:ext cx="502920" cy="50292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2962654"/>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2962654"/>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Have you ever stayed too long in a job? Why?</a:t>
            </a:r>
          </a:p>
        </p:txBody>
      </p:sp>
      <p:sp>
        <p:nvSpPr>
          <p:cNvPr id="18" name="Oval 17"/>
          <p:cNvSpPr/>
          <p:nvPr/>
        </p:nvSpPr>
        <p:spPr>
          <a:xfrm>
            <a:off x="548640" y="3712460"/>
            <a:ext cx="502920" cy="50292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3666741"/>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3666741"/>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Why do some people avoid feedback?</a:t>
            </a:r>
          </a:p>
        </p:txBody>
      </p:sp>
      <p:sp>
        <p:nvSpPr>
          <p:cNvPr id="21" name="Oval 20"/>
          <p:cNvSpPr/>
          <p:nvPr/>
        </p:nvSpPr>
        <p:spPr>
          <a:xfrm>
            <a:off x="548640" y="4416547"/>
            <a:ext cx="502920" cy="502920"/>
          </a:xfrm>
          <a:prstGeom prst="ellipse">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5</a:t>
            </a:r>
          </a:p>
        </p:txBody>
      </p:sp>
      <p:sp>
        <p:nvSpPr>
          <p:cNvPr id="22" name="Rounded Rectangle 21"/>
          <p:cNvSpPr/>
          <p:nvPr/>
        </p:nvSpPr>
        <p:spPr>
          <a:xfrm>
            <a:off x="1234440" y="4370828"/>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325880" y="4370828"/>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What career myth do you disagree with?</a:t>
            </a:r>
          </a:p>
        </p:txBody>
      </p:sp>
      <p:sp>
        <p:nvSpPr>
          <p:cNvPr id="58" name="Rounded Rectangle 5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1F2A44"/>
                </a:solidFill>
                <a:latin typeface="Arial"/>
                <a:ea typeface="Microsoft YaHei"/>
              </a:rPr>
              <a:t>💡 标题 “Fail to have a great career” 为原文如此;本课讲”阻碍职业发展的错误与误解”。第 3 题 “stay too long” 注意过去式。</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par>
                    <p:cTn id="56" fill="hold">
                      <p:stCondLst>
                        <p:cond delay="indefinite"/>
                      </p:stCondLst>
                      <p:childTnLst>
                        <p:par>
                          <p:cTn id="57" fill="hold">
                            <p:stCondLst>
                              <p:cond delay="0"/>
                            </p:stCondLst>
                            <p:childTnLst>
                              <p:par>
                                <p:cTn id="49" presetID="10" presetClass="entr" presetSubtype="0" fill="hold" nodeType="clickEffect">
                                  <p:stCondLst>
                                    <p:cond delay="0"/>
                                  </p:stCondLst>
                                  <p:childTnLst>
                                    <p:set>
                                      <p:cBhvr>
                                        <p:cTn id="47" dur="1" fill="hold">
                                          <p:stCondLst>
                                            <p:cond delay="0"/>
                                          </p:stCondLst>
                                        </p:cTn>
                                        <p:tgtEl>
                                          <p:spTgt spid="21"/>
                                        </p:tgtEl>
                                        <p:attrNameLst>
                                          <p:attrName>style.visibility</p:attrName>
                                        </p:attrNameLst>
                                      </p:cBhvr>
                                      <p:to>
                                        <p:strVal val="visible"/>
                                      </p:to>
                                    </p:set>
                                    <p:animEffect transition="in" filter="fade">
                                      <p:cBhvr>
                                        <p:cTn id="48" dur="400"/>
                                        <p:tgtEl>
                                          <p:spTgt spid="21"/>
                                        </p:tgtEl>
                                      </p:cBhvr>
                                    </p:animEffect>
                                  </p:childTnLst>
                                </p:cTn>
                              </p:par>
                              <p:par>
                                <p:cTn id="52" presetID="10" presetClass="entr" presetSubtype="0" fill="hold" nodeType="with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fade">
                                      <p:cBhvr>
                                        <p:cTn id="51" dur="400"/>
                                        <p:tgtEl>
                                          <p:spTgt spid="22"/>
                                        </p:tgtEl>
                                      </p:cBhvr>
                                    </p:animEffect>
                                  </p:childTnLst>
                                </p:cTn>
                              </p:par>
                              <p:par>
                                <p:cTn id="55" presetID="10" presetClass="entr" presetSubtype="0" fill="hold" nodeType="withEffect">
                                  <p:stCondLst>
                                    <p:cond delay="0"/>
                                  </p:stCondLst>
                                  <p:childTnLst>
                                    <p:set>
                                      <p:cBhvr>
                                        <p:cTn id="53" dur="1" fill="hold">
                                          <p:stCondLst>
                                            <p:cond delay="0"/>
                                          </p:stCondLst>
                                        </p:cTn>
                                        <p:tgtEl>
                                          <p:spTgt spid="23"/>
                                        </p:tgtEl>
                                        <p:attrNameLst>
                                          <p:attrName>style.visibility</p:attrName>
                                        </p:attrNameLst>
                                      </p:cBhvr>
                                      <p:to>
                                        <p:strVal val="visible"/>
                                      </p:to>
                                    </p:set>
                                    <p:animEffect transition="in" filter="fade">
                                      <p:cBhvr>
                                        <p:cTn id="5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1-Minute Challenge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7 · Lesson 36 Fail to have a great career</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112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Oval 7"/>
          <p:cNvSpPr/>
          <p:nvPr/>
        </p:nvSpPr>
        <p:spPr>
          <a:xfrm>
            <a:off x="9814255" y="1463040"/>
            <a:ext cx="1737360" cy="173736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FFFFFF"/>
                </a:solidFill>
                <a:latin typeface="Arial"/>
                <a:ea typeface="Microsoft YaHei"/>
              </a:rPr>
              <a:t>⏱</a:t>
            </a:r>
          </a:p>
          <a:p>
            <a:pPr algn="ctr">
              <a:spcAft>
                <a:spcPts val="200"/>
              </a:spcAft>
            </a:pPr>
            <a:r>
              <a:rPr sz="2600" b="1">
                <a:solidFill>
                  <a:srgbClr val="FFFFFF"/>
                </a:solidFill>
                <a:latin typeface="Arial"/>
                <a:ea typeface="Microsoft YaHei"/>
              </a:rPr>
              <a:t>60s</a:t>
            </a:r>
          </a:p>
        </p:txBody>
      </p:sp>
      <p:sp>
        <p:nvSpPr>
          <p:cNvPr id="9" name="TextBox 8"/>
          <p:cNvSpPr txBox="1"/>
          <p:nvPr/>
        </p:nvSpPr>
        <p:spPr>
          <a:xfrm>
            <a:off x="548640" y="1417320"/>
            <a:ext cx="8778240" cy="1280160"/>
          </a:xfrm>
          <a:prstGeom prst="rect">
            <a:avLst/>
          </a:prstGeom>
          <a:noFill/>
        </p:spPr>
        <p:txBody>
          <a:bodyPr wrap="square" anchor="t">
            <a:spAutoFit/>
          </a:bodyPr>
          <a:lstStyle/>
          <a:p>
            <a:pPr algn="l">
              <a:lnSpc>
                <a:spcPct val="115000"/>
              </a:lnSpc>
              <a:spcAft>
                <a:spcPts val="200"/>
              </a:spcAft>
            </a:pPr>
            <a:r>
              <a:rPr sz="1400" b="0">
                <a:solidFill>
                  <a:srgbClr val="5F677A"/>
                </a:solidFill>
                <a:latin typeface="Arial"/>
                <a:ea typeface="Microsoft YaHei"/>
              </a:rPr>
              <a:t>TOPIC</a:t>
            </a:r>
          </a:p>
          <a:p>
            <a:pPr algn="l">
              <a:lnSpc>
                <a:spcPct val="115000"/>
              </a:lnSpc>
              <a:spcAft>
                <a:spcPts val="800"/>
              </a:spcAft>
            </a:pPr>
            <a:r>
              <a:rPr sz="3000" b="1">
                <a:solidFill>
                  <a:srgbClr val="1F2A44"/>
                </a:solidFill>
                <a:latin typeface="Arial"/>
                <a:ea typeface="Microsoft YaHei"/>
              </a:rPr>
              <a:t>Talk about a career mistake you’ve seen or made and what to do instead.</a:t>
            </a:r>
          </a:p>
        </p:txBody>
      </p:sp>
      <p:sp>
        <p:nvSpPr>
          <p:cNvPr id="10" name="Rounded Rectangle 9"/>
          <p:cNvSpPr/>
          <p:nvPr/>
        </p:nvSpPr>
        <p:spPr>
          <a:xfrm>
            <a:off x="548640" y="3017520"/>
            <a:ext cx="2411730" cy="86868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 the mistake</a:t>
            </a:r>
          </a:p>
        </p:txBody>
      </p:sp>
      <p:sp>
        <p:nvSpPr>
          <p:cNvPr id="11" name="Rounded Rectangle 10"/>
          <p:cNvSpPr/>
          <p:nvPr/>
        </p:nvSpPr>
        <p:spPr>
          <a:xfrm>
            <a:off x="3097530" y="3017520"/>
            <a:ext cx="2411730" cy="86868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 why it’s tempting</a:t>
            </a:r>
          </a:p>
        </p:txBody>
      </p:sp>
      <p:sp>
        <p:nvSpPr>
          <p:cNvPr id="12" name="Rounded Rectangle 11"/>
          <p:cNvSpPr/>
          <p:nvPr/>
        </p:nvSpPr>
        <p:spPr>
          <a:xfrm>
            <a:off x="5646420" y="3017520"/>
            <a:ext cx="2411730" cy="86868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 the effect</a:t>
            </a:r>
          </a:p>
        </p:txBody>
      </p:sp>
      <p:sp>
        <p:nvSpPr>
          <p:cNvPr id="13" name="Rounded Rectangle 12"/>
          <p:cNvSpPr/>
          <p:nvPr/>
        </p:nvSpPr>
        <p:spPr>
          <a:xfrm>
            <a:off x="8195310" y="3017520"/>
            <a:ext cx="2411730" cy="86868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 a better approach</a:t>
            </a:r>
          </a:p>
        </p:txBody>
      </p:sp>
      <p:sp>
        <p:nvSpPr>
          <p:cNvPr id="14" name="TextBox 13"/>
          <p:cNvSpPr txBox="1"/>
          <p:nvPr/>
        </p:nvSpPr>
        <p:spPr>
          <a:xfrm>
            <a:off x="548640" y="4069080"/>
            <a:ext cx="11094415" cy="365760"/>
          </a:xfrm>
          <a:prstGeom prst="rect">
            <a:avLst/>
          </a:prstGeom>
          <a:noFill/>
        </p:spPr>
        <p:txBody>
          <a:bodyPr wrap="square" anchor="t">
            <a:spAutoFit/>
          </a:bodyPr>
          <a:lstStyle/>
          <a:p>
            <a:pPr algn="l">
              <a:lnSpc>
                <a:spcPct val="115000"/>
              </a:lnSpc>
              <a:spcAft>
                <a:spcPts val="800"/>
              </a:spcAft>
            </a:pPr>
            <a:r>
              <a:rPr sz="1400" b="0">
                <a:solidFill>
                  <a:srgbClr val="5F677A"/>
                </a:solidFill>
                <a:latin typeface="Arial"/>
                <a:ea typeface="Microsoft YaHei"/>
              </a:rPr>
              <a:t>Useful starters 开头句</a:t>
            </a:r>
          </a:p>
        </p:txBody>
      </p:sp>
      <p:sp>
        <p:nvSpPr>
          <p:cNvPr id="15" name="TextBox 14"/>
          <p:cNvSpPr txBox="1"/>
          <p:nvPr/>
        </p:nvSpPr>
        <p:spPr>
          <a:xfrm>
            <a:off x="548640" y="4389120"/>
            <a:ext cx="11094415" cy="100584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 A common mistake is…   💬 It’s tempting to…, but…   💬 The result is that…   💬 A better approach is to…</a:t>
            </a:r>
          </a:p>
        </p:txBody>
      </p:sp>
      <p:sp>
        <p:nvSpPr>
          <p:cNvPr id="16" name="Rounded Rectangle 15"/>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“It’s tempting to…” 容易想去…;“A better approach is to…” 更好的做法是…</a:t>
            </a:r>
          </a:p>
        </p:txBody>
      </p:sp>
    </p:spTree>
  </p:cSld>
  <p:clrMapOvr>
    <a:masterClrMapping/>
  </p:clrMapOvr>
  <p:transition spd="med">
    <p:fade/>
  </p:transition>
</p:sld>
</file>

<file path=ppt/slides/slide11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Reading · Four career myths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123 words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7 · Lesson 36 Fail to have a great career</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113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280160"/>
            <a:ext cx="11094415" cy="489204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280160"/>
            <a:ext cx="109728" cy="4892040"/>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1463040"/>
            <a:ext cx="10545775" cy="4526280"/>
          </a:xfrm>
          <a:prstGeom prst="rect">
            <a:avLst/>
          </a:prstGeom>
          <a:noFill/>
        </p:spPr>
        <p:txBody>
          <a:bodyPr wrap="square" anchor="t">
            <a:spAutoFit/>
          </a:bodyPr>
          <a:lstStyle/>
          <a:p>
            <a:pPr algn="l">
              <a:lnSpc>
                <a:spcPct val="130000"/>
              </a:lnSpc>
              <a:spcAft>
                <a:spcPts val="800"/>
              </a:spcAft>
            </a:pPr>
            <a:r>
              <a:rPr sz="2200" b="0">
                <a:solidFill>
                  <a:srgbClr val="1F2A44"/>
                </a:solidFill>
                <a:latin typeface="Arial"/>
                <a:ea typeface="Microsoft YaHei"/>
              </a:rPr>
              <a:t>Many careers stall for reasons that have little to do with talent. The first myth is “good work speaks for itself”. In reality, people also need to share results and build relationships. The second is “I will be promoted when I am ready”. Promotions usually go to people who ask for more responsibility early. The third is “loyalty alone is rewarded”. Staying for years without learning anything new can make you less employable, not more. The fourth is “feedback is criticism”. People who actively ask for feedback improve faster, and they are often seen as confident rather than weak. None of these ideas is entirely false, which is why they last. But believing them too strongly can slow down even a talented person.</a:t>
            </a:r>
          </a:p>
        </p:txBody>
      </p:sp>
    </p:spTree>
  </p:cSld>
  <p:clrMapOvr>
    <a:masterClrMapping/>
  </p:clrMapOvr>
  <p:transition spd="med">
    <p:fade/>
  </p:transition>
</p:sld>
</file>

<file path=ppt/slides/slide11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Check Your Understanding</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Reading</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7 · Lesson 36 Fail to have a great career</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114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Discuss with your team, then answer. Click to check.  小组讨论后抢答，点击核对答案</a:t>
            </a:r>
          </a:p>
        </p:txBody>
      </p:sp>
      <p:sp>
        <p:nvSpPr>
          <p:cNvPr id="9" name="TextBox 8"/>
          <p:cNvSpPr txBox="1"/>
          <p:nvPr/>
        </p:nvSpPr>
        <p:spPr>
          <a:xfrm>
            <a:off x="548640" y="150876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Q1. Which myth is about promotion?</a:t>
            </a:r>
          </a:p>
        </p:txBody>
      </p:sp>
      <p:sp>
        <p:nvSpPr>
          <p:cNvPr id="10" name="Rounded Rectangle 9"/>
          <p:cNvSpPr/>
          <p:nvPr/>
        </p:nvSpPr>
        <p:spPr>
          <a:xfrm>
            <a:off x="822960" y="198424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“I will be promoted when I am ready.”</a:t>
            </a:r>
          </a:p>
        </p:txBody>
      </p:sp>
      <p:sp>
        <p:nvSpPr>
          <p:cNvPr id="11" name="TextBox 10"/>
          <p:cNvSpPr txBox="1"/>
          <p:nvPr/>
        </p:nvSpPr>
        <p:spPr>
          <a:xfrm>
            <a:off x="548640" y="309372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Q2. Why can staying too long be a problem?</a:t>
            </a:r>
          </a:p>
        </p:txBody>
      </p:sp>
      <p:sp>
        <p:nvSpPr>
          <p:cNvPr id="12" name="Rounded Rectangle 11"/>
          <p:cNvSpPr/>
          <p:nvPr/>
        </p:nvSpPr>
        <p:spPr>
          <a:xfrm>
            <a:off x="822960" y="356920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If you stop learning, you may become less employable.</a:t>
            </a:r>
          </a:p>
        </p:txBody>
      </p:sp>
      <p:sp>
        <p:nvSpPr>
          <p:cNvPr id="13" name="TextBox 12"/>
          <p:cNvSpPr txBox="1"/>
          <p:nvPr/>
        </p:nvSpPr>
        <p:spPr>
          <a:xfrm>
            <a:off x="548640" y="467868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Q3. What do people who ask for feedback gain?</a:t>
            </a:r>
          </a:p>
        </p:txBody>
      </p:sp>
      <p:sp>
        <p:nvSpPr>
          <p:cNvPr id="14" name="Rounded Rectangle 13"/>
          <p:cNvSpPr/>
          <p:nvPr/>
        </p:nvSpPr>
        <p:spPr>
          <a:xfrm>
            <a:off x="822960" y="515416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They improve faster and appear confident.</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1: Mistakes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7 · Lesson 36 Fail to have a great career</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115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常见错误</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hold you back</a:t>
            </a:r>
          </a:p>
          <a:p>
            <a:pPr algn="l">
              <a:lnSpc>
                <a:spcPct val="115000"/>
              </a:lnSpc>
              <a:spcAft>
                <a:spcPts val="800"/>
              </a:spcAft>
            </a:pPr>
            <a:r>
              <a:rPr sz="1300" b="0">
                <a:solidFill>
                  <a:srgbClr val="5F677A"/>
                </a:solidFill>
                <a:latin typeface="Arial"/>
                <a:ea typeface="Microsoft YaHei"/>
              </a:rPr>
              <a:t>phrasal verb</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阻碍你</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“Fear can hold you back.”</a:t>
            </a:r>
          </a:p>
        </p:txBody>
      </p:sp>
      <p:sp>
        <p:nvSpPr>
          <p:cNvPr id="14" name="Rounded Rectangle 13"/>
          <p:cNvSpPr/>
          <p:nvPr/>
        </p:nvSpPr>
        <p:spPr>
          <a:xfrm>
            <a:off x="548640" y="21209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6304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stall</a:t>
            </a:r>
          </a:p>
          <a:p>
            <a:pPr algn="l">
              <a:lnSpc>
                <a:spcPct val="115000"/>
              </a:lnSpc>
              <a:spcAft>
                <a:spcPts val="800"/>
              </a:spcAft>
            </a:pPr>
            <a:r>
              <a:rPr sz="1300" b="0">
                <a:solidFill>
                  <a:srgbClr val="5F677A"/>
                </a:solidFill>
                <a:latin typeface="Arial"/>
                <a:ea typeface="Microsoft YaHei"/>
              </a:rPr>
              <a:t>verb</a:t>
            </a:r>
          </a:p>
        </p:txBody>
      </p:sp>
      <p:sp>
        <p:nvSpPr>
          <p:cNvPr id="17" name="TextBox 16"/>
          <p:cNvSpPr txBox="1"/>
          <p:nvPr/>
        </p:nvSpPr>
        <p:spPr>
          <a:xfrm>
            <a:off x="4206240" y="21666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停滞</a:t>
            </a:r>
          </a:p>
        </p:txBody>
      </p:sp>
      <p:sp>
        <p:nvSpPr>
          <p:cNvPr id="18" name="TextBox 17"/>
          <p:cNvSpPr txBox="1"/>
          <p:nvPr/>
        </p:nvSpPr>
        <p:spPr>
          <a:xfrm>
            <a:off x="6675120" y="21666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“My career has stalled.”</a:t>
            </a:r>
          </a:p>
        </p:txBody>
      </p:sp>
      <p:sp>
        <p:nvSpPr>
          <p:cNvPr id="19" name="Rounded Rectangle 18"/>
          <p:cNvSpPr/>
          <p:nvPr/>
        </p:nvSpPr>
        <p:spPr>
          <a:xfrm>
            <a:off x="548640" y="28244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2824480"/>
            <a:ext cx="91440" cy="6304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287020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complacent</a:t>
            </a:r>
          </a:p>
          <a:p>
            <a:pPr algn="l">
              <a:lnSpc>
                <a:spcPct val="115000"/>
              </a:lnSpc>
              <a:spcAft>
                <a:spcPts val="800"/>
              </a:spcAft>
            </a:pPr>
            <a:r>
              <a:rPr sz="1300" b="0">
                <a:solidFill>
                  <a:srgbClr val="5F677A"/>
                </a:solidFill>
                <a:latin typeface="Arial"/>
                <a:ea typeface="Microsoft YaHei"/>
              </a:rPr>
              <a:t>adjective</a:t>
            </a:r>
          </a:p>
        </p:txBody>
      </p:sp>
      <p:sp>
        <p:nvSpPr>
          <p:cNvPr id="22" name="TextBox 21"/>
          <p:cNvSpPr txBox="1"/>
          <p:nvPr/>
        </p:nvSpPr>
        <p:spPr>
          <a:xfrm>
            <a:off x="4206240" y="28702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自满的</a:t>
            </a:r>
          </a:p>
        </p:txBody>
      </p:sp>
      <p:sp>
        <p:nvSpPr>
          <p:cNvPr id="23" name="TextBox 22"/>
          <p:cNvSpPr txBox="1"/>
          <p:nvPr/>
        </p:nvSpPr>
        <p:spPr>
          <a:xfrm>
            <a:off x="6675120" y="28702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“Don’t get complacent.”</a:t>
            </a:r>
          </a:p>
        </p:txBody>
      </p:sp>
      <p:sp>
        <p:nvSpPr>
          <p:cNvPr id="24" name="Rounded Rectangle 23"/>
          <p:cNvSpPr/>
          <p:nvPr/>
        </p:nvSpPr>
        <p:spPr>
          <a:xfrm>
            <a:off x="548640" y="352806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52806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57378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plateau</a:t>
            </a:r>
          </a:p>
          <a:p>
            <a:pPr algn="l">
              <a:lnSpc>
                <a:spcPct val="115000"/>
              </a:lnSpc>
              <a:spcAft>
                <a:spcPts val="800"/>
              </a:spcAft>
            </a:pPr>
            <a:r>
              <a:rPr sz="1300" b="0">
                <a:solidFill>
                  <a:srgbClr val="5F677A"/>
                </a:solidFill>
                <a:latin typeface="Arial"/>
                <a:ea typeface="Microsoft YaHei"/>
              </a:rPr>
              <a:t>noun/verb</a:t>
            </a:r>
          </a:p>
        </p:txBody>
      </p:sp>
      <p:sp>
        <p:nvSpPr>
          <p:cNvPr id="27" name="TextBox 26"/>
          <p:cNvSpPr txBox="1"/>
          <p:nvPr/>
        </p:nvSpPr>
        <p:spPr>
          <a:xfrm>
            <a:off x="4206240" y="357378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停滞期</a:t>
            </a:r>
          </a:p>
        </p:txBody>
      </p:sp>
      <p:sp>
        <p:nvSpPr>
          <p:cNvPr id="28" name="TextBox 27"/>
          <p:cNvSpPr txBox="1"/>
          <p:nvPr/>
        </p:nvSpPr>
        <p:spPr>
          <a:xfrm>
            <a:off x="6675120" y="357378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“Her career hit a plateau.”</a:t>
            </a:r>
          </a:p>
        </p:txBody>
      </p:sp>
      <p:sp>
        <p:nvSpPr>
          <p:cNvPr id="29" name="Rounded Rectangle 28"/>
          <p:cNvSpPr/>
          <p:nvPr/>
        </p:nvSpPr>
        <p:spPr>
          <a:xfrm>
            <a:off x="548640" y="423164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23164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27736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burn bridges</a:t>
            </a:r>
          </a:p>
          <a:p>
            <a:pPr algn="l">
              <a:lnSpc>
                <a:spcPct val="115000"/>
              </a:lnSpc>
              <a:spcAft>
                <a:spcPts val="800"/>
              </a:spcAft>
            </a:pPr>
            <a:r>
              <a:rPr sz="1300" b="0">
                <a:solidFill>
                  <a:srgbClr val="5F677A"/>
                </a:solidFill>
                <a:latin typeface="Arial"/>
                <a:ea typeface="Microsoft YaHei"/>
              </a:rPr>
              <a:t>idiom</a:t>
            </a:r>
          </a:p>
        </p:txBody>
      </p:sp>
      <p:sp>
        <p:nvSpPr>
          <p:cNvPr id="32" name="TextBox 31"/>
          <p:cNvSpPr txBox="1"/>
          <p:nvPr/>
        </p:nvSpPr>
        <p:spPr>
          <a:xfrm>
            <a:off x="4206240" y="427736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断后路</a:t>
            </a:r>
          </a:p>
        </p:txBody>
      </p:sp>
      <p:sp>
        <p:nvSpPr>
          <p:cNvPr id="33" name="TextBox 32"/>
          <p:cNvSpPr txBox="1"/>
          <p:nvPr/>
        </p:nvSpPr>
        <p:spPr>
          <a:xfrm>
            <a:off x="6675120" y="427736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“Never burn bridges with former bosses.”</a:t>
            </a:r>
          </a:p>
        </p:txBody>
      </p:sp>
    </p:spTree>
  </p:cSld>
  <p:clrMapOvr>
    <a:masterClrMapping/>
  </p:clrMapOvr>
  <p:transition spd="med">
    <p:fade/>
  </p:transition>
</p:sld>
</file>

<file path=ppt/slides/slide11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2: Feedback</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7 · Lesson 36 Fail to have a great career</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116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反馈</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constructive feedback</a:t>
            </a:r>
          </a:p>
          <a:p>
            <a:pPr algn="l">
              <a:lnSpc>
                <a:spcPct val="115000"/>
              </a:lnSpc>
              <a:spcAft>
                <a:spcPts val="800"/>
              </a:spcAft>
            </a:pPr>
            <a:r>
              <a:rPr sz="1300" b="0">
                <a:solidFill>
                  <a:srgbClr val="5F677A"/>
                </a:solidFill>
                <a:latin typeface="Arial"/>
                <a:ea typeface="Microsoft YaHei"/>
              </a:rPr>
              <a:t>noun</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建设性反馈</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 welcome constructive feedback.”</a:t>
            </a:r>
          </a:p>
        </p:txBody>
      </p:sp>
      <p:sp>
        <p:nvSpPr>
          <p:cNvPr id="14" name="Rounded Rectangle 13"/>
          <p:cNvSpPr/>
          <p:nvPr/>
        </p:nvSpPr>
        <p:spPr>
          <a:xfrm>
            <a:off x="548640" y="21209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6304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blind spot</a:t>
            </a:r>
          </a:p>
          <a:p>
            <a:pPr algn="l">
              <a:lnSpc>
                <a:spcPct val="115000"/>
              </a:lnSpc>
              <a:spcAft>
                <a:spcPts val="800"/>
              </a:spcAft>
            </a:pPr>
            <a:r>
              <a:rPr sz="1300" b="0">
                <a:solidFill>
                  <a:srgbClr val="5F677A"/>
                </a:solidFill>
                <a:latin typeface="Arial"/>
                <a:ea typeface="Microsoft YaHei"/>
              </a:rPr>
              <a:t>noun</a:t>
            </a:r>
          </a:p>
        </p:txBody>
      </p:sp>
      <p:sp>
        <p:nvSpPr>
          <p:cNvPr id="17" name="TextBox 16"/>
          <p:cNvSpPr txBox="1"/>
          <p:nvPr/>
        </p:nvSpPr>
        <p:spPr>
          <a:xfrm>
            <a:off x="4206240" y="21666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盲点</a:t>
            </a:r>
          </a:p>
        </p:txBody>
      </p:sp>
      <p:sp>
        <p:nvSpPr>
          <p:cNvPr id="18" name="TextBox 17"/>
          <p:cNvSpPr txBox="1"/>
          <p:nvPr/>
        </p:nvSpPr>
        <p:spPr>
          <a:xfrm>
            <a:off x="6675120" y="21666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“Everyone has blind spots.”</a:t>
            </a:r>
          </a:p>
        </p:txBody>
      </p:sp>
      <p:sp>
        <p:nvSpPr>
          <p:cNvPr id="19" name="Rounded Rectangle 18"/>
          <p:cNvSpPr/>
          <p:nvPr/>
        </p:nvSpPr>
        <p:spPr>
          <a:xfrm>
            <a:off x="548640" y="28244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2824480"/>
            <a:ext cx="91440" cy="6304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287020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take (it) on board</a:t>
            </a:r>
          </a:p>
          <a:p>
            <a:pPr algn="l">
              <a:lnSpc>
                <a:spcPct val="115000"/>
              </a:lnSpc>
              <a:spcAft>
                <a:spcPts val="800"/>
              </a:spcAft>
            </a:pPr>
            <a:r>
              <a:rPr sz="1300" b="0">
                <a:solidFill>
                  <a:srgbClr val="5F677A"/>
                </a:solidFill>
                <a:latin typeface="Arial"/>
                <a:ea typeface="Microsoft YaHei"/>
              </a:rPr>
              <a:t>idiom</a:t>
            </a:r>
          </a:p>
        </p:txBody>
      </p:sp>
      <p:sp>
        <p:nvSpPr>
          <p:cNvPr id="22" name="TextBox 21"/>
          <p:cNvSpPr txBox="1"/>
          <p:nvPr/>
        </p:nvSpPr>
        <p:spPr>
          <a:xfrm>
            <a:off x="4206240" y="28702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虚心接受</a:t>
            </a:r>
          </a:p>
        </p:txBody>
      </p:sp>
      <p:sp>
        <p:nvSpPr>
          <p:cNvPr id="23" name="TextBox 22"/>
          <p:cNvSpPr txBox="1"/>
          <p:nvPr/>
        </p:nvSpPr>
        <p:spPr>
          <a:xfrm>
            <a:off x="6675120" y="28702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“I’ll take your comments on board.”</a:t>
            </a:r>
          </a:p>
        </p:txBody>
      </p:sp>
      <p:sp>
        <p:nvSpPr>
          <p:cNvPr id="24" name="Rounded Rectangle 23"/>
          <p:cNvSpPr/>
          <p:nvPr/>
        </p:nvSpPr>
        <p:spPr>
          <a:xfrm>
            <a:off x="548640" y="352806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528060"/>
            <a:ext cx="91440" cy="9352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573780"/>
            <a:ext cx="3429000" cy="8712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take criticism personally</a:t>
            </a:r>
          </a:p>
          <a:p>
            <a:pPr algn="l">
              <a:lnSpc>
                <a:spcPct val="115000"/>
              </a:lnSpc>
              <a:spcAft>
                <a:spcPts val="800"/>
              </a:spcAft>
            </a:pPr>
            <a:r>
              <a:rPr sz="1300" b="0">
                <a:solidFill>
                  <a:srgbClr val="5F677A"/>
                </a:solidFill>
                <a:latin typeface="Arial"/>
                <a:ea typeface="Microsoft YaHei"/>
              </a:rPr>
              <a:t>collocation</a:t>
            </a:r>
          </a:p>
        </p:txBody>
      </p:sp>
      <p:sp>
        <p:nvSpPr>
          <p:cNvPr id="27" name="TextBox 26"/>
          <p:cNvSpPr txBox="1"/>
          <p:nvPr/>
        </p:nvSpPr>
        <p:spPr>
          <a:xfrm>
            <a:off x="4206240" y="357378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把批评当作人身攻击</a:t>
            </a:r>
          </a:p>
        </p:txBody>
      </p:sp>
      <p:sp>
        <p:nvSpPr>
          <p:cNvPr id="28" name="TextBox 27"/>
          <p:cNvSpPr txBox="1"/>
          <p:nvPr/>
        </p:nvSpPr>
        <p:spPr>
          <a:xfrm>
            <a:off x="6675120" y="357378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“Try not to take criticism personally.”</a:t>
            </a:r>
          </a:p>
        </p:txBody>
      </p:sp>
      <p:sp>
        <p:nvSpPr>
          <p:cNvPr id="29" name="Rounded Rectangle 28"/>
          <p:cNvSpPr/>
          <p:nvPr/>
        </p:nvSpPr>
        <p:spPr>
          <a:xfrm>
            <a:off x="548640" y="453644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53644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58216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ask for a candid view</a:t>
            </a:r>
          </a:p>
          <a:p>
            <a:pPr algn="l">
              <a:lnSpc>
                <a:spcPct val="115000"/>
              </a:lnSpc>
              <a:spcAft>
                <a:spcPts val="800"/>
              </a:spcAft>
            </a:pPr>
            <a:r>
              <a:rPr sz="1300" b="0">
                <a:solidFill>
                  <a:srgbClr val="5F677A"/>
                </a:solidFill>
                <a:latin typeface="Arial"/>
                <a:ea typeface="Microsoft YaHei"/>
              </a:rPr>
              <a:t>collocation</a:t>
            </a:r>
          </a:p>
        </p:txBody>
      </p:sp>
      <p:sp>
        <p:nvSpPr>
          <p:cNvPr id="32" name="TextBox 31"/>
          <p:cNvSpPr txBox="1"/>
          <p:nvPr/>
        </p:nvSpPr>
        <p:spPr>
          <a:xfrm>
            <a:off x="4206240" y="458216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请求坦率意见</a:t>
            </a:r>
          </a:p>
        </p:txBody>
      </p:sp>
      <p:sp>
        <p:nvSpPr>
          <p:cNvPr id="33" name="TextBox 32"/>
          <p:cNvSpPr txBox="1"/>
          <p:nvPr/>
        </p:nvSpPr>
        <p:spPr>
          <a:xfrm>
            <a:off x="6675120" y="458216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“Ask a mentor for a candid view.”</a:t>
            </a:r>
          </a:p>
        </p:txBody>
      </p:sp>
    </p:spTree>
  </p:cSld>
  <p:clrMapOvr>
    <a:masterClrMapping/>
  </p:clrMapOvr>
  <p:transition spd="med">
    <p:fade/>
  </p:transition>
</p:sld>
</file>

<file path=ppt/slides/slide11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3: Doing better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7 · Lesson 36 Fail to have a great career</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117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改进</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visibility</a:t>
            </a:r>
          </a:p>
          <a:p>
            <a:pPr algn="l">
              <a:lnSpc>
                <a:spcPct val="115000"/>
              </a:lnSpc>
              <a:spcAft>
                <a:spcPts val="800"/>
              </a:spcAft>
            </a:pPr>
            <a:r>
              <a:rPr sz="1300" b="0">
                <a:solidFill>
                  <a:srgbClr val="5F677A"/>
                </a:solidFill>
                <a:latin typeface="Arial"/>
                <a:ea typeface="Microsoft YaHei"/>
              </a:rPr>
              <a:t>noun</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能见度</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“You need more visibility.”</a:t>
            </a:r>
          </a:p>
        </p:txBody>
      </p:sp>
      <p:sp>
        <p:nvSpPr>
          <p:cNvPr id="14" name="Rounded Rectangle 13"/>
          <p:cNvSpPr/>
          <p:nvPr/>
        </p:nvSpPr>
        <p:spPr>
          <a:xfrm>
            <a:off x="548640" y="21209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6304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step up</a:t>
            </a:r>
          </a:p>
          <a:p>
            <a:pPr algn="l">
              <a:lnSpc>
                <a:spcPct val="115000"/>
              </a:lnSpc>
              <a:spcAft>
                <a:spcPts val="800"/>
              </a:spcAft>
            </a:pPr>
            <a:r>
              <a:rPr sz="1300" b="0">
                <a:solidFill>
                  <a:srgbClr val="5F677A"/>
                </a:solidFill>
                <a:latin typeface="Arial"/>
                <a:ea typeface="Microsoft YaHei"/>
              </a:rPr>
              <a:t>phrasal verb</a:t>
            </a:r>
          </a:p>
        </p:txBody>
      </p:sp>
      <p:sp>
        <p:nvSpPr>
          <p:cNvPr id="17" name="TextBox 16"/>
          <p:cNvSpPr txBox="1"/>
          <p:nvPr/>
        </p:nvSpPr>
        <p:spPr>
          <a:xfrm>
            <a:off x="4206240" y="21666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挺身而出</a:t>
            </a:r>
          </a:p>
        </p:txBody>
      </p:sp>
      <p:sp>
        <p:nvSpPr>
          <p:cNvPr id="18" name="TextBox 17"/>
          <p:cNvSpPr txBox="1"/>
          <p:nvPr/>
        </p:nvSpPr>
        <p:spPr>
          <a:xfrm>
            <a:off x="6675120" y="21666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“She stepped up when needed.”</a:t>
            </a:r>
          </a:p>
        </p:txBody>
      </p:sp>
      <p:sp>
        <p:nvSpPr>
          <p:cNvPr id="19" name="Rounded Rectangle 18"/>
          <p:cNvSpPr/>
          <p:nvPr/>
        </p:nvSpPr>
        <p:spPr>
          <a:xfrm>
            <a:off x="548640" y="28244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282448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287020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outgrow</a:t>
            </a:r>
          </a:p>
          <a:p>
            <a:pPr algn="l">
              <a:lnSpc>
                <a:spcPct val="115000"/>
              </a:lnSpc>
              <a:spcAft>
                <a:spcPts val="800"/>
              </a:spcAft>
            </a:pPr>
            <a:r>
              <a:rPr sz="1300" b="0">
                <a:solidFill>
                  <a:srgbClr val="5F677A"/>
                </a:solidFill>
                <a:latin typeface="Arial"/>
                <a:ea typeface="Microsoft YaHei"/>
              </a:rPr>
              <a:t>verb</a:t>
            </a:r>
          </a:p>
        </p:txBody>
      </p:sp>
      <p:sp>
        <p:nvSpPr>
          <p:cNvPr id="22" name="TextBox 21"/>
          <p:cNvSpPr txBox="1"/>
          <p:nvPr/>
        </p:nvSpPr>
        <p:spPr>
          <a:xfrm>
            <a:off x="4206240" y="28702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超越(现状)</a:t>
            </a:r>
          </a:p>
        </p:txBody>
      </p:sp>
      <p:sp>
        <p:nvSpPr>
          <p:cNvPr id="23" name="TextBox 22"/>
          <p:cNvSpPr txBox="1"/>
          <p:nvPr/>
        </p:nvSpPr>
        <p:spPr>
          <a:xfrm>
            <a:off x="6675120" y="28702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“You’ve outgrown this role.”</a:t>
            </a:r>
          </a:p>
        </p:txBody>
      </p:sp>
      <p:sp>
        <p:nvSpPr>
          <p:cNvPr id="24" name="Rounded Rectangle 23"/>
          <p:cNvSpPr/>
          <p:nvPr/>
        </p:nvSpPr>
        <p:spPr>
          <a:xfrm>
            <a:off x="548640" y="352806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52806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57378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shift gears</a:t>
            </a:r>
          </a:p>
          <a:p>
            <a:pPr algn="l">
              <a:lnSpc>
                <a:spcPct val="115000"/>
              </a:lnSpc>
              <a:spcAft>
                <a:spcPts val="800"/>
              </a:spcAft>
            </a:pPr>
            <a:r>
              <a:rPr sz="1300" b="0">
                <a:solidFill>
                  <a:srgbClr val="5F677A"/>
                </a:solidFill>
                <a:latin typeface="Arial"/>
                <a:ea typeface="Microsoft YaHei"/>
              </a:rPr>
              <a:t>idiom</a:t>
            </a:r>
          </a:p>
        </p:txBody>
      </p:sp>
      <p:sp>
        <p:nvSpPr>
          <p:cNvPr id="27" name="TextBox 26"/>
          <p:cNvSpPr txBox="1"/>
          <p:nvPr/>
        </p:nvSpPr>
        <p:spPr>
          <a:xfrm>
            <a:off x="4206240" y="357378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转换方式</a:t>
            </a:r>
          </a:p>
        </p:txBody>
      </p:sp>
      <p:sp>
        <p:nvSpPr>
          <p:cNvPr id="28" name="TextBox 27"/>
          <p:cNvSpPr txBox="1"/>
          <p:nvPr/>
        </p:nvSpPr>
        <p:spPr>
          <a:xfrm>
            <a:off x="6675120" y="357378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“It’s time to shift gears.”</a:t>
            </a:r>
          </a:p>
        </p:txBody>
      </p:sp>
      <p:sp>
        <p:nvSpPr>
          <p:cNvPr id="29" name="Rounded Rectangle 28"/>
          <p:cNvSpPr/>
          <p:nvPr/>
        </p:nvSpPr>
        <p:spPr>
          <a:xfrm>
            <a:off x="548640" y="423164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23164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27736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network strategically</a:t>
            </a:r>
          </a:p>
          <a:p>
            <a:pPr algn="l">
              <a:lnSpc>
                <a:spcPct val="115000"/>
              </a:lnSpc>
              <a:spcAft>
                <a:spcPts val="800"/>
              </a:spcAft>
            </a:pPr>
            <a:r>
              <a:rPr sz="1300" b="0">
                <a:solidFill>
                  <a:srgbClr val="5F677A"/>
                </a:solidFill>
                <a:latin typeface="Arial"/>
                <a:ea typeface="Microsoft YaHei"/>
              </a:rPr>
              <a:t>collocation</a:t>
            </a:r>
          </a:p>
        </p:txBody>
      </p:sp>
      <p:sp>
        <p:nvSpPr>
          <p:cNvPr id="32" name="TextBox 31"/>
          <p:cNvSpPr txBox="1"/>
          <p:nvPr/>
        </p:nvSpPr>
        <p:spPr>
          <a:xfrm>
            <a:off x="4206240" y="427736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有策略地拓展人脉</a:t>
            </a:r>
          </a:p>
        </p:txBody>
      </p:sp>
      <p:sp>
        <p:nvSpPr>
          <p:cNvPr id="33" name="TextBox 32"/>
          <p:cNvSpPr txBox="1"/>
          <p:nvPr/>
        </p:nvSpPr>
        <p:spPr>
          <a:xfrm>
            <a:off x="6675120" y="427736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“He networks strategically.”</a:t>
            </a:r>
          </a:p>
        </p:txBody>
      </p:sp>
    </p:spTree>
  </p:cSld>
  <p:clrMapOvr>
    <a:masterClrMapping/>
  </p:clrMapOvr>
  <p:transition spd="med">
    <p:fade/>
  </p:transition>
</p:sld>
</file>

<file path=ppt/slides/slide11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Speed Round: Say it in English!</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Game</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7 · Lesson 36 Fail to have a great career</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118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Read the Chinese, shout the English expression! Click to reveal.  看中文，抢答英文表达</a:t>
            </a:r>
          </a:p>
        </p:txBody>
      </p:sp>
      <p:sp>
        <p:nvSpPr>
          <p:cNvPr id="9" name="Rounded Rectangle 8"/>
          <p:cNvSpPr/>
          <p:nvPr/>
        </p:nvSpPr>
        <p:spPr>
          <a:xfrm>
            <a:off x="548640" y="155448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把批评当作人身攻击</a:t>
            </a:r>
          </a:p>
        </p:txBody>
      </p:sp>
      <p:sp>
        <p:nvSpPr>
          <p:cNvPr id="11" name="Rounded Rectangle 10"/>
          <p:cNvSpPr/>
          <p:nvPr/>
        </p:nvSpPr>
        <p:spPr>
          <a:xfrm>
            <a:off x="685800" y="265176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take criticism personally</a:t>
            </a:r>
          </a:p>
        </p:txBody>
      </p:sp>
      <p:sp>
        <p:nvSpPr>
          <p:cNvPr id="12" name="Rounded Rectangle 11"/>
          <p:cNvSpPr/>
          <p:nvPr/>
        </p:nvSpPr>
        <p:spPr>
          <a:xfrm>
            <a:off x="3367963" y="155448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459403"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超越(现状)</a:t>
            </a:r>
          </a:p>
        </p:txBody>
      </p:sp>
      <p:sp>
        <p:nvSpPr>
          <p:cNvPr id="14" name="Rounded Rectangle 13"/>
          <p:cNvSpPr/>
          <p:nvPr/>
        </p:nvSpPr>
        <p:spPr>
          <a:xfrm>
            <a:off x="3505123" y="265176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outgrow</a:t>
            </a:r>
          </a:p>
        </p:txBody>
      </p:sp>
      <p:sp>
        <p:nvSpPr>
          <p:cNvPr id="15" name="Rounded Rectangle 14"/>
          <p:cNvSpPr/>
          <p:nvPr/>
        </p:nvSpPr>
        <p:spPr>
          <a:xfrm>
            <a:off x="6187286" y="155448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78726"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建设性反馈</a:t>
            </a:r>
          </a:p>
        </p:txBody>
      </p:sp>
      <p:sp>
        <p:nvSpPr>
          <p:cNvPr id="17" name="Rounded Rectangle 16"/>
          <p:cNvSpPr/>
          <p:nvPr/>
        </p:nvSpPr>
        <p:spPr>
          <a:xfrm>
            <a:off x="6324446" y="265176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constructive feedback</a:t>
            </a:r>
          </a:p>
        </p:txBody>
      </p:sp>
      <p:sp>
        <p:nvSpPr>
          <p:cNvPr id="18" name="Rounded Rectangle 17"/>
          <p:cNvSpPr/>
          <p:nvPr/>
        </p:nvSpPr>
        <p:spPr>
          <a:xfrm>
            <a:off x="9006609" y="1554480"/>
            <a:ext cx="2636443" cy="2148840"/>
          </a:xfrm>
          <a:prstGeom prst="roundRect">
            <a:avLst>
              <a:gd name="adj" fmla="val 10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098049"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停滞</a:t>
            </a:r>
          </a:p>
        </p:txBody>
      </p:sp>
      <p:sp>
        <p:nvSpPr>
          <p:cNvPr id="20" name="Rounded Rectangle 19"/>
          <p:cNvSpPr/>
          <p:nvPr/>
        </p:nvSpPr>
        <p:spPr>
          <a:xfrm>
            <a:off x="9143769" y="2651760"/>
            <a:ext cx="2362123" cy="9144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stall</a:t>
            </a:r>
          </a:p>
        </p:txBody>
      </p:sp>
      <p:sp>
        <p:nvSpPr>
          <p:cNvPr id="21" name="Rounded Rectangle 20"/>
          <p:cNvSpPr/>
          <p:nvPr/>
        </p:nvSpPr>
        <p:spPr>
          <a:xfrm>
            <a:off x="548640" y="3886200"/>
            <a:ext cx="2636443" cy="2148840"/>
          </a:xfrm>
          <a:prstGeom prst="roundRect">
            <a:avLst>
              <a:gd name="adj" fmla="val 10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挺身而出</a:t>
            </a:r>
          </a:p>
        </p:txBody>
      </p:sp>
      <p:sp>
        <p:nvSpPr>
          <p:cNvPr id="23" name="Rounded Rectangle 22"/>
          <p:cNvSpPr/>
          <p:nvPr/>
        </p:nvSpPr>
        <p:spPr>
          <a:xfrm>
            <a:off x="685800" y="4983480"/>
            <a:ext cx="2362123" cy="9144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step up</a:t>
            </a:r>
          </a:p>
        </p:txBody>
      </p:sp>
      <p:sp>
        <p:nvSpPr>
          <p:cNvPr id="24" name="Rounded Rectangle 23"/>
          <p:cNvSpPr/>
          <p:nvPr/>
        </p:nvSpPr>
        <p:spPr>
          <a:xfrm>
            <a:off x="3367963" y="388620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459403"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自满的</a:t>
            </a:r>
          </a:p>
        </p:txBody>
      </p:sp>
      <p:sp>
        <p:nvSpPr>
          <p:cNvPr id="26" name="Rounded Rectangle 25"/>
          <p:cNvSpPr/>
          <p:nvPr/>
        </p:nvSpPr>
        <p:spPr>
          <a:xfrm>
            <a:off x="3505123" y="498348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complacent</a:t>
            </a:r>
          </a:p>
        </p:txBody>
      </p:sp>
      <p:sp>
        <p:nvSpPr>
          <p:cNvPr id="27" name="Rounded Rectangle 26"/>
          <p:cNvSpPr/>
          <p:nvPr/>
        </p:nvSpPr>
        <p:spPr>
          <a:xfrm>
            <a:off x="6187286" y="388620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78726"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请求坦率意见</a:t>
            </a:r>
          </a:p>
        </p:txBody>
      </p:sp>
      <p:sp>
        <p:nvSpPr>
          <p:cNvPr id="29" name="Rounded Rectangle 28"/>
          <p:cNvSpPr/>
          <p:nvPr/>
        </p:nvSpPr>
        <p:spPr>
          <a:xfrm>
            <a:off x="6324446" y="498348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ask for a candid view</a:t>
            </a:r>
          </a:p>
        </p:txBody>
      </p:sp>
      <p:sp>
        <p:nvSpPr>
          <p:cNvPr id="30" name="Rounded Rectangle 29"/>
          <p:cNvSpPr/>
          <p:nvPr/>
        </p:nvSpPr>
        <p:spPr>
          <a:xfrm>
            <a:off x="9006609" y="388620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098049"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虚心接受</a:t>
            </a:r>
          </a:p>
        </p:txBody>
      </p:sp>
      <p:sp>
        <p:nvSpPr>
          <p:cNvPr id="32" name="Rounded Rectangle 31"/>
          <p:cNvSpPr/>
          <p:nvPr/>
        </p:nvSpPr>
        <p:spPr>
          <a:xfrm>
            <a:off x="9143769" y="498348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take (it) on board</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1"/>
                                        </p:tgtEl>
                                        <p:attrNameLst>
                                          <p:attrName>style.visibility</p:attrName>
                                        </p:attrNameLst>
                                      </p:cBhvr>
                                      <p:to>
                                        <p:strVal val="visible"/>
                                      </p:to>
                                    </p:set>
                                    <p:animEffect transition="in" filter="fade">
                                      <p:cBhvr>
                                        <p:cTn id="4" dur="400"/>
                                        <p:tgtEl>
                                          <p:spTgt spid="1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4"/>
                                        </p:tgtEl>
                                        <p:attrNameLst>
                                          <p:attrName>style.visibility</p:attrName>
                                        </p:attrNameLst>
                                      </p:cBhvr>
                                      <p:to>
                                        <p:strVal val="visible"/>
                                      </p:to>
                                    </p:set>
                                    <p:animEffect transition="in" filter="fade">
                                      <p:cBhvr>
                                        <p:cTn id="9" dur="400"/>
                                        <p:tgtEl>
                                          <p:spTgt spid="14"/>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7"/>
                                        </p:tgtEl>
                                        <p:attrNameLst>
                                          <p:attrName>style.visibility</p:attrName>
                                        </p:attrNameLst>
                                      </p:cBhvr>
                                      <p:to>
                                        <p:strVal val="visible"/>
                                      </p:to>
                                    </p:set>
                                    <p:animEffect transition="in" filter="fade">
                                      <p:cBhvr>
                                        <p:cTn id="14" dur="400"/>
                                        <p:tgtEl>
                                          <p:spTgt spid="17"/>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0"/>
                                        </p:tgtEl>
                                        <p:attrNameLst>
                                          <p:attrName>style.visibility</p:attrName>
                                        </p:attrNameLst>
                                      </p:cBhvr>
                                      <p:to>
                                        <p:strVal val="visible"/>
                                      </p:to>
                                    </p:set>
                                    <p:animEffect transition="in" filter="fade">
                                      <p:cBhvr>
                                        <p:cTn id="19" dur="400"/>
                                        <p:tgtEl>
                                          <p:spTgt spid="20"/>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3"/>
                                        </p:tgtEl>
                                        <p:attrNameLst>
                                          <p:attrName>style.visibility</p:attrName>
                                        </p:attrNameLst>
                                      </p:cBhvr>
                                      <p:to>
                                        <p:strVal val="visible"/>
                                      </p:to>
                                    </p:set>
                                    <p:animEffect transition="in" filter="fade">
                                      <p:cBhvr>
                                        <p:cTn id="24" dur="400"/>
                                        <p:tgtEl>
                                          <p:spTgt spid="23"/>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26"/>
                                        </p:tgtEl>
                                        <p:attrNameLst>
                                          <p:attrName>style.visibility</p:attrName>
                                        </p:attrNameLst>
                                      </p:cBhvr>
                                      <p:to>
                                        <p:strVal val="visible"/>
                                      </p:to>
                                    </p:set>
                                    <p:animEffect transition="in" filter="fade">
                                      <p:cBhvr>
                                        <p:cTn id="29" dur="400"/>
                                        <p:tgtEl>
                                          <p:spTgt spid="26"/>
                                        </p:tgtEl>
                                      </p:cBhvr>
                                    </p:animEffect>
                                  </p:childTnLst>
                                </p:cTn>
                              </p:par>
                            </p:childTnLst>
                          </p:cTn>
                        </p:par>
                      </p:childTnLst>
                    </p:cTn>
                  </p:par>
                  <p:par>
                    <p:cTn id="36" fill="hold">
                      <p:stCondLst>
                        <p:cond delay="indefinite"/>
                      </p:stCondLst>
                      <p:childTnLst>
                        <p:par>
                          <p:cTn id="37" fill="hold">
                            <p:stCondLst>
                              <p:cond delay="0"/>
                            </p:stCondLst>
                            <p:childTnLst>
                              <p:par>
                                <p:cTn id="35" presetID="10" presetClass="entr" presetSubtype="0" fill="hold" nodeType="clickEffect">
                                  <p:stCondLst>
                                    <p:cond delay="0"/>
                                  </p:stCondLst>
                                  <p:childTnLst>
                                    <p:set>
                                      <p:cBhvr>
                                        <p:cTn id="33" dur="1" fill="hold">
                                          <p:stCondLst>
                                            <p:cond delay="0"/>
                                          </p:stCondLst>
                                        </p:cTn>
                                        <p:tgtEl>
                                          <p:spTgt spid="29"/>
                                        </p:tgtEl>
                                        <p:attrNameLst>
                                          <p:attrName>style.visibility</p:attrName>
                                        </p:attrNameLst>
                                      </p:cBhvr>
                                      <p:to>
                                        <p:strVal val="visible"/>
                                      </p:to>
                                    </p:set>
                                    <p:animEffect transition="in" filter="fade">
                                      <p:cBhvr>
                                        <p:cTn id="34" dur="400"/>
                                        <p:tgtEl>
                                          <p:spTgt spid="29"/>
                                        </p:tgtEl>
                                      </p:cBhvr>
                                    </p:animEffect>
                                  </p:childTnLst>
                                </p:cTn>
                              </p:par>
                            </p:childTnLst>
                          </p:cTn>
                        </p:par>
                      </p:childTnLst>
                    </p:cTn>
                  </p:par>
                  <p:par>
                    <p:cTn id="41" fill="hold">
                      <p:stCondLst>
                        <p:cond delay="indefinite"/>
                      </p:stCondLst>
                      <p:childTnLst>
                        <p:par>
                          <p:cTn id="42" fill="hold">
                            <p:stCondLst>
                              <p:cond delay="0"/>
                            </p:stCondLst>
                            <p:childTnLst>
                              <p:par>
                                <p:cTn id="40" presetID="10" presetClass="entr" presetSubtype="0" fill="hold" nodeType="clickEffect">
                                  <p:stCondLst>
                                    <p:cond delay="0"/>
                                  </p:stCondLst>
                                  <p:childTnLst>
                                    <p:set>
                                      <p:cBhvr>
                                        <p:cTn id="38" dur="1" fill="hold">
                                          <p:stCondLst>
                                            <p:cond delay="0"/>
                                          </p:stCondLst>
                                        </p:cTn>
                                        <p:tgtEl>
                                          <p:spTgt spid="32"/>
                                        </p:tgtEl>
                                        <p:attrNameLst>
                                          <p:attrName>style.visibility</p:attrName>
                                        </p:attrNameLst>
                                      </p:cBhvr>
                                      <p:to>
                                        <p:strVal val="visible"/>
                                      </p:to>
                                    </p:set>
                                    <p:animEffect transition="in" filter="fade">
                                      <p:cBhvr>
                                        <p:cTn id="39"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Mini Quiz: Fill in the Blanks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7 · Lesson 36 Fail to have a great career</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119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463040" cy="457200"/>
          </a:xfrm>
          <a:prstGeom prst="rect">
            <a:avLst/>
          </a:prstGeom>
          <a:noFill/>
        </p:spPr>
        <p:txBody>
          <a:bodyPr wrap="square" anchor="ctr">
            <a:spAutoFit/>
          </a:bodyPr>
          <a:lstStyle/>
          <a:p>
            <a:pPr algn="l">
              <a:lnSpc>
                <a:spcPct val="115000"/>
              </a:lnSpc>
              <a:spcAft>
                <a:spcPts val="800"/>
              </a:spcAft>
            </a:pPr>
            <a:r>
              <a:rPr sz="1400" b="0">
                <a:solidFill>
                  <a:srgbClr val="5F677A"/>
                </a:solidFill>
                <a:latin typeface="Arial"/>
                <a:ea typeface="Microsoft YaHei"/>
              </a:rPr>
              <a:t>Word bank</a:t>
            </a:r>
          </a:p>
        </p:txBody>
      </p:sp>
      <p:sp>
        <p:nvSpPr>
          <p:cNvPr id="9" name="Rounded Rectangle 8"/>
          <p:cNvSpPr/>
          <p:nvPr/>
        </p:nvSpPr>
        <p:spPr>
          <a:xfrm>
            <a:off x="2011680" y="987552"/>
            <a:ext cx="804672" cy="41148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back</a:t>
            </a:r>
          </a:p>
        </p:txBody>
      </p:sp>
      <p:sp>
        <p:nvSpPr>
          <p:cNvPr id="10" name="Rounded Rectangle 9"/>
          <p:cNvSpPr/>
          <p:nvPr/>
        </p:nvSpPr>
        <p:spPr>
          <a:xfrm>
            <a:off x="2907792" y="987552"/>
            <a:ext cx="1133856" cy="41148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stalled</a:t>
            </a:r>
          </a:p>
        </p:txBody>
      </p:sp>
      <p:sp>
        <p:nvSpPr>
          <p:cNvPr id="11" name="Rounded Rectangle 10"/>
          <p:cNvSpPr/>
          <p:nvPr/>
        </p:nvSpPr>
        <p:spPr>
          <a:xfrm>
            <a:off x="4133088" y="987552"/>
            <a:ext cx="1463040" cy="41148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complacent</a:t>
            </a:r>
          </a:p>
        </p:txBody>
      </p:sp>
      <p:sp>
        <p:nvSpPr>
          <p:cNvPr id="12" name="Rounded Rectangle 11"/>
          <p:cNvSpPr/>
          <p:nvPr/>
        </p:nvSpPr>
        <p:spPr>
          <a:xfrm>
            <a:off x="5687568" y="987552"/>
            <a:ext cx="914400" cy="411480"/>
          </a:xfrm>
          <a:prstGeom prst="roundRect">
            <a:avLst>
              <a:gd name="adj" fmla="val 5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blind</a:t>
            </a:r>
          </a:p>
        </p:txBody>
      </p:sp>
      <p:sp>
        <p:nvSpPr>
          <p:cNvPr id="13" name="Rounded Rectangle 12"/>
          <p:cNvSpPr/>
          <p:nvPr/>
        </p:nvSpPr>
        <p:spPr>
          <a:xfrm>
            <a:off x="6693408" y="987552"/>
            <a:ext cx="914400" cy="411480"/>
          </a:xfrm>
          <a:prstGeom prst="roundRect">
            <a:avLst>
              <a:gd name="adj" fmla="val 5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board</a:t>
            </a:r>
          </a:p>
        </p:txBody>
      </p:sp>
      <p:sp>
        <p:nvSpPr>
          <p:cNvPr id="14" name="Rounded Rectangle 13"/>
          <p:cNvSpPr/>
          <p:nvPr/>
        </p:nvSpPr>
        <p:spPr>
          <a:xfrm>
            <a:off x="7699248" y="987552"/>
            <a:ext cx="1463040" cy="41148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visibility</a:t>
            </a:r>
          </a:p>
        </p:txBody>
      </p:sp>
      <p:sp>
        <p:nvSpPr>
          <p:cNvPr id="15" name="Rounded Rectangle 14"/>
          <p:cNvSpPr/>
          <p:nvPr/>
        </p:nvSpPr>
        <p:spPr>
          <a:xfrm>
            <a:off x="548640" y="16002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 y="160020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1.  Fear can hold you _______.</a:t>
            </a:r>
          </a:p>
        </p:txBody>
      </p:sp>
      <p:sp>
        <p:nvSpPr>
          <p:cNvPr id="17" name="Rounded Rectangle 16"/>
          <p:cNvSpPr/>
          <p:nvPr/>
        </p:nvSpPr>
        <p:spPr>
          <a:xfrm>
            <a:off x="9082735" y="16550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back</a:t>
            </a:r>
          </a:p>
        </p:txBody>
      </p:sp>
      <p:sp>
        <p:nvSpPr>
          <p:cNvPr id="18" name="Rounded Rectangle 17"/>
          <p:cNvSpPr/>
          <p:nvPr/>
        </p:nvSpPr>
        <p:spPr>
          <a:xfrm>
            <a:off x="548640" y="227838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5800" y="227838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2.  My career has _______ for two years.</a:t>
            </a:r>
          </a:p>
        </p:txBody>
      </p:sp>
      <p:sp>
        <p:nvSpPr>
          <p:cNvPr id="20" name="Rounded Rectangle 19"/>
          <p:cNvSpPr/>
          <p:nvPr/>
        </p:nvSpPr>
        <p:spPr>
          <a:xfrm>
            <a:off x="9082735" y="233324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stalled</a:t>
            </a:r>
          </a:p>
        </p:txBody>
      </p:sp>
      <p:sp>
        <p:nvSpPr>
          <p:cNvPr id="21" name="Rounded Rectangle 20"/>
          <p:cNvSpPr/>
          <p:nvPr/>
        </p:nvSpPr>
        <p:spPr>
          <a:xfrm>
            <a:off x="548640" y="295656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295656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3.  Don’t get _______ after one success.</a:t>
            </a:r>
          </a:p>
        </p:txBody>
      </p:sp>
      <p:sp>
        <p:nvSpPr>
          <p:cNvPr id="23" name="Rounded Rectangle 22"/>
          <p:cNvSpPr/>
          <p:nvPr/>
        </p:nvSpPr>
        <p:spPr>
          <a:xfrm>
            <a:off x="9082735" y="301142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complacent</a:t>
            </a:r>
          </a:p>
        </p:txBody>
      </p:sp>
      <p:sp>
        <p:nvSpPr>
          <p:cNvPr id="24" name="Rounded Rectangle 23"/>
          <p:cNvSpPr/>
          <p:nvPr/>
        </p:nvSpPr>
        <p:spPr>
          <a:xfrm>
            <a:off x="548640" y="363474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85800" y="363474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4.  Everyone has a _______ spot.</a:t>
            </a:r>
          </a:p>
        </p:txBody>
      </p:sp>
      <p:sp>
        <p:nvSpPr>
          <p:cNvPr id="26" name="Rounded Rectangle 25"/>
          <p:cNvSpPr/>
          <p:nvPr/>
        </p:nvSpPr>
        <p:spPr>
          <a:xfrm>
            <a:off x="9082735" y="368960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blind</a:t>
            </a:r>
          </a:p>
        </p:txBody>
      </p:sp>
      <p:sp>
        <p:nvSpPr>
          <p:cNvPr id="27" name="Rounded Rectangle 26"/>
          <p:cNvSpPr/>
          <p:nvPr/>
        </p:nvSpPr>
        <p:spPr>
          <a:xfrm>
            <a:off x="548640" y="431292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85800" y="431292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5.  Thanks, I’ll take your comments on _______.</a:t>
            </a:r>
          </a:p>
        </p:txBody>
      </p:sp>
      <p:sp>
        <p:nvSpPr>
          <p:cNvPr id="29" name="Rounded Rectangle 28"/>
          <p:cNvSpPr/>
          <p:nvPr/>
        </p:nvSpPr>
        <p:spPr>
          <a:xfrm>
            <a:off x="9082735" y="436778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board</a:t>
            </a:r>
          </a:p>
        </p:txBody>
      </p:sp>
      <p:sp>
        <p:nvSpPr>
          <p:cNvPr id="30" name="Rounded Rectangle 29"/>
          <p:cNvSpPr/>
          <p:nvPr/>
        </p:nvSpPr>
        <p:spPr>
          <a:xfrm>
            <a:off x="548640" y="49911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85800" y="499110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6.  You need more _______ in the company.</a:t>
            </a:r>
          </a:p>
        </p:txBody>
      </p:sp>
      <p:sp>
        <p:nvSpPr>
          <p:cNvPr id="32" name="Rounded Rectangle 31"/>
          <p:cNvSpPr/>
          <p:nvPr/>
        </p:nvSpPr>
        <p:spPr>
          <a:xfrm>
            <a:off x="9082735" y="50459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visibility</a:t>
            </a:r>
          </a:p>
        </p:txBody>
      </p:sp>
      <p:sp>
        <p:nvSpPr>
          <p:cNvPr id="33" name="Rounded Rectangle 32"/>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(搭配) take feedback on board, give / receive feedback (feedback 不可数), hit a plateau。</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7"/>
                                        </p:tgtEl>
                                        <p:attrNameLst>
                                          <p:attrName>style.visibility</p:attrName>
                                        </p:attrNameLst>
                                      </p:cBhvr>
                                      <p:to>
                                        <p:strVal val="visible"/>
                                      </p:to>
                                    </p:set>
                                    <p:animEffect transition="in" filter="fade">
                                      <p:cBhvr>
                                        <p:cTn id="4" dur="400"/>
                                        <p:tgtEl>
                                          <p:spTgt spid="17"/>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0"/>
                                        </p:tgtEl>
                                        <p:attrNameLst>
                                          <p:attrName>style.visibility</p:attrName>
                                        </p:attrNameLst>
                                      </p:cBhvr>
                                      <p:to>
                                        <p:strVal val="visible"/>
                                      </p:to>
                                    </p:set>
                                    <p:animEffect transition="in" filter="fade">
                                      <p:cBhvr>
                                        <p:cTn id="9" dur="400"/>
                                        <p:tgtEl>
                                          <p:spTgt spid="20"/>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6"/>
                                        </p:tgtEl>
                                        <p:attrNameLst>
                                          <p:attrName>style.visibility</p:attrName>
                                        </p:attrNameLst>
                                      </p:cBhvr>
                                      <p:to>
                                        <p:strVal val="visible"/>
                                      </p:to>
                                    </p:set>
                                    <p:animEffect transition="in" filter="fade">
                                      <p:cBhvr>
                                        <p:cTn id="19" dur="400"/>
                                        <p:tgtEl>
                                          <p:spTgt spid="26"/>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9"/>
                                        </p:tgtEl>
                                        <p:attrNameLst>
                                          <p:attrName>style.visibility</p:attrName>
                                        </p:attrNameLst>
                                      </p:cBhvr>
                                      <p:to>
                                        <p:strVal val="visible"/>
                                      </p:to>
                                    </p:set>
                                    <p:animEffect transition="in" filter="fade">
                                      <p:cBhvr>
                                        <p:cTn id="24" dur="400"/>
                                        <p:tgtEl>
                                          <p:spTgt spid="29"/>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32"/>
                                        </p:tgtEl>
                                        <p:attrNameLst>
                                          <p:attrName>style.visibility</p:attrName>
                                        </p:attrNameLst>
                                      </p:cBhvr>
                                      <p:to>
                                        <p:strVal val="visible"/>
                                      </p:to>
                                    </p:set>
                                    <p:animEffect transition="in" filter="fade">
                                      <p:cBhvr>
                                        <p:cTn id="29"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000" b="1">
                <a:solidFill>
                  <a:srgbClr val="1F2A44"/>
                </a:solidFill>
                <a:latin typeface="Arial"/>
                <a:ea typeface="Microsoft YaHei"/>
              </a:rPr>
              <a:t>🎭 Role Play · A mentoring conversation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7 · Lesson 36 Fail to have a great career</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120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导师谈话</a:t>
            </a:r>
          </a:p>
        </p:txBody>
      </p:sp>
      <p:sp>
        <p:nvSpPr>
          <p:cNvPr id="9" name="Rounded Rectangle 8"/>
          <p:cNvSpPr/>
          <p:nvPr/>
        </p:nvSpPr>
        <p:spPr>
          <a:xfrm>
            <a:off x="548640" y="1463040"/>
            <a:ext cx="11094415" cy="1463040"/>
          </a:xfrm>
          <a:prstGeom prst="roundRect">
            <a:avLst>
              <a:gd name="adj" fmla="val 12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5F677A"/>
                </a:solidFill>
                <a:latin typeface="Arial"/>
                <a:ea typeface="Microsoft YaHei"/>
              </a:rPr>
              <a:t>📍 Situation 情景</a:t>
            </a:r>
          </a:p>
          <a:p>
            <a:pPr algn="l">
              <a:spcAft>
                <a:spcPts val="200"/>
              </a:spcAft>
            </a:pPr>
            <a:r>
              <a:rPr sz="2400" b="1">
                <a:solidFill>
                  <a:srgbClr val="1F2A44"/>
                </a:solidFill>
                <a:latin typeface="Arial"/>
                <a:ea typeface="Microsoft YaHei"/>
              </a:rPr>
              <a:t>A mentor gives honest advice about stalled progress.</a:t>
            </a:r>
          </a:p>
        </p:txBody>
      </p:sp>
      <p:sp>
        <p:nvSpPr>
          <p:cNvPr id="10" name="Rounded Rectangle 9"/>
          <p:cNvSpPr/>
          <p:nvPr/>
        </p:nvSpPr>
        <p:spPr>
          <a:xfrm>
            <a:off x="548640"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77240" y="3429000"/>
            <a:ext cx="1097280" cy="109728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2" name="TextBox 11"/>
          <p:cNvSpPr txBox="1"/>
          <p:nvPr/>
        </p:nvSpPr>
        <p:spPr>
          <a:xfrm>
            <a:off x="2011680"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FF6B5B"/>
                </a:solidFill>
                <a:latin typeface="Arial"/>
                <a:ea typeface="Microsoft YaHei"/>
              </a:rPr>
              <a:t>Role A</a:t>
            </a:r>
          </a:p>
          <a:p>
            <a:pPr algn="l">
              <a:lnSpc>
                <a:spcPct val="115000"/>
              </a:lnSpc>
              <a:spcAft>
                <a:spcPts val="800"/>
              </a:spcAft>
            </a:pPr>
            <a:r>
              <a:rPr sz="2000" b="1">
                <a:solidFill>
                  <a:srgbClr val="1F2A44"/>
                </a:solidFill>
                <a:latin typeface="Arial"/>
                <a:ea typeface="Microsoft YaHei"/>
              </a:rPr>
              <a:t>Mentor</a:t>
            </a:r>
          </a:p>
        </p:txBody>
      </p:sp>
      <p:sp>
        <p:nvSpPr>
          <p:cNvPr id="13" name="Rounded Rectangle 12"/>
          <p:cNvSpPr/>
          <p:nvPr/>
        </p:nvSpPr>
        <p:spPr>
          <a:xfrm>
            <a:off x="6233007"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1607" y="3429000"/>
            <a:ext cx="1097280" cy="109728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5" name="TextBox 14"/>
          <p:cNvSpPr txBox="1"/>
          <p:nvPr/>
        </p:nvSpPr>
        <p:spPr>
          <a:xfrm>
            <a:off x="7696047"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4A90E2"/>
                </a:solidFill>
                <a:latin typeface="Arial"/>
                <a:ea typeface="Microsoft YaHei"/>
              </a:rPr>
              <a:t>Role B</a:t>
            </a:r>
          </a:p>
          <a:p>
            <a:pPr algn="l">
              <a:lnSpc>
                <a:spcPct val="115000"/>
              </a:lnSpc>
              <a:spcAft>
                <a:spcPts val="800"/>
              </a:spcAft>
            </a:pPr>
            <a:r>
              <a:rPr sz="2000" b="1">
                <a:solidFill>
                  <a:srgbClr val="1F2A44"/>
                </a:solidFill>
                <a:latin typeface="Arial"/>
                <a:ea typeface="Microsoft YaHei"/>
              </a:rPr>
              <a:t>Mentee</a:t>
            </a:r>
          </a:p>
        </p:txBody>
      </p:sp>
    </p:spTree>
  </p:cSld>
  <p:clrMapOvr>
    <a:masterClrMapping/>
  </p:clrMapOvr>
  <p:transition spd="med">
    <p:fade/>
  </p:transition>
</p:sld>
</file>

<file path=ppt/slides/slide12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700" b="1">
                <a:solidFill>
                  <a:srgbClr val="1F2A44"/>
                </a:solidFill>
                <a:latin typeface="Arial"/>
                <a:ea typeface="Microsoft YaHei"/>
              </a:rPr>
              <a:t>🎭 Model Dialogue · A mentoring conversation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1/2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7 · Lesson 36 Fail to have a great career</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121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1463040" y="1325880"/>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Can I give you some honest feedback?</a:t>
            </a:r>
          </a:p>
        </p:txBody>
      </p:sp>
      <p:sp>
        <p:nvSpPr>
          <p:cNvPr id="11" name="Rounded Rectangle 10"/>
          <p:cNvSpPr/>
          <p:nvPr/>
        </p:nvSpPr>
        <p:spPr>
          <a:xfrm>
            <a:off x="10911535" y="190804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34696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2133295" y="190804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Of course. I’d welcome it.</a:t>
            </a:r>
          </a:p>
        </p:txBody>
      </p:sp>
      <p:sp>
        <p:nvSpPr>
          <p:cNvPr id="14" name="Rounded Rectangle 13"/>
          <p:cNvSpPr/>
          <p:nvPr/>
        </p:nvSpPr>
        <p:spPr>
          <a:xfrm>
            <a:off x="548640" y="249021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292912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490216"/>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Your work is excellent, but your manager doesn’t see it. Visibility is the problem.</a:t>
            </a:r>
          </a:p>
        </p:txBody>
      </p:sp>
      <p:sp>
        <p:nvSpPr>
          <p:cNvPr id="17" name="Rounded Rectangle 16"/>
          <p:cNvSpPr/>
          <p:nvPr/>
        </p:nvSpPr>
        <p:spPr>
          <a:xfrm>
            <a:off x="10911535" y="336194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380085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36194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 assumed good work speaks for itself.</a:t>
            </a:r>
          </a:p>
        </p:txBody>
      </p:sp>
    </p:spTree>
  </p:cSld>
  <p:clrMapOvr>
    <a:masterClrMapping/>
  </p:clrMapOvr>
  <p:transition spd="med">
    <p:fade/>
  </p:transition>
</p:sld>
</file>

<file path=ppt/slides/slide12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300" b="1">
                <a:solidFill>
                  <a:srgbClr val="1F2A44"/>
                </a:solidFill>
                <a:latin typeface="Arial"/>
                <a:ea typeface="Microsoft YaHei"/>
              </a:rPr>
              <a:t>🎭 Model Dialogue · A mentoring conversation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2/2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7 · Lesson 36 Fail to have a great career</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122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1463040" y="1325880"/>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It’s a common myth. Try sharing results at team meetings and asking for bigger projects.</a:t>
            </a:r>
          </a:p>
        </p:txBody>
      </p:sp>
      <p:sp>
        <p:nvSpPr>
          <p:cNvPr id="11" name="Rounded Rectangle 10"/>
          <p:cNvSpPr/>
          <p:nvPr/>
        </p:nvSpPr>
        <p:spPr>
          <a:xfrm>
            <a:off x="10911535" y="219760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63652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2133295" y="219760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I’m a bit shy about it.</a:t>
            </a:r>
          </a:p>
        </p:txBody>
      </p:sp>
      <p:sp>
        <p:nvSpPr>
          <p:cNvPr id="14" name="Rounded Rectangle 13"/>
          <p:cNvSpPr/>
          <p:nvPr/>
        </p:nvSpPr>
        <p:spPr>
          <a:xfrm>
            <a:off x="548640" y="277977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321868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779776"/>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It’s tempting to wait, but a better approach is to start small, with one update a month.</a:t>
            </a:r>
          </a:p>
        </p:txBody>
      </p:sp>
      <p:sp>
        <p:nvSpPr>
          <p:cNvPr id="17" name="Rounded Rectangle 16"/>
          <p:cNvSpPr/>
          <p:nvPr/>
        </p:nvSpPr>
        <p:spPr>
          <a:xfrm>
            <a:off x="10911535" y="365150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409041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65150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I’ll take that on board.</a:t>
            </a:r>
          </a:p>
        </p:txBody>
      </p:sp>
    </p:spTree>
  </p:cSld>
  <p:clrMapOvr>
    <a:masterClrMapping/>
  </p:clrMapOvr>
  <p:transition spd="med">
    <p:fade/>
  </p:transition>
</p:sld>
</file>

<file path=ppt/slides/slide12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000" b="1">
                <a:solidFill>
                  <a:srgbClr val="1F2A44"/>
                </a:solidFill>
                <a:latin typeface="Arial"/>
                <a:ea typeface="Microsoft YaHei"/>
              </a:rPr>
              <a:t>🎯 Your Turn · A mentoring conversation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7 · Lesson 36 Fail to have a great career</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123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Situation</a:t>
            </a:r>
          </a:p>
        </p:txBody>
      </p:sp>
      <p:sp>
        <p:nvSpPr>
          <p:cNvPr id="9" name="Rounded Rectangle 8"/>
          <p:cNvSpPr/>
          <p:nvPr/>
        </p:nvSpPr>
        <p:spPr>
          <a:xfrm>
            <a:off x="3017520" y="132588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You give honest career feedback.</a:t>
            </a:r>
          </a:p>
        </p:txBody>
      </p:sp>
      <p:sp>
        <p:nvSpPr>
          <p:cNvPr id="10" name="Rounded Rectangle 9"/>
          <p:cNvSpPr/>
          <p:nvPr/>
        </p:nvSpPr>
        <p:spPr>
          <a:xfrm>
            <a:off x="548640" y="1807464"/>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Your role (A)</a:t>
            </a:r>
          </a:p>
        </p:txBody>
      </p:sp>
      <p:sp>
        <p:nvSpPr>
          <p:cNvPr id="11" name="Rounded Rectangle 10"/>
          <p:cNvSpPr/>
          <p:nvPr/>
        </p:nvSpPr>
        <p:spPr>
          <a:xfrm>
            <a:off x="3017520" y="1807464"/>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Mentor. Issue: ______________</a:t>
            </a:r>
          </a:p>
        </p:txBody>
      </p:sp>
      <p:sp>
        <p:nvSpPr>
          <p:cNvPr id="12" name="Rounded Rectangle 11"/>
          <p:cNvSpPr/>
          <p:nvPr/>
        </p:nvSpPr>
        <p:spPr>
          <a:xfrm>
            <a:off x="548640" y="2289048"/>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Partner’s role (B)</a:t>
            </a:r>
          </a:p>
        </p:txBody>
      </p:sp>
      <p:sp>
        <p:nvSpPr>
          <p:cNvPr id="13" name="Rounded Rectangle 12"/>
          <p:cNvSpPr/>
          <p:nvPr/>
        </p:nvSpPr>
        <p:spPr>
          <a:xfrm>
            <a:off x="3017520" y="2289048"/>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Mentee.</a:t>
            </a:r>
          </a:p>
        </p:txBody>
      </p:sp>
      <p:sp>
        <p:nvSpPr>
          <p:cNvPr id="14" name="Rounded Rectangle 13"/>
          <p:cNvSpPr/>
          <p:nvPr/>
        </p:nvSpPr>
        <p:spPr>
          <a:xfrm>
            <a:off x="548640" y="2770632"/>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Must use (3 or more)</a:t>
            </a:r>
          </a:p>
        </p:txBody>
      </p:sp>
      <p:sp>
        <p:nvSpPr>
          <p:cNvPr id="15" name="Rounded Rectangle 14"/>
          <p:cNvSpPr/>
          <p:nvPr/>
        </p:nvSpPr>
        <p:spPr>
          <a:xfrm>
            <a:off x="3017520" y="2770632"/>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honest feedback · blind spot · visibility · a common myth · take it on board</a:t>
            </a:r>
          </a:p>
        </p:txBody>
      </p:sp>
      <p:sp>
        <p:nvSpPr>
          <p:cNvPr id="16" name="Rounded Rectangle 15"/>
          <p:cNvSpPr/>
          <p:nvPr/>
        </p:nvSpPr>
        <p:spPr>
          <a:xfrm>
            <a:off x="548640" y="3252216"/>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Goal</a:t>
            </a:r>
          </a:p>
        </p:txBody>
      </p:sp>
      <p:sp>
        <p:nvSpPr>
          <p:cNvPr id="17" name="Rounded Rectangle 16"/>
          <p:cNvSpPr/>
          <p:nvPr/>
        </p:nvSpPr>
        <p:spPr>
          <a:xfrm>
            <a:off x="3017520" y="3252216"/>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Give feedback, hear the reaction and agree on one action.</a:t>
            </a:r>
          </a:p>
        </p:txBody>
      </p:sp>
      <p:sp>
        <p:nvSpPr>
          <p:cNvPr id="18" name="Rounded Rectangle 17"/>
          <p:cNvSpPr/>
          <p:nvPr/>
        </p:nvSpPr>
        <p:spPr>
          <a:xfrm>
            <a:off x="548640" y="373380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My notes</a:t>
            </a:r>
          </a:p>
        </p:txBody>
      </p:sp>
      <p:sp>
        <p:nvSpPr>
          <p:cNvPr id="19" name="Rounded Rectangle 18"/>
          <p:cNvSpPr/>
          <p:nvPr/>
        </p:nvSpPr>
        <p:spPr>
          <a:xfrm>
            <a:off x="3017520" y="373380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____________________________________________</a:t>
            </a:r>
          </a:p>
        </p:txBody>
      </p:sp>
      <p:sp>
        <p:nvSpPr>
          <p:cNvPr id="20" name="TextBox 19"/>
          <p:cNvSpPr txBox="1"/>
          <p:nvPr/>
        </p:nvSpPr>
        <p:spPr>
          <a:xfrm>
            <a:off x="548640" y="4306824"/>
            <a:ext cx="11094415" cy="365760"/>
          </a:xfrm>
          <a:prstGeom prst="rect">
            <a:avLst/>
          </a:prstGeom>
          <a:noFill/>
        </p:spPr>
        <p:txBody>
          <a:bodyPr wrap="square" anchor="t">
            <a:spAutoFit/>
          </a:bodyPr>
          <a:lstStyle/>
          <a:p>
            <a:pPr algn="l">
              <a:lnSpc>
                <a:spcPct val="115000"/>
              </a:lnSpc>
              <a:spcAft>
                <a:spcPts val="800"/>
              </a:spcAft>
            </a:pPr>
            <a:r>
              <a:rPr sz="1500" b="1">
                <a:solidFill>
                  <a:srgbClr val="FF6B5B"/>
                </a:solidFill>
                <a:latin typeface="Arial"/>
                <a:ea typeface="Microsoft YaHei"/>
              </a:rPr>
              <a:t>🔥 Level-up challenges 进阶挑战 (click)</a:t>
            </a:r>
          </a:p>
        </p:txBody>
      </p:sp>
      <p:sp>
        <p:nvSpPr>
          <p:cNvPr id="21" name="Rounded Rectangle 20"/>
          <p:cNvSpPr/>
          <p:nvPr/>
        </p:nvSpPr>
        <p:spPr>
          <a:xfrm>
            <a:off x="548640" y="4690872"/>
            <a:ext cx="3576218" cy="1527048"/>
          </a:xfrm>
          <a:prstGeom prst="roundRect">
            <a:avLst>
              <a:gd name="adj" fmla="val 12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Soften: “Can I make a suggestion?”</a:t>
            </a:r>
          </a:p>
        </p:txBody>
      </p:sp>
      <p:sp>
        <p:nvSpPr>
          <p:cNvPr id="22" name="Rounded Rectangle 21"/>
          <p:cNvSpPr/>
          <p:nvPr/>
        </p:nvSpPr>
        <p:spPr>
          <a:xfrm>
            <a:off x="4307738" y="4690872"/>
            <a:ext cx="3576218" cy="1527048"/>
          </a:xfrm>
          <a:prstGeom prst="roundRect">
            <a:avLst>
              <a:gd name="adj" fmla="val 12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Give a positive first.</a:t>
            </a:r>
          </a:p>
        </p:txBody>
      </p:sp>
      <p:sp>
        <p:nvSpPr>
          <p:cNvPr id="23" name="Rounded Rectangle 22"/>
          <p:cNvSpPr/>
          <p:nvPr/>
        </p:nvSpPr>
        <p:spPr>
          <a:xfrm>
            <a:off x="8066836" y="4690872"/>
            <a:ext cx="3576218" cy="1527048"/>
          </a:xfrm>
          <a:prstGeom prst="roundRect">
            <a:avLst>
              <a:gd name="adj" fmla="val 12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Agree on a follow-up date.</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21"/>
                                        </p:tgtEl>
                                        <p:attrNameLst>
                                          <p:attrName>style.visibility</p:attrName>
                                        </p:attrNameLst>
                                      </p:cBhvr>
                                      <p:to>
                                        <p:strVal val="visible"/>
                                      </p:to>
                                    </p:set>
                                    <p:animEffect transition="in" filter="fade">
                                      <p:cBhvr>
                                        <p:cTn id="4" dur="400"/>
                                        <p:tgtEl>
                                          <p:spTgt spid="2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2"/>
                                        </p:tgtEl>
                                        <p:attrNameLst>
                                          <p:attrName>style.visibility</p:attrName>
                                        </p:attrNameLst>
                                      </p:cBhvr>
                                      <p:to>
                                        <p:strVal val="visible"/>
                                      </p:to>
                                    </p:set>
                                    <p:animEffect transition="in" filter="fade">
                                      <p:cBhvr>
                                        <p:cTn id="9" dur="400"/>
                                        <p:tgtEl>
                                          <p:spTgt spid="2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Role Play · Receiving criticism</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7 · Lesson 36 Fail to have a great career</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124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接受批评</a:t>
            </a:r>
          </a:p>
        </p:txBody>
      </p:sp>
      <p:sp>
        <p:nvSpPr>
          <p:cNvPr id="9" name="Rounded Rectangle 8"/>
          <p:cNvSpPr/>
          <p:nvPr/>
        </p:nvSpPr>
        <p:spPr>
          <a:xfrm>
            <a:off x="548640" y="1463040"/>
            <a:ext cx="11094415" cy="1463040"/>
          </a:xfrm>
          <a:prstGeom prst="roundRect">
            <a:avLst>
              <a:gd name="adj" fmla="val 12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5F677A"/>
                </a:solidFill>
                <a:latin typeface="Arial"/>
                <a:ea typeface="Microsoft YaHei"/>
              </a:rPr>
              <a:t>📍 Situation 情景</a:t>
            </a:r>
          </a:p>
          <a:p>
            <a:pPr algn="l">
              <a:spcAft>
                <a:spcPts val="200"/>
              </a:spcAft>
            </a:pPr>
            <a:r>
              <a:rPr sz="2400" b="1">
                <a:solidFill>
                  <a:srgbClr val="1F2A44"/>
                </a:solidFill>
                <a:latin typeface="Arial"/>
                <a:ea typeface="Microsoft YaHei"/>
              </a:rPr>
              <a:t>Your manager points out an issue.</a:t>
            </a:r>
          </a:p>
        </p:txBody>
      </p:sp>
      <p:sp>
        <p:nvSpPr>
          <p:cNvPr id="10" name="Rounded Rectangle 9"/>
          <p:cNvSpPr/>
          <p:nvPr/>
        </p:nvSpPr>
        <p:spPr>
          <a:xfrm>
            <a:off x="548640"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77240" y="3429000"/>
            <a:ext cx="1097280" cy="109728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2" name="TextBox 11"/>
          <p:cNvSpPr txBox="1"/>
          <p:nvPr/>
        </p:nvSpPr>
        <p:spPr>
          <a:xfrm>
            <a:off x="2011680"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FF6B5B"/>
                </a:solidFill>
                <a:latin typeface="Arial"/>
                <a:ea typeface="Microsoft YaHei"/>
              </a:rPr>
              <a:t>Role A</a:t>
            </a:r>
          </a:p>
          <a:p>
            <a:pPr algn="l">
              <a:lnSpc>
                <a:spcPct val="115000"/>
              </a:lnSpc>
              <a:spcAft>
                <a:spcPts val="800"/>
              </a:spcAft>
            </a:pPr>
            <a:r>
              <a:rPr sz="2000" b="1">
                <a:solidFill>
                  <a:srgbClr val="1F2A44"/>
                </a:solidFill>
                <a:latin typeface="Arial"/>
                <a:ea typeface="Microsoft YaHei"/>
              </a:rPr>
              <a:t>Manager</a:t>
            </a:r>
          </a:p>
        </p:txBody>
      </p:sp>
      <p:sp>
        <p:nvSpPr>
          <p:cNvPr id="13" name="Rounded Rectangle 12"/>
          <p:cNvSpPr/>
          <p:nvPr/>
        </p:nvSpPr>
        <p:spPr>
          <a:xfrm>
            <a:off x="6233007"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1607" y="3429000"/>
            <a:ext cx="1097280" cy="109728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5" name="TextBox 14"/>
          <p:cNvSpPr txBox="1"/>
          <p:nvPr/>
        </p:nvSpPr>
        <p:spPr>
          <a:xfrm>
            <a:off x="7696047"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4A90E2"/>
                </a:solidFill>
                <a:latin typeface="Arial"/>
                <a:ea typeface="Microsoft YaHei"/>
              </a:rPr>
              <a:t>Role B</a:t>
            </a:r>
          </a:p>
          <a:p>
            <a:pPr algn="l">
              <a:lnSpc>
                <a:spcPct val="115000"/>
              </a:lnSpc>
              <a:spcAft>
                <a:spcPts val="800"/>
              </a:spcAft>
            </a:pPr>
            <a:r>
              <a:rPr sz="2000" b="1">
                <a:solidFill>
                  <a:srgbClr val="1F2A44"/>
                </a:solidFill>
                <a:latin typeface="Arial"/>
                <a:ea typeface="Microsoft YaHei"/>
              </a:rPr>
              <a:t>You</a:t>
            </a:r>
          </a:p>
        </p:txBody>
      </p:sp>
    </p:spTree>
  </p:cSld>
  <p:clrMapOvr>
    <a:masterClrMapping/>
  </p:clrMapOvr>
  <p:transition spd="med">
    <p:fade/>
  </p:transition>
</p:sld>
</file>

<file path=ppt/slides/slide12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000" b="1">
                <a:solidFill>
                  <a:srgbClr val="1F2A44"/>
                </a:solidFill>
                <a:latin typeface="Arial"/>
                <a:ea typeface="Microsoft YaHei"/>
              </a:rPr>
              <a:t>🎭 Model Dialogue · Receiving criticism</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1/1</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7 · Lesson 36 Fail to have a great career</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125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1463040" y="1325880"/>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I’ve noticed you sometimes avoid giving your opinion in meetings.</a:t>
            </a:r>
          </a:p>
        </p:txBody>
      </p:sp>
      <p:sp>
        <p:nvSpPr>
          <p:cNvPr id="11" name="Rounded Rectangle 10"/>
          <p:cNvSpPr/>
          <p:nvPr/>
        </p:nvSpPr>
        <p:spPr>
          <a:xfrm>
            <a:off x="10911535" y="190804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34696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2133295" y="190804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That’s fair. I worry about being wrong.</a:t>
            </a:r>
          </a:p>
        </p:txBody>
      </p:sp>
      <p:sp>
        <p:nvSpPr>
          <p:cNvPr id="14" name="Rounded Rectangle 13"/>
          <p:cNvSpPr/>
          <p:nvPr/>
        </p:nvSpPr>
        <p:spPr>
          <a:xfrm>
            <a:off x="548640" y="249021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292912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490216"/>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The team needs your input. It’s holding you back.</a:t>
            </a:r>
          </a:p>
        </p:txBody>
      </p:sp>
      <p:sp>
        <p:nvSpPr>
          <p:cNvPr id="17" name="Rounded Rectangle 16"/>
          <p:cNvSpPr/>
          <p:nvPr/>
        </p:nvSpPr>
        <p:spPr>
          <a:xfrm>
            <a:off x="10911535" y="307238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351129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07238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 didn’t realise it came across that way. Thanks for being candid.</a:t>
            </a:r>
          </a:p>
        </p:txBody>
      </p:sp>
      <p:sp>
        <p:nvSpPr>
          <p:cNvPr id="20" name="Rounded Rectangle 19"/>
          <p:cNvSpPr/>
          <p:nvPr/>
        </p:nvSpPr>
        <p:spPr>
          <a:xfrm>
            <a:off x="548640" y="3654552"/>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21" name="TextBox 20"/>
          <p:cNvSpPr txBox="1"/>
          <p:nvPr/>
        </p:nvSpPr>
        <p:spPr>
          <a:xfrm>
            <a:off x="274320" y="4093464"/>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2" name="Rounded Rectangle 21"/>
          <p:cNvSpPr/>
          <p:nvPr/>
        </p:nvSpPr>
        <p:spPr>
          <a:xfrm>
            <a:off x="1463040" y="3654552"/>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Would it help to prepare one point before each meeting?</a:t>
            </a:r>
          </a:p>
        </p:txBody>
      </p:sp>
      <p:sp>
        <p:nvSpPr>
          <p:cNvPr id="23" name="Rounded Rectangle 22"/>
          <p:cNvSpPr/>
          <p:nvPr/>
        </p:nvSpPr>
        <p:spPr>
          <a:xfrm>
            <a:off x="10911535" y="4236720"/>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24" name="TextBox 23"/>
          <p:cNvSpPr txBox="1"/>
          <p:nvPr/>
        </p:nvSpPr>
        <p:spPr>
          <a:xfrm>
            <a:off x="10637215" y="467563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5" name="Rounded Rectangle 24"/>
          <p:cNvSpPr/>
          <p:nvPr/>
        </p:nvSpPr>
        <p:spPr>
          <a:xfrm>
            <a:off x="2133295" y="4236720"/>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Yes, I’ll try that.</a:t>
            </a:r>
          </a:p>
        </p:txBody>
      </p:sp>
      <p:sp>
        <p:nvSpPr>
          <p:cNvPr id="26" name="Rounded Rectangle 25"/>
          <p:cNvSpPr/>
          <p:nvPr/>
        </p:nvSpPr>
        <p:spPr>
          <a:xfrm>
            <a:off x="548640" y="4818888"/>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27" name="TextBox 26"/>
          <p:cNvSpPr txBox="1"/>
          <p:nvPr/>
        </p:nvSpPr>
        <p:spPr>
          <a:xfrm>
            <a:off x="274320" y="525780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8" name="Rounded Rectangle 27"/>
          <p:cNvSpPr/>
          <p:nvPr/>
        </p:nvSpPr>
        <p:spPr>
          <a:xfrm>
            <a:off x="1463040" y="4818888"/>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Good. Let’s check in next month.</a:t>
            </a:r>
          </a:p>
        </p:txBody>
      </p:sp>
      <p:sp>
        <p:nvSpPr>
          <p:cNvPr id="29" name="Rounded Rectangle 28"/>
          <p:cNvSpPr/>
          <p:nvPr/>
        </p:nvSpPr>
        <p:spPr>
          <a:xfrm>
            <a:off x="10911535" y="5401056"/>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30" name="TextBox 29"/>
          <p:cNvSpPr txBox="1"/>
          <p:nvPr/>
        </p:nvSpPr>
        <p:spPr>
          <a:xfrm>
            <a:off x="10637215" y="583996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31" name="Rounded Rectangle 30"/>
          <p:cNvSpPr/>
          <p:nvPr/>
        </p:nvSpPr>
        <p:spPr>
          <a:xfrm>
            <a:off x="2133295" y="5401056"/>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I’ll take it on board and stop taking it personally.</a:t>
            </a:r>
          </a:p>
        </p:txBody>
      </p:sp>
    </p:spTree>
  </p:cSld>
  <p:clrMapOvr>
    <a:masterClrMapping/>
  </p:clrMapOvr>
  <p:transition spd="med">
    <p:fade/>
  </p:transition>
</p:sld>
</file>

<file path=ppt/slides/slide12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Your Turn · Receiving criticism</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7 · Lesson 36 Fail to have a great career</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126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Situation</a:t>
            </a:r>
          </a:p>
        </p:txBody>
      </p:sp>
      <p:sp>
        <p:nvSpPr>
          <p:cNvPr id="9" name="Rounded Rectangle 8"/>
          <p:cNvSpPr/>
          <p:nvPr/>
        </p:nvSpPr>
        <p:spPr>
          <a:xfrm>
            <a:off x="3017520" y="132588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You react well to feedback.</a:t>
            </a:r>
          </a:p>
        </p:txBody>
      </p:sp>
      <p:sp>
        <p:nvSpPr>
          <p:cNvPr id="10" name="Rounded Rectangle 9"/>
          <p:cNvSpPr/>
          <p:nvPr/>
        </p:nvSpPr>
        <p:spPr>
          <a:xfrm>
            <a:off x="548640" y="1807464"/>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Your role (A)</a:t>
            </a:r>
          </a:p>
        </p:txBody>
      </p:sp>
      <p:sp>
        <p:nvSpPr>
          <p:cNvPr id="11" name="Rounded Rectangle 10"/>
          <p:cNvSpPr/>
          <p:nvPr/>
        </p:nvSpPr>
        <p:spPr>
          <a:xfrm>
            <a:off x="3017520" y="1807464"/>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Manager giving feedback: ______________</a:t>
            </a:r>
          </a:p>
        </p:txBody>
      </p:sp>
      <p:sp>
        <p:nvSpPr>
          <p:cNvPr id="12" name="Rounded Rectangle 11"/>
          <p:cNvSpPr/>
          <p:nvPr/>
        </p:nvSpPr>
        <p:spPr>
          <a:xfrm>
            <a:off x="548640" y="2289048"/>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Partner’s role (B)</a:t>
            </a:r>
          </a:p>
        </p:txBody>
      </p:sp>
      <p:sp>
        <p:nvSpPr>
          <p:cNvPr id="13" name="Rounded Rectangle 12"/>
          <p:cNvSpPr/>
          <p:nvPr/>
        </p:nvSpPr>
        <p:spPr>
          <a:xfrm>
            <a:off x="3017520" y="2289048"/>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Employee.</a:t>
            </a:r>
          </a:p>
        </p:txBody>
      </p:sp>
      <p:sp>
        <p:nvSpPr>
          <p:cNvPr id="14" name="Rounded Rectangle 13"/>
          <p:cNvSpPr/>
          <p:nvPr/>
        </p:nvSpPr>
        <p:spPr>
          <a:xfrm>
            <a:off x="548640" y="2770632"/>
            <a:ext cx="2377440" cy="65227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Must use (3 or more)</a:t>
            </a:r>
          </a:p>
        </p:txBody>
      </p:sp>
      <p:sp>
        <p:nvSpPr>
          <p:cNvPr id="15" name="Rounded Rectangle 14"/>
          <p:cNvSpPr/>
          <p:nvPr/>
        </p:nvSpPr>
        <p:spPr>
          <a:xfrm>
            <a:off x="3017520" y="2770632"/>
            <a:ext cx="8625535" cy="65227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That’s fair · I didn’t realise · candid · take it on board · stop taking it personally</a:t>
            </a:r>
          </a:p>
        </p:txBody>
      </p:sp>
      <p:sp>
        <p:nvSpPr>
          <p:cNvPr id="16" name="Rounded Rectangle 15"/>
          <p:cNvSpPr/>
          <p:nvPr/>
        </p:nvSpPr>
        <p:spPr>
          <a:xfrm>
            <a:off x="548640" y="3496056"/>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Goal</a:t>
            </a:r>
          </a:p>
        </p:txBody>
      </p:sp>
      <p:sp>
        <p:nvSpPr>
          <p:cNvPr id="17" name="Rounded Rectangle 16"/>
          <p:cNvSpPr/>
          <p:nvPr/>
        </p:nvSpPr>
        <p:spPr>
          <a:xfrm>
            <a:off x="3017520" y="3496056"/>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Accept criticism calmly and propose a change.</a:t>
            </a:r>
          </a:p>
        </p:txBody>
      </p:sp>
      <p:sp>
        <p:nvSpPr>
          <p:cNvPr id="18" name="Rounded Rectangle 17"/>
          <p:cNvSpPr/>
          <p:nvPr/>
        </p:nvSpPr>
        <p:spPr>
          <a:xfrm>
            <a:off x="548640" y="397764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My notes</a:t>
            </a:r>
          </a:p>
        </p:txBody>
      </p:sp>
      <p:sp>
        <p:nvSpPr>
          <p:cNvPr id="19" name="Rounded Rectangle 18"/>
          <p:cNvSpPr/>
          <p:nvPr/>
        </p:nvSpPr>
        <p:spPr>
          <a:xfrm>
            <a:off x="3017520" y="397764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____________________________________________</a:t>
            </a:r>
          </a:p>
        </p:txBody>
      </p:sp>
      <p:sp>
        <p:nvSpPr>
          <p:cNvPr id="20" name="TextBox 19"/>
          <p:cNvSpPr txBox="1"/>
          <p:nvPr/>
        </p:nvSpPr>
        <p:spPr>
          <a:xfrm>
            <a:off x="548640" y="4550664"/>
            <a:ext cx="11094415" cy="365760"/>
          </a:xfrm>
          <a:prstGeom prst="rect">
            <a:avLst/>
          </a:prstGeom>
          <a:noFill/>
        </p:spPr>
        <p:txBody>
          <a:bodyPr wrap="square" anchor="t">
            <a:spAutoFit/>
          </a:bodyPr>
          <a:lstStyle/>
          <a:p>
            <a:pPr algn="l">
              <a:lnSpc>
                <a:spcPct val="115000"/>
              </a:lnSpc>
              <a:spcAft>
                <a:spcPts val="800"/>
              </a:spcAft>
            </a:pPr>
            <a:r>
              <a:rPr sz="1500" b="1">
                <a:solidFill>
                  <a:srgbClr val="FF6B5B"/>
                </a:solidFill>
                <a:latin typeface="Arial"/>
                <a:ea typeface="Microsoft YaHei"/>
              </a:rPr>
              <a:t>🔥 Level-up challenges 进阶挑战 (click)</a:t>
            </a:r>
          </a:p>
        </p:txBody>
      </p:sp>
      <p:sp>
        <p:nvSpPr>
          <p:cNvPr id="21" name="Rounded Rectangle 20"/>
          <p:cNvSpPr/>
          <p:nvPr/>
        </p:nvSpPr>
        <p:spPr>
          <a:xfrm>
            <a:off x="548640" y="4934712"/>
            <a:ext cx="3576218" cy="1283208"/>
          </a:xfrm>
          <a:prstGeom prst="roundRect">
            <a:avLst>
              <a:gd name="adj" fmla="val 12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Ask for an example.</a:t>
            </a:r>
          </a:p>
        </p:txBody>
      </p:sp>
      <p:sp>
        <p:nvSpPr>
          <p:cNvPr id="22" name="Rounded Rectangle 21"/>
          <p:cNvSpPr/>
          <p:nvPr/>
        </p:nvSpPr>
        <p:spPr>
          <a:xfrm>
            <a:off x="4307738" y="4934712"/>
            <a:ext cx="3576218" cy="1283208"/>
          </a:xfrm>
          <a:prstGeom prst="roundRect">
            <a:avLst>
              <a:gd name="adj" fmla="val 12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Disagree politely with one point.</a:t>
            </a:r>
          </a:p>
        </p:txBody>
      </p:sp>
      <p:sp>
        <p:nvSpPr>
          <p:cNvPr id="23" name="Rounded Rectangle 22"/>
          <p:cNvSpPr/>
          <p:nvPr/>
        </p:nvSpPr>
        <p:spPr>
          <a:xfrm>
            <a:off x="8066836" y="4934712"/>
            <a:ext cx="3576218" cy="1283208"/>
          </a:xfrm>
          <a:prstGeom prst="roundRect">
            <a:avLst>
              <a:gd name="adj" fmla="val 12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Thank them for being honest.</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21"/>
                                        </p:tgtEl>
                                        <p:attrNameLst>
                                          <p:attrName>style.visibility</p:attrName>
                                        </p:attrNameLst>
                                      </p:cBhvr>
                                      <p:to>
                                        <p:strVal val="visible"/>
                                      </p:to>
                                    </p:set>
                                    <p:animEffect transition="in" filter="fade">
                                      <p:cBhvr>
                                        <p:cTn id="4" dur="400"/>
                                        <p:tgtEl>
                                          <p:spTgt spid="2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2"/>
                                        </p:tgtEl>
                                        <p:attrNameLst>
                                          <p:attrName>style.visibility</p:attrName>
                                        </p:attrNameLst>
                                      </p:cBhvr>
                                      <p:to>
                                        <p:strVal val="visible"/>
                                      </p:to>
                                    </p:set>
                                    <p:animEffect transition="in" filter="fade">
                                      <p:cBhvr>
                                        <p:cTn id="9" dur="400"/>
                                        <p:tgtEl>
                                          <p:spTgt spid="2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Discussion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7 · Lesson 36 Fail to have a great career</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127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Prepare 2–3 sentences. Use the starters!  每题准备 2–3 句话，用上句型</a:t>
            </a:r>
          </a:p>
        </p:txBody>
      </p:sp>
      <p:sp>
        <p:nvSpPr>
          <p:cNvPr id="9" name="Oval 8"/>
          <p:cNvSpPr/>
          <p:nvPr/>
        </p:nvSpPr>
        <p:spPr>
          <a:xfrm>
            <a:off x="548640" y="1554480"/>
            <a:ext cx="548640" cy="54864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0876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Which career myth do you hear most?</a:t>
            </a:r>
          </a:p>
          <a:p>
            <a:pPr algn="l">
              <a:lnSpc>
                <a:spcPct val="115000"/>
              </a:lnSpc>
              <a:spcAft>
                <a:spcPts val="800"/>
              </a:spcAft>
            </a:pPr>
            <a:r>
              <a:rPr sz="1400" b="0">
                <a:solidFill>
                  <a:srgbClr val="5F677A"/>
                </a:solidFill>
                <a:latin typeface="Arial"/>
                <a:ea typeface="Microsoft YaHei"/>
              </a:rPr>
              <a:t>💬 “I often hear that… but…”</a:t>
            </a:r>
          </a:p>
        </p:txBody>
      </p:sp>
      <p:sp>
        <p:nvSpPr>
          <p:cNvPr id="12" name="Oval 11"/>
          <p:cNvSpPr/>
          <p:nvPr/>
        </p:nvSpPr>
        <p:spPr>
          <a:xfrm>
            <a:off x="548640" y="2331720"/>
            <a:ext cx="548640" cy="54864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28600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33172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Why do people resist feedback?</a:t>
            </a:r>
          </a:p>
          <a:p>
            <a:pPr algn="l">
              <a:lnSpc>
                <a:spcPct val="115000"/>
              </a:lnSpc>
              <a:spcAft>
                <a:spcPts val="800"/>
              </a:spcAft>
            </a:pPr>
            <a:r>
              <a:rPr sz="1400" b="0">
                <a:solidFill>
                  <a:srgbClr val="5F677A"/>
                </a:solidFill>
                <a:latin typeface="Arial"/>
                <a:ea typeface="Microsoft YaHei"/>
              </a:rPr>
              <a:t>💬 “Because they feel… / They worry that…”</a:t>
            </a:r>
          </a:p>
        </p:txBody>
      </p:sp>
      <p:sp>
        <p:nvSpPr>
          <p:cNvPr id="15" name="Oval 14"/>
          <p:cNvSpPr/>
          <p:nvPr/>
        </p:nvSpPr>
        <p:spPr>
          <a:xfrm>
            <a:off x="548640" y="3108960"/>
            <a:ext cx="548640" cy="54864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306324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310896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Is it ever good to stay in one company for a long time?</a:t>
            </a:r>
          </a:p>
          <a:p>
            <a:pPr algn="l">
              <a:lnSpc>
                <a:spcPct val="115000"/>
              </a:lnSpc>
              <a:spcAft>
                <a:spcPts val="800"/>
              </a:spcAft>
            </a:pPr>
            <a:r>
              <a:rPr sz="1400" b="0">
                <a:solidFill>
                  <a:srgbClr val="5F677A"/>
                </a:solidFill>
                <a:latin typeface="Arial"/>
                <a:ea typeface="Microsoft YaHei"/>
              </a:rPr>
              <a:t>💬 “Yes, if… / It depends on…”</a:t>
            </a:r>
          </a:p>
        </p:txBody>
      </p:sp>
      <p:sp>
        <p:nvSpPr>
          <p:cNvPr id="18" name="Oval 17"/>
          <p:cNvSpPr/>
          <p:nvPr/>
        </p:nvSpPr>
        <p:spPr>
          <a:xfrm>
            <a:off x="548640" y="3886200"/>
            <a:ext cx="548640" cy="54864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384048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388620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How can you tell that your career has stalled?</a:t>
            </a:r>
          </a:p>
          <a:p>
            <a:pPr algn="l">
              <a:lnSpc>
                <a:spcPct val="115000"/>
              </a:lnSpc>
              <a:spcAft>
                <a:spcPts val="800"/>
              </a:spcAft>
            </a:pPr>
            <a:r>
              <a:rPr sz="1400" b="0">
                <a:solidFill>
                  <a:srgbClr val="5F677A"/>
                </a:solidFill>
                <a:latin typeface="Arial"/>
                <a:ea typeface="Microsoft YaHei"/>
              </a:rPr>
              <a:t>💬 “Signs include… / When you…”</a:t>
            </a:r>
          </a:p>
        </p:txBody>
      </p:sp>
      <p:sp>
        <p:nvSpPr>
          <p:cNvPr id="21" name="Oval 20"/>
          <p:cNvSpPr/>
          <p:nvPr/>
        </p:nvSpPr>
        <p:spPr>
          <a:xfrm>
            <a:off x="548640" y="4663440"/>
            <a:ext cx="548640" cy="548640"/>
          </a:xfrm>
          <a:prstGeom prst="ellipse">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5</a:t>
            </a:r>
          </a:p>
        </p:txBody>
      </p:sp>
      <p:sp>
        <p:nvSpPr>
          <p:cNvPr id="22" name="Rounded Rectangle 21"/>
          <p:cNvSpPr/>
          <p:nvPr/>
        </p:nvSpPr>
        <p:spPr>
          <a:xfrm>
            <a:off x="1234440" y="461772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325880" y="466344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What would you tell your younger self?</a:t>
            </a:r>
          </a:p>
          <a:p>
            <a:pPr algn="l">
              <a:lnSpc>
                <a:spcPct val="115000"/>
              </a:lnSpc>
              <a:spcAft>
                <a:spcPts val="800"/>
              </a:spcAft>
            </a:pPr>
            <a:r>
              <a:rPr sz="1400" b="0">
                <a:solidFill>
                  <a:srgbClr val="5F677A"/>
                </a:solidFill>
                <a:latin typeface="Arial"/>
                <a:ea typeface="Microsoft YaHei"/>
              </a:rPr>
              <a:t>💬 “I’d tell myself to…”</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par>
                    <p:cTn id="56" fill="hold">
                      <p:stCondLst>
                        <p:cond delay="indefinite"/>
                      </p:stCondLst>
                      <p:childTnLst>
                        <p:par>
                          <p:cTn id="57" fill="hold">
                            <p:stCondLst>
                              <p:cond delay="0"/>
                            </p:stCondLst>
                            <p:childTnLst>
                              <p:par>
                                <p:cTn id="49" presetID="10" presetClass="entr" presetSubtype="0" fill="hold" nodeType="clickEffect">
                                  <p:stCondLst>
                                    <p:cond delay="0"/>
                                  </p:stCondLst>
                                  <p:childTnLst>
                                    <p:set>
                                      <p:cBhvr>
                                        <p:cTn id="47" dur="1" fill="hold">
                                          <p:stCondLst>
                                            <p:cond delay="0"/>
                                          </p:stCondLst>
                                        </p:cTn>
                                        <p:tgtEl>
                                          <p:spTgt spid="21"/>
                                        </p:tgtEl>
                                        <p:attrNameLst>
                                          <p:attrName>style.visibility</p:attrName>
                                        </p:attrNameLst>
                                      </p:cBhvr>
                                      <p:to>
                                        <p:strVal val="visible"/>
                                      </p:to>
                                    </p:set>
                                    <p:animEffect transition="in" filter="fade">
                                      <p:cBhvr>
                                        <p:cTn id="48" dur="400"/>
                                        <p:tgtEl>
                                          <p:spTgt spid="21"/>
                                        </p:tgtEl>
                                      </p:cBhvr>
                                    </p:animEffect>
                                  </p:childTnLst>
                                </p:cTn>
                              </p:par>
                              <p:par>
                                <p:cTn id="52" presetID="10" presetClass="entr" presetSubtype="0" fill="hold" nodeType="with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fade">
                                      <p:cBhvr>
                                        <p:cTn id="51" dur="400"/>
                                        <p:tgtEl>
                                          <p:spTgt spid="22"/>
                                        </p:tgtEl>
                                      </p:cBhvr>
                                    </p:animEffect>
                                  </p:childTnLst>
                                </p:cTn>
                              </p:par>
                              <p:par>
                                <p:cTn id="55" presetID="10" presetClass="entr" presetSubtype="0" fill="hold" nodeType="withEffect">
                                  <p:stCondLst>
                                    <p:cond delay="0"/>
                                  </p:stCondLst>
                                  <p:childTnLst>
                                    <p:set>
                                      <p:cBhvr>
                                        <p:cTn id="53" dur="1" fill="hold">
                                          <p:stCondLst>
                                            <p:cond delay="0"/>
                                          </p:stCondLst>
                                        </p:cTn>
                                        <p:tgtEl>
                                          <p:spTgt spid="23"/>
                                        </p:tgtEl>
                                        <p:attrNameLst>
                                          <p:attrName>style.visibility</p:attrName>
                                        </p:attrNameLst>
                                      </p:cBhvr>
                                      <p:to>
                                        <p:strVal val="visible"/>
                                      </p:to>
                                    </p:set>
                                    <p:animEffect transition="in" filter="fade">
                                      <p:cBhvr>
                                        <p:cTn id="5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Model Answer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7 · Lesson 36 Fail to have a great career</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128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0584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Model answer (Question 2)</a:t>
            </a:r>
          </a:p>
        </p:txBody>
      </p:sp>
      <p:sp>
        <p:nvSpPr>
          <p:cNvPr id="9" name="Rounded Rectangle 8"/>
          <p:cNvSpPr/>
          <p:nvPr/>
        </p:nvSpPr>
        <p:spPr>
          <a:xfrm>
            <a:off x="548640" y="1463040"/>
            <a:ext cx="11094415" cy="406908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1371600"/>
            <a:ext cx="914400" cy="914400"/>
          </a:xfrm>
          <a:prstGeom prst="rect">
            <a:avLst/>
          </a:prstGeom>
          <a:noFill/>
        </p:spPr>
        <p:txBody>
          <a:bodyPr wrap="square" anchor="t">
            <a:spAutoFit/>
          </a:bodyPr>
          <a:lstStyle/>
          <a:p>
            <a:pPr algn="l">
              <a:lnSpc>
                <a:spcPct val="115000"/>
              </a:lnSpc>
              <a:spcAft>
                <a:spcPts val="800"/>
              </a:spcAft>
            </a:pPr>
            <a:r>
              <a:rPr sz="5400" b="0">
                <a:solidFill>
                  <a:srgbClr val="4A90E2"/>
                </a:solidFill>
                <a:latin typeface="Arial"/>
                <a:ea typeface="Microsoft YaHei"/>
              </a:rPr>
              <a:t>❝</a:t>
            </a:r>
          </a:p>
        </p:txBody>
      </p:sp>
      <p:sp>
        <p:nvSpPr>
          <p:cNvPr id="11" name="TextBox 10"/>
          <p:cNvSpPr txBox="1"/>
          <p:nvPr/>
        </p:nvSpPr>
        <p:spPr>
          <a:xfrm>
            <a:off x="1463040" y="1600200"/>
            <a:ext cx="9814255" cy="3794760"/>
          </a:xfrm>
          <a:prstGeom prst="rect">
            <a:avLst/>
          </a:prstGeom>
          <a:noFill/>
        </p:spPr>
        <p:txBody>
          <a:bodyPr wrap="square" anchor="t">
            <a:spAutoFit/>
          </a:bodyPr>
          <a:lstStyle/>
          <a:p>
            <a:pPr algn="l">
              <a:lnSpc>
                <a:spcPct val="130000"/>
              </a:lnSpc>
              <a:spcAft>
                <a:spcPts val="800"/>
              </a:spcAft>
            </a:pPr>
            <a:r>
              <a:rPr sz="2600" b="0">
                <a:solidFill>
                  <a:srgbClr val="1F2A44"/>
                </a:solidFill>
                <a:latin typeface="Arial"/>
                <a:ea typeface="Microsoft YaHei"/>
              </a:rPr>
              <a:t>I think people resist feedback because they feel it’s about them, not their work. Criticism can feel like an attack on identity. They may also worry about losing face. A good manager starts with something positive, is specific, and focuses on behaviour. For example,”In meetings you sometimes stay quiet,” not “You’re shy.</a:t>
            </a:r>
          </a:p>
        </p:txBody>
      </p:sp>
      <p:sp>
        <p:nvSpPr>
          <p:cNvPr id="12" name="Rounded Rectangle 11"/>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“lose face” 丢面子;“focus on behaviour” 聚焦行为。</a:t>
            </a:r>
          </a:p>
        </p:txBody>
      </p:sp>
    </p:spTree>
  </p:cSld>
  <p:clrMapOvr>
    <a:masterClrMapping/>
  </p:clrMapOvr>
  <p:transition spd="med">
    <p:fade/>
  </p:transition>
</p:sld>
</file>

<file path=ppt/slides/slide12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Giving and receiving feedback</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7 · Lesson 36 Fail to have a great career</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129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给予与接受反馈</a:t>
            </a:r>
          </a:p>
        </p:txBody>
      </p:sp>
      <p:graphicFrame>
        <p:nvGraphicFramePr>
          <p:cNvPr id="9" name="Table 8"/>
          <p:cNvGraphicFramePr>
            <a:graphicFrameLocks noGrp="1"/>
          </p:cNvGraphicFramePr>
          <p:nvPr/>
        </p:nvGraphicFramePr>
        <p:xfrm>
          <a:off x="548640" y="1417320"/>
          <a:ext cx="11094415" cy="2042160"/>
        </p:xfrm>
        <a:graphic>
          <a:graphicData uri="http://schemas.openxmlformats.org/drawingml/2006/table">
            <a:tbl>
              <a:tblPr firstRow="1" bandRow="1">
                <a:tableStyleId>{5C22544A-7EE6-4342-B048-85BDC9FD1C3A}</a:tableStyleId>
              </a:tblPr>
              <a:tblGrid>
                <a:gridCol w="5547207"/>
                <a:gridCol w="5547208"/>
              </a:tblGrid>
              <a:tr h="408432">
                <a:tc>
                  <a:txBody>
                    <a:bodyPr wrap="square"/>
                    <a:lstStyle/>
                    <a:p>
                      <a:r>
                        <a:rPr sz="1600" b="1">
                          <a:solidFill>
                            <a:srgbClr val="FFFFFF"/>
                          </a:solidFill>
                          <a:latin typeface="Arial"/>
                          <a:ea typeface="Microsoft YaHei"/>
                        </a:rPr>
                        <a:t>Giving</a:t>
                      </a:r>
                    </a:p>
                  </a:txBody>
                  <a:tcPr anchor="ctr">
                    <a:solidFill>
                      <a:srgbClr val="3CC49A"/>
                    </a:solidFill>
                  </a:tcPr>
                </a:tc>
                <a:tc>
                  <a:txBody>
                    <a:bodyPr wrap="square"/>
                    <a:lstStyle/>
                    <a:p>
                      <a:r>
                        <a:rPr sz="1600" b="1">
                          <a:solidFill>
                            <a:srgbClr val="FFFFFF"/>
                          </a:solidFill>
                          <a:latin typeface="Arial"/>
                          <a:ea typeface="Microsoft YaHei"/>
                        </a:rPr>
                        <a:t>Receiving</a:t>
                      </a:r>
                    </a:p>
                  </a:txBody>
                  <a:tcPr anchor="ctr">
                    <a:solidFill>
                      <a:srgbClr val="3CC49A"/>
                    </a:solidFill>
                  </a:tcPr>
                </a:tc>
              </a:tr>
              <a:tr h="408432">
                <a:tc>
                  <a:txBody>
                    <a:bodyPr wrap="square"/>
                    <a:lstStyle/>
                    <a:p>
                      <a:r>
                        <a:rPr sz="1600" b="1">
                          <a:solidFill>
                            <a:srgbClr val="1F2A44"/>
                          </a:solidFill>
                          <a:latin typeface="Arial"/>
                          <a:ea typeface="Microsoft YaHei"/>
                        </a:rPr>
                        <a:t>Can I give you some feedback?</a:t>
                      </a:r>
                    </a:p>
                  </a:txBody>
                  <a:tcPr anchor="ctr">
                    <a:solidFill>
                      <a:srgbClr val="FFFFFF"/>
                    </a:solidFill>
                  </a:tcPr>
                </a:tc>
                <a:tc>
                  <a:txBody>
                    <a:bodyPr wrap="square"/>
                    <a:lstStyle/>
                    <a:p>
                      <a:r>
                        <a:rPr sz="1600" b="0">
                          <a:solidFill>
                            <a:srgbClr val="1F2A44"/>
                          </a:solidFill>
                          <a:latin typeface="Arial"/>
                          <a:ea typeface="Microsoft YaHei"/>
                        </a:rPr>
                        <a:t>I’d welcome it. / Sure.</a:t>
                      </a:r>
                    </a:p>
                  </a:txBody>
                  <a:tcPr anchor="ctr">
                    <a:solidFill>
                      <a:srgbClr val="FFFFFF"/>
                    </a:solidFill>
                  </a:tcPr>
                </a:tc>
              </a:tr>
              <a:tr h="408432">
                <a:tc>
                  <a:txBody>
                    <a:bodyPr wrap="square"/>
                    <a:lstStyle/>
                    <a:p>
                      <a:r>
                        <a:rPr sz="1600" b="1">
                          <a:solidFill>
                            <a:srgbClr val="1F2A44"/>
                          </a:solidFill>
                          <a:latin typeface="Arial"/>
                          <a:ea typeface="Microsoft YaHei"/>
                        </a:rPr>
                        <a:t>One thing that worked well was…</a:t>
                      </a:r>
                    </a:p>
                  </a:txBody>
                  <a:tcPr anchor="ctr">
                    <a:solidFill>
                      <a:srgbClr val="FFEFD9"/>
                    </a:solidFill>
                  </a:tcPr>
                </a:tc>
                <a:tc>
                  <a:txBody>
                    <a:bodyPr wrap="square"/>
                    <a:lstStyle/>
                    <a:p>
                      <a:r>
                        <a:rPr sz="1600" b="0">
                          <a:solidFill>
                            <a:srgbClr val="1F2A44"/>
                          </a:solidFill>
                          <a:latin typeface="Arial"/>
                          <a:ea typeface="Microsoft YaHei"/>
                        </a:rPr>
                        <a:t>Thanks. That’s helpful.</a:t>
                      </a:r>
                    </a:p>
                  </a:txBody>
                  <a:tcPr anchor="ctr">
                    <a:solidFill>
                      <a:srgbClr val="FFEFD9"/>
                    </a:solidFill>
                  </a:tcPr>
                </a:tc>
              </a:tr>
              <a:tr h="408432">
                <a:tc>
                  <a:txBody>
                    <a:bodyPr wrap="square"/>
                    <a:lstStyle/>
                    <a:p>
                      <a:r>
                        <a:rPr sz="1600" b="1">
                          <a:solidFill>
                            <a:srgbClr val="1F2A44"/>
                          </a:solidFill>
                          <a:latin typeface="Arial"/>
                          <a:ea typeface="Microsoft YaHei"/>
                        </a:rPr>
                        <a:t>One thing you could improve is…</a:t>
                      </a:r>
                    </a:p>
                  </a:txBody>
                  <a:tcPr anchor="ctr">
                    <a:solidFill>
                      <a:srgbClr val="FFFFFF"/>
                    </a:solidFill>
                  </a:tcPr>
                </a:tc>
                <a:tc>
                  <a:txBody>
                    <a:bodyPr wrap="square"/>
                    <a:lstStyle/>
                    <a:p>
                      <a:r>
                        <a:rPr sz="1600" b="0">
                          <a:solidFill>
                            <a:srgbClr val="1F2A44"/>
                          </a:solidFill>
                          <a:latin typeface="Arial"/>
                          <a:ea typeface="Microsoft YaHei"/>
                        </a:rPr>
                        <a:t>That’s fair. Could you give an example?</a:t>
                      </a:r>
                    </a:p>
                  </a:txBody>
                  <a:tcPr anchor="ctr">
                    <a:solidFill>
                      <a:srgbClr val="FFFFFF"/>
                    </a:solidFill>
                  </a:tcPr>
                </a:tc>
              </a:tr>
              <a:tr h="408432">
                <a:tc>
                  <a:txBody>
                    <a:bodyPr wrap="square"/>
                    <a:lstStyle/>
                    <a:p>
                      <a:r>
                        <a:rPr sz="1600" b="1">
                          <a:solidFill>
                            <a:srgbClr val="1F2A44"/>
                          </a:solidFill>
                          <a:latin typeface="Arial"/>
                          <a:ea typeface="Microsoft YaHei"/>
                        </a:rPr>
                        <a:t>A better approach might be…</a:t>
                      </a:r>
                    </a:p>
                  </a:txBody>
                  <a:tcPr anchor="ctr">
                    <a:solidFill>
                      <a:srgbClr val="FFEFD9"/>
                    </a:solidFill>
                  </a:tcPr>
                </a:tc>
                <a:tc>
                  <a:txBody>
                    <a:bodyPr wrap="square"/>
                    <a:lstStyle/>
                    <a:p>
                      <a:r>
                        <a:rPr sz="1600" b="0">
                          <a:solidFill>
                            <a:srgbClr val="1F2A44"/>
                          </a:solidFill>
                          <a:latin typeface="Arial"/>
                          <a:ea typeface="Microsoft YaHei"/>
                        </a:rPr>
                        <a:t>I’ll take that on board.</a:t>
                      </a:r>
                    </a:p>
                  </a:txBody>
                  <a:tcPr anchor="ctr">
                    <a:solidFill>
                      <a:srgbClr val="FFEFD9"/>
                    </a:solidFill>
                  </a:tcPr>
                </a:tc>
              </a:tr>
            </a:tbl>
          </a:graphicData>
        </a:graphic>
      </p:graphicFrame>
    </p:spTree>
  </p:cSld>
  <p:clrMapOvr>
    <a:masterClrMapping/>
  </p:clrMapOvr>
  <p:transition spd="med">
    <p:fade/>
  </p:transition>
</p:sld>
</file>

<file path=ppt/slides/slide13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Giving and receiving feedback</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7 · Lesson 36 Fail to have a great career</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130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给予与接受反馈</a:t>
            </a:r>
          </a:p>
        </p:txBody>
      </p:sp>
      <p:sp>
        <p:nvSpPr>
          <p:cNvPr id="9" name="Rounded Rectangle 8"/>
          <p:cNvSpPr/>
          <p:nvPr/>
        </p:nvSpPr>
        <p:spPr>
          <a:xfrm>
            <a:off x="548640" y="1417320"/>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44195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417320"/>
            <a:ext cx="10728655" cy="441959"/>
          </a:xfrm>
          <a:prstGeom prst="rect">
            <a:avLst/>
          </a:prstGeom>
          <a:noFill/>
        </p:spPr>
        <p:txBody>
          <a:bodyPr wrap="square" anchor="ctr">
            <a:spAutoFit/>
          </a:bodyPr>
          <a:lstStyle/>
          <a:p>
            <a:r>
              <a:rPr sz="1700" b="1">
                <a:solidFill>
                  <a:srgbClr val="FF6B5B"/>
                </a:solidFill>
                <a:latin typeface="Arial"/>
                <a:ea typeface="Microsoft YaHei"/>
              </a:rPr>
              <a:t>Use “could” and “might” to suggest, not command: </a:t>
            </a:r>
            <a:r>
              <a:rPr sz="1700" b="0">
                <a:solidFill>
                  <a:srgbClr val="1F2A44"/>
                </a:solidFill>
                <a:latin typeface="Arial"/>
                <a:ea typeface="Microsoft YaHei"/>
              </a:rPr>
              <a:t>You could try… / A better approach might be…</a:t>
            </a:r>
          </a:p>
        </p:txBody>
      </p:sp>
    </p:spTree>
  </p:cSld>
  <p:clrMapOvr>
    <a:masterClrMapping/>
  </p:clrMapOvr>
  <p:transition spd="med">
    <p:fade/>
  </p:transition>
</p:sld>
</file>

<file path=ppt/slides/slide13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7 · Lesson 36 Fail to have a great career</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131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He gave me many feedbacks.</a:t>
            </a:r>
          </a:p>
        </p:txBody>
      </p:sp>
      <p:sp>
        <p:nvSpPr>
          <p:cNvPr id="10" name="Rounded Rectangle 9"/>
          <p:cNvSpPr/>
          <p:nvPr/>
        </p:nvSpPr>
        <p:spPr>
          <a:xfrm>
            <a:off x="6187287" y="1463040"/>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He gave me a lot of feedback.</a:t>
            </a:r>
          </a:p>
          <a:p>
            <a:pPr algn="l">
              <a:spcAft>
                <a:spcPts val="200"/>
              </a:spcAft>
            </a:pPr>
            <a:r>
              <a:rPr sz="1200" b="0">
                <a:solidFill>
                  <a:srgbClr val="FFFFFF"/>
                </a:solidFill>
                <a:latin typeface="Arial"/>
                <a:ea typeface="Microsoft YaHei"/>
              </a:rPr>
              <a:t>feedback 不可数</a:t>
            </a:r>
          </a:p>
        </p:txBody>
      </p:sp>
      <p:sp>
        <p:nvSpPr>
          <p:cNvPr id="11" name="Rounded Rectangle 10"/>
          <p:cNvSpPr/>
          <p:nvPr/>
        </p:nvSpPr>
        <p:spPr>
          <a:xfrm>
            <a:off x="548640" y="2164079"/>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She is too much complacent.</a:t>
            </a:r>
          </a:p>
        </p:txBody>
      </p:sp>
      <p:sp>
        <p:nvSpPr>
          <p:cNvPr id="12" name="Rounded Rectangle 11"/>
          <p:cNvSpPr/>
          <p:nvPr/>
        </p:nvSpPr>
        <p:spPr>
          <a:xfrm>
            <a:off x="6187287" y="2164079"/>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She is too complacent.</a:t>
            </a:r>
          </a:p>
          <a:p>
            <a:pPr algn="l">
              <a:spcAft>
                <a:spcPts val="200"/>
              </a:spcAft>
            </a:pPr>
            <a:r>
              <a:rPr sz="1200" b="0">
                <a:solidFill>
                  <a:srgbClr val="FFFFFF"/>
                </a:solidFill>
                <a:latin typeface="Arial"/>
                <a:ea typeface="Microsoft YaHei"/>
              </a:rPr>
              <a:t>too + 形容词</a:t>
            </a:r>
          </a:p>
        </p:txBody>
      </p:sp>
      <p:sp>
        <p:nvSpPr>
          <p:cNvPr id="13" name="Rounded Rectangle 12"/>
          <p:cNvSpPr/>
          <p:nvPr/>
        </p:nvSpPr>
        <p:spPr>
          <a:xfrm>
            <a:off x="548640" y="2865118"/>
            <a:ext cx="5455767" cy="85343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 suggest you to share more.</a:t>
            </a:r>
          </a:p>
        </p:txBody>
      </p:sp>
      <p:sp>
        <p:nvSpPr>
          <p:cNvPr id="14" name="Rounded Rectangle 13"/>
          <p:cNvSpPr/>
          <p:nvPr/>
        </p:nvSpPr>
        <p:spPr>
          <a:xfrm>
            <a:off x="6187287" y="2865118"/>
            <a:ext cx="5455767" cy="85343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 suggest you share more. / suggest that you share.</a:t>
            </a:r>
          </a:p>
          <a:p>
            <a:pPr algn="l">
              <a:spcAft>
                <a:spcPts val="200"/>
              </a:spcAft>
            </a:pPr>
            <a:r>
              <a:rPr sz="1200" b="0">
                <a:solidFill>
                  <a:srgbClr val="FFFFFF"/>
                </a:solidFill>
                <a:latin typeface="Arial"/>
                <a:ea typeface="Microsoft YaHei"/>
              </a:rPr>
              <a:t>suggest 句型</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7 · Lesson 36 Fail to have a great career</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132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I’m shy to speak up.</a:t>
            </a:r>
          </a:p>
        </p:txBody>
      </p:sp>
      <p:sp>
        <p:nvSpPr>
          <p:cNvPr id="10" name="Rounded Rectangle 9"/>
          <p:cNvSpPr/>
          <p:nvPr/>
        </p:nvSpPr>
        <p:spPr>
          <a:xfrm>
            <a:off x="6187287" y="1463040"/>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I’m shy about speaking up.</a:t>
            </a:r>
          </a:p>
          <a:p>
            <a:pPr algn="l">
              <a:spcAft>
                <a:spcPts val="200"/>
              </a:spcAft>
            </a:pPr>
            <a:r>
              <a:rPr sz="1200" b="0">
                <a:solidFill>
                  <a:srgbClr val="FFFFFF"/>
                </a:solidFill>
                <a:latin typeface="Arial"/>
                <a:ea typeface="Microsoft YaHei"/>
              </a:rPr>
              <a:t>shy about -ing</a:t>
            </a:r>
          </a:p>
        </p:txBody>
      </p:sp>
      <p:sp>
        <p:nvSpPr>
          <p:cNvPr id="11" name="Rounded Rectangle 10"/>
          <p:cNvSpPr/>
          <p:nvPr/>
        </p:nvSpPr>
        <p:spPr>
          <a:xfrm>
            <a:off x="548640" y="2164079"/>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It’s depends on the company.</a:t>
            </a:r>
          </a:p>
        </p:txBody>
      </p:sp>
      <p:sp>
        <p:nvSpPr>
          <p:cNvPr id="12" name="Rounded Rectangle 11"/>
          <p:cNvSpPr/>
          <p:nvPr/>
        </p:nvSpPr>
        <p:spPr>
          <a:xfrm>
            <a:off x="6187287" y="2164079"/>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It depends on the company.</a:t>
            </a:r>
          </a:p>
          <a:p>
            <a:pPr algn="l">
              <a:spcAft>
                <a:spcPts val="200"/>
              </a:spcAft>
            </a:pPr>
            <a:r>
              <a:rPr sz="1200" b="0">
                <a:solidFill>
                  <a:srgbClr val="FFFFFF"/>
                </a:solidFill>
                <a:latin typeface="Arial"/>
                <a:ea typeface="Microsoft YaHei"/>
              </a:rPr>
              <a:t>depend 动词</a:t>
            </a:r>
          </a:p>
        </p:txBody>
      </p:sp>
      <p:sp>
        <p:nvSpPr>
          <p:cNvPr id="13" name="Rounded Rectangle 12"/>
          <p:cNvSpPr/>
          <p:nvPr/>
        </p:nvSpPr>
        <p:spPr>
          <a:xfrm>
            <a:off x="548640" y="2865118"/>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 don’t agree your opinion.</a:t>
            </a:r>
          </a:p>
        </p:txBody>
      </p:sp>
      <p:sp>
        <p:nvSpPr>
          <p:cNvPr id="14" name="Rounded Rectangle 13"/>
          <p:cNvSpPr/>
          <p:nvPr/>
        </p:nvSpPr>
        <p:spPr>
          <a:xfrm>
            <a:off x="6187287" y="2865118"/>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 don’t agree with your opinion.</a:t>
            </a:r>
          </a:p>
          <a:p>
            <a:pPr algn="l">
              <a:spcAft>
                <a:spcPts val="200"/>
              </a:spcAft>
            </a:pPr>
            <a:r>
              <a:rPr sz="1200" b="0">
                <a:solidFill>
                  <a:srgbClr val="FFFFFF"/>
                </a:solidFill>
                <a:latin typeface="Arial"/>
                <a:ea typeface="Microsoft YaHei"/>
              </a:rPr>
              <a:t>agree with</a:t>
            </a:r>
          </a:p>
        </p:txBody>
      </p:sp>
      <p:sp>
        <p:nvSpPr>
          <p:cNvPr id="18" name="Rounded Rectangle 1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Check uncountable feedback / advice, suggest that, depend on, agree with.</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Cultural tips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7 · Lesson 36 Fail to have a great career</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133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文化小贴士</a:t>
            </a:r>
          </a:p>
        </p:txBody>
      </p:sp>
      <p:sp>
        <p:nvSpPr>
          <p:cNvPr id="9" name="Rounded Rectangle 8"/>
          <p:cNvSpPr/>
          <p:nvPr/>
        </p:nvSpPr>
        <p:spPr>
          <a:xfrm>
            <a:off x="548640" y="1417320"/>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44195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417320"/>
            <a:ext cx="10728655" cy="441959"/>
          </a:xfrm>
          <a:prstGeom prst="rect">
            <a:avLst/>
          </a:prstGeom>
          <a:noFill/>
        </p:spPr>
        <p:txBody>
          <a:bodyPr wrap="square" anchor="ctr">
            <a:spAutoFit/>
          </a:bodyPr>
          <a:lstStyle/>
          <a:p>
            <a:r>
              <a:rPr sz="1700" b="0">
                <a:solidFill>
                  <a:srgbClr val="1F2A44"/>
                </a:solidFill>
                <a:latin typeface="Arial"/>
                <a:ea typeface="Microsoft YaHei"/>
              </a:rPr>
              <a:t>Feedback is a gift. In many Western workplaces, regular feedback is normal and expected.</a:t>
            </a:r>
          </a:p>
        </p:txBody>
      </p:sp>
      <p:sp>
        <p:nvSpPr>
          <p:cNvPr id="12" name="Rounded Rectangle 11"/>
          <p:cNvSpPr/>
          <p:nvPr/>
        </p:nvSpPr>
        <p:spPr>
          <a:xfrm>
            <a:off x="548640" y="1950719"/>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1950719"/>
            <a:ext cx="91440" cy="441959"/>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1950719"/>
            <a:ext cx="10728655" cy="441959"/>
          </a:xfrm>
          <a:prstGeom prst="rect">
            <a:avLst/>
          </a:prstGeom>
          <a:noFill/>
        </p:spPr>
        <p:txBody>
          <a:bodyPr wrap="square" anchor="ctr">
            <a:spAutoFit/>
          </a:bodyPr>
          <a:lstStyle/>
          <a:p>
            <a:r>
              <a:rPr sz="1700" b="0">
                <a:solidFill>
                  <a:srgbClr val="1F2A44"/>
                </a:solidFill>
                <a:latin typeface="Arial"/>
                <a:ea typeface="Microsoft YaHei"/>
              </a:rPr>
              <a:t>Sandwich method. Positive, improvement, positive. It softens criticism.</a:t>
            </a:r>
          </a:p>
        </p:txBody>
      </p:sp>
      <p:sp>
        <p:nvSpPr>
          <p:cNvPr id="15" name="Rounded Rectangle 14"/>
          <p:cNvSpPr/>
          <p:nvPr/>
        </p:nvSpPr>
        <p:spPr>
          <a:xfrm>
            <a:off x="548640" y="2484118"/>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2484118"/>
            <a:ext cx="91440" cy="441959"/>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2484118"/>
            <a:ext cx="10728655" cy="441959"/>
          </a:xfrm>
          <a:prstGeom prst="rect">
            <a:avLst/>
          </a:prstGeom>
          <a:noFill/>
        </p:spPr>
        <p:txBody>
          <a:bodyPr wrap="square" anchor="ctr">
            <a:spAutoFit/>
          </a:bodyPr>
          <a:lstStyle/>
          <a:p>
            <a:r>
              <a:rPr sz="1700" b="0">
                <a:solidFill>
                  <a:srgbClr val="1F2A44"/>
                </a:solidFill>
                <a:latin typeface="Arial"/>
                <a:ea typeface="Microsoft YaHei"/>
              </a:rPr>
              <a:t>Visibility matters. Politely sharing success is not boasting.</a:t>
            </a:r>
          </a:p>
        </p:txBody>
      </p:sp>
      <p:sp>
        <p:nvSpPr>
          <p:cNvPr id="18" name="Rounded Rectangle 17"/>
          <p:cNvSpPr/>
          <p:nvPr/>
        </p:nvSpPr>
        <p:spPr>
          <a:xfrm>
            <a:off x="548640" y="3017517"/>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48640" y="3017517"/>
            <a:ext cx="91440" cy="441959"/>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 y="3017517"/>
            <a:ext cx="10728655" cy="441959"/>
          </a:xfrm>
          <a:prstGeom prst="rect">
            <a:avLst/>
          </a:prstGeom>
          <a:noFill/>
        </p:spPr>
        <p:txBody>
          <a:bodyPr wrap="square" anchor="ctr">
            <a:spAutoFit/>
          </a:bodyPr>
          <a:lstStyle/>
          <a:p>
            <a:r>
              <a:rPr sz="1700" b="0">
                <a:solidFill>
                  <a:srgbClr val="1F2A44"/>
                </a:solidFill>
                <a:latin typeface="Arial"/>
                <a:ea typeface="Microsoft YaHei"/>
              </a:rPr>
              <a:t>Leave well. Say thanks, keep contact, don’t burn bridges.</a:t>
            </a:r>
          </a:p>
        </p:txBody>
      </p:sp>
    </p:spTree>
  </p:cSld>
  <p:clrMapOvr>
    <a:masterClrMapping/>
  </p:clrMapOvr>
  <p:transition spd="med">
    <p:fade/>
  </p:transition>
</p:sld>
</file>

<file path=ppt/slides/slide13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Can-do Check 掌握度自检</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Lesson 36 wrap-up</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7 · Lesson 36 Fail to have a great career</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134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Rate yourself: ⭐ not yet · ⭐⭐ almost · ⭐⭐⭐ I can do it!  给自己打星</a:t>
            </a:r>
          </a:p>
        </p:txBody>
      </p:sp>
      <p:sp>
        <p:nvSpPr>
          <p:cNvPr id="9" name="Rounded Rectangle 8"/>
          <p:cNvSpPr/>
          <p:nvPr/>
        </p:nvSpPr>
        <p:spPr>
          <a:xfrm>
            <a:off x="548640" y="1508760"/>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508760"/>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1" name="TextBox 10"/>
          <p:cNvSpPr txBox="1"/>
          <p:nvPr/>
        </p:nvSpPr>
        <p:spPr>
          <a:xfrm>
            <a:off x="1234440" y="1508760"/>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name common career mistakes and myths.</a:t>
            </a:r>
          </a:p>
        </p:txBody>
      </p:sp>
      <p:sp>
        <p:nvSpPr>
          <p:cNvPr id="12" name="TextBox 11"/>
          <p:cNvSpPr txBox="1"/>
          <p:nvPr/>
        </p:nvSpPr>
        <p:spPr>
          <a:xfrm>
            <a:off x="9539935" y="1508760"/>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3" name="Rounded Rectangle 12"/>
          <p:cNvSpPr/>
          <p:nvPr/>
        </p:nvSpPr>
        <p:spPr>
          <a:xfrm>
            <a:off x="548640" y="2106168"/>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2106168"/>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5" name="TextBox 14"/>
          <p:cNvSpPr txBox="1"/>
          <p:nvPr/>
        </p:nvSpPr>
        <p:spPr>
          <a:xfrm>
            <a:off x="1234440" y="2106168"/>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give feedback tactfully.</a:t>
            </a:r>
          </a:p>
        </p:txBody>
      </p:sp>
      <p:sp>
        <p:nvSpPr>
          <p:cNvPr id="16" name="TextBox 15"/>
          <p:cNvSpPr txBox="1"/>
          <p:nvPr/>
        </p:nvSpPr>
        <p:spPr>
          <a:xfrm>
            <a:off x="9539935" y="2106168"/>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7" name="Rounded Rectangle 16"/>
          <p:cNvSpPr/>
          <p:nvPr/>
        </p:nvSpPr>
        <p:spPr>
          <a:xfrm>
            <a:off x="548640" y="2703576"/>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2703576"/>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9" name="TextBox 18"/>
          <p:cNvSpPr txBox="1"/>
          <p:nvPr/>
        </p:nvSpPr>
        <p:spPr>
          <a:xfrm>
            <a:off x="1234440" y="2703576"/>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accept feedback with I’ll take it on board.</a:t>
            </a:r>
          </a:p>
        </p:txBody>
      </p:sp>
      <p:sp>
        <p:nvSpPr>
          <p:cNvPr id="20" name="TextBox 19"/>
          <p:cNvSpPr txBox="1"/>
          <p:nvPr/>
        </p:nvSpPr>
        <p:spPr>
          <a:xfrm>
            <a:off x="9539935" y="2703576"/>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1" name="Rounded Rectangle 20"/>
          <p:cNvSpPr/>
          <p:nvPr/>
        </p:nvSpPr>
        <p:spPr>
          <a:xfrm>
            <a:off x="548640" y="3300984"/>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3300984"/>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3" name="TextBox 22"/>
          <p:cNvSpPr txBox="1"/>
          <p:nvPr/>
        </p:nvSpPr>
        <p:spPr>
          <a:xfrm>
            <a:off x="1234440" y="3300984"/>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use feedback / advice as uncountable nouns.</a:t>
            </a:r>
          </a:p>
        </p:txBody>
      </p:sp>
      <p:sp>
        <p:nvSpPr>
          <p:cNvPr id="24" name="TextBox 23"/>
          <p:cNvSpPr txBox="1"/>
          <p:nvPr/>
        </p:nvSpPr>
        <p:spPr>
          <a:xfrm>
            <a:off x="9539935" y="3300984"/>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5" name="Rounded Rectangle 24"/>
          <p:cNvSpPr/>
          <p:nvPr/>
        </p:nvSpPr>
        <p:spPr>
          <a:xfrm>
            <a:off x="548640" y="3898392"/>
            <a:ext cx="11094415" cy="8107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3898392"/>
            <a:ext cx="548640" cy="8107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7" name="TextBox 26"/>
          <p:cNvSpPr txBox="1"/>
          <p:nvPr/>
        </p:nvSpPr>
        <p:spPr>
          <a:xfrm>
            <a:off x="1234440" y="3898392"/>
            <a:ext cx="8168335" cy="8107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use at least three ★ expressions from this lesson in my own sentences.</a:t>
            </a:r>
          </a:p>
        </p:txBody>
      </p:sp>
      <p:sp>
        <p:nvSpPr>
          <p:cNvPr id="28" name="TextBox 27"/>
          <p:cNvSpPr txBox="1"/>
          <p:nvPr/>
        </p:nvSpPr>
        <p:spPr>
          <a:xfrm>
            <a:off x="9539935" y="3898392"/>
            <a:ext cx="2011680" cy="8107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Tree>
  </p:cSld>
  <p:clrMapOvr>
    <a:masterClrMapping/>
  </p:clrMapOvr>
  <p:transition spd="med">
    <p:fade/>
  </p:transition>
</p:sld>
</file>

<file path=ppt/slides/slide13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After Class: 10-Minute Daily Plan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课后练习</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7 · Lesson 36 Fail to have a great career</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135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1554480" cy="713232"/>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0–2</a:t>
            </a:r>
          </a:p>
        </p:txBody>
      </p:sp>
      <p:sp>
        <p:nvSpPr>
          <p:cNvPr id="9" name="Rounded Rectangle 8"/>
          <p:cNvSpPr/>
          <p:nvPr/>
        </p:nvSpPr>
        <p:spPr>
          <a:xfrm>
            <a:off x="2240280" y="1325880"/>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Read the 15 expressions aloud. Cover the English and say it from the Chinese. Pick 3 ★ items and make one true sentence with each.</a:t>
            </a:r>
          </a:p>
        </p:txBody>
      </p:sp>
      <p:sp>
        <p:nvSpPr>
          <p:cNvPr id="10" name="Rounded Rectangle 9"/>
          <p:cNvSpPr/>
          <p:nvPr/>
        </p:nvSpPr>
        <p:spPr>
          <a:xfrm>
            <a:off x="548640" y="2112264"/>
            <a:ext cx="1554480" cy="438912"/>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2–4</a:t>
            </a:r>
          </a:p>
        </p:txBody>
      </p:sp>
      <p:sp>
        <p:nvSpPr>
          <p:cNvPr id="11" name="Rounded Rectangle 10"/>
          <p:cNvSpPr/>
          <p:nvPr/>
        </p:nvSpPr>
        <p:spPr>
          <a:xfrm>
            <a:off x="2240280" y="2112264"/>
            <a:ext cx="9402775" cy="43891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Shadow the model dialogue: read it with the same rhythm and intonation.</a:t>
            </a:r>
          </a:p>
        </p:txBody>
      </p:sp>
      <p:sp>
        <p:nvSpPr>
          <p:cNvPr id="12" name="Rounded Rectangle 11"/>
          <p:cNvSpPr/>
          <p:nvPr/>
        </p:nvSpPr>
        <p:spPr>
          <a:xfrm>
            <a:off x="548640" y="2624328"/>
            <a:ext cx="1554480" cy="438912"/>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4–8</a:t>
            </a:r>
          </a:p>
        </p:txBody>
      </p:sp>
      <p:sp>
        <p:nvSpPr>
          <p:cNvPr id="13" name="Rounded Rectangle 12"/>
          <p:cNvSpPr/>
          <p:nvPr/>
        </p:nvSpPr>
        <p:spPr>
          <a:xfrm>
            <a:off x="2240280" y="2624328"/>
            <a:ext cx="9402775" cy="43891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Give a colleague (or yourself) three sentences of feedback. Say them aloud.</a:t>
            </a:r>
          </a:p>
        </p:txBody>
      </p:sp>
      <p:sp>
        <p:nvSpPr>
          <p:cNvPr id="14" name="Rounded Rectangle 13"/>
          <p:cNvSpPr/>
          <p:nvPr/>
        </p:nvSpPr>
        <p:spPr>
          <a:xfrm>
            <a:off x="548640" y="3136392"/>
            <a:ext cx="1554480" cy="713232"/>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8–10</a:t>
            </a:r>
          </a:p>
        </p:txBody>
      </p:sp>
      <p:sp>
        <p:nvSpPr>
          <p:cNvPr id="15" name="Rounded Rectangle 14"/>
          <p:cNvSpPr/>
          <p:nvPr/>
        </p:nvSpPr>
        <p:spPr>
          <a:xfrm>
            <a:off x="2240280" y="3136392"/>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Listen to your recording. Check: feedback uncountable, suggest that, depend on, agree with. Write 3 corrections and record again.</a:t>
            </a:r>
          </a:p>
        </p:txBody>
      </p:sp>
      <p:sp>
        <p:nvSpPr>
          <p:cNvPr id="16" name="Rounded Rectangle 15"/>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Weekly rhythm: Mon–Tue Scenario 1 · Wed–Thu Scenario 2 · Fri Level-up variation · Weekend: do the Reading / Listening focus again without looking, then record the 1-minute speaking prompt and compare with Monday.</a:t>
            </a:r>
          </a:p>
        </p:txBody>
      </p:sp>
    </p:spTree>
  </p:cSld>
  <p:clrMapOvr>
    <a:masterClrMapping/>
  </p:clrMapOvr>
  <p:transition spd="med">
    <p:fade/>
  </p:transition>
</p:sld>
</file>

<file path=ppt/slides/slide13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Lucky Boxes 幸运盒子</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Unit game</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7</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136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Pick a number, take the challenge!  选一个数字，接受挑战</a:t>
            </a:r>
          </a:p>
        </p:txBody>
      </p:sp>
      <p:sp>
        <p:nvSpPr>
          <p:cNvPr id="9" name="Rounded Rectangle 8">
            <a:hlinkClick action="ppaction://hlinksldjump" r:id="rId4"/>
          </p:cNvPr>
          <p:cNvSpPr/>
          <p:nvPr/>
        </p:nvSpPr>
        <p:spPr>
          <a:xfrm>
            <a:off x="1691640" y="1508760"/>
            <a:ext cx="2773680" cy="1371600"/>
          </a:xfrm>
          <a:prstGeom prst="roundRect">
            <a:avLst>
              <a:gd name="adj" fmla="val 18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3400" b="1">
                <a:solidFill>
                  <a:srgbClr val="FFFFFF"/>
                </a:solidFill>
                <a:latin typeface="Arial"/>
                <a:ea typeface="Microsoft YaHei"/>
              </a:rPr>
              <a:t>🎁 1</a:t>
            </a:r>
          </a:p>
        </p:txBody>
      </p:sp>
      <p:sp>
        <p:nvSpPr>
          <p:cNvPr id="10" name="Rounded Rectangle 9">
            <a:hlinkClick action="ppaction://hlinksldjump" r:id="rId5"/>
          </p:cNvPr>
          <p:cNvSpPr/>
          <p:nvPr/>
        </p:nvSpPr>
        <p:spPr>
          <a:xfrm>
            <a:off x="4693920" y="1508760"/>
            <a:ext cx="2773680" cy="1371600"/>
          </a:xfrm>
          <a:prstGeom prst="roundRect">
            <a:avLst>
              <a:gd name="adj" fmla="val 18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3400" b="1">
                <a:solidFill>
                  <a:srgbClr val="FFFFFF"/>
                </a:solidFill>
                <a:latin typeface="Arial"/>
                <a:ea typeface="Microsoft YaHei"/>
              </a:rPr>
              <a:t>🎁 2</a:t>
            </a:r>
          </a:p>
        </p:txBody>
      </p:sp>
      <p:sp>
        <p:nvSpPr>
          <p:cNvPr id="11" name="Rounded Rectangle 10">
            <a:hlinkClick action="ppaction://hlinksldjump" r:id="rId6"/>
          </p:cNvPr>
          <p:cNvSpPr/>
          <p:nvPr/>
        </p:nvSpPr>
        <p:spPr>
          <a:xfrm>
            <a:off x="7696200" y="1508760"/>
            <a:ext cx="2773680" cy="1371600"/>
          </a:xfrm>
          <a:prstGeom prst="roundRect">
            <a:avLst>
              <a:gd name="adj" fmla="val 18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3400" b="1">
                <a:solidFill>
                  <a:srgbClr val="FFFFFF"/>
                </a:solidFill>
                <a:latin typeface="Arial"/>
                <a:ea typeface="Microsoft YaHei"/>
              </a:rPr>
              <a:t>🎁 3</a:t>
            </a:r>
          </a:p>
        </p:txBody>
      </p:sp>
      <p:sp>
        <p:nvSpPr>
          <p:cNvPr id="12" name="Rounded Rectangle 11">
            <a:hlinkClick action="ppaction://hlinksldjump" r:id="rId7"/>
          </p:cNvPr>
          <p:cNvSpPr/>
          <p:nvPr/>
        </p:nvSpPr>
        <p:spPr>
          <a:xfrm>
            <a:off x="1691640" y="3108960"/>
            <a:ext cx="2773680" cy="1371600"/>
          </a:xfrm>
          <a:prstGeom prst="roundRect">
            <a:avLst>
              <a:gd name="adj" fmla="val 18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3400" b="1">
                <a:solidFill>
                  <a:srgbClr val="FFFFFF"/>
                </a:solidFill>
                <a:latin typeface="Arial"/>
                <a:ea typeface="Microsoft YaHei"/>
              </a:rPr>
              <a:t>🎁 4</a:t>
            </a:r>
          </a:p>
        </p:txBody>
      </p:sp>
      <p:sp>
        <p:nvSpPr>
          <p:cNvPr id="13" name="Rounded Rectangle 12">
            <a:hlinkClick action="ppaction://hlinksldjump" r:id="rId8"/>
          </p:cNvPr>
          <p:cNvSpPr/>
          <p:nvPr/>
        </p:nvSpPr>
        <p:spPr>
          <a:xfrm>
            <a:off x="4693920" y="3108960"/>
            <a:ext cx="2773680" cy="1371600"/>
          </a:xfrm>
          <a:prstGeom prst="roundRect">
            <a:avLst>
              <a:gd name="adj" fmla="val 18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3400" b="1">
                <a:solidFill>
                  <a:srgbClr val="FFFFFF"/>
                </a:solidFill>
                <a:latin typeface="Arial"/>
                <a:ea typeface="Microsoft YaHei"/>
              </a:rPr>
              <a:t>🎁 5</a:t>
            </a:r>
          </a:p>
        </p:txBody>
      </p:sp>
      <p:sp>
        <p:nvSpPr>
          <p:cNvPr id="14" name="Rounded Rectangle 13">
            <a:hlinkClick action="ppaction://hlinksldjump" r:id="rId9"/>
          </p:cNvPr>
          <p:cNvSpPr/>
          <p:nvPr/>
        </p:nvSpPr>
        <p:spPr>
          <a:xfrm>
            <a:off x="7696200" y="3108960"/>
            <a:ext cx="2773680" cy="1371600"/>
          </a:xfrm>
          <a:prstGeom prst="roundRect">
            <a:avLst>
              <a:gd name="adj" fmla="val 18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3400" b="1">
                <a:solidFill>
                  <a:srgbClr val="FFFFFF"/>
                </a:solidFill>
                <a:latin typeface="Arial"/>
                <a:ea typeface="Microsoft YaHei"/>
              </a:rPr>
              <a:t>🎁 6</a:t>
            </a:r>
          </a:p>
        </p:txBody>
      </p:sp>
      <p:sp>
        <p:nvSpPr>
          <p:cNvPr id="15" name="Rounded Rectangle 14">
            <a:hlinkClick action="ppaction://hlinksldjump" r:id="rId10"/>
          </p:cNvPr>
          <p:cNvSpPr/>
          <p:nvPr/>
        </p:nvSpPr>
        <p:spPr>
          <a:xfrm>
            <a:off x="1691640" y="4709160"/>
            <a:ext cx="2773680" cy="1371600"/>
          </a:xfrm>
          <a:prstGeom prst="roundRect">
            <a:avLst>
              <a:gd name="adj" fmla="val 18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3400" b="1">
                <a:solidFill>
                  <a:srgbClr val="FFFFFF"/>
                </a:solidFill>
                <a:latin typeface="Arial"/>
                <a:ea typeface="Microsoft YaHei"/>
              </a:rPr>
              <a:t>🎁 7</a:t>
            </a:r>
          </a:p>
        </p:txBody>
      </p:sp>
      <p:sp>
        <p:nvSpPr>
          <p:cNvPr id="16" name="Rounded Rectangle 15">
            <a:hlinkClick action="ppaction://hlinksldjump" r:id="rId11"/>
          </p:cNvPr>
          <p:cNvSpPr/>
          <p:nvPr/>
        </p:nvSpPr>
        <p:spPr>
          <a:xfrm>
            <a:off x="4693920" y="4709160"/>
            <a:ext cx="2773680" cy="1371600"/>
          </a:xfrm>
          <a:prstGeom prst="roundRect">
            <a:avLst>
              <a:gd name="adj" fmla="val 18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3400" b="1">
                <a:solidFill>
                  <a:srgbClr val="FFFFFF"/>
                </a:solidFill>
                <a:latin typeface="Arial"/>
                <a:ea typeface="Microsoft YaHei"/>
              </a:rPr>
              <a:t>🎁 8</a:t>
            </a:r>
          </a:p>
        </p:txBody>
      </p:sp>
      <p:sp>
        <p:nvSpPr>
          <p:cNvPr id="17" name="Rounded Rectangle 16">
            <a:hlinkClick action="ppaction://hlinksldjump" r:id="rId12"/>
          </p:cNvPr>
          <p:cNvSpPr/>
          <p:nvPr/>
        </p:nvSpPr>
        <p:spPr>
          <a:xfrm>
            <a:off x="7696200" y="4709160"/>
            <a:ext cx="2773680" cy="1371600"/>
          </a:xfrm>
          <a:prstGeom prst="roundRect">
            <a:avLst>
              <a:gd name="adj" fmla="val 18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3400" b="1">
                <a:solidFill>
                  <a:srgbClr val="FFFFFF"/>
                </a:solidFill>
                <a:latin typeface="Arial"/>
                <a:ea typeface="Microsoft YaHei"/>
              </a:rPr>
              <a:t>🎁 9</a:t>
            </a:r>
          </a:p>
        </p:txBody>
      </p:sp>
    </p:spTree>
  </p:cSld>
  <p:clrMapOvr>
    <a:masterClrMapping/>
  </p:clrMapOvr>
  <p:transition spd="med">
    <p:fade/>
  </p:transition>
</p:sld>
</file>

<file path=ppt/slides/slide137.xml><?xml version="1.0" encoding="utf-8"?>
<p:sld xmlns:a="http://schemas.openxmlformats.org/drawingml/2006/main" xmlns:p="http://schemas.openxmlformats.org/presentationml/2006/main" xmlns:r="http://schemas.openxmlformats.org/officeDocument/2006/relationships" show="0">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Lucky Box 1</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Lucky Boxes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7</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137</a:t>
            </a:r>
          </a:p>
        </p:txBody>
      </p:sp>
      <p:sp>
        <p:nvSpPr>
          <p:cNvPr id="7" name="TextBox 6"/>
          <p:cNvSpPr txBox="1"/>
          <p:nvPr/>
        </p:nvSpPr>
        <p:spPr>
          <a:xfrm>
            <a:off x="0" y="1234440"/>
            <a:ext cx="12191695" cy="731520"/>
          </a:xfrm>
          <a:prstGeom prst="rect">
            <a:avLst/>
          </a:prstGeom>
          <a:noFill/>
        </p:spPr>
        <p:txBody>
          <a:bodyPr wrap="square" anchor="t">
            <a:spAutoFit/>
          </a:bodyPr>
          <a:lstStyle/>
          <a:p>
            <a:pPr algn="ctr">
              <a:lnSpc>
                <a:spcPct val="115000"/>
              </a:lnSpc>
              <a:spcAft>
                <a:spcPts val="800"/>
              </a:spcAft>
            </a:pPr>
            <a:r>
              <a:rPr sz="3600" b="1">
                <a:solidFill>
                  <a:srgbClr val="4A90E2"/>
                </a:solidFill>
                <a:latin typeface="Arial"/>
                <a:ea typeface="Microsoft YaHei"/>
              </a:rPr>
              <a:t>💡  Use it!</a:t>
            </a:r>
          </a:p>
        </p:txBody>
      </p:sp>
      <p:sp>
        <p:nvSpPr>
          <p:cNvPr id="8" name="TextBox 7"/>
          <p:cNvSpPr txBox="1"/>
          <p:nvPr/>
        </p:nvSpPr>
        <p:spPr>
          <a:xfrm>
            <a:off x="0" y="1920240"/>
            <a:ext cx="12191695" cy="457200"/>
          </a:xfrm>
          <a:prstGeom prst="rect">
            <a:avLst/>
          </a:prstGeom>
          <a:noFill/>
        </p:spPr>
        <p:txBody>
          <a:bodyPr wrap="square" anchor="t">
            <a:spAutoFit/>
          </a:bodyPr>
          <a:lstStyle/>
          <a:p>
            <a:pPr algn="ctr">
              <a:lnSpc>
                <a:spcPct val="115000"/>
              </a:lnSpc>
              <a:spcAft>
                <a:spcPts val="800"/>
              </a:spcAft>
            </a:pPr>
            <a:r>
              <a:rPr sz="1800" b="0">
                <a:solidFill>
                  <a:srgbClr val="5F677A"/>
                </a:solidFill>
                <a:latin typeface="Arial"/>
                <a:ea typeface="Microsoft YaHei"/>
              </a:rPr>
              <a:t>用这个表达说一句和你工作相关的话</a:t>
            </a:r>
          </a:p>
        </p:txBody>
      </p:sp>
      <p:sp>
        <p:nvSpPr>
          <p:cNvPr id="9" name="Rounded Rectangle 8"/>
          <p:cNvSpPr/>
          <p:nvPr/>
        </p:nvSpPr>
        <p:spPr>
          <a:xfrm>
            <a:off x="1645920" y="2514600"/>
            <a:ext cx="8869680" cy="1645920"/>
          </a:xfrm>
          <a:prstGeom prst="roundRect">
            <a:avLst>
              <a:gd name="adj" fmla="val 12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1F2A44"/>
                </a:solidFill>
                <a:latin typeface="Arial"/>
                <a:ea typeface="Microsoft YaHei"/>
              </a:rPr>
              <a:t>plateau</a:t>
            </a:r>
          </a:p>
        </p:txBody>
      </p:sp>
      <p:sp>
        <p:nvSpPr>
          <p:cNvPr id="10" name="Rounded Rectangle 9"/>
          <p:cNvSpPr/>
          <p:nvPr/>
        </p:nvSpPr>
        <p:spPr>
          <a:xfrm>
            <a:off x="2103120" y="4389120"/>
            <a:ext cx="7955279" cy="100584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400" b="1">
                <a:solidFill>
                  <a:srgbClr val="FFFFFF"/>
                </a:solidFill>
                <a:latin typeface="Arial"/>
                <a:ea typeface="Microsoft YaHei"/>
              </a:rPr>
              <a:t>Her career hit a plateau.</a:t>
            </a:r>
          </a:p>
        </p:txBody>
      </p:sp>
      <p:sp>
        <p:nvSpPr>
          <p:cNvPr id="11" name="Rounded Rectangle 10">
            <a:hlinkClick action="ppaction://hlinksldjump" r:id="rId2"/>
          </p:cNvPr>
          <p:cNvSpPr/>
          <p:nvPr/>
        </p:nvSpPr>
        <p:spPr>
          <a:xfrm>
            <a:off x="9814255" y="5669280"/>
            <a:ext cx="1828800" cy="594360"/>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 Back</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8.xml><?xml version="1.0" encoding="utf-8"?>
<p:sld xmlns:a="http://schemas.openxmlformats.org/drawingml/2006/main" xmlns:p="http://schemas.openxmlformats.org/presentationml/2006/main" xmlns:r="http://schemas.openxmlformats.org/officeDocument/2006/relationships" show="0">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Lucky Box 2</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Lucky Boxes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7</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138</a:t>
            </a:r>
          </a:p>
        </p:txBody>
      </p:sp>
      <p:sp>
        <p:nvSpPr>
          <p:cNvPr id="7" name="TextBox 6"/>
          <p:cNvSpPr txBox="1"/>
          <p:nvPr/>
        </p:nvSpPr>
        <p:spPr>
          <a:xfrm>
            <a:off x="0" y="1234440"/>
            <a:ext cx="12191695" cy="731520"/>
          </a:xfrm>
          <a:prstGeom prst="rect">
            <a:avLst/>
          </a:prstGeom>
          <a:noFill/>
        </p:spPr>
        <p:txBody>
          <a:bodyPr wrap="square" anchor="t">
            <a:spAutoFit/>
          </a:bodyPr>
          <a:lstStyle/>
          <a:p>
            <a:pPr algn="ctr">
              <a:lnSpc>
                <a:spcPct val="115000"/>
              </a:lnSpc>
              <a:spcAft>
                <a:spcPts val="800"/>
              </a:spcAft>
            </a:pPr>
            <a:r>
              <a:rPr sz="3600" b="1">
                <a:solidFill>
                  <a:srgbClr val="4A90E2"/>
                </a:solidFill>
                <a:latin typeface="Arial"/>
                <a:ea typeface="Microsoft YaHei"/>
              </a:rPr>
              <a:t>🕵️  Fix it!</a:t>
            </a:r>
          </a:p>
        </p:txBody>
      </p:sp>
      <p:sp>
        <p:nvSpPr>
          <p:cNvPr id="8" name="TextBox 7"/>
          <p:cNvSpPr txBox="1"/>
          <p:nvPr/>
        </p:nvSpPr>
        <p:spPr>
          <a:xfrm>
            <a:off x="0" y="1920240"/>
            <a:ext cx="12191695" cy="457200"/>
          </a:xfrm>
          <a:prstGeom prst="rect">
            <a:avLst/>
          </a:prstGeom>
          <a:noFill/>
        </p:spPr>
        <p:txBody>
          <a:bodyPr wrap="square" anchor="t">
            <a:spAutoFit/>
          </a:bodyPr>
          <a:lstStyle/>
          <a:p>
            <a:pPr algn="ctr">
              <a:lnSpc>
                <a:spcPct val="115000"/>
              </a:lnSpc>
              <a:spcAft>
                <a:spcPts val="800"/>
              </a:spcAft>
            </a:pPr>
            <a:r>
              <a:rPr sz="1800" b="0">
                <a:solidFill>
                  <a:srgbClr val="5F677A"/>
                </a:solidFill>
                <a:latin typeface="Arial"/>
                <a:ea typeface="Microsoft YaHei"/>
              </a:rPr>
              <a:t>找出并改正错误</a:t>
            </a:r>
          </a:p>
        </p:txBody>
      </p:sp>
      <p:sp>
        <p:nvSpPr>
          <p:cNvPr id="9" name="Rounded Rectangle 8"/>
          <p:cNvSpPr/>
          <p:nvPr/>
        </p:nvSpPr>
        <p:spPr>
          <a:xfrm>
            <a:off x="1645920" y="2514600"/>
            <a:ext cx="8869680" cy="1645920"/>
          </a:xfrm>
          <a:prstGeom prst="roundRect">
            <a:avLst>
              <a:gd name="adj" fmla="val 12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1F2A44"/>
                </a:solidFill>
                <a:latin typeface="Arial"/>
                <a:ea typeface="Microsoft YaHei"/>
              </a:rPr>
              <a:t>I suggest you to share more.</a:t>
            </a:r>
          </a:p>
        </p:txBody>
      </p:sp>
      <p:sp>
        <p:nvSpPr>
          <p:cNvPr id="10" name="Rounded Rectangle 9"/>
          <p:cNvSpPr/>
          <p:nvPr/>
        </p:nvSpPr>
        <p:spPr>
          <a:xfrm>
            <a:off x="2103120" y="4389120"/>
            <a:ext cx="7955279" cy="100584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400" b="1">
                <a:solidFill>
                  <a:srgbClr val="FFFFFF"/>
                </a:solidFill>
                <a:latin typeface="Arial"/>
                <a:ea typeface="Microsoft YaHei"/>
              </a:rPr>
              <a:t>I suggest you share more. / suggest that you share.</a:t>
            </a:r>
          </a:p>
        </p:txBody>
      </p:sp>
      <p:sp>
        <p:nvSpPr>
          <p:cNvPr id="11" name="Rounded Rectangle 10">
            <a:hlinkClick action="ppaction://hlinksldjump" r:id="rId2"/>
          </p:cNvPr>
          <p:cNvSpPr/>
          <p:nvPr/>
        </p:nvSpPr>
        <p:spPr>
          <a:xfrm>
            <a:off x="9814255" y="5669280"/>
            <a:ext cx="1828800" cy="594360"/>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 Back</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9.xml><?xml version="1.0" encoding="utf-8"?>
<p:sld xmlns:a="http://schemas.openxmlformats.org/drawingml/2006/main" xmlns:p="http://schemas.openxmlformats.org/presentationml/2006/main" xmlns:r="http://schemas.openxmlformats.org/officeDocument/2006/relationships" show="0">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Lucky Box 3</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Lucky Boxes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7</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139</a:t>
            </a:r>
          </a:p>
        </p:txBody>
      </p:sp>
      <p:sp>
        <p:nvSpPr>
          <p:cNvPr id="7" name="TextBox 6"/>
          <p:cNvSpPr txBox="1"/>
          <p:nvPr/>
        </p:nvSpPr>
        <p:spPr>
          <a:xfrm>
            <a:off x="0" y="1371600"/>
            <a:ext cx="12191695" cy="1828800"/>
          </a:xfrm>
          <a:prstGeom prst="rect">
            <a:avLst/>
          </a:prstGeom>
          <a:noFill/>
        </p:spPr>
        <p:txBody>
          <a:bodyPr wrap="square" anchor="t">
            <a:spAutoFit/>
          </a:bodyPr>
          <a:lstStyle/>
          <a:p>
            <a:pPr algn="ctr">
              <a:lnSpc>
                <a:spcPct val="115000"/>
              </a:lnSpc>
              <a:spcAft>
                <a:spcPts val="800"/>
              </a:spcAft>
            </a:pPr>
            <a:r>
              <a:rPr sz="11000" b="0">
                <a:solidFill>
                  <a:srgbClr val="1F2A44"/>
                </a:solidFill>
                <a:latin typeface="Arial"/>
                <a:ea typeface="Microsoft YaHei"/>
              </a:rPr>
              <a:t>🦹</a:t>
            </a:r>
          </a:p>
        </p:txBody>
      </p:sp>
      <p:sp>
        <p:nvSpPr>
          <p:cNvPr id="8" name="TextBox 7"/>
          <p:cNvSpPr txBox="1"/>
          <p:nvPr/>
        </p:nvSpPr>
        <p:spPr>
          <a:xfrm>
            <a:off x="0" y="3474720"/>
            <a:ext cx="12191695" cy="914400"/>
          </a:xfrm>
          <a:prstGeom prst="rect">
            <a:avLst/>
          </a:prstGeom>
          <a:noFill/>
        </p:spPr>
        <p:txBody>
          <a:bodyPr wrap="square" anchor="t">
            <a:spAutoFit/>
          </a:bodyPr>
          <a:lstStyle/>
          <a:p>
            <a:pPr algn="ctr">
              <a:lnSpc>
                <a:spcPct val="115000"/>
              </a:lnSpc>
              <a:spcAft>
                <a:spcPts val="800"/>
              </a:spcAft>
            </a:pPr>
            <a:r>
              <a:rPr sz="5400" b="1">
                <a:solidFill>
                  <a:srgbClr val="FF6B5B"/>
                </a:solidFill>
                <a:latin typeface="Arial"/>
                <a:ea typeface="Microsoft YaHei"/>
              </a:rPr>
              <a:t>Steal!</a:t>
            </a:r>
          </a:p>
        </p:txBody>
      </p:sp>
      <p:sp>
        <p:nvSpPr>
          <p:cNvPr id="9" name="TextBox 8"/>
          <p:cNvSpPr txBox="1"/>
          <p:nvPr/>
        </p:nvSpPr>
        <p:spPr>
          <a:xfrm>
            <a:off x="0" y="4480560"/>
            <a:ext cx="12191695" cy="731520"/>
          </a:xfrm>
          <a:prstGeom prst="rect">
            <a:avLst/>
          </a:prstGeom>
          <a:noFill/>
        </p:spPr>
        <p:txBody>
          <a:bodyPr wrap="square" anchor="t">
            <a:spAutoFit/>
          </a:bodyPr>
          <a:lstStyle/>
          <a:p>
            <a:pPr algn="ctr">
              <a:lnSpc>
                <a:spcPct val="115000"/>
              </a:lnSpc>
              <a:spcAft>
                <a:spcPts val="800"/>
              </a:spcAft>
            </a:pPr>
            <a:r>
              <a:rPr sz="2400" b="0">
                <a:solidFill>
                  <a:srgbClr val="5F677A"/>
                </a:solidFill>
                <a:latin typeface="Arial"/>
                <a:ea typeface="Microsoft YaHei"/>
              </a:rPr>
              <a:t>从任意一组偷走 1 ⭐</a:t>
            </a:r>
          </a:p>
        </p:txBody>
      </p:sp>
      <p:sp>
        <p:nvSpPr>
          <p:cNvPr id="10" name="Rounded Rectangle 9">
            <a:hlinkClick action="ppaction://hlinksldjump" r:id="rId2"/>
          </p:cNvPr>
          <p:cNvSpPr/>
          <p:nvPr/>
        </p:nvSpPr>
        <p:spPr>
          <a:xfrm>
            <a:off x="9814255" y="5669280"/>
            <a:ext cx="1828800" cy="594360"/>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 Back</a:t>
            </a:r>
          </a:p>
        </p:txBody>
      </p:sp>
    </p:spTree>
  </p:cSld>
  <p:clrMapOvr>
    <a:masterClrMapping/>
  </p:clrMapOvr>
  <p:transition spd="med">
    <p:fade/>
  </p:transition>
</p:sld>
</file>

<file path=ppt/slides/slide140.xml><?xml version="1.0" encoding="utf-8"?>
<p:sld xmlns:a="http://schemas.openxmlformats.org/drawingml/2006/main" xmlns:p="http://schemas.openxmlformats.org/presentationml/2006/main" xmlns:r="http://schemas.openxmlformats.org/officeDocument/2006/relationships" show="0">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Lucky Box 4</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Lucky Boxes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7</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140</a:t>
            </a:r>
          </a:p>
        </p:txBody>
      </p:sp>
      <p:sp>
        <p:nvSpPr>
          <p:cNvPr id="7" name="TextBox 6"/>
          <p:cNvSpPr txBox="1"/>
          <p:nvPr/>
        </p:nvSpPr>
        <p:spPr>
          <a:xfrm>
            <a:off x="0" y="1234440"/>
            <a:ext cx="12191695" cy="731520"/>
          </a:xfrm>
          <a:prstGeom prst="rect">
            <a:avLst/>
          </a:prstGeom>
          <a:noFill/>
        </p:spPr>
        <p:txBody>
          <a:bodyPr wrap="square" anchor="t">
            <a:spAutoFit/>
          </a:bodyPr>
          <a:lstStyle/>
          <a:p>
            <a:pPr algn="ctr">
              <a:lnSpc>
                <a:spcPct val="115000"/>
              </a:lnSpc>
              <a:spcAft>
                <a:spcPts val="800"/>
              </a:spcAft>
            </a:pPr>
            <a:r>
              <a:rPr sz="3600" b="1">
                <a:solidFill>
                  <a:srgbClr val="4A90E2"/>
                </a:solidFill>
                <a:latin typeface="Arial"/>
                <a:ea typeface="Microsoft YaHei"/>
              </a:rPr>
              <a:t>🔤  Say it in English!</a:t>
            </a:r>
          </a:p>
        </p:txBody>
      </p:sp>
      <p:sp>
        <p:nvSpPr>
          <p:cNvPr id="8" name="TextBox 7"/>
          <p:cNvSpPr txBox="1"/>
          <p:nvPr/>
        </p:nvSpPr>
        <p:spPr>
          <a:xfrm>
            <a:off x="0" y="1920240"/>
            <a:ext cx="12191695" cy="457200"/>
          </a:xfrm>
          <a:prstGeom prst="rect">
            <a:avLst/>
          </a:prstGeom>
          <a:noFill/>
        </p:spPr>
        <p:txBody>
          <a:bodyPr wrap="square" anchor="t">
            <a:spAutoFit/>
          </a:bodyPr>
          <a:lstStyle/>
          <a:p>
            <a:pPr algn="ctr">
              <a:lnSpc>
                <a:spcPct val="115000"/>
              </a:lnSpc>
              <a:spcAft>
                <a:spcPts val="800"/>
              </a:spcAft>
            </a:pPr>
            <a:r>
              <a:rPr sz="1800" b="0">
                <a:solidFill>
                  <a:srgbClr val="5F677A"/>
                </a:solidFill>
                <a:latin typeface="Arial"/>
                <a:ea typeface="Microsoft YaHei"/>
              </a:rPr>
              <a:t>这个用英语怎么说？</a:t>
            </a:r>
          </a:p>
        </p:txBody>
      </p:sp>
      <p:sp>
        <p:nvSpPr>
          <p:cNvPr id="9" name="Rounded Rectangle 8"/>
          <p:cNvSpPr/>
          <p:nvPr/>
        </p:nvSpPr>
        <p:spPr>
          <a:xfrm>
            <a:off x="1645920" y="2514600"/>
            <a:ext cx="8869680" cy="1645920"/>
          </a:xfrm>
          <a:prstGeom prst="roundRect">
            <a:avLst>
              <a:gd name="adj" fmla="val 12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1F2A44"/>
                </a:solidFill>
                <a:latin typeface="Arial"/>
                <a:ea typeface="Microsoft YaHei"/>
              </a:rPr>
              <a:t>职业空档期</a:t>
            </a:r>
          </a:p>
        </p:txBody>
      </p:sp>
      <p:sp>
        <p:nvSpPr>
          <p:cNvPr id="10" name="Rounded Rectangle 9"/>
          <p:cNvSpPr/>
          <p:nvPr/>
        </p:nvSpPr>
        <p:spPr>
          <a:xfrm>
            <a:off x="2103120" y="4389120"/>
            <a:ext cx="7955279" cy="100584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400" b="1">
                <a:solidFill>
                  <a:srgbClr val="FFFFFF"/>
                </a:solidFill>
                <a:latin typeface="Arial"/>
                <a:ea typeface="Microsoft YaHei"/>
              </a:rPr>
              <a:t>career break</a:t>
            </a:r>
          </a:p>
        </p:txBody>
      </p:sp>
      <p:sp>
        <p:nvSpPr>
          <p:cNvPr id="11" name="Rounded Rectangle 10">
            <a:hlinkClick action="ppaction://hlinksldjump" r:id="rId2"/>
          </p:cNvPr>
          <p:cNvSpPr/>
          <p:nvPr/>
        </p:nvSpPr>
        <p:spPr>
          <a:xfrm>
            <a:off x="9814255" y="5669280"/>
            <a:ext cx="1828800" cy="594360"/>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 Back</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1.xml><?xml version="1.0" encoding="utf-8"?>
<p:sld xmlns:a="http://schemas.openxmlformats.org/drawingml/2006/main" xmlns:p="http://schemas.openxmlformats.org/presentationml/2006/main" xmlns:r="http://schemas.openxmlformats.org/officeDocument/2006/relationships" show="0">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Lucky Box 5</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Lucky Boxes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7</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141</a:t>
            </a:r>
          </a:p>
        </p:txBody>
      </p:sp>
      <p:sp>
        <p:nvSpPr>
          <p:cNvPr id="7" name="TextBox 6"/>
          <p:cNvSpPr txBox="1"/>
          <p:nvPr/>
        </p:nvSpPr>
        <p:spPr>
          <a:xfrm>
            <a:off x="0" y="1234440"/>
            <a:ext cx="12191695" cy="731520"/>
          </a:xfrm>
          <a:prstGeom prst="rect">
            <a:avLst/>
          </a:prstGeom>
          <a:noFill/>
        </p:spPr>
        <p:txBody>
          <a:bodyPr wrap="square" anchor="t">
            <a:spAutoFit/>
          </a:bodyPr>
          <a:lstStyle/>
          <a:p>
            <a:pPr algn="ctr">
              <a:lnSpc>
                <a:spcPct val="115000"/>
              </a:lnSpc>
              <a:spcAft>
                <a:spcPts val="800"/>
              </a:spcAft>
            </a:pPr>
            <a:r>
              <a:rPr sz="3600" b="1">
                <a:solidFill>
                  <a:srgbClr val="4A90E2"/>
                </a:solidFill>
                <a:latin typeface="Arial"/>
                <a:ea typeface="Microsoft YaHei"/>
              </a:rPr>
              <a:t>🔤  Say it in English!</a:t>
            </a:r>
          </a:p>
        </p:txBody>
      </p:sp>
      <p:sp>
        <p:nvSpPr>
          <p:cNvPr id="8" name="TextBox 7"/>
          <p:cNvSpPr txBox="1"/>
          <p:nvPr/>
        </p:nvSpPr>
        <p:spPr>
          <a:xfrm>
            <a:off x="0" y="1920240"/>
            <a:ext cx="12191695" cy="457200"/>
          </a:xfrm>
          <a:prstGeom prst="rect">
            <a:avLst/>
          </a:prstGeom>
          <a:noFill/>
        </p:spPr>
        <p:txBody>
          <a:bodyPr wrap="square" anchor="t">
            <a:spAutoFit/>
          </a:bodyPr>
          <a:lstStyle/>
          <a:p>
            <a:pPr algn="ctr">
              <a:lnSpc>
                <a:spcPct val="115000"/>
              </a:lnSpc>
              <a:spcAft>
                <a:spcPts val="800"/>
              </a:spcAft>
            </a:pPr>
            <a:r>
              <a:rPr sz="1800" b="0">
                <a:solidFill>
                  <a:srgbClr val="5F677A"/>
                </a:solidFill>
                <a:latin typeface="Arial"/>
                <a:ea typeface="Microsoft YaHei"/>
              </a:rPr>
              <a:t>这个用英语怎么说？</a:t>
            </a:r>
          </a:p>
        </p:txBody>
      </p:sp>
      <p:sp>
        <p:nvSpPr>
          <p:cNvPr id="9" name="Rounded Rectangle 8"/>
          <p:cNvSpPr/>
          <p:nvPr/>
        </p:nvSpPr>
        <p:spPr>
          <a:xfrm>
            <a:off x="1645920" y="2514600"/>
            <a:ext cx="8869680" cy="1645920"/>
          </a:xfrm>
          <a:prstGeom prst="roundRect">
            <a:avLst>
              <a:gd name="adj" fmla="val 12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1F2A44"/>
                </a:solidFill>
                <a:latin typeface="Arial"/>
                <a:ea typeface="Microsoft YaHei"/>
              </a:rPr>
              <a:t>阻碍你</a:t>
            </a:r>
          </a:p>
        </p:txBody>
      </p:sp>
      <p:sp>
        <p:nvSpPr>
          <p:cNvPr id="10" name="Rounded Rectangle 9"/>
          <p:cNvSpPr/>
          <p:nvPr/>
        </p:nvSpPr>
        <p:spPr>
          <a:xfrm>
            <a:off x="2103120" y="4389120"/>
            <a:ext cx="7955279" cy="100584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400" b="1">
                <a:solidFill>
                  <a:srgbClr val="FFFFFF"/>
                </a:solidFill>
                <a:latin typeface="Arial"/>
                <a:ea typeface="Microsoft YaHei"/>
              </a:rPr>
              <a:t>hold you back</a:t>
            </a:r>
          </a:p>
        </p:txBody>
      </p:sp>
      <p:sp>
        <p:nvSpPr>
          <p:cNvPr id="11" name="Rounded Rectangle 10">
            <a:hlinkClick action="ppaction://hlinksldjump" r:id="rId2"/>
          </p:cNvPr>
          <p:cNvSpPr/>
          <p:nvPr/>
        </p:nvSpPr>
        <p:spPr>
          <a:xfrm>
            <a:off x="9814255" y="5669280"/>
            <a:ext cx="1828800" cy="594360"/>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 Back</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2.xml><?xml version="1.0" encoding="utf-8"?>
<p:sld xmlns:a="http://schemas.openxmlformats.org/drawingml/2006/main" xmlns:p="http://schemas.openxmlformats.org/presentationml/2006/main" xmlns:r="http://schemas.openxmlformats.org/officeDocument/2006/relationships" show="0">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Lucky Box 6</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Lucky Boxes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7</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142</a:t>
            </a:r>
          </a:p>
        </p:txBody>
      </p:sp>
      <p:sp>
        <p:nvSpPr>
          <p:cNvPr id="7" name="TextBox 6"/>
          <p:cNvSpPr txBox="1"/>
          <p:nvPr/>
        </p:nvSpPr>
        <p:spPr>
          <a:xfrm>
            <a:off x="0" y="1371600"/>
            <a:ext cx="12191695" cy="1828800"/>
          </a:xfrm>
          <a:prstGeom prst="rect">
            <a:avLst/>
          </a:prstGeom>
          <a:noFill/>
        </p:spPr>
        <p:txBody>
          <a:bodyPr wrap="square" anchor="t">
            <a:spAutoFit/>
          </a:bodyPr>
          <a:lstStyle/>
          <a:p>
            <a:pPr algn="ctr">
              <a:lnSpc>
                <a:spcPct val="115000"/>
              </a:lnSpc>
              <a:spcAft>
                <a:spcPts val="800"/>
              </a:spcAft>
            </a:pPr>
            <a:r>
              <a:rPr sz="11000" b="0">
                <a:solidFill>
                  <a:srgbClr val="1F2A44"/>
                </a:solidFill>
                <a:latin typeface="Arial"/>
                <a:ea typeface="Microsoft YaHei"/>
              </a:rPr>
              <a:t>🎁</a:t>
            </a:r>
          </a:p>
        </p:txBody>
      </p:sp>
      <p:sp>
        <p:nvSpPr>
          <p:cNvPr id="8" name="TextBox 7"/>
          <p:cNvSpPr txBox="1"/>
          <p:nvPr/>
        </p:nvSpPr>
        <p:spPr>
          <a:xfrm>
            <a:off x="0" y="3474720"/>
            <a:ext cx="12191695" cy="914400"/>
          </a:xfrm>
          <a:prstGeom prst="rect">
            <a:avLst/>
          </a:prstGeom>
          <a:noFill/>
        </p:spPr>
        <p:txBody>
          <a:bodyPr wrap="square" anchor="t">
            <a:spAutoFit/>
          </a:bodyPr>
          <a:lstStyle/>
          <a:p>
            <a:pPr algn="ctr">
              <a:lnSpc>
                <a:spcPct val="115000"/>
              </a:lnSpc>
              <a:spcAft>
                <a:spcPts val="800"/>
              </a:spcAft>
            </a:pPr>
            <a:r>
              <a:rPr sz="5400" b="1">
                <a:solidFill>
                  <a:srgbClr val="FF6B5B"/>
                </a:solidFill>
                <a:latin typeface="Arial"/>
                <a:ea typeface="Microsoft YaHei"/>
              </a:rPr>
              <a:t>Bonus!</a:t>
            </a:r>
          </a:p>
        </p:txBody>
      </p:sp>
      <p:sp>
        <p:nvSpPr>
          <p:cNvPr id="9" name="TextBox 8"/>
          <p:cNvSpPr txBox="1"/>
          <p:nvPr/>
        </p:nvSpPr>
        <p:spPr>
          <a:xfrm>
            <a:off x="0" y="4480560"/>
            <a:ext cx="12191695" cy="731520"/>
          </a:xfrm>
          <a:prstGeom prst="rect">
            <a:avLst/>
          </a:prstGeom>
          <a:noFill/>
        </p:spPr>
        <p:txBody>
          <a:bodyPr wrap="square" anchor="t">
            <a:spAutoFit/>
          </a:bodyPr>
          <a:lstStyle/>
          <a:p>
            <a:pPr algn="ctr">
              <a:lnSpc>
                <a:spcPct val="115000"/>
              </a:lnSpc>
              <a:spcAft>
                <a:spcPts val="800"/>
              </a:spcAft>
            </a:pPr>
            <a:r>
              <a:rPr sz="2400" b="0">
                <a:solidFill>
                  <a:srgbClr val="5F677A"/>
                </a:solidFill>
                <a:latin typeface="Arial"/>
                <a:ea typeface="Microsoft YaHei"/>
              </a:rPr>
              <a:t>本组直接 +2 ⭐</a:t>
            </a:r>
          </a:p>
        </p:txBody>
      </p:sp>
      <p:sp>
        <p:nvSpPr>
          <p:cNvPr id="10" name="Rounded Rectangle 9">
            <a:hlinkClick action="ppaction://hlinksldjump" r:id="rId2"/>
          </p:cNvPr>
          <p:cNvSpPr/>
          <p:nvPr/>
        </p:nvSpPr>
        <p:spPr>
          <a:xfrm>
            <a:off x="9814255" y="5669280"/>
            <a:ext cx="1828800" cy="594360"/>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 Back</a:t>
            </a:r>
          </a:p>
        </p:txBody>
      </p:sp>
    </p:spTree>
  </p:cSld>
  <p:clrMapOvr>
    <a:masterClrMapping/>
  </p:clrMapOvr>
  <p:transition spd="med">
    <p:fade/>
  </p:transition>
</p:sld>
</file>

<file path=ppt/slides/slide143.xml><?xml version="1.0" encoding="utf-8"?>
<p:sld xmlns:a="http://schemas.openxmlformats.org/drawingml/2006/main" xmlns:p="http://schemas.openxmlformats.org/presentationml/2006/main" xmlns:r="http://schemas.openxmlformats.org/officeDocument/2006/relationships" show="0">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Lucky Box 7</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Lucky Boxes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7</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143</a:t>
            </a:r>
          </a:p>
        </p:txBody>
      </p:sp>
      <p:sp>
        <p:nvSpPr>
          <p:cNvPr id="7" name="TextBox 6"/>
          <p:cNvSpPr txBox="1"/>
          <p:nvPr/>
        </p:nvSpPr>
        <p:spPr>
          <a:xfrm>
            <a:off x="0" y="1234440"/>
            <a:ext cx="12191695" cy="731520"/>
          </a:xfrm>
          <a:prstGeom prst="rect">
            <a:avLst/>
          </a:prstGeom>
          <a:noFill/>
        </p:spPr>
        <p:txBody>
          <a:bodyPr wrap="square" anchor="t">
            <a:spAutoFit/>
          </a:bodyPr>
          <a:lstStyle/>
          <a:p>
            <a:pPr algn="ctr">
              <a:lnSpc>
                <a:spcPct val="115000"/>
              </a:lnSpc>
              <a:spcAft>
                <a:spcPts val="800"/>
              </a:spcAft>
            </a:pPr>
            <a:r>
              <a:rPr sz="3600" b="1">
                <a:solidFill>
                  <a:srgbClr val="4A90E2"/>
                </a:solidFill>
                <a:latin typeface="Arial"/>
                <a:ea typeface="Microsoft YaHei"/>
              </a:rPr>
              <a:t>💡  Use it!</a:t>
            </a:r>
          </a:p>
        </p:txBody>
      </p:sp>
      <p:sp>
        <p:nvSpPr>
          <p:cNvPr id="8" name="TextBox 7"/>
          <p:cNvSpPr txBox="1"/>
          <p:nvPr/>
        </p:nvSpPr>
        <p:spPr>
          <a:xfrm>
            <a:off x="0" y="1920240"/>
            <a:ext cx="12191695" cy="457200"/>
          </a:xfrm>
          <a:prstGeom prst="rect">
            <a:avLst/>
          </a:prstGeom>
          <a:noFill/>
        </p:spPr>
        <p:txBody>
          <a:bodyPr wrap="square" anchor="t">
            <a:spAutoFit/>
          </a:bodyPr>
          <a:lstStyle/>
          <a:p>
            <a:pPr algn="ctr">
              <a:lnSpc>
                <a:spcPct val="115000"/>
              </a:lnSpc>
              <a:spcAft>
                <a:spcPts val="800"/>
              </a:spcAft>
            </a:pPr>
            <a:r>
              <a:rPr sz="1800" b="0">
                <a:solidFill>
                  <a:srgbClr val="5F677A"/>
                </a:solidFill>
                <a:latin typeface="Arial"/>
                <a:ea typeface="Microsoft YaHei"/>
              </a:rPr>
              <a:t>用这个表达说一句和你工作相关的话</a:t>
            </a:r>
          </a:p>
        </p:txBody>
      </p:sp>
      <p:sp>
        <p:nvSpPr>
          <p:cNvPr id="9" name="Rounded Rectangle 8"/>
          <p:cNvSpPr/>
          <p:nvPr/>
        </p:nvSpPr>
        <p:spPr>
          <a:xfrm>
            <a:off x="1645920" y="2514600"/>
            <a:ext cx="8869680" cy="1645920"/>
          </a:xfrm>
          <a:prstGeom prst="roundRect">
            <a:avLst>
              <a:gd name="adj" fmla="val 12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1F2A44"/>
                </a:solidFill>
                <a:latin typeface="Arial"/>
                <a:ea typeface="Microsoft YaHei"/>
              </a:rPr>
              <a:t>find your calling</a:t>
            </a:r>
          </a:p>
        </p:txBody>
      </p:sp>
      <p:sp>
        <p:nvSpPr>
          <p:cNvPr id="10" name="Rounded Rectangle 9"/>
          <p:cNvSpPr/>
          <p:nvPr/>
        </p:nvSpPr>
        <p:spPr>
          <a:xfrm>
            <a:off x="2103120" y="4389120"/>
            <a:ext cx="7955279" cy="100584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400" b="1">
                <a:solidFill>
                  <a:srgbClr val="FFFFFF"/>
                </a:solidFill>
                <a:latin typeface="Arial"/>
                <a:ea typeface="Microsoft YaHei"/>
              </a:rPr>
              <a:t>She found her calling in teaching.</a:t>
            </a:r>
          </a:p>
        </p:txBody>
      </p:sp>
      <p:sp>
        <p:nvSpPr>
          <p:cNvPr id="11" name="Rounded Rectangle 10">
            <a:hlinkClick action="ppaction://hlinksldjump" r:id="rId2"/>
          </p:cNvPr>
          <p:cNvSpPr/>
          <p:nvPr/>
        </p:nvSpPr>
        <p:spPr>
          <a:xfrm>
            <a:off x="9814255" y="5669280"/>
            <a:ext cx="1828800" cy="594360"/>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 Back</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4.xml><?xml version="1.0" encoding="utf-8"?>
<p:sld xmlns:a="http://schemas.openxmlformats.org/drawingml/2006/main" xmlns:p="http://schemas.openxmlformats.org/presentationml/2006/main" xmlns:r="http://schemas.openxmlformats.org/officeDocument/2006/relationships" show="0">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Lucky Box 8</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Lucky Boxes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7</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144</a:t>
            </a:r>
          </a:p>
        </p:txBody>
      </p:sp>
      <p:sp>
        <p:nvSpPr>
          <p:cNvPr id="7" name="TextBox 6"/>
          <p:cNvSpPr txBox="1"/>
          <p:nvPr/>
        </p:nvSpPr>
        <p:spPr>
          <a:xfrm>
            <a:off x="0" y="1234440"/>
            <a:ext cx="12191695" cy="731520"/>
          </a:xfrm>
          <a:prstGeom prst="rect">
            <a:avLst/>
          </a:prstGeom>
          <a:noFill/>
        </p:spPr>
        <p:txBody>
          <a:bodyPr wrap="square" anchor="t">
            <a:spAutoFit/>
          </a:bodyPr>
          <a:lstStyle/>
          <a:p>
            <a:pPr algn="ctr">
              <a:lnSpc>
                <a:spcPct val="115000"/>
              </a:lnSpc>
              <a:spcAft>
                <a:spcPts val="800"/>
              </a:spcAft>
            </a:pPr>
            <a:r>
              <a:rPr sz="3600" b="1">
                <a:solidFill>
                  <a:srgbClr val="4A90E2"/>
                </a:solidFill>
                <a:latin typeface="Arial"/>
                <a:ea typeface="Microsoft YaHei"/>
              </a:rPr>
              <a:t>🔤  Say it in English!</a:t>
            </a:r>
          </a:p>
        </p:txBody>
      </p:sp>
      <p:sp>
        <p:nvSpPr>
          <p:cNvPr id="8" name="TextBox 7"/>
          <p:cNvSpPr txBox="1"/>
          <p:nvPr/>
        </p:nvSpPr>
        <p:spPr>
          <a:xfrm>
            <a:off x="0" y="1920240"/>
            <a:ext cx="12191695" cy="457200"/>
          </a:xfrm>
          <a:prstGeom prst="rect">
            <a:avLst/>
          </a:prstGeom>
          <a:noFill/>
        </p:spPr>
        <p:txBody>
          <a:bodyPr wrap="square" anchor="t">
            <a:spAutoFit/>
          </a:bodyPr>
          <a:lstStyle/>
          <a:p>
            <a:pPr algn="ctr">
              <a:lnSpc>
                <a:spcPct val="115000"/>
              </a:lnSpc>
              <a:spcAft>
                <a:spcPts val="800"/>
              </a:spcAft>
            </a:pPr>
            <a:r>
              <a:rPr sz="1800" b="0">
                <a:solidFill>
                  <a:srgbClr val="5F677A"/>
                </a:solidFill>
                <a:latin typeface="Arial"/>
                <a:ea typeface="Microsoft YaHei"/>
              </a:rPr>
              <a:t>这个用英语怎么说？</a:t>
            </a:r>
          </a:p>
        </p:txBody>
      </p:sp>
      <p:sp>
        <p:nvSpPr>
          <p:cNvPr id="9" name="Rounded Rectangle 8"/>
          <p:cNvSpPr/>
          <p:nvPr/>
        </p:nvSpPr>
        <p:spPr>
          <a:xfrm>
            <a:off x="1645920" y="2514600"/>
            <a:ext cx="8869680" cy="1645920"/>
          </a:xfrm>
          <a:prstGeom prst="roundRect">
            <a:avLst>
              <a:gd name="adj" fmla="val 12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1F2A44"/>
                </a:solidFill>
                <a:latin typeface="Arial"/>
                <a:ea typeface="Microsoft YaHei"/>
              </a:rPr>
              <a:t>最终(做了…)</a:t>
            </a:r>
          </a:p>
        </p:txBody>
      </p:sp>
      <p:sp>
        <p:nvSpPr>
          <p:cNvPr id="10" name="Rounded Rectangle 9"/>
          <p:cNvSpPr/>
          <p:nvPr/>
        </p:nvSpPr>
        <p:spPr>
          <a:xfrm>
            <a:off x="2103120" y="4389120"/>
            <a:ext cx="7955279" cy="100584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400" b="1">
                <a:solidFill>
                  <a:srgbClr val="FFFFFF"/>
                </a:solidFill>
                <a:latin typeface="Arial"/>
                <a:ea typeface="Microsoft YaHei"/>
              </a:rPr>
              <a:t>end up (doing)</a:t>
            </a:r>
          </a:p>
        </p:txBody>
      </p:sp>
      <p:sp>
        <p:nvSpPr>
          <p:cNvPr id="11" name="Rounded Rectangle 10">
            <a:hlinkClick action="ppaction://hlinksldjump" r:id="rId2"/>
          </p:cNvPr>
          <p:cNvSpPr/>
          <p:nvPr/>
        </p:nvSpPr>
        <p:spPr>
          <a:xfrm>
            <a:off x="9814255" y="5669280"/>
            <a:ext cx="1828800" cy="594360"/>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 Back</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5.xml><?xml version="1.0" encoding="utf-8"?>
<p:sld xmlns:a="http://schemas.openxmlformats.org/drawingml/2006/main" xmlns:p="http://schemas.openxmlformats.org/presentationml/2006/main" xmlns:r="http://schemas.openxmlformats.org/officeDocument/2006/relationships" show="0">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Lucky Box 9</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Lucky Boxes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7</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145</a:t>
            </a:r>
          </a:p>
        </p:txBody>
      </p:sp>
      <p:sp>
        <p:nvSpPr>
          <p:cNvPr id="7" name="TextBox 6"/>
          <p:cNvSpPr txBox="1"/>
          <p:nvPr/>
        </p:nvSpPr>
        <p:spPr>
          <a:xfrm>
            <a:off x="0" y="1371600"/>
            <a:ext cx="12191695" cy="1828800"/>
          </a:xfrm>
          <a:prstGeom prst="rect">
            <a:avLst/>
          </a:prstGeom>
          <a:noFill/>
        </p:spPr>
        <p:txBody>
          <a:bodyPr wrap="square" anchor="t">
            <a:spAutoFit/>
          </a:bodyPr>
          <a:lstStyle/>
          <a:p>
            <a:pPr algn="ctr">
              <a:lnSpc>
                <a:spcPct val="115000"/>
              </a:lnSpc>
              <a:spcAft>
                <a:spcPts val="800"/>
              </a:spcAft>
            </a:pPr>
            <a:r>
              <a:rPr sz="11000" b="0">
                <a:solidFill>
                  <a:srgbClr val="1F2A44"/>
                </a:solidFill>
                <a:latin typeface="Arial"/>
                <a:ea typeface="Microsoft YaHei"/>
              </a:rPr>
              <a:t>💣</a:t>
            </a:r>
          </a:p>
        </p:txBody>
      </p:sp>
      <p:sp>
        <p:nvSpPr>
          <p:cNvPr id="8" name="TextBox 7"/>
          <p:cNvSpPr txBox="1"/>
          <p:nvPr/>
        </p:nvSpPr>
        <p:spPr>
          <a:xfrm>
            <a:off x="0" y="3474720"/>
            <a:ext cx="12191695" cy="914400"/>
          </a:xfrm>
          <a:prstGeom prst="rect">
            <a:avLst/>
          </a:prstGeom>
          <a:noFill/>
        </p:spPr>
        <p:txBody>
          <a:bodyPr wrap="square" anchor="t">
            <a:spAutoFit/>
          </a:bodyPr>
          <a:lstStyle/>
          <a:p>
            <a:pPr algn="ctr">
              <a:lnSpc>
                <a:spcPct val="115000"/>
              </a:lnSpc>
              <a:spcAft>
                <a:spcPts val="800"/>
              </a:spcAft>
            </a:pPr>
            <a:r>
              <a:rPr sz="5400" b="1">
                <a:solidFill>
                  <a:srgbClr val="FF6B5B"/>
                </a:solidFill>
                <a:latin typeface="Arial"/>
                <a:ea typeface="Microsoft YaHei"/>
              </a:rPr>
              <a:t>Bomb!</a:t>
            </a:r>
          </a:p>
        </p:txBody>
      </p:sp>
      <p:sp>
        <p:nvSpPr>
          <p:cNvPr id="9" name="TextBox 8"/>
          <p:cNvSpPr txBox="1"/>
          <p:nvPr/>
        </p:nvSpPr>
        <p:spPr>
          <a:xfrm>
            <a:off x="0" y="4480560"/>
            <a:ext cx="12191695" cy="731520"/>
          </a:xfrm>
          <a:prstGeom prst="rect">
            <a:avLst/>
          </a:prstGeom>
          <a:noFill/>
        </p:spPr>
        <p:txBody>
          <a:bodyPr wrap="square" anchor="t">
            <a:spAutoFit/>
          </a:bodyPr>
          <a:lstStyle/>
          <a:p>
            <a:pPr algn="ctr">
              <a:lnSpc>
                <a:spcPct val="115000"/>
              </a:lnSpc>
              <a:spcAft>
                <a:spcPts val="800"/>
              </a:spcAft>
            </a:pPr>
            <a:r>
              <a:rPr sz="2400" b="0">
                <a:solidFill>
                  <a:srgbClr val="5F677A"/>
                </a:solidFill>
                <a:latin typeface="Arial"/>
                <a:ea typeface="Microsoft YaHei"/>
              </a:rPr>
              <a:t>本轮不得分，换下一组</a:t>
            </a:r>
          </a:p>
        </p:txBody>
      </p:sp>
      <p:sp>
        <p:nvSpPr>
          <p:cNvPr id="10" name="Rounded Rectangle 9">
            <a:hlinkClick action="ppaction://hlinksldjump" r:id="rId2"/>
          </p:cNvPr>
          <p:cNvSpPr/>
          <p:nvPr/>
        </p:nvSpPr>
        <p:spPr>
          <a:xfrm>
            <a:off x="9814255" y="5669280"/>
            <a:ext cx="1828800" cy="594360"/>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 Back</a:t>
            </a:r>
          </a:p>
        </p:txBody>
      </p:sp>
    </p:spTree>
  </p:cSld>
  <p:clrMapOvr>
    <a:masterClrMapping/>
  </p:clrMapOvr>
  <p:transition spd="med">
    <p:fade/>
  </p:transition>
</p:sld>
</file>

<file path=ppt/slides/slide14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Boss Challenge 终极挑战</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Unit review</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7</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146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10 seconds per question. Beat the boss!  每题限时 10 秒，打败大魔王</a:t>
            </a:r>
          </a:p>
        </p:txBody>
      </p:sp>
      <p:sp>
        <p:nvSpPr>
          <p:cNvPr id="9" name="TextBox 8"/>
          <p:cNvSpPr txBox="1"/>
          <p:nvPr/>
        </p:nvSpPr>
        <p:spPr>
          <a:xfrm>
            <a:off x="9966960" y="1463040"/>
            <a:ext cx="1737360" cy="1463040"/>
          </a:xfrm>
          <a:prstGeom prst="rect">
            <a:avLst/>
          </a:prstGeom>
          <a:noFill/>
        </p:spPr>
        <p:txBody>
          <a:bodyPr wrap="square" anchor="t">
            <a:spAutoFit/>
          </a:bodyPr>
          <a:lstStyle/>
          <a:p>
            <a:pPr algn="ctr">
              <a:lnSpc>
                <a:spcPct val="115000"/>
              </a:lnSpc>
              <a:spcAft>
                <a:spcPts val="800"/>
              </a:spcAft>
            </a:pPr>
            <a:r>
              <a:rPr sz="8000" b="0">
                <a:solidFill>
                  <a:srgbClr val="1F2A44"/>
                </a:solidFill>
                <a:latin typeface="Arial"/>
                <a:ea typeface="Microsoft YaHei"/>
              </a:rPr>
              <a:t>👾</a:t>
            </a:r>
          </a:p>
        </p:txBody>
      </p:sp>
      <p:sp>
        <p:nvSpPr>
          <p:cNvPr id="10" name="Rounded Rectangle 9"/>
          <p:cNvSpPr/>
          <p:nvPr/>
        </p:nvSpPr>
        <p:spPr>
          <a:xfrm>
            <a:off x="548640" y="1508760"/>
            <a:ext cx="5577840" cy="850392"/>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2000" b="1">
                <a:solidFill>
                  <a:srgbClr val="1F2A44"/>
                </a:solidFill>
                <a:latin typeface="Arial"/>
                <a:ea typeface="Microsoft YaHei"/>
              </a:rPr>
              <a:t>Q1. “导致” in English?</a:t>
            </a:r>
          </a:p>
        </p:txBody>
      </p:sp>
      <p:sp>
        <p:nvSpPr>
          <p:cNvPr id="11" name="Rounded Rectangle 10"/>
          <p:cNvSpPr/>
          <p:nvPr/>
        </p:nvSpPr>
        <p:spPr>
          <a:xfrm>
            <a:off x="6263640" y="1508760"/>
            <a:ext cx="3520440" cy="850392"/>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lead to</a:t>
            </a:r>
          </a:p>
        </p:txBody>
      </p:sp>
      <p:sp>
        <p:nvSpPr>
          <p:cNvPr id="12" name="Rounded Rectangle 11"/>
          <p:cNvSpPr/>
          <p:nvPr/>
        </p:nvSpPr>
        <p:spPr>
          <a:xfrm>
            <a:off x="548640" y="2468880"/>
            <a:ext cx="5577840" cy="850392"/>
          </a:xfrm>
          <a:prstGeom prst="roundRect">
            <a:avLst>
              <a:gd name="adj" fmla="val 15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2000" b="1">
                <a:solidFill>
                  <a:srgbClr val="1F2A44"/>
                </a:solidFill>
                <a:latin typeface="Arial"/>
                <a:ea typeface="Microsoft YaHei"/>
              </a:rPr>
              <a:t>Q2. “额外努力” in English?</a:t>
            </a:r>
          </a:p>
        </p:txBody>
      </p:sp>
      <p:sp>
        <p:nvSpPr>
          <p:cNvPr id="13" name="Rounded Rectangle 12"/>
          <p:cNvSpPr/>
          <p:nvPr/>
        </p:nvSpPr>
        <p:spPr>
          <a:xfrm>
            <a:off x="6263640" y="2468880"/>
            <a:ext cx="3520440" cy="850392"/>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go the extra mile</a:t>
            </a:r>
          </a:p>
        </p:txBody>
      </p:sp>
      <p:sp>
        <p:nvSpPr>
          <p:cNvPr id="14" name="Rounded Rectangle 13"/>
          <p:cNvSpPr/>
          <p:nvPr/>
        </p:nvSpPr>
        <p:spPr>
          <a:xfrm>
            <a:off x="548640" y="3429000"/>
            <a:ext cx="5577840" cy="850392"/>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2000" b="1">
                <a:solidFill>
                  <a:srgbClr val="1F2A44"/>
                </a:solidFill>
                <a:latin typeface="Arial"/>
                <a:ea typeface="Microsoft YaHei"/>
              </a:rPr>
              <a:t>Q3. “重新开始” in English?</a:t>
            </a:r>
          </a:p>
        </p:txBody>
      </p:sp>
      <p:sp>
        <p:nvSpPr>
          <p:cNvPr id="15" name="Rounded Rectangle 14"/>
          <p:cNvSpPr/>
          <p:nvPr/>
        </p:nvSpPr>
        <p:spPr>
          <a:xfrm>
            <a:off x="6263640" y="3429000"/>
            <a:ext cx="3520440" cy="850392"/>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fresh start</a:t>
            </a:r>
          </a:p>
        </p:txBody>
      </p:sp>
      <p:sp>
        <p:nvSpPr>
          <p:cNvPr id="16" name="Rounded Rectangle 15"/>
          <p:cNvSpPr/>
          <p:nvPr/>
        </p:nvSpPr>
        <p:spPr>
          <a:xfrm>
            <a:off x="548640" y="4389120"/>
            <a:ext cx="5577840" cy="850392"/>
          </a:xfrm>
          <a:prstGeom prst="roundRect">
            <a:avLst>
              <a:gd name="adj" fmla="val 15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2000" b="1">
                <a:solidFill>
                  <a:srgbClr val="1F2A44"/>
                </a:solidFill>
                <a:latin typeface="Arial"/>
                <a:ea typeface="Microsoft YaHei"/>
              </a:rPr>
              <a:t>Q4. Fix it: It can lead to the unfair.</a:t>
            </a:r>
          </a:p>
        </p:txBody>
      </p:sp>
      <p:sp>
        <p:nvSpPr>
          <p:cNvPr id="17" name="Rounded Rectangle 16"/>
          <p:cNvSpPr/>
          <p:nvPr/>
        </p:nvSpPr>
        <p:spPr>
          <a:xfrm>
            <a:off x="6263640" y="4389120"/>
            <a:ext cx="3520440" cy="850392"/>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It can lead to unfairness. / unfair outcomes.</a:t>
            </a:r>
          </a:p>
        </p:txBody>
      </p:sp>
      <p:sp>
        <p:nvSpPr>
          <p:cNvPr id="18" name="Rounded Rectangle 17"/>
          <p:cNvSpPr/>
          <p:nvPr/>
        </p:nvSpPr>
        <p:spPr>
          <a:xfrm>
            <a:off x="548640" y="5349240"/>
            <a:ext cx="5577840" cy="850392"/>
          </a:xfrm>
          <a:prstGeom prst="roundRect">
            <a:avLst>
              <a:gd name="adj" fmla="val 15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2000" b="1">
                <a:solidFill>
                  <a:srgbClr val="1F2A44"/>
                </a:solidFill>
                <a:latin typeface="Arial"/>
                <a:ea typeface="Microsoft YaHei"/>
              </a:rPr>
              <a:t>Q5. Fix it: She is too much complacent.</a:t>
            </a:r>
          </a:p>
        </p:txBody>
      </p:sp>
      <p:sp>
        <p:nvSpPr>
          <p:cNvPr id="19" name="Rounded Rectangle 18"/>
          <p:cNvSpPr/>
          <p:nvPr/>
        </p:nvSpPr>
        <p:spPr>
          <a:xfrm>
            <a:off x="6263640" y="5349240"/>
            <a:ext cx="3520440" cy="850392"/>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She is too complacent.</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1"/>
                                        </p:tgtEl>
                                        <p:attrNameLst>
                                          <p:attrName>style.visibility</p:attrName>
                                        </p:attrNameLst>
                                      </p:cBhvr>
                                      <p:to>
                                        <p:strVal val="visible"/>
                                      </p:to>
                                    </p:set>
                                    <p:animEffect transition="in" filter="fade">
                                      <p:cBhvr>
                                        <p:cTn id="9" dur="400"/>
                                        <p:tgtEl>
                                          <p:spTgt spid="11"/>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2"/>
                                        </p:tgtEl>
                                        <p:attrNameLst>
                                          <p:attrName>style.visibility</p:attrName>
                                        </p:attrNameLst>
                                      </p:cBhvr>
                                      <p:to>
                                        <p:strVal val="visible"/>
                                      </p:to>
                                    </p:set>
                                    <p:animEffect transition="in" filter="fade">
                                      <p:cBhvr>
                                        <p:cTn id="14" dur="400"/>
                                        <p:tgtEl>
                                          <p:spTgt spid="12"/>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13"/>
                                        </p:tgtEl>
                                        <p:attrNameLst>
                                          <p:attrName>style.visibility</p:attrName>
                                        </p:attrNameLst>
                                      </p:cBhvr>
                                      <p:to>
                                        <p:strVal val="visible"/>
                                      </p:to>
                                    </p:set>
                                    <p:animEffect transition="in" filter="fade">
                                      <p:cBhvr>
                                        <p:cTn id="19" dur="400"/>
                                        <p:tgtEl>
                                          <p:spTgt spid="13"/>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14"/>
                                        </p:tgtEl>
                                        <p:attrNameLst>
                                          <p:attrName>style.visibility</p:attrName>
                                        </p:attrNameLst>
                                      </p:cBhvr>
                                      <p:to>
                                        <p:strVal val="visible"/>
                                      </p:to>
                                    </p:set>
                                    <p:animEffect transition="in" filter="fade">
                                      <p:cBhvr>
                                        <p:cTn id="24" dur="400"/>
                                        <p:tgtEl>
                                          <p:spTgt spid="14"/>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15"/>
                                        </p:tgtEl>
                                        <p:attrNameLst>
                                          <p:attrName>style.visibility</p:attrName>
                                        </p:attrNameLst>
                                      </p:cBhvr>
                                      <p:to>
                                        <p:strVal val="visible"/>
                                      </p:to>
                                    </p:set>
                                    <p:animEffect transition="in" filter="fade">
                                      <p:cBhvr>
                                        <p:cTn id="29" dur="400"/>
                                        <p:tgtEl>
                                          <p:spTgt spid="15"/>
                                        </p:tgtEl>
                                      </p:cBhvr>
                                    </p:animEffect>
                                  </p:childTnLst>
                                </p:cTn>
                              </p:par>
                            </p:childTnLst>
                          </p:cTn>
                        </p:par>
                      </p:childTnLst>
                    </p:cTn>
                  </p:par>
                  <p:par>
                    <p:cTn id="36" fill="hold">
                      <p:stCondLst>
                        <p:cond delay="indefinite"/>
                      </p:stCondLst>
                      <p:childTnLst>
                        <p:par>
                          <p:cTn id="37" fill="hold">
                            <p:stCondLst>
                              <p:cond delay="0"/>
                            </p:stCondLst>
                            <p:childTnLst>
                              <p:par>
                                <p:cTn id="35" presetID="10" presetClass="entr" presetSubtype="0" fill="hold" nodeType="clickEffect">
                                  <p:stCondLst>
                                    <p:cond delay="0"/>
                                  </p:stCondLst>
                                  <p:childTnLst>
                                    <p:set>
                                      <p:cBhvr>
                                        <p:cTn id="33" dur="1" fill="hold">
                                          <p:stCondLst>
                                            <p:cond delay="0"/>
                                          </p:stCondLst>
                                        </p:cTn>
                                        <p:tgtEl>
                                          <p:spTgt spid="16"/>
                                        </p:tgtEl>
                                        <p:attrNameLst>
                                          <p:attrName>style.visibility</p:attrName>
                                        </p:attrNameLst>
                                      </p:cBhvr>
                                      <p:to>
                                        <p:strVal val="visible"/>
                                      </p:to>
                                    </p:set>
                                    <p:animEffect transition="in" filter="fade">
                                      <p:cBhvr>
                                        <p:cTn id="34" dur="400"/>
                                        <p:tgtEl>
                                          <p:spTgt spid="16"/>
                                        </p:tgtEl>
                                      </p:cBhvr>
                                    </p:animEffect>
                                  </p:childTnLst>
                                </p:cTn>
                              </p:par>
                            </p:childTnLst>
                          </p:cTn>
                        </p:par>
                      </p:childTnLst>
                    </p:cTn>
                  </p:par>
                  <p:par>
                    <p:cTn id="41" fill="hold">
                      <p:stCondLst>
                        <p:cond delay="indefinite"/>
                      </p:stCondLst>
                      <p:childTnLst>
                        <p:par>
                          <p:cTn id="42" fill="hold">
                            <p:stCondLst>
                              <p:cond delay="0"/>
                            </p:stCondLst>
                            <p:childTnLst>
                              <p:par>
                                <p:cTn id="40" presetID="10" presetClass="entr" presetSubtype="0" fill="hold" nodeType="clickEffect">
                                  <p:stCondLst>
                                    <p:cond delay="0"/>
                                  </p:stCondLst>
                                  <p:childTnLst>
                                    <p:set>
                                      <p:cBhvr>
                                        <p:cTn id="38" dur="1" fill="hold">
                                          <p:stCondLst>
                                            <p:cond delay="0"/>
                                          </p:stCondLst>
                                        </p:cTn>
                                        <p:tgtEl>
                                          <p:spTgt spid="17"/>
                                        </p:tgtEl>
                                        <p:attrNameLst>
                                          <p:attrName>style.visibility</p:attrName>
                                        </p:attrNameLst>
                                      </p:cBhvr>
                                      <p:to>
                                        <p:strVal val="visible"/>
                                      </p:to>
                                    </p:set>
                                    <p:animEffect transition="in" filter="fade">
                                      <p:cBhvr>
                                        <p:cTn id="39" dur="400"/>
                                        <p:tgtEl>
                                          <p:spTgt spid="17"/>
                                        </p:tgtEl>
                                      </p:cBhvr>
                                    </p:animEffect>
                                  </p:childTnLst>
                                </p:cTn>
                              </p:par>
                            </p:childTnLst>
                          </p:cTn>
                        </p:par>
                      </p:childTnLst>
                    </p:cTn>
                  </p:par>
                  <p:par>
                    <p:cTn id="46" fill="hold">
                      <p:stCondLst>
                        <p:cond delay="indefinite"/>
                      </p:stCondLst>
                      <p:childTnLst>
                        <p:par>
                          <p:cTn id="47" fill="hold">
                            <p:stCondLst>
                              <p:cond delay="0"/>
                            </p:stCondLst>
                            <p:childTnLst>
                              <p:par>
                                <p:cTn id="45" presetID="10" presetClass="entr" presetSubtype="0" fill="hold" nodeType="clickEffect">
                                  <p:stCondLst>
                                    <p:cond delay="0"/>
                                  </p:stCondLst>
                                  <p:childTnLst>
                                    <p:set>
                                      <p:cBhvr>
                                        <p:cTn id="43" dur="1" fill="hold">
                                          <p:stCondLst>
                                            <p:cond delay="0"/>
                                          </p:stCondLst>
                                        </p:cTn>
                                        <p:tgtEl>
                                          <p:spTgt spid="18"/>
                                        </p:tgtEl>
                                        <p:attrNameLst>
                                          <p:attrName>style.visibility</p:attrName>
                                        </p:attrNameLst>
                                      </p:cBhvr>
                                      <p:to>
                                        <p:strVal val="visible"/>
                                      </p:to>
                                    </p:set>
                                    <p:animEffect transition="in" filter="fade">
                                      <p:cBhvr>
                                        <p:cTn id="44" dur="400"/>
                                        <p:tgtEl>
                                          <p:spTgt spid="18"/>
                                        </p:tgtEl>
                                      </p:cBhvr>
                                    </p:animEffect>
                                  </p:childTnLst>
                                </p:cTn>
                              </p:par>
                            </p:childTnLst>
                          </p:cTn>
                        </p:par>
                      </p:childTnLst>
                    </p:cTn>
                  </p:par>
                  <p:par>
                    <p:cTn id="51" fill="hold">
                      <p:stCondLst>
                        <p:cond delay="indefinite"/>
                      </p:stCondLst>
                      <p:childTnLst>
                        <p:par>
                          <p:cTn id="52" fill="hold">
                            <p:stCondLst>
                              <p:cond delay="0"/>
                            </p:stCondLst>
                            <p:childTnLst>
                              <p:par>
                                <p:cTn id="50" presetID="10" presetClass="entr" presetSubtype="0" fill="hold" nodeType="clickEffect">
                                  <p:stCondLst>
                                    <p:cond delay="0"/>
                                  </p:stCondLst>
                                  <p:childTnLst>
                                    <p:set>
                                      <p:cBhvr>
                                        <p:cTn id="48" dur="1" fill="hold">
                                          <p:stCondLst>
                                            <p:cond delay="0"/>
                                          </p:stCondLst>
                                        </p:cTn>
                                        <p:tgtEl>
                                          <p:spTgt spid="19"/>
                                        </p:tgtEl>
                                        <p:attrNameLst>
                                          <p:attrName>style.visibility</p:attrName>
                                        </p:attrNameLst>
                                      </p:cBhvr>
                                      <p:to>
                                        <p:strVal val="visible"/>
                                      </p:to>
                                    </p:set>
                                    <p:animEffect transition="in" filter="fade">
                                      <p:cBhvr>
                                        <p:cTn id="49" dur="4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7.xml><?xml version="1.0" encoding="utf-8"?>
<p:sld xmlns:a="http://schemas.openxmlformats.org/drawingml/2006/main" xmlns:p="http://schemas.openxmlformats.org/presentationml/2006/main" xmlns:r="http://schemas.openxmlformats.org/officeDocument/2006/relationships">
  <p:cSld>
    <p:bg>
      <p:bgPr>
        <a:solidFill>
          <a:srgbClr val="1F2A44"/>
        </a:solidFill>
        <a:effectLst/>
      </p:bgPr>
    </p:bg>
    <p:spTree>
      <p:nvGrpSpPr>
        <p:cNvPr id="1" name=""/>
        <p:cNvGrpSpPr/>
        <p:nvPr/>
      </p:nvGrpSpPr>
      <p:grpSpPr/>
      <p:sp>
        <p:nvSpPr>
          <p:cNvPr id="2" name="TextBox 1"/>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FFC857"/>
                </a:solidFill>
                <a:latin typeface="Arial"/>
                <a:ea typeface="Microsoft YaHei"/>
              </a:rPr>
              <a:t>Business English · Level 7–8 · Unit 7</a:t>
            </a:r>
          </a:p>
        </p:txBody>
      </p:sp>
      <p:sp>
        <p:nvSpPr>
          <p:cNvPr id="3" name="TextBox 2"/>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FFC857"/>
                </a:solidFill>
                <a:latin typeface="Arial"/>
                <a:ea typeface="Microsoft YaHei"/>
              </a:rPr>
              <a:t>147</a:t>
            </a:r>
          </a:p>
        </p:txBody>
      </p:sp>
      <p:sp>
        <p:nvSpPr>
          <p:cNvPr id="4" name="Rounded Rectangle 3">
            <a:hlinkClick action="ppaction://hlinksldjump" r:id="rId2"/>
          </p:cNvPr>
          <p:cNvSpPr/>
          <p:nvPr/>
        </p:nvSpPr>
        <p:spPr>
          <a:xfrm>
            <a:off x="9677095" y="6382512"/>
            <a:ext cx="960120" cy="329184"/>
          </a:xfrm>
          <a:prstGeom prst="roundRect">
            <a:avLst>
              <a:gd name="adj" fmla="val 50000"/>
            </a:avLst>
          </a:prstGeom>
          <a:solidFill>
            <a:srgbClr val="3642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FFFFFF"/>
                </a:solidFill>
                <a:latin typeface="Arial"/>
                <a:ea typeface="Microsoft YaHei"/>
              </a:rPr>
              <a:t>🗺 Map</a:t>
            </a:r>
          </a:p>
        </p:txBody>
      </p:sp>
      <p:sp>
        <p:nvSpPr>
          <p:cNvPr id="5" name="TextBox 4"/>
          <p:cNvSpPr txBox="1"/>
          <p:nvPr/>
        </p:nvSpPr>
        <p:spPr>
          <a:xfrm>
            <a:off x="0" y="822960"/>
            <a:ext cx="12191695" cy="1463040"/>
          </a:xfrm>
          <a:prstGeom prst="rect">
            <a:avLst/>
          </a:prstGeom>
          <a:noFill/>
        </p:spPr>
        <p:txBody>
          <a:bodyPr wrap="square" anchor="t">
            <a:spAutoFit/>
          </a:bodyPr>
          <a:lstStyle/>
          <a:p>
            <a:pPr algn="ctr">
              <a:lnSpc>
                <a:spcPct val="115000"/>
              </a:lnSpc>
              <a:spcAft>
                <a:spcPts val="800"/>
              </a:spcAft>
            </a:pPr>
            <a:r>
              <a:rPr sz="10000" b="0">
                <a:solidFill>
                  <a:srgbClr val="1F2A44"/>
                </a:solidFill>
                <a:latin typeface="Arial"/>
                <a:ea typeface="Microsoft YaHei"/>
              </a:rPr>
              <a:t>🏆</a:t>
            </a:r>
          </a:p>
        </p:txBody>
      </p:sp>
      <p:sp>
        <p:nvSpPr>
          <p:cNvPr id="6" name="TextBox 5"/>
          <p:cNvSpPr txBox="1"/>
          <p:nvPr/>
        </p:nvSpPr>
        <p:spPr>
          <a:xfrm>
            <a:off x="0" y="2560320"/>
            <a:ext cx="12191695" cy="914400"/>
          </a:xfrm>
          <a:prstGeom prst="rect">
            <a:avLst/>
          </a:prstGeom>
          <a:noFill/>
        </p:spPr>
        <p:txBody>
          <a:bodyPr wrap="square" anchor="t">
            <a:spAutoFit/>
          </a:bodyPr>
          <a:lstStyle/>
          <a:p>
            <a:pPr algn="ctr">
              <a:lnSpc>
                <a:spcPct val="115000"/>
              </a:lnSpc>
              <a:spcAft>
                <a:spcPts val="800"/>
              </a:spcAft>
            </a:pPr>
            <a:r>
              <a:rPr sz="4600" b="1">
                <a:solidFill>
                  <a:srgbClr val="FFFFFF"/>
                </a:solidFill>
                <a:latin typeface="Arial"/>
                <a:ea typeface="Microsoft YaHei"/>
              </a:rPr>
              <a:t>And the winning team is…</a:t>
            </a:r>
          </a:p>
        </p:txBody>
      </p:sp>
      <p:sp>
        <p:nvSpPr>
          <p:cNvPr id="7" name="TextBox 6"/>
          <p:cNvSpPr txBox="1"/>
          <p:nvPr/>
        </p:nvSpPr>
        <p:spPr>
          <a:xfrm>
            <a:off x="0" y="3520440"/>
            <a:ext cx="12191695" cy="640080"/>
          </a:xfrm>
          <a:prstGeom prst="rect">
            <a:avLst/>
          </a:prstGeom>
          <a:noFill/>
        </p:spPr>
        <p:txBody>
          <a:bodyPr wrap="square" anchor="t">
            <a:spAutoFit/>
          </a:bodyPr>
          <a:lstStyle/>
          <a:p>
            <a:pPr algn="ctr">
              <a:lnSpc>
                <a:spcPct val="115000"/>
              </a:lnSpc>
              <a:spcAft>
                <a:spcPts val="800"/>
              </a:spcAft>
            </a:pPr>
            <a:r>
              <a:rPr sz="2200" b="0">
                <a:solidFill>
                  <a:srgbClr val="FFC857"/>
                </a:solidFill>
                <a:latin typeface="Arial"/>
                <a:ea typeface="Microsoft YaHei"/>
              </a:rPr>
              <a:t>统计积分，看看今天的冠军是哪一组！</a:t>
            </a:r>
          </a:p>
        </p:txBody>
      </p:sp>
      <p:sp>
        <p:nvSpPr>
          <p:cNvPr id="8" name="Rounded Rectangle 7"/>
          <p:cNvSpPr/>
          <p:nvPr/>
        </p:nvSpPr>
        <p:spPr>
          <a:xfrm>
            <a:off x="822960" y="4480560"/>
            <a:ext cx="2468880" cy="822960"/>
          </a:xfrm>
          <a:prstGeom prst="roundRect">
            <a:avLst>
              <a:gd name="adj" fmla="val 4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 Team Alpha: ____</a:t>
            </a:r>
          </a:p>
        </p:txBody>
      </p:sp>
      <p:sp>
        <p:nvSpPr>
          <p:cNvPr id="9" name="Rounded Rectangle 8"/>
          <p:cNvSpPr/>
          <p:nvPr/>
        </p:nvSpPr>
        <p:spPr>
          <a:xfrm>
            <a:off x="3520440" y="4480560"/>
            <a:ext cx="2468880" cy="822960"/>
          </a:xfrm>
          <a:prstGeom prst="roundRect">
            <a:avLst>
              <a:gd name="adj" fmla="val 4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 Team Bravo: ____</a:t>
            </a:r>
          </a:p>
        </p:txBody>
      </p:sp>
      <p:sp>
        <p:nvSpPr>
          <p:cNvPr id="10" name="Rounded Rectangle 9"/>
          <p:cNvSpPr/>
          <p:nvPr/>
        </p:nvSpPr>
        <p:spPr>
          <a:xfrm>
            <a:off x="6217920" y="4480560"/>
            <a:ext cx="2468880" cy="822960"/>
          </a:xfrm>
          <a:prstGeom prst="roundRect">
            <a:avLst>
              <a:gd name="adj" fmla="val 4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 Team Charlie: ____</a:t>
            </a:r>
          </a:p>
        </p:txBody>
      </p:sp>
      <p:sp>
        <p:nvSpPr>
          <p:cNvPr id="11" name="Rounded Rectangle 10"/>
          <p:cNvSpPr/>
          <p:nvPr/>
        </p:nvSpPr>
        <p:spPr>
          <a:xfrm>
            <a:off x="8915400" y="4480560"/>
            <a:ext cx="2468880" cy="822960"/>
          </a:xfrm>
          <a:prstGeom prst="roundRect">
            <a:avLst>
              <a:gd name="adj" fmla="val 4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 Team Delta: ____</a:t>
            </a:r>
          </a:p>
        </p:txBody>
      </p:sp>
    </p:spTree>
  </p:cSld>
  <p:clrMapOvr>
    <a:masterClrMapping/>
  </p:clrMapOvr>
  <p:transition spd="med">
    <p:fade/>
  </p:transition>
</p:sld>
</file>

<file path=ppt/slides/slide148.xml><?xml version="1.0" encoding="utf-8"?>
<p:sld xmlns:a="http://schemas.openxmlformats.org/drawingml/2006/main" xmlns:p="http://schemas.openxmlformats.org/presentationml/2006/main" xmlns:r="http://schemas.openxmlformats.org/officeDocument/2006/relationships">
  <p:cSld>
    <p:bg>
      <p:bgPr>
        <a:solidFill>
          <a:srgbClr val="1F2A44"/>
        </a:solidFill>
        <a:effectLst/>
      </p:bgPr>
    </p:bg>
    <p:spTree>
      <p:nvGrpSpPr>
        <p:cNvPr id="1" name=""/>
        <p:cNvGrpSpPr/>
        <p:nvPr/>
      </p:nvGrpSpPr>
      <p:grpSpPr/>
      <p:sp>
        <p:nvSpPr>
          <p:cNvPr id="2" name="TextBox 1"/>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FFC857"/>
                </a:solidFill>
                <a:latin typeface="Arial"/>
                <a:ea typeface="Microsoft YaHei"/>
              </a:rPr>
              <a:t>Business English · Level 7–8 · Unit 7</a:t>
            </a:r>
          </a:p>
        </p:txBody>
      </p:sp>
      <p:sp>
        <p:nvSpPr>
          <p:cNvPr id="3" name="TextBox 2"/>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FFC857"/>
                </a:solidFill>
                <a:latin typeface="Arial"/>
                <a:ea typeface="Microsoft YaHei"/>
              </a:rPr>
              <a:t>148</a:t>
            </a:r>
          </a:p>
        </p:txBody>
      </p:sp>
      <p:sp>
        <p:nvSpPr>
          <p:cNvPr id="4" name="Rounded Rectangle 3">
            <a:hlinkClick action="ppaction://hlinksldjump" r:id="rId2"/>
          </p:cNvPr>
          <p:cNvSpPr/>
          <p:nvPr/>
        </p:nvSpPr>
        <p:spPr>
          <a:xfrm>
            <a:off x="9677095" y="6382512"/>
            <a:ext cx="960120" cy="329184"/>
          </a:xfrm>
          <a:prstGeom prst="roundRect">
            <a:avLst>
              <a:gd name="adj" fmla="val 50000"/>
            </a:avLst>
          </a:prstGeom>
          <a:solidFill>
            <a:srgbClr val="3642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FFFFFF"/>
                </a:solidFill>
                <a:latin typeface="Arial"/>
                <a:ea typeface="Microsoft YaHei"/>
              </a:rPr>
              <a:t>🗺 Map</a:t>
            </a:r>
          </a:p>
        </p:txBody>
      </p:sp>
      <p:sp>
        <p:nvSpPr>
          <p:cNvPr id="5" name="Oval 4"/>
          <p:cNvSpPr/>
          <p:nvPr/>
        </p:nvSpPr>
        <p:spPr>
          <a:xfrm>
            <a:off x="640080" y="548640"/>
            <a:ext cx="1280160" cy="128016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0332720" y="4754880"/>
            <a:ext cx="1371600" cy="137160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0881360" y="822960"/>
            <a:ext cx="731520" cy="73152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0" y="1645920"/>
            <a:ext cx="12191695" cy="1097280"/>
          </a:xfrm>
          <a:prstGeom prst="rect">
            <a:avLst/>
          </a:prstGeom>
          <a:noFill/>
        </p:spPr>
        <p:txBody>
          <a:bodyPr wrap="square" anchor="t">
            <a:spAutoFit/>
          </a:bodyPr>
          <a:lstStyle/>
          <a:p>
            <a:pPr algn="ctr">
              <a:lnSpc>
                <a:spcPct val="115000"/>
              </a:lnSpc>
              <a:spcAft>
                <a:spcPts val="800"/>
              </a:spcAft>
            </a:pPr>
            <a:r>
              <a:rPr sz="6400" b="0">
                <a:solidFill>
                  <a:srgbClr val="1F2A44"/>
                </a:solidFill>
                <a:latin typeface="Arial"/>
                <a:ea typeface="Microsoft YaHei"/>
              </a:rPr>
              <a:t>🎉</a:t>
            </a:r>
          </a:p>
        </p:txBody>
      </p:sp>
      <p:sp>
        <p:nvSpPr>
          <p:cNvPr id="9" name="TextBox 8"/>
          <p:cNvSpPr txBox="1"/>
          <p:nvPr/>
        </p:nvSpPr>
        <p:spPr>
          <a:xfrm>
            <a:off x="0" y="2743200"/>
            <a:ext cx="12191695" cy="1097280"/>
          </a:xfrm>
          <a:prstGeom prst="rect">
            <a:avLst/>
          </a:prstGeom>
          <a:noFill/>
        </p:spPr>
        <p:txBody>
          <a:bodyPr wrap="square" anchor="t">
            <a:spAutoFit/>
          </a:bodyPr>
          <a:lstStyle/>
          <a:p>
            <a:pPr algn="ctr">
              <a:lnSpc>
                <a:spcPct val="115000"/>
              </a:lnSpc>
              <a:spcAft>
                <a:spcPts val="800"/>
              </a:spcAft>
            </a:pPr>
            <a:r>
              <a:rPr sz="5600" b="1">
                <a:solidFill>
                  <a:srgbClr val="FFFFFF"/>
                </a:solidFill>
                <a:latin typeface="Arial"/>
                <a:ea typeface="Microsoft YaHei"/>
              </a:rPr>
              <a:t>Unit 7 Complete!</a:t>
            </a:r>
          </a:p>
        </p:txBody>
      </p:sp>
      <p:sp>
        <p:nvSpPr>
          <p:cNvPr id="10" name="TextBox 9"/>
          <p:cNvSpPr txBox="1"/>
          <p:nvPr/>
        </p:nvSpPr>
        <p:spPr>
          <a:xfrm>
            <a:off x="0" y="3931920"/>
            <a:ext cx="12191695" cy="731520"/>
          </a:xfrm>
          <a:prstGeom prst="rect">
            <a:avLst/>
          </a:prstGeom>
          <a:noFill/>
        </p:spPr>
        <p:txBody>
          <a:bodyPr wrap="square" anchor="t">
            <a:spAutoFit/>
          </a:bodyPr>
          <a:lstStyle/>
          <a:p>
            <a:pPr algn="ctr">
              <a:lnSpc>
                <a:spcPct val="115000"/>
              </a:lnSpc>
              <a:spcAft>
                <a:spcPts val="800"/>
              </a:spcAft>
            </a:pPr>
            <a:r>
              <a:rPr sz="2200" b="0">
                <a:solidFill>
                  <a:srgbClr val="FFC857"/>
                </a:solidFill>
                <a:latin typeface="Arial"/>
                <a:ea typeface="Microsoft YaHei"/>
              </a:rPr>
              <a:t>Great work today! Keep practising 10 minutes a day.  每天 10 分钟，坚持就是进步！</a:t>
            </a:r>
          </a:p>
        </p:txBody>
      </p:sp>
    </p:spTree>
  </p:cSld>
  <p:clrMapOvr>
    <a:masterClrMapping/>
  </p:clrMapOvr>
  <p:transition spd="med">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