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13: Startups and Company Growth — Self-Study Workbook (Lessons 60–66)</a:t>
            </a:r>
          </a:p>
          <a:p/>
          <a:p>
            <a:r>
              <a:t>开场：简单介绍本单元的主题和要完成的 7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60 · Startup success 创业成功</a:t>
            </a:r>
          </a:p>
          <a:p>
            <a:r>
              <a:t>Goal: talk about what makes a startup succeed or fail, and pitch a simple business idea clearly.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“startup” 初创公司;“founder” 创始人。第 1 题 “Would you like to” 表愿望。</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Pitch a startup idea in 60 seconds.</a:t>
            </a:r>
          </a:p>
          <a:p>
            <a:r>
              <a:t>Say: the problem → your solution → the market → why you → what you need.</a:t>
            </a:r>
          </a:p>
          <a:p>
            <a:r>
              <a:t>Useful starters: “We help… to…” / “The problem is that…” / “What sets us apart is…” / “We’re looking for…”</a:t>
            </a:r>
          </a:p>
          <a:p>
            <a:r>
              <a:t>“We help X to do Y” 是常用电梯演讲句型;“set apart” 使区别于他人。</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Studies of young companies often find the same pattern. The most common reason for failure is not a lack of money but building something that nobody wants. Successful founders start with a real problem and test their idea with customers early, often with a very simple first version called a minimum viable product. They also listen to feedback and are prepared to pivot, or change direction, when the evidence points elsewhere. Timing and team matter, too. A group with complementary skills and open communication can survive difficult periods. Finally, money must be managed carefully. Many promising startups run out of cash because they grow faster than their income. Growth is exciting, but a business that cannot pay its bills will not last long, however good its idea.</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most common reason for failure?</a:t>
            </a:r>
          </a:p>
          <a:p>
            <a:r>
              <a:t>A: Building something nobody wants.</a:t>
            </a:r>
          </a:p>
          <a:p>
            <a:r>
              <a:t>Q2. What is a minimum viable product?</a:t>
            </a:r>
          </a:p>
          <a:p>
            <a:r>
              <a:t>A: A very simple first version used to test an idea with customers.</a:t>
            </a:r>
          </a:p>
          <a:p>
            <a:r>
              <a:t>Q3. Why do some promising startups run out of cash?</a:t>
            </a:r>
          </a:p>
          <a:p>
            <a:r>
              <a:t>A: They grow faster than their income.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Starting up 创业</a:t>
            </a:r>
          </a:p>
          <a:p>
            <a:r>
              <a:t>领读 → 学员跟读 → 请学员用表达造一个和自己工作相关的句子。</a:t>
            </a:r>
          </a:p>
          <a:p>
            <a:r>
              <a:t>startup / founder (noun) 初创公司/创始人 — “She’s the founder of a startup.”</a:t>
            </a:r>
          </a:p>
          <a:p>
            <a:r>
              <a:t>launch a product (collocation) 推出产品 — “We launch next month.”</a:t>
            </a:r>
          </a:p>
          <a:p>
            <a:r>
              <a:t>minimum viable product (MVP) (noun) 最小可行产品 — “We built an MVP first.”</a:t>
            </a:r>
          </a:p>
          <a:p>
            <a:r>
              <a:t>★ bootstrap (verb) 自筹资金起步 — “We bootstrapped for two years.”</a:t>
            </a:r>
          </a:p>
          <a:p>
            <a:r>
              <a:t>★ pivot (verb/noun) 转型 — “We pivoted to a new market.”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Funding 融资</a:t>
            </a:r>
          </a:p>
          <a:p>
            <a:r>
              <a:t>领读 → 学员跟读 → 请学员用表达造一个和自己工作相关的句子。</a:t>
            </a:r>
          </a:p>
          <a:p>
            <a:r>
              <a:t>raise funding (collocation) 融资 — “We raised funding last year.”</a:t>
            </a:r>
          </a:p>
          <a:p>
            <a:r>
              <a:t>investor / venture capital (noun) 投资人/风险投资 — “Investors liked our plan.”</a:t>
            </a:r>
          </a:p>
          <a:p>
            <a:r>
              <a:t>cash flow (noun) 现金流 — “Cash flow is our biggest worry.”</a:t>
            </a:r>
          </a:p>
          <a:p>
            <a:r>
              <a:t>★ burn rate (noun) 烧钱速度 — “Our burn rate is too high.”</a:t>
            </a:r>
          </a:p>
          <a:p>
            <a:r>
              <a:t>★ run out of runway (idiom) 资金即将耗尽 — “We’re running out of runway.”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Pitching 路演</a:t>
            </a:r>
          </a:p>
          <a:p>
            <a:r>
              <a:t>领读 → 学员跟读 → 请学员用表达造一个和自己工作相关的句子。</a:t>
            </a:r>
          </a:p>
          <a:p>
            <a:r>
              <a:t>pitch (verb/noun) 路演/推介 — “I pitched to three investors.”</a:t>
            </a:r>
          </a:p>
          <a:p>
            <a:r>
              <a:t>target market (noun) 目标市场 — “Our target market is small firms.”</a:t>
            </a:r>
          </a:p>
          <a:p>
            <a:r>
              <a:t>unique selling point (USP) (noun) 独特卖点 — “Our USP is speed.”</a:t>
            </a:r>
          </a:p>
          <a:p>
            <a:r>
              <a:t>★ gain traction (collocation) 获得市场认可 — “The app is gaining traction.”</a:t>
            </a:r>
          </a:p>
          <a:p>
            <a:r>
              <a:t>★ scalable (adjective) 可扩展的 — “The model is scalable.”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startup / launch / funding / cash / pitch / market</a:t>
            </a:r>
          </a:p>
          <a:p>
            <a:r>
              <a:t>1. She is the founder of a tech _______. → startup</a:t>
            </a:r>
          </a:p>
          <a:p>
            <a:r>
              <a:t>2. We plan to _______ the product next month. → launch</a:t>
            </a:r>
          </a:p>
          <a:p>
            <a:r>
              <a:t>3. We raised _______ from two investors. → funding</a:t>
            </a:r>
          </a:p>
          <a:p>
            <a:r>
              <a:t>4. _______ flow is our biggest worry. → Cash</a:t>
            </a:r>
          </a:p>
          <a:p>
            <a:r>
              <a:t>5. I’m going to _______ to investors tomorrow. → pitch</a:t>
            </a:r>
          </a:p>
          <a:p>
            <a:r>
              <a:t>6. Our target _______ is small businesses. → market</a:t>
            </a:r>
          </a:p>
          <a:p>
            <a:r>
              <a:t>Mistake Watch: (搭配) launch a product, raise funding, set up / start a business (不说 open a startup)。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pitch 简短路演</a:t>
            </a:r>
          </a:p>
          <a:p>
            <a:r>
              <a:t>情景：You present to an investor.</a:t>
            </a:r>
          </a:p>
          <a:p>
            <a:r>
              <a:t>Role A: Founder Role B: Investor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help small cafés to reduce food waste by predicting daily demand.</a:t>
            </a:r>
          </a:p>
          <a:p>
            <a:r>
              <a:t>B: How does it work?</a:t>
            </a:r>
          </a:p>
          <a:p>
            <a:r>
              <a:t>A: Our app uses past sales and the weather to suggest how much to prepare.</a:t>
            </a:r>
          </a:p>
          <a:p>
            <a:r>
              <a:t>B: What sets you apart from other apps?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It’s simple, and it’s priced for small businesses. We’ve signed up fifty cafés.</a:t>
            </a:r>
          </a:p>
          <a:p>
            <a:r>
              <a:t>B: What do you need from us?</a:t>
            </a:r>
          </a:p>
          <a:p>
            <a:r>
              <a:t>A: We’re looking for 300,000 dollars to grow the team.</a:t>
            </a:r>
          </a:p>
          <a:p>
            <a:r>
              <a:t>B: Send me your numbers, and I’ll get back to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pitch your startup.</a:t>
            </a:r>
          </a:p>
          <a:p>
            <a:r>
              <a:t>Your role (A) | Founder. Idea: ______________</a:t>
            </a:r>
          </a:p>
          <a:p>
            <a:r>
              <a:t>Partner’s role (B) | Investor.</a:t>
            </a:r>
          </a:p>
          <a:p>
            <a:r>
              <a:t>Must use (3 or more) | We help… to… · What sets us apart · target market · gaining traction · we’re looking for</a:t>
            </a:r>
          </a:p>
          <a:p>
            <a:r>
              <a:t>Goal | Pitch in one minute, answer two questions and state your ask.</a:t>
            </a:r>
          </a:p>
          <a:p>
            <a:r>
              <a:t>My notes | ____________________________________________</a:t>
            </a:r>
          </a:p>
          <a:p>
            <a:r>
              <a:t>Add a number for market size.</a:t>
            </a:r>
          </a:p>
          <a:p>
            <a:r>
              <a:t>Handle “who are your competitors?”</a:t>
            </a:r>
          </a:p>
          <a:p>
            <a:r>
              <a:t>Close with a clear next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Analysing why a startup failed 分析创业失败</a:t>
            </a:r>
          </a:p>
          <a:p>
            <a:r>
              <a:t>情景：Two entrepreneurs discuss a failed company.</a:t>
            </a:r>
          </a:p>
          <a:p>
            <a:r>
              <a:t>Role A: Entrepreneur Role B: Friend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 know my startup ran out of runway last month.</a:t>
            </a:r>
          </a:p>
          <a:p>
            <a:r>
              <a:t>B: I’m sorry. What happened?</a:t>
            </a:r>
          </a:p>
          <a:p>
            <a:r>
              <a:t>A: We built a lot of features, but too few customers wanted them.</a:t>
            </a:r>
          </a:p>
          <a:p>
            <a:r>
              <a:t>B: Did you test the idea early?</a:t>
            </a:r>
          </a:p>
          <a:p>
            <a:r>
              <a:t>A: Not enough. We should have launched an MVP much sooner.</a:t>
            </a:r>
          </a:p>
          <a:p>
            <a:r>
              <a:t>B: And the cash?</a:t>
            </a:r>
          </a:p>
          <a:p>
            <a:r>
              <a:t>A: Our burn rate was too high. We hired too fast.</a:t>
            </a:r>
          </a:p>
          <a:p>
            <a:r>
              <a:t>B: You’ll do better next time with these lessons.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reflect on a failed venture.</a:t>
            </a:r>
          </a:p>
          <a:p>
            <a:r>
              <a:t>Your role (A) | Founder. Reasons: ______________</a:t>
            </a:r>
          </a:p>
          <a:p>
            <a:r>
              <a:t>Partner’s role (B) | Friend.</a:t>
            </a:r>
          </a:p>
          <a:p>
            <a:r>
              <a:t>Must use (3 or more) | ran out of runway · MVP · should have · burn rate · lessons</a:t>
            </a:r>
          </a:p>
          <a:p>
            <a:r>
              <a:t>Goal | Explain causes honestly and say what you would do differently.</a:t>
            </a:r>
          </a:p>
          <a:p>
            <a:r>
              <a:t>My notes | ____________________________________________</a:t>
            </a:r>
          </a:p>
          <a:p>
            <a:r>
              <a:t>Mention a pivot you didn’t make.</a:t>
            </a:r>
          </a:p>
          <a:p>
            <a:r>
              <a:t>Talk about the team.</a:t>
            </a:r>
          </a:p>
          <a:p>
            <a:r>
              <a:t>End positively.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most important factor for startup success? | “I’d say… because…”</a:t>
            </a:r>
          </a:p>
          <a:p>
            <a:r>
              <a:t>2. Is it better to start alone or with partners? | “With partners, since…”</a:t>
            </a:r>
          </a:p>
          <a:p>
            <a:r>
              <a:t>3. How risky is it to leave a job to start a company? | “It’s risky, but…”</a:t>
            </a:r>
          </a:p>
          <a:p>
            <a:r>
              <a:t>4. Would you invest in a startup? | “I would if…”</a:t>
            </a:r>
          </a:p>
          <a:p>
            <a:r>
              <a:t>5. Which country supports startups best? | “I think… because…”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say understanding customer needs is the most important factor. Many startups fail because they build something nobody wants. If you talk to customers early, you can fix problems before you’ve spent a lot of money. A good team and funding matter too, but without customers, they won’t be enough.”</a:t>
            </a:r>
          </a:p>
          <a:p>
            <a:r>
              <a:t>“without customers, they won’t be enough” 没有客户则其他都不够。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Pitching language and past regrets 路演语言与反思</a:t>
            </a:r>
          </a:p>
          <a:p>
            <a:r>
              <a:t>Function | Example</a:t>
            </a:r>
          </a:p>
          <a:p>
            <a:r>
              <a:t>Problem | The problem is that small cafés waste food.</a:t>
            </a:r>
          </a:p>
          <a:p>
            <a:r>
              <a:t>Solution | Our app predicts demand.</a:t>
            </a:r>
          </a:p>
          <a:p>
            <a:r>
              <a:t>Proof | We’ve signed up fifty cafés.</a:t>
            </a:r>
          </a:p>
          <a:p>
            <a:r>
              <a:t>Ask | We’re looking for 300,000 dollars.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Pitching language and past regrets 路演语言与反思</a:t>
            </a:r>
          </a:p>
          <a:p>
            <a:r>
              <a:t>Use should have + past participle for regrets: We should have launched sooner.</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open a startup.  →  ✓ I want to start a startup. / set up a company.  (搭配)</a:t>
            </a:r>
          </a:p>
          <a:p>
            <a:r>
              <a:t>✗ We have raised funding last year.  →  ✓ We raised funding last year.  (过去式)</a:t>
            </a:r>
          </a:p>
          <a:p>
            <a:r>
              <a:t>✗ We need a fund.  →  ✓ We need funding.  (funding 不可数)</a:t>
            </a:r>
          </a:p>
          <a:p>
            <a:r>
              <a:t>Mistake Watch: Check funding uncountable, should have + p.p., third person -s.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Our company make a profit.  →  ✓ Our company makes a profit.  (三单)</a:t>
            </a:r>
          </a:p>
          <a:p>
            <a:r>
              <a:t>✗ The market is grown fast.  →  ✓ The market is growing fast.  (进行时)</a:t>
            </a:r>
          </a:p>
          <a:p>
            <a:r>
              <a:t>✗ We should launched earlier.  →  ✓ We should have launched earlier.  (should have + p.p.)</a:t>
            </a:r>
          </a:p>
          <a:p>
            <a:r>
              <a:t>Mistake Watch: Check funding uncountable, should have + p.p., third person -s.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Pitching is storytelling. Open with a problem people recognise.</a:t>
            </a:r>
          </a:p>
          <a:p>
            <a:r>
              <a:t>Numbers build credibility. “Fifty cafés signed” beats “many customers”.</a:t>
            </a:r>
          </a:p>
          <a:p>
            <a:r>
              <a:t>Failure is discussed openly in startup culture, especially in the US, as a learning experience.</a:t>
            </a:r>
          </a:p>
          <a:p>
            <a:r>
              <a:t>Be concise. Investors often hear many pitches in a day.</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pitch a startup idea in 60 seconds.</a:t>
            </a:r>
          </a:p>
          <a:p>
            <a:r>
              <a:t>I can use funding vocabulary correctly.</a:t>
            </a:r>
          </a:p>
          <a:p>
            <a:r>
              <a:t>I can talk about regrets with should have.</a:t>
            </a:r>
          </a:p>
          <a:p>
            <a:r>
              <a:t>I use funding (uncountable) and past simple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a 60-second pitch and listen to it.</a:t>
            </a:r>
          </a:p>
          <a:p>
            <a:r>
              <a:t>8–10 | Listen to your recording. Check: funding uncountable, should have + p.p., third-person -s.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61 · Building a good company 建立一个好公司</a:t>
            </a:r>
          </a:p>
          <a:p>
            <a:r>
              <a:t>Goal: discuss the foundations of a good company: values, people, customers and sustainable growth.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“sustainable” = 可持续的。第 2 题 “the only goal” 注意 “the only” 的用法。</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what makes a good company.</a:t>
            </a:r>
          </a:p>
          <a:p>
            <a:r>
              <a:t>Say: purpose → people → customers → growth.</a:t>
            </a:r>
          </a:p>
          <a:p>
            <a:r>
              <a:t>Useful starters: “A good company has…” / “It treats… well” / “It grows in a way that…” / “In the long term, …”</a:t>
            </a:r>
          </a:p>
          <a:p>
            <a:r>
              <a:t>“in the long term” 从长远看;“treat sb well” 善待某人。</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Companies that last tend to share a few features. First, they have a clear purpose beyond making money, which helps people make decisions when the rules are not clear. Second, they hire carefully and treat employees fairly, because capable people are the hardest asset to replace. Third, they listen to customers and fix problems quickly, even if it costs them in the short term. Fourth, they grow at a pace they can manage. Rapid growth is tempting, but quality often suffers if systems and people cannot keep up. Finally, they are honest about mistakes. Trust, built slowly with employees, customers and suppliers, is difficult to buy and easy to lose. A strong company is not necessarily the biggest; it is the one others want to work with for years.</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a clear purpose useful?</a:t>
            </a:r>
          </a:p>
          <a:p>
            <a:r>
              <a:t>A: It guides decisions when rules are not clear.</a:t>
            </a:r>
          </a:p>
          <a:p>
            <a:r>
              <a:t>Q2. Why can rapid growth be a problem?</a:t>
            </a:r>
          </a:p>
          <a:p>
            <a:r>
              <a:t>A: Quality suffers if systems and people cannot keep up.</a:t>
            </a:r>
          </a:p>
          <a:p>
            <a:r>
              <a:t>Q3. What is difficult to buy and easy to lose?</a:t>
            </a:r>
          </a:p>
          <a:p>
            <a:r>
              <a:t>A: Trust.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Foundations 基础</a:t>
            </a:r>
          </a:p>
          <a:p>
            <a:r>
              <a:t>领读 → 学员跟读 → 请学员用表达造一个和自己工作相关的句子。</a:t>
            </a:r>
          </a:p>
          <a:p>
            <a:r>
              <a:t>mission / purpose (noun) 使命 — “Our mission is to simplify banking.”</a:t>
            </a:r>
          </a:p>
          <a:p>
            <a:r>
              <a:t>core values (noun) 核心价值观 — “Our core values guide us.”</a:t>
            </a:r>
          </a:p>
          <a:p>
            <a:r>
              <a:t>long-term vision (noun) 长期愿景 — “We have a long-term vision.”</a:t>
            </a:r>
          </a:p>
          <a:p>
            <a:r>
              <a:t>★ lay the foundations (collocation) 打下基础 — “We laid the foundations early.”</a:t>
            </a:r>
          </a:p>
          <a:p>
            <a:r>
              <a:t>★ stand for (phrasal verb) 代表(价值) — “What does your company stand for?”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People and customers 人与客户</a:t>
            </a:r>
          </a:p>
          <a:p>
            <a:r>
              <a:t>领读 → 学员跟读 → 请学员用表达造一个和自己工作相关的句子。</a:t>
            </a:r>
          </a:p>
          <a:p>
            <a:r>
              <a:t>attract and retain talent (collocation) 吸引并留住人才 — “Good culture helps retain talent.”</a:t>
            </a:r>
          </a:p>
          <a:p>
            <a:r>
              <a:t>customer loyalty (noun) 客户忠诚度 — “Customer loyalty drives sales.”</a:t>
            </a:r>
          </a:p>
          <a:p>
            <a:r>
              <a:t>stakeholders (noun) 利益相关方 — “We care about all stakeholders.”</a:t>
            </a:r>
          </a:p>
          <a:p>
            <a:r>
              <a:t>★ walk the talk (idiom) 言行一致 — “Leaders must walk the talk.”</a:t>
            </a:r>
          </a:p>
          <a:p>
            <a:r>
              <a:t>★ put customers first (collocation) 客户至上 — “We put customers first.”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Growth 增长</a:t>
            </a:r>
          </a:p>
          <a:p>
            <a:r>
              <a:t>领读 → 学员跟读 → 请学员用表达造一个和自己工作相关的句子。</a:t>
            </a:r>
          </a:p>
          <a:p>
            <a:r>
              <a:t>sustainable growth (noun) 可持续增长 — “We want sustainable growth.”</a:t>
            </a:r>
          </a:p>
          <a:p>
            <a:r>
              <a:t>scale up (phrasal verb) 扩大规模 — “We plan to scale up next year.”</a:t>
            </a:r>
          </a:p>
          <a:p>
            <a:r>
              <a:t>expand into (verb phrase) 拓展进入 — “We expanded into Asia.”</a:t>
            </a:r>
          </a:p>
          <a:p>
            <a:r>
              <a:t>★ outgrow (a system) (verb) 业务规模超出 — “We outgrew our old software.”</a:t>
            </a:r>
          </a:p>
          <a:p>
            <a:r>
              <a:t>★ stay lean (collocation) 保持精简 — “We try to stay lean.”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mission / values / loyalty / stakeholders / sustainable / scale</a:t>
            </a:r>
          </a:p>
          <a:p>
            <a:r>
              <a:t>1. Our _______ is to simplify banking. → mission</a:t>
            </a:r>
          </a:p>
          <a:p>
            <a:r>
              <a:t>2. Our core _______ guide our decisions. → values</a:t>
            </a:r>
          </a:p>
          <a:p>
            <a:r>
              <a:t>3. Customer _______ drives repeat sales. → loyalty</a:t>
            </a:r>
          </a:p>
          <a:p>
            <a:r>
              <a:t>4. We care about all our _______. → stakeholders</a:t>
            </a:r>
          </a:p>
          <a:p>
            <a:r>
              <a:t>5. We want _______ growth, not just fast growth. → sustainable</a:t>
            </a:r>
          </a:p>
          <a:p>
            <a:r>
              <a:t>6. We plan to _______ up next year. → scale</a:t>
            </a:r>
          </a:p>
          <a:p>
            <a:r>
              <a:t>Mistake Watch: (搭配) core values, stand FOR, expand INTO a market;stakeholder 拼写。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company values 描述公司价值观</a:t>
            </a:r>
          </a:p>
          <a:p>
            <a:r>
              <a:t>情景：A candidate asks about the company.</a:t>
            </a:r>
          </a:p>
          <a:p>
            <a:r>
              <a:t>Role A: Candidate Role B: Interviewer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does the company stand for?</a:t>
            </a:r>
          </a:p>
          <a:p>
            <a:r>
              <a:t>B: Our mission is to make healthy food affordable. We put customers first.</a:t>
            </a:r>
          </a:p>
          <a:p>
            <a:r>
              <a:t>A: How do values show up in daily work?</a:t>
            </a:r>
          </a:p>
          <a:p>
            <a:r>
              <a:t>B: For example, we refund unhappy customers without arguing, even when it costs us.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And growth plans?</a:t>
            </a:r>
          </a:p>
          <a:p>
            <a:r>
              <a:t>B: We want sustainable growth. We’d rather stay lean than expand too fast.</a:t>
            </a:r>
          </a:p>
          <a:p>
            <a:r>
              <a:t>A: That sounds refreshing.</a:t>
            </a:r>
          </a:p>
          <a:p>
            <a:r>
              <a:t>B: We think trust matters more than speed.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describe company values.</a:t>
            </a:r>
          </a:p>
          <a:p>
            <a:r>
              <a:t>Your role (A) | Candidate.</a:t>
            </a:r>
          </a:p>
          <a:p>
            <a:r>
              <a:t>Partner’s role (B) | Interviewer. Company: ______________</a:t>
            </a:r>
          </a:p>
          <a:p>
            <a:r>
              <a:t>Must use (3 or more) | stand for · mission · put customers first · sustainable growth · stay lean</a:t>
            </a:r>
          </a:p>
          <a:p>
            <a:r>
              <a:t>Goal | Explain purpose, an example and growth approach.</a:t>
            </a:r>
          </a:p>
          <a:p>
            <a:r>
              <a:t>My notes | ____________________________________________</a:t>
            </a:r>
          </a:p>
          <a:p>
            <a:r>
              <a:t>Add a tough decision that showed values.</a:t>
            </a:r>
          </a:p>
          <a:p>
            <a:r>
              <a:t>Ask about diversity.</a:t>
            </a:r>
          </a:p>
          <a:p>
            <a:r>
              <a:t>Challenge: “Aren’t values just words?”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Growing without losing quality 增长而不丢质量</a:t>
            </a:r>
          </a:p>
          <a:p>
            <a:r>
              <a:t>情景：A founder talks to an adviser.</a:t>
            </a:r>
          </a:p>
          <a:p>
            <a:r>
              <a:t>Role A: Founder Role B: Adviser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Orders have doubled, and complaints are rising.</a:t>
            </a:r>
          </a:p>
          <a:p>
            <a:r>
              <a:t>B: You may have outgrown your systems. What’s going wrong?</a:t>
            </a:r>
          </a:p>
          <a:p>
            <a:r>
              <a:t>A: Deliveries are late, and new staff aren’t trained.</a:t>
            </a:r>
          </a:p>
          <a:p>
            <a:r>
              <a:t>B: I’d slow down hiring and fix processes first.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Won’t we lose momentum?</a:t>
            </a:r>
          </a:p>
          <a:p>
            <a:r>
              <a:t>B: In the short term, perhaps. In the long term, you’ll protect your reputation.</a:t>
            </a:r>
          </a:p>
          <a:p>
            <a:r>
              <a:t>A: That makes sense. Where do we start?</a:t>
            </a:r>
          </a:p>
          <a:p>
            <a:r>
              <a:t>B: Map the order process, find the bottlenecks, and train people properly.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advise on growth problems.</a:t>
            </a:r>
          </a:p>
          <a:p>
            <a:r>
              <a:t>Your role (A) | Founder. Problem: ______________</a:t>
            </a:r>
          </a:p>
          <a:p>
            <a:r>
              <a:t>Partner’s role (B) | Adviser.</a:t>
            </a:r>
          </a:p>
          <a:p>
            <a:r>
              <a:t>Must use (3 or more) | outgrown · bottlenecks · slow down · in the long term · reputation</a:t>
            </a:r>
          </a:p>
          <a:p>
            <a:r>
              <a:t>Goal | Diagnose and recommend steps to scale sustainably.</a:t>
            </a:r>
          </a:p>
          <a:p>
            <a:r>
              <a:t>My notes | ____________________________________________</a:t>
            </a:r>
          </a:p>
          <a:p>
            <a:r>
              <a:t>Suggest metrics.</a:t>
            </a:r>
          </a:p>
          <a:p>
            <a:r>
              <a:t>Discuss hiring.</a:t>
            </a:r>
          </a:p>
          <a:p>
            <a:r>
              <a:t>Agree a timeline.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you want to work for a company? | “A clear purpose and…”</a:t>
            </a:r>
          </a:p>
          <a:p>
            <a:r>
              <a:t>2. Can profit and purpose go together? | “Yes, because…”</a:t>
            </a:r>
          </a:p>
          <a:p>
            <a:r>
              <a:t>3. Is bigger always better? | “Not necessarily, since…”</a:t>
            </a:r>
          </a:p>
          <a:p>
            <a:r>
              <a:t>4. How can a company keep its culture while growing? | “By… / It could…”</a:t>
            </a:r>
          </a:p>
          <a:p>
            <a:r>
              <a:t>5. Which company do you trust most? Why? | “I trust… because…”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they can go together. If a company treats staff and customers well, it usually earns loyalty, and that creates profit over time. The risk is when short-term pressure pushes managers to cut corners. A strong purpose helps leaders resist that pressure.”</a:t>
            </a:r>
          </a:p>
          <a:p>
            <a:r>
              <a:t>“cut corners” 偷工减料;“resist pressure” 抵挡压力。</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long and short term 长期与短期</a:t>
            </a:r>
          </a:p>
          <a:p>
            <a:r>
              <a:t>Phrase | Example</a:t>
            </a:r>
          </a:p>
          <a:p>
            <a:r>
              <a:t>in the short term / long term | In the short term, costs rise.</a:t>
            </a:r>
          </a:p>
          <a:p>
            <a:r>
              <a:t>over time | Trust builds over time.</a:t>
            </a:r>
          </a:p>
          <a:p>
            <a:r>
              <a:t>rather than / instead of | We invest rather than spend.</a:t>
            </a:r>
          </a:p>
          <a:p>
            <a:r>
              <a:t>would rather… than… | We’d rather stay small than lose quality.</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long and short term 长期与短期</a:t>
            </a:r>
          </a:p>
          <a:p>
            <a:r>
              <a:t>Rather than + -ing / noun. Would rather + base verb + than + base verb.</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Our mission is help people.  →  ✓ Our mission is to help people.  (to)</a:t>
            </a:r>
          </a:p>
          <a:p>
            <a:r>
              <a:t>✗ We care customers.  →  ✓ We care about customers.  (care about)</a:t>
            </a:r>
          </a:p>
          <a:p>
            <a:r>
              <a:t>✗ The company is grew fast.  →  ✓ The company grew fast.  (过去式)</a:t>
            </a:r>
          </a:p>
          <a:p>
            <a:r>
              <a:t>Mistake Watch: Check care about, prefer… to, for a long time, past simple vs passive.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have a good culture, so people stay long.  →  ✓ …people stay for a long time.  (for a long time)</a:t>
            </a:r>
          </a:p>
          <a:p>
            <a:r>
              <a:t>✗ We want to be a successful.  →  ✓ We want to be successful.  (无冠词)</a:t>
            </a:r>
          </a:p>
          <a:p>
            <a:r>
              <a:t>✗ We prefer quality than quantity.  →  ✓ We prefer quality to quantity.  (prefer… to)</a:t>
            </a:r>
          </a:p>
          <a:p>
            <a:r>
              <a:t>Mistake Watch: Check care about, prefer… to, for a long time, past simple vs passive.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Values statements. Companies publish them; interviewers expect you to show you know them.</a:t>
            </a:r>
          </a:p>
          <a:p>
            <a:r>
              <a:t>ESG. Many firms report on environment, social impact and governance.</a:t>
            </a:r>
          </a:p>
          <a:p>
            <a:r>
              <a:t>Say “we”. Describe your company in the plural to show belonging.</a:t>
            </a:r>
          </a:p>
          <a:p>
            <a:r>
              <a:t>Walk the talk. Western audiences notice a gap between words and actions.</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good company with natural phrases.</a:t>
            </a:r>
          </a:p>
          <a:p>
            <a:r>
              <a:t>I can explain values with an example.</a:t>
            </a:r>
          </a:p>
          <a:p>
            <a:r>
              <a:t>I can discuss short- vs long-term trade-offs.</a:t>
            </a:r>
          </a:p>
          <a:p>
            <a:r>
              <a:t>I use care about, prefer… to, rather than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company you admire in 90 seconds.</a:t>
            </a:r>
          </a:p>
          <a:p>
            <a:r>
              <a:t>8–10 | Listen to your recording. Check: care about, prefer to, for a long time.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62 · Start an e-commerce business 创办电子商务企业</a:t>
            </a:r>
          </a:p>
          <a:p>
            <a:r>
              <a:t>Goal: talk about setting up an online store, from products and platforms to marketing and delivery.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“e-commerce” 电子商务;“abandon the basket” 放弃购物车。第 1 题现在完成时。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 would start an online business.</a:t>
            </a:r>
          </a:p>
          <a:p>
            <a:r>
              <a:t>Say: product → platform → marketing → delivery → customer service.</a:t>
            </a:r>
          </a:p>
          <a:p>
            <a:r>
              <a:t>Useful starters: “I’d start by choosing…” / “Next, I’d set up…” / “To attract customers, I’d…” / “Finally, …”</a:t>
            </a:r>
          </a:p>
          <a:p>
            <a:r>
              <a:t>“I’d start by + -ing” 我会先从…开始。</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Starting an online shop is easier than ever, but standing out is difficult. Most beginners follow five steps. First, choose a product with a clear audience, and check demand by looking at what people search for. Second, set up a website using a platform that handles payments and security. Third, attract visitors through search engines, social media and email, rather than relying only on paid advertising. Fourth, arrange reliable delivery and a simple returns policy, since customers dislike surprise costs. Fifth, respond to questions quickly. A common problem is “basket abandonment”, when shoppers add items but leave before paying. Reasons include high shipping fees, long checkout forms and lack of trust. Small improvements, such as showing delivery costs early, can increase the conversion rate, which is the percentage of visitors who buy.</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two reasons for basket abandonment?</a:t>
            </a:r>
          </a:p>
          <a:p>
            <a:r>
              <a:t>A: High shipping fees, long checkout forms, lack of trust.</a:t>
            </a:r>
          </a:p>
          <a:p>
            <a:r>
              <a:t>Q2. What is the conversion rate?</a:t>
            </a:r>
          </a:p>
          <a:p>
            <a:r>
              <a:t>A: The percentage of visitors who buy.</a:t>
            </a:r>
          </a:p>
          <a:p>
            <a:r>
              <a:t>Q3. Why arrange a simple returns policy?</a:t>
            </a:r>
          </a:p>
          <a:p>
            <a:r>
              <a:t>A: Customers dislike surprise costs and want confidence to buy.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Setting up 创建</a:t>
            </a:r>
          </a:p>
          <a:p>
            <a:r>
              <a:t>领读 → 学员跟读 → 请学员用表达造一个和自己工作相关的句子。</a:t>
            </a:r>
          </a:p>
          <a:p>
            <a:r>
              <a:t>online store (noun) 网店 — “She runs an online store.”</a:t>
            </a:r>
          </a:p>
          <a:p>
            <a:r>
              <a:t>platform (noun) 平台 — “We use a popular platform.”</a:t>
            </a:r>
          </a:p>
          <a:p>
            <a:r>
              <a:t>list a product (collocation) 上架产品 — “We list new products weekly.”</a:t>
            </a:r>
          </a:p>
          <a:p>
            <a:r>
              <a:t>★ drop-shipping (noun) 代发货模式 — “He sells through drop-shipping.”</a:t>
            </a:r>
          </a:p>
          <a:p>
            <a:r>
              <a:t>★ niche market (noun) 细分市场 — “We target a niche market.”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Customers 顾客</a:t>
            </a:r>
          </a:p>
          <a:p>
            <a:r>
              <a:t>领读 → 学员跟读 → 请学员用表达造一个和自己工作相关的句子。</a:t>
            </a:r>
          </a:p>
          <a:p>
            <a:r>
              <a:t>conversion rate (noun) 转化率 — “Our conversion rate is 3 per cent.”</a:t>
            </a:r>
          </a:p>
          <a:p>
            <a:r>
              <a:t>abandoned basket (noun) 被放弃的购物车 — “Abandoned baskets cost us sales.”</a:t>
            </a:r>
          </a:p>
          <a:p>
            <a:r>
              <a:t>checkout (noun) 结账 — “The checkout is simple.”</a:t>
            </a:r>
          </a:p>
          <a:p>
            <a:r>
              <a:t>★ customer acquisition cost (noun) 获客成本 — “Our customer acquisition cost is rising.”</a:t>
            </a:r>
          </a:p>
          <a:p>
            <a:r>
              <a:t>★ repeat customers (noun) 回头客 — “Repeat customers drive profit.”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Delivery 配送</a:t>
            </a:r>
          </a:p>
          <a:p>
            <a:r>
              <a:t>领读 → 学员跟读 → 请学员用表达造一个和自己工作相关的句子。</a:t>
            </a:r>
          </a:p>
          <a:p>
            <a:r>
              <a:t>fulfil an order (collocation) 履行订单 — “We fulfil orders within 24 hours.”</a:t>
            </a:r>
          </a:p>
          <a:p>
            <a:r>
              <a:t>shipping fee (noun) 运费 — “Free shipping boosts sales.”</a:t>
            </a:r>
          </a:p>
          <a:p>
            <a:r>
              <a:t>return policy (noun) 退货政策 — “Our return policy is generous.”</a:t>
            </a:r>
          </a:p>
          <a:p>
            <a:r>
              <a:t>★ last-mile delivery (noun) 最后一公里配送 — “Last-mile delivery is costly.”</a:t>
            </a:r>
          </a:p>
          <a:p>
            <a:r>
              <a:t>★ stock-out (noun) 缺货 — “A stock-out loses sales.”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platform / list / conversion / basket / shipping / return</a:t>
            </a:r>
          </a:p>
          <a:p>
            <a:r>
              <a:t>1. We use a popular e-commerce _______. → platform</a:t>
            </a:r>
          </a:p>
          <a:p>
            <a:r>
              <a:t>2. We _______ new products every week. → list</a:t>
            </a:r>
          </a:p>
          <a:p>
            <a:r>
              <a:t>3. Our _______ rate is 3 per cent. → conversion</a:t>
            </a:r>
          </a:p>
          <a:p>
            <a:r>
              <a:t>4. Many customers abandon their _______. → basket</a:t>
            </a:r>
          </a:p>
          <a:p>
            <a:r>
              <a:t>5. Free _______ boosts sales. → shipping</a:t>
            </a:r>
          </a:p>
          <a:p>
            <a:r>
              <a:t>6. Our _______ policy is generous. → return</a:t>
            </a:r>
          </a:p>
          <a:p>
            <a:r>
              <a:t>Mistake Watch: (搭配) run / set up an online store, place an order, fulfil an order;e-commerce 不可数。</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an online shop 规划网店</a:t>
            </a:r>
          </a:p>
          <a:p>
            <a:r>
              <a:t>情景：Two friends plan a business.</a:t>
            </a:r>
          </a:p>
          <a:p>
            <a:r>
              <a:t>Role A: Friend 1 Role B: Friend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start by choosing a niche product. Maybe eco-friendly pet toys.</a:t>
            </a:r>
          </a:p>
          <a:p>
            <a:r>
              <a:t>B: Good idea. Is there demand?</a:t>
            </a:r>
          </a:p>
          <a:p>
            <a:r>
              <a:t>A: I checked searches. There’s a steady interest.</a:t>
            </a:r>
          </a:p>
          <a:p>
            <a:r>
              <a:t>B: And the platform?</a:t>
            </a:r>
          </a:p>
          <a:p>
            <a:r>
              <a:t>A: I’d use a platform that handles payments, so setup is easy.</a:t>
            </a:r>
          </a:p>
          <a:p>
            <a:r>
              <a:t>B: How will you attract customers?</a:t>
            </a:r>
          </a:p>
          <a:p>
            <a:r>
              <a:t>A: Through social media and email. Not just paid ads.</a:t>
            </a:r>
          </a:p>
          <a:p>
            <a:r>
              <a:t>B: Sounds sensible. What about delivery?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plan an online shop.</a:t>
            </a:r>
          </a:p>
          <a:p>
            <a:r>
              <a:t>Your role (A) | Planner. Product: ______________</a:t>
            </a:r>
          </a:p>
          <a:p>
            <a:r>
              <a:t>Partner’s role (B) | Friend asking questions.</a:t>
            </a:r>
          </a:p>
          <a:p>
            <a:r>
              <a:t>Must use (3 or more) | I’d start by… · niche · conversion rate · platform · shipping</a:t>
            </a:r>
          </a:p>
          <a:p>
            <a:r>
              <a:t>Goal | Describe the steps and answer two questions.</a:t>
            </a:r>
          </a:p>
          <a:p>
            <a:r>
              <a:t>My notes | ____________________________________________</a:t>
            </a:r>
          </a:p>
          <a:p>
            <a:r>
              <a:t>Discuss pricing.</a:t>
            </a:r>
          </a:p>
          <a:p>
            <a:r>
              <a:t>Estimate costs.</a:t>
            </a:r>
          </a:p>
          <a:p>
            <a:r>
              <a:t>Plan a launch.</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Fixing basket abandonment 解决购物车放弃问题</a:t>
            </a:r>
          </a:p>
          <a:p>
            <a:r>
              <a:t>情景：You analyse a sales problem.</a:t>
            </a:r>
          </a:p>
          <a:p>
            <a:r>
              <a:t>Role A: Owner Role B: Consultant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Many customers add items but never pay. Why?</a:t>
            </a:r>
          </a:p>
          <a:p>
            <a:r>
              <a:t>B: Do you show shipping costs early?</a:t>
            </a:r>
          </a:p>
          <a:p>
            <a:r>
              <a:t>A: No, only at checkout.</a:t>
            </a:r>
          </a:p>
          <a:p>
            <a:r>
              <a:t>B: That’s a common reason. Surprise costs make people leave.</a:t>
            </a:r>
          </a:p>
          <a:p>
            <a:r>
              <a:t>A: What else?</a:t>
            </a:r>
          </a:p>
          <a:p>
            <a:r>
              <a:t>B: Is your checkout simple? Long forms drive people away.</a:t>
            </a:r>
          </a:p>
          <a:p>
            <a:r>
              <a:t>A: It has eight fields.</a:t>
            </a:r>
          </a:p>
          <a:p>
            <a:r>
              <a:t>B: Reduce it to four, and show shipping costs on the product page.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diagnose an online sales problem.</a:t>
            </a:r>
          </a:p>
          <a:p>
            <a:r>
              <a:t>Your role (A) | Owner.</a:t>
            </a:r>
          </a:p>
          <a:p>
            <a:r>
              <a:t>Partner’s role (B) | Consultant. Problem: ______________</a:t>
            </a:r>
          </a:p>
          <a:p>
            <a:r>
              <a:t>Must use (3 or more) | abandon · surprise costs · checkout · conversion rate · reduce</a:t>
            </a:r>
          </a:p>
          <a:p>
            <a:r>
              <a:t>Goal | Find causes and suggest three fixes.</a:t>
            </a:r>
          </a:p>
          <a:p>
            <a:r>
              <a:t>My notes | ____________________________________________</a:t>
            </a:r>
          </a:p>
          <a:p>
            <a:r>
              <a:t>Add trust signals.</a:t>
            </a:r>
          </a:p>
          <a:p>
            <a:r>
              <a:t>Offer a discount carefully.</a:t>
            </a:r>
          </a:p>
          <a:p>
            <a:r>
              <a:t>Propose an A/B test.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you buy from a new online shop? | “Only if…”</a:t>
            </a:r>
          </a:p>
          <a:p>
            <a:r>
              <a:t>2. What makes a website trustworthy? | “Clear contact details and…”</a:t>
            </a:r>
          </a:p>
          <a:p>
            <a:r>
              <a:t>3. Is social media better than search for marketing? | “It depends on…”</a:t>
            </a:r>
          </a:p>
          <a:p>
            <a:r>
              <a:t>4. Should shipping be free? | “I think … because…”</a:t>
            </a:r>
          </a:p>
          <a:p>
            <a:r>
              <a:t>5. What are the risks of starting an online business? | “One risk is…”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buy only if the shop looks professional and there are real reviews. I’d also check the return policy and contact details. If something seems unclear, I’d buy a small item first. Once the shop proves reliable, I’d feel comfortable buying more.”</a:t>
            </a:r>
          </a:p>
          <a:p>
            <a:r>
              <a:t>“once + 一般现在时” 一旦…就…;“proves reliable” 证明可靠。</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steps and conditions 描述步骤与条件</a:t>
            </a:r>
          </a:p>
          <a:p>
            <a:r>
              <a:t>Structure | Example</a:t>
            </a:r>
          </a:p>
          <a:p>
            <a:r>
              <a:t>First, … Then, … Finally, … | First, choose a product. Then, set up a site.</a:t>
            </a:r>
          </a:p>
          <a:p>
            <a:r>
              <a:t>If + present, will + base | If shipping is free, more people will buy.</a:t>
            </a:r>
          </a:p>
          <a:p>
            <a:r>
              <a:t>Unless | Unless the checkout is simple, people will leave.</a:t>
            </a:r>
          </a:p>
          <a:p>
            <a:r>
              <a:t>as long as | I’ll buy as long as I can return it.</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steps and conditions 描述步骤与条件</a:t>
            </a:r>
          </a:p>
          <a:p>
            <a:r>
              <a:t>In conditionals with if / unless / as long as / once, use the present simple for future meaning.</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If the checkout will be simple, people will buy.  →  ✓ If the checkout is simple, people will buy.  (条件句用现在时)</a:t>
            </a:r>
          </a:p>
          <a:p>
            <a:r>
              <a:t>✗ I want to sell on the internet shop.  →  ✓ I want to sell in an online shop.  (online shop)</a:t>
            </a:r>
          </a:p>
          <a:p>
            <a:r>
              <a:t>✗ We make a delivery the order.  →  ✓ We deliver the order.  (动词)</a:t>
            </a:r>
          </a:p>
          <a:p>
            <a:r>
              <a:t>Mistake Watch: Check present simple in conditionals, unless (already negative), the market.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customers are abandoning theirs baskets.  →  ✓ Customers are abandoning their baskets.  (their)</a:t>
            </a:r>
          </a:p>
          <a:p>
            <a:r>
              <a:t>✗ I’ll buy unless it doesn’t have reviews.  →  ✓ I won’t buy unless it has reviews.  (unless 已含否定)</a:t>
            </a:r>
          </a:p>
          <a:p>
            <a:r>
              <a:t>✗ There are many competitors in e-commerce market.  →  ✓ …in the e-commerce market.  (the)</a:t>
            </a:r>
          </a:p>
          <a:p>
            <a:r>
              <a:t>Mistake Watch: Check present simple in conditionals, unless (already negative), the market.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Reviews matter. Customers read ratings; respond politely to negative ones.</a:t>
            </a:r>
          </a:p>
          <a:p>
            <a:r>
              <a:t>Returns are expected. Free returns are common in many markets.</a:t>
            </a:r>
          </a:p>
          <a:p>
            <a:r>
              <a:t>Data privacy. Rules such as GDPR require care with customer data.</a:t>
            </a:r>
          </a:p>
          <a:p>
            <a:r>
              <a:t>Peak seasons. Prepare for Black Friday, Singles’ Day and holidays.</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the steps of an e-commerce business.</a:t>
            </a:r>
          </a:p>
          <a:p>
            <a:r>
              <a:t>I can talk about conversion and basket problems.</a:t>
            </a:r>
          </a:p>
          <a:p>
            <a:r>
              <a:t>I can suggest improvements with conditionals.</a:t>
            </a:r>
          </a:p>
          <a:p>
            <a:r>
              <a:t>I use present simple after if / unless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Plan an online shop in five sentences using first, then, finally.</a:t>
            </a:r>
          </a:p>
          <a:p>
            <a:r>
              <a:t>8–10 | Listen to your recording. Check: conditional present, unless, the market.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63 · Choosing between red and blue 在红海与蓝海之间选择</a:t>
            </a:r>
          </a:p>
          <a:p>
            <a:r>
              <a:t>Goal: explain “red ocean” and “blue ocean” strategies and compare them for a given business.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“red ocean” 红海:竞争激烈的现有市场;“blue ocean” 蓝海:尚未开发的新市场。</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Compare competing in an existing market with creating a new one.</a:t>
            </a:r>
          </a:p>
          <a:p>
            <a:r>
              <a:t>Say: red ocean → blue ocean → advantages/risks → your choice.</a:t>
            </a:r>
          </a:p>
          <a:p>
            <a:r>
              <a:t>Useful starters: “In a red ocean, companies…” / “A blue ocean means…” / “The risk is…” / “I’d choose… because…”</a:t>
            </a:r>
          </a:p>
          <a:p>
            <a:r>
              <a:t>“compete on price” 靠价格竞争;“make the competition irrelevant” 让竞争失去意义。</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terms “red ocean” and “blue ocean” describe two strategic choices. In a red ocean, many companies fight for the same customers in an existing market, so prices fall and margins shrink. The water turns red with competition. In a blue ocean, a company creates a new space where competition is small or absent, often by combining ideas from different industries or by serving customers that others ignore. A well-known example is a fitness chain that opened low-cost gyms for people who were not regular gym users. The advantage is higher profit and growth. The difficulty is that a new market may be uncertain, and successful ideas are soon copied. Most companies need both: skills to compete today and the imagination to look for new opportunities.</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happens in a red ocean?</a:t>
            </a:r>
          </a:p>
          <a:p>
            <a:r>
              <a:t>A: Many companies fight for the same customers; prices fall and margins shrink.</a:t>
            </a:r>
          </a:p>
          <a:p>
            <a:r>
              <a:t>Q2. How can companies create a blue ocean?</a:t>
            </a:r>
          </a:p>
          <a:p>
            <a:r>
              <a:t>A: By combining ideas from different industries or serving ignored customers.</a:t>
            </a:r>
          </a:p>
          <a:p>
            <a:r>
              <a:t>Q3. What is the difficulty with a blue ocean?</a:t>
            </a:r>
          </a:p>
          <a:p>
            <a:r>
              <a:t>A: The market may be uncertain and ideas are soon copied.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Competition 竞争</a:t>
            </a:r>
          </a:p>
          <a:p>
            <a:r>
              <a:t>领读 → 学员跟读 → 请学员用表达造一个和自己工作相关的句子。</a:t>
            </a:r>
          </a:p>
          <a:p>
            <a:r>
              <a:t>red ocean (noun) 红海 — “It’s a red ocean with many rivals.”</a:t>
            </a:r>
          </a:p>
          <a:p>
            <a:r>
              <a:t>crowded market (noun) 拥挤市场 — “It’s a crowded market.”</a:t>
            </a:r>
          </a:p>
          <a:p>
            <a:r>
              <a:t>price war (noun) 价格战 — “A price war hurt margins.”</a:t>
            </a:r>
          </a:p>
          <a:p>
            <a:r>
              <a:t>★ race to the bottom (idiom) 恶性降价竞争 — “It became a race to the bottom.”</a:t>
            </a:r>
          </a:p>
          <a:p>
            <a:r>
              <a:t>★ margins (noun) 利润率 — “Margins are shrinking.”</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New markets 新市场</a:t>
            </a:r>
          </a:p>
          <a:p>
            <a:r>
              <a:t>领读 → 学员跟读 → 请学员用表达造一个和自己工作相关的句子。</a:t>
            </a:r>
          </a:p>
          <a:p>
            <a:r>
              <a:t>blue ocean (noun) 蓝海 — “They found a blue ocean.”</a:t>
            </a:r>
          </a:p>
          <a:p>
            <a:r>
              <a:t>untapped market (noun) 未开发市场 — “There’s an untapped market.”</a:t>
            </a:r>
          </a:p>
          <a:p>
            <a:r>
              <a:t>differentiate (verb) 差异化 — “We differentiate through service.”</a:t>
            </a:r>
          </a:p>
          <a:p>
            <a:r>
              <a:t>★ create a category (collocation) 开创品类 — “They created a new category.”</a:t>
            </a:r>
          </a:p>
          <a:p>
            <a:r>
              <a:t>★ first-mover advantage (noun) 先发优势 — “First-mover advantage is not guaranteed.”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Strategy 战略</a:t>
            </a:r>
          </a:p>
          <a:p>
            <a:r>
              <a:t>领读 → 学员跟读 → 请学员用表达造一个和自己工作相关的句子。</a:t>
            </a:r>
          </a:p>
          <a:p>
            <a:r>
              <a:t>compete on price / quality (collocation) 靠价格/质量竞争 — “We compete on quality.”</a:t>
            </a:r>
          </a:p>
          <a:p>
            <a:r>
              <a:t>value proposition (noun) 价值主张 — “Our value proposition is clear.”</a:t>
            </a:r>
          </a:p>
          <a:p>
            <a:r>
              <a:t>niche (noun) 细分领域 — “We found a niche.”</a:t>
            </a:r>
          </a:p>
          <a:p>
            <a:r>
              <a:t>★ make the competition irrelevant (phrase) 使竞争失去意义 — “Aim to make the competition irrelevant.”</a:t>
            </a:r>
          </a:p>
          <a:p>
            <a:r>
              <a:t>★ copycats (noun) 模仿者 — “Copycats followed quickly.”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red / war / differentiate / untapped / value / niche</a:t>
            </a:r>
          </a:p>
          <a:p>
            <a:r>
              <a:t>1. The coffee market is a _______ ocean. → red</a:t>
            </a:r>
          </a:p>
          <a:p>
            <a:r>
              <a:t>2. A price _______ hurt everyone’s margins. → war</a:t>
            </a:r>
          </a:p>
          <a:p>
            <a:r>
              <a:t>3. We _______ ourselves through service. → differentiate</a:t>
            </a:r>
          </a:p>
          <a:p>
            <a:r>
              <a:t>4. There’s an _______ market for older users. → untapped</a:t>
            </a:r>
          </a:p>
          <a:p>
            <a:r>
              <a:t>5. Our _______ proposition is simple. → value</a:t>
            </a:r>
          </a:p>
          <a:p>
            <a:r>
              <a:t>6. We found a profitable _______. → niche</a:t>
            </a:r>
          </a:p>
          <a:p>
            <a:r>
              <a:t>Mistake Watch: (搭配) compete ON price, compete WITH rivals, differentiate FROM competitors。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strategy 讨论战略</a:t>
            </a:r>
          </a:p>
          <a:p>
            <a:r>
              <a:t>情景：Managers discuss market choice.</a:t>
            </a:r>
          </a:p>
          <a:p>
            <a:r>
              <a:t>Role A: Manager 1 Role B: Manager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We’re in a red ocean. Three competitors keep cutting prices.</a:t>
            </a:r>
          </a:p>
          <a:p>
            <a:r>
              <a:t>B: Margins are shrinking. We can’t win a price war.</a:t>
            </a:r>
          </a:p>
          <a:p>
            <a:r>
              <a:t>A: What if we looked for a blue ocean?</a:t>
            </a:r>
          </a:p>
          <a:p>
            <a:r>
              <a:t>B: Like what?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Customers who don’t buy from us now, such as older users who find our app too complicated.</a:t>
            </a:r>
          </a:p>
          <a:p>
            <a:r>
              <a:t>B: An untapped market. That could work.</a:t>
            </a:r>
          </a:p>
          <a:p>
            <a:r>
              <a:t>A: The risk is that it takes time and money.</a:t>
            </a:r>
          </a:p>
          <a:p>
            <a:r>
              <a:t>B: Let’s test with a small pilot.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compare strategies.</a:t>
            </a:r>
          </a:p>
          <a:p>
            <a:r>
              <a:t>Your role (A) | Manager. Industry: ______________</a:t>
            </a:r>
          </a:p>
          <a:p>
            <a:r>
              <a:t>Partner’s role (B) | Colleague.</a:t>
            </a:r>
          </a:p>
          <a:p>
            <a:r>
              <a:t>Must use (3 or more) | red ocean · price war · margins · untapped market · pilot</a:t>
            </a:r>
          </a:p>
          <a:p>
            <a:r>
              <a:t>Goal | Describe the problem, propose a new market and discuss a risk.</a:t>
            </a:r>
          </a:p>
          <a:p>
            <a:r>
              <a:t>My notes | ____________________________________________</a:t>
            </a:r>
          </a:p>
          <a:p>
            <a:r>
              <a:t>Add a differentiator.</a:t>
            </a:r>
          </a:p>
          <a:p>
            <a:r>
              <a:t>Estimate market size.</a:t>
            </a:r>
          </a:p>
          <a:p>
            <a:r>
              <a:t>Plan a test.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to a client 向客户解释</a:t>
            </a:r>
          </a:p>
          <a:p>
            <a:r>
              <a:t>情景：You describe your unique value.</a:t>
            </a:r>
          </a:p>
          <a:p>
            <a:r>
              <a:t>Role A: Client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There are plenty of cleaning companies. Why choose you?</a:t>
            </a:r>
          </a:p>
          <a:p>
            <a:r>
              <a:t>B: We don’t compete on price. We offer eco-friendly cleaning for offices.</a:t>
            </a:r>
          </a:p>
          <a:p>
            <a:r>
              <a:t>A: Is there demand?</a:t>
            </a:r>
          </a:p>
          <a:p>
            <a:r>
              <a:t>B: Yes. Many firms want greener options, and few suppliers offer them.</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Is it more expensive?</a:t>
            </a:r>
          </a:p>
          <a:p>
            <a:r>
              <a:t>B: Slightly, but clients value the benefits and we’ve kept our customers for years.</a:t>
            </a:r>
          </a:p>
          <a:p>
            <a:r>
              <a:t>A: Interesting. Can I see a sample plan?</a:t>
            </a:r>
          </a:p>
          <a:p>
            <a:r>
              <a:t>B: Of course.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explain differentiation.</a:t>
            </a:r>
          </a:p>
          <a:p>
            <a:r>
              <a:t>Your role (A) | Client.</a:t>
            </a:r>
          </a:p>
          <a:p>
            <a:r>
              <a:t>Partner’s role (B) | Supplier. Offering: ______________</a:t>
            </a:r>
          </a:p>
          <a:p>
            <a:r>
              <a:t>Must use (3 or more) | compete on price · value proposition · few suppliers · greener · sample plan</a:t>
            </a:r>
          </a:p>
          <a:p>
            <a:r>
              <a:t>Goal | Explain what makes you different and handle a price question.</a:t>
            </a:r>
          </a:p>
          <a:p>
            <a:r>
              <a:t>My notes | ____________________________________________</a:t>
            </a:r>
          </a:p>
          <a:p>
            <a:r>
              <a:t>Quote evidence.</a:t>
            </a:r>
          </a:p>
          <a:p>
            <a:r>
              <a:t>Compare with a competitor.</a:t>
            </a:r>
          </a:p>
          <a:p>
            <a:r>
              <a:t>Offer a trial.</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your industry a red or blue ocean? | “I’d say it’s… because…”</a:t>
            </a:r>
          </a:p>
          <a:p>
            <a:r>
              <a:t>2. Can a small business find a blue ocean? | “Yes, by…”</a:t>
            </a:r>
          </a:p>
          <a:p>
            <a:r>
              <a:t>3. What are the risks of entering a new market? | “The main risk is…”</a:t>
            </a:r>
          </a:p>
          <a:p>
            <a:r>
              <a:t>4. Is price competition ever a good idea? | “It can be, if…”</a:t>
            </a:r>
          </a:p>
          <a:p>
            <a:r>
              <a:t>5. Which company created a new market? | “One example is…”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small business can find a blue ocean by focusing on a specific group that big companies ignore. For example, a bakery can specialise in allergy-free cakes. The market is small, but the customers are loyal. It’s easier than competing with a big supermarket on price.”</a:t>
            </a:r>
          </a:p>
          <a:p>
            <a:r>
              <a:t>“specialise in” 专攻;“ignore” 忽视。</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strategies 比较策略</a:t>
            </a:r>
          </a:p>
          <a:p>
            <a:r>
              <a:t>Structure | Example</a:t>
            </a:r>
          </a:p>
          <a:p>
            <a:r>
              <a:t>whereas | Red oceans are crowded, whereas blue oceans are open.</a:t>
            </a:r>
          </a:p>
          <a:p>
            <a:r>
              <a:t>in contrast / by contrast | In contrast, blue oceans are less certain.</a:t>
            </a:r>
          </a:p>
          <a:p>
            <a:r>
              <a:t>compared with | Compared with price wars, niches are safer.</a:t>
            </a:r>
          </a:p>
          <a:p>
            <a:r>
              <a:t>the more… the less… | The more crowded the market, the lower the margins.</a:t>
            </a:r>
          </a:p>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strategies 比较策略</a:t>
            </a:r>
          </a:p>
          <a:p>
            <a:r>
              <a:t>Whereas and while start a contrast clause; in contrast and however begin a new sentence.</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compete in price.  →  ✓ We compete on price.  (on price)</a:t>
            </a:r>
          </a:p>
          <a:p>
            <a:r>
              <a:t>✗ The market is very concurrence.  →  ✓ The market is very competitive.  (词汇)</a:t>
            </a:r>
          </a:p>
          <a:p>
            <a:r>
              <a:t>✗ Competitors lower the prices, therefore the profit decreases.  →  ✓ …prices, so profit decreases. / …prices. Therefore, profit decreases.  (标点)</a:t>
            </a:r>
          </a:p>
          <a:p>
            <a:r>
              <a:t>Mistake Watch: Check compete on, differentiate from, an before vowels, therefore punctuation.</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differentiate to others.  →  ✓ We differentiate ourselves from others.  (differentiate from)</a:t>
            </a:r>
          </a:p>
          <a:p>
            <a:r>
              <a:t>✗ We found a untapped market.  →  ✓ We found an untapped market.  (an)</a:t>
            </a:r>
          </a:p>
          <a:p>
            <a:r>
              <a:t>✗ A margin of profit are shrinking.  →  ✓ Profit margins are shrinking.  (搭配)</a:t>
            </a:r>
          </a:p>
          <a:p>
            <a:r>
              <a:t>Mistake Watch: Check compete on, differentiate from, an before vowels, therefore punctuation.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Strategy jargon is common. “Blue ocean”, “moat” and “USP” appear in meetings.</a:t>
            </a:r>
          </a:p>
          <a:p>
            <a:r>
              <a:t>Don’t criticise rivals. Focus on your own strengths.</a:t>
            </a:r>
          </a:p>
          <a:p>
            <a:r>
              <a:t>Use examples. Concrete cases make strategy easier to understand.</a:t>
            </a:r>
          </a:p>
          <a:p>
            <a:r>
              <a:t>Be specific about customers. “Everyone” is not a target market.</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red and blue ocean strategies.</a:t>
            </a:r>
          </a:p>
          <a:p>
            <a:r>
              <a:t>I can compare strategies with whereas / in contrast.</a:t>
            </a:r>
          </a:p>
          <a:p>
            <a:r>
              <a:t>I can explain what makes my business different.</a:t>
            </a:r>
          </a:p>
          <a:p>
            <a:r>
              <a:t>I use compete on and differentiate from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Compare two strategies for your industry in 90 seconds.</a:t>
            </a:r>
          </a:p>
          <a:p>
            <a:r>
              <a:t>8–10 | Listen to your recording. Check: compete on, differentiate from, an, therefore punctuation.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64 · Brand freedom 品牌自由</a:t>
            </a:r>
          </a:p>
          <a:p>
            <a:r>
              <a:t>Goal: talk about the freedom a strong brand gives a company (pricing power, loyalty, creative room) and how brands stay consistent while evolving.</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本课按”品牌自由”理解为:强品牌带来的定价自由、客户忠诚与创意空间。第 3 题 “Can a brand change” 一般现在时。</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a strong brand gives a company more freedom.</a:t>
            </a:r>
          </a:p>
          <a:p>
            <a:r>
              <a:t>Say: what a brand is → the freedoms it brings → how it’s built → the risks.</a:t>
            </a:r>
          </a:p>
          <a:p>
            <a:r>
              <a:t>Useful starters: “A strong brand allows a company to…” / “Customers are willing to…” / “It takes years to…” / “One mistake can…”</a:t>
            </a:r>
          </a:p>
          <a:p>
            <a:r>
              <a:t>“be willing to + 动词原形” 愿意…;“allow sb to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brand is more than a logo. It is the set of ideas and feelings people connect with a company. A strong brand gives its owner several kinds of freedom. First, pricing power: customers are willing to pay more for a name they trust. Second, loyalty: people forgive small mistakes and often return. Third, creative room: a respected brand can launch new products or experiment with new styles because customers give it the benefit of the doubt. However, this freedom has to be earned. It takes years of consistent quality and clear messages, and one careless decision can damage it. The best brands stay true to their core promise while updating their style, tone and products, so they feel both familiar and fresh.</a:t>
            </a:r>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Name two freedoms a strong brand brings.</a:t>
            </a:r>
          </a:p>
          <a:p>
            <a:r>
              <a:t>A: Pricing power, loyalty, creative room.</a:t>
            </a:r>
          </a:p>
          <a:p>
            <a:r>
              <a:t>Q2. Why can a respected brand experiment more?</a:t>
            </a:r>
          </a:p>
          <a:p>
            <a:r>
              <a:t>A: Customers give it the benefit of the doubt.</a:t>
            </a:r>
          </a:p>
          <a:p>
            <a:r>
              <a:t>Q3. How do the best brands stay relevant?</a:t>
            </a:r>
          </a:p>
          <a:p>
            <a:r>
              <a:t>A: They keep their core promise while updating style, tone and products.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Brand basics 品牌基础</a:t>
            </a:r>
          </a:p>
          <a:p>
            <a:r>
              <a:t>领读 → 学员跟读 → 请学员用表达造一个和自己工作相关的句子。</a:t>
            </a:r>
          </a:p>
          <a:p>
            <a:r>
              <a:t>brand identity (noun) 品牌形象 — “Our brand identity is simple.”</a:t>
            </a:r>
          </a:p>
          <a:p>
            <a:r>
              <a:t>brand awareness (noun) 品牌知名度 — “Brand awareness is growing.”</a:t>
            </a:r>
          </a:p>
          <a:p>
            <a:r>
              <a:t>brand loyalty (noun) 品牌忠诚度 — “Brand loyalty keeps customers.”</a:t>
            </a:r>
          </a:p>
          <a:p>
            <a:r>
              <a:t>★ the benefit of the doubt (idiom) 善意推定 — “Customers gave us the benefit of the doubt.”</a:t>
            </a:r>
          </a:p>
          <a:p>
            <a:r>
              <a:t>★ brand equity (noun) 品牌资产 — “Brand equity is hard to build.”</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Freedom and power 自由与实力</a:t>
            </a:r>
          </a:p>
          <a:p>
            <a:r>
              <a:t>领读 → 学员跟读 → 请学员用表达造一个和自己工作相关的句子。</a:t>
            </a:r>
          </a:p>
          <a:p>
            <a:r>
              <a:t>pricing power (noun) 定价权 — “A strong brand has pricing power.”</a:t>
            </a:r>
          </a:p>
          <a:p>
            <a:r>
              <a:t>premium price (noun) 溢价 — “They charge a premium price.”</a:t>
            </a:r>
          </a:p>
          <a:p>
            <a:r>
              <a:t>stand for (phrasal verb) 象征 — “What do you stand for?”</a:t>
            </a:r>
          </a:p>
          <a:p>
            <a:r>
              <a:t>★ command a premium (collocation) 获得溢价 — “The brand commands a premium.”</a:t>
            </a:r>
          </a:p>
          <a:p>
            <a:r>
              <a:t>★ stretch the brand (collocation) 延伸品牌 — “They stretched the brand into new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Evolving 演变</a:t>
            </a:r>
          </a:p>
          <a:p>
            <a:r>
              <a:t>领读 → 学员跟读 → 请学员用表达造一个和自己工作相关的句子。</a:t>
            </a:r>
          </a:p>
          <a:p>
            <a:r>
              <a:t>rebrand (verb) 品牌重塑 — “We rebranded last year.”</a:t>
            </a:r>
          </a:p>
          <a:p>
            <a:r>
              <a:t>stay consistent (collocation) 保持一致 — “Stay consistent in messaging.”</a:t>
            </a:r>
          </a:p>
          <a:p>
            <a:r>
              <a:t>refresh (verb) 更新 — “They refreshed the logo.”</a:t>
            </a:r>
          </a:p>
          <a:p>
            <a:r>
              <a:t>★ dilute the brand (collocation) 稀释品牌 — “Too many products dilute the brand.”</a:t>
            </a:r>
          </a:p>
          <a:p>
            <a:r>
              <a:t>★ backfire (verb) 适得其反 — “The campaign backfired.”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identity / awareness / loyalty / premium / rebranded / consistent</a:t>
            </a:r>
          </a:p>
          <a:p>
            <a:r>
              <a:t>1. Our brand _______ is simple and clear. → identity</a:t>
            </a:r>
          </a:p>
          <a:p>
            <a:r>
              <a:t>2. Brand _______ is growing in new markets. → awareness</a:t>
            </a:r>
          </a:p>
          <a:p>
            <a:r>
              <a:t>3. Brand _______ keeps customers coming back. → loyalty</a:t>
            </a:r>
          </a:p>
          <a:p>
            <a:r>
              <a:t>4. They charge a _______ price. → premium</a:t>
            </a:r>
          </a:p>
          <a:p>
            <a:r>
              <a:t>5. The company _______ last year. → rebranded</a:t>
            </a:r>
          </a:p>
          <a:p>
            <a:r>
              <a:t>6. Stay _______ in your messaging. → consistent</a:t>
            </a:r>
          </a:p>
          <a:p>
            <a:r>
              <a:t>Mistake Watch: (搭配) build / strengthen a brand, brand name, brand image; loyal TO a brand。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brand value 解释品牌价值</a:t>
            </a:r>
          </a:p>
          <a:p>
            <a:r>
              <a:t>情景：You advise a small company.</a:t>
            </a:r>
          </a:p>
          <a:p>
            <a:r>
              <a:t>Role A: Owner Role B: Brand consultant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Why can big brands charge more for similar products?</a:t>
            </a:r>
          </a:p>
          <a:p>
            <a:r>
              <a:t>B: Customers trust them, so the brand has pricing power.</a:t>
            </a:r>
          </a:p>
          <a:p>
            <a:r>
              <a:t>A: How do they build that trust?</a:t>
            </a:r>
          </a:p>
          <a:p>
            <a:r>
              <a:t>B: By staying consistent for years. The quality and message don’t change.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we do the same?</a:t>
            </a:r>
          </a:p>
          <a:p>
            <a:r>
              <a:t>B: Yes, start with a clear promise. What do you stand for?</a:t>
            </a:r>
          </a:p>
          <a:p>
            <a:r>
              <a:t>A: Fair prices and eco-friendly packaging.</a:t>
            </a:r>
          </a:p>
          <a:p>
            <a:r>
              <a:t>B: Good. Keep repeating it, in every product and every post.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explain brand value.</a:t>
            </a:r>
          </a:p>
          <a:p>
            <a:r>
              <a:t>Your role (A) | Owner.</a:t>
            </a:r>
          </a:p>
          <a:p>
            <a:r>
              <a:t>Partner’s role (B) | Consultant. Brand: ______________</a:t>
            </a:r>
          </a:p>
          <a:p>
            <a:r>
              <a:t>Must use (3 or more) | pricing power · stay consistent · what you stand for · clear promise · loyalty</a:t>
            </a:r>
          </a:p>
          <a:p>
            <a:r>
              <a:t>Goal | Explain why brands matter and give a practical first step.</a:t>
            </a:r>
          </a:p>
          <a:p>
            <a:r>
              <a:t>My notes | ____________________________________________</a:t>
            </a:r>
          </a:p>
          <a:p>
            <a:r>
              <a:t>Add a customer example.</a:t>
            </a:r>
          </a:p>
          <a:p>
            <a:r>
              <a:t>Warn about a risk.</a:t>
            </a:r>
          </a:p>
          <a:p>
            <a:r>
              <a:t>Plan a six-month action.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a brand mistake 处理品牌失误</a:t>
            </a:r>
          </a:p>
          <a:p>
            <a:r>
              <a:t>情景：A campaign received criticism.</a:t>
            </a:r>
          </a:p>
          <a:p>
            <a:r>
              <a:t>Role A: Marketing director Role B: CEO</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Our latest campaign has backfired. Customers say it’s insensitive.</a:t>
            </a:r>
          </a:p>
          <a:p>
            <a:r>
              <a:t>B: How serious is it?</a:t>
            </a:r>
          </a:p>
          <a:p>
            <a:r>
              <a:t>A: Social media is full of complaints. Our reputation could suffer.</a:t>
            </a:r>
          </a:p>
          <a:p>
            <a:r>
              <a:t>B: What do you recommend?</a:t>
            </a:r>
          </a:p>
          <a:p>
            <a:r>
              <a:t>A: A prompt, sincere apology, and withdraw the campaign.</a:t>
            </a:r>
          </a:p>
          <a:p>
            <a:r>
              <a:t>B: Will customers give us the benefit of the doubt?</a:t>
            </a:r>
          </a:p>
          <a:p>
            <a:r>
              <a:t>A: If we respond quickly and fix the problem, I think so.</a:t>
            </a:r>
          </a:p>
          <a:p>
            <a:r>
              <a:t>B: Do it today.</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manage a brand crisis.</a:t>
            </a:r>
          </a:p>
          <a:p>
            <a:r>
              <a:t>Your role (A) | Marketing director. Crisis: ______________</a:t>
            </a:r>
          </a:p>
          <a:p>
            <a:r>
              <a:t>Partner’s role (B) | CEO.</a:t>
            </a:r>
          </a:p>
          <a:p>
            <a:r>
              <a:t>Must use (3 or more) | backfired · reputation · prompt apology · withdraw · benefit of the doubt</a:t>
            </a:r>
          </a:p>
          <a:p>
            <a:r>
              <a:t>Goal | Assess the damage, recommend action and agree next steps.</a:t>
            </a:r>
          </a:p>
          <a:p>
            <a:r>
              <a:t>My notes | ____________________________________________</a:t>
            </a:r>
          </a:p>
          <a:p>
            <a:r>
              <a:t>Draft the first line of the apology.</a:t>
            </a:r>
          </a:p>
          <a:p>
            <a:r>
              <a:t>Predict the result.</a:t>
            </a:r>
          </a:p>
          <a:p>
            <a:r>
              <a:t>Plan how to rebuild trust.</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people pay more for certain brands? | “Because they feel…”</a:t>
            </a:r>
          </a:p>
          <a:p>
            <a:r>
              <a:t>2. Can a brand recover from a big mistake? | “Yes, if…”</a:t>
            </a:r>
          </a:p>
          <a:p>
            <a:r>
              <a:t>3. How much should a brand change over time? | “It should evolve but keep…”</a:t>
            </a:r>
          </a:p>
          <a:p>
            <a:r>
              <a:t>4. Is brand loyalty weaker than before? | “I think so, since…”</a:t>
            </a:r>
          </a:p>
          <a:p>
            <a:r>
              <a:t>5. Which brand has the strongest identity? | “I’d say… because…”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brand can recover if it acts quickly and honestly. The worst response is to deny or hide the problem. A sincere apology, a clear explanation and visible changes can rebuild trust. But it takes time, and customers will watch to see whether the company really changes.”</a:t>
            </a:r>
          </a:p>
          <a:p>
            <a:r>
              <a:t>“visible changes” 看得见的改变;“watch to see whether” 观察是否…。</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and willingness 愿意与因果</a:t>
            </a:r>
          </a:p>
          <a:p>
            <a:r>
              <a:t>Structure | Example</a:t>
            </a:r>
          </a:p>
          <a:p>
            <a:r>
              <a:t>be willing to + base | Customers are willing to pay more.</a:t>
            </a:r>
          </a:p>
          <a:p>
            <a:r>
              <a:t>allow sb to + base | A strong brand allows us to charge more.</a:t>
            </a:r>
          </a:p>
          <a:p>
            <a:r>
              <a:t>give sb the benefit of the doubt | Customers gave us the benefit of the doubt.</a:t>
            </a:r>
          </a:p>
          <a:p>
            <a:r>
              <a:t>If we respond quickly, … | If we respond quickly, we will recover.</a:t>
            </a:r>
          </a:p>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and willingness 愿意与因果</a:t>
            </a:r>
          </a:p>
          <a:p>
            <a:r>
              <a:t>Allow someone to do, enable someone to do, let someone do (no to).</a:t>
            </a:r>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allows us charge more.  →  ✓ It allows us to charge more.  (allow sb to)</a:t>
            </a:r>
          </a:p>
          <a:p>
            <a:r>
              <a:t>✗ Customers are willing pay more.  →  ✓ Customers are willing to pay more.  (willing to)</a:t>
            </a:r>
          </a:p>
          <a:p>
            <a:r>
              <a:t>✗ The brand has a strong image in our mind.  →  ✓ …in people’s minds.  (复数)</a:t>
            </a:r>
          </a:p>
          <a:p>
            <a:r>
              <a:t>Mistake Watch: Check allow sb to, willing to, believe in, noun modifiers.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want to make an apology.  →  ✓ They want to apologise. / make an apology  (apologise)</a:t>
            </a:r>
          </a:p>
          <a:p>
            <a:r>
              <a:t>✗ Brand’s loyalty is important.  →  ✓ Brand loyalty is important.  (名词修饰)</a:t>
            </a:r>
          </a:p>
          <a:p>
            <a:r>
              <a:t>✗ Customers believe to the brand.  →  ✓ Customers believe in the brand. / trust the brand.  (believe in)</a:t>
            </a:r>
          </a:p>
          <a:p>
            <a:r>
              <a:t>Mistake Watch: Check allow sb to, willing to, believe in, noun modifiers.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Apologise quickly and sincerely. “We’re sorry” before explanations.</a:t>
            </a:r>
          </a:p>
          <a:p>
            <a:r>
              <a:t>Social media moves fast. Respond within hours.</a:t>
            </a:r>
          </a:p>
          <a:p>
            <a:r>
              <a:t>Brands take stands. Some Western brands take public positions on social issues, which can divide opinion.</a:t>
            </a:r>
          </a:p>
          <a:p>
            <a:r>
              <a:t>Consistency is key. Same tone across channels.</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brand identity, loyalty and pricing power.</a:t>
            </a:r>
          </a:p>
          <a:p>
            <a:r>
              <a:t>I can explain how brands evolve.</a:t>
            </a:r>
          </a:p>
          <a:p>
            <a:r>
              <a:t>I can handle a brand mistake professionally.</a:t>
            </a:r>
          </a:p>
          <a:p>
            <a:r>
              <a:t>I use allow sb to, willing to and believe in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why one brand you admire has a strong identity.</a:t>
            </a:r>
          </a:p>
          <a:p>
            <a:r>
              <a:t>8–10 | Listen to your recording. Check: allow sb to, willing to, believe in.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65 · Elegance versus bling 优雅与华丽的对比</a:t>
            </a:r>
          </a:p>
          <a:p>
            <a:r>
              <a:t>Goal: compare understated and flashy styles in luxury brands, design and personal presentation, and give a reasoned preference.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“elegance” 优雅;“bling” 俗称 “闪亮夺目的炫耀性装饰”。“less is more” = 少即是多。</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Compare an elegant brand with a flashy one.</a:t>
            </a:r>
          </a:p>
          <a:p>
            <a:r>
              <a:t>Say: style 1 → style 2 → who likes each → your preference.</a:t>
            </a:r>
          </a:p>
          <a:p>
            <a:r>
              <a:t>Useful starters: “On the one hand, … / On the other hand, …” / “Some customers prefer… whereas others…” / “Personally, I lean towards…”</a:t>
            </a:r>
          </a:p>
          <a:p>
            <a:r>
              <a:t>“lean towards” = 倾向于。</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Luxury brands choose between two broad styles. Some use large logos, bright colours and obvious decoration to show that the owner can afford them. This is sometimes called “bling”. Others prefer understated elegance: quality materials, simple lines and very small logos. Their customers want to be recognised only by people who know the brand. Both styles can be successful, and the choice often depends on culture and age. Younger buyers or new markets may enjoy visible symbols of success, while established wealthy customers often prefer quiet signals. For companies, the decision affects design, advertising and even pricing. A brand that tries to appeal to everyone risks losing its identity. The most important thing is to be consistent with the promise it makes to customers.</a:t>
            </a:r>
          </a:p>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“bling”?</a:t>
            </a:r>
          </a:p>
          <a:p>
            <a:r>
              <a:t>A: Large logos, bright colours and obvious decoration to show wealth.</a:t>
            </a:r>
          </a:p>
          <a:p>
            <a:r>
              <a:t>Q2. Who often prefers quiet luxury?</a:t>
            </a:r>
          </a:p>
          <a:p>
            <a:r>
              <a:t>A: Established wealthy customers.</a:t>
            </a:r>
          </a:p>
          <a:p>
            <a:r>
              <a:t>Q3. What risk does a brand face if it tries to please everyone?</a:t>
            </a:r>
          </a:p>
          <a:p>
            <a:r>
              <a:t>A: Losing its identity.</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Style 风格</a:t>
            </a:r>
          </a:p>
          <a:p>
            <a:r>
              <a:t>领读 → 学员跟读 → 请学员用表达造一个和自己工作相关的句子。</a:t>
            </a:r>
          </a:p>
          <a:p>
            <a:r>
              <a:t>understated (adjective) 低调的 — “She wore an understated outfit.”</a:t>
            </a:r>
          </a:p>
          <a:p>
            <a:r>
              <a:t>elegant / sophisticated (adjective) 优雅的 — “The design is elegant.”</a:t>
            </a:r>
          </a:p>
          <a:p>
            <a:r>
              <a:t>flashy / showy (adjective) 浮夸的 — “A flashy watch.”</a:t>
            </a:r>
          </a:p>
          <a:p>
            <a:r>
              <a:t>★ bling (noun) 炫耀性珠宝/装饰 — “Too much bling.”</a:t>
            </a:r>
          </a:p>
          <a:p>
            <a:r>
              <a:t>★ ostentatious (adjective) 招摇的 — “An ostentatious logo.”</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Luxury 奢侈品</a:t>
            </a:r>
          </a:p>
          <a:p>
            <a:r>
              <a:t>领读 → 学员跟读 → 请学员用表达造一个和自己工作相关的句子。</a:t>
            </a:r>
          </a:p>
          <a:p>
            <a:r>
              <a:t>luxury brand (noun) 奢侈品牌 — “He works for a luxury brand.”</a:t>
            </a:r>
          </a:p>
          <a:p>
            <a:r>
              <a:t>status symbol (noun) 地位象征 — “A car can be a status symbol.”</a:t>
            </a:r>
          </a:p>
          <a:p>
            <a:r>
              <a:t>craftsmanship (noun) 工艺 — “The craftsmanship is excellent.”</a:t>
            </a:r>
          </a:p>
          <a:p>
            <a:r>
              <a:t>★ quiet luxury (noun) 低调奢华 — “Quiet luxury is popular.”</a:t>
            </a:r>
          </a:p>
          <a:p>
            <a:r>
              <a:t>★ conspicuous consumption (noun) 炫耀性消费 — “It’s conspicuous consumption.”</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Preference 偏好</a:t>
            </a:r>
          </a:p>
          <a:p>
            <a:r>
              <a:t>领读 → 学员跟读 → 请学员用表达造一个和自己工作相关的句子。</a:t>
            </a:r>
          </a:p>
          <a:p>
            <a:r>
              <a:t>appeal to (verb) 吸引 — “It appeals to younger buyers.”</a:t>
            </a:r>
          </a:p>
          <a:p>
            <a:r>
              <a:t>tastes (noun) 品味 — “Tastes differ.”</a:t>
            </a:r>
          </a:p>
          <a:p>
            <a:r>
              <a:t>less is more (idiom) 少即是多 — “I believe less is more.”</a:t>
            </a:r>
          </a:p>
          <a:p>
            <a:r>
              <a:t>★ a matter of taste (idiom) 品味问题 — “It’s a matter of taste.”</a:t>
            </a:r>
          </a:p>
          <a:p>
            <a:r>
              <a:t>★ to each their own (idiom) 各有所好 — “To each their own.”</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understated / flashy / symbol / craftsmanship / appeals / taste</a:t>
            </a:r>
          </a:p>
          <a:p>
            <a:r>
              <a:t>1. She wore an _______ outfit to the interview. → understated</a:t>
            </a:r>
          </a:p>
          <a:p>
            <a:r>
              <a:t>2. The watch looks too _______ for me. → flashy</a:t>
            </a:r>
          </a:p>
          <a:p>
            <a:r>
              <a:t>3. A big car can be a status _______. → symbol</a:t>
            </a:r>
          </a:p>
          <a:p>
            <a:r>
              <a:t>4. The _______ of the bag is excellent. → craftsmanship</a:t>
            </a:r>
          </a:p>
          <a:p>
            <a:r>
              <a:t>5. The brand _______ to younger buyers. → appeals</a:t>
            </a:r>
          </a:p>
          <a:p>
            <a:r>
              <a:t>6. It’s a matter of _______. → taste</a:t>
            </a:r>
          </a:p>
          <a:p>
            <a:r>
              <a:t>Mistake Watch: (搭配) appeal TO someone,a matter OF taste,status symbol;“bling” 口语,不宜用于正式场合。</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design choice 讨论设计选择</a:t>
            </a:r>
          </a:p>
          <a:p>
            <a:r>
              <a:t>情景：A design meeting.</a:t>
            </a:r>
          </a:p>
          <a:p>
            <a:r>
              <a:t>Role A: Designer Role B: Marketing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On the one hand, a large logo makes the product visible. On the other hand, it can look flashy.</a:t>
            </a:r>
          </a:p>
          <a:p>
            <a:r>
              <a:t>B: Who is our customer?</a:t>
            </a:r>
          </a:p>
          <a:p>
            <a:r>
              <a:t>A: Professionals aged thirty to fifty. I think they prefer understated design.</a:t>
            </a:r>
          </a:p>
          <a:p>
            <a:r>
              <a:t>B: I agree. Less is more.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But younger buyers like bolder styles.</a:t>
            </a:r>
          </a:p>
          <a:p>
            <a:r>
              <a:t>B: We can’t please everyone.</a:t>
            </a:r>
          </a:p>
          <a:p>
            <a:r>
              <a:t>A: Right. Let’s focus on quality and keep the logo small.</a:t>
            </a:r>
          </a:p>
          <a:p>
            <a:r>
              <a:t>B: Good. It fits our brand identity.</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11 | </a:t>
            </a:r>
          </a:p>
          <a:p>
            <a:r>
              <a:t>Situation | You discuss a design choice.</a:t>
            </a:r>
          </a:p>
          <a:p>
            <a:r>
              <a:t>Your role (A) | Designer. Product: ______________</a:t>
            </a:r>
          </a:p>
          <a:p>
            <a:r>
              <a:t>Partner’s role (B) | Marketing manager.</a:t>
            </a:r>
          </a:p>
          <a:p>
            <a:r>
              <a:t>Must use (3 or more) | On the one hand… · understated · flashy · less is more · fits our brand</a:t>
            </a:r>
          </a:p>
          <a:p>
            <a:r>
              <a:t>Goal | Compare two styles and decide for a target audience.</a:t>
            </a:r>
          </a:p>
          <a:p>
            <a:r>
              <a:t>My notes | ____________________________________________</a:t>
            </a:r>
          </a:p>
          <a:p>
            <a:r>
              <a:t>Mention cost.</a:t>
            </a:r>
          </a:p>
          <a:p>
            <a:r>
              <a:t>Reference another brand.</a:t>
            </a:r>
          </a:p>
          <a:p>
            <a:r>
              <a:t>Test with customer feedback.</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Sharing tastes 分享品味</a:t>
            </a:r>
          </a:p>
          <a:p>
            <a:r>
              <a:t>情景：Colleagues chat about fashion.</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like your watch. It’s very understated.</a:t>
            </a:r>
          </a:p>
          <a:p>
            <a:r>
              <a:t>B: Thanks. I prefer simple styles.</a:t>
            </a:r>
          </a:p>
          <a:p>
            <a:r>
              <a:t>A: I used to like bigger logos, but now I lean towards quiet luxury.</a:t>
            </a:r>
          </a:p>
          <a:p>
            <a:r>
              <a:t>B: Tastes change as we get older.</a:t>
            </a:r>
          </a:p>
          <a:p>
            <a:r>
              <a:t>A: True. Some people like flashy things, and that’s fine.</a:t>
            </a:r>
          </a:p>
          <a:p>
            <a:r>
              <a:t>B: To each their own.</a:t>
            </a:r>
          </a:p>
          <a:p>
            <a:r>
              <a:t>A: Do you dress differently for work?</a:t>
            </a:r>
          </a:p>
          <a:p>
            <a:r>
              <a:t>B: Yes. Smart but simple, with good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12 | </a:t>
            </a:r>
          </a:p>
          <a:p>
            <a:r>
              <a:t>Situation | You chat about style.</a:t>
            </a:r>
          </a:p>
          <a:p>
            <a:r>
              <a:t>Your role (A) | Colleague.</a:t>
            </a:r>
          </a:p>
          <a:p>
            <a:r>
              <a:t>Partner’s role (B) | Colleague. Topic: ______________</a:t>
            </a:r>
          </a:p>
          <a:p>
            <a:r>
              <a:t>Must use (3 or more) | understated · lean towards · tastes change · to each their own · smart but simple</a:t>
            </a:r>
          </a:p>
          <a:p>
            <a:r>
              <a:t>Goal | Share preferences politely without judging.</a:t>
            </a:r>
          </a:p>
          <a:p>
            <a:r>
              <a:t>My notes | ____________________________________________</a:t>
            </a:r>
          </a:p>
          <a:p>
            <a:r>
              <a:t>Disagree kindly.</a:t>
            </a:r>
          </a:p>
          <a:p>
            <a:r>
              <a:t>Use a compliment.</a:t>
            </a:r>
          </a:p>
          <a:p>
            <a:r>
              <a:t>Connect to workplace dress code.</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elegance or bling? | “I tend to prefer… because…”</a:t>
            </a:r>
          </a:p>
          <a:p>
            <a:r>
              <a:t>2. Why do people buy luxury goods? | “To show… / Because…”</a:t>
            </a:r>
          </a:p>
          <a:p>
            <a:r>
              <a:t>3. Is luxury becoming quieter? | “It seems so, since…”</a:t>
            </a:r>
          </a:p>
          <a:p>
            <a:r>
              <a:t>4. How does culture affect taste? | “In some cultures… whereas…”</a:t>
            </a:r>
          </a:p>
          <a:p>
            <a:r>
              <a:t>5. Should companies design for everyone? | “No, because…”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 is, at least among some customers. After years of loud logos, many people now prefer subtle quality, because they feel it shows confidence. However, young buyers on social media still enjoy visible symbols. So I think both styles will continue, depending on the audience.”</a:t>
            </a:r>
          </a:p>
          <a:p>
            <a:r>
              <a:t>“at least among some customers” 至少在一部分客户中;“depending on” 取决于。</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Expressing preference and contrast 偏好与对比</a:t>
            </a:r>
          </a:p>
          <a:p>
            <a:r>
              <a:t>Structure | Example</a:t>
            </a:r>
          </a:p>
          <a:p>
            <a:r>
              <a:t>I prefer A to B | I prefer elegance to bling.</a:t>
            </a:r>
          </a:p>
          <a:p>
            <a:r>
              <a:t>I’d rather + base | I’d rather wear something simple.</a:t>
            </a:r>
          </a:p>
          <a:p>
            <a:r>
              <a:t>whereas / while | Some like bold designs, whereas others like simple ones.</a:t>
            </a:r>
          </a:p>
          <a:p>
            <a:r>
              <a:t>I lean towards… | I lean towards understated style.</a:t>
            </a:r>
          </a:p>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Expressing preference and contrast 偏好与对比</a:t>
            </a:r>
          </a:p>
          <a:p>
            <a:r>
              <a:t>Prefer A to B; would rather do A than do B; don’t mix them.</a:t>
            </a:r>
          </a:p>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prefer elegant than flashy.  →  ✓ I prefer elegance to flashiness. / I prefer elegant to flashy.  (prefer… to)</a:t>
            </a:r>
          </a:p>
          <a:p>
            <a:r>
              <a:t>✗ I like more the simple design.  →  ✓ I prefer the simple design.  (副词位置)</a:t>
            </a:r>
          </a:p>
          <a:p>
            <a:r>
              <a:t>✗ This brand is more luxury.  →  ✓ This brand is more luxurious.  (形容词)</a:t>
            </a:r>
          </a:p>
          <a:p>
            <a:r>
              <a:t>Mistake Watch: Check prefer… to, adjectives never take -s, luxurious (adj.), agree.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interesting in luxury brands.  →  ✓ I’m interested in luxury brands.  (-ed 形容人的感受)</a:t>
            </a:r>
          </a:p>
          <a:p>
            <a:r>
              <a:t>✗ They wear very expensives clothes.  →  ✓ They wear very expensive clothes.  (形容词无复数)</a:t>
            </a:r>
          </a:p>
          <a:p>
            <a:r>
              <a:t>✗ I’m agree that less is more.  →  ✓ I agree that less is more.  (agree 动词)</a:t>
            </a:r>
          </a:p>
          <a:p>
            <a:r>
              <a:t>Mistake Watch: Check prefer… to, adjectives never take -s, luxurious (adj.), agree.</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Dress codes. Business casual and smart casual vary by company.</a:t>
            </a:r>
          </a:p>
          <a:p>
            <a:r>
              <a:t>Avoid judging taste. Say “I prefer…” rather than “that’s tacky”.</a:t>
            </a:r>
          </a:p>
          <a:p>
            <a:r>
              <a:t>Gifts and status. In some markets, visible brands matter; in others, subtlety does.</a:t>
            </a:r>
          </a:p>
          <a:p>
            <a:r>
              <a:t>Compliment politely. “That’s a lovely watch” is a safe opening.</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compare elegant and flashy styles.</a:t>
            </a:r>
          </a:p>
          <a:p>
            <a:r>
              <a:t>I can express my taste politely.</a:t>
            </a:r>
          </a:p>
          <a:p>
            <a:r>
              <a:t>I can discuss luxury brand strategies.</a:t>
            </a:r>
          </a:p>
          <a:p>
            <a:r>
              <a:t>I use prefer… to and adjectives (without -s)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your style and a brand you admire.</a:t>
            </a:r>
          </a:p>
          <a:p>
            <a:r>
              <a:t>8–10 | Listen to your recording. Check: prefer to, adjectives no plural, luxurious.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66 · Agile Scrum 敏捷开发与Scrum</a:t>
            </a:r>
          </a:p>
          <a:p>
            <a:r>
              <a:t>Goal: explain Agile and Scrum basics (sprints, roles, ceremonies) and take part in a stand-up or sprint review.</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“Agile” 敏捷;“Scrum” 一种敏捷框架;“sprint” 冲刺周期;“stand-up” 站会。</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Scrum works to a new colleague.</a:t>
            </a:r>
          </a:p>
          <a:p>
            <a:r>
              <a:t>Say: the roles → the sprint → the meetings → the benefits.</a:t>
            </a:r>
          </a:p>
          <a:p>
            <a:r>
              <a:t>Useful starters: “In Scrum, work is organised into…” / “Every day we have…” / “At the end of a sprint, we…” / “The main benefit is…”</a:t>
            </a:r>
          </a:p>
          <a:p>
            <a:r>
              <a:t>“be organised into” 被划分为;“at the end of” 在…结束时。</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Agile is a way of managing projects through short cycles and frequent feedback instead of one long plan. Scrum is a popular framework within it. A Scrum team has three main roles: the product owner, who decides what is most valuable; the Scrum master, who helps the team follow the process; and the developers, who build the product. Work is divided into sprints of one to four weeks. At the start, the team chooses items from a priority list called the backlog. Each day there is a short stand-up meeting where everyone says what they did, what they will do and what is blocking them. At the end, the team shows the finished work in a sprint review and discusses improvements in a retrospective. The main benefit is flexibility: priorities can change without wasting months of effort.</a:t>
            </a:r>
          </a:p>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Who decides what is most valuable?</a:t>
            </a:r>
          </a:p>
          <a:p>
            <a:r>
              <a:t>A: The product owner.</a:t>
            </a:r>
          </a:p>
          <a:p>
            <a:r>
              <a:t>Q2. What is said in a daily stand-up?</a:t>
            </a:r>
          </a:p>
          <a:p>
            <a:r>
              <a:t>A: What you did, what you will do and what is blocking you.</a:t>
            </a:r>
          </a:p>
          <a:p>
            <a:r>
              <a:t>Q3. What is a retrospective for?</a:t>
            </a:r>
          </a:p>
          <a:p>
            <a:r>
              <a:t>A: To discuss improvements at the end of the sprint.</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Roles 角色</a:t>
            </a:r>
          </a:p>
          <a:p>
            <a:r>
              <a:t>领读 → 学员跟读 → 请学员用表达造一个和自己工作相关的句子。</a:t>
            </a:r>
          </a:p>
          <a:p>
            <a:r>
              <a:t>product owner (noun) 产品负责人 — “The product owner sets priorities.”</a:t>
            </a:r>
          </a:p>
          <a:p>
            <a:r>
              <a:t>Scrum master (noun) Scrum 教练 — “The Scrum master removes blockers.”</a:t>
            </a:r>
          </a:p>
          <a:p>
            <a:r>
              <a:t>stakeholder (noun) 利益相关方 — “Stakeholders attend the review.”</a:t>
            </a:r>
          </a:p>
          <a:p>
            <a:r>
              <a:t>★ cross-functional team (noun) 跨职能团队 — “We have a cross-functional team.”</a:t>
            </a:r>
          </a:p>
          <a:p>
            <a:r>
              <a:t>★ self-organising (adjective) 自组织的 — “The team is self-organising.”</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Process 流程</a:t>
            </a:r>
          </a:p>
          <a:p>
            <a:r>
              <a:t>领读 → 学员跟读 → 请学员用表达造一个和自己工作相关的句子。</a:t>
            </a:r>
          </a:p>
          <a:p>
            <a:r>
              <a:t>sprint (noun) 冲刺迭代 — “Our sprint lasts two weeks.”</a:t>
            </a:r>
          </a:p>
          <a:p>
            <a:r>
              <a:t>backlog (noun) 待办事项列表 — “Add it to the backlog.”</a:t>
            </a:r>
          </a:p>
          <a:p>
            <a:r>
              <a:t>stand-up (noun) 站会 — “The stand-up takes fifteen minutes.”</a:t>
            </a:r>
          </a:p>
          <a:p>
            <a:r>
              <a:t>★ user story (noun) 用户故事 — “Write a user story.”</a:t>
            </a:r>
          </a:p>
          <a:p>
            <a:r>
              <a:t>★ velocity (noun) 团队速度 — “Our velocity is stable.”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Improving 改进</a:t>
            </a:r>
          </a:p>
          <a:p>
            <a:r>
              <a:t>领读 → 学员跟读 → 请学员用表达造一个和自己工作相关的句子。</a:t>
            </a:r>
          </a:p>
          <a:p>
            <a:r>
              <a:t>sprint review / demo (noun) 迭代评审 — “We showed a demo.”</a:t>
            </a:r>
          </a:p>
          <a:p>
            <a:r>
              <a:t>retrospective (noun) 复盘会议 — “We held a retrospective.”</a:t>
            </a:r>
          </a:p>
          <a:p>
            <a:r>
              <a:t>blocker (noun) 阻碍 — “Is anything blocking you?”</a:t>
            </a:r>
          </a:p>
          <a:p>
            <a:r>
              <a:t>★ iterate (verb) 迭代 — “We iterate quickly.”</a:t>
            </a:r>
          </a:p>
          <a:p>
            <a:r>
              <a:t>★ scope creep (noun) 范围蔓延 — “Scope creep delayed us.”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owner / sprint / backlog / stand-up / blocker / retrospective</a:t>
            </a:r>
          </a:p>
          <a:p>
            <a:r>
              <a:t>1. The product _______ sets priorities. → owner</a:t>
            </a:r>
          </a:p>
          <a:p>
            <a:r>
              <a:t>2. Our _______ lasts two weeks. → sprint</a:t>
            </a:r>
          </a:p>
          <a:p>
            <a:r>
              <a:t>3. Add that request to the _______. → backlog</a:t>
            </a:r>
          </a:p>
          <a:p>
            <a:r>
              <a:t>4. The daily _______ takes fifteen minutes. → stand-up</a:t>
            </a:r>
          </a:p>
          <a:p>
            <a:r>
              <a:t>5. Is there any _______ I can help with? → blocker</a:t>
            </a:r>
          </a:p>
          <a:p>
            <a:r>
              <a:t>6. We discuss improvements in the _______. → retrospective</a:t>
            </a:r>
          </a:p>
          <a:p>
            <a:r>
              <a:t>Mistake Watch: (拼写) stand-up(名词)vs stand up(动词);backlog 一个词;Scrum 首字母大写。</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stand-up 每日站会</a:t>
            </a:r>
          </a:p>
          <a:p>
            <a:r>
              <a:t>情景：A short team meeting.</a:t>
            </a:r>
          </a:p>
          <a:p>
            <a:r>
              <a:t>Role A: Scrum master Role B: Developer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Good morning. Quick round: what did you do yesterday?</a:t>
            </a:r>
          </a:p>
          <a:p>
            <a:r>
              <a:t>B: I finished the login page and started testing.</a:t>
            </a:r>
          </a:p>
          <a:p>
            <a:r>
              <a:t>A: What’s the plan for today?</a:t>
            </a:r>
          </a:p>
          <a:p>
            <a:r>
              <a:t>B: I’ll fix the bugs from testing and start the payment screen.</a:t>
            </a:r>
          </a:p>
          <a:p>
            <a:r>
              <a:t>A: Anything blocking you?</a:t>
            </a:r>
          </a:p>
          <a:p>
            <a:r>
              <a:t>B: I need a decision from the product owner about payment options.</a:t>
            </a:r>
          </a:p>
          <a:p>
            <a:r>
              <a:t>A: I’ll raise it right after this meeting.</a:t>
            </a:r>
          </a:p>
          <a:p>
            <a:r>
              <a:t>B: Thanks. That would help.</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13 | </a:t>
            </a:r>
          </a:p>
          <a:p>
            <a:r>
              <a:t>Situation | You run a stand-up.</a:t>
            </a:r>
          </a:p>
          <a:p>
            <a:r>
              <a:t>Your role (A) | Scrum master.</a:t>
            </a:r>
          </a:p>
          <a:p>
            <a:r>
              <a:t>Partner’s role (B) | Team member. Task: ______________</a:t>
            </a:r>
          </a:p>
          <a:p>
            <a:r>
              <a:t>Must use (3 or more) | yesterday · today · blocking you · I’ll raise it · quick round</a:t>
            </a:r>
          </a:p>
          <a:p>
            <a:r>
              <a:t>Goal | Give the three standard updates in under a minute.</a:t>
            </a:r>
          </a:p>
          <a:p>
            <a:r>
              <a:t>My notes | ____________________________________________</a:t>
            </a:r>
          </a:p>
          <a:p>
            <a:r>
              <a:t>Handle a long-winded update.</a:t>
            </a:r>
          </a:p>
          <a:p>
            <a:r>
              <a:t>Report a risk.</a:t>
            </a:r>
          </a:p>
          <a:p>
            <a:r>
              <a:t>Offer to help another member.</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Sprint review and retrospective 迭代评审与复盘</a:t>
            </a:r>
          </a:p>
          <a:p>
            <a:r>
              <a:t>情景：The team looks back.</a:t>
            </a:r>
          </a:p>
          <a:p>
            <a:r>
              <a:t>Role A: Product owner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Thanks for the demo. The new feature works well.</a:t>
            </a:r>
          </a:p>
          <a:p>
            <a:r>
              <a:t>B: We hit a problem with testing, so we ran out of time for one item.</a:t>
            </a:r>
          </a:p>
          <a:p>
            <a:r>
              <a:t>A: We can move it to the backlog for the next sprint.</a:t>
            </a:r>
          </a:p>
          <a:p>
            <a:r>
              <a:t>B: In the retrospective, I’d suggest starting testing earlier.</a:t>
            </a:r>
          </a:p>
          <a:p>
            <a:r>
              <a:t>A: Good idea. What else went well?</a:t>
            </a:r>
          </a:p>
          <a:p>
            <a:r>
              <a:t>B: Communication improved, and we helped each other with blockers.</a:t>
            </a:r>
          </a:p>
          <a:p>
            <a:r>
              <a:t>A: Great. Let’s keep that.</a:t>
            </a:r>
          </a:p>
          <a:p>
            <a:r>
              <a:t>B: And let’s reduce scope creep by agreeing the plan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14 | </a:t>
            </a:r>
          </a:p>
          <a:p>
            <a:r>
              <a:t>Situation | You review a sprint.</a:t>
            </a:r>
          </a:p>
          <a:p>
            <a:r>
              <a:t>Your role (A) | Product owner.</a:t>
            </a:r>
          </a:p>
          <a:p>
            <a:r>
              <a:t>Partner’s role (B) | Team member. Sprint: ______________</a:t>
            </a:r>
          </a:p>
          <a:p>
            <a:r>
              <a:t>Must use (3 or more) | demo · ran out of time · move it to the backlog · retrospective · scope creep</a:t>
            </a:r>
          </a:p>
          <a:p>
            <a:r>
              <a:t>Goal | Discuss what went well, what didn’t and one change.</a:t>
            </a:r>
          </a:p>
          <a:p>
            <a:r>
              <a:t>My notes | ____________________________________________</a:t>
            </a:r>
          </a:p>
          <a:p>
            <a:r>
              <a:t>Use “start, stop, continue”.</a:t>
            </a:r>
          </a:p>
          <a:p>
            <a:r>
              <a:t>Praise a colleague.</a:t>
            </a:r>
          </a:p>
          <a:p>
            <a:r>
              <a:t>Agree on an action owner.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Agile suitable for every project? | “Not for every one, since…”</a:t>
            </a:r>
          </a:p>
          <a:p>
            <a:r>
              <a:t>2. Are daily stand-ups useful? | “They are, if they stay short.”</a:t>
            </a:r>
          </a:p>
          <a:p>
            <a:r>
              <a:t>3. How do you handle changing requirements? | “I’d… / We could…”</a:t>
            </a:r>
          </a:p>
          <a:p>
            <a:r>
              <a:t>4. What are the downsides of Scrum? | “One downside is…”</a:t>
            </a:r>
          </a:p>
          <a:p>
            <a:r>
              <a:t>5. Could you use Agile ideas outside software? | “Yes, e.g. in marketing…”</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“Yes, I think so. Marketing teams can use short cycles, visible task boards and regular retrospectives. For example, they can plan a two-week campaign sprint, check the results, and adjust. The key idea is to learn quickly and avoid planning everything far in advance.”</a:t>
            </a:r>
          </a:p>
          <a:p>
            <a:r>
              <a:t>“task board” 任务看板;“far in advance” 提前很久。</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processes in the present simple 用一般现在时描述流程</a:t>
            </a:r>
          </a:p>
          <a:p>
            <a:r>
              <a:t>Structure | Example</a:t>
            </a:r>
          </a:p>
          <a:p>
            <a:r>
              <a:t>Present simple (routine) | We have a stand-up every day.</a:t>
            </a:r>
          </a:p>
          <a:p>
            <a:r>
              <a:t>Passive (process) | Work is divided into sprints.</a:t>
            </a:r>
          </a:p>
          <a:p>
            <a:r>
              <a:t>Then / next / at the end | At the end, we hold a review.</a:t>
            </a:r>
          </a:p>
          <a:p>
            <a:r>
              <a:t>Instructions | Add it to the backlog.</a:t>
            </a:r>
          </a:p>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processes in the present simple 用一般现在时描述流程</a:t>
            </a:r>
          </a:p>
          <a:p>
            <a:r>
              <a:t>Use the passive for processes: Work is divided; use active for team routines: We meet daily.</a:t>
            </a:r>
          </a:p>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are having a stand-up every day.  →  ✓ We have a stand-up every day.  (一般现在时(习惯))</a:t>
            </a:r>
          </a:p>
          <a:p>
            <a:r>
              <a:t>✗ The sprint is lasts two weeks.  →  ✓ The sprint lasts two weeks.  (动词)</a:t>
            </a:r>
          </a:p>
          <a:p>
            <a:r>
              <a:t>✗ We discuss about the improvements.  →  ✓ We discuss the improvements.  (discuss)</a:t>
            </a:r>
          </a:p>
          <a:p>
            <a:r>
              <a:t>Mistake Watch: Check present simple for routines, discuss + object, passive with -ed.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did the report yesterday and today I do the testing.  →  ✓ I’ll do the testing today. / I’m doing the testing today.  (计划)</a:t>
            </a:r>
          </a:p>
          <a:p>
            <a:r>
              <a:t>✗ The team members is meeting.  →  ✓ The team members are meeting.  (复数)</a:t>
            </a:r>
          </a:p>
          <a:p>
            <a:r>
              <a:t>✗ It’s block by a bug.  →  ✓ It’s blocked by a bug.  (被动)</a:t>
            </a:r>
          </a:p>
          <a:p>
            <a:r>
              <a:t>Mistake Watch: Check present simple for routines, discuss + object, passive with -ed.</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Short and standing. Stand-ups are brief by design; keep to the point.</a:t>
            </a:r>
          </a:p>
          <a:p>
            <a:r>
              <a:t>Honest status. Say “I’m blocked” without shame.</a:t>
            </a:r>
          </a:p>
          <a:p>
            <a:r>
              <a:t>No blame in retros. Focus on process, not people.</a:t>
            </a:r>
          </a:p>
          <a:p>
            <a:r>
              <a:t>Agile jargon is widespread. Learn “sprint”, “backlog”, “MVP”, “velocity”.</a:t>
            </a:r>
          </a:p>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Scrum roles and events.</a:t>
            </a:r>
          </a:p>
          <a:p>
            <a:r>
              <a:t>I can give a stand-up update.</a:t>
            </a:r>
          </a:p>
          <a:p>
            <a:r>
              <a:t>I can run or join a retrospective.</a:t>
            </a:r>
          </a:p>
          <a:p>
            <a:r>
              <a:t>I use present simple and passive for processes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Scrum in 90 seconds using the passive at least twice.</a:t>
            </a:r>
          </a:p>
          <a:p>
            <a:r>
              <a:t>8–10 | Listen to your recording. Check: present simple, passive, discuss + object.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“现金流” in English? → cash flow</a:t>
            </a:r>
          </a:p>
          <a:p>
            <a:r>
              <a:t>“炫耀性珠宝/装饰” in English? → bling</a:t>
            </a:r>
          </a:p>
          <a:p>
            <a:r>
              <a:t>“浮夸的” in English? → flashy / showy</a:t>
            </a:r>
          </a:p>
          <a:p>
            <a:r>
              <a:t>Fix it: Customers believe to the brand. → Customers believe in the brand. / trust the brand.</a:t>
            </a:r>
          </a:p>
          <a:p>
            <a:r>
              <a:t>Fix it: We discuss about the improvements. → We discuss the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0.xml"/><Relationship Id="rId5" Type="http://schemas.openxmlformats.org/officeDocument/2006/relationships/slide" Target="slide57.xml"/><Relationship Id="rId6" Type="http://schemas.openxmlformats.org/officeDocument/2006/relationships/slide" Target="slide82.xml"/><Relationship Id="rId7" Type="http://schemas.openxmlformats.org/officeDocument/2006/relationships/slide" Target="slide109.xml"/><Relationship Id="rId8" Type="http://schemas.openxmlformats.org/officeDocument/2006/relationships/slide" Target="slide135.xml"/><Relationship Id="rId9" Type="http://schemas.openxmlformats.org/officeDocument/2006/relationships/slide" Target="slide16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 Id="rId4" Type="http://schemas.openxmlformats.org/officeDocument/2006/relationships/slide" Target="slide187.xml"/><Relationship Id="rId5" Type="http://schemas.openxmlformats.org/officeDocument/2006/relationships/slide" Target="slide188.xml"/><Relationship Id="rId6" Type="http://schemas.openxmlformats.org/officeDocument/2006/relationships/slide" Target="slide189.xml"/><Relationship Id="rId7" Type="http://schemas.openxmlformats.org/officeDocument/2006/relationships/slide" Target="slide190.xml"/><Relationship Id="rId8" Type="http://schemas.openxmlformats.org/officeDocument/2006/relationships/slide" Target="slide191.xml"/><Relationship Id="rId9" Type="http://schemas.openxmlformats.org/officeDocument/2006/relationships/slide" Target="slide192.xml"/><Relationship Id="rId10" Type="http://schemas.openxmlformats.org/officeDocument/2006/relationships/slide" Target="slide193.xml"/><Relationship Id="rId11" Type="http://schemas.openxmlformats.org/officeDocument/2006/relationships/slide" Target="slide194.xml"/><Relationship Id="rId12" Type="http://schemas.openxmlformats.org/officeDocument/2006/relationships/slide" Target="slide195.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13</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Startups and Company Growth</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7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L60 Startup success · L61 Building a good company · L62 Start an e-commerce business · L63 Choosing between red and blue · L64 Brand freedom · L65 Elegance versus bling · L66 Agile Scrum</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60</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Startup success</a:t>
            </a:r>
          </a:p>
          <a:p>
            <a:pPr algn="l">
              <a:lnSpc>
                <a:spcPct val="100000"/>
              </a:lnSpc>
              <a:spcAft>
                <a:spcPts val="800"/>
              </a:spcAft>
            </a:pPr>
            <a:r>
              <a:rPr sz="1400" b="0">
                <a:solidFill>
                  <a:srgbClr val="5F677A"/>
                </a:solidFill>
                <a:latin typeface="Arial"/>
                <a:ea typeface="Microsoft YaHei"/>
              </a:rPr>
              <a:t>创业成功</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61</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Building a good company</a:t>
            </a:r>
          </a:p>
          <a:p>
            <a:pPr algn="l">
              <a:lnSpc>
                <a:spcPct val="100000"/>
              </a:lnSpc>
              <a:spcAft>
                <a:spcPts val="800"/>
              </a:spcAft>
            </a:pPr>
            <a:r>
              <a:rPr sz="1400" b="0">
                <a:solidFill>
                  <a:srgbClr val="5F677A"/>
                </a:solidFill>
                <a:latin typeface="Arial"/>
                <a:ea typeface="Microsoft YaHei"/>
              </a:rPr>
              <a:t>建立一个好公司</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62</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Start an e-commerce business</a:t>
            </a:r>
          </a:p>
          <a:p>
            <a:pPr algn="l">
              <a:lnSpc>
                <a:spcPct val="100000"/>
              </a:lnSpc>
              <a:spcAft>
                <a:spcPts val="800"/>
              </a:spcAft>
            </a:pPr>
            <a:r>
              <a:rPr sz="1400" b="0">
                <a:solidFill>
                  <a:srgbClr val="5F677A"/>
                </a:solidFill>
                <a:latin typeface="Arial"/>
                <a:ea typeface="Microsoft YaHei"/>
              </a:rPr>
              <a:t>创办电子商务企业</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63</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Choosing between red and blue</a:t>
            </a:r>
          </a:p>
          <a:p>
            <a:pPr algn="l">
              <a:lnSpc>
                <a:spcPct val="100000"/>
              </a:lnSpc>
              <a:spcAft>
                <a:spcPts val="800"/>
              </a:spcAft>
            </a:pPr>
            <a:r>
              <a:rPr sz="1400" b="0">
                <a:solidFill>
                  <a:srgbClr val="5F677A"/>
                </a:solidFill>
                <a:latin typeface="Arial"/>
                <a:ea typeface="Microsoft YaHei"/>
              </a:rPr>
              <a:t>在红海与蓝海之间选择</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64</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Brand freedom</a:t>
            </a:r>
          </a:p>
          <a:p>
            <a:pPr algn="l">
              <a:lnSpc>
                <a:spcPct val="100000"/>
              </a:lnSpc>
              <a:spcAft>
                <a:spcPts val="800"/>
              </a:spcAft>
            </a:pPr>
            <a:r>
              <a:rPr sz="1400" b="0">
                <a:solidFill>
                  <a:srgbClr val="5F677A"/>
                </a:solidFill>
                <a:latin typeface="Arial"/>
                <a:ea typeface="Microsoft YaHei"/>
              </a:rPr>
              <a:t>品牌自由</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65</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Elegance versus bling</a:t>
            </a:r>
          </a:p>
          <a:p>
            <a:pPr algn="l">
              <a:lnSpc>
                <a:spcPct val="100000"/>
              </a:lnSpc>
              <a:spcAft>
                <a:spcPts val="800"/>
              </a:spcAft>
            </a:pPr>
            <a:r>
              <a:rPr sz="1400" b="0">
                <a:solidFill>
                  <a:srgbClr val="5F677A"/>
                </a:solidFill>
                <a:latin typeface="Arial"/>
                <a:ea typeface="Microsoft YaHei"/>
              </a:rPr>
              <a:t>优雅与华丽的对比</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66</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Agile Scrum</a:t>
            </a:r>
          </a:p>
          <a:p>
            <a:pPr algn="l">
              <a:lnSpc>
                <a:spcPct val="100000"/>
              </a:lnSpc>
              <a:spcAft>
                <a:spcPts val="800"/>
              </a:spcAft>
            </a:pPr>
            <a:r>
              <a:rPr sz="1400" b="0">
                <a:solidFill>
                  <a:srgbClr val="5F677A"/>
                </a:solidFill>
                <a:latin typeface="Arial"/>
                <a:ea typeface="Microsoft YaHei"/>
              </a:rPr>
              <a:t>敏捷开发与Scrum</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 · Lesson 60 Startup success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Startup success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创业成功</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what makes a startup succeed or fail, and pitch a simple business idea clearly.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like to start your own business?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kind of problem could you solve with a startup?</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many startups fail?</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startup do you admire? Why?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skills does a founder need?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“startup” 初创公司;“founder” 创始人。第 1 题 “Would you like to” 表愿望。</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Pitch a startup idea in 60 seconds.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problem</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your solution</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market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why you</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what you need</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We help… to…   💬 The problem is that…   💬 What sets us apart is…   💬 We’re looking for…</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“We help X to do Y” 是常用电梯演讲句型;“set apart” 使区别于他人。</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Why some startups survive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Studies of young companies often find the same pattern. The most common reason for failure is not a lack of money but building something that nobody wants. Successful founders start with a real problem and test their idea with customers early, often with a very simple first version called a minimum viable product. They also listen to feedback and are prepared to pivot, or change direction, when the evidence points elsewhere. Timing and team matter, too. A group with complementary skills and open communication can survive difficult periods. Finally, money must be managed carefully. Many promising startups run out of cash because they grow faster than their income. Growth is exciting, but a business that cannot pay its bills will not last long, however good its idea.</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most common reason for failure?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Building something nobody wants.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a minimum viable product?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very simple first version used to test an idea with customers.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do some promising startups run out of cash?</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grow faster than their income.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Starting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创业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startup / founder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初创公司/创始人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the founder of a startup.”</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launch a product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推出产品</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launch next month.”</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minimum viable product (MVP)</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最小可行产品</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built an MVP first.”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bootstrap</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自筹资金起步</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bootstrapped for two years.”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pivot</a:t>
            </a:r>
          </a:p>
          <a:p>
            <a:pPr algn="l">
              <a:lnSpc>
                <a:spcPct val="115000"/>
              </a:lnSpc>
              <a:spcAft>
                <a:spcPts val="800"/>
              </a:spcAft>
            </a:pPr>
            <a:r>
              <a:rPr sz="1300" b="0">
                <a:solidFill>
                  <a:srgbClr val="5F677A"/>
                </a:solidFill>
                <a:latin typeface="Arial"/>
                <a:ea typeface="Microsoft YaHei"/>
              </a:rPr>
              <a:t>verb/noun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转型</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pivoted to a new market.”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Funding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融资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raise funding</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融资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raised funding last year.”</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investor / venture capital</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投资人/风险投资</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“Investors liked our plan.”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cash flow</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现金流</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“Cash flow is our biggest worry.”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rate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烧钱速度</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burn rate is too high.”</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run out of runway</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资金即将耗尽</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running out of runway.”</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Pitching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路演</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pitch</a:t>
            </a:r>
          </a:p>
          <a:p>
            <a:pPr algn="l">
              <a:lnSpc>
                <a:spcPct val="115000"/>
              </a:lnSpc>
              <a:spcAft>
                <a:spcPts val="800"/>
              </a:spcAft>
            </a:pPr>
            <a:r>
              <a:rPr sz="1300" b="0">
                <a:solidFill>
                  <a:srgbClr val="5F677A"/>
                </a:solidFill>
                <a:latin typeface="Arial"/>
                <a:ea typeface="Microsoft YaHei"/>
              </a:rPr>
              <a:t>verb/noun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路演/推介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pitched to three investors.”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target market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目标市场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target market is small firms.”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unique selling point (USP)</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独特卖点</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USP is speed.”</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gain traction</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获得市场认可</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app is gaining traction.”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scalable</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可扩展的</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model is scalable.”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初创公司/创始人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startup / founder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路演/推介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pitch</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推出产品</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launch a product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pivot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获得市场认可</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gain traction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烧钱速度</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rate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可扩展的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scalable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目标市场</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target market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startup</a:t>
            </a:r>
          </a:p>
        </p:txBody>
      </p:sp>
      <p:sp>
        <p:nvSpPr>
          <p:cNvPr id="10" name="Rounded Rectangle 9"/>
          <p:cNvSpPr/>
          <p:nvPr/>
        </p:nvSpPr>
        <p:spPr>
          <a:xfrm>
            <a:off x="3236976"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launch</a:t>
            </a:r>
          </a:p>
        </p:txBody>
      </p:sp>
      <p:sp>
        <p:nvSpPr>
          <p:cNvPr id="11" name="Rounded Rectangle 10"/>
          <p:cNvSpPr/>
          <p:nvPr/>
        </p:nvSpPr>
        <p:spPr>
          <a:xfrm>
            <a:off x="435254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funding</a:t>
            </a:r>
          </a:p>
        </p:txBody>
      </p:sp>
      <p:sp>
        <p:nvSpPr>
          <p:cNvPr id="12" name="Rounded Rectangle 11"/>
          <p:cNvSpPr/>
          <p:nvPr/>
        </p:nvSpPr>
        <p:spPr>
          <a:xfrm>
            <a:off x="5577840"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cash</a:t>
            </a:r>
          </a:p>
        </p:txBody>
      </p:sp>
      <p:sp>
        <p:nvSpPr>
          <p:cNvPr id="13" name="Rounded Rectangle 12"/>
          <p:cNvSpPr/>
          <p:nvPr/>
        </p:nvSpPr>
        <p:spPr>
          <a:xfrm>
            <a:off x="6473952"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pitch</a:t>
            </a:r>
          </a:p>
        </p:txBody>
      </p:sp>
      <p:sp>
        <p:nvSpPr>
          <p:cNvPr id="14" name="Rounded Rectangle 13"/>
          <p:cNvSpPr/>
          <p:nvPr/>
        </p:nvSpPr>
        <p:spPr>
          <a:xfrm>
            <a:off x="7479792"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market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is the founder of a tech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startup</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plan to _______ the product next month.</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launch</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raised _______ from two investors.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funding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_______ flow is our biggest worry.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Cash</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going to _______ to investors tomorrow.</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pitch</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Our target _______ is small businesses.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launch a product, raise funding, set up / start a business (不说 open a startup)。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short pitch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简短路演</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present to an investor.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Founder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Investor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A short pitch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help small cafés to reduce food waste by predicting daily demand.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does it work?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app uses past sales and the weather to suggest how much to prepare.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sets you apart from other apps?</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Model Dialogue · A short pitch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simple, and it’s priced for small businesses. We’ve signed up fifty cafés.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need from us?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looking for 300,000 dollars to grow the team.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Send me your numbers, and I’ll get back to you.</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short pitch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pitch your startup.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Founder. Idea: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Investor.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 help… to… · What sets us apart · target market · gaining traction · we’re looking for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Pitch in one minute, answer two questions and state your ask.</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number for market size.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Handle “who are your competitors?”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Close with a clear next step.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Analysing why a startup failed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分析创业失败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entrepreneurs discuss a failed company.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Entrepreneur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Friend</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Analysing why a startup failed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know my startup ran out of runway last month.</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What happened?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built a lot of features, but too few customers wanted them.</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Did you test the idea early?</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enough. We should have launched an MVP much sooner.</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cash?</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burn rate was too high. We hired too fast.</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You’ll do better next time with these lessons.</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Analysing why a startup failed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reflect on a failed venture.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Founder. Reasons: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ran out of runway · MVP · should have · burn rate · lessons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causes honestly and say what you would do differently.</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pivot you didn’t make.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Talk about the team.</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positively.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most important factor for startup success?</a:t>
            </a:r>
          </a:p>
          <a:p>
            <a:pPr algn="l">
              <a:lnSpc>
                <a:spcPct val="115000"/>
              </a:lnSpc>
              <a:spcAft>
                <a:spcPts val="800"/>
              </a:spcAft>
            </a:pPr>
            <a:r>
              <a:rPr sz="1400" b="0">
                <a:solidFill>
                  <a:srgbClr val="5F677A"/>
                </a:solidFill>
                <a:latin typeface="Arial"/>
                <a:ea typeface="Microsoft YaHei"/>
              </a:rPr>
              <a:t>💬 “I’d say…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start alone or with partners?</a:t>
            </a:r>
          </a:p>
          <a:p>
            <a:pPr algn="l">
              <a:lnSpc>
                <a:spcPct val="115000"/>
              </a:lnSpc>
              <a:spcAft>
                <a:spcPts val="800"/>
              </a:spcAft>
            </a:pPr>
            <a:r>
              <a:rPr sz="1400" b="0">
                <a:solidFill>
                  <a:srgbClr val="5F677A"/>
                </a:solidFill>
                <a:latin typeface="Arial"/>
                <a:ea typeface="Microsoft YaHei"/>
              </a:rPr>
              <a:t>💬 “With partners, since…”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risky is it to leave a job to start a company?</a:t>
            </a:r>
          </a:p>
          <a:p>
            <a:pPr algn="l">
              <a:lnSpc>
                <a:spcPct val="115000"/>
              </a:lnSpc>
              <a:spcAft>
                <a:spcPts val="800"/>
              </a:spcAft>
            </a:pPr>
            <a:r>
              <a:rPr sz="1400" b="0">
                <a:solidFill>
                  <a:srgbClr val="5F677A"/>
                </a:solidFill>
                <a:latin typeface="Arial"/>
                <a:ea typeface="Microsoft YaHei"/>
              </a:rPr>
              <a:t>💬 “It’s risky,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invest in a startup?</a:t>
            </a:r>
          </a:p>
          <a:p>
            <a:pPr algn="l">
              <a:lnSpc>
                <a:spcPct val="115000"/>
              </a:lnSpc>
              <a:spcAft>
                <a:spcPts val="800"/>
              </a:spcAft>
            </a:pPr>
            <a:r>
              <a:rPr sz="1400" b="0">
                <a:solidFill>
                  <a:srgbClr val="5F677A"/>
                </a:solidFill>
                <a:latin typeface="Arial"/>
                <a:ea typeface="Microsoft YaHei"/>
              </a:rPr>
              <a:t>💬 “I would if…”</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country supports startups best?</a:t>
            </a:r>
          </a:p>
          <a:p>
            <a:pPr algn="l">
              <a:lnSpc>
                <a:spcPct val="115000"/>
              </a:lnSpc>
              <a:spcAft>
                <a:spcPts val="800"/>
              </a:spcAft>
            </a:pPr>
            <a:r>
              <a:rPr sz="1400" b="0">
                <a:solidFill>
                  <a:srgbClr val="5F677A"/>
                </a:solidFill>
                <a:latin typeface="Arial"/>
                <a:ea typeface="Microsoft YaHei"/>
              </a:rPr>
              <a:t>💬 “I think…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say understanding customer needs is the most important factor. Many startups fail because they build something nobody wants. If you talk to customers early, you can fix problems before you’ve spent a lot of money. A good team and funding matter too, but without customers, they won’t be enough.</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“without customers, they won’t be enough” 没有客户则其他都不够。</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Pitching language and past regrets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路演语言与反思</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Problem</a:t>
                      </a:r>
                    </a:p>
                  </a:txBody>
                  <a:tcPr anchor="ctr">
                    <a:solidFill>
                      <a:srgbClr val="FFFFFF"/>
                    </a:solidFill>
                  </a:tcPr>
                </a:tc>
                <a:tc>
                  <a:txBody>
                    <a:bodyPr wrap="square"/>
                    <a:lstStyle/>
                    <a:p>
                      <a:r>
                        <a:rPr sz="1600" b="0">
                          <a:solidFill>
                            <a:srgbClr val="1F2A44"/>
                          </a:solidFill>
                          <a:latin typeface="Arial"/>
                          <a:ea typeface="Microsoft YaHei"/>
                        </a:rPr>
                        <a:t>The problem is that small cafés waste food.</a:t>
                      </a:r>
                    </a:p>
                  </a:txBody>
                  <a:tcPr anchor="ctr">
                    <a:solidFill>
                      <a:srgbClr val="FFFFFF"/>
                    </a:solidFill>
                  </a:tcPr>
                </a:tc>
              </a:tr>
              <a:tr h="408432">
                <a:tc>
                  <a:txBody>
                    <a:bodyPr wrap="square"/>
                    <a:lstStyle/>
                    <a:p>
                      <a:r>
                        <a:rPr sz="1600" b="1">
                          <a:solidFill>
                            <a:srgbClr val="1F2A44"/>
                          </a:solidFill>
                          <a:latin typeface="Arial"/>
                          <a:ea typeface="Microsoft YaHei"/>
                        </a:rPr>
                        <a:t>Solution</a:t>
                      </a:r>
                    </a:p>
                  </a:txBody>
                  <a:tcPr anchor="ctr">
                    <a:solidFill>
                      <a:srgbClr val="FFEFD9"/>
                    </a:solidFill>
                  </a:tcPr>
                </a:tc>
                <a:tc>
                  <a:txBody>
                    <a:bodyPr wrap="square"/>
                    <a:lstStyle/>
                    <a:p>
                      <a:r>
                        <a:rPr sz="1600" b="0">
                          <a:solidFill>
                            <a:srgbClr val="1F2A44"/>
                          </a:solidFill>
                          <a:latin typeface="Arial"/>
                          <a:ea typeface="Microsoft YaHei"/>
                        </a:rPr>
                        <a:t>Our app predicts demand.</a:t>
                      </a:r>
                    </a:p>
                  </a:txBody>
                  <a:tcPr anchor="ctr">
                    <a:solidFill>
                      <a:srgbClr val="FFEFD9"/>
                    </a:solidFill>
                  </a:tcPr>
                </a:tc>
              </a:tr>
              <a:tr h="408432">
                <a:tc>
                  <a:txBody>
                    <a:bodyPr wrap="square"/>
                    <a:lstStyle/>
                    <a:p>
                      <a:r>
                        <a:rPr sz="1600" b="1">
                          <a:solidFill>
                            <a:srgbClr val="1F2A44"/>
                          </a:solidFill>
                          <a:latin typeface="Arial"/>
                          <a:ea typeface="Microsoft YaHei"/>
                        </a:rPr>
                        <a:t>Proof</a:t>
                      </a:r>
                    </a:p>
                  </a:txBody>
                  <a:tcPr anchor="ctr">
                    <a:solidFill>
                      <a:srgbClr val="FFFFFF"/>
                    </a:solidFill>
                  </a:tcPr>
                </a:tc>
                <a:tc>
                  <a:txBody>
                    <a:bodyPr wrap="square"/>
                    <a:lstStyle/>
                    <a:p>
                      <a:r>
                        <a:rPr sz="1600" b="0">
                          <a:solidFill>
                            <a:srgbClr val="1F2A44"/>
                          </a:solidFill>
                          <a:latin typeface="Arial"/>
                          <a:ea typeface="Microsoft YaHei"/>
                        </a:rPr>
                        <a:t>We’ve signed up fifty cafés.</a:t>
                      </a:r>
                    </a:p>
                  </a:txBody>
                  <a:tcPr anchor="ctr">
                    <a:solidFill>
                      <a:srgbClr val="FFFFFF"/>
                    </a:solidFill>
                  </a:tcPr>
                </a:tc>
              </a:tr>
              <a:tr h="408432">
                <a:tc>
                  <a:txBody>
                    <a:bodyPr wrap="square"/>
                    <a:lstStyle/>
                    <a:p>
                      <a:r>
                        <a:rPr sz="1600" b="1">
                          <a:solidFill>
                            <a:srgbClr val="1F2A44"/>
                          </a:solidFill>
                          <a:latin typeface="Arial"/>
                          <a:ea typeface="Microsoft YaHei"/>
                        </a:rPr>
                        <a:t>Ask</a:t>
                      </a:r>
                    </a:p>
                  </a:txBody>
                  <a:tcPr anchor="ctr">
                    <a:solidFill>
                      <a:srgbClr val="FFEFD9"/>
                    </a:solidFill>
                  </a:tcPr>
                </a:tc>
                <a:tc>
                  <a:txBody>
                    <a:bodyPr wrap="square"/>
                    <a:lstStyle/>
                    <a:p>
                      <a:r>
                        <a:rPr sz="1600" b="0">
                          <a:solidFill>
                            <a:srgbClr val="1F2A44"/>
                          </a:solidFill>
                          <a:latin typeface="Arial"/>
                          <a:ea typeface="Microsoft YaHei"/>
                        </a:rPr>
                        <a:t>We’re looking for 300,000 dollars.</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Pitching language and past regrets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路演语言与反思</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should have + past participle for regrets: </a:t>
            </a:r>
            <a:r>
              <a:rPr sz="1700" b="0">
                <a:solidFill>
                  <a:srgbClr val="1F2A44"/>
                </a:solidFill>
                <a:latin typeface="Arial"/>
                <a:ea typeface="Microsoft YaHei"/>
              </a:rPr>
              <a:t>We should have launched sooner.</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open a startup.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start a startup. / set up a company.</a:t>
            </a:r>
          </a:p>
          <a:p>
            <a:pPr algn="l">
              <a:spcAft>
                <a:spcPts val="200"/>
              </a:spcAft>
            </a:pPr>
            <a:r>
              <a:rPr sz="1200" b="0">
                <a:solidFill>
                  <a:srgbClr val="FFFFFF"/>
                </a:solidFill>
                <a:latin typeface="Arial"/>
                <a:ea typeface="Microsoft YaHei"/>
              </a:rPr>
              <a:t>搭配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raised funding last year.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raised funding last year.</a:t>
            </a:r>
          </a:p>
          <a:p>
            <a:pPr algn="l">
              <a:spcAft>
                <a:spcPts val="200"/>
              </a:spcAft>
            </a:pPr>
            <a:r>
              <a:rPr sz="1200" b="0">
                <a:solidFill>
                  <a:srgbClr val="FFFFFF"/>
                </a:solidFill>
                <a:latin typeface="Arial"/>
                <a:ea typeface="Microsoft YaHei"/>
              </a:rPr>
              <a:t>过去式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need a fund.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need funding.</a:t>
            </a:r>
          </a:p>
          <a:p>
            <a:pPr algn="l">
              <a:spcAft>
                <a:spcPts val="200"/>
              </a:spcAft>
            </a:pPr>
            <a:r>
              <a:rPr sz="1200" b="0">
                <a:solidFill>
                  <a:srgbClr val="FFFFFF"/>
                </a:solidFill>
                <a:latin typeface="Arial"/>
                <a:ea typeface="Microsoft YaHei"/>
              </a:rPr>
              <a:t>funding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Our company make a profit.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Our company makes a profit.</a:t>
            </a:r>
          </a:p>
          <a:p>
            <a:pPr algn="l">
              <a:spcAft>
                <a:spcPts val="200"/>
              </a:spcAft>
            </a:pPr>
            <a:r>
              <a:rPr sz="1200" b="0">
                <a:solidFill>
                  <a:srgbClr val="FFFFFF"/>
                </a:solidFill>
                <a:latin typeface="Arial"/>
                <a:ea typeface="Microsoft YaHei"/>
              </a:rPr>
              <a:t>三单</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market is grown fast.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market is growing fast.</a:t>
            </a:r>
          </a:p>
          <a:p>
            <a:pPr algn="l">
              <a:spcAft>
                <a:spcPts val="200"/>
              </a:spcAft>
            </a:pPr>
            <a:r>
              <a:rPr sz="1200" b="0">
                <a:solidFill>
                  <a:srgbClr val="FFFFFF"/>
                </a:solidFill>
                <a:latin typeface="Arial"/>
                <a:ea typeface="Microsoft YaHei"/>
              </a:rPr>
              <a:t>进行时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launched earlier.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have launched earlier.</a:t>
            </a:r>
          </a:p>
          <a:p>
            <a:pPr algn="l">
              <a:spcAft>
                <a:spcPts val="200"/>
              </a:spcAft>
            </a:pPr>
            <a:r>
              <a:rPr sz="1200" b="0">
                <a:solidFill>
                  <a:srgbClr val="FFFFFF"/>
                </a:solidFill>
                <a:latin typeface="Arial"/>
                <a:ea typeface="Microsoft YaHei"/>
              </a:rPr>
              <a:t>should have + p.p.</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funding uncountable, should have + p.p., third person -s.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Pitching is storytelling. Open with a problem people recognise.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Numbers build credibility. “Fifty cafés signed” beats “many customers”.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Failure is discussed openly in startup culture, especially in the US, as a learning experience.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Be concise. Investors often hear many pitches in a day.</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pitch a startup idea in 60 seconds.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funding vocabulary correctly.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regrets with should have.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funding (uncountable) and past simple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60 Startup success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a 60-second pitch and listen to it.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funding uncountable, should have + p.p., third-person -s.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 · Lesson 61 Building a good company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Building a good company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建立一个好公司</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the foundations of a good company: values, people, customers and sustainable growth.</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company “good”?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profit the only goal of a business?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kind of company would you like to build or work for?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values show up in daily decisions?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a company grow too fast?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“sustainable” = 可持续的。第 2 题 “the only goal” 注意 “the only” 的用法。</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what makes a good company.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purpose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people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customers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growth</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good company has…   💬 It treats… well   💬 It grows in a way that…   💬 In the long term,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the long term” 从长远看;“treat sb well” 善待某人。</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Built to last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Companies that last tend to share a few features. First, they have a clear purpose beyond making money, which helps people make decisions when the rules are not clear. Second, they hire carefully and treat employees fairly, because capable people are the hardest asset to replace. Third, they listen to customers and fix problems quickly, even if it costs them in the short term. Fourth, they grow at a pace they can manage. Rapid growth is tempting, but quality often suffers if systems and people cannot keep up. Finally, they are honest about mistakes. Trust, built slowly with employees, customers and suppliers, is difficult to buy and easy to lose. A strong company is not necessarily the biggest; it is the one others want to work with for years.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 a clear purpose useful?</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guides decisions when rules are not clear.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can rapid growth be a problem?</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Quality suffers if systems and people cannot keep up.</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difficult to buy and easy to lose?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Trust.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Foundations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mission / purpose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使命</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mission is to simplify banking.”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core values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核心价值观</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core values guide us.”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long-term vision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长期愿景</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long-term vision.”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lay the foundations</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打下基础</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laid the foundations early.”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stand for</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代表(价值)</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does your company stand for?”</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People and customers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人与客户</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attract and retain talent</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吸引并留住人才</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culture helps retain talent.”</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customer loyalty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客户忠诚度</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“Customer loyalty drives sales.”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stakeholders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利益相关方</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care about all stakeholders.”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the talk</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言行一致</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must walk the talk.”</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customers first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客户至上</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put customers first.”</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Growth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增长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sustainable growth</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可持续增长</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sustainable growth.”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scale up</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扩大规模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plan to scale up next year.”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expand into</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拓展进入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expanded into Asia.”</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outgrow (a system)</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业务规模超出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outgrew our old software.”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stay lean</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保持精简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try to stay lean.”</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扩大规模</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scale up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利益相关方</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stakeholders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核心价值观</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core values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代表(价值)</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 for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业务规模超出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outgrow (a system)</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吸引并留住人才</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attract and retain talent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拓展进入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expand into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使命</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mission / purpose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mission</a:t>
            </a:r>
          </a:p>
        </p:txBody>
      </p:sp>
      <p:sp>
        <p:nvSpPr>
          <p:cNvPr id="10" name="Rounded Rectangle 9"/>
          <p:cNvSpPr/>
          <p:nvPr/>
        </p:nvSpPr>
        <p:spPr>
          <a:xfrm>
            <a:off x="3236976"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values</a:t>
            </a:r>
          </a:p>
        </p:txBody>
      </p:sp>
      <p:sp>
        <p:nvSpPr>
          <p:cNvPr id="11" name="Rounded Rectangle 10"/>
          <p:cNvSpPr/>
          <p:nvPr/>
        </p:nvSpPr>
        <p:spPr>
          <a:xfrm>
            <a:off x="435254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loyalty</a:t>
            </a:r>
          </a:p>
        </p:txBody>
      </p:sp>
      <p:sp>
        <p:nvSpPr>
          <p:cNvPr id="12" name="Rounded Rectangle 11"/>
          <p:cNvSpPr/>
          <p:nvPr/>
        </p:nvSpPr>
        <p:spPr>
          <a:xfrm>
            <a:off x="5577840"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stakeholders</a:t>
            </a:r>
          </a:p>
        </p:txBody>
      </p:sp>
      <p:sp>
        <p:nvSpPr>
          <p:cNvPr id="13" name="Rounded Rectangle 12"/>
          <p:cNvSpPr/>
          <p:nvPr/>
        </p:nvSpPr>
        <p:spPr>
          <a:xfrm>
            <a:off x="7351775"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sustainable</a:t>
            </a:r>
          </a:p>
        </p:txBody>
      </p:sp>
      <p:sp>
        <p:nvSpPr>
          <p:cNvPr id="14" name="Rounded Rectangle 13"/>
          <p:cNvSpPr/>
          <p:nvPr/>
        </p:nvSpPr>
        <p:spPr>
          <a:xfrm>
            <a:off x="9015982"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scale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_______ is to simplify banking.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mission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Our core _______ guide our decisions.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Customer _______ drives repeat sales.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loyalty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care about all our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stakeholders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want _______ growth, not just fast growth.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sustainable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plan to _______ up next year.</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scale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core values, stand FOR, expand INTO a market;stakeholder 拼写。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Describing company values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描述公司价值观</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candidate asks about the company.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Candidate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Interviewer</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Describing company values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does the company stand for?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mission is to make healthy food affordable. We put customers first.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 values show up in daily work?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For example, we refund unhappy customers without arguing, even when it costs us.</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Describing company values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growth plans?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want sustainable growth. We’d rather stay lean than expand too fast.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refreshing.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think trust matters more than speed.</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Describing company values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company values.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 Company: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stand for · mission · put customers first · sustainable growth · stay lean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purpose, an example and growth approach.</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tough decision that showed values.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diversity.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Challenge: “Aren’t values just words?”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Growing without losing quality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增长而不丢质量</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founder talks to an adviser.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Founder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Adviser</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Growing without losing quality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Orders have doubled, and complaints are rising.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may have outgrown your systems. What’s going wrong?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Deliveries are late, and new staff aren’t trained.</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slow down hiring and fix processes first.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Growing without losing quality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Won’t we lose momentum?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the short term, perhaps. In the long term, you’ll protect your reputation.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 Where do we start?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Map the order process, find the bottlenecks, and train people properly.</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Growing without losing quality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on growth problems.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Founder.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Adviser.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outgrown · bottlenecks · slow down · in the long term · reputation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Diagnose and recommend steps to scale sustainably.</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metrics.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hiring.</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a timeline.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you want to work for a company?</a:t>
            </a:r>
          </a:p>
          <a:p>
            <a:pPr algn="l">
              <a:lnSpc>
                <a:spcPct val="115000"/>
              </a:lnSpc>
              <a:spcAft>
                <a:spcPts val="800"/>
              </a:spcAft>
            </a:pPr>
            <a:r>
              <a:rPr sz="1400" b="0">
                <a:solidFill>
                  <a:srgbClr val="5F677A"/>
                </a:solidFill>
                <a:latin typeface="Arial"/>
                <a:ea typeface="Microsoft YaHei"/>
              </a:rPr>
              <a:t>💬 “A clear purpose and…”</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profit and purpose go together?</a:t>
            </a:r>
          </a:p>
          <a:p>
            <a:pPr algn="l">
              <a:lnSpc>
                <a:spcPct val="115000"/>
              </a:lnSpc>
              <a:spcAft>
                <a:spcPts val="800"/>
              </a:spcAft>
            </a:pPr>
            <a:r>
              <a:rPr sz="1400" b="0">
                <a:solidFill>
                  <a:srgbClr val="5F677A"/>
                </a:solidFill>
                <a:latin typeface="Arial"/>
                <a:ea typeface="Microsoft YaHei"/>
              </a:rPr>
              <a:t>💬 “Yes,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bigger always better?</a:t>
            </a:r>
          </a:p>
          <a:p>
            <a:pPr algn="l">
              <a:lnSpc>
                <a:spcPct val="115000"/>
              </a:lnSpc>
              <a:spcAft>
                <a:spcPts val="800"/>
              </a:spcAft>
            </a:pPr>
            <a:r>
              <a:rPr sz="1400" b="0">
                <a:solidFill>
                  <a:srgbClr val="5F677A"/>
                </a:solidFill>
                <a:latin typeface="Arial"/>
                <a:ea typeface="Microsoft YaHei"/>
              </a:rPr>
              <a:t>💬 “Not necessarily, since…”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company keep its culture while growing?</a:t>
            </a:r>
          </a:p>
          <a:p>
            <a:pPr algn="l">
              <a:lnSpc>
                <a:spcPct val="115000"/>
              </a:lnSpc>
              <a:spcAft>
                <a:spcPts val="800"/>
              </a:spcAft>
            </a:pPr>
            <a:r>
              <a:rPr sz="1400" b="0">
                <a:solidFill>
                  <a:srgbClr val="5F677A"/>
                </a:solidFill>
                <a:latin typeface="Arial"/>
                <a:ea typeface="Microsoft YaHei"/>
              </a:rPr>
              <a:t>💬 “By… / It could…”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company do you trust most? Why?</a:t>
            </a:r>
          </a:p>
          <a:p>
            <a:pPr algn="l">
              <a:lnSpc>
                <a:spcPct val="115000"/>
              </a:lnSpc>
              <a:spcAft>
                <a:spcPts val="800"/>
              </a:spcAft>
            </a:pPr>
            <a:r>
              <a:rPr sz="1400" b="0">
                <a:solidFill>
                  <a:srgbClr val="5F677A"/>
                </a:solidFill>
                <a:latin typeface="Arial"/>
                <a:ea typeface="Microsoft YaHei"/>
              </a:rPr>
              <a:t>💬 “I trust…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they can go together. If a company treats staff and customers well, it usually earns loyalty, and that creates profit over time. The risk is when short-term pressure pushes managers to cut corners. A strong purpose helps leaders resist that pressure.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“cut corners” 偷工减料;“resist pressure” 抵挡压力。</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long and short term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长期与短期</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Phrase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in the short term / long term</a:t>
                      </a:r>
                    </a:p>
                  </a:txBody>
                  <a:tcPr anchor="ctr">
                    <a:solidFill>
                      <a:srgbClr val="FFFFFF"/>
                    </a:solidFill>
                  </a:tcPr>
                </a:tc>
                <a:tc>
                  <a:txBody>
                    <a:bodyPr wrap="square"/>
                    <a:lstStyle/>
                    <a:p>
                      <a:r>
                        <a:rPr sz="1600" b="0">
                          <a:solidFill>
                            <a:srgbClr val="1F2A44"/>
                          </a:solidFill>
                          <a:latin typeface="Arial"/>
                          <a:ea typeface="Microsoft YaHei"/>
                        </a:rPr>
                        <a:t>In the short term, costs rise.</a:t>
                      </a:r>
                    </a:p>
                  </a:txBody>
                  <a:tcPr anchor="ctr">
                    <a:solidFill>
                      <a:srgbClr val="FFFFFF"/>
                    </a:solidFill>
                  </a:tcPr>
                </a:tc>
              </a:tr>
              <a:tr h="408432">
                <a:tc>
                  <a:txBody>
                    <a:bodyPr wrap="square"/>
                    <a:lstStyle/>
                    <a:p>
                      <a:r>
                        <a:rPr sz="1600" b="1">
                          <a:solidFill>
                            <a:srgbClr val="1F2A44"/>
                          </a:solidFill>
                          <a:latin typeface="Arial"/>
                          <a:ea typeface="Microsoft YaHei"/>
                        </a:rPr>
                        <a:t>over time</a:t>
                      </a:r>
                    </a:p>
                  </a:txBody>
                  <a:tcPr anchor="ctr">
                    <a:solidFill>
                      <a:srgbClr val="FFEFD9"/>
                    </a:solidFill>
                  </a:tcPr>
                </a:tc>
                <a:tc>
                  <a:txBody>
                    <a:bodyPr wrap="square"/>
                    <a:lstStyle/>
                    <a:p>
                      <a:r>
                        <a:rPr sz="1600" b="0">
                          <a:solidFill>
                            <a:srgbClr val="1F2A44"/>
                          </a:solidFill>
                          <a:latin typeface="Arial"/>
                          <a:ea typeface="Microsoft YaHei"/>
                        </a:rPr>
                        <a:t>Trust builds over time.</a:t>
                      </a:r>
                    </a:p>
                  </a:txBody>
                  <a:tcPr anchor="ctr">
                    <a:solidFill>
                      <a:srgbClr val="FFEFD9"/>
                    </a:solidFill>
                  </a:tcPr>
                </a:tc>
              </a:tr>
              <a:tr h="408432">
                <a:tc>
                  <a:txBody>
                    <a:bodyPr wrap="square"/>
                    <a:lstStyle/>
                    <a:p>
                      <a:r>
                        <a:rPr sz="1600" b="1">
                          <a:solidFill>
                            <a:srgbClr val="1F2A44"/>
                          </a:solidFill>
                          <a:latin typeface="Arial"/>
                          <a:ea typeface="Microsoft YaHei"/>
                        </a:rPr>
                        <a:t>rather than / instead of</a:t>
                      </a:r>
                    </a:p>
                  </a:txBody>
                  <a:tcPr anchor="ctr">
                    <a:solidFill>
                      <a:srgbClr val="FFFFFF"/>
                    </a:solidFill>
                  </a:tcPr>
                </a:tc>
                <a:tc>
                  <a:txBody>
                    <a:bodyPr wrap="square"/>
                    <a:lstStyle/>
                    <a:p>
                      <a:r>
                        <a:rPr sz="1600" b="0">
                          <a:solidFill>
                            <a:srgbClr val="1F2A44"/>
                          </a:solidFill>
                          <a:latin typeface="Arial"/>
                          <a:ea typeface="Microsoft YaHei"/>
                        </a:rPr>
                        <a:t>We invest rather than spend.</a:t>
                      </a:r>
                    </a:p>
                  </a:txBody>
                  <a:tcPr anchor="ctr">
                    <a:solidFill>
                      <a:srgbClr val="FFFFFF"/>
                    </a:solidFill>
                  </a:tcPr>
                </a:tc>
              </a:tr>
              <a:tr h="408432">
                <a:tc>
                  <a:txBody>
                    <a:bodyPr wrap="square"/>
                    <a:lstStyle/>
                    <a:p>
                      <a:r>
                        <a:rPr sz="1600" b="1">
                          <a:solidFill>
                            <a:srgbClr val="1F2A44"/>
                          </a:solidFill>
                          <a:latin typeface="Arial"/>
                          <a:ea typeface="Microsoft YaHei"/>
                        </a:rPr>
                        <a:t>would rather… than…</a:t>
                      </a:r>
                    </a:p>
                  </a:txBody>
                  <a:tcPr anchor="ctr">
                    <a:solidFill>
                      <a:srgbClr val="FFEFD9"/>
                    </a:solidFill>
                  </a:tcPr>
                </a:tc>
                <a:tc>
                  <a:txBody>
                    <a:bodyPr wrap="square"/>
                    <a:lstStyle/>
                    <a:p>
                      <a:r>
                        <a:rPr sz="1600" b="0">
                          <a:solidFill>
                            <a:srgbClr val="1F2A44"/>
                          </a:solidFill>
                          <a:latin typeface="Arial"/>
                          <a:ea typeface="Microsoft YaHei"/>
                        </a:rPr>
                        <a:t>We’d rather stay small than lose quality.</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long and short term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长期与短期</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Rather than + -ing / noun. Would rather + base verb + than + base verb.</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Our mission is help people.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Our mission is to help people.</a:t>
            </a:r>
          </a:p>
          <a:p>
            <a:pPr algn="l">
              <a:spcAft>
                <a:spcPts val="200"/>
              </a:spcAft>
            </a:pPr>
            <a:r>
              <a:rPr sz="1200" b="0">
                <a:solidFill>
                  <a:srgbClr val="FFFFFF"/>
                </a:solidFill>
                <a:latin typeface="Arial"/>
                <a:ea typeface="Microsoft YaHei"/>
              </a:rPr>
              <a:t>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care customers.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care about customers.</a:t>
            </a:r>
          </a:p>
          <a:p>
            <a:pPr algn="l">
              <a:spcAft>
                <a:spcPts val="200"/>
              </a:spcAft>
            </a:pPr>
            <a:r>
              <a:rPr sz="1200" b="0">
                <a:solidFill>
                  <a:srgbClr val="FFFFFF"/>
                </a:solidFill>
                <a:latin typeface="Arial"/>
                <a:ea typeface="Microsoft YaHei"/>
              </a:rPr>
              <a:t>care about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is grew fast.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grew fast.</a:t>
            </a:r>
          </a:p>
          <a:p>
            <a:pPr algn="l">
              <a:spcAft>
                <a:spcPts val="200"/>
              </a:spcAft>
            </a:pPr>
            <a:r>
              <a:rPr sz="1200" b="0">
                <a:solidFill>
                  <a:srgbClr val="FFFFFF"/>
                </a:solidFill>
                <a:latin typeface="Arial"/>
                <a:ea typeface="Microsoft YaHei"/>
              </a:rPr>
              <a:t>过去式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good culture, so people stay long.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…people stay for a long time.</a:t>
            </a:r>
          </a:p>
          <a:p>
            <a:pPr algn="l">
              <a:spcAft>
                <a:spcPts val="200"/>
              </a:spcAft>
            </a:pPr>
            <a:r>
              <a:rPr sz="1200" b="0">
                <a:solidFill>
                  <a:srgbClr val="FFFFFF"/>
                </a:solidFill>
                <a:latin typeface="Arial"/>
                <a:ea typeface="Microsoft YaHei"/>
              </a:rPr>
              <a:t>for a long time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want to be a successful.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want to be successful.</a:t>
            </a:r>
          </a:p>
          <a:p>
            <a:pPr algn="l">
              <a:spcAft>
                <a:spcPts val="200"/>
              </a:spcAft>
            </a:pPr>
            <a:r>
              <a:rPr sz="1200" b="0">
                <a:solidFill>
                  <a:srgbClr val="FFFFFF"/>
                </a:solidFill>
                <a:latin typeface="Arial"/>
                <a:ea typeface="Microsoft YaHei"/>
              </a:rPr>
              <a:t>无冠词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prefer quality than quantity.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prefer quality to quantity.</a:t>
            </a:r>
          </a:p>
          <a:p>
            <a:pPr algn="l">
              <a:spcAft>
                <a:spcPts val="200"/>
              </a:spcAft>
            </a:pPr>
            <a:r>
              <a:rPr sz="1200" b="0">
                <a:solidFill>
                  <a:srgbClr val="FFFFFF"/>
                </a:solidFill>
                <a:latin typeface="Arial"/>
                <a:ea typeface="Microsoft YaHei"/>
              </a:rPr>
              <a:t>prefer… to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care about, prefer… to, for a long time, past simple vs passive.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Values statements. Companies publish them; interviewers expect you to show you know them.</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ESG. Many firms report on environment, social impact and governance.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Say “we”. Describe your company in the plural to show belonging.</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Walk the talk. Western audiences notice a gap between words and actions.</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good company with natural phrases.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values with an example.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short- vs long-term trade-offs.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care about, prefer… to, rather than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61 Building a good company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company you admire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care about, prefer to, for a long time.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 · Lesson 62 Start an e-commerce business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300" b="1">
                <a:solidFill>
                  <a:srgbClr val="FFFFFF"/>
                </a:solidFill>
                <a:latin typeface="Arial"/>
                <a:ea typeface="Microsoft YaHei"/>
              </a:rPr>
              <a:t>Start an e-commerce business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创办电子商务企业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setting up an online store, from products and platforms to marketing and delivery.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bought anything from a small online shop?</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you trust an online shop?</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sell online?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customers abandon their baskets?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important is delivery speed?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“e-commerce” 电子商务;“abandon the basket” 放弃购物车。第 1 题现在完成时。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 would start an online business.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product</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platform</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marketing</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delivery</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customer service</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start by choosing…   💬 Next, I’d set up…   💬 To attract customers, I’d…   💬 Finally,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“I’d start by + -ing” 我会先从…开始。</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From idea to first order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Starting an online shop is easier than ever, but standing out is difficult. Most beginners follow five steps. First, choose a product with a clear audience, and check demand by looking at what people search for. Second, set up a website using a platform that handles payments and security. Third, attract visitors through search engines, social media and email, rather than relying only on paid advertising. Fourth, arrange reliable delivery and a simple returns policy, since customers dislike surprise costs. Fifth, respond to questions quickly. A common problem is “basket abandonment”, when shoppers add items but leave before paying. Reasons include high shipping fees, long checkout forms and lack of trust. Small improvements, such as showing delivery costs early, can increase the conversion rate, which is the percentage of visitors who buy.</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two reasons for basket abandonment?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High shipping fees, long checkout forms, lack of trust.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conversion rate?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percentage of visitors who buy.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arrange a simple returns policy?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Customers dislike surprise costs and want confidence to buy.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Setting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创建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online store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网店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runs an online store.”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platform</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平台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a popular platform.”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list a product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上架产品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list new products weekly.”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drop-shipping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代发货模式</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sells through drop-shipping.”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niche market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细分市场</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target a niche market.”</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Customers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顾客</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conversion rate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转化率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conversion rate is 3 per cent.”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abandoned basket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被放弃的购物车</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“Abandoned baskets cost us sales.”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checkout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结账</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checkout is simple.”</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customer acquisition cost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获客成本</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customer acquisition cost is rising.”</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repeat customers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回头客</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“Repeat customers drive profit.”</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Delivery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配送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fulfil an order</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履行订单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fulfil orders within 24 hours.”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shipping fee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运费</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“Free shipping boosts sales.”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return policy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退货政策</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return policy is generous.”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last-mile delivery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最后一公里配送</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“Last-mile delivery is costly.”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stock-out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缺货</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stock-out loses sales.”</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退货政策</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 policy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履行订单</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fulfil an order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结账</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checkout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转化率</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conversion rate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细分市场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niche market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回头客</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repeat customers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平台</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platform</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获客成本</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customer acquisition cost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platform</a:t>
            </a:r>
          </a:p>
        </p:txBody>
      </p:sp>
      <p:sp>
        <p:nvSpPr>
          <p:cNvPr id="10" name="Rounded Rectangle 9"/>
          <p:cNvSpPr/>
          <p:nvPr/>
        </p:nvSpPr>
        <p:spPr>
          <a:xfrm>
            <a:off x="3346704"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list</a:t>
            </a:r>
          </a:p>
        </p:txBody>
      </p:sp>
      <p:sp>
        <p:nvSpPr>
          <p:cNvPr id="11" name="Rounded Rectangle 10"/>
          <p:cNvSpPr/>
          <p:nvPr/>
        </p:nvSpPr>
        <p:spPr>
          <a:xfrm>
            <a:off x="4242816"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conversion</a:t>
            </a:r>
          </a:p>
        </p:txBody>
      </p:sp>
      <p:sp>
        <p:nvSpPr>
          <p:cNvPr id="12" name="Rounded Rectangle 11"/>
          <p:cNvSpPr/>
          <p:nvPr/>
        </p:nvSpPr>
        <p:spPr>
          <a:xfrm>
            <a:off x="5797296"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basket</a:t>
            </a:r>
          </a:p>
        </p:txBody>
      </p:sp>
      <p:sp>
        <p:nvSpPr>
          <p:cNvPr id="13" name="Rounded Rectangle 12"/>
          <p:cNvSpPr/>
          <p:nvPr/>
        </p:nvSpPr>
        <p:spPr>
          <a:xfrm>
            <a:off x="6912864"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shipping</a:t>
            </a:r>
          </a:p>
        </p:txBody>
      </p:sp>
      <p:sp>
        <p:nvSpPr>
          <p:cNvPr id="14" name="Rounded Rectangle 13"/>
          <p:cNvSpPr/>
          <p:nvPr/>
        </p:nvSpPr>
        <p:spPr>
          <a:xfrm>
            <a:off x="8247888"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return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use a popular e-commerce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platform</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_______ new products every week.</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list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Our _______ rate is 3 per cent.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conversion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Many customers abandon their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basket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Free _______ boosts sales.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shipping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Our _______ policy is generous.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run / set up an online store, place an order, fulfil an order;e-commerce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Planning an online shop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规划网店</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friends plan a business.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Friend 2</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Planning an online shop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start by choosing a niche product. Maybe eco-friendly pet toys.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Is there demand?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checked searches. There’s a steady interest.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platform?</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use a platform that handles payments, so setup is easy.</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will you attract customers?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Through social media and email. Not just paid ads.</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sensible. What about delivery?</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Planning an online shop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plan an online shop.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Planner. Product: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asking questions.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start by… · niche · conversion rate · platform · shipping</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steps and answer two questions.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pricing.</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Estimate costs.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a launch.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Fixing basket abandonment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解决购物车放弃问题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analyse a sales problem.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Owner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Consultant</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Fixing basket abandonment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Many customers add items but never pay. Why?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show shipping costs early?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only at checkout.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common reason. Surprise costs make people leave.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else?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your checkout simple? Long forms drive people away.</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has eight fields.</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Reduce it to four, and show shipping costs on the product page.</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Fixing basket abandonment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diagnose an online sales problem.</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Owner.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Consultant. Problem: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abandon · surprise costs · checkout · conversion rate · reduce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Find causes and suggest three fixes.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trust signals.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discount carefully.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Propose an A/B test.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buy from a new online shop?</a:t>
            </a:r>
          </a:p>
          <a:p>
            <a:pPr algn="l">
              <a:lnSpc>
                <a:spcPct val="115000"/>
              </a:lnSpc>
              <a:spcAft>
                <a:spcPts val="800"/>
              </a:spcAft>
            </a:pPr>
            <a:r>
              <a:rPr sz="1400" b="0">
                <a:solidFill>
                  <a:srgbClr val="5F677A"/>
                </a:solidFill>
                <a:latin typeface="Arial"/>
                <a:ea typeface="Microsoft YaHei"/>
              </a:rPr>
              <a:t>💬 “Only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website trustworthy?</a:t>
            </a:r>
          </a:p>
          <a:p>
            <a:pPr algn="l">
              <a:lnSpc>
                <a:spcPct val="115000"/>
              </a:lnSpc>
              <a:spcAft>
                <a:spcPts val="800"/>
              </a:spcAft>
            </a:pPr>
            <a:r>
              <a:rPr sz="1400" b="0">
                <a:solidFill>
                  <a:srgbClr val="5F677A"/>
                </a:solidFill>
                <a:latin typeface="Arial"/>
                <a:ea typeface="Microsoft YaHei"/>
              </a:rPr>
              <a:t>💬 “Clear contact details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social media better than search for marketing?</a:t>
            </a:r>
          </a:p>
          <a:p>
            <a:pPr algn="l">
              <a:lnSpc>
                <a:spcPct val="115000"/>
              </a:lnSpc>
              <a:spcAft>
                <a:spcPts val="800"/>
              </a:spcAft>
            </a:pPr>
            <a:r>
              <a:rPr sz="1400" b="0">
                <a:solidFill>
                  <a:srgbClr val="5F677A"/>
                </a:solidFill>
                <a:latin typeface="Arial"/>
                <a:ea typeface="Microsoft YaHei"/>
              </a:rPr>
              <a:t>💬 “It depends on…”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shipping be free?</a:t>
            </a:r>
          </a:p>
          <a:p>
            <a:pPr algn="l">
              <a:lnSpc>
                <a:spcPct val="115000"/>
              </a:lnSpc>
              <a:spcAft>
                <a:spcPts val="800"/>
              </a:spcAft>
            </a:pPr>
            <a:r>
              <a:rPr sz="1400" b="0">
                <a:solidFill>
                  <a:srgbClr val="5F677A"/>
                </a:solidFill>
                <a:latin typeface="Arial"/>
                <a:ea typeface="Microsoft YaHei"/>
              </a:rPr>
              <a:t>💬 “I think …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starting an online business?</a:t>
            </a:r>
          </a:p>
          <a:p>
            <a:pPr algn="l">
              <a:lnSpc>
                <a:spcPct val="115000"/>
              </a:lnSpc>
              <a:spcAft>
                <a:spcPts val="800"/>
              </a:spcAft>
            </a:pPr>
            <a:r>
              <a:rPr sz="1400" b="0">
                <a:solidFill>
                  <a:srgbClr val="5F677A"/>
                </a:solidFill>
                <a:latin typeface="Arial"/>
                <a:ea typeface="Microsoft YaHei"/>
              </a:rPr>
              <a:t>💬 “One risk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buy only if the shop looks professional and there are real reviews. I’d also check the return policy and contact details. If something seems unclear, I’d buy a small item first. Once the shop proves reliable, I’d feel comfortable buying more.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“once + 一般现在时” 一旦…就…;“proves reliable” 证明可靠。</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steps and conditions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描述步骤与条件</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First, … Then, … Finally, …</a:t>
                      </a:r>
                    </a:p>
                  </a:txBody>
                  <a:tcPr anchor="ctr">
                    <a:solidFill>
                      <a:srgbClr val="FFFFFF"/>
                    </a:solidFill>
                  </a:tcPr>
                </a:tc>
                <a:tc>
                  <a:txBody>
                    <a:bodyPr wrap="square"/>
                    <a:lstStyle/>
                    <a:p>
                      <a:r>
                        <a:rPr sz="1600" b="0">
                          <a:solidFill>
                            <a:srgbClr val="1F2A44"/>
                          </a:solidFill>
                          <a:latin typeface="Arial"/>
                          <a:ea typeface="Microsoft YaHei"/>
                        </a:rPr>
                        <a:t>First, choose a product. Then, set up a site.</a:t>
                      </a:r>
                    </a:p>
                  </a:txBody>
                  <a:tcPr anchor="ctr">
                    <a:solidFill>
                      <a:srgbClr val="FFFFFF"/>
                    </a:solidFill>
                  </a:tcPr>
                </a:tc>
              </a:tr>
              <a:tr h="408432">
                <a:tc>
                  <a:txBody>
                    <a:bodyPr wrap="square"/>
                    <a:lstStyle/>
                    <a:p>
                      <a:r>
                        <a:rPr sz="1600" b="1">
                          <a:solidFill>
                            <a:srgbClr val="1F2A44"/>
                          </a:solidFill>
                          <a:latin typeface="Arial"/>
                          <a:ea typeface="Microsoft YaHei"/>
                        </a:rPr>
                        <a:t>If + present, will + base</a:t>
                      </a:r>
                    </a:p>
                  </a:txBody>
                  <a:tcPr anchor="ctr">
                    <a:solidFill>
                      <a:srgbClr val="FFEFD9"/>
                    </a:solidFill>
                  </a:tcPr>
                </a:tc>
                <a:tc>
                  <a:txBody>
                    <a:bodyPr wrap="square"/>
                    <a:lstStyle/>
                    <a:p>
                      <a:r>
                        <a:rPr sz="1600" b="0">
                          <a:solidFill>
                            <a:srgbClr val="1F2A44"/>
                          </a:solidFill>
                          <a:latin typeface="Arial"/>
                          <a:ea typeface="Microsoft YaHei"/>
                        </a:rPr>
                        <a:t>If shipping is free, more people will buy.</a:t>
                      </a:r>
                    </a:p>
                  </a:txBody>
                  <a:tcPr anchor="ctr">
                    <a:solidFill>
                      <a:srgbClr val="FFEFD9"/>
                    </a:solidFill>
                  </a:tcPr>
                </a:tc>
              </a:tr>
              <a:tr h="408432">
                <a:tc>
                  <a:txBody>
                    <a:bodyPr wrap="square"/>
                    <a:lstStyle/>
                    <a:p>
                      <a:r>
                        <a:rPr sz="1600" b="1">
                          <a:solidFill>
                            <a:srgbClr val="1F2A44"/>
                          </a:solidFill>
                          <a:latin typeface="Arial"/>
                          <a:ea typeface="Microsoft YaHei"/>
                        </a:rPr>
                        <a:t>Unless</a:t>
                      </a:r>
                    </a:p>
                  </a:txBody>
                  <a:tcPr anchor="ctr">
                    <a:solidFill>
                      <a:srgbClr val="FFFFFF"/>
                    </a:solidFill>
                  </a:tcPr>
                </a:tc>
                <a:tc>
                  <a:txBody>
                    <a:bodyPr wrap="square"/>
                    <a:lstStyle/>
                    <a:p>
                      <a:r>
                        <a:rPr sz="1600" b="0">
                          <a:solidFill>
                            <a:srgbClr val="1F2A44"/>
                          </a:solidFill>
                          <a:latin typeface="Arial"/>
                          <a:ea typeface="Microsoft YaHei"/>
                        </a:rPr>
                        <a:t>Unless the checkout is simple, people will leave.</a:t>
                      </a:r>
                    </a:p>
                  </a:txBody>
                  <a:tcPr anchor="ctr">
                    <a:solidFill>
                      <a:srgbClr val="FFFFFF"/>
                    </a:solidFill>
                  </a:tcPr>
                </a:tc>
              </a:tr>
              <a:tr h="408432">
                <a:tc>
                  <a:txBody>
                    <a:bodyPr wrap="square"/>
                    <a:lstStyle/>
                    <a:p>
                      <a:r>
                        <a:rPr sz="1600" b="1">
                          <a:solidFill>
                            <a:srgbClr val="1F2A44"/>
                          </a:solidFill>
                          <a:latin typeface="Arial"/>
                          <a:ea typeface="Microsoft YaHei"/>
                        </a:rPr>
                        <a:t>as long as</a:t>
                      </a:r>
                    </a:p>
                  </a:txBody>
                  <a:tcPr anchor="ctr">
                    <a:solidFill>
                      <a:srgbClr val="FFEFD9"/>
                    </a:solidFill>
                  </a:tcPr>
                </a:tc>
                <a:tc>
                  <a:txBody>
                    <a:bodyPr wrap="square"/>
                    <a:lstStyle/>
                    <a:p>
                      <a:r>
                        <a:rPr sz="1600" b="0">
                          <a:solidFill>
                            <a:srgbClr val="1F2A44"/>
                          </a:solidFill>
                          <a:latin typeface="Arial"/>
                          <a:ea typeface="Microsoft YaHei"/>
                        </a:rPr>
                        <a:t>I’ll buy as long as I can return it.</a:t>
                      </a:r>
                    </a:p>
                  </a:txBody>
                  <a:tcPr anchor="ctr">
                    <a:solidFill>
                      <a:srgbClr val="FFEFD9"/>
                    </a:solidFill>
                  </a:tcPr>
                </a:tc>
              </a:tr>
            </a:tbl>
          </a:graphicData>
        </a:graphic>
      </p:graphicFrame>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steps and conditions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描述步骤与条件</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In conditionals with if / unless / as long as / once, use the present simple for future meaning.</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the checkout will be simple, people will buy.</a:t>
            </a:r>
          </a:p>
        </p:txBody>
      </p:sp>
      <p:sp>
        <p:nvSpPr>
          <p:cNvPr id="10" name="Rounded Rectangle 9"/>
          <p:cNvSpPr/>
          <p:nvPr/>
        </p:nvSpPr>
        <p:spPr>
          <a:xfrm>
            <a:off x="6187287" y="1463040"/>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the checkout is simple, people will buy.</a:t>
            </a:r>
          </a:p>
          <a:p>
            <a:pPr algn="l">
              <a:spcAft>
                <a:spcPts val="200"/>
              </a:spcAft>
            </a:pPr>
            <a:r>
              <a:rPr sz="1200" b="0">
                <a:solidFill>
                  <a:srgbClr val="FFFFFF"/>
                </a:solidFill>
                <a:latin typeface="Arial"/>
                <a:ea typeface="Microsoft YaHei"/>
              </a:rPr>
              <a:t>条件句用现在时</a:t>
            </a:r>
          </a:p>
        </p:txBody>
      </p:sp>
      <p:sp>
        <p:nvSpPr>
          <p:cNvPr id="11" name="Rounded Rectangle 10"/>
          <p:cNvSpPr/>
          <p:nvPr/>
        </p:nvSpPr>
        <p:spPr>
          <a:xfrm>
            <a:off x="548640" y="2225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sell on the internet shop.</a:t>
            </a:r>
          </a:p>
        </p:txBody>
      </p:sp>
      <p:sp>
        <p:nvSpPr>
          <p:cNvPr id="12" name="Rounded Rectangle 11"/>
          <p:cNvSpPr/>
          <p:nvPr/>
        </p:nvSpPr>
        <p:spPr>
          <a:xfrm>
            <a:off x="6187287" y="2225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sell in an online shop.</a:t>
            </a:r>
          </a:p>
          <a:p>
            <a:pPr algn="l">
              <a:spcAft>
                <a:spcPts val="200"/>
              </a:spcAft>
            </a:pPr>
            <a:r>
              <a:rPr sz="1200" b="0">
                <a:solidFill>
                  <a:srgbClr val="FFFFFF"/>
                </a:solidFill>
                <a:latin typeface="Arial"/>
                <a:ea typeface="Microsoft YaHei"/>
              </a:rPr>
              <a:t>online shop</a:t>
            </a:r>
          </a:p>
        </p:txBody>
      </p:sp>
      <p:sp>
        <p:nvSpPr>
          <p:cNvPr id="13" name="Rounded Rectangle 12"/>
          <p:cNvSpPr/>
          <p:nvPr/>
        </p:nvSpPr>
        <p:spPr>
          <a:xfrm>
            <a:off x="548640" y="2926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make a delivery the order.</a:t>
            </a:r>
          </a:p>
        </p:txBody>
      </p:sp>
      <p:sp>
        <p:nvSpPr>
          <p:cNvPr id="14" name="Rounded Rectangle 13"/>
          <p:cNvSpPr/>
          <p:nvPr/>
        </p:nvSpPr>
        <p:spPr>
          <a:xfrm>
            <a:off x="6187287" y="2926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deliver the order.</a:t>
            </a:r>
          </a:p>
          <a:p>
            <a:pPr algn="l">
              <a:spcAft>
                <a:spcPts val="200"/>
              </a:spcAft>
            </a:pPr>
            <a:r>
              <a:rPr sz="1200" b="0">
                <a:solidFill>
                  <a:srgbClr val="FFFFFF"/>
                </a:solidFill>
                <a:latin typeface="Arial"/>
                <a:ea typeface="Microsoft YaHei"/>
              </a:rPr>
              <a:t>动词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customers are abandoning theirs baskets.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Customers are abandoning their baskets.</a:t>
            </a:r>
          </a:p>
          <a:p>
            <a:pPr algn="l">
              <a:spcAft>
                <a:spcPts val="200"/>
              </a:spcAft>
            </a:pPr>
            <a:r>
              <a:rPr sz="1200" b="0">
                <a:solidFill>
                  <a:srgbClr val="FFFFFF"/>
                </a:solidFill>
                <a:latin typeface="Arial"/>
                <a:ea typeface="Microsoft YaHei"/>
              </a:rPr>
              <a:t>their</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buy unless it doesn’t have reviews.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won’t buy unless it has reviews.</a:t>
            </a:r>
          </a:p>
          <a:p>
            <a:pPr algn="l">
              <a:spcAft>
                <a:spcPts val="200"/>
              </a:spcAft>
            </a:pPr>
            <a:r>
              <a:rPr sz="1200" b="0">
                <a:solidFill>
                  <a:srgbClr val="FFFFFF"/>
                </a:solidFill>
                <a:latin typeface="Arial"/>
                <a:ea typeface="Microsoft YaHei"/>
              </a:rPr>
              <a:t>unless 已含否定</a:t>
            </a:r>
          </a:p>
        </p:txBody>
      </p:sp>
      <p:sp>
        <p:nvSpPr>
          <p:cNvPr id="13" name="Rounded Rectangle 12"/>
          <p:cNvSpPr/>
          <p:nvPr/>
        </p:nvSpPr>
        <p:spPr>
          <a:xfrm>
            <a:off x="548640" y="2865118"/>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are many competitors in e-commerce market.</a:t>
            </a:r>
          </a:p>
        </p:txBody>
      </p:sp>
      <p:sp>
        <p:nvSpPr>
          <p:cNvPr id="14" name="Rounded Rectangle 13"/>
          <p:cNvSpPr/>
          <p:nvPr/>
        </p:nvSpPr>
        <p:spPr>
          <a:xfrm>
            <a:off x="6187287" y="2865118"/>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the e-commerce market.</a:t>
            </a:r>
          </a:p>
          <a:p>
            <a:pPr algn="l">
              <a:spcAft>
                <a:spcPts val="200"/>
              </a:spcAft>
            </a:pPr>
            <a:r>
              <a:rPr sz="1200" b="0">
                <a:solidFill>
                  <a:srgbClr val="FFFFFF"/>
                </a:solidFill>
                <a:latin typeface="Arial"/>
                <a:ea typeface="Microsoft YaHei"/>
              </a:rPr>
              <a:t>the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present simple in conditionals, unless (already negative), the market.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Reviews matter. Customers read ratings; respond politely to negative ones.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Returns are expected. Free returns are common in many markets.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Data privacy. Rules such as GDPR require care with customer data.</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Peak seasons. Prepare for Black Friday, Singles’ Day and holidays.</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the steps of an e-commerce business.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conversion and basket problems.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improvements with conditionals.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present simple after if / unless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62 Start an e-commerce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Plan an online shop in five sentences using first, then, finally.</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conditional present, unless, the market.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 · Lesson 63 Choosing between red and blue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100" b="1">
                <a:solidFill>
                  <a:srgbClr val="FFFFFF"/>
                </a:solidFill>
                <a:latin typeface="Arial"/>
                <a:ea typeface="Microsoft YaHei"/>
              </a:rPr>
              <a:t>Choosing between red and blue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在红海与蓝海之间选择</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“red ocean” and “blue ocean” strategies and compare them for a given business.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your industry crowded or open?</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your company do differently from its competitors?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compete on price or on something else?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you think of a business that created a new market?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riskier to compete or to innovate?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“red ocean” 红海:竞争激烈的现有市场;“blue ocean” 蓝海:尚未开发的新市场。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Compare competing in an existing market with creating a new one.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red ocean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blue ocean</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advantages/risks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choice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a red ocean, companies…   💬 A blue ocean means…   💬 The risk is…   💬 I’d choose… because…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“compete on price” 靠价格竞争;“make the competition irrelevant” 让竞争失去意义。</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Crowded waters or open seas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The terms “red ocean” and “blue ocean” describe two strategic choices. In a red ocean, many companies fight for the same customers in an existing market, so prices fall and margins shrink. The water turns red with competition. In a blue ocean, a company creates a new space where competition is small or absent, often by combining ideas from different industries or by serving customers that others ignore. A well-known example is a fitness chain that opened low-cost gyms for people who were not regular gym users. The advantage is higher profit and growth. The difficulty is that a new market may be uncertain, and successful ideas are soon copied. Most companies need both: skills to compete today and the imagination to look for new opportunities.</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happens in a red ocean?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Many companies fight for the same customers; prices fall and margins shrink.</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can companies create a blue ocean?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combining ideas from different industries or serving ignored customers.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difficulty with a blue ocean?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market may be uncertain and ideas are soon copied.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Competition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竞争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red ocean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红海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red ocean with many rivals.”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crowded market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拥挤市场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crowded market.”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price war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价格战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price war hurt margins.”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race to the bottom</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恶性降价竞争</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became a race to the bottom.”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margins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利润率</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“Margins are shrinking.”</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New markets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新市场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blue ocean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蓝海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found a blue ocean.”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untapped market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未开发市场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an untapped market.”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differentiate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差异化</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differentiate through service.”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create a category</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开创品类</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created a new category.”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first-mover advantage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先发优势</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“First-mover advantage is not guaranteed.”</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Strategy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战略</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compete on price / quality</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靠价格/质量竞争</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compete on quality.”</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value proposition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价值主张</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value proposition is clear.”</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niche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细分领域</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found a niche.”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the competition irrelevant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使竞争失去意义</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“Aim to make the competition irrelevant.”</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copycats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模仿者</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“Copycats followed quickly.”</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先发优势</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first-mover advantage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靠价格/质量竞争</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compete on price / quality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蓝海</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blue ocean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未开发市场</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untapped market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红海</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 ocean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价值主张</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 proposition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利润率</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margins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恶性降价竞争</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race to the bottom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red</a:t>
            </a:r>
          </a:p>
        </p:txBody>
      </p:sp>
      <p:sp>
        <p:nvSpPr>
          <p:cNvPr id="10" name="Rounded Rectangle 9"/>
          <p:cNvSpPr/>
          <p:nvPr/>
        </p:nvSpPr>
        <p:spPr>
          <a:xfrm>
            <a:off x="2798064"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war</a:t>
            </a:r>
          </a:p>
        </p:txBody>
      </p:sp>
      <p:sp>
        <p:nvSpPr>
          <p:cNvPr id="11" name="Rounded Rectangle 10"/>
          <p:cNvSpPr/>
          <p:nvPr/>
        </p:nvSpPr>
        <p:spPr>
          <a:xfrm>
            <a:off x="3584448" y="987552"/>
            <a:ext cx="179222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differentiate</a:t>
            </a:r>
          </a:p>
        </p:txBody>
      </p:sp>
      <p:sp>
        <p:nvSpPr>
          <p:cNvPr id="12" name="Rounded Rectangle 11"/>
          <p:cNvSpPr/>
          <p:nvPr/>
        </p:nvSpPr>
        <p:spPr>
          <a:xfrm>
            <a:off x="5468112"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untapped</a:t>
            </a:r>
          </a:p>
        </p:txBody>
      </p:sp>
      <p:sp>
        <p:nvSpPr>
          <p:cNvPr id="13" name="Rounded Rectangle 12"/>
          <p:cNvSpPr/>
          <p:nvPr/>
        </p:nvSpPr>
        <p:spPr>
          <a:xfrm>
            <a:off x="6803136"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value</a:t>
            </a:r>
          </a:p>
        </p:txBody>
      </p:sp>
      <p:sp>
        <p:nvSpPr>
          <p:cNvPr id="14" name="Rounded Rectangle 13"/>
          <p:cNvSpPr/>
          <p:nvPr/>
        </p:nvSpPr>
        <p:spPr>
          <a:xfrm>
            <a:off x="780897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niche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coffee market is a _______ ocean.</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price _______ hurt everyone’s margins.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_______ ourselves through service.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differentiate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There’s an _______ market for older users.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untapped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Our _______ proposition is simple.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found a profitable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niche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compete ON price, compete WITH rivals, differentiate FROM competitors。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Discussing strategy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讨论战略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Managers discuss market choice.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 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Discussing strategy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in a red ocean. Three competitors keep cutting prices.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Margins are shrinking. We can’t win a price war.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we looked for a blue ocean?</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Like what?</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Discussing strategy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Customers who don’t buy from us now, such as older users who find our app too complicated.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 untapped market. That could work.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risk is that it takes time and money.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test with a small pilot.</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Discussing strategy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compare strategies.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Industry: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red ocean · price war · margins · untapped market · pilot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problem, propose a new market and discuss a risk.</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differentiator.</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Estimate market size.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a test.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Explaining to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向客户解释</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describe your unique value.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Client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Explaining to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 are plenty of cleaning companies. Why choose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don’t compete on price. We offer eco-friendly cleaning for offices.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there demand?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Many firms want greener options, and few suppliers offer them.</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Explaining to a client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it more expensive?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Slightly, but clients value the benefits and we’ve kept our customers for years.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Can I see a sample plan?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Explaining to a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differentiation.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Offering: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compete on price · value proposition · few suppliers · greener · sample plan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what makes you different and handle a price question.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Quote evidence.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with a competitor.</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trial.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your industry a red or blue ocean?</a:t>
            </a:r>
          </a:p>
          <a:p>
            <a:pPr algn="l">
              <a:lnSpc>
                <a:spcPct val="115000"/>
              </a:lnSpc>
              <a:spcAft>
                <a:spcPts val="800"/>
              </a:spcAft>
            </a:pPr>
            <a:r>
              <a:rPr sz="1400" b="0">
                <a:solidFill>
                  <a:srgbClr val="5F677A"/>
                </a:solidFill>
                <a:latin typeface="Arial"/>
                <a:ea typeface="Microsoft YaHei"/>
              </a:rPr>
              <a:t>💬 “I’d say it’s…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 small business find a blue ocean?</a:t>
            </a:r>
          </a:p>
          <a:p>
            <a:pPr algn="l">
              <a:lnSpc>
                <a:spcPct val="115000"/>
              </a:lnSpc>
              <a:spcAft>
                <a:spcPts val="800"/>
              </a:spcAft>
            </a:pPr>
            <a:r>
              <a:rPr sz="1400" b="0">
                <a:solidFill>
                  <a:srgbClr val="5F677A"/>
                </a:solidFill>
                <a:latin typeface="Arial"/>
                <a:ea typeface="Microsoft YaHei"/>
              </a:rPr>
              <a:t>💬 “Yes, by…”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entering a new market?</a:t>
            </a:r>
          </a:p>
          <a:p>
            <a:pPr algn="l">
              <a:lnSpc>
                <a:spcPct val="115000"/>
              </a:lnSpc>
              <a:spcAft>
                <a:spcPts val="800"/>
              </a:spcAft>
            </a:pPr>
            <a:r>
              <a:rPr sz="1400" b="0">
                <a:solidFill>
                  <a:srgbClr val="5F677A"/>
                </a:solidFill>
                <a:latin typeface="Arial"/>
                <a:ea typeface="Microsoft YaHei"/>
              </a:rPr>
              <a:t>💬 “The main risk is…”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price competition ever a good idea?</a:t>
            </a:r>
          </a:p>
          <a:p>
            <a:pPr algn="l">
              <a:lnSpc>
                <a:spcPct val="115000"/>
              </a:lnSpc>
              <a:spcAft>
                <a:spcPts val="800"/>
              </a:spcAft>
            </a:pPr>
            <a:r>
              <a:rPr sz="1400" b="0">
                <a:solidFill>
                  <a:srgbClr val="5F677A"/>
                </a:solidFill>
                <a:latin typeface="Arial"/>
                <a:ea typeface="Microsoft YaHei"/>
              </a:rPr>
              <a:t>💬 “It can be, if…”</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company created a new market?</a:t>
            </a:r>
          </a:p>
          <a:p>
            <a:pPr algn="l">
              <a:lnSpc>
                <a:spcPct val="115000"/>
              </a:lnSpc>
              <a:spcAft>
                <a:spcPts val="800"/>
              </a:spcAft>
            </a:pPr>
            <a:r>
              <a:rPr sz="1400" b="0">
                <a:solidFill>
                  <a:srgbClr val="5F677A"/>
                </a:solidFill>
                <a:latin typeface="Arial"/>
                <a:ea typeface="Microsoft YaHei"/>
              </a:rPr>
              <a:t>💬 “One example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small business can find a blue ocean by focusing on a specific group that big companies ignore. For example, a bakery can specialise in allergy-free cakes. The market is small, but the customers are loyal. It’s easier than competing with a big supermarket on price.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“specialise in” 专攻;“ignore” 忽视。</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Comparing strategies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比较策略</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652272">
                <a:tc>
                  <a:txBody>
                    <a:bodyPr wrap="square"/>
                    <a:lstStyle/>
                    <a:p>
                      <a:r>
                        <a:rPr sz="1600" b="1">
                          <a:solidFill>
                            <a:srgbClr val="1F2A44"/>
                          </a:solidFill>
                          <a:latin typeface="Arial"/>
                          <a:ea typeface="Microsoft YaHei"/>
                        </a:rPr>
                        <a:t>whereas</a:t>
                      </a:r>
                    </a:p>
                  </a:txBody>
                  <a:tcPr anchor="ctr">
                    <a:solidFill>
                      <a:srgbClr val="FFFFFF"/>
                    </a:solidFill>
                  </a:tcPr>
                </a:tc>
                <a:tc>
                  <a:txBody>
                    <a:bodyPr wrap="square"/>
                    <a:lstStyle/>
                    <a:p>
                      <a:r>
                        <a:rPr sz="1600" b="0">
                          <a:solidFill>
                            <a:srgbClr val="1F2A44"/>
                          </a:solidFill>
                          <a:latin typeface="Arial"/>
                          <a:ea typeface="Microsoft YaHei"/>
                        </a:rPr>
                        <a:t>Red oceans are crowded, whereas blue oceans are open.</a:t>
                      </a:r>
                    </a:p>
                  </a:txBody>
                  <a:tcPr anchor="ctr">
                    <a:solidFill>
                      <a:srgbClr val="FFFFFF"/>
                    </a:solidFill>
                  </a:tcPr>
                </a:tc>
              </a:tr>
              <a:tr h="408432">
                <a:tc>
                  <a:txBody>
                    <a:bodyPr wrap="square"/>
                    <a:lstStyle/>
                    <a:p>
                      <a:r>
                        <a:rPr sz="1600" b="1">
                          <a:solidFill>
                            <a:srgbClr val="1F2A44"/>
                          </a:solidFill>
                          <a:latin typeface="Arial"/>
                          <a:ea typeface="Microsoft YaHei"/>
                        </a:rPr>
                        <a:t>in contrast / by contrast</a:t>
                      </a:r>
                    </a:p>
                  </a:txBody>
                  <a:tcPr anchor="ctr">
                    <a:solidFill>
                      <a:srgbClr val="FFEFD9"/>
                    </a:solidFill>
                  </a:tcPr>
                </a:tc>
                <a:tc>
                  <a:txBody>
                    <a:bodyPr wrap="square"/>
                    <a:lstStyle/>
                    <a:p>
                      <a:r>
                        <a:rPr sz="1600" b="0">
                          <a:solidFill>
                            <a:srgbClr val="1F2A44"/>
                          </a:solidFill>
                          <a:latin typeface="Arial"/>
                          <a:ea typeface="Microsoft YaHei"/>
                        </a:rPr>
                        <a:t>In contrast, blue oceans are less certain.</a:t>
                      </a:r>
                    </a:p>
                  </a:txBody>
                  <a:tcPr anchor="ctr">
                    <a:solidFill>
                      <a:srgbClr val="FFEFD9"/>
                    </a:solidFill>
                  </a:tcPr>
                </a:tc>
              </a:tr>
              <a:tr h="408432">
                <a:tc>
                  <a:txBody>
                    <a:bodyPr wrap="square"/>
                    <a:lstStyle/>
                    <a:p>
                      <a:r>
                        <a:rPr sz="1600" b="1">
                          <a:solidFill>
                            <a:srgbClr val="1F2A44"/>
                          </a:solidFill>
                          <a:latin typeface="Arial"/>
                          <a:ea typeface="Microsoft YaHei"/>
                        </a:rPr>
                        <a:t>compared with</a:t>
                      </a:r>
                    </a:p>
                  </a:txBody>
                  <a:tcPr anchor="ctr">
                    <a:solidFill>
                      <a:srgbClr val="FFFFFF"/>
                    </a:solidFill>
                  </a:tcPr>
                </a:tc>
                <a:tc>
                  <a:txBody>
                    <a:bodyPr wrap="square"/>
                    <a:lstStyle/>
                    <a:p>
                      <a:r>
                        <a:rPr sz="1600" b="0">
                          <a:solidFill>
                            <a:srgbClr val="1F2A44"/>
                          </a:solidFill>
                          <a:latin typeface="Arial"/>
                          <a:ea typeface="Microsoft YaHei"/>
                        </a:rPr>
                        <a:t>Compared with price wars, niches are safer.</a:t>
                      </a:r>
                    </a:p>
                  </a:txBody>
                  <a:tcPr anchor="ctr">
                    <a:solidFill>
                      <a:srgbClr val="FFFFFF"/>
                    </a:solidFill>
                  </a:tcPr>
                </a:tc>
              </a:tr>
              <a:tr h="408432">
                <a:tc>
                  <a:txBody>
                    <a:bodyPr wrap="square"/>
                    <a:lstStyle/>
                    <a:p>
                      <a:r>
                        <a:rPr sz="1600" b="1">
                          <a:solidFill>
                            <a:srgbClr val="1F2A44"/>
                          </a:solidFill>
                          <a:latin typeface="Arial"/>
                          <a:ea typeface="Microsoft YaHei"/>
                        </a:rPr>
                        <a:t>the more… the less…</a:t>
                      </a:r>
                    </a:p>
                  </a:txBody>
                  <a:tcPr anchor="ctr">
                    <a:solidFill>
                      <a:srgbClr val="FFEFD9"/>
                    </a:solidFill>
                  </a:tcPr>
                </a:tc>
                <a:tc>
                  <a:txBody>
                    <a:bodyPr wrap="square"/>
                    <a:lstStyle/>
                    <a:p>
                      <a:r>
                        <a:rPr sz="1600" b="0">
                          <a:solidFill>
                            <a:srgbClr val="1F2A44"/>
                          </a:solidFill>
                          <a:latin typeface="Arial"/>
                          <a:ea typeface="Microsoft YaHei"/>
                        </a:rPr>
                        <a:t>The more crowded the market, the lower the margins.</a:t>
                      </a:r>
                    </a:p>
                  </a:txBody>
                  <a:tcPr anchor="ctr">
                    <a:solidFill>
                      <a:srgbClr val="FFEFD9"/>
                    </a:solidFill>
                  </a:tcPr>
                </a:tc>
              </a:tr>
            </a:tbl>
          </a:graphicData>
        </a:graphic>
      </p:graphicFrame>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Comparing strategies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比较策略</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Whereas and while start a contrast clause; in contrast and however begin a new sentence.</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compete in price.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compete on price.</a:t>
            </a:r>
          </a:p>
          <a:p>
            <a:pPr algn="l">
              <a:spcAft>
                <a:spcPts val="200"/>
              </a:spcAft>
            </a:pPr>
            <a:r>
              <a:rPr sz="1200" b="0">
                <a:solidFill>
                  <a:srgbClr val="FFFFFF"/>
                </a:solidFill>
                <a:latin typeface="Arial"/>
                <a:ea typeface="Microsoft YaHei"/>
              </a:rPr>
              <a:t>on price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market is very concurrence.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market is very competitive.</a:t>
            </a:r>
          </a:p>
          <a:p>
            <a:pPr algn="l">
              <a:spcAft>
                <a:spcPts val="200"/>
              </a:spcAft>
            </a:pPr>
            <a:r>
              <a:rPr sz="1200" b="0">
                <a:solidFill>
                  <a:srgbClr val="FFFFFF"/>
                </a:solidFill>
                <a:latin typeface="Arial"/>
                <a:ea typeface="Microsoft YaHei"/>
              </a:rPr>
              <a:t>词汇</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Competitors lower the prices, therefore the profit decreases.</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…prices, so profit decreases. / …prices. Therefore, profit decreases.</a:t>
            </a:r>
          </a:p>
          <a:p>
            <a:pPr algn="l">
              <a:spcAft>
                <a:spcPts val="200"/>
              </a:spcAft>
            </a:pPr>
            <a:r>
              <a:rPr sz="1200" b="0">
                <a:solidFill>
                  <a:srgbClr val="FFFFFF"/>
                </a:solidFill>
                <a:latin typeface="Arial"/>
                <a:ea typeface="Microsoft YaHei"/>
              </a:rPr>
              <a:t>标点</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differentiate to others.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differentiate ourselves from others.</a:t>
            </a:r>
          </a:p>
          <a:p>
            <a:pPr algn="l">
              <a:spcAft>
                <a:spcPts val="200"/>
              </a:spcAft>
            </a:pPr>
            <a:r>
              <a:rPr sz="1200" b="0">
                <a:solidFill>
                  <a:srgbClr val="FFFFFF"/>
                </a:solidFill>
                <a:latin typeface="Arial"/>
                <a:ea typeface="Microsoft YaHei"/>
              </a:rPr>
              <a:t>differentiate from</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found a untapped market.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found an untapped market.</a:t>
            </a:r>
          </a:p>
          <a:p>
            <a:pPr algn="l">
              <a:spcAft>
                <a:spcPts val="200"/>
              </a:spcAft>
            </a:pPr>
            <a:r>
              <a:rPr sz="1200" b="0">
                <a:solidFill>
                  <a:srgbClr val="FFFFFF"/>
                </a:solidFill>
                <a:latin typeface="Arial"/>
                <a:ea typeface="Microsoft YaHei"/>
              </a:rPr>
              <a:t>an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margin of profit are shrinking.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Profit margins are shrinking.</a:t>
            </a:r>
          </a:p>
          <a:p>
            <a:pPr algn="l">
              <a:spcAft>
                <a:spcPts val="200"/>
              </a:spcAft>
            </a:pPr>
            <a:r>
              <a:rPr sz="1200" b="0">
                <a:solidFill>
                  <a:srgbClr val="FFFFFF"/>
                </a:solidFill>
                <a:latin typeface="Arial"/>
                <a:ea typeface="Microsoft YaHei"/>
              </a:rPr>
              <a:t>搭配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compete on, differentiate from, an before vowels, therefore punctuation.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Strategy jargon is common. “Blue ocean”, “moat” and “USP” appear in meetings.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criticise rivals. Focus on your own strengths.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Use examples. Concrete cases make strategy easier to understand.</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Be specific about customers. “Everyone” is not a target market.</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red and blue ocean strategies.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strategies with whereas / in contrast.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what makes my business different.</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compete on and differentiate from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63 Choosing between red and blue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Compare two strategies for your industry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compete on, differentiate from, an, therefore punctuation.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 · Lesson 64 Brand freedom</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109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Brand freedom</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品牌自由</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the freedom a strong brand gives a company (pricing power, loyalty, creative room) and how brands stay consistent while evolving.</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brands do you trust or love?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pay more for a brand you like? Why?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a brand change without losing its identity?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brands build loyalty?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happens when a brand makes a mistake?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本课按”品牌自由”理解为:强品牌带来的定价自由、客户忠诚与创意空间。第 3 题 “Can a brand change” 一般现在时。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a strong brand gives a company more freedom.</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a brand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freedoms it brings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it’s built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risks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strong brand allows a company to…   💬 Customers are willing to…   💬 It takes years to…   💬 One mistake can…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willing to + 动词原形” 愿意…;“allow sb to + 动词原形”。</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The freedom of a strong brand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brand is more than a logo. It is the set of ideas and feelings people connect with a company. A strong brand gives its owner several kinds of freedom. First, pricing power: customers are willing to pay more for a name they trust. Second, loyalty: people forgive small mistakes and often return. Third, creative room: a respected brand can launch new products or experiment with new styles because customers give it the benefit of the doubt. However, this freedom has to be earned. It takes years of consistent quality and clear messages, and one careless decision can damage it. The best brands stay true to their core promise while updating their style, tone and products, so they feel both familiar and fresh.</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Name two freedoms a strong brand brings.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Pricing power, loyalty, creative room.</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can a respected brand experiment more?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Customers give it the benefit of the doubt.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do the best brands stay relevant?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keep their core promise while updating style, tone and products.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Brand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品牌基础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brand identity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品牌形象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brand identity is simple.”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brand awareness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品牌知名度</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“Brand awareness is growing.”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brand loyalty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品牌忠诚度</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“Brand loyalty keeps customers.”</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benefit of the doubt</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善意推定</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“Customers gave us the benefit of the doubt.”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brand equity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品牌资产</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“Brand equity is hard to build.”</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Freedom and power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自由与实力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pricing power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定价权</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strong brand has pricing power.”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premium price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溢价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charge a premium price.”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stand for</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象征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do you stand for?”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command a premium</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获得溢价</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brand commands a premium.”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stretch the brand</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延伸品牌</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stretched the brand into new categories.”</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Evolving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演变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rebrand</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品牌重塑</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rebranded last year.”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stay consistent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保持一致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“Stay consistent in messaging.”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refresh</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更新</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refreshed the logo.”</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dilute the brand</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稀释品牌</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“Too many products dilute the brand.”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backfire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适得其反</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campaign backfired.”</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品牌形象</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brand identity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稀释品牌</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dilute the brand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溢价</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premium price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定价权</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pricing power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品牌忠诚度</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brand loyalty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适得其反</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backfire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善意推定</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benefit of the doubt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更新</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refresh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identity</a:t>
            </a:r>
          </a:p>
        </p:txBody>
      </p:sp>
      <p:sp>
        <p:nvSpPr>
          <p:cNvPr id="10" name="Rounded Rectangle 9"/>
          <p:cNvSpPr/>
          <p:nvPr/>
        </p:nvSpPr>
        <p:spPr>
          <a:xfrm>
            <a:off x="3346704"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awareness</a:t>
            </a:r>
          </a:p>
        </p:txBody>
      </p:sp>
      <p:sp>
        <p:nvSpPr>
          <p:cNvPr id="11" name="Rounded Rectangle 10"/>
          <p:cNvSpPr/>
          <p:nvPr/>
        </p:nvSpPr>
        <p:spPr>
          <a:xfrm>
            <a:off x="4791456"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loyalty</a:t>
            </a:r>
          </a:p>
        </p:txBody>
      </p:sp>
      <p:sp>
        <p:nvSpPr>
          <p:cNvPr id="12" name="Rounded Rectangle 11"/>
          <p:cNvSpPr/>
          <p:nvPr/>
        </p:nvSpPr>
        <p:spPr>
          <a:xfrm>
            <a:off x="6016752"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premium</a:t>
            </a:r>
          </a:p>
        </p:txBody>
      </p:sp>
      <p:sp>
        <p:nvSpPr>
          <p:cNvPr id="13" name="Rounded Rectangle 12"/>
          <p:cNvSpPr/>
          <p:nvPr/>
        </p:nvSpPr>
        <p:spPr>
          <a:xfrm>
            <a:off x="7242048"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rebranded</a:t>
            </a:r>
          </a:p>
        </p:txBody>
      </p:sp>
      <p:sp>
        <p:nvSpPr>
          <p:cNvPr id="14" name="Rounded Rectangle 13"/>
          <p:cNvSpPr/>
          <p:nvPr/>
        </p:nvSpPr>
        <p:spPr>
          <a:xfrm>
            <a:off x="868680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consistent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brand _______ is simple and clear.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identity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Brand _______ is growing in new markets.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awareness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Brand _______ keeps customers coming back.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loyalty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They charge a _______ price.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premium</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company _______ last year.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rebranded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Stay _______ in your messaging.</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consistent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build / strengthen a brand, brand name, brand image; loyal TO a brand。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Explaining brand value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解释品牌价值</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advise a small company.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Owner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Brand consultant</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Explaining brand value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can big brands charge more for similar products?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Customers trust them, so the brand has pricing power.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 they build that trust?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By staying consistent for years. The quality and message don’t change.</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Explaining brand value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we do the same?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start with a clear promise. What do you stand for?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prices and eco-friendly packaging.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Keep repeating it, in every product and every post.</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Explaining brand value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brand value.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Owner.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Consultant. Brand: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pricing power · stay consistent · what you stand for · clear promise · loyalty</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why brands matter and give a practical first step.</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customer example.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Warn about a risk.</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a six-month action.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Handling a brand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处理品牌失误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campaign received criticism.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Marketing director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CEO</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Handling a brand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latest campaign has backfired. Customers say it’s insensitive.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serious is it?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Social media is full of complaints. Our reputation could suffer.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recommend?</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prompt, sincere apology, and withdraw the campaign.</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customers give us the benefit of the doubt?</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we respond quickly and fix the problem, I think so.</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it today.</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Handling a brand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manage a brand crisis.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Marketing director. Crisis: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CEO.</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backfired · reputation · prompt apology · withdraw · benefit of the doubt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Assess the damage, recommend action and agree next steps.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Draft the first line of the apology.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Predict the result.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how to rebuild trust.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pay more for certain brands?</a:t>
            </a:r>
          </a:p>
          <a:p>
            <a:pPr algn="l">
              <a:lnSpc>
                <a:spcPct val="115000"/>
              </a:lnSpc>
              <a:spcAft>
                <a:spcPts val="800"/>
              </a:spcAft>
            </a:pPr>
            <a:r>
              <a:rPr sz="1400" b="0">
                <a:solidFill>
                  <a:srgbClr val="5F677A"/>
                </a:solidFill>
                <a:latin typeface="Arial"/>
                <a:ea typeface="Microsoft YaHei"/>
              </a:rPr>
              <a:t>💬 “Because they feel…”</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 brand recover from a big mistake?</a:t>
            </a:r>
          </a:p>
          <a:p>
            <a:pPr algn="l">
              <a:lnSpc>
                <a:spcPct val="115000"/>
              </a:lnSpc>
              <a:spcAft>
                <a:spcPts val="800"/>
              </a:spcAft>
            </a:pPr>
            <a:r>
              <a:rPr sz="1400" b="0">
                <a:solidFill>
                  <a:srgbClr val="5F677A"/>
                </a:solidFill>
                <a:latin typeface="Arial"/>
                <a:ea typeface="Microsoft YaHei"/>
              </a:rPr>
              <a:t>💬 “Yes, if…”</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much should a brand change over time?</a:t>
            </a:r>
          </a:p>
          <a:p>
            <a:pPr algn="l">
              <a:lnSpc>
                <a:spcPct val="115000"/>
              </a:lnSpc>
              <a:spcAft>
                <a:spcPts val="800"/>
              </a:spcAft>
            </a:pPr>
            <a:r>
              <a:rPr sz="1400" b="0">
                <a:solidFill>
                  <a:srgbClr val="5F677A"/>
                </a:solidFill>
                <a:latin typeface="Arial"/>
                <a:ea typeface="Microsoft YaHei"/>
              </a:rPr>
              <a:t>💬 “It should evolve but keep…”</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brand loyalty weaker than before?</a:t>
            </a:r>
          </a:p>
          <a:p>
            <a:pPr algn="l">
              <a:lnSpc>
                <a:spcPct val="115000"/>
              </a:lnSpc>
              <a:spcAft>
                <a:spcPts val="800"/>
              </a:spcAft>
            </a:pPr>
            <a:r>
              <a:rPr sz="1400" b="0">
                <a:solidFill>
                  <a:srgbClr val="5F677A"/>
                </a:solidFill>
                <a:latin typeface="Arial"/>
                <a:ea typeface="Microsoft YaHei"/>
              </a:rPr>
              <a:t>💬 “I think so, since…”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brand has the strongest identity?</a:t>
            </a:r>
          </a:p>
          <a:p>
            <a:pPr algn="l">
              <a:lnSpc>
                <a:spcPct val="115000"/>
              </a:lnSpc>
              <a:spcAft>
                <a:spcPts val="800"/>
              </a:spcAft>
            </a:pPr>
            <a:r>
              <a:rPr sz="1400" b="0">
                <a:solidFill>
                  <a:srgbClr val="5F677A"/>
                </a:solidFill>
                <a:latin typeface="Arial"/>
                <a:ea typeface="Microsoft YaHei"/>
              </a:rPr>
              <a:t>💬 “I’d say…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brand can recover if it acts quickly and honestly. The worst response is to deny or hide the problem. A sincere apology, a clear explanation and visible changes can rebuild trust. But it takes time, and customers will watch to see whether the company really changes.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“visible changes” 看得见的改变;“watch to see whether” 观察是否…。</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Cause and willingness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愿意与因果</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be willing to + base</a:t>
                      </a:r>
                    </a:p>
                  </a:txBody>
                  <a:tcPr anchor="ctr">
                    <a:solidFill>
                      <a:srgbClr val="FFFFFF"/>
                    </a:solidFill>
                  </a:tcPr>
                </a:tc>
                <a:tc>
                  <a:txBody>
                    <a:bodyPr wrap="square"/>
                    <a:lstStyle/>
                    <a:p>
                      <a:r>
                        <a:rPr sz="1600" b="0">
                          <a:solidFill>
                            <a:srgbClr val="1F2A44"/>
                          </a:solidFill>
                          <a:latin typeface="Arial"/>
                          <a:ea typeface="Microsoft YaHei"/>
                        </a:rPr>
                        <a:t>Customers are willing to pay more.</a:t>
                      </a:r>
                    </a:p>
                  </a:txBody>
                  <a:tcPr anchor="ctr">
                    <a:solidFill>
                      <a:srgbClr val="FFFFFF"/>
                    </a:solidFill>
                  </a:tcPr>
                </a:tc>
              </a:tr>
              <a:tr h="408432">
                <a:tc>
                  <a:txBody>
                    <a:bodyPr wrap="square"/>
                    <a:lstStyle/>
                    <a:p>
                      <a:r>
                        <a:rPr sz="1600" b="1">
                          <a:solidFill>
                            <a:srgbClr val="1F2A44"/>
                          </a:solidFill>
                          <a:latin typeface="Arial"/>
                          <a:ea typeface="Microsoft YaHei"/>
                        </a:rPr>
                        <a:t>allow sb to + base</a:t>
                      </a:r>
                    </a:p>
                  </a:txBody>
                  <a:tcPr anchor="ctr">
                    <a:solidFill>
                      <a:srgbClr val="FFEFD9"/>
                    </a:solidFill>
                  </a:tcPr>
                </a:tc>
                <a:tc>
                  <a:txBody>
                    <a:bodyPr wrap="square"/>
                    <a:lstStyle/>
                    <a:p>
                      <a:r>
                        <a:rPr sz="1600" b="0">
                          <a:solidFill>
                            <a:srgbClr val="1F2A44"/>
                          </a:solidFill>
                          <a:latin typeface="Arial"/>
                          <a:ea typeface="Microsoft YaHei"/>
                        </a:rPr>
                        <a:t>A strong brand allows us to charge more.</a:t>
                      </a:r>
                    </a:p>
                  </a:txBody>
                  <a:tcPr anchor="ctr">
                    <a:solidFill>
                      <a:srgbClr val="FFEFD9"/>
                    </a:solidFill>
                  </a:tcPr>
                </a:tc>
              </a:tr>
              <a:tr h="408432">
                <a:tc>
                  <a:txBody>
                    <a:bodyPr wrap="square"/>
                    <a:lstStyle/>
                    <a:p>
                      <a:r>
                        <a:rPr sz="1600" b="1">
                          <a:solidFill>
                            <a:srgbClr val="1F2A44"/>
                          </a:solidFill>
                          <a:latin typeface="Arial"/>
                          <a:ea typeface="Microsoft YaHei"/>
                        </a:rPr>
                        <a:t>give sb the benefit of the doubt</a:t>
                      </a:r>
                    </a:p>
                  </a:txBody>
                  <a:tcPr anchor="ctr">
                    <a:solidFill>
                      <a:srgbClr val="FFFFFF"/>
                    </a:solidFill>
                  </a:tcPr>
                </a:tc>
                <a:tc>
                  <a:txBody>
                    <a:bodyPr wrap="square"/>
                    <a:lstStyle/>
                    <a:p>
                      <a:r>
                        <a:rPr sz="1600" b="0">
                          <a:solidFill>
                            <a:srgbClr val="1F2A44"/>
                          </a:solidFill>
                          <a:latin typeface="Arial"/>
                          <a:ea typeface="Microsoft YaHei"/>
                        </a:rPr>
                        <a:t>Customers gave us the benefit of the doubt.</a:t>
                      </a:r>
                    </a:p>
                  </a:txBody>
                  <a:tcPr anchor="ctr">
                    <a:solidFill>
                      <a:srgbClr val="FFFFFF"/>
                    </a:solidFill>
                  </a:tcPr>
                </a:tc>
              </a:tr>
              <a:tr h="408432">
                <a:tc>
                  <a:txBody>
                    <a:bodyPr wrap="square"/>
                    <a:lstStyle/>
                    <a:p>
                      <a:r>
                        <a:rPr sz="1600" b="1">
                          <a:solidFill>
                            <a:srgbClr val="1F2A44"/>
                          </a:solidFill>
                          <a:latin typeface="Arial"/>
                          <a:ea typeface="Microsoft YaHei"/>
                        </a:rPr>
                        <a:t>If we respond quickly, …</a:t>
                      </a:r>
                    </a:p>
                  </a:txBody>
                  <a:tcPr anchor="ctr">
                    <a:solidFill>
                      <a:srgbClr val="FFEFD9"/>
                    </a:solidFill>
                  </a:tcPr>
                </a:tc>
                <a:tc>
                  <a:txBody>
                    <a:bodyPr wrap="square"/>
                    <a:lstStyle/>
                    <a:p>
                      <a:r>
                        <a:rPr sz="1600" b="0">
                          <a:solidFill>
                            <a:srgbClr val="1F2A44"/>
                          </a:solidFill>
                          <a:latin typeface="Arial"/>
                          <a:ea typeface="Microsoft YaHei"/>
                        </a:rPr>
                        <a:t>If we respond quickly, we will recover.</a:t>
                      </a:r>
                    </a:p>
                  </a:txBody>
                  <a:tcPr anchor="ctr">
                    <a:solidFill>
                      <a:srgbClr val="FFEFD9"/>
                    </a:solidFill>
                  </a:tcPr>
                </a:tc>
              </a:tr>
            </a:tbl>
          </a:graphicData>
        </a:graphic>
      </p:graphicFrame>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Cause and willingness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愿意与因果</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Allow someone to do, enable someone to do, let someone do (no to).</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allows us charge more.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allows us to charge more.</a:t>
            </a:r>
          </a:p>
          <a:p>
            <a:pPr algn="l">
              <a:spcAft>
                <a:spcPts val="200"/>
              </a:spcAft>
            </a:pPr>
            <a:r>
              <a:rPr sz="1200" b="0">
                <a:solidFill>
                  <a:srgbClr val="FFFFFF"/>
                </a:solidFill>
                <a:latin typeface="Arial"/>
                <a:ea typeface="Microsoft YaHei"/>
              </a:rPr>
              <a:t>allow sb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Customers are willing pay more.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Customers are willing to pay more.</a:t>
            </a:r>
          </a:p>
          <a:p>
            <a:pPr algn="l">
              <a:spcAft>
                <a:spcPts val="200"/>
              </a:spcAft>
            </a:pPr>
            <a:r>
              <a:rPr sz="1200" b="0">
                <a:solidFill>
                  <a:srgbClr val="FFFFFF"/>
                </a:solidFill>
                <a:latin typeface="Arial"/>
                <a:ea typeface="Microsoft YaHei"/>
              </a:rPr>
              <a:t>willing to</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brand has a strong image in our mind.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people’s minds.</a:t>
            </a:r>
          </a:p>
          <a:p>
            <a:pPr algn="l">
              <a:spcAft>
                <a:spcPts val="200"/>
              </a:spcAft>
            </a:pPr>
            <a:r>
              <a:rPr sz="1200" b="0">
                <a:solidFill>
                  <a:srgbClr val="FFFFFF"/>
                </a:solidFill>
                <a:latin typeface="Arial"/>
                <a:ea typeface="Microsoft YaHei"/>
              </a:rPr>
              <a:t>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want to make an apology.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want to apologise. / make an apology</a:t>
            </a:r>
          </a:p>
          <a:p>
            <a:pPr algn="l">
              <a:spcAft>
                <a:spcPts val="200"/>
              </a:spcAft>
            </a:pPr>
            <a:r>
              <a:rPr sz="1200" b="0">
                <a:solidFill>
                  <a:srgbClr val="FFFFFF"/>
                </a:solidFill>
                <a:latin typeface="Arial"/>
                <a:ea typeface="Microsoft YaHei"/>
              </a:rPr>
              <a:t>apologise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Brand’s loyalty is important.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Brand loyalty is important.</a:t>
            </a:r>
          </a:p>
          <a:p>
            <a:pPr algn="l">
              <a:spcAft>
                <a:spcPts val="200"/>
              </a:spcAft>
            </a:pPr>
            <a:r>
              <a:rPr sz="1200" b="0">
                <a:solidFill>
                  <a:srgbClr val="FFFFFF"/>
                </a:solidFill>
                <a:latin typeface="Arial"/>
                <a:ea typeface="Microsoft YaHei"/>
              </a:rPr>
              <a:t>名词修饰</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Customers believe to the brand.</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Customers believe in the brand. / trust the brand.</a:t>
            </a:r>
          </a:p>
          <a:p>
            <a:pPr algn="l">
              <a:spcAft>
                <a:spcPts val="200"/>
              </a:spcAft>
            </a:pPr>
            <a:r>
              <a:rPr sz="1200" b="0">
                <a:solidFill>
                  <a:srgbClr val="FFFFFF"/>
                </a:solidFill>
                <a:latin typeface="Arial"/>
                <a:ea typeface="Microsoft YaHei"/>
              </a:rPr>
              <a:t>believe in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allow sb to, willing to, believe in, noun modifiers.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Apologise quickly and sincerely. “We’re sorry” before explanations.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Social media moves fast. Respond within hours.</a:t>
            </a:r>
          </a:p>
        </p:txBody>
      </p:sp>
      <p:sp>
        <p:nvSpPr>
          <p:cNvPr id="15" name="Rounded Rectangle 14"/>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701039"/>
          </a:xfrm>
          <a:prstGeom prst="rect">
            <a:avLst/>
          </a:prstGeom>
          <a:noFill/>
        </p:spPr>
        <p:txBody>
          <a:bodyPr wrap="square" anchor="ctr">
            <a:spAutoFit/>
          </a:bodyPr>
          <a:lstStyle/>
          <a:p>
            <a:r>
              <a:rPr sz="1700" b="0">
                <a:solidFill>
                  <a:srgbClr val="1F2A44"/>
                </a:solidFill>
                <a:latin typeface="Arial"/>
                <a:ea typeface="Microsoft YaHei"/>
              </a:rPr>
              <a:t>Brands take stands. Some Western brands take public positions on social issues, which can divide opinion.</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Consistency is key. Same tone across channels.</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brand identity, loyalty and pricing power.</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how brands evolve.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handle a brand mistake professionally.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allow sb to, willing to and believe in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64 Brand freedom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why one brand you admire has a strong identity.</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allow sb to, willing to, believe in.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 · Lesson 65 Elegance versus bling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Elegance versus bling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优雅与华丽的对比</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compare understated and flashy styles in luxury brands, design and personal presentation, and give a reasoned preference.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simple, elegant design or bold, eye-catching design?</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luxury brands should be loud or quiet?</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people use brands to show status?</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“less is more” mean to you?</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dress differently for work?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“elegance” 优雅;“bling” 俗称 “闪亮夺目的炫耀性装饰”。“less is more” = 少即是多。</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Compare an elegant brand with a flashy one.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style 1</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style 2</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who likes each</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preference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 the one hand, … / On the other hand, …   💬 Some customers prefer… whereas others…   💬 Personally, I lean towards…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“lean towards” = 倾向于。</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Quiet luxury, loud luxury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Luxury brands choose between two broad styles. Some use large logos, bright colours and obvious decoration to show that the owner can afford them. This is sometimes called “bling”. Others prefer understated elegance: quality materials, simple lines and very small logos. Their customers want to be recognised only by people who know the brand. Both styles can be successful, and the choice often depends on culture and age. Younger buyers or new markets may enjoy visible symbols of success, while established wealthy customers often prefer quiet signals. For companies, the decision affects design, advertising and even pricing. A brand that tries to appeal to everyone risks losing its identity. The most important thing is to be consistent with the promise it makes to customers.</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“bling”?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Large logos, bright colours and obvious decoration to show wealth.</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Who often prefers quiet luxury?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Established wealthy customers.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risk does a brand face if it tries to please everyone?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Losing its identity.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Style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风格</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understated</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低调的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wore an understated outfit.”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elegant / sophisticated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优雅的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design is elegant.”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flashy / showy</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浮夸的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flashy watch.”</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bling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炫耀性珠宝/装饰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“Too much bling.”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ostentatious</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招摇的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 ostentatious logo.”</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Luxury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奢侈品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luxury brand</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奢侈品牌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works for a luxury brand.”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status symbol</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地位象征</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car can be a status symbol.”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craftsmanship</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工艺</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craftsmanship is excellent.”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quiet luxury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低调奢华</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“Quiet luxury is popular.”</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conspicuous consumption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炫耀性消费</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conspicuous consumption.”</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Preference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偏好</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appeal to</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吸引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appeals to younger buyers.”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tastes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品味</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“Tastes differ.”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less is more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少即是多</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believe less is more.”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matter of taste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品味问题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matter of taste.”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 each their own</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各有所好</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each their own.”</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少即是多</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less is more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各有所好</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 each their own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工艺</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craftsmanship</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吸引</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appeal to</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奢侈品牌</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luxury brand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低调奢华</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quiet luxury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优雅的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elegant / sophisticated</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炫耀性消费</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conspicuous consumption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understated</a:t>
            </a:r>
          </a:p>
        </p:txBody>
      </p:sp>
      <p:sp>
        <p:nvSpPr>
          <p:cNvPr id="10" name="Rounded Rectangle 9"/>
          <p:cNvSpPr/>
          <p:nvPr/>
        </p:nvSpPr>
        <p:spPr>
          <a:xfrm>
            <a:off x="3675887"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flashy</a:t>
            </a:r>
          </a:p>
        </p:txBody>
      </p:sp>
      <p:sp>
        <p:nvSpPr>
          <p:cNvPr id="11" name="Rounded Rectangle 10"/>
          <p:cNvSpPr/>
          <p:nvPr/>
        </p:nvSpPr>
        <p:spPr>
          <a:xfrm>
            <a:off x="4791455"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symbol</a:t>
            </a:r>
          </a:p>
        </p:txBody>
      </p:sp>
      <p:sp>
        <p:nvSpPr>
          <p:cNvPr id="12" name="Rounded Rectangle 11"/>
          <p:cNvSpPr/>
          <p:nvPr/>
        </p:nvSpPr>
        <p:spPr>
          <a:xfrm>
            <a:off x="5907023" y="987552"/>
            <a:ext cx="179222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craftsmanship</a:t>
            </a:r>
          </a:p>
        </p:txBody>
      </p:sp>
      <p:sp>
        <p:nvSpPr>
          <p:cNvPr id="13" name="Rounded Rectangle 12"/>
          <p:cNvSpPr/>
          <p:nvPr/>
        </p:nvSpPr>
        <p:spPr>
          <a:xfrm>
            <a:off x="7790687"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appeals</a:t>
            </a:r>
          </a:p>
        </p:txBody>
      </p:sp>
      <p:sp>
        <p:nvSpPr>
          <p:cNvPr id="14" name="Rounded Rectangle 13"/>
          <p:cNvSpPr/>
          <p:nvPr/>
        </p:nvSpPr>
        <p:spPr>
          <a:xfrm>
            <a:off x="9015983"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taste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wore an _______ outfit to the interview.</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understated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watch looks too _______ for me.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flashy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 big car can be a status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symbol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_______ of the bag is excellent.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craftsmanship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brand _______ to younger buyers.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appeals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It’s a matter of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taste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appeal TO someone,a matter OF taste,status symbol;“bling” 口语,不宜用于正式场合。</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Discussing a design choice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讨论设计选择</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design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Designer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Marketing manager</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Discussing a design choice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the one hand, a large logo makes the product visible. On the other hand, it can look flashy.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Who is our customer?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Professionals aged thirty to fifty. I think they prefer understated design.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Less is more.</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design choice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younger buyers like bolder styles.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can’t please everyone.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Let’s focus on quality and keep the logo small.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It fits our brand identity.</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Discussing a design choice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 design choice.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Designer. Product: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Marketing manager.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On the one hand… · understated · flashy · less is more · fits our brand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two styles and decide for a target audience.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cost.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Reference another brand.</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Test with customer feedback.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Sharing tastes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分享品味</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Colleagues chat about fashion.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Sharing tastes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like your watch. It’s very understated.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 prefer simple styles.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used to like bigger logos, but now I lean towards quiet luxury.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Tastes change as we get older.</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Some people like flashy things, and that’s fine.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each their own.</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dress differently for work?</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Smart but simple, with good materials.</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Sharing tastes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chat about style.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Topic: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understated · lean towards · tastes change · to each their own · smart but simple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Share preferences politely without judging.</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Disagree kindly.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a compliment.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Connect to workplace dress code.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elegance or bling?</a:t>
            </a:r>
          </a:p>
          <a:p>
            <a:pPr algn="l">
              <a:lnSpc>
                <a:spcPct val="115000"/>
              </a:lnSpc>
              <a:spcAft>
                <a:spcPts val="800"/>
              </a:spcAft>
            </a:pPr>
            <a:r>
              <a:rPr sz="1400" b="0">
                <a:solidFill>
                  <a:srgbClr val="5F677A"/>
                </a:solidFill>
                <a:latin typeface="Arial"/>
                <a:ea typeface="Microsoft YaHei"/>
              </a:rPr>
              <a:t>💬 “I tend to prefer…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buy luxury goods?</a:t>
            </a:r>
          </a:p>
          <a:p>
            <a:pPr algn="l">
              <a:lnSpc>
                <a:spcPct val="115000"/>
              </a:lnSpc>
              <a:spcAft>
                <a:spcPts val="800"/>
              </a:spcAft>
            </a:pPr>
            <a:r>
              <a:rPr sz="1400" b="0">
                <a:solidFill>
                  <a:srgbClr val="5F677A"/>
                </a:solidFill>
                <a:latin typeface="Arial"/>
                <a:ea typeface="Microsoft YaHei"/>
              </a:rPr>
              <a:t>💬 “To show… /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luxury becoming quieter?</a:t>
            </a:r>
          </a:p>
          <a:p>
            <a:pPr algn="l">
              <a:lnSpc>
                <a:spcPct val="115000"/>
              </a:lnSpc>
              <a:spcAft>
                <a:spcPts val="800"/>
              </a:spcAft>
            </a:pPr>
            <a:r>
              <a:rPr sz="1400" b="0">
                <a:solidFill>
                  <a:srgbClr val="5F677A"/>
                </a:solidFill>
                <a:latin typeface="Arial"/>
                <a:ea typeface="Microsoft YaHei"/>
              </a:rPr>
              <a:t>💬 “It seems so, since…”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does culture affect taste?</a:t>
            </a:r>
          </a:p>
          <a:p>
            <a:pPr algn="l">
              <a:lnSpc>
                <a:spcPct val="115000"/>
              </a:lnSpc>
              <a:spcAft>
                <a:spcPts val="800"/>
              </a:spcAft>
            </a:pPr>
            <a:r>
              <a:rPr sz="1400" b="0">
                <a:solidFill>
                  <a:srgbClr val="5F677A"/>
                </a:solidFill>
                <a:latin typeface="Arial"/>
                <a:ea typeface="Microsoft YaHei"/>
              </a:rPr>
              <a:t>💬 “In some cultures… whereas…”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design for everyone?</a:t>
            </a:r>
          </a:p>
          <a:p>
            <a:pPr algn="l">
              <a:lnSpc>
                <a:spcPct val="115000"/>
              </a:lnSpc>
              <a:spcAft>
                <a:spcPts val="800"/>
              </a:spcAft>
            </a:pPr>
            <a:r>
              <a:rPr sz="1400" b="0">
                <a:solidFill>
                  <a:srgbClr val="5F677A"/>
                </a:solidFill>
                <a:latin typeface="Arial"/>
                <a:ea typeface="Microsoft YaHei"/>
              </a:rPr>
              <a:t>💬 “No,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 is, at least among some customers. After years of loud logos, many people now prefer subtle quality, because they feel it shows confidence. However, young buyers on social media still enjoy visible symbols. So I think both styles will continue, depending on the audience.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“at least among some customers” 至少在一部分客户中;“depending on” 取决于。</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Expressing preference and contrast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偏好与对比</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 prefer A to B</a:t>
                      </a:r>
                    </a:p>
                  </a:txBody>
                  <a:tcPr anchor="ctr">
                    <a:solidFill>
                      <a:srgbClr val="FFFFFF"/>
                    </a:solidFill>
                  </a:tcPr>
                </a:tc>
                <a:tc>
                  <a:txBody>
                    <a:bodyPr wrap="square"/>
                    <a:lstStyle/>
                    <a:p>
                      <a:r>
                        <a:rPr sz="1600" b="0">
                          <a:solidFill>
                            <a:srgbClr val="1F2A44"/>
                          </a:solidFill>
                          <a:latin typeface="Arial"/>
                          <a:ea typeface="Microsoft YaHei"/>
                        </a:rPr>
                        <a:t>I prefer elegance to bling.</a:t>
                      </a:r>
                    </a:p>
                  </a:txBody>
                  <a:tcPr anchor="ctr">
                    <a:solidFill>
                      <a:srgbClr val="FFFFFF"/>
                    </a:solidFill>
                  </a:tcPr>
                </a:tc>
              </a:tr>
              <a:tr h="408432">
                <a:tc>
                  <a:txBody>
                    <a:bodyPr wrap="square"/>
                    <a:lstStyle/>
                    <a:p>
                      <a:r>
                        <a:rPr sz="1600" b="1">
                          <a:solidFill>
                            <a:srgbClr val="1F2A44"/>
                          </a:solidFill>
                          <a:latin typeface="Arial"/>
                          <a:ea typeface="Microsoft YaHei"/>
                        </a:rPr>
                        <a:t>I’d rather + base</a:t>
                      </a:r>
                    </a:p>
                  </a:txBody>
                  <a:tcPr anchor="ctr">
                    <a:solidFill>
                      <a:srgbClr val="FFEFD9"/>
                    </a:solidFill>
                  </a:tcPr>
                </a:tc>
                <a:tc>
                  <a:txBody>
                    <a:bodyPr wrap="square"/>
                    <a:lstStyle/>
                    <a:p>
                      <a:r>
                        <a:rPr sz="1600" b="0">
                          <a:solidFill>
                            <a:srgbClr val="1F2A44"/>
                          </a:solidFill>
                          <a:latin typeface="Arial"/>
                          <a:ea typeface="Microsoft YaHei"/>
                        </a:rPr>
                        <a:t>I’d rather wear something simple.</a:t>
                      </a:r>
                    </a:p>
                  </a:txBody>
                  <a:tcPr anchor="ctr">
                    <a:solidFill>
                      <a:srgbClr val="FFEFD9"/>
                    </a:solidFill>
                  </a:tcPr>
                </a:tc>
              </a:tr>
              <a:tr h="652272">
                <a:tc>
                  <a:txBody>
                    <a:bodyPr wrap="square"/>
                    <a:lstStyle/>
                    <a:p>
                      <a:r>
                        <a:rPr sz="1600" b="1">
                          <a:solidFill>
                            <a:srgbClr val="1F2A44"/>
                          </a:solidFill>
                          <a:latin typeface="Arial"/>
                          <a:ea typeface="Microsoft YaHei"/>
                        </a:rPr>
                        <a:t>whereas / while</a:t>
                      </a:r>
                    </a:p>
                  </a:txBody>
                  <a:tcPr anchor="ctr">
                    <a:solidFill>
                      <a:srgbClr val="FFFFFF"/>
                    </a:solidFill>
                  </a:tcPr>
                </a:tc>
                <a:tc>
                  <a:txBody>
                    <a:bodyPr wrap="square"/>
                    <a:lstStyle/>
                    <a:p>
                      <a:r>
                        <a:rPr sz="1600" b="0">
                          <a:solidFill>
                            <a:srgbClr val="1F2A44"/>
                          </a:solidFill>
                          <a:latin typeface="Arial"/>
                          <a:ea typeface="Microsoft YaHei"/>
                        </a:rPr>
                        <a:t>Some like bold designs, whereas others like simple ones.</a:t>
                      </a:r>
                    </a:p>
                  </a:txBody>
                  <a:tcPr anchor="ctr">
                    <a:solidFill>
                      <a:srgbClr val="FFFFFF"/>
                    </a:solidFill>
                  </a:tcPr>
                </a:tc>
              </a:tr>
              <a:tr h="408432">
                <a:tc>
                  <a:txBody>
                    <a:bodyPr wrap="square"/>
                    <a:lstStyle/>
                    <a:p>
                      <a:r>
                        <a:rPr sz="1600" b="1">
                          <a:solidFill>
                            <a:srgbClr val="1F2A44"/>
                          </a:solidFill>
                          <a:latin typeface="Arial"/>
                          <a:ea typeface="Microsoft YaHei"/>
                        </a:rPr>
                        <a:t>I lean towards…</a:t>
                      </a:r>
                    </a:p>
                  </a:txBody>
                  <a:tcPr anchor="ctr">
                    <a:solidFill>
                      <a:srgbClr val="FFEFD9"/>
                    </a:solidFill>
                  </a:tcPr>
                </a:tc>
                <a:tc>
                  <a:txBody>
                    <a:bodyPr wrap="square"/>
                    <a:lstStyle/>
                    <a:p>
                      <a:r>
                        <a:rPr sz="1600" b="0">
                          <a:solidFill>
                            <a:srgbClr val="1F2A44"/>
                          </a:solidFill>
                          <a:latin typeface="Arial"/>
                          <a:ea typeface="Microsoft YaHei"/>
                        </a:rPr>
                        <a:t>I lean towards understated style.</a:t>
                      </a:r>
                    </a:p>
                  </a:txBody>
                  <a:tcPr anchor="ctr">
                    <a:solidFill>
                      <a:srgbClr val="FFEFD9"/>
                    </a:solidFill>
                  </a:tcPr>
                </a:tc>
              </a:tr>
            </a:tbl>
          </a:graphicData>
        </a:graphic>
      </p:graphicFrame>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Expressing preference and contrast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偏好与对比</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Prefer A to B; would rather do A than do B; don’t mix them.</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prefer elegant than flashy.</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prefer elegance to flashiness. / I prefer elegant to flashy.</a:t>
            </a:r>
          </a:p>
          <a:p>
            <a:pPr algn="l">
              <a:spcAft>
                <a:spcPts val="200"/>
              </a:spcAft>
            </a:pPr>
            <a:r>
              <a:rPr sz="1200" b="0">
                <a:solidFill>
                  <a:srgbClr val="FFFFFF"/>
                </a:solidFill>
                <a:latin typeface="Arial"/>
                <a:ea typeface="Microsoft YaHei"/>
              </a:rPr>
              <a:t>prefer… to</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like more the simple design.</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prefer the simple design.</a:t>
            </a:r>
          </a:p>
          <a:p>
            <a:pPr algn="l">
              <a:spcAft>
                <a:spcPts val="200"/>
              </a:spcAft>
            </a:pPr>
            <a:r>
              <a:rPr sz="1200" b="0">
                <a:solidFill>
                  <a:srgbClr val="FFFFFF"/>
                </a:solidFill>
                <a:latin typeface="Arial"/>
                <a:ea typeface="Microsoft YaHei"/>
              </a:rPr>
              <a:t>副词位置</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brand is more luxury.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brand is more luxurious.</a:t>
            </a:r>
          </a:p>
          <a:p>
            <a:pPr algn="l">
              <a:spcAft>
                <a:spcPts val="200"/>
              </a:spcAft>
            </a:pPr>
            <a:r>
              <a:rPr sz="1200" b="0">
                <a:solidFill>
                  <a:srgbClr val="FFFFFF"/>
                </a:solidFill>
                <a:latin typeface="Arial"/>
                <a:ea typeface="Microsoft YaHei"/>
              </a:rPr>
              <a:t>形容词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interesting in luxury brands.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interested in luxury brands.</a:t>
            </a:r>
          </a:p>
          <a:p>
            <a:pPr algn="l">
              <a:spcAft>
                <a:spcPts val="200"/>
              </a:spcAft>
            </a:pPr>
            <a:r>
              <a:rPr sz="1200" b="0">
                <a:solidFill>
                  <a:srgbClr val="FFFFFF"/>
                </a:solidFill>
                <a:latin typeface="Arial"/>
                <a:ea typeface="Microsoft YaHei"/>
              </a:rPr>
              <a:t>-ed 形容人的感受</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wear very expensives clothes.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wear very expensive clothes.</a:t>
            </a:r>
          </a:p>
          <a:p>
            <a:pPr algn="l">
              <a:spcAft>
                <a:spcPts val="200"/>
              </a:spcAft>
            </a:pPr>
            <a:r>
              <a:rPr sz="1200" b="0">
                <a:solidFill>
                  <a:srgbClr val="FFFFFF"/>
                </a:solidFill>
                <a:latin typeface="Arial"/>
                <a:ea typeface="Microsoft YaHei"/>
              </a:rPr>
              <a:t>形容词无复数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agree that less is more.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that less is more.</a:t>
            </a:r>
          </a:p>
          <a:p>
            <a:pPr algn="l">
              <a:spcAft>
                <a:spcPts val="200"/>
              </a:spcAft>
            </a:pPr>
            <a:r>
              <a:rPr sz="1200" b="0">
                <a:solidFill>
                  <a:srgbClr val="FFFFFF"/>
                </a:solidFill>
                <a:latin typeface="Arial"/>
                <a:ea typeface="Microsoft YaHei"/>
              </a:rPr>
              <a:t>agree 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prefer… to, adjectives never take -s, luxurious (adj.), agree.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Dress codes. Business casual and smart casual vary by company.</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Avoid judging taste. Say “I prefer…” rather than “that’s tacky”.</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Gifts and status. In some markets, visible brands matter; in others, subtlety does.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Compliment politely. “That’s a lovely watch” is a safe opening.</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elegant and flashy styles.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express my taste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luxury brand strategies.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prefer… to and adjectives (without -s)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65 Elegance versus bling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your style and a brand you admire.</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prefer to, adjectives no plural, luxurious.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 · Lesson 66 Agile Scrum</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Agile Scrum</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敏捷开发与Scrum</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Agile and Scrum basics (sprints, roles, ceremonies) and take part in a stand-up or sprint review.</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worked in a team that used Agile?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advantages of short project cycles?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like daily stand-up meetings?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handle changing requirements?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decides priorities in your team?</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“Agile” 敏捷;“Scrum” 一种敏捷框架;“sprint” 冲刺周期;“stand-up” 站会。</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Scrum works to a new colleague.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roles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sprint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meetings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benefits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Scrum, work is organised into…   💬 Every day we have…   💬 At the end of a sprint, we…   💬 The main benefit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organised into” 被划分为;“at the end of” 在…结束时。</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Working in sprints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Agile is a way of managing projects through short cycles and frequent feedback instead of one long plan. Scrum is a popular framework within it. A Scrum team has three main roles: the product owner, who decides what is most valuable; the Scrum master, who helps the team follow the process; and the developers, who build the product. Work is divided into sprints of one to four weeks. At the start, the team chooses items from a priority list called the backlog. Each day there is a short stand-up meeting where everyone says what they did, what they will do and what is blocking them. At the end, the team shows the finished work in a sprint review and discusses improvements in a retrospective. The main benefit is flexibility: priorities can change without wasting months of effort.</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Who decides what is most valuable?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product owner.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said in a daily stand-up?</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you did, what you will do and what is blocking you.</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a retrospective for?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discuss improvements at the end of the sprint.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Roles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角色</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product owner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产品负责人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product owner sets priorities.”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Scrum master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Scrum 教练</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Scrum master removes blockers.”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stakeholder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利益相关方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“Stakeholders attend the review.”</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cross-functional team</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跨职能团队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cross-functional team.”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self-organising</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自组织的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team is self-organising.”</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流程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sprint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冲刺迭代</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sprint lasts two weeks.”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backlog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待办事项列表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“Add it to the backlog.”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stand-up</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站会</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stand-up takes fifteen minutes.”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user story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用户故事</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“Write a user story.”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velocity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团队速度</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velocity is stable.”</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Improving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改进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sprint review / demo</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迭代评审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showed a demo.”</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retrospective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复盘会议</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held a retrospective.”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blocker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阻碍</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anything blocking you?”</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iterate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迭代</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iterate quickly.”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scope creep</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范围蔓延</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“Scope creep delayed us.”</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迭代</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iterate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利益相关方</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stakeholder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产品负责人</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product owner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用户故事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user story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迭代评审</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sprint review / demo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Scrum 教练</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Scrum master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团队速度</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velocity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冲刺迭代</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sprint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owner</a:t>
            </a:r>
          </a:p>
        </p:txBody>
      </p:sp>
      <p:sp>
        <p:nvSpPr>
          <p:cNvPr id="10" name="Rounded Rectangle 9"/>
          <p:cNvSpPr/>
          <p:nvPr/>
        </p:nvSpPr>
        <p:spPr>
          <a:xfrm>
            <a:off x="3017520"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sprint</a:t>
            </a:r>
          </a:p>
        </p:txBody>
      </p:sp>
      <p:sp>
        <p:nvSpPr>
          <p:cNvPr id="11" name="Rounded Rectangle 10"/>
          <p:cNvSpPr/>
          <p:nvPr/>
        </p:nvSpPr>
        <p:spPr>
          <a:xfrm>
            <a:off x="4133088"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backlog</a:t>
            </a:r>
          </a:p>
        </p:txBody>
      </p:sp>
      <p:sp>
        <p:nvSpPr>
          <p:cNvPr id="12" name="Rounded Rectangle 11"/>
          <p:cNvSpPr/>
          <p:nvPr/>
        </p:nvSpPr>
        <p:spPr>
          <a:xfrm>
            <a:off x="5358384"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stand-up</a:t>
            </a:r>
          </a:p>
        </p:txBody>
      </p:sp>
      <p:sp>
        <p:nvSpPr>
          <p:cNvPr id="13" name="Rounded Rectangle 12"/>
          <p:cNvSpPr/>
          <p:nvPr/>
        </p:nvSpPr>
        <p:spPr>
          <a:xfrm>
            <a:off x="6693408"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blocker</a:t>
            </a:r>
          </a:p>
        </p:txBody>
      </p:sp>
      <p:sp>
        <p:nvSpPr>
          <p:cNvPr id="14" name="Rounded Rectangle 13"/>
          <p:cNvSpPr/>
          <p:nvPr/>
        </p:nvSpPr>
        <p:spPr>
          <a:xfrm>
            <a:off x="7918704"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retrospective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product _______ sets priorities.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owner</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Our _______ lasts two weeks.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sprint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Add that request to the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backlog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daily _______ takes fifteen minutes.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stand-up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Is there any _______ I can help with?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blocker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discuss improvements in the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retrospective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(拼写) stand-up(名词)vs stand up(动词);backlog 一个词;Scrum 首字母大写。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Daily stand-up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每日站会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short team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Scrum master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Developer</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Daily stand-up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Quick round: what did you do yesterday?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finished the login page and started testing.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the plan for today?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fix the bugs from testing and start the payment screen.</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Anything blocking you?</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need a decision from the product owner about payment options.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raise it right after this meeting.</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 would help.</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Daily stand-up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run a stand-up.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Scrum master.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Task: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yesterday · today · blocking you · I’ll raise it · quick round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the three standard updates in under a minute.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Handle a long-winded update.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Report a risk.</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to help another member.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Sprint review and retrospective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迭代评审与复盘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The team looks back.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Product owner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Sprint review and retrospective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the demo. The new feature works well.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hit a problem with testing, so we ran out of time for one item.</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can move it to the backlog for the next sprint.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the retrospective, I’d suggest starting testing earlier.</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What else went well?</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Communication improved, and we helped each other with blockers.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Let’s keep that.</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let’s reduce scope creep by agreeing the plan at the start.</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Sprint review and retrospective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review a sprint.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Product owner.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Sprint: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demo · ran out of time · move it to the backlog · retrospective · scope creep</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Discuss what went well, what didn’t and one change.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“start, stop, continue”.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Praise a colleague.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on an action owner.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Agile suitable for every project?</a:t>
            </a:r>
          </a:p>
          <a:p>
            <a:pPr algn="l">
              <a:lnSpc>
                <a:spcPct val="115000"/>
              </a:lnSpc>
              <a:spcAft>
                <a:spcPts val="800"/>
              </a:spcAft>
            </a:pPr>
            <a:r>
              <a:rPr sz="1400" b="0">
                <a:solidFill>
                  <a:srgbClr val="5F677A"/>
                </a:solidFill>
                <a:latin typeface="Arial"/>
                <a:ea typeface="Microsoft YaHei"/>
              </a:rPr>
              <a:t>💬 “Not for every one, since…”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daily stand-ups useful?</a:t>
            </a:r>
          </a:p>
          <a:p>
            <a:pPr algn="l">
              <a:lnSpc>
                <a:spcPct val="115000"/>
              </a:lnSpc>
              <a:spcAft>
                <a:spcPts val="800"/>
              </a:spcAft>
            </a:pPr>
            <a:r>
              <a:rPr sz="1400" b="0">
                <a:solidFill>
                  <a:srgbClr val="5F677A"/>
                </a:solidFill>
                <a:latin typeface="Arial"/>
                <a:ea typeface="Microsoft YaHei"/>
              </a:rPr>
              <a:t>💬 “They are, if they stay short.”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changing requirements?</a:t>
            </a:r>
          </a:p>
          <a:p>
            <a:pPr algn="l">
              <a:lnSpc>
                <a:spcPct val="115000"/>
              </a:lnSpc>
              <a:spcAft>
                <a:spcPts val="800"/>
              </a:spcAft>
            </a:pPr>
            <a:r>
              <a:rPr sz="1400" b="0">
                <a:solidFill>
                  <a:srgbClr val="5F677A"/>
                </a:solidFill>
                <a:latin typeface="Arial"/>
                <a:ea typeface="Microsoft YaHei"/>
              </a:rPr>
              <a:t>💬 “I’d… / We could…”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downsides of Scrum?</a:t>
            </a:r>
          </a:p>
          <a:p>
            <a:pPr algn="l">
              <a:lnSpc>
                <a:spcPct val="115000"/>
              </a:lnSpc>
              <a:spcAft>
                <a:spcPts val="800"/>
              </a:spcAft>
            </a:pPr>
            <a:r>
              <a:rPr sz="1400" b="0">
                <a:solidFill>
                  <a:srgbClr val="5F677A"/>
                </a:solidFill>
                <a:latin typeface="Arial"/>
                <a:ea typeface="Microsoft YaHei"/>
              </a:rPr>
              <a:t>💬 “One downside is…”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Could you use Agile ideas outside software?</a:t>
            </a:r>
          </a:p>
          <a:p>
            <a:pPr algn="l">
              <a:lnSpc>
                <a:spcPct val="115000"/>
              </a:lnSpc>
              <a:spcAft>
                <a:spcPts val="800"/>
              </a:spcAft>
            </a:pPr>
            <a:r>
              <a:rPr sz="1400" b="0">
                <a:solidFill>
                  <a:srgbClr val="5F677A"/>
                </a:solidFill>
                <a:latin typeface="Arial"/>
                <a:ea typeface="Microsoft YaHei"/>
              </a:rPr>
              <a:t>💬 “Yes, e.g. in marketing…”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Yes, I think so. Marketing teams can use short cycles, visible task boards and regular retrospectives. For example, they can plan a two-week campaign sprint, check the results, and adjust. The key idea is to learn quickly and avoid planning everything far in advance.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“task board” 任务看板;“far in advance” 提前很久。</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Describing processes in the present simple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用一般现在时描述流程</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Present simple (routine)</a:t>
                      </a:r>
                    </a:p>
                  </a:txBody>
                  <a:tcPr anchor="ctr">
                    <a:solidFill>
                      <a:srgbClr val="FFFFFF"/>
                    </a:solidFill>
                  </a:tcPr>
                </a:tc>
                <a:tc>
                  <a:txBody>
                    <a:bodyPr wrap="square"/>
                    <a:lstStyle/>
                    <a:p>
                      <a:r>
                        <a:rPr sz="1600" b="0">
                          <a:solidFill>
                            <a:srgbClr val="1F2A44"/>
                          </a:solidFill>
                          <a:latin typeface="Arial"/>
                          <a:ea typeface="Microsoft YaHei"/>
                        </a:rPr>
                        <a:t>We have a stand-up every day.</a:t>
                      </a:r>
                    </a:p>
                  </a:txBody>
                  <a:tcPr anchor="ctr">
                    <a:solidFill>
                      <a:srgbClr val="FFFFFF"/>
                    </a:solidFill>
                  </a:tcPr>
                </a:tc>
              </a:tr>
              <a:tr h="408432">
                <a:tc>
                  <a:txBody>
                    <a:bodyPr wrap="square"/>
                    <a:lstStyle/>
                    <a:p>
                      <a:r>
                        <a:rPr sz="1600" b="1">
                          <a:solidFill>
                            <a:srgbClr val="1F2A44"/>
                          </a:solidFill>
                          <a:latin typeface="Arial"/>
                          <a:ea typeface="Microsoft YaHei"/>
                        </a:rPr>
                        <a:t>Passive (process)</a:t>
                      </a:r>
                    </a:p>
                  </a:txBody>
                  <a:tcPr anchor="ctr">
                    <a:solidFill>
                      <a:srgbClr val="FFEFD9"/>
                    </a:solidFill>
                  </a:tcPr>
                </a:tc>
                <a:tc>
                  <a:txBody>
                    <a:bodyPr wrap="square"/>
                    <a:lstStyle/>
                    <a:p>
                      <a:r>
                        <a:rPr sz="1600" b="0">
                          <a:solidFill>
                            <a:srgbClr val="1F2A44"/>
                          </a:solidFill>
                          <a:latin typeface="Arial"/>
                          <a:ea typeface="Microsoft YaHei"/>
                        </a:rPr>
                        <a:t>Work is divided into sprints.</a:t>
                      </a:r>
                    </a:p>
                  </a:txBody>
                  <a:tcPr anchor="ctr">
                    <a:solidFill>
                      <a:srgbClr val="FFEFD9"/>
                    </a:solidFill>
                  </a:tcPr>
                </a:tc>
              </a:tr>
              <a:tr h="408432">
                <a:tc>
                  <a:txBody>
                    <a:bodyPr wrap="square"/>
                    <a:lstStyle/>
                    <a:p>
                      <a:r>
                        <a:rPr sz="1600" b="1">
                          <a:solidFill>
                            <a:srgbClr val="1F2A44"/>
                          </a:solidFill>
                          <a:latin typeface="Arial"/>
                          <a:ea typeface="Microsoft YaHei"/>
                        </a:rPr>
                        <a:t>Then / next / at the end</a:t>
                      </a:r>
                    </a:p>
                  </a:txBody>
                  <a:tcPr anchor="ctr">
                    <a:solidFill>
                      <a:srgbClr val="FFFFFF"/>
                    </a:solidFill>
                  </a:tcPr>
                </a:tc>
                <a:tc>
                  <a:txBody>
                    <a:bodyPr wrap="square"/>
                    <a:lstStyle/>
                    <a:p>
                      <a:r>
                        <a:rPr sz="1600" b="0">
                          <a:solidFill>
                            <a:srgbClr val="1F2A44"/>
                          </a:solidFill>
                          <a:latin typeface="Arial"/>
                          <a:ea typeface="Microsoft YaHei"/>
                        </a:rPr>
                        <a:t>At the end, we hold a review.</a:t>
                      </a:r>
                    </a:p>
                  </a:txBody>
                  <a:tcPr anchor="ctr">
                    <a:solidFill>
                      <a:srgbClr val="FFFFFF"/>
                    </a:solidFill>
                  </a:tcPr>
                </a:tc>
              </a:tr>
              <a:tr h="408432">
                <a:tc>
                  <a:txBody>
                    <a:bodyPr wrap="square"/>
                    <a:lstStyle/>
                    <a:p>
                      <a:r>
                        <a:rPr sz="1600" b="1">
                          <a:solidFill>
                            <a:srgbClr val="1F2A44"/>
                          </a:solidFill>
                          <a:latin typeface="Arial"/>
                          <a:ea typeface="Microsoft YaHei"/>
                        </a:rPr>
                        <a:t>Instructions</a:t>
                      </a:r>
                    </a:p>
                  </a:txBody>
                  <a:tcPr anchor="ctr">
                    <a:solidFill>
                      <a:srgbClr val="FFEFD9"/>
                    </a:solidFill>
                  </a:tcPr>
                </a:tc>
                <a:tc>
                  <a:txBody>
                    <a:bodyPr wrap="square"/>
                    <a:lstStyle/>
                    <a:p>
                      <a:r>
                        <a:rPr sz="1600" b="0">
                          <a:solidFill>
                            <a:srgbClr val="1F2A44"/>
                          </a:solidFill>
                          <a:latin typeface="Arial"/>
                          <a:ea typeface="Microsoft YaHei"/>
                        </a:rPr>
                        <a:t>Add it to the backlog.</a:t>
                      </a:r>
                    </a:p>
                  </a:txBody>
                  <a:tcPr anchor="ctr">
                    <a:solidFill>
                      <a:srgbClr val="FFEFD9"/>
                    </a:solidFill>
                  </a:tcPr>
                </a:tc>
              </a:tr>
            </a:tbl>
          </a:graphicData>
        </a:graphic>
      </p:graphicFrame>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Describing processes in the present simple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用一般现在时描述流程</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the passive for processes: </a:t>
            </a:r>
            <a:r>
              <a:rPr sz="1700" b="0">
                <a:solidFill>
                  <a:srgbClr val="1F2A44"/>
                </a:solidFill>
                <a:latin typeface="Arial"/>
                <a:ea typeface="Microsoft YaHei"/>
              </a:rPr>
              <a:t>Work is divided; use active for team routines: We meet daily.</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are having a stand-up every 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a stand-up every day.</a:t>
            </a:r>
          </a:p>
          <a:p>
            <a:pPr algn="l">
              <a:spcAft>
                <a:spcPts val="200"/>
              </a:spcAft>
            </a:pPr>
            <a:r>
              <a:rPr sz="1200" b="0">
                <a:solidFill>
                  <a:srgbClr val="FFFFFF"/>
                </a:solidFill>
                <a:latin typeface="Arial"/>
                <a:ea typeface="Microsoft YaHei"/>
              </a:rPr>
              <a:t>一般现在时(习惯)</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sprint is lasts two weeks.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sprint lasts two weeks.</a:t>
            </a:r>
          </a:p>
          <a:p>
            <a:pPr algn="l">
              <a:spcAft>
                <a:spcPts val="200"/>
              </a:spcAft>
            </a:pPr>
            <a:r>
              <a:rPr sz="1200" b="0">
                <a:solidFill>
                  <a:srgbClr val="FFFFFF"/>
                </a:solidFill>
                <a:latin typeface="Arial"/>
                <a:ea typeface="Microsoft YaHei"/>
              </a:rPr>
              <a:t>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discuss about the improvements.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discuss the improvements.</a:t>
            </a:r>
          </a:p>
          <a:p>
            <a:pPr algn="l">
              <a:spcAft>
                <a:spcPts val="200"/>
              </a:spcAft>
            </a:pPr>
            <a:r>
              <a:rPr sz="1200" b="0">
                <a:solidFill>
                  <a:srgbClr val="FFFFFF"/>
                </a:solidFill>
                <a:latin typeface="Arial"/>
                <a:ea typeface="Microsoft YaHei"/>
              </a:rPr>
              <a:t>discuss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did the report yesterday and today I do the testing.</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do the testing today. / I’m doing the testing today.</a:t>
            </a:r>
          </a:p>
          <a:p>
            <a:pPr algn="l">
              <a:spcAft>
                <a:spcPts val="200"/>
              </a:spcAft>
            </a:pPr>
            <a:r>
              <a:rPr sz="1200" b="0">
                <a:solidFill>
                  <a:srgbClr val="FFFFFF"/>
                </a:solidFill>
                <a:latin typeface="Arial"/>
                <a:ea typeface="Microsoft YaHei"/>
              </a:rPr>
              <a:t>计划</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team members is meeting.</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team members are meeting.</a:t>
            </a:r>
          </a:p>
          <a:p>
            <a:pPr algn="l">
              <a:spcAft>
                <a:spcPts val="200"/>
              </a:spcAft>
            </a:pPr>
            <a:r>
              <a:rPr sz="1200" b="0">
                <a:solidFill>
                  <a:srgbClr val="FFFFFF"/>
                </a:solidFill>
                <a:latin typeface="Arial"/>
                <a:ea typeface="Microsoft YaHei"/>
              </a:rPr>
              <a:t>复数</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block by a bug.</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blocked by a bug.</a:t>
            </a:r>
          </a:p>
          <a:p>
            <a:pPr algn="l">
              <a:spcAft>
                <a:spcPts val="200"/>
              </a:spcAft>
            </a:pPr>
            <a:r>
              <a:rPr sz="1200" b="0">
                <a:solidFill>
                  <a:srgbClr val="FFFFFF"/>
                </a:solidFill>
                <a:latin typeface="Arial"/>
                <a:ea typeface="Microsoft YaHei"/>
              </a:rPr>
              <a:t>被动</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present simple for routines, discuss + object, passive with -ed.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Short and standing. Stand-ups are brief by design; keep to the point.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Honest status. Say “I’m blocked” without shame.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No blame in retros. Focus on process, not people.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Agile jargon is widespread. Learn “sprint”, “backlog”, “MVP”, “velocity”.</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Scrum roles and events.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stand-up update.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run or join a retrospective.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present simple and passive for processes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 · Lesson 66 Agile Scrum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Scrum in 90 seconds using the passive at least twice.</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present simple, passive, discuss + object.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招摇的</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ostentatious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代表(价值)</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stand for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If the checkout will be simple, people will buy.</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If the checkout is simple, people will buy.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premium price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They charge a premium price.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业务规模超出</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outgrow (a system)</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understated</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She wore an understated outfit.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“现金流”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cash flow</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“炫耀性珠宝/装饰”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bling</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“浮夸的”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flashy / showy</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Customers believe to the brand.</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Customers believe in the brand. / trust the brand.</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We discuss about the improvements.</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discuss the improvements.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197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198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13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