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8: Talent Recruitment — Self-Study Workbook (Lessons 37–41)</a:t>
            </a:r>
          </a:p>
          <a:p/>
          <a:p>
            <a:r>
              <a:t>开场：简单介绍本单元的主题和要完成的 5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37 · Who is a better job candidate? 谁是更好的求职者?</a:t>
            </a:r>
          </a:p>
          <a:p>
            <a:r>
              <a:t>Goal: compare two job candidates, weigh strengths and weaknesses and justify a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“candidate” = 求职者;“red flag” = 危险信号。第 4 题 “Have you ever hired” 现在完成时问经历。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Compare two candidates and say which one you would choose.</a:t>
            </a:r>
          </a:p>
          <a:p>
            <a:r>
              <a:t>Say: candidate A → candidate B → comparison → recommendation.</a:t>
            </a:r>
          </a:p>
          <a:p>
            <a:r>
              <a:t>Useful starters: “On paper, … is stronger, but…” / “… is more … than …” / “On balance, I’d go for…” / “The deciding factor is…”</a:t>
            </a:r>
          </a:p>
          <a:p>
            <a:r>
              <a:t>“on balance” = 权衡之后;“the deciding factor” = 决定性因素。</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small design agency had two finalists for a team leader role. Maria had eight years’ experience, a strong portfolio and a calm manner. Kenji had only three years, but he had started a student project that grew into a small company, and he asked sharp questions about the agency’s future. The hiring manager was torn. “Maria is the safer choice,” she said, “but Kenji may grow faster.” The team agreed on a decisive question: what does the agency need in the next year? The answer was stability while they moved into a new market. They hired Maria and offered Kenji a place on a leadership trainee scheme. Months later, both were doing well. The manager’s lesson was that “better” depends on the need, not on the person alone.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were the strengths of each candidate?</a:t>
            </a:r>
          </a:p>
          <a:p>
            <a:r>
              <a:t>A: Maria: experience, portfolio, calm; Kenji: entrepreneurial project, sharp questions.</a:t>
            </a:r>
          </a:p>
          <a:p>
            <a:r>
              <a:t>Q2. What was the decisive question?</a:t>
            </a:r>
          </a:p>
          <a:p>
            <a:r>
              <a:t>A: What does the agency need in the next year?</a:t>
            </a:r>
          </a:p>
          <a:p>
            <a:r>
              <a:t>Q3. What did the agency do for the other candidate?</a:t>
            </a:r>
          </a:p>
          <a:p>
            <a:r>
              <a:t>A: Offered Kenji a place on a leadership trainee scheme.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Comparing candidates 比较求职者</a:t>
            </a:r>
          </a:p>
          <a:p>
            <a:r>
              <a:t>领读 → 学员跟读 → 请学员用表达造一个和自己工作相关的句子。</a:t>
            </a:r>
          </a:p>
          <a:p>
            <a:r>
              <a:t>strengths and weaknesses (noun phrase) 优势与劣势 — “What are her strengths and weaknesses?”</a:t>
            </a:r>
          </a:p>
          <a:p>
            <a:r>
              <a:t>stronger / more experienced than (comparative) 比…更强/更有经验 — “She is more experienced than him.”</a:t>
            </a:r>
          </a:p>
          <a:p>
            <a:r>
              <a:t>by far the strongest (phrase) 远比其他人强 — “She is by far the strongest candidate.”</a:t>
            </a:r>
          </a:p>
          <a:p>
            <a:r>
              <a:t>★ on paper (idiom) 履历上 — “On paper, he is ideal.”</a:t>
            </a:r>
          </a:p>
          <a:p>
            <a:r>
              <a:t>★ a safe pair of hands (idiom) 稳妥可靠的人 — “She’s a safe pair of hands.”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Potential 潜力</a:t>
            </a:r>
          </a:p>
          <a:p>
            <a:r>
              <a:t>领读 → 学员跟读 → 请学员用表达造一个和自己工作相关的句子。</a:t>
            </a:r>
          </a:p>
          <a:p>
            <a:r>
              <a:t>potential (noun) 潜力 — “He has a lot of potential.”</a:t>
            </a:r>
          </a:p>
          <a:p>
            <a:r>
              <a:t>quick learner (noun) 学得快的人 — “She’s a quick learner.”</a:t>
            </a:r>
          </a:p>
          <a:p>
            <a:r>
              <a:t>track record (noun) 过往业绩 — “He has a strong track record.”</a:t>
            </a:r>
          </a:p>
          <a:p>
            <a:r>
              <a:t>★ a rough diamond (idiom) 璞玉 — “He’s a rough diamond.”</a:t>
            </a:r>
          </a:p>
          <a:p>
            <a:r>
              <a:t>★ steep learning curve (noun) 陡峭的学习曲线 — “The role has a steep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Recommending 推荐</a:t>
            </a:r>
          </a:p>
          <a:p>
            <a:r>
              <a:t>领读 → 学员跟读 → 请学员用表达造一个和自己工作相关的句子。</a:t>
            </a:r>
          </a:p>
          <a:p>
            <a:r>
              <a:t>the deciding factor (noun) 决定性因素 — “Experience was the deciding factor.”</a:t>
            </a:r>
          </a:p>
          <a:p>
            <a:r>
              <a:t>on balance (phrase) 权衡后 — “On balance, I’d choose Maria.”</a:t>
            </a:r>
          </a:p>
          <a:p>
            <a:r>
              <a:t>I’d lean towards… (phrase) 我倾向于… — “I’d lean towards Kenji.”</a:t>
            </a:r>
          </a:p>
          <a:p>
            <a:r>
              <a:t>★ tip the balance (collocation) 起决定作用 — “Her references tipped the balance.”</a:t>
            </a:r>
          </a:p>
          <a:p>
            <a:r>
              <a:t>★ shortlist (noun/verb) 入围名单 — “She made the shortlist.”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strengths / paper / potential / record / balance / factor</a:t>
            </a:r>
          </a:p>
          <a:p>
            <a:r>
              <a:t>1. What are his _______ and weaknesses? → strengths</a:t>
            </a:r>
          </a:p>
          <a:p>
            <a:r>
              <a:t>2. On _______, she is ideal. → paper</a:t>
            </a:r>
          </a:p>
          <a:p>
            <a:r>
              <a:t>3. He has a lot of _______. → potential</a:t>
            </a:r>
          </a:p>
          <a:p>
            <a:r>
              <a:t>4. She has a strong track _______. → record</a:t>
            </a:r>
          </a:p>
          <a:p>
            <a:r>
              <a:t>5. On _______, I’d choose Maria. → balance</a:t>
            </a:r>
          </a:p>
          <a:p>
            <a:r>
              <a:t>6. Experience was the deciding _______. → factor</a:t>
            </a:r>
          </a:p>
          <a:p>
            <a:r>
              <a:t>Mistake Watch: (比较级) more experienced than(不用 more experience than, 不加 -er);the most qualified (-ed 形容词用 most)。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two finalists 比较两位终选者</a:t>
            </a:r>
          </a:p>
          <a:p>
            <a:r>
              <a:t>情景：You and a colleague choose between two candidates.</a:t>
            </a:r>
          </a:p>
          <a:p>
            <a:r>
              <a:t>Role A: Hiring manager Role B: Team lead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Let’s compare Maria and Kenji. Who has the stronger track record?</a:t>
            </a:r>
          </a:p>
          <a:p>
            <a:r>
              <a:t>B: Maria, by far. She’s more experienced than Kenji.</a:t>
            </a:r>
          </a:p>
          <a:p>
            <a:r>
              <a:t>A: But Kenji is a quick learner and has real potential.</a:t>
            </a:r>
          </a:p>
          <a:p>
            <a:r>
              <a:t>B: That’s true. On paper, Maria is safer, though.</a:t>
            </a:r>
          </a:p>
          <a:p>
            <a:r>
              <a:t>A: What does the team need this year?</a:t>
            </a:r>
          </a:p>
          <a:p>
            <a:r>
              <a:t>B: Stability. We’re entering a new market.</a:t>
            </a:r>
          </a:p>
          <a:p>
            <a:r>
              <a:t>A: Then on balance, I’d go for Maria, and offer Kenji a trainee role.</a:t>
            </a:r>
          </a:p>
          <a:p>
            <a:r>
              <a:t>B: I agree. That’s a fair compromise.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compare two candidates.</a:t>
            </a:r>
          </a:p>
          <a:p>
            <a:r>
              <a:t>Your role (A) | Hiring manager.</a:t>
            </a:r>
          </a:p>
          <a:p>
            <a:r>
              <a:t>Partner’s role (B) | Team lead. Candidates: ______________</a:t>
            </a:r>
          </a:p>
          <a:p>
            <a:r>
              <a:t>Must use (3 or more) | track record · more… than · on paper · potential · on balance</a:t>
            </a:r>
          </a:p>
          <a:p>
            <a:r>
              <a:t>Goal | Compare strengths, link to the team need and agree.</a:t>
            </a:r>
          </a:p>
          <a:p>
            <a:r>
              <a:t>My notes | ____________________________________________</a:t>
            </a:r>
          </a:p>
          <a:p>
            <a:r>
              <a:t>Add a risk for each candidate.</a:t>
            </a:r>
          </a:p>
          <a:p>
            <a:r>
              <a:t>Use “not as… as”.</a:t>
            </a:r>
          </a:p>
          <a:p>
            <a:r>
              <a:t>Discuss the salary gap.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Defending your recommendation 为你的推荐辩护</a:t>
            </a:r>
          </a:p>
          <a:p>
            <a:r>
              <a:t>情景：A director challenges your choice.</a:t>
            </a:r>
          </a:p>
          <a:p>
            <a:r>
              <a:t>Role A: Director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Why did you choose Kenji over Maria?</a:t>
            </a:r>
          </a:p>
          <a:p>
            <a:r>
              <a:t>B: Mainly because of his potential and the way he asked questions.</a:t>
            </a:r>
          </a:p>
          <a:p>
            <a:r>
              <a:t>A: Isn’t that a risk? He has less experience.</a:t>
            </a:r>
          </a:p>
          <a:p>
            <a:r>
              <a:t>B: It is, but he’s a quick learner and the role has a steep learning curve for anyone.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tipped the balance?</a:t>
            </a:r>
          </a:p>
          <a:p>
            <a:r>
              <a:t>B: His project showed initiative. And his references were excellent.</a:t>
            </a:r>
          </a:p>
          <a:p>
            <a:r>
              <a:t>A: OK. I’m willing to trust your judgement.</a:t>
            </a:r>
          </a:p>
          <a:p>
            <a:r>
              <a:t>B: Thank you. I’ll review his progress after three months.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defend a hiring recommendation.</a:t>
            </a:r>
          </a:p>
          <a:p>
            <a:r>
              <a:t>Your role (A) | Director.</a:t>
            </a:r>
          </a:p>
          <a:p>
            <a:r>
              <a:t>Partner’s role (B) | Recommender. Candidate: ______________</a:t>
            </a:r>
          </a:p>
          <a:p>
            <a:r>
              <a:t>Must use (3 or more) | potential · risk · tipped the balance · references · review progress</a:t>
            </a:r>
          </a:p>
          <a:p>
            <a:r>
              <a:t>Goal | Explain your reasons, admit the risk and offer a safeguard.</a:t>
            </a:r>
          </a:p>
          <a:p>
            <a:r>
              <a:t>My notes | ____________________________________________</a:t>
            </a:r>
          </a:p>
          <a:p>
            <a:r>
              <a:t>Offer a probation review.</a:t>
            </a:r>
          </a:p>
          <a:p>
            <a:r>
              <a:t>Answer “What if he leaves?”</a:t>
            </a:r>
          </a:p>
          <a:p>
            <a:r>
              <a:t>Suggest a development plan.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experience more valuable than potential? | “It depends on… / In a start-up…”</a:t>
            </a:r>
          </a:p>
          <a:p>
            <a:r>
              <a:t>2. How reliable are interviews? | “They can be misleading because…”</a:t>
            </a:r>
          </a:p>
          <a:p>
            <a:r>
              <a:t>3. What would make you reject a strong candidate? | “A big red flag would be…”</a:t>
            </a:r>
          </a:p>
          <a:p>
            <a:r>
              <a:t>4. How should you treat candidates you don’t hire? | “I’d… so that they…”</a:t>
            </a:r>
          </a:p>
          <a:p>
            <a:r>
              <a:t>5. Describe an ideal candidate for your team. | “Someone who… and who…”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“It depends on the role and the team. For a senior position, I’d lean towards experience, because mistakes are costly. For a growing team, however, potential can be more valuable because people grow with the company. Ideally, I’d choose someone with both, but if I had to pick one, I’d look at how fast the person learns.”</a:t>
            </a:r>
          </a:p>
          <a:p>
            <a:r>
              <a:t>“It depends on” 依情况而定;“if I had to pick one” 如果必须选一个(第二条件句)。</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Comparatives and superlatives 比较级与最高级</a:t>
            </a:r>
          </a:p>
          <a:p>
            <a:r>
              <a:t>Structure | Example</a:t>
            </a:r>
          </a:p>
          <a:p>
            <a:r>
              <a:t>more + adj + than | Maria is more experienced than Kenji.</a:t>
            </a:r>
          </a:p>
          <a:p>
            <a:r>
              <a:t>not as + adj + as | Kenji isn’t as experienced as Maria.</a:t>
            </a:r>
          </a:p>
          <a:p>
            <a:r>
              <a:t>by far the + superlative | She’s by far the strongest candidate.</a:t>
            </a:r>
          </a:p>
          <a:p>
            <a:r>
              <a:t>the + comparative, the + comparative | The more you prepare, the better you perform.</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Comparatives and superlatives 比较级与最高级</a:t>
            </a:r>
          </a:p>
          <a:p>
            <a:r>
              <a:t>Modify comparisons: slightly, a bit, much, far, a lot + comparative.</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She is more experienced that him.  →  ✓ She is more experienced than him.  (than)</a:t>
            </a:r>
          </a:p>
          <a:p>
            <a:r>
              <a:t>✗ He is more better than her.  →  ✓ He is better than her.  (better 已是比较级)</a:t>
            </a:r>
          </a:p>
          <a:p>
            <a:r>
              <a:t>✗ She has many experience.  →  ✓ She has a lot of experience.  (experience 不可数)</a:t>
            </a:r>
          </a:p>
          <a:p>
            <a:r>
              <a:t>Mistake Watch: Check more… than, no double comparatives, and the same.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He is the more qualified candidate of all.  →  ✓ He is the most qualified candidate of all.  (三者以上用最高级)</a:t>
            </a:r>
          </a:p>
          <a:p>
            <a:r>
              <a:t>✗ I will choose the one who is the more strong.  →  ✓ I will choose the stronger one.  (stronger)</a:t>
            </a:r>
          </a:p>
          <a:p>
            <a:r>
              <a:t>✗ This is a same decision.  →  ✓ This is the same decision.  (the same)</a:t>
            </a:r>
          </a:p>
          <a:p>
            <a:r>
              <a:t>Mistake Watch: Check more… than, no double comparatives, and the same.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Use criteria. Compare candidates against the same list, not just “feeling”.</a:t>
            </a:r>
          </a:p>
          <a:p>
            <a:r>
              <a:t>Be fair in language. Describe skills and behaviour, not personal characteristics.</a:t>
            </a:r>
          </a:p>
          <a:p>
            <a:r>
              <a:t>Record reasons. Many firms require written interview notes.</a:t>
            </a:r>
          </a:p>
          <a:p>
            <a:r>
              <a:t>Treat everyone well. Unsuccessful candidates can become customers or future hires.</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candidates using more… than and not as… as.</a:t>
            </a:r>
          </a:p>
          <a:p>
            <a:r>
              <a:t>I can recommend with on balance / I’d lean towards.</a:t>
            </a:r>
          </a:p>
          <a:p>
            <a:r>
              <a:t>I can name strengths and weaknesses diplomatically.</a:t>
            </a:r>
          </a:p>
          <a:p>
            <a:r>
              <a:t>I avoid double comparatives (more better).</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Compare two people or products in 5 sentences, then recommend one.</a:t>
            </a:r>
          </a:p>
          <a:p>
            <a:r>
              <a:t>8–10 | Listen to your recording. Check: more than, better (not more better), the same, than me.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38 · Selecting a job candidate 筛选求职者</a:t>
            </a:r>
          </a:p>
          <a:p>
            <a:r>
              <a:t>Goal: describe the steps of selecting candidates, from shortlisting to final decision, and discuss interview feedback.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题描述流程用一般现在时。“shortlist” 名词/动词 = 入围名单/列入名单。</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your company selects a candidate.</a:t>
            </a:r>
          </a:p>
          <a:p>
            <a:r>
              <a:t>Say: job advert → screening → interviews → decision → offer.</a:t>
            </a:r>
          </a:p>
          <a:p>
            <a:r>
              <a:t>Useful starters: “First, we…” / “Once we’ve screened…, we…” / “After that, …” / “Finally, we make an offer.”</a:t>
            </a:r>
          </a:p>
          <a:p>
            <a:r>
              <a:t>“Once + 现在完成时” 表示”一旦…完成就…“。</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typical selection process looks like a funnel. First, the recruiter posts a job advert and receives around 200 applications. A quick screening, sometimes done by software, removes CVs that do not meet the basic requirements. Roughly 20 people are then phoned for a short chat. Of these, six are invited to interviews with the hiring manager. After the interviews, the panel compares notes using a scoring sheet. Two finalists meet the wider team or complete a task. Before the offer, the company checks references. The process is slow, but each stage reduces risk, because weak matches are removed early and the interviewers’ time is spent on the strongest people. The most common mistake is changing the criteria halfway. If the job needs strong communication, agree this before the first interview, and keep to it.</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many people are invited to interviews?</a:t>
            </a:r>
          </a:p>
          <a:p>
            <a:r>
              <a:t>A: About six.</a:t>
            </a:r>
          </a:p>
          <a:p>
            <a:r>
              <a:t>Q2. What happens before the offer is made?</a:t>
            </a:r>
          </a:p>
          <a:p>
            <a:r>
              <a:t>A: The company checks references.</a:t>
            </a:r>
          </a:p>
          <a:p>
            <a:r>
              <a:t>Q3. What is the most common mistake?</a:t>
            </a:r>
          </a:p>
          <a:p>
            <a:r>
              <a:t>A: Changing the criteria halfway through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process 流程</a:t>
            </a:r>
          </a:p>
          <a:p>
            <a:r>
              <a:t>领读 → 学员跟读 → 请学员用表达造一个和自己工作相关的句子。</a:t>
            </a:r>
          </a:p>
          <a:p>
            <a:r>
              <a:t>job advert / posting (noun) 招聘广告 — “We posted the advert last week.”</a:t>
            </a:r>
          </a:p>
          <a:p>
            <a:r>
              <a:t>screening (noun) 初筛 — “Screening removes unsuitable CVs.”</a:t>
            </a:r>
          </a:p>
          <a:p>
            <a:r>
              <a:t>shortlist (verb) 列入入围名单 — “We shortlisted six candidates.”</a:t>
            </a:r>
          </a:p>
          <a:p>
            <a:r>
              <a:t>★ weed out (phrasal verb) 筛除 — “We weed out weak applications.”</a:t>
            </a:r>
          </a:p>
          <a:p>
            <a:r>
              <a:t>★ narrow down (phrasal verb) 缩小范围 — “We narrowed it down to two.”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Interviews 面试</a:t>
            </a:r>
          </a:p>
          <a:p>
            <a:r>
              <a:t>领读 → 学员跟读 → 请学员用表达造一个和自己工作相关的句子。</a:t>
            </a:r>
          </a:p>
          <a:p>
            <a:r>
              <a:t>panel interview (noun) 小组面试 — “She had a panel interview.”</a:t>
            </a:r>
          </a:p>
          <a:p>
            <a:r>
              <a:t>competency-based questions (noun) 胜任力问题 — “We ask competency-based questions.”</a:t>
            </a:r>
          </a:p>
          <a:p>
            <a:r>
              <a:t>follow-up question (noun) 追问 — “Ask a follow-up question.”</a:t>
            </a:r>
          </a:p>
          <a:p>
            <a:r>
              <a:t>★ probe (verb) 深入追问 — “Probe for specific examples.”</a:t>
            </a:r>
          </a:p>
          <a:p>
            <a:r>
              <a:t>★ come across as (phrasal verb) 给人…的印象 — “He came across as confident.”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Decision 决定</a:t>
            </a:r>
          </a:p>
          <a:p>
            <a:r>
              <a:t>领读 → 学员跟读 → 请学员用表达造一个和自己工作相关的句子。</a:t>
            </a:r>
          </a:p>
          <a:p>
            <a:r>
              <a:t>scoring sheet (noun) 评分表 — “Complete the scoring sheet.”</a:t>
            </a:r>
          </a:p>
          <a:p>
            <a:r>
              <a:t>check references (collocation) 核实推荐信 — “We’ll check references next.”</a:t>
            </a:r>
          </a:p>
          <a:p>
            <a:r>
              <a:t>make an offer (collocation) 发出录用通知 — “We made her an offer.”</a:t>
            </a:r>
          </a:p>
          <a:p>
            <a:r>
              <a:t>★ offer letter (noun) 录用函 — “She signed the offer letter.”</a:t>
            </a:r>
          </a:p>
          <a:p>
            <a:r>
              <a:t>★ on the fence (idiom) 犹豫不决 — “I’m on the fence about him.”</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advert / shortlisted / panel / probe / references / offer</a:t>
            </a:r>
          </a:p>
          <a:p>
            <a:r>
              <a:t>1. We posted the job _______ last week. → advert</a:t>
            </a:r>
          </a:p>
          <a:p>
            <a:r>
              <a:t>2. We _______ six candidates. → shortlisted</a:t>
            </a:r>
          </a:p>
          <a:p>
            <a:r>
              <a:t>3. She had a _______ interview with three managers. → panel</a:t>
            </a:r>
          </a:p>
          <a:p>
            <a:r>
              <a:t>4. Ask follow-up questions to _______ for examples. → probe</a:t>
            </a:r>
          </a:p>
          <a:p>
            <a:r>
              <a:t>5. We’ll check _______ next. → references</a:t>
            </a:r>
          </a:p>
          <a:p>
            <a:r>
              <a:t>6. We decided to make her an _______. → offer</a:t>
            </a:r>
          </a:p>
          <a:p>
            <a:r>
              <a:t>Mistake Watch: (拼写与搭配) advertisement / advert / ad; apply FOR a job, apply TO a company; reference 可数。</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the process 介绍招聘流程</a:t>
            </a:r>
          </a:p>
          <a:p>
            <a:r>
              <a:t>情景：A new colleague asks how hiring works.</a:t>
            </a:r>
          </a:p>
          <a:p>
            <a:r>
              <a:t>Role A: New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does hiring work here?</a:t>
            </a:r>
          </a:p>
          <a:p>
            <a:r>
              <a:t>B: First, HR posts the advert. Then they screen the CVs and shortlist about ten people.</a:t>
            </a:r>
          </a:p>
          <a:p>
            <a:r>
              <a:t>A: And after that?</a:t>
            </a:r>
          </a:p>
          <a:p>
            <a:r>
              <a:t>B: Once they’ve been phoned, six come for interviews with me and a panel.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do you ask?</a:t>
            </a:r>
          </a:p>
          <a:p>
            <a:r>
              <a:t>B: Mostly competency-based questions. I probe for specific examples.</a:t>
            </a:r>
          </a:p>
          <a:p>
            <a:r>
              <a:t>A: How do you decide?</a:t>
            </a:r>
          </a:p>
          <a:p>
            <a:r>
              <a:t>B: We use a scoring sheet, check references, and then make an offer.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explain a selection process.</a:t>
            </a:r>
          </a:p>
          <a:p>
            <a:r>
              <a:t>Your role (A) | New colleague.</a:t>
            </a:r>
          </a:p>
          <a:p>
            <a:r>
              <a:t>Partner’s role (B) | Experienced interviewer. Role: ______________</a:t>
            </a:r>
          </a:p>
          <a:p>
            <a:r>
              <a:t>Must use (3 or more) | First, … · Once they’ve… · After that, … · shortlist · scoring sheet</a:t>
            </a:r>
          </a:p>
          <a:p>
            <a:r>
              <a:t>Goal | Describe each stage in order with linking words.</a:t>
            </a:r>
          </a:p>
          <a:p>
            <a:r>
              <a:t>My notes | ____________________________________________</a:t>
            </a:r>
          </a:p>
          <a:p>
            <a:r>
              <a:t>Add timings for each stage.</a:t>
            </a:r>
          </a:p>
          <a:p>
            <a:r>
              <a:t>Point out one weakness in the process.</a:t>
            </a:r>
          </a:p>
          <a:p>
            <a:r>
              <a:t>Explain how you’d improve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Interview debrief 面试后复盘</a:t>
            </a:r>
          </a:p>
          <a:p>
            <a:r>
              <a:t>情景：Two interviewers compare their notes.</a:t>
            </a:r>
          </a:p>
          <a:p>
            <a:r>
              <a:t>Role A: Interviewer 1 Role B: Interviewer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how did Priya do?</a:t>
            </a:r>
          </a:p>
          <a:p>
            <a:r>
              <a:t>B: She came across as confident, and her examples were specific.</a:t>
            </a:r>
          </a:p>
          <a:p>
            <a:r>
              <a:t>A: I agree. My only concern is that she seemed unsure about the budget.</a:t>
            </a:r>
          </a:p>
          <a:p>
            <a:r>
              <a:t>B: I’ll probe that in the second round.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Tom?</a:t>
            </a:r>
          </a:p>
          <a:p>
            <a:r>
              <a:t>B: I’m on the fence. He’s friendly, but his answers were vague.</a:t>
            </a:r>
          </a:p>
          <a:p>
            <a:r>
              <a:t>A: Let’s narrow it down to Priya and one other.</a:t>
            </a:r>
          </a:p>
          <a:p>
            <a:r>
              <a:t>B: Fine. I’ll update the scoring sheet.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debrief after interviews.</a:t>
            </a:r>
          </a:p>
          <a:p>
            <a:r>
              <a:t>Your role (A) | Interviewer 1.</a:t>
            </a:r>
          </a:p>
          <a:p>
            <a:r>
              <a:t>Partner’s role (B) | Interviewer 2. Candidates: ______________</a:t>
            </a:r>
          </a:p>
          <a:p>
            <a:r>
              <a:t>Must use (3 or more) | came across as · specific examples · on the fence · narrow it down · scoring sheet</a:t>
            </a:r>
          </a:p>
          <a:p>
            <a:r>
              <a:t>Goal | Give balanced feedback and agree who goes forward.</a:t>
            </a:r>
          </a:p>
          <a:p>
            <a:r>
              <a:t>My notes | ____________________________________________</a:t>
            </a:r>
          </a:p>
          <a:p>
            <a:r>
              <a:t>Disagree politely about a candidate.</a:t>
            </a:r>
          </a:p>
          <a:p>
            <a:r>
              <a:t>Point out a possible bias.</a:t>
            </a:r>
          </a:p>
          <a:p>
            <a:r>
              <a:t>Decide on next steps.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most important stage in hiring? | “I’d say… because…”</a:t>
            </a:r>
          </a:p>
          <a:p>
            <a:r>
              <a:t>2. Is it fair to use software to screen CVs? | “It can be quick, but…”</a:t>
            </a:r>
          </a:p>
          <a:p>
            <a:r>
              <a:t>3. What makes a good interview question? | “A good question is one that…”</a:t>
            </a:r>
          </a:p>
          <a:p>
            <a:r>
              <a:t>4. How long should a hiring process take? | “Ideally, no more than…”</a:t>
            </a:r>
          </a:p>
          <a:p>
            <a:r>
              <a:t>5. Should candidates meet the team? | “Yes, because…”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“Ideally, a hiring process should take no more than four to six weeks. Top candidates often receive several offers, so a slow process risks losing them. On the other hand, rushing can lead to poor decisions. I think a good compromise is to plan the stages, tell candidates the timeline, and reply within a few days after each stage.”</a:t>
            </a:r>
          </a:p>
          <a:p>
            <a:r>
              <a:t>“no more than” 不超过;“on the other hand” 另一方面。</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process 描述流程</a:t>
            </a:r>
          </a:p>
          <a:p>
            <a:r>
              <a:t>Sequence word | Example</a:t>
            </a:r>
          </a:p>
          <a:p>
            <a:r>
              <a:t>First / Firstly | First, HR posts the advert.</a:t>
            </a:r>
          </a:p>
          <a:p>
            <a:r>
              <a:t>Then / Next / After that | Then they screen the CVs.</a:t>
            </a:r>
          </a:p>
          <a:p>
            <a:r>
              <a:t>Once + present perfect | Once they’ve been phoned, they come in.</a:t>
            </a:r>
          </a:p>
          <a:p>
            <a:r>
              <a:t>Finally / Eventually | Finally, we make an offer.</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process 描述流程</a:t>
            </a:r>
          </a:p>
          <a:p>
            <a:r>
              <a:t>In a process description, use the present simple and the passive: CVs are screened, candidates are invited.</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apply to this job.  →  ✓ I’m applying for this job.  (apply for)</a:t>
            </a:r>
          </a:p>
          <a:p>
            <a:r>
              <a:t>✗ They are interviewed by the panel for the three weeks.  →  ✓ They are interviewed by the panel over three weeks.  (介词)</a:t>
            </a:r>
          </a:p>
          <a:p>
            <a:r>
              <a:t>✗ At first, we post the advert. Then we screen the CVs.  →  ✓ First, we post the advert. Then we screen the CVs.  (at first 表示”起初”,不是”第一步”)</a:t>
            </a:r>
          </a:p>
          <a:p>
            <a:r>
              <a:t>Mistake Watch: Check apply for, passive with -ed, and -ed / -ing adjectives.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Six candidates are shortlist.  →  ✓ Six candidates are shortlisted.  (被动要用 -ed)</a:t>
            </a:r>
          </a:p>
          <a:p>
            <a:r>
              <a:t>✗ We will inform you the result.  →  ✓ We will let you know the result.  (inform sb of)</a:t>
            </a:r>
          </a:p>
          <a:p>
            <a:r>
              <a:t>✗ The interview was very tired.  →  ✓ The interview was very tiring.  (tiring)</a:t>
            </a:r>
          </a:p>
          <a:p>
            <a:r>
              <a:t>Mistake Watch: Check apply for, passive with -ed, and -ed / -ing adjectives.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Structured process. Many firms ask all candidates the same questions to keep it fair.</a:t>
            </a:r>
          </a:p>
          <a:p>
            <a:r>
              <a:t>Feedback. Good companies tell candidates the outcome; silence is seen as unprofessional.</a:t>
            </a:r>
          </a:p>
          <a:p>
            <a:r>
              <a:t>Reference checks. Normal at the end; candidates usually name referees themselves.</a:t>
            </a:r>
          </a:p>
          <a:p>
            <a:r>
              <a:t>Interviews are two-way. Candidates are expected to ask questions.</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recruitment process with sequence words.</a:t>
            </a:r>
          </a:p>
          <a:p>
            <a:r>
              <a:t>I can give balanced feedback on a candidate.</a:t>
            </a:r>
          </a:p>
          <a:p>
            <a:r>
              <a:t>I can use passive forms (are screened, are shortlisted).</a:t>
            </a:r>
          </a:p>
          <a:p>
            <a:r>
              <a:t>I use apply for and let someone know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your company’s hiring process (or an imagined one) in 90 seconds.</a:t>
            </a:r>
          </a:p>
          <a:p>
            <a:r>
              <a:t>8–10 | Listen to your recording. Check: apply for, passive, sequencing, -ed/-ing.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39 · Hiring choices 招聘选择</a:t>
            </a:r>
          </a:p>
          <a:p>
            <a:r>
              <a:t>Goal: discuss hiring choices (internal vs external, skills vs fit, full-time vs freelance) and justify them.</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“culture fit” = 与企业文化契合;“hire from outside” = 外部招聘。第 1 题 “promote from within” 内部提拔。</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the pros and cons of internal versus external hiring.</a:t>
            </a:r>
          </a:p>
          <a:p>
            <a:r>
              <a:t>Say: option 1 → pros/cons → option 2 → pros/cons → your choice.</a:t>
            </a:r>
          </a:p>
          <a:p>
            <a:r>
              <a:t>Useful starters: “The advantage of … is…” / “On the downside, …” / “While … can …, …” / “All things considered, …”</a:t>
            </a:r>
          </a:p>
          <a:p>
            <a:r>
              <a:t>“While A…, B…” 引导让步对比;“all things considered” = 综合考虑。</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When a senior role opens up, companies face a classic choice: promote someone from the team or hire from outside. An internal hire already knows the culture, needs less training and may feel motivated by the opportunity. Colleagues see that progress is possible. However, the person may lack fresh ideas, and those not promoted may feel disappointed. An external hire brings new perspectives and skills the team lacks. The risk is that they may take months to understand how things work, and may not fit the culture. Some companies solve this by opening every role to both groups and using the same criteria. Others hire for attitude and train for skill, believing that you can teach a skill but you cannot easily teach a mindset. Whichever route a company chooses, the key is to decide on purpose, not by habit.</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two advantages of an internal hire?</a:t>
            </a:r>
          </a:p>
          <a:p>
            <a:r>
              <a:t>A: Knows the culture, needs less training, is motivated.</a:t>
            </a:r>
          </a:p>
          <a:p>
            <a:r>
              <a:t>Q2. What is a risk of an external hire?</a:t>
            </a:r>
          </a:p>
          <a:p>
            <a:r>
              <a:t>A: May take months to learn how things work and may not fit the culture.</a:t>
            </a:r>
          </a:p>
          <a:p>
            <a:r>
              <a:t>Q3. What do some companies believe about skill and attitude?</a:t>
            </a:r>
          </a:p>
          <a:p>
            <a:r>
              <a:t>A: You can teach a skill but not easily a mindset, so hire for attitude.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Internal and external 内部与外部</a:t>
            </a:r>
          </a:p>
          <a:p>
            <a:r>
              <a:t>领读 → 学员跟读 → 请学员用表达造一个和自己工作相关的句子。</a:t>
            </a:r>
          </a:p>
          <a:p>
            <a:r>
              <a:t>promote from within (collocation) 内部提拔 — “We try to promote from within.”</a:t>
            </a:r>
          </a:p>
          <a:p>
            <a:r>
              <a:t>external hire (noun) 外聘人员 — “We made an external hire.”</a:t>
            </a:r>
          </a:p>
          <a:p>
            <a:r>
              <a:t>bring in fresh blood (idiom) 引入新鲜血液 — “We need to bring in fresh blood.”</a:t>
            </a:r>
          </a:p>
          <a:p>
            <a:r>
              <a:t>★ a steep onboarding curve (noun) 融入期长 — “The role has a steep onboarding curve.”</a:t>
            </a:r>
          </a:p>
          <a:p>
            <a:r>
              <a:t>★ headhunt (verb) 猎头挖角 — “She was headhunted by a rival.”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Types of staff 员工类型</a:t>
            </a:r>
          </a:p>
          <a:p>
            <a:r>
              <a:t>领读 → 学员跟读 → 请学员用表达造一个和自己工作相关的句子。</a:t>
            </a:r>
          </a:p>
          <a:p>
            <a:r>
              <a:t>permanent / full-time (adjective) 长期/全职 — “We hire permanent staff.”</a:t>
            </a:r>
          </a:p>
          <a:p>
            <a:r>
              <a:t>freelancer / contractor (noun) 自由职业者/合同工 — “We use freelancers for peaks.”</a:t>
            </a:r>
          </a:p>
          <a:p>
            <a:r>
              <a:t>temp (noun) 临时工 — “We hired temps for summer.”</a:t>
            </a:r>
          </a:p>
          <a:p>
            <a:r>
              <a:t>★ headcount (noun) 人员编制 — “We have a headcount freeze.”</a:t>
            </a:r>
          </a:p>
          <a:p>
            <a:r>
              <a:t>★ hiring freeze (noun) 冻结招聘 — “There’s a hiring freeze.”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Fit and risk 契合与风险</a:t>
            </a:r>
          </a:p>
          <a:p>
            <a:r>
              <a:t>领读 → 学员跟读 → 请学员用表达造一个和自己工作相关的句子。</a:t>
            </a:r>
          </a:p>
          <a:p>
            <a:r>
              <a:t>culture fit (noun) 文化契合度 — “Culture fit matters to us.”</a:t>
            </a:r>
          </a:p>
          <a:p>
            <a:r>
              <a:t>bad hire (noun) 招错人 — “A bad hire is expensive.”</a:t>
            </a:r>
          </a:p>
          <a:p>
            <a:r>
              <a:t>skill set (noun) 技能组合 — “She has a broad skill set.”</a:t>
            </a:r>
          </a:p>
          <a:p>
            <a:r>
              <a:t>★ hire for attitude, train for skill (proverb) 重态度,培训技能 — “We hire for attitude, train for skill.”</a:t>
            </a:r>
          </a:p>
          <a:p>
            <a:r>
              <a:t>★ a good fit for (collocation) 适合 — “He’s a good fit for the team.”</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within / external / freelancers / fit / bad / skill</a:t>
            </a:r>
          </a:p>
          <a:p>
            <a:r>
              <a:t>1. We try to promote from _______. → within</a:t>
            </a:r>
          </a:p>
          <a:p>
            <a:r>
              <a:t>2. We made an _______ hire for the role. → external</a:t>
            </a:r>
          </a:p>
          <a:p>
            <a:r>
              <a:t>3. We use _______ for busy periods. → freelancers</a:t>
            </a:r>
          </a:p>
          <a:p>
            <a:r>
              <a:t>4. Culture _______ matters to us. → fit</a:t>
            </a:r>
          </a:p>
          <a:p>
            <a:r>
              <a:t>5. A _______ hire can cost a lot. → bad</a:t>
            </a:r>
          </a:p>
          <a:p>
            <a:r>
              <a:t>6. She has a broad _______ set. → skill</a:t>
            </a:r>
          </a:p>
          <a:p>
            <a:r>
              <a:t>Mistake Watch: (搭配与拼写) promote from within, a good fit FOR the team, skill set 或 skillset;headcount 一词。</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or external? 内部还是外部</a:t>
            </a:r>
          </a:p>
          <a:p>
            <a:r>
              <a:t>情景：A discussion about filling a senior role.</a:t>
            </a:r>
          </a:p>
          <a:p>
            <a:r>
              <a:t>Role A: HR director Role B: Department head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have an opening for team manager. Should we promote from within?</a:t>
            </a:r>
          </a:p>
          <a:p>
            <a:r>
              <a:t>B: The advantage is that Sam already knows the culture. On the downside, he lacks management experience.</a:t>
            </a:r>
          </a:p>
          <a:p>
            <a:r>
              <a:t>A: And an external hire?</a:t>
            </a:r>
          </a:p>
          <a:p>
            <a:r>
              <a:t>B: We’d bring in fresh blood, but they’d need months to settle in.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about opening it to both?</a:t>
            </a:r>
          </a:p>
          <a:p>
            <a:r>
              <a:t>B: Good idea. We use the same criteria for everyone.</a:t>
            </a:r>
          </a:p>
          <a:p>
            <a:r>
              <a:t>A: And if Sam isn’t successful?</a:t>
            </a:r>
          </a:p>
          <a:p>
            <a:r>
              <a:t>B: We give feedback and a development plan. He won’t be forgotten.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discuss internal vs external hiring.</a:t>
            </a:r>
          </a:p>
          <a:p>
            <a:r>
              <a:t>Your role (A) | HR director.</a:t>
            </a:r>
          </a:p>
          <a:p>
            <a:r>
              <a:t>Partner’s role (B) | Department head. Role: ______________</a:t>
            </a:r>
          </a:p>
          <a:p>
            <a:r>
              <a:t>Must use (3 or more) | promote from within · The advantage is… · On the downside · fresh blood · same criteria</a:t>
            </a:r>
          </a:p>
          <a:p>
            <a:r>
              <a:t>Goal | Compare both options and agree a fair process.</a:t>
            </a:r>
          </a:p>
          <a:p>
            <a:r>
              <a:t>My notes | ____________________________________________</a:t>
            </a:r>
          </a:p>
          <a:p>
            <a:r>
              <a:t>Add cost to the comparison.</a:t>
            </a:r>
          </a:p>
          <a:p>
            <a:r>
              <a:t>Discuss morale.</a:t>
            </a:r>
          </a:p>
          <a:p>
            <a:r>
              <a:t>Propose a decision timeline.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Full-time or freelance? 全职还是自由职业</a:t>
            </a:r>
          </a:p>
          <a:p>
            <a:r>
              <a:t>情景：You discuss staffing for a short project.</a:t>
            </a:r>
          </a:p>
          <a:p>
            <a:r>
              <a:t>Role A: Manager Role B: Finance partner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need extra help for six months. Should we hire someone permanent?</a:t>
            </a:r>
          </a:p>
          <a:p>
            <a:r>
              <a:t>B: The workload will drop after that, so I’d lean towards a freelancer.</a:t>
            </a:r>
          </a:p>
          <a:p>
            <a:r>
              <a:t>A: What about knowledge? A freelancer leaves with it.</a:t>
            </a:r>
          </a:p>
          <a:p>
            <a:r>
              <a:t>B: True, but we can ask for a handover document.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And the cost?</a:t>
            </a:r>
          </a:p>
          <a:p>
            <a:r>
              <a:t>B: Higher per day, but no long-term commitment.</a:t>
            </a:r>
          </a:p>
          <a:p>
            <a:r>
              <a:t>A: While a permanent hire is better for loyalty, freelance makes sense here.</a:t>
            </a:r>
          </a:p>
          <a:p>
            <a:r>
              <a:t>B: Agreed. All things considered, it’s the lower risk.</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choose between staff types.</a:t>
            </a:r>
          </a:p>
          <a:p>
            <a:r>
              <a:t>Your role (A) | Manager. Need: ______________</a:t>
            </a:r>
          </a:p>
          <a:p>
            <a:r>
              <a:t>Partner’s role (B) | Finance partner.</a:t>
            </a:r>
          </a:p>
          <a:p>
            <a:r>
              <a:t>Must use (3 or more) | permanent · freelancer · handover · commitment · all things considered</a:t>
            </a:r>
          </a:p>
          <a:p>
            <a:r>
              <a:t>Goal | Compare cost, risk and knowledge and decide.</a:t>
            </a:r>
          </a:p>
          <a:p>
            <a:r>
              <a:t>My notes | ____________________________________________</a:t>
            </a:r>
          </a:p>
          <a:p>
            <a:r>
              <a:t>Mention legal or contract risks.</a:t>
            </a:r>
          </a:p>
          <a:p>
            <a:r>
              <a:t>Suggest a trial period.</a:t>
            </a:r>
          </a:p>
          <a:p>
            <a:r>
              <a:t>Ask what happens if the project grows.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culture fit a good reason to reject a candidate? | “It can be, but it can also…”</a:t>
            </a:r>
          </a:p>
          <a:p>
            <a:r>
              <a:t>2. What are the risks of hiring friends? | “It may cause… / People might…”</a:t>
            </a:r>
          </a:p>
          <a:p>
            <a:r>
              <a:t>3. What would you do after a bad hire? | “First, I’d… then…”</a:t>
            </a:r>
          </a:p>
          <a:p>
            <a:r>
              <a:t>4. How can companies hire faster? | “They could… / By…”</a:t>
            </a:r>
          </a:p>
          <a:p>
            <a:r>
              <a:t>5. Which type of staff do you prefer to work with? | “I prefer… because…”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“Culture fit can be a good reason in the sense that people need to work well together, but it can also be a trap. If we only hire people like us, we lose diversity of thinking. I think”culture add” is a better idea: ask what new strengths a person adds. So I’d use culture fit as one factor, not the deciding one.”</a:t>
            </a:r>
          </a:p>
          <a:p>
            <a:r>
              <a:t>“in the sense that” 在某种意义上;“trap” 陷阱。</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and concession 对比与让步</a:t>
            </a:r>
          </a:p>
          <a:p>
            <a:r>
              <a:t>Structure | Example</a:t>
            </a:r>
          </a:p>
          <a:p>
            <a:r>
              <a:t>While… / Although… | While a permanent hire is loyal, a freelancer is flexible.</a:t>
            </a:r>
          </a:p>
          <a:p>
            <a:r>
              <a:t>On the one hand… on the other hand… | On the one hand it’s cheaper. On the other hand, it’s riskier.</a:t>
            </a:r>
          </a:p>
          <a:p>
            <a:r>
              <a:t>However / Nevertheless | However, he lacks experience.</a:t>
            </a:r>
          </a:p>
          <a:p>
            <a:r>
              <a:t>Despite / In spite of + noun/-ing | Despite his experience, he left.</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and concession 对比与让步</a:t>
            </a:r>
          </a:p>
          <a:p>
            <a:r>
              <a:t>Although/while + clause, but despite/in spite of + noun or -ing. Never although + but in one sentence.</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Although he is experienced, but he is slow.  →  ✓ Although he is experienced, he is slow.  (although 与 but 不连用)</a:t>
            </a:r>
          </a:p>
          <a:p>
            <a:r>
              <a:t>✗ Despite of his skills, he failed.  →  ✓ Despite his skills, he failed.  (despite 后不加 of)</a:t>
            </a:r>
          </a:p>
          <a:p>
            <a:r>
              <a:t>✗ Despite he is skilled, …  →  ✓ Although he is skilled, …  (despite + 名词)</a:t>
            </a:r>
          </a:p>
          <a:p>
            <a:r>
              <a:t>Mistake Watch: Check although / despite, prefer… to, depend 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prefer freelancers than staff.  →  ✓ I prefer freelancers to staff.  (prefer A to B)</a:t>
            </a:r>
          </a:p>
          <a:p>
            <a:r>
              <a:t>✗ It depends of the project.  →  ✓ It depends on the project.  (depend on)</a:t>
            </a:r>
          </a:p>
          <a:p>
            <a:r>
              <a:t>✗ We recruited a bad people.  →  ✓ We hired the wrong person.  (people 复数)</a:t>
            </a:r>
          </a:p>
          <a:p>
            <a:r>
              <a:t>Mistake Watch: Check although / despite, prefer… to, depend 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Internal moves matter. Many companies post jobs internally first.</a:t>
            </a:r>
          </a:p>
          <a:p>
            <a:r>
              <a:t>Freelancers are common. Particularly in marketing, IT and creative work.</a:t>
            </a:r>
          </a:p>
          <a:p>
            <a:r>
              <a:t>Culture “add”. Many HR teams avoid “culture fit” to protect diversity.</a:t>
            </a:r>
          </a:p>
          <a:p>
            <a:r>
              <a:t>No nepotism. Hiring friends or relatives is often restricted.</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hiring options with the advantage is / on the downside.</a:t>
            </a:r>
          </a:p>
          <a:p>
            <a:r>
              <a:t>I can justify a decision with all things considered.</a:t>
            </a:r>
          </a:p>
          <a:p>
            <a:r>
              <a:t>I can use although / while / despite correctly.</a:t>
            </a:r>
          </a:p>
          <a:p>
            <a:r>
              <a:t>I use prefer… to and depend on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Argue for internal or external hiring in 90 seconds.</a:t>
            </a:r>
          </a:p>
          <a:p>
            <a:r>
              <a:t>8–10 | Listen to your recording. Check: although/despite, prefer to, depend on.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40 · The lengthy hiring process 漫长的招聘流程</a:t>
            </a:r>
          </a:p>
          <a:p>
            <a:r>
              <a:t>Goal: talk about the problems of slow hiring, candidate experience and how to improve it.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“ghosted” = 被无声息地忽略(突然没有回音)。第 1 题 “Have you ever waited” 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an ideal hiring process from a candidate’s point of view.</a:t>
            </a:r>
          </a:p>
          <a:p>
            <a:r>
              <a:t>Say: what should happen first → how communication should work → how long → what feedback to give.</a:t>
            </a:r>
          </a:p>
          <a:p>
            <a:r>
              <a:t>Useful starters: “As a candidate, I’d expect…” / “It’s frustrating when…” / “Companies should…” / “At the very least, …”</a:t>
            </a:r>
          </a:p>
          <a:p>
            <a:r>
              <a:t>“It’s frustrating when…” 描述情绪;“At the very least” = 至少。</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survey of job seekers found that many drop out of a hiring process because it takes too long. Strong candidates are usually in several processes at once, so a company that takes eight weeks and five interviews often loses them to faster rivals. Slow hiring also costs money: the role stays empty, work is shared among colleagues, and productivity falls. The candidate experience matters too. People talk about how they were treated, and a rude or silent process can damage a company’s reputation as an employer. Practical improvements are simple. Set a clear timeline, combine interviews where possible, and reply within a few days, even to say no. A short, honest message is always better than silence, and it costs almost nothing to send.</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strong candidates drop out?</a:t>
            </a:r>
          </a:p>
          <a:p>
            <a:r>
              <a:t>A: Because the process takes too long and rivals are faster.</a:t>
            </a:r>
          </a:p>
          <a:p>
            <a:r>
              <a:t>Q2. What does a slow process cost the company?</a:t>
            </a:r>
          </a:p>
          <a:p>
            <a:r>
              <a:t>A: The role stays empty, colleagues share work and productivity falls.</a:t>
            </a:r>
          </a:p>
          <a:p>
            <a:r>
              <a:t>Q3. What is the simplest improvement?</a:t>
            </a:r>
          </a:p>
          <a:p>
            <a:r>
              <a:t>A: Set a timeline and reply within a few days, even if to say no.</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Delay 拖延</a:t>
            </a:r>
          </a:p>
          <a:p>
            <a:r>
              <a:t>领读 → 学员跟读 → 请学员用表达造一个和自己工作相关的句子。</a:t>
            </a:r>
          </a:p>
          <a:p>
            <a:r>
              <a:t>drag on (phrasal verb) 拖拖拉拉 — “The process dragged on for months.”</a:t>
            </a:r>
          </a:p>
          <a:p>
            <a:r>
              <a:t>lengthy (adjective) 冗长的 — “It’s a lengthy process.”</a:t>
            </a:r>
          </a:p>
          <a:p>
            <a:r>
              <a:t>time-to-hire (noun) 招聘周期 — “We want to cut our time-to-hire.”</a:t>
            </a:r>
          </a:p>
          <a:p>
            <a:r>
              <a:t>★ ghost (someone) (verb) (不回复)失联 — “The company ghosted me.”</a:t>
            </a:r>
          </a:p>
          <a:p>
            <a:r>
              <a:t>★ leave (someone) in limbo (idiom) 让人悬而未决 — “They left me in limbo for weeks.”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Experience 候选人体验</a:t>
            </a:r>
          </a:p>
          <a:p>
            <a:r>
              <a:t>领读 → 学员跟读 → 请学员用表达造一个和自己工作相关的句子。</a:t>
            </a:r>
          </a:p>
          <a:p>
            <a:r>
              <a:t>candidate experience (noun) 候选人体验 — “Candidate experience affects our brand.”</a:t>
            </a:r>
          </a:p>
          <a:p>
            <a:r>
              <a:t>keep (someone) in the loop (idiom) 随时告知 — “Keep candidates in the loop.”</a:t>
            </a:r>
          </a:p>
          <a:p>
            <a:r>
              <a:t>timeline (noun) 时间表 — “Share the timeline.”</a:t>
            </a:r>
          </a:p>
          <a:p>
            <a:r>
              <a:t>★ employer brand (noun) 雇主品牌 — “A slow process hurts our employer brand.”</a:t>
            </a:r>
          </a:p>
          <a:p>
            <a:r>
              <a:t>★ drop out (phrasal verb) 退出 — “Many candidates drop out.”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Improving 改进</a:t>
            </a:r>
          </a:p>
          <a:p>
            <a:r>
              <a:t>领读 → 学员跟读 → 请学员用表达造一个和自己工作相关的句子。</a:t>
            </a:r>
          </a:p>
          <a:p>
            <a:r>
              <a:t>streamline (verb) 简化 — “Let’s streamline the process.”</a:t>
            </a:r>
          </a:p>
          <a:p>
            <a:r>
              <a:t>cut down on (phrasal verb) 减少 — “We cut down on interview rounds.”</a:t>
            </a:r>
          </a:p>
          <a:p>
            <a:r>
              <a:t>respond promptly (collocation) 及时回复 — “Respond promptly to applicants.”</a:t>
            </a:r>
          </a:p>
          <a:p>
            <a:r>
              <a:t>★ turn around quickly (phrasal verb) 迅速处理 — “We turn around offers within 48 hours.”</a:t>
            </a:r>
          </a:p>
          <a:p>
            <a:r>
              <a:t>★ take a hit (idiom) 受损 — “Our reputation took a hit.”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lengthy / limbo / loop / streamline / drop / promptly</a:t>
            </a:r>
          </a:p>
          <a:p>
            <a:r>
              <a:t>1. It’s a very _______ process. → lengthy</a:t>
            </a:r>
          </a:p>
          <a:p>
            <a:r>
              <a:t>2. They left me in _______ for weeks. → limbo</a:t>
            </a:r>
          </a:p>
          <a:p>
            <a:r>
              <a:t>3. Please keep candidates in the _______. → loop</a:t>
            </a:r>
          </a:p>
          <a:p>
            <a:r>
              <a:t>4. Let’s _______ the process. → streamline</a:t>
            </a:r>
          </a:p>
          <a:p>
            <a:r>
              <a:t>5. Many strong candidates _______ out. → drop</a:t>
            </a:r>
          </a:p>
          <a:p>
            <a:r>
              <a:t>6. We always respond _______ to applicants. → promptly</a:t>
            </a:r>
          </a:p>
          <a:p>
            <a:r>
              <a:t>Mistake Watch: (搭配) drag on, drop out of, keep SOMEONE in the loop;time-to-hire 为复合名词。</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Complaining politely about delay 礼貌地投诉拖延</a:t>
            </a:r>
          </a:p>
          <a:p>
            <a:r>
              <a:t>情景：You are a candidate chasing a company.</a:t>
            </a:r>
          </a:p>
          <a:p>
            <a:r>
              <a:t>Role A: Candidate Role B: Recruiter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Hi, I’m following up. It’s been three weeks since my last interview and I haven’t heard anything.</a:t>
            </a:r>
          </a:p>
          <a:p>
            <a:r>
              <a:t>B: I’m sorry about the delay. The process has dragged on.</a:t>
            </a:r>
          </a:p>
          <a:p>
            <a:r>
              <a:t>A: I understand, but I have another offer to answer by Friday.</a:t>
            </a:r>
          </a:p>
          <a:p>
            <a:r>
              <a:t>B: Thanks for telling me. Let me check where we are.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give me an update by Thursday?</a:t>
            </a:r>
          </a:p>
          <a:p>
            <a:r>
              <a:t>B: Yes. I’ll speak to the hiring manager today.</a:t>
            </a:r>
          </a:p>
          <a:p>
            <a:r>
              <a:t>A: I appreciate it. I’d like to stay in the process.</a:t>
            </a:r>
          </a:p>
          <a:p>
            <a:r>
              <a:t>B: Good to know. I’ll be in touch.</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chase a company politely.</a:t>
            </a:r>
          </a:p>
          <a:p>
            <a:r>
              <a:t>Your role (A) | Candidate.</a:t>
            </a:r>
          </a:p>
          <a:p>
            <a:r>
              <a:t>Partner’s role (B) | Recruiter. Role: ______________</a:t>
            </a:r>
          </a:p>
          <a:p>
            <a:r>
              <a:t>Must use (3 or more) | I’m following up · dragged on · I haven’t heard anything · an update by… · stay in the process</a:t>
            </a:r>
          </a:p>
          <a:p>
            <a:r>
              <a:t>Goal | Chase politely, mention a deadline and keep the relationship positive.</a:t>
            </a:r>
          </a:p>
          <a:p>
            <a:r>
              <a:t>My notes | ____________________________________________</a:t>
            </a:r>
          </a:p>
          <a:p>
            <a:r>
              <a:t>Mention a competing offer tactfully.</a:t>
            </a:r>
          </a:p>
          <a:p>
            <a:r>
              <a:t>Ask what the next steps are.</a:t>
            </a:r>
          </a:p>
          <a:p>
            <a:r>
              <a:t>Close the call positively.</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Fixing the process 改进招聘流程</a:t>
            </a:r>
          </a:p>
          <a:p>
            <a:r>
              <a:t>情景：A hiring manager and HR agree changes.</a:t>
            </a:r>
          </a:p>
          <a:p>
            <a:r>
              <a:t>Role A: HR Role B: Hiring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Our time-to-hire is 55 days, which is too long.</a:t>
            </a:r>
          </a:p>
          <a:p>
            <a:r>
              <a:t>B: I know. Five interview rounds is a lot.</a:t>
            </a:r>
          </a:p>
          <a:p>
            <a:r>
              <a:t>A: Could we cut down to three?</a:t>
            </a:r>
          </a:p>
          <a:p>
            <a:r>
              <a:t>B: Yes, and combine the technical and team interviews.</a:t>
            </a:r>
          </a:p>
          <a:p>
            <a:r>
              <a:t>A: We should also keep candidates in the loop with a clear timeline.</a:t>
            </a:r>
          </a:p>
          <a:p>
            <a:r>
              <a:t>B: Good idea. And respond within two days.</a:t>
            </a:r>
          </a:p>
          <a:p>
            <a:r>
              <a:t>A: If we streamline it, we could aim for 30 days.</a:t>
            </a:r>
          </a:p>
          <a:p>
            <a:r>
              <a:t>B: That would improve our employer brand.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redesign a slow process.</a:t>
            </a:r>
          </a:p>
          <a:p>
            <a:r>
              <a:t>Your role (A) | HR.</a:t>
            </a:r>
          </a:p>
          <a:p>
            <a:r>
              <a:t>Partner’s role (B) | Hiring manager. Problem: ______________</a:t>
            </a:r>
          </a:p>
          <a:p>
            <a:r>
              <a:t>Must use (3 or more) | time-to-hire · cut down · keep in the loop · streamline · employer brand</a:t>
            </a:r>
          </a:p>
          <a:p>
            <a:r>
              <a:t>Goal | Identify delays and agree three fixes.</a:t>
            </a:r>
          </a:p>
          <a:p>
            <a:r>
              <a:t>My notes | ____________________________________________</a:t>
            </a:r>
          </a:p>
          <a:p>
            <a:r>
              <a:t>Add a target and a deadline.</a:t>
            </a:r>
          </a:p>
          <a:p>
            <a:r>
              <a:t>Anticipate objections.</a:t>
            </a:r>
          </a:p>
          <a:p>
            <a:r>
              <a:t>Agree on how to measure success.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many interview rounds are reasonable? | “I’d say no more than… because…”</a:t>
            </a:r>
          </a:p>
          <a:p>
            <a:r>
              <a:t>2. Is it acceptable for companies not to reply? | “Not really, because…”</a:t>
            </a:r>
          </a:p>
          <a:p>
            <a:r>
              <a:t>3. What should a rejection message include? | “It should include…”</a:t>
            </a:r>
          </a:p>
          <a:p>
            <a:r>
              <a:t>4. Why does a slow process matter? | “Because candidates… / It costs…”</a:t>
            </a:r>
          </a:p>
          <a:p>
            <a:r>
              <a:t>5. Have you ever withdrawn from a hiring process? | “Yes, because… / No, but…”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rejection message should be short, polite and honest. It should thank the person for their time, say clearly that they were not selected, and if possible give one line of feedback. It shouldn’t be cold or vague. People remember how they were treated, and a kind message keeps the door open for the future.”</a:t>
            </a:r>
          </a:p>
          <a:p>
            <a:r>
              <a:t>“keep the door open” 留有余地;“cold or vague” 冷漠或含糊。</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Complaining and apologising 投诉与道歉</a:t>
            </a:r>
          </a:p>
          <a:p>
            <a:r>
              <a:t>Complaining | Responding</a:t>
            </a:r>
          </a:p>
          <a:p>
            <a:r>
              <a:t>I haven’t heard anything yet. | I’m sorry about the delay.</a:t>
            </a:r>
          </a:p>
          <a:p>
            <a:r>
              <a:t>It’s been three weeks since… | We’re working on it and will update you by…</a:t>
            </a:r>
          </a:p>
          <a:p>
            <a:r>
              <a:t>I’d appreciate an update. | Thank you for your patience.</a:t>
            </a:r>
          </a:p>
          <a:p>
            <a:r>
              <a:t>I’m a little concerned that… | I understand your concern.</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Complaining and apologising 投诉与道歉</a:t>
            </a:r>
          </a:p>
          <a:p>
            <a:r>
              <a:t>Use present perfect for no news so far: I haven’t heard anything yet. Use since + point in time: since my interview.</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still don’t hear anything.  →  ✓ I still haven’t heard anything.  (现在完成时)</a:t>
            </a:r>
          </a:p>
          <a:p>
            <a:r>
              <a:t>✗ I wait for you since three weeks.  →  ✓ I’ve been waiting for three weeks.  (for + 现在完成进行时)</a:t>
            </a:r>
          </a:p>
          <a:p>
            <a:r>
              <a:t>✗ It’s three weeks since my interview.  →  ✓ It’s been three weeks since my interview.  (it’s been)</a:t>
            </a:r>
          </a:p>
          <a:p>
            <a:r>
              <a:t>Mistake Watch: Check present perfect, it’s been… since, and sorry for the delay.</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Sorry for the late.  →  ✓ Sorry for the delay.  (delay)</a:t>
            </a:r>
          </a:p>
          <a:p>
            <a:r>
              <a:t>✗ I’m very frustrated of this.  →  ✓ I’m very frustrated by this. / about this.  (frustrated by)</a:t>
            </a:r>
          </a:p>
          <a:p>
            <a:r>
              <a:t>✗ Please inform me the progress.  →  ✓ Please let me know the progress. / update me.  (inform sb of)</a:t>
            </a:r>
          </a:p>
          <a:p>
            <a:r>
              <a:t>Mistake Watch: Check present perfect, it’s been… since, and sorry for the delay.</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Chasing is accepted. A single polite follow-up after a week is normal.</a:t>
            </a:r>
          </a:p>
          <a:p>
            <a:r>
              <a:t>Be honest about other offers. It can speed things up, but don’t bluff.</a:t>
            </a:r>
          </a:p>
          <a:p>
            <a:r>
              <a:t>Reject politely. Withdrawing from a process by email is fine; ghosting isn’t.</a:t>
            </a:r>
          </a:p>
          <a:p>
            <a:r>
              <a:t>Candidates review employers. Sites like Glassdoor publish candidate experiences.</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delays and candidate experience problems.</a:t>
            </a:r>
          </a:p>
          <a:p>
            <a:r>
              <a:t>I can chase a company politely.</a:t>
            </a:r>
          </a:p>
          <a:p>
            <a:r>
              <a:t>I can propose improvements with streamline / cut down on.</a:t>
            </a:r>
          </a:p>
          <a:p>
            <a:r>
              <a:t>I use present perfect for “no news so far”.</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Write a polite follow-up email and say it aloud.</a:t>
            </a:r>
          </a:p>
          <a:p>
            <a:r>
              <a:t>8–10 | Listen to your recording. Check: present perfect, it’s been, delay, frustrated by.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41 · Recruitment testing 招聘测试</a:t>
            </a:r>
          </a:p>
          <a:p>
            <a:r>
              <a:t>Goal: discuss recruitment tests (skills, personality, case tasks), their value and fairness, and prepare for them.</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“assessment” = 评估/测评;“psychometric test” = 心理测评。第 1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test you took or would like to design for a job.</a:t>
            </a:r>
          </a:p>
          <a:p>
            <a:r>
              <a:t>Say: the test → what it measures → how it worked → was it fair?</a:t>
            </a:r>
          </a:p>
          <a:p>
            <a:r>
              <a:t>Useful starters: “The test measured…” / “It was designed to…” / “One limitation is…” / “In my experience, …”</a:t>
            </a:r>
          </a:p>
          <a:p>
            <a:r>
              <a:t>“be designed to + 动词原形” 旨在…;“limitation” 局限性。</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employers use tests to reduce the guesswork in hiring. Skills tests check practical abilities, such as writing, coding or using spreadsheets. Psychometric tests measure personality or reasoning. Case exercises ask candidates to solve a realistic business problem. Research suggests that work-sample tests, where people do a small part of the real job, predict performance better than general interviews. Personality tests are more controversial because answers can be influenced by what candidates think the employer wants. Tests also raise fairness questions: a long unpaid task is unfair to people with little free time, and tests written in a second language may disadvantage some candidates, however capable they are. A good test is relevant, short, and clearly linked to the job.</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Which kind of test predicts performance best?</a:t>
            </a:r>
          </a:p>
          <a:p>
            <a:r>
              <a:t>A: Work-sample tests.</a:t>
            </a:r>
          </a:p>
          <a:p>
            <a:r>
              <a:t>Q2. Why are personality tests controversial?</a:t>
            </a:r>
          </a:p>
          <a:p>
            <a:r>
              <a:t>A: Answers can be influenced by what candidates think the employer wants.</a:t>
            </a:r>
          </a:p>
          <a:p>
            <a:r>
              <a:t>Q3. Name one fairness concern.</a:t>
            </a:r>
          </a:p>
          <a:p>
            <a:r>
              <a:t>A: Long unpaid tasks, or tests written in a second language.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Types of test 测试类型</a:t>
            </a:r>
          </a:p>
          <a:p>
            <a:r>
              <a:t>领读 → 学员跟读 → 请学员用表达造一个和自己工作相关的句子。</a:t>
            </a:r>
          </a:p>
          <a:p>
            <a:r>
              <a:t>skills test (noun) 技能测试 — “I took a skills test in Excel.”</a:t>
            </a:r>
          </a:p>
          <a:p>
            <a:r>
              <a:t>psychometric test (noun) 心理测评 — “The psychometric test lasted an hour.”</a:t>
            </a:r>
          </a:p>
          <a:p>
            <a:r>
              <a:t>case exercise / case study (noun) 案例练习 — “We gave her a case study.”</a:t>
            </a:r>
          </a:p>
          <a:p>
            <a:r>
              <a:t>★ work sample (noun) 工作样本测试 — “A work sample shows real ability.”</a:t>
            </a:r>
          </a:p>
          <a:p>
            <a:r>
              <a:t>★ aptitude test (noun) 能力倾向测试 — “She passed the aptitude test.”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Using tests 使用测试</a:t>
            </a:r>
          </a:p>
          <a:p>
            <a:r>
              <a:t>领读 → 学员跟读 → 请学员用表达造一个和自己工作相关的句子。</a:t>
            </a:r>
          </a:p>
          <a:p>
            <a:r>
              <a:t>take / sit a test (collocation) 参加测试 — “He sat a numeracy test.”</a:t>
            </a:r>
          </a:p>
          <a:p>
            <a:r>
              <a:t>pass / fail (verb) 通过/不通过 — “She passed the test.”</a:t>
            </a:r>
          </a:p>
          <a:p>
            <a:r>
              <a:t>time limit (noun) 时间限制 — “There’s a 30-minute time limit.”</a:t>
            </a:r>
          </a:p>
          <a:p>
            <a:r>
              <a:t>★ cut-off score (noun) 分数线 — “The cut-off score is 70.”</a:t>
            </a:r>
          </a:p>
          <a:p>
            <a:r>
              <a:t>★ benchmark (noun/verb) 基准 — “We benchmark against top performers.”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Evaluating 评价测试</a:t>
            </a:r>
          </a:p>
          <a:p>
            <a:r>
              <a:t>领读 → 学员跟读 → 请学员用表达造一个和自己工作相关的句子。</a:t>
            </a:r>
          </a:p>
          <a:p>
            <a:r>
              <a:t>reliable / valid (adjective) 可靠的/有效的 — “The test is reliable and valid.”</a:t>
            </a:r>
          </a:p>
          <a:p>
            <a:r>
              <a:t>fair / biased (adjective) 公平/有偏见的 — “Is the test fair?”</a:t>
            </a:r>
          </a:p>
          <a:p>
            <a:r>
              <a:t>relevant to the job (collocation) 与工作相关 — “Questions should be relevant to the job.”</a:t>
            </a:r>
          </a:p>
          <a:p>
            <a:r>
              <a:t>★ level the playing field (idiom) 营造公平 — “Tests help level the playing field.”</a:t>
            </a:r>
          </a:p>
          <a:p>
            <a:r>
              <a:t>★ game the system (idiom) 钻空子 — “Candidates can game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skills / psychometric / case / sit / valid / relevant</a:t>
            </a:r>
          </a:p>
          <a:p>
            <a:r>
              <a:t>1. I took a _______ test in Excel. → skills</a:t>
            </a:r>
          </a:p>
          <a:p>
            <a:r>
              <a:t>2. The _______ test measures personality. → psychometric</a:t>
            </a:r>
          </a:p>
          <a:p>
            <a:r>
              <a:t>3. We gave her a _______ study to solve. → case</a:t>
            </a:r>
          </a:p>
          <a:p>
            <a:r>
              <a:t>4. He had to _______ a numeracy test. → sit</a:t>
            </a:r>
          </a:p>
          <a:p>
            <a:r>
              <a:t>5. The test is reliable and _______. → valid</a:t>
            </a:r>
          </a:p>
          <a:p>
            <a:r>
              <a:t>6. Questions should be _______ to the job. → relevant</a:t>
            </a:r>
          </a:p>
          <a:p>
            <a:r>
              <a:t>Mistake Watch: (搭配) take / sit a test (sit 是英式), pass a test(通过), pass an exam 但 hand in a test;psychometric 拼写。</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Preparing for a test 备考</a:t>
            </a:r>
          </a:p>
          <a:p>
            <a:r>
              <a:t>情景：A friend asks how you prepared.</a:t>
            </a:r>
          </a:p>
          <a:p>
            <a:r>
              <a:t>Role A: Friend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have an online assessment tomorrow. How did you prepare for yours?</a:t>
            </a:r>
          </a:p>
          <a:p>
            <a:r>
              <a:t>B: I practised numerical reasoning, because there’s a time limit.</a:t>
            </a:r>
          </a:p>
          <a:p>
            <a:r>
              <a:t>A: Was it a skills test or a psychometric test?</a:t>
            </a:r>
          </a:p>
          <a:p>
            <a:r>
              <a:t>B: Both. The skills test was relevant to the job, but the personality part felt odd.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What was odd about it?</a:t>
            </a:r>
          </a:p>
          <a:p>
            <a:r>
              <a:t>B: Some questions seemed repetitive. I just answered honestly.</a:t>
            </a:r>
          </a:p>
          <a:p>
            <a:r>
              <a:t>A: Good advice. Any tips?</a:t>
            </a:r>
          </a:p>
          <a:p>
            <a:r>
              <a:t>B: Read the instructions carefully, and keep an eye on the clock.</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9 | </a:t>
            </a:r>
          </a:p>
          <a:p>
            <a:r>
              <a:t>Situation | You share test experience.</a:t>
            </a:r>
          </a:p>
          <a:p>
            <a:r>
              <a:t>Your role (A) | Friend preparing.</a:t>
            </a:r>
          </a:p>
          <a:p>
            <a:r>
              <a:t>Partner’s role (B) | Friend with experience. Test: ______________</a:t>
            </a:r>
          </a:p>
          <a:p>
            <a:r>
              <a:t>Must use (3 or more) | time limit · skills test · psychometric · relevant to the job · keep an eye on the clock</a:t>
            </a:r>
          </a:p>
          <a:p>
            <a:r>
              <a:t>Goal | Describe the test and give three practical tips.</a:t>
            </a:r>
          </a:p>
          <a:p>
            <a:r>
              <a:t>My notes | ____________________________________________</a:t>
            </a:r>
          </a:p>
          <a:p>
            <a:r>
              <a:t>Share a mistake.</a:t>
            </a:r>
          </a:p>
          <a:p>
            <a:r>
              <a:t>Discuss how to stay calm.</a:t>
            </a:r>
          </a:p>
          <a:p>
            <a:r>
              <a:t>Say how long to prepare.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Defending a test 为测试辩护</a:t>
            </a:r>
          </a:p>
          <a:p>
            <a:r>
              <a:t>情景：HR proposes a case exercise.</a:t>
            </a:r>
          </a:p>
          <a:p>
            <a:r>
              <a:t>Role A: HR Role B: Sceptical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add a case exercise to the final round.</a:t>
            </a:r>
          </a:p>
          <a:p>
            <a:r>
              <a:t>B: Is that fair to everyone? Some candidates may have less time to prepare.</a:t>
            </a:r>
          </a:p>
          <a:p>
            <a:r>
              <a:t>A: Good point. We’ll keep it to 45 minutes and do it in the interview, so nobody needs to prepare.</a:t>
            </a:r>
          </a:p>
          <a:p>
            <a:r>
              <a:t>B: Is it relevant to the job?</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It’s a real problem from last year, so it works like a work sample.</a:t>
            </a:r>
          </a:p>
          <a:p>
            <a:r>
              <a:t>B: And how will we score it?</a:t>
            </a:r>
          </a:p>
          <a:p>
            <a:r>
              <a:t>A: With clear criteria and a cut-off score agreed beforehand.</a:t>
            </a:r>
          </a:p>
          <a:p>
            <a:r>
              <a:t>B: That seems reasonable. Let’s pilot it.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10 | </a:t>
            </a:r>
          </a:p>
          <a:p>
            <a:r>
              <a:t>Situation | You propose a recruitment test.</a:t>
            </a:r>
          </a:p>
          <a:p>
            <a:r>
              <a:t>Your role (A) | HR. Test: ______________</a:t>
            </a:r>
          </a:p>
          <a:p>
            <a:r>
              <a:t>Partner’s role (B) | Sceptical manager.</a:t>
            </a:r>
          </a:p>
          <a:p>
            <a:r>
              <a:t>Must use (3 or more) | case exercise · fair · work sample · cut-off score · pilot</a:t>
            </a:r>
          </a:p>
          <a:p>
            <a:r>
              <a:t>Goal | Propose a test, answer fairness concerns and agree a pilot.</a:t>
            </a:r>
          </a:p>
          <a:p>
            <a:r>
              <a:t>My notes | ____________________________________________</a:t>
            </a:r>
          </a:p>
          <a:p>
            <a:r>
              <a:t>Mention bias risk.</a:t>
            </a:r>
          </a:p>
          <a:p>
            <a:r>
              <a:t>Offer an alternative.</a:t>
            </a:r>
          </a:p>
          <a:p>
            <a:r>
              <a:t>Agree how to explain the test to candidates.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Are tests a fair way to select candidates? | “They can be, if…”</a:t>
            </a:r>
          </a:p>
          <a:p>
            <a:r>
              <a:t>2. Should candidates be paid for long tasks? | “I think so, because…”</a:t>
            </a:r>
          </a:p>
          <a:p>
            <a:r>
              <a:t>3. Do you trust personality tests? | “Not completely, because…”</a:t>
            </a:r>
          </a:p>
          <a:p>
            <a:r>
              <a:t>4. What is the best way to test communication skills? | “I’d use a role play because…”</a:t>
            </a:r>
          </a:p>
          <a:p>
            <a:r>
              <a:t>5. How can candidates prepare? | “They could… / It helps to…”</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candidates should be paid for any task over about two hours. Their time has value, and unpaid tasks favour people with more free time. Paying also tells candidates the company respects them. For short tasks of less than an hour, I don’t think payment is necessary. A good compromise is to keep tasks short and relevant.”</a:t>
            </a:r>
          </a:p>
          <a:p>
            <a:r>
              <a:t>“favour” 偏袒,有利于;“over about two hours” 超过约两小时。</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and evaluating 报告与评价</a:t>
            </a:r>
          </a:p>
          <a:p>
            <a:r>
              <a:t>Structure | Example</a:t>
            </a:r>
          </a:p>
          <a:p>
            <a:r>
              <a:t>The test was designed to + verb | The test was designed to measure reasoning.</a:t>
            </a:r>
          </a:p>
          <a:p>
            <a:r>
              <a:t>It is said / thought to + verb | It is thought to predict performance.</a:t>
            </a:r>
          </a:p>
          <a:p>
            <a:r>
              <a:t>seems / appears to | It seems to be fair.</a:t>
            </a:r>
          </a:p>
          <a:p>
            <a:r>
              <a:t>One limitation is that… | One limitation is that candidates can game it.</a:t>
            </a:r>
          </a:p>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Reporting and evaluating 报告与评价</a:t>
            </a:r>
          </a:p>
          <a:p>
            <a:r>
              <a:t>Use passive + to-infinitive for purpose: was designed to measure, is used to select.</a:t>
            </a:r>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did a test last week.  →  ✓ I took a test last week.  (take a test)</a:t>
            </a:r>
          </a:p>
          <a:p>
            <a:r>
              <a:t>✗ I passed the test, so I’m very surprising.  →  ✓ …so I’m very surprised.  (-ed)</a:t>
            </a:r>
          </a:p>
          <a:p>
            <a:r>
              <a:t>✗ The test is design to measure skills.  →  ✓ The test is designed to measure skills.  (designed)</a:t>
            </a:r>
          </a:p>
          <a:p>
            <a:r>
              <a:t>Mistake Watch: Check take a test, -ed/-ing adjectives, designed to, nervous about.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a test tomorrow. I am nervous for it.  →  ✓ I’m nervous about it.  (nervous about)</a:t>
            </a:r>
          </a:p>
          <a:p>
            <a:r>
              <a:t>✗ It is a informative test.  →  ✓ It is an informative test.  (an)</a:t>
            </a:r>
          </a:p>
          <a:p>
            <a:r>
              <a:t>✗ The result is depend on time.  →  ✓ The result depends on time.  (depend)</a:t>
            </a:r>
          </a:p>
          <a:p>
            <a:r>
              <a:t>Mistake Watch: Check take a test, -ed/-ing adjectives, designed to, nervous about.</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Be honest on personality tests. There’s no “right” answer; consistency is checked.</a:t>
            </a:r>
          </a:p>
          <a:p>
            <a:r>
              <a:t>Time is part of the test. Practise timed questions.</a:t>
            </a:r>
          </a:p>
          <a:p>
            <a:r>
              <a:t>Ask what to expect. It’s normal to ask HR about the format.</a:t>
            </a:r>
          </a:p>
          <a:p>
            <a:r>
              <a:t>Pay and fairness. Long unpaid tasks are increasingly criticised.</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name types of recruitment tests.</a:t>
            </a:r>
          </a:p>
          <a:p>
            <a:r>
              <a:t>I can describe a test I took using was designed to.</a:t>
            </a:r>
          </a:p>
          <a:p>
            <a:r>
              <a:t>I can discuss fairness of tests politely.</a:t>
            </a:r>
          </a:p>
          <a:p>
            <a:r>
              <a:t>I use take a test and -ed/-ing adjectives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test and how you’d improve it in 90 seconds.</a:t>
            </a:r>
          </a:p>
          <a:p>
            <a:r>
              <a:t>8–10 | Listen to your recording. Check: take a test, designed to, -ed/-ing, nervous about.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“受损” in English? → take a hit</a:t>
            </a:r>
          </a:p>
          <a:p>
            <a:r>
              <a:t>“猎头挖角” in English? → headhunt</a:t>
            </a:r>
          </a:p>
          <a:p>
            <a:r>
              <a:t>“璞玉” in English? → a rough diamond</a:t>
            </a:r>
          </a:p>
          <a:p>
            <a:r>
              <a:t>Fix it: She has many experience. → She has a lot of experience.</a:t>
            </a:r>
          </a:p>
          <a:p>
            <a:r>
              <a:t>Fix it: I prefer freelancers than staff. → I prefer freelancers to staff.</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 Id="rId5" Type="http://schemas.openxmlformats.org/officeDocument/2006/relationships/slide" Target="slide57.xml"/><Relationship Id="rId6" Type="http://schemas.openxmlformats.org/officeDocument/2006/relationships/slide" Target="slide84.xml"/><Relationship Id="rId7" Type="http://schemas.openxmlformats.org/officeDocument/2006/relationships/slide" Target="slide1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 Id="rId4" Type="http://schemas.openxmlformats.org/officeDocument/2006/relationships/slide" Target="slide138.xml"/><Relationship Id="rId5" Type="http://schemas.openxmlformats.org/officeDocument/2006/relationships/slide" Target="slide139.xml"/><Relationship Id="rId6" Type="http://schemas.openxmlformats.org/officeDocument/2006/relationships/slide" Target="slide140.xml"/><Relationship Id="rId7" Type="http://schemas.openxmlformats.org/officeDocument/2006/relationships/slide" Target="slide141.xml"/><Relationship Id="rId8" Type="http://schemas.openxmlformats.org/officeDocument/2006/relationships/slide" Target="slide142.xml"/><Relationship Id="rId9" Type="http://schemas.openxmlformats.org/officeDocument/2006/relationships/slide" Target="slide143.xml"/><Relationship Id="rId10" Type="http://schemas.openxmlformats.org/officeDocument/2006/relationships/slide" Target="slide144.xml"/><Relationship Id="rId11" Type="http://schemas.openxmlformats.org/officeDocument/2006/relationships/slide" Target="slide145.xml"/><Relationship Id="rId12" Type="http://schemas.openxmlformats.org/officeDocument/2006/relationships/slide" Target="slide14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3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8</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Talent Recruitment</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5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L37 Who is a better job candidate? · L38 Selecting a job candidate · L39 Hiring choices · L40 The lengthy hiring process · L41 Recruitment testing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37</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Who is a better job candidate?</a:t>
            </a:r>
          </a:p>
          <a:p>
            <a:pPr algn="l">
              <a:lnSpc>
                <a:spcPct val="100000"/>
              </a:lnSpc>
              <a:spcAft>
                <a:spcPts val="800"/>
              </a:spcAft>
            </a:pPr>
            <a:r>
              <a:rPr sz="1400" b="0">
                <a:solidFill>
                  <a:srgbClr val="5F677A"/>
                </a:solidFill>
                <a:latin typeface="Arial"/>
                <a:ea typeface="Microsoft YaHei"/>
              </a:rPr>
              <a:t>谁是更好的求职者?</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38</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Selecting a job candidate</a:t>
            </a:r>
          </a:p>
          <a:p>
            <a:pPr algn="l">
              <a:lnSpc>
                <a:spcPct val="100000"/>
              </a:lnSpc>
              <a:spcAft>
                <a:spcPts val="800"/>
              </a:spcAft>
            </a:pPr>
            <a:r>
              <a:rPr sz="1400" b="0">
                <a:solidFill>
                  <a:srgbClr val="5F677A"/>
                </a:solidFill>
                <a:latin typeface="Arial"/>
                <a:ea typeface="Microsoft YaHei"/>
              </a:rPr>
              <a:t>筛选求职者</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39</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Hiring choices</a:t>
            </a:r>
          </a:p>
          <a:p>
            <a:pPr algn="l">
              <a:lnSpc>
                <a:spcPct val="100000"/>
              </a:lnSpc>
              <a:spcAft>
                <a:spcPts val="800"/>
              </a:spcAft>
            </a:pPr>
            <a:r>
              <a:rPr sz="1400" b="0">
                <a:solidFill>
                  <a:srgbClr val="5F677A"/>
                </a:solidFill>
                <a:latin typeface="Arial"/>
                <a:ea typeface="Microsoft YaHei"/>
              </a:rPr>
              <a:t>招聘选择</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40</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lengthy hiring process</a:t>
            </a:r>
          </a:p>
          <a:p>
            <a:pPr algn="l">
              <a:lnSpc>
                <a:spcPct val="100000"/>
              </a:lnSpc>
              <a:spcAft>
                <a:spcPts val="800"/>
              </a:spcAft>
            </a:pPr>
            <a:r>
              <a:rPr sz="1400" b="0">
                <a:solidFill>
                  <a:srgbClr val="5F677A"/>
                </a:solidFill>
                <a:latin typeface="Arial"/>
                <a:ea typeface="Microsoft YaHei"/>
              </a:rPr>
              <a:t>漫长的招聘流程</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41</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Recruitment testing</a:t>
            </a:r>
          </a:p>
          <a:p>
            <a:pPr algn="l">
              <a:lnSpc>
                <a:spcPct val="100000"/>
              </a:lnSpc>
              <a:spcAft>
                <a:spcPts val="800"/>
              </a:spcAft>
            </a:pPr>
            <a:r>
              <a:rPr sz="1400" b="0">
                <a:solidFill>
                  <a:srgbClr val="5F677A"/>
                </a:solidFill>
                <a:latin typeface="Arial"/>
                <a:ea typeface="Microsoft YaHei"/>
              </a:rPr>
              <a:t>招聘测试</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 · Lesson 37 Who is a better job candidate?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000" b="1">
                <a:solidFill>
                  <a:srgbClr val="FFFFFF"/>
                </a:solidFill>
                <a:latin typeface="Arial"/>
                <a:ea typeface="Microsoft YaHei"/>
              </a:rPr>
              <a:t>Who is a better job candidate?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谁是更好的求职者?</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compare two job candidates, weigh strengths and weaknesses and justify a recommendation.</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qualities make a strong job candidate?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experience more important than potential?</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judge someone in a short interview?</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hired someone who surprised you?</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a red flag for you in an interview?</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“candidate” = 求职者;“red flag” = 危险信号。第 4 题 “Have you ever hired” 现在完成时问经历。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Compare two candidates and say which one you would choose.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candidate 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candidate B</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comparison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recommendation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 paper, … is stronger, but…   💬 … is more … than …   💬 On balance, I’d go for…   💬 The deciding factor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 balance” = 权衡之后;“the deciding factor” = 决定性因素。</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Experience versus potential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small design agency had two finalists for a team leader role. Maria had eight years’ experience, a strong portfolio and a calm manner. Kenji had only three years, but he had started a student project that grew into a small company, and he asked sharp questions about the agency’s future. The hiring manager was torn. “Maria is the safer choice,” she said, “but Kenji may grow faster.” The team agreed on a decisive question: what does the agency need in the next year? The answer was stability while they moved into a new market. They hired Maria and offered Kenji a place on a leadership trainee scheme. Months later, both were doing well. The manager’s lesson was that “better” depends on the need, not on the person alone.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were the strengths of each candidate?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Maria: experience, portfolio, calm; Kenji: entrepreneurial project, sharp questions.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was the decisive question?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What does the agency need in the next year?</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did the agency do for the other candidate?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Offered Kenji a place on a leadership trainee scheme.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Comparing candidates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比较求职者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strengths and weaknesses</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优势与劣势</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are her strengths and weaknesses?”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stronger / more experienced than</a:t>
            </a:r>
          </a:p>
          <a:p>
            <a:pPr algn="l">
              <a:lnSpc>
                <a:spcPct val="115000"/>
              </a:lnSpc>
              <a:spcAft>
                <a:spcPts val="800"/>
              </a:spcAft>
            </a:pPr>
            <a:r>
              <a:rPr sz="1300" b="0">
                <a:solidFill>
                  <a:srgbClr val="5F677A"/>
                </a:solidFill>
                <a:latin typeface="Arial"/>
                <a:ea typeface="Microsoft YaHei"/>
              </a:rPr>
              <a:t>comparative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比…更强/更有经验</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is more experienced than him.”</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by far the strongest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远比其他人强</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is by far the strongest candidate.”</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paper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履历上</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paper, he is ideal.”</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safe pair of hands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稳妥可靠的人</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safe pair of hands.”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Potential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潜力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potential</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潜力</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a lot of potential.”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quick learner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学得快的人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quick learner.”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track record</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过往业绩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a strong track record.”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rough diamond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璞玉</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a rough diamond.”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steep learning curve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陡峭的学习曲线</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role has a steep learning curve.”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Recommending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推荐</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deciding factor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决定性因素</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“Experience was the deciding factor.”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 balance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权衡后</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 balance, I’d choose Maria.”</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lean towards…</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我倾向于…</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lean towards Kenji.”</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tip the balance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起决定作用</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“Her references tipped the balance.”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shortlist</a:t>
            </a:r>
          </a:p>
          <a:p>
            <a:pPr algn="l">
              <a:lnSpc>
                <a:spcPct val="115000"/>
              </a:lnSpc>
              <a:spcAft>
                <a:spcPts val="800"/>
              </a:spcAft>
            </a:pPr>
            <a:r>
              <a:rPr sz="1300" b="0">
                <a:solidFill>
                  <a:srgbClr val="5F677A"/>
                </a:solidFill>
                <a:latin typeface="Arial"/>
                <a:ea typeface="Microsoft YaHei"/>
              </a:rPr>
              <a:t>noun/verb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入围名单</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made the shortlist.”</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比…更强/更有经验</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stronger / more experienced than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决定性因素</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deciding factor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璞玉</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rough diamond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履历上</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paper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权衡后</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balance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稳妥可靠的人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safe pair of hands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潜力</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potential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学得快的人</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quick learner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strengths</a:t>
            </a:r>
          </a:p>
        </p:txBody>
      </p:sp>
      <p:sp>
        <p:nvSpPr>
          <p:cNvPr id="10" name="Rounded Rectangle 9"/>
          <p:cNvSpPr/>
          <p:nvPr/>
        </p:nvSpPr>
        <p:spPr>
          <a:xfrm>
            <a:off x="3456432"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paper</a:t>
            </a:r>
          </a:p>
        </p:txBody>
      </p:sp>
      <p:sp>
        <p:nvSpPr>
          <p:cNvPr id="11" name="Rounded Rectangle 10"/>
          <p:cNvSpPr/>
          <p:nvPr/>
        </p:nvSpPr>
        <p:spPr>
          <a:xfrm>
            <a:off x="4462272" y="987552"/>
            <a:ext cx="135331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potential</a:t>
            </a:r>
          </a:p>
        </p:txBody>
      </p:sp>
      <p:sp>
        <p:nvSpPr>
          <p:cNvPr id="12" name="Rounded Rectangle 11"/>
          <p:cNvSpPr/>
          <p:nvPr/>
        </p:nvSpPr>
        <p:spPr>
          <a:xfrm>
            <a:off x="5907024"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record</a:t>
            </a:r>
          </a:p>
        </p:txBody>
      </p:sp>
      <p:sp>
        <p:nvSpPr>
          <p:cNvPr id="13" name="Rounded Rectangle 12"/>
          <p:cNvSpPr/>
          <p:nvPr/>
        </p:nvSpPr>
        <p:spPr>
          <a:xfrm>
            <a:off x="7022592"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balance</a:t>
            </a:r>
          </a:p>
        </p:txBody>
      </p:sp>
      <p:sp>
        <p:nvSpPr>
          <p:cNvPr id="14" name="Rounded Rectangle 13"/>
          <p:cNvSpPr/>
          <p:nvPr/>
        </p:nvSpPr>
        <p:spPr>
          <a:xfrm>
            <a:off x="8247888"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factor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What are his _______ and weaknesses?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strengths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On _______, she is ideal.</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paper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He has a lot of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potential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She has a strong track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record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On _______, I’d choose Maria.</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balance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Experience was the deciding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factor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(比较级) more experienced than(不用 more experience than, 不加 -er);the most qualified (-ed 形容词用 most)。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Comparing two finalists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比较两位终选者</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and a colleague choose between two candidates.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Hiring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lead</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Comparing two finalists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compare Maria and Kenji. Who has the stronger track record?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Maria, by far. She’s more experienced than Kenji.</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Kenji is a quick learner and has real potential.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true. On paper, Maria is safer, though.</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does the team need this year?</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Stability. We’re entering a new market.</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Then on balance, I’d go for Maria, and offer Kenji a trainee role.</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That’s a fair compromise.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Comparing two finalists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two candidates.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Hiring 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 Candidates: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track record · more… than · on paper · potential · on balance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strengths, link to the team need and agree.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risk for each candidate.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“not as… as”.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the salary gap.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Defending your recommendation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为你的推荐辩护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director challenges your choice.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Director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Defending your recommendation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did you choose Kenji over Maria?</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Mainly because of his potential and the way he asked questions.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Isn’t that a risk? He has less experience.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is, but he’s a quick learner and the role has a steep learning curve for anyone.</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Defending your recommendation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tipped the balance?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His project showed initiative. And his references were excellent.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I’m willing to trust your judgement.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I’ll review his progress after three months.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Defending your recommendation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defend a hiring recommendation.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Recommender. Candidate: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potential · risk · tipped the balance · references · review progress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your reasons, admit the risk and offer a safeguard.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probation review.</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Answer “What if he leaves?”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development plan.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experience more valuable than potential?</a:t>
            </a:r>
          </a:p>
          <a:p>
            <a:pPr algn="l">
              <a:lnSpc>
                <a:spcPct val="115000"/>
              </a:lnSpc>
              <a:spcAft>
                <a:spcPts val="800"/>
              </a:spcAft>
            </a:pPr>
            <a:r>
              <a:rPr sz="1400" b="0">
                <a:solidFill>
                  <a:srgbClr val="5F677A"/>
                </a:solidFill>
                <a:latin typeface="Arial"/>
                <a:ea typeface="Microsoft YaHei"/>
              </a:rPr>
              <a:t>💬 “It depends on… / In a start-up…”</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reliable are interviews?</a:t>
            </a:r>
          </a:p>
          <a:p>
            <a:pPr algn="l">
              <a:lnSpc>
                <a:spcPct val="115000"/>
              </a:lnSpc>
              <a:spcAft>
                <a:spcPts val="800"/>
              </a:spcAft>
            </a:pPr>
            <a:r>
              <a:rPr sz="1400" b="0">
                <a:solidFill>
                  <a:srgbClr val="5F677A"/>
                </a:solidFill>
                <a:latin typeface="Arial"/>
                <a:ea typeface="Microsoft YaHei"/>
              </a:rPr>
              <a:t>💬 “They can be misleading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make you reject a strong candidate?</a:t>
            </a:r>
          </a:p>
          <a:p>
            <a:pPr algn="l">
              <a:lnSpc>
                <a:spcPct val="115000"/>
              </a:lnSpc>
              <a:spcAft>
                <a:spcPts val="800"/>
              </a:spcAft>
            </a:pPr>
            <a:r>
              <a:rPr sz="1400" b="0">
                <a:solidFill>
                  <a:srgbClr val="5F677A"/>
                </a:solidFill>
                <a:latin typeface="Arial"/>
                <a:ea typeface="Microsoft YaHei"/>
              </a:rPr>
              <a:t>💬 “A big red flag would be…”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you treat candidates you don’t hire?</a:t>
            </a:r>
          </a:p>
          <a:p>
            <a:pPr algn="l">
              <a:lnSpc>
                <a:spcPct val="115000"/>
              </a:lnSpc>
              <a:spcAft>
                <a:spcPts val="800"/>
              </a:spcAft>
            </a:pPr>
            <a:r>
              <a:rPr sz="1400" b="0">
                <a:solidFill>
                  <a:srgbClr val="5F677A"/>
                </a:solidFill>
                <a:latin typeface="Arial"/>
                <a:ea typeface="Microsoft YaHei"/>
              </a:rPr>
              <a:t>💬 “I’d… so that they…”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Describe an ideal candidate for your team.</a:t>
            </a:r>
          </a:p>
          <a:p>
            <a:pPr algn="l">
              <a:lnSpc>
                <a:spcPct val="115000"/>
              </a:lnSpc>
              <a:spcAft>
                <a:spcPts val="800"/>
              </a:spcAft>
            </a:pPr>
            <a:r>
              <a:rPr sz="1400" b="0">
                <a:solidFill>
                  <a:srgbClr val="5F677A"/>
                </a:solidFill>
                <a:latin typeface="Arial"/>
                <a:ea typeface="Microsoft YaHei"/>
              </a:rPr>
              <a:t>💬 “Someone who… and who…”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It depends on the role and the team. For a senior position, I’d lean towards experience, because mistakes are costly. For a growing team, however, potential can be more valuable because people grow with the company. Ideally, I’d choose someone with both, but if I had to pick one, I’d look at how fast the person learns.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 depends on” 依情况而定;“if I had to pick one” 如果必须选一个(第二条件句)。</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Comparatives and superlatives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比较级与最高级</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more + adj + than</a:t>
                      </a:r>
                    </a:p>
                  </a:txBody>
                  <a:tcPr anchor="ctr">
                    <a:solidFill>
                      <a:srgbClr val="FFFFFF"/>
                    </a:solidFill>
                  </a:tcPr>
                </a:tc>
                <a:tc>
                  <a:txBody>
                    <a:bodyPr wrap="square"/>
                    <a:lstStyle/>
                    <a:p>
                      <a:r>
                        <a:rPr sz="1600" b="0">
                          <a:solidFill>
                            <a:srgbClr val="1F2A44"/>
                          </a:solidFill>
                          <a:latin typeface="Arial"/>
                          <a:ea typeface="Microsoft YaHei"/>
                        </a:rPr>
                        <a:t>Maria is more experienced than Kenji.</a:t>
                      </a:r>
                    </a:p>
                  </a:txBody>
                  <a:tcPr anchor="ctr">
                    <a:solidFill>
                      <a:srgbClr val="FFFFFF"/>
                    </a:solidFill>
                  </a:tcPr>
                </a:tc>
              </a:tr>
              <a:tr h="408432">
                <a:tc>
                  <a:txBody>
                    <a:bodyPr wrap="square"/>
                    <a:lstStyle/>
                    <a:p>
                      <a:r>
                        <a:rPr sz="1600" b="1">
                          <a:solidFill>
                            <a:srgbClr val="1F2A44"/>
                          </a:solidFill>
                          <a:latin typeface="Arial"/>
                          <a:ea typeface="Microsoft YaHei"/>
                        </a:rPr>
                        <a:t>not as + adj + as</a:t>
                      </a:r>
                    </a:p>
                  </a:txBody>
                  <a:tcPr anchor="ctr">
                    <a:solidFill>
                      <a:srgbClr val="FFEFD9"/>
                    </a:solidFill>
                  </a:tcPr>
                </a:tc>
                <a:tc>
                  <a:txBody>
                    <a:bodyPr wrap="square"/>
                    <a:lstStyle/>
                    <a:p>
                      <a:r>
                        <a:rPr sz="1600" b="0">
                          <a:solidFill>
                            <a:srgbClr val="1F2A44"/>
                          </a:solidFill>
                          <a:latin typeface="Arial"/>
                          <a:ea typeface="Microsoft YaHei"/>
                        </a:rPr>
                        <a:t>Kenji isn’t as experienced as Maria.</a:t>
                      </a:r>
                    </a:p>
                  </a:txBody>
                  <a:tcPr anchor="ctr">
                    <a:solidFill>
                      <a:srgbClr val="FFEFD9"/>
                    </a:solidFill>
                  </a:tcPr>
                </a:tc>
              </a:tr>
              <a:tr h="408432">
                <a:tc>
                  <a:txBody>
                    <a:bodyPr wrap="square"/>
                    <a:lstStyle/>
                    <a:p>
                      <a:r>
                        <a:rPr sz="1600" b="1">
                          <a:solidFill>
                            <a:srgbClr val="1F2A44"/>
                          </a:solidFill>
                          <a:latin typeface="Arial"/>
                          <a:ea typeface="Microsoft YaHei"/>
                        </a:rPr>
                        <a:t>by far the + superlative</a:t>
                      </a:r>
                    </a:p>
                  </a:txBody>
                  <a:tcPr anchor="ctr">
                    <a:solidFill>
                      <a:srgbClr val="FFFFFF"/>
                    </a:solidFill>
                  </a:tcPr>
                </a:tc>
                <a:tc>
                  <a:txBody>
                    <a:bodyPr wrap="square"/>
                    <a:lstStyle/>
                    <a:p>
                      <a:r>
                        <a:rPr sz="1600" b="0">
                          <a:solidFill>
                            <a:srgbClr val="1F2A44"/>
                          </a:solidFill>
                          <a:latin typeface="Arial"/>
                          <a:ea typeface="Microsoft YaHei"/>
                        </a:rPr>
                        <a:t>She’s by far the strongest candidate.</a:t>
                      </a:r>
                    </a:p>
                  </a:txBody>
                  <a:tcPr anchor="ctr">
                    <a:solidFill>
                      <a:srgbClr val="FFFFFF"/>
                    </a:solidFill>
                  </a:tcPr>
                </a:tc>
              </a:tr>
              <a:tr h="408432">
                <a:tc>
                  <a:txBody>
                    <a:bodyPr wrap="square"/>
                    <a:lstStyle/>
                    <a:p>
                      <a:r>
                        <a:rPr sz="1600" b="1">
                          <a:solidFill>
                            <a:srgbClr val="1F2A44"/>
                          </a:solidFill>
                          <a:latin typeface="Arial"/>
                          <a:ea typeface="Microsoft YaHei"/>
                        </a:rPr>
                        <a:t>the + comparative, the + comparative</a:t>
                      </a:r>
                    </a:p>
                  </a:txBody>
                  <a:tcPr anchor="ctr">
                    <a:solidFill>
                      <a:srgbClr val="FFEFD9"/>
                    </a:solidFill>
                  </a:tcPr>
                </a:tc>
                <a:tc>
                  <a:txBody>
                    <a:bodyPr wrap="square"/>
                    <a:lstStyle/>
                    <a:p>
                      <a:r>
                        <a:rPr sz="1600" b="0">
                          <a:solidFill>
                            <a:srgbClr val="1F2A44"/>
                          </a:solidFill>
                          <a:latin typeface="Arial"/>
                          <a:ea typeface="Microsoft YaHei"/>
                        </a:rPr>
                        <a:t>The more you prepare, the better you perform.</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Comparatives and superlatives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比较级与最高级</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Modify comparisons: </a:t>
            </a:r>
            <a:r>
              <a:rPr sz="1700" b="0">
                <a:solidFill>
                  <a:srgbClr val="1F2A44"/>
                </a:solidFill>
                <a:latin typeface="Arial"/>
                <a:ea typeface="Microsoft YaHei"/>
              </a:rPr>
              <a:t>slightly, a bit, much, far, a lot + comparative.</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more experienced that him.</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is more experienced than him.</a:t>
            </a:r>
          </a:p>
          <a:p>
            <a:pPr algn="l">
              <a:spcAft>
                <a:spcPts val="200"/>
              </a:spcAft>
            </a:pPr>
            <a:r>
              <a:rPr sz="1200" b="0">
                <a:solidFill>
                  <a:srgbClr val="FFFFFF"/>
                </a:solidFill>
                <a:latin typeface="Arial"/>
                <a:ea typeface="Microsoft YaHei"/>
              </a:rPr>
              <a:t>than</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more better than her.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better than her.</a:t>
            </a:r>
          </a:p>
          <a:p>
            <a:pPr algn="l">
              <a:spcAft>
                <a:spcPts val="200"/>
              </a:spcAft>
            </a:pPr>
            <a:r>
              <a:rPr sz="1200" b="0">
                <a:solidFill>
                  <a:srgbClr val="FFFFFF"/>
                </a:solidFill>
                <a:latin typeface="Arial"/>
                <a:ea typeface="Microsoft YaHei"/>
              </a:rPr>
              <a:t>better 已是比较级</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has many experience.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has a lot of experience.</a:t>
            </a:r>
          </a:p>
          <a:p>
            <a:pPr algn="l">
              <a:spcAft>
                <a:spcPts val="200"/>
              </a:spcAft>
            </a:pPr>
            <a:r>
              <a:rPr sz="1200" b="0">
                <a:solidFill>
                  <a:srgbClr val="FFFFFF"/>
                </a:solidFill>
                <a:latin typeface="Arial"/>
                <a:ea typeface="Microsoft YaHei"/>
              </a:rPr>
              <a:t>experience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the more qualified candidate of all.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the most qualified candidate of all.</a:t>
            </a:r>
          </a:p>
          <a:p>
            <a:pPr algn="l">
              <a:spcAft>
                <a:spcPts val="200"/>
              </a:spcAft>
            </a:pPr>
            <a:r>
              <a:rPr sz="1200" b="0">
                <a:solidFill>
                  <a:srgbClr val="FFFFFF"/>
                </a:solidFill>
                <a:latin typeface="Arial"/>
                <a:ea typeface="Microsoft YaHei"/>
              </a:rPr>
              <a:t>三者以上用最高级</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choose the one who is the more strong.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choose the stronger one.</a:t>
            </a:r>
          </a:p>
          <a:p>
            <a:pPr algn="l">
              <a:spcAft>
                <a:spcPts val="200"/>
              </a:spcAft>
            </a:pPr>
            <a:r>
              <a:rPr sz="1200" b="0">
                <a:solidFill>
                  <a:srgbClr val="FFFFFF"/>
                </a:solidFill>
                <a:latin typeface="Arial"/>
                <a:ea typeface="Microsoft YaHei"/>
              </a:rPr>
              <a:t>stronger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a same decision.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the same decision.</a:t>
            </a:r>
          </a:p>
          <a:p>
            <a:pPr algn="l">
              <a:spcAft>
                <a:spcPts val="200"/>
              </a:spcAft>
            </a:pPr>
            <a:r>
              <a:rPr sz="1200" b="0">
                <a:solidFill>
                  <a:srgbClr val="FFFFFF"/>
                </a:solidFill>
                <a:latin typeface="Arial"/>
                <a:ea typeface="Microsoft YaHei"/>
              </a:rPr>
              <a:t>the same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more… than, no double comparatives, and the same.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criteria. Compare candidates against the same list, not just “feeling”.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Be fair in language. Describe skills and behaviour, not personal characteristics.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Record reasons. Many firms require written interview notes.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Treat everyone well. Unsuccessful candidates can become customers or future hires.</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candidates using more… than and not as… as.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recommend with on balance / I’d lean towards.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strengths and weaknesses diplomatically.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avoid double comparatives (more better).</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37 Who is a better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Compare two people or products in 5 sentences, then recommend one.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more than, better (not more better), the same, than me.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 · Lesson 38 Selecting a job candidate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Selecting a job candidate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筛选求职者</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describe the steps of selecting candidates, from shortlisting to final decision, and discuss interview feedback.</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stages of hiring in your company?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look for on a CV?</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people usually apply for a job in your team?</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interviewed someone? How did it feel?</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questions are good interview questions?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题描述流程用一般现在时。“shortlist” 名词/动词 = 入围名单/列入名单。</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your company selects a candidate.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job advert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screening</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interviews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decision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offer</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First, we…   💬 Once we’ve screened…, we…   💬 After that, …   💬 Finally, we make an offer.</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“Once + 现在完成时” 表示”一旦…完成就…“。</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From 200 CVs to one offer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A typical selection process looks like a funnel. First, the recruiter posts a job advert and receives around 200 applications. A quick screening, sometimes done by software, removes CVs that do not meet the basic requirements. Roughly 20 people are then phoned for a short chat. Of these, six are invited to interviews with the hiring manager. After the interviews, the panel compares notes using a scoring sheet. Two finalists meet the wider team or complete a task. Before the offer, the company checks references. The process is slow, but each stage reduces risk, because weak matches are removed early and the interviewers’ time is spent on the strongest people. The most common mistake is changing the criteria halfway. If the job needs strong communication, agree this before the first interview, and keep to it.</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many people are invited to interviews?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About six.</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happens before the offer is made?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company checks references.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most common mistake?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Changing the criteria halfway through the process.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流程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job advert / posting</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招聘广告</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posted the advert last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screening</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初筛</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“Screening removes unsuitable CVs.”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shortlist</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列入入围名单</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shortlisted six candidates.”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weed out</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筛除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weed out weak applications.”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narrow down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缩小范围</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narrowed it down to two.”</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Interviews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panel interview</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小组面试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had a panel interview.”</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competency-based questions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胜任力问题</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ask competency-based questions.”</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follow-up question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追问</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“Ask a follow-up question.”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probe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深入追问</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“Probe for specific examples.”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come across as</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给人…的印象</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came across as confident.”</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Decision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决定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scoring sheet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评分表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“Complete the scoring sheet.”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check references</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核实推荐信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check references next.”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make an offer</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发出录用通知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made her an offer.”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offer letter</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录用函</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signed the offer letter.”</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the fence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犹豫不决</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on the fence about him.”</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犹豫不决</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the fence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初筛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深入追问</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招聘广告</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advert / posting</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核实推荐信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check references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录用函</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offer letter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发出录用通知</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an offer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列入入围名单</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shortlist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advert</a:t>
            </a:r>
          </a:p>
        </p:txBody>
      </p:sp>
      <p:sp>
        <p:nvSpPr>
          <p:cNvPr id="10" name="Rounded Rectangle 9"/>
          <p:cNvSpPr/>
          <p:nvPr/>
        </p:nvSpPr>
        <p:spPr>
          <a:xfrm>
            <a:off x="3127248"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shortlisted</a:t>
            </a:r>
          </a:p>
        </p:txBody>
      </p:sp>
      <p:sp>
        <p:nvSpPr>
          <p:cNvPr id="11" name="Rounded Rectangle 10"/>
          <p:cNvSpPr/>
          <p:nvPr/>
        </p:nvSpPr>
        <p:spPr>
          <a:xfrm>
            <a:off x="4791455"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panel</a:t>
            </a:r>
          </a:p>
        </p:txBody>
      </p:sp>
      <p:sp>
        <p:nvSpPr>
          <p:cNvPr id="12" name="Rounded Rectangle 11"/>
          <p:cNvSpPr/>
          <p:nvPr/>
        </p:nvSpPr>
        <p:spPr>
          <a:xfrm>
            <a:off x="5797295"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probe</a:t>
            </a:r>
          </a:p>
        </p:txBody>
      </p:sp>
      <p:sp>
        <p:nvSpPr>
          <p:cNvPr id="13" name="Rounded Rectangle 12"/>
          <p:cNvSpPr/>
          <p:nvPr/>
        </p:nvSpPr>
        <p:spPr>
          <a:xfrm>
            <a:off x="6803135"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references</a:t>
            </a:r>
          </a:p>
        </p:txBody>
      </p:sp>
      <p:sp>
        <p:nvSpPr>
          <p:cNvPr id="14" name="Rounded Rectangle 13"/>
          <p:cNvSpPr/>
          <p:nvPr/>
        </p:nvSpPr>
        <p:spPr>
          <a:xfrm>
            <a:off x="8357615"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offer</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posted the job _______ last week.</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advert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_______ six candidates.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shortlisted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She had a _______ interview with three managers.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panel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Ask follow-up questions to _______ for examples.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We’ll check _______ next.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references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decided to make her an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offer</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(拼写与搭配) advertisement / advert / ad; apply FOR a job, apply TO a company; reference 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Explaining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介绍招聘流程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new colleague asks how hiring works.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New 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Explaining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does hiring work here?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First, HR posts the advert. Then they screen the CVs and shortlist about ten people.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after that?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Once they’ve been phoned, six come for interviews with me and a panel.</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Explaining the process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ask?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competency-based questions. I probe for specific examples.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do you decide?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use a scoring sheet, check references, and then make an offer.</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Explaining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selection process.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Experienced interviewer. Role: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First, … · Once they’ve… · After that, … · shortlist · scoring sheet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each stage in order with linking words.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timings for each stage.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Point out one weakness in the process.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how you’d improve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Interview debrief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面试后复盘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interviewers compare their notes.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Interviewer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Interviewer 2</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Interview debrief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how did Priya do?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She came across as confident, and her examples were specific.</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My only concern is that she seemed unsure about the budget.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probe that in the second round.</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Interview debrief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Tom?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on the fence. He’s friendly, but his answers were vague.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narrow it down to Priya and one other.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I’ll update the scoring sheet.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Interview debrief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debrief after interviews.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1.</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Interviewer 2. Candidates: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came across as · specific examples · on the fence · narrow it down · scoring sheet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balanced feedback and agree who goes forward.</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Disagree politely about a candidate.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Point out a possible bias.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Decide on next steps.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important stage in hiring?</a:t>
            </a:r>
          </a:p>
          <a:p>
            <a:pPr algn="l">
              <a:lnSpc>
                <a:spcPct val="115000"/>
              </a:lnSpc>
              <a:spcAft>
                <a:spcPts val="800"/>
              </a:spcAft>
            </a:pPr>
            <a:r>
              <a:rPr sz="1400" b="0">
                <a:solidFill>
                  <a:srgbClr val="5F677A"/>
                </a:solidFill>
                <a:latin typeface="Arial"/>
                <a:ea typeface="Microsoft YaHei"/>
              </a:rPr>
              <a:t>💬 “I’d say…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to use software to screen CVs?</a:t>
            </a:r>
          </a:p>
          <a:p>
            <a:pPr algn="l">
              <a:lnSpc>
                <a:spcPct val="115000"/>
              </a:lnSpc>
              <a:spcAft>
                <a:spcPts val="800"/>
              </a:spcAft>
            </a:pPr>
            <a:r>
              <a:rPr sz="1400" b="0">
                <a:solidFill>
                  <a:srgbClr val="5F677A"/>
                </a:solidFill>
                <a:latin typeface="Arial"/>
                <a:ea typeface="Microsoft YaHei"/>
              </a:rPr>
              <a:t>💬 “It can be quick,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interview question?</a:t>
            </a:r>
          </a:p>
          <a:p>
            <a:pPr algn="l">
              <a:lnSpc>
                <a:spcPct val="115000"/>
              </a:lnSpc>
              <a:spcAft>
                <a:spcPts val="800"/>
              </a:spcAft>
            </a:pPr>
            <a:r>
              <a:rPr sz="1400" b="0">
                <a:solidFill>
                  <a:srgbClr val="5F677A"/>
                </a:solidFill>
                <a:latin typeface="Arial"/>
                <a:ea typeface="Microsoft YaHei"/>
              </a:rPr>
              <a:t>💬 “A good question is one that…”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a hiring process take?</a:t>
            </a:r>
          </a:p>
          <a:p>
            <a:pPr algn="l">
              <a:lnSpc>
                <a:spcPct val="115000"/>
              </a:lnSpc>
              <a:spcAft>
                <a:spcPts val="800"/>
              </a:spcAft>
            </a:pPr>
            <a:r>
              <a:rPr sz="1400" b="0">
                <a:solidFill>
                  <a:srgbClr val="5F677A"/>
                </a:solidFill>
                <a:latin typeface="Arial"/>
                <a:ea typeface="Microsoft YaHei"/>
              </a:rPr>
              <a:t>💬 “Ideally, no more than…”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candidates meet the team?</a:t>
            </a:r>
          </a:p>
          <a:p>
            <a:pPr algn="l">
              <a:lnSpc>
                <a:spcPct val="115000"/>
              </a:lnSpc>
              <a:spcAft>
                <a:spcPts val="800"/>
              </a:spcAft>
            </a:pPr>
            <a:r>
              <a:rPr sz="1400" b="0">
                <a:solidFill>
                  <a:srgbClr val="5F677A"/>
                </a:solidFill>
                <a:latin typeface="Arial"/>
                <a:ea typeface="Microsoft YaHei"/>
              </a:rPr>
              <a:t>💬 “Yes,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Ideally, a hiring process should take no more than four to six weeks. Top candidates often receive several offers, so a slow process risks losing them. On the other hand, rushing can lead to poor decisions. I think a good compromise is to plan the stages, tell candidates the timeline, and reply within a few days after each stage.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“no more than” 不超过;“on the other hand” 另一方面。</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a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描述流程</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Sequence word</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First / Firstly</a:t>
                      </a:r>
                    </a:p>
                  </a:txBody>
                  <a:tcPr anchor="ctr">
                    <a:solidFill>
                      <a:srgbClr val="FFFFFF"/>
                    </a:solidFill>
                  </a:tcPr>
                </a:tc>
                <a:tc>
                  <a:txBody>
                    <a:bodyPr wrap="square"/>
                    <a:lstStyle/>
                    <a:p>
                      <a:r>
                        <a:rPr sz="1600" b="0">
                          <a:solidFill>
                            <a:srgbClr val="1F2A44"/>
                          </a:solidFill>
                          <a:latin typeface="Arial"/>
                          <a:ea typeface="Microsoft YaHei"/>
                        </a:rPr>
                        <a:t>First, HR posts the advert.</a:t>
                      </a:r>
                    </a:p>
                  </a:txBody>
                  <a:tcPr anchor="ctr">
                    <a:solidFill>
                      <a:srgbClr val="FFFFFF"/>
                    </a:solidFill>
                  </a:tcPr>
                </a:tc>
              </a:tr>
              <a:tr h="408432">
                <a:tc>
                  <a:txBody>
                    <a:bodyPr wrap="square"/>
                    <a:lstStyle/>
                    <a:p>
                      <a:r>
                        <a:rPr sz="1600" b="1">
                          <a:solidFill>
                            <a:srgbClr val="1F2A44"/>
                          </a:solidFill>
                          <a:latin typeface="Arial"/>
                          <a:ea typeface="Microsoft YaHei"/>
                        </a:rPr>
                        <a:t>Then / Next / After that</a:t>
                      </a:r>
                    </a:p>
                  </a:txBody>
                  <a:tcPr anchor="ctr">
                    <a:solidFill>
                      <a:srgbClr val="FFEFD9"/>
                    </a:solidFill>
                  </a:tcPr>
                </a:tc>
                <a:tc>
                  <a:txBody>
                    <a:bodyPr wrap="square"/>
                    <a:lstStyle/>
                    <a:p>
                      <a:r>
                        <a:rPr sz="1600" b="0">
                          <a:solidFill>
                            <a:srgbClr val="1F2A44"/>
                          </a:solidFill>
                          <a:latin typeface="Arial"/>
                          <a:ea typeface="Microsoft YaHei"/>
                        </a:rPr>
                        <a:t>Then they screen the CVs.</a:t>
                      </a:r>
                    </a:p>
                  </a:txBody>
                  <a:tcPr anchor="ctr">
                    <a:solidFill>
                      <a:srgbClr val="FFEFD9"/>
                    </a:solidFill>
                  </a:tcPr>
                </a:tc>
              </a:tr>
              <a:tr h="408432">
                <a:tc>
                  <a:txBody>
                    <a:bodyPr wrap="square"/>
                    <a:lstStyle/>
                    <a:p>
                      <a:r>
                        <a:rPr sz="1600" b="1">
                          <a:solidFill>
                            <a:srgbClr val="1F2A44"/>
                          </a:solidFill>
                          <a:latin typeface="Arial"/>
                          <a:ea typeface="Microsoft YaHei"/>
                        </a:rPr>
                        <a:t>Once + present perfect</a:t>
                      </a:r>
                    </a:p>
                  </a:txBody>
                  <a:tcPr anchor="ctr">
                    <a:solidFill>
                      <a:srgbClr val="FFFFFF"/>
                    </a:solidFill>
                  </a:tcPr>
                </a:tc>
                <a:tc>
                  <a:txBody>
                    <a:bodyPr wrap="square"/>
                    <a:lstStyle/>
                    <a:p>
                      <a:r>
                        <a:rPr sz="1600" b="0">
                          <a:solidFill>
                            <a:srgbClr val="1F2A44"/>
                          </a:solidFill>
                          <a:latin typeface="Arial"/>
                          <a:ea typeface="Microsoft YaHei"/>
                        </a:rPr>
                        <a:t>Once they’ve been phoned, they come in.</a:t>
                      </a:r>
                    </a:p>
                  </a:txBody>
                  <a:tcPr anchor="ctr">
                    <a:solidFill>
                      <a:srgbClr val="FFFFFF"/>
                    </a:solidFill>
                  </a:tcPr>
                </a:tc>
              </a:tr>
              <a:tr h="408432">
                <a:tc>
                  <a:txBody>
                    <a:bodyPr wrap="square"/>
                    <a:lstStyle/>
                    <a:p>
                      <a:r>
                        <a:rPr sz="1600" b="1">
                          <a:solidFill>
                            <a:srgbClr val="1F2A44"/>
                          </a:solidFill>
                          <a:latin typeface="Arial"/>
                          <a:ea typeface="Microsoft YaHei"/>
                        </a:rPr>
                        <a:t>Finally / Eventually</a:t>
                      </a:r>
                    </a:p>
                  </a:txBody>
                  <a:tcPr anchor="ctr">
                    <a:solidFill>
                      <a:srgbClr val="FFEFD9"/>
                    </a:solidFill>
                  </a:tcPr>
                </a:tc>
                <a:tc>
                  <a:txBody>
                    <a:bodyPr wrap="square"/>
                    <a:lstStyle/>
                    <a:p>
                      <a:r>
                        <a:rPr sz="1600" b="0">
                          <a:solidFill>
                            <a:srgbClr val="1F2A44"/>
                          </a:solidFill>
                          <a:latin typeface="Arial"/>
                          <a:ea typeface="Microsoft YaHei"/>
                        </a:rPr>
                        <a:t>Finally, we make an offer.</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a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描述流程</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In a process description, use the present simple and the passive: CVs are screened, candidates are invited.</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apply to this job.</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applying for this job.</a:t>
            </a:r>
          </a:p>
          <a:p>
            <a:pPr algn="l">
              <a:spcAft>
                <a:spcPts val="200"/>
              </a:spcAft>
            </a:pPr>
            <a:r>
              <a:rPr sz="1200" b="0">
                <a:solidFill>
                  <a:srgbClr val="FFFFFF"/>
                </a:solidFill>
                <a:latin typeface="Arial"/>
                <a:ea typeface="Microsoft YaHei"/>
              </a:rPr>
              <a:t>apply for</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are interviewed by the panel for the three weeks.</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are interviewed by the panel over three weeks.</a:t>
            </a:r>
          </a:p>
          <a:p>
            <a:pPr algn="l">
              <a:spcAft>
                <a:spcPts val="200"/>
              </a:spcAft>
            </a:pPr>
            <a:r>
              <a:rPr sz="1200" b="0">
                <a:solidFill>
                  <a:srgbClr val="FFFFFF"/>
                </a:solidFill>
                <a:latin typeface="Arial"/>
                <a:ea typeface="Microsoft YaHei"/>
              </a:rPr>
              <a:t>介词</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At first, we post the advert. Then we screen the CVs.</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First, we post the advert. Then we screen the CVs.</a:t>
            </a:r>
          </a:p>
          <a:p>
            <a:pPr algn="l">
              <a:spcAft>
                <a:spcPts val="200"/>
              </a:spcAft>
            </a:pPr>
            <a:r>
              <a:rPr sz="1200" b="0">
                <a:solidFill>
                  <a:srgbClr val="FFFFFF"/>
                </a:solidFill>
                <a:latin typeface="Arial"/>
                <a:ea typeface="Microsoft YaHei"/>
              </a:rPr>
              <a:t>at first 表示”起初”,不是”第一步”</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Six candidates are shortlist.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Six candidates are shortlisted.</a:t>
            </a:r>
          </a:p>
          <a:p>
            <a:pPr algn="l">
              <a:spcAft>
                <a:spcPts val="200"/>
              </a:spcAft>
            </a:pPr>
            <a:r>
              <a:rPr sz="1200" b="0">
                <a:solidFill>
                  <a:srgbClr val="FFFFFF"/>
                </a:solidFill>
                <a:latin typeface="Arial"/>
                <a:ea typeface="Microsoft YaHei"/>
              </a:rPr>
              <a:t>被动要用 -ed</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inform you the result.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will let you know the result.</a:t>
            </a:r>
          </a:p>
          <a:p>
            <a:pPr algn="l">
              <a:spcAft>
                <a:spcPts val="200"/>
              </a:spcAft>
            </a:pPr>
            <a:r>
              <a:rPr sz="1200" b="0">
                <a:solidFill>
                  <a:srgbClr val="FFFFFF"/>
                </a:solidFill>
                <a:latin typeface="Arial"/>
                <a:ea typeface="Microsoft YaHei"/>
              </a:rPr>
              <a:t>inform sb of</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interview was very tired.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interview was very tiring.</a:t>
            </a:r>
          </a:p>
          <a:p>
            <a:pPr algn="l">
              <a:spcAft>
                <a:spcPts val="200"/>
              </a:spcAft>
            </a:pPr>
            <a:r>
              <a:rPr sz="1200" b="0">
                <a:solidFill>
                  <a:srgbClr val="FFFFFF"/>
                </a:solidFill>
                <a:latin typeface="Arial"/>
                <a:ea typeface="Microsoft YaHei"/>
              </a:rPr>
              <a:t>tiring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apply for, passive with -ed, and -ed / -ing adjectives.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Structured process. Many firms ask all candidates the same questions to keep it fair.</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Feedback. Good companies tell candidates the outcome; silence is seen as unprofessional.</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Reference checks. Normal at the end; candidates usually name referees themselves.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Interviews are two-way. Candidates are expected to ask questions.</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recruitment process with sequence words.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balanced feedback on a candidate.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forms (are screened, are shortlisted).</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apply for and let someone know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38 Selecting a job candidate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your company’s hiring process (or an imagined one)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apply for, passive, sequencing, -ed/-ing.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 · Lesson 39 Hiring choices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Hiring choices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招聘选择</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hiring choices (internal vs external, skills vs fit, full-time vs freelance) and justify them.</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better to promote from within or hire from outside?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companies hire for skills or for personality?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a bad hire?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prefer to work with freelancers or full-time staff?</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important is culture fit?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“culture fit” = 与企业文化契合;“hire from outside” = 外部招聘。第 1 题 “promote from within” 内部提拔。</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the pros and cons of internal versus external hiring.</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option 1</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pros/cons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option 2</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pros/cons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your choice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advantage of … is…   💬 On the downside, …   💬 While … can …, …   💬 All things considered, …</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“While A…, B…” 引导让步对比;“all things considered” = 综合考虑。</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Inside or outside?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When a senior role opens up, companies face a classic choice: promote someone from the team or hire from outside. An internal hire already knows the culture, needs less training and may feel motivated by the opportunity. Colleagues see that progress is possible. However, the person may lack fresh ideas, and those not promoted may feel disappointed. An external hire brings new perspectives and skills the team lacks. The risk is that they may take months to understand how things work, and may not fit the culture. Some companies solve this by opening every role to both groups and using the same criteria. Others hire for attitude and train for skill, believing that you can teach a skill but you cannot easily teach a mindset. Whichever route a company chooses, the key is to decide on purpose, not by habit.</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two advantages of an internal hire?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Knows the culture, needs less training, is motivated.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 risk of an external hire?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May take months to learn how things work and may not fit the culture.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some companies believe about skill and attitude?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 can teach a skill but not easily a mindset, so hire for attitude.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Internal and external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内部与外部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promote from within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内部提拔</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try to promote from within.”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external hire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外聘人员</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made an external hire.”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bring in fresh blood</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引入新鲜血液</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bring in fresh blood.”</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steep onboarding curve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融入期长</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role has a steep onboarding curve.”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headhunt</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猎头挖角</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was headhunted by a rival.”</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Types of staff</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员工类型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permanent / full-time</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长期/全职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hire permanent staff.”</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freelancer / contractor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自由职业者/合同工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freelancers for peaks.”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temp</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临时工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hired temps for summer.”</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headcount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人员编制</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headcount freeze.”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hiring freeze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冻结招聘</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hiring freeze.”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Fit and risk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契合与风险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culture fit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文化契合度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“Culture fit matters to us.”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bad hire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招错人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bad hire is expensive.”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skill set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技能组合</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has a broad skill set.”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hire for attitude, train for skill</a:t>
            </a:r>
          </a:p>
          <a:p>
            <a:pPr algn="l">
              <a:lnSpc>
                <a:spcPct val="115000"/>
              </a:lnSpc>
              <a:spcAft>
                <a:spcPts val="800"/>
              </a:spcAft>
            </a:pPr>
            <a:r>
              <a:rPr sz="1300" b="0">
                <a:solidFill>
                  <a:srgbClr val="5F677A"/>
                </a:solidFill>
                <a:latin typeface="Arial"/>
                <a:ea typeface="Microsoft YaHei"/>
              </a:rPr>
              <a:t>proverb</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重态度,培训技能</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hire for attitude, train for skill.”</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good fit for</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适合</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a good fit for the team.”</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长期/全职</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permanent / full-time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重态度,培训技能</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hire for attitude, train for skill</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猎头挖角</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headhunt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技能组合</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 set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自由职业者/合同工</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freelancer / contractor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适合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good fit for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人员编制</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headcount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临时工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temp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within</a:t>
            </a:r>
          </a:p>
        </p:txBody>
      </p:sp>
      <p:sp>
        <p:nvSpPr>
          <p:cNvPr id="10" name="Rounded Rectangle 9"/>
          <p:cNvSpPr/>
          <p:nvPr/>
        </p:nvSpPr>
        <p:spPr>
          <a:xfrm>
            <a:off x="3127248"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external</a:t>
            </a:r>
          </a:p>
        </p:txBody>
      </p:sp>
      <p:sp>
        <p:nvSpPr>
          <p:cNvPr id="11" name="Rounded Rectangle 10"/>
          <p:cNvSpPr/>
          <p:nvPr/>
        </p:nvSpPr>
        <p:spPr>
          <a:xfrm>
            <a:off x="4462272"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freelancers</a:t>
            </a:r>
          </a:p>
        </p:txBody>
      </p:sp>
      <p:sp>
        <p:nvSpPr>
          <p:cNvPr id="12" name="Rounded Rectangle 11"/>
          <p:cNvSpPr/>
          <p:nvPr/>
        </p:nvSpPr>
        <p:spPr>
          <a:xfrm>
            <a:off x="6126479"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fit</a:t>
            </a:r>
          </a:p>
        </p:txBody>
      </p:sp>
      <p:sp>
        <p:nvSpPr>
          <p:cNvPr id="13" name="Rounded Rectangle 12"/>
          <p:cNvSpPr/>
          <p:nvPr/>
        </p:nvSpPr>
        <p:spPr>
          <a:xfrm>
            <a:off x="6912863" y="987552"/>
            <a:ext cx="69494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bad</a:t>
            </a:r>
          </a:p>
        </p:txBody>
      </p:sp>
      <p:sp>
        <p:nvSpPr>
          <p:cNvPr id="14" name="Rounded Rectangle 13"/>
          <p:cNvSpPr/>
          <p:nvPr/>
        </p:nvSpPr>
        <p:spPr>
          <a:xfrm>
            <a:off x="7699247"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skill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try to promote from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within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made an _______ hire for the role.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external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use _______ for busy periods.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freelancers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Culture _______ matters to us.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 _______ hire can cost a lot.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has a broad _______ set.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(搭配与拼写) promote from within, a good fit FOR the team, skill set 或 skillset;headcount 一词。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Internal or external?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内部还是外部</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discussion about filling a senior role.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 director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Department head</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Internal or external?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have an opening for team manager. Should we promote from within?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advantage is that Sam already knows the culture. On the downside, he lacks management experience.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an external hire?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bring in fresh blood, but they’d need months to settle in.</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Internal or external?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opening it to both?</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We use the same criteria for everyone.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Sam isn’t successful?</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give feedback and a development plan. He won’t be forgotten.</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Internal or external?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internal vs external hiring.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director.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Department head. Role: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promote from within · The advantage is… · On the downside · fresh blood · same criteria</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both options and agree a fair process.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cost to the comparison.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morale.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Propose a decision timeline.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Full-time or freelance?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全职还是自由职业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staffing for a short project.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Finance partner</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Full-time or freelance?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need extra help for six months. Should we hire someone permanent?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workload will drop after that, so I’d lean towards a freelancer.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knowledge? A freelancer leaves with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but we can ask for a handover document.</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Full-time or freelance?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cost?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Higher per day, but no long-term commitment.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While a permanent hire is better for loyalty, freelance makes sense here.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All things considered, it’s the lower risk.</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Full-time or freelance?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choose between staff types.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Need: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Finance partner.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permanent · freelancer · handover · commitment · all things considered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cost, risk and knowledge and decide.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legal or contract risks.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trial period.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happens if the project grows.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culture fit a good reason to reject a candidate?</a:t>
            </a:r>
          </a:p>
          <a:p>
            <a:pPr algn="l">
              <a:lnSpc>
                <a:spcPct val="115000"/>
              </a:lnSpc>
              <a:spcAft>
                <a:spcPts val="800"/>
              </a:spcAft>
            </a:pPr>
            <a:r>
              <a:rPr sz="1400" b="0">
                <a:solidFill>
                  <a:srgbClr val="5F677A"/>
                </a:solidFill>
                <a:latin typeface="Arial"/>
                <a:ea typeface="Microsoft YaHei"/>
              </a:rPr>
              <a:t>💬 “It can be, but it can also…”</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hiring friends?</a:t>
            </a:r>
          </a:p>
          <a:p>
            <a:pPr algn="l">
              <a:lnSpc>
                <a:spcPct val="115000"/>
              </a:lnSpc>
              <a:spcAft>
                <a:spcPts val="800"/>
              </a:spcAft>
            </a:pPr>
            <a:r>
              <a:rPr sz="1400" b="0">
                <a:solidFill>
                  <a:srgbClr val="5F677A"/>
                </a:solidFill>
                <a:latin typeface="Arial"/>
                <a:ea typeface="Microsoft YaHei"/>
              </a:rPr>
              <a:t>💬 “It may cause… / People might…”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after a bad hire?</a:t>
            </a:r>
          </a:p>
          <a:p>
            <a:pPr algn="l">
              <a:lnSpc>
                <a:spcPct val="115000"/>
              </a:lnSpc>
              <a:spcAft>
                <a:spcPts val="800"/>
              </a:spcAft>
            </a:pPr>
            <a:r>
              <a:rPr sz="1400" b="0">
                <a:solidFill>
                  <a:srgbClr val="5F677A"/>
                </a:solidFill>
                <a:latin typeface="Arial"/>
                <a:ea typeface="Microsoft YaHei"/>
              </a:rPr>
              <a:t>💬 “First, I’d… then…”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hire faster?</a:t>
            </a:r>
          </a:p>
          <a:p>
            <a:pPr algn="l">
              <a:lnSpc>
                <a:spcPct val="115000"/>
              </a:lnSpc>
              <a:spcAft>
                <a:spcPts val="800"/>
              </a:spcAft>
            </a:pPr>
            <a:r>
              <a:rPr sz="1400" b="0">
                <a:solidFill>
                  <a:srgbClr val="5F677A"/>
                </a:solidFill>
                <a:latin typeface="Arial"/>
                <a:ea typeface="Microsoft YaHei"/>
              </a:rPr>
              <a:t>💬 “They could… / By…”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type of staff do you prefer to work with?</a:t>
            </a:r>
          </a:p>
          <a:p>
            <a:pPr algn="l">
              <a:lnSpc>
                <a:spcPct val="115000"/>
              </a:lnSpc>
              <a:spcAft>
                <a:spcPts val="800"/>
              </a:spcAft>
            </a:pPr>
            <a:r>
              <a:rPr sz="1400" b="0">
                <a:solidFill>
                  <a:srgbClr val="5F677A"/>
                </a:solidFill>
                <a:latin typeface="Arial"/>
                <a:ea typeface="Microsoft YaHei"/>
              </a:rPr>
              <a:t>💬 “I prefer…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Culture fit can be a good reason in the sense that people need to work well together, but it can also be a trap. If we only hire people like us, we lose diversity of thinking. I think”culture add” is a better idea: ask what new strengths a person adds. So I’d use culture fit as one factor, not the deciding one.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“in the sense that” 在某种意义上;“trap” 陷阱。</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Contrast and concession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对比与让步</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652272">
                <a:tc>
                  <a:txBody>
                    <a:bodyPr wrap="square"/>
                    <a:lstStyle/>
                    <a:p>
                      <a:r>
                        <a:rPr sz="1600" b="1">
                          <a:solidFill>
                            <a:srgbClr val="1F2A44"/>
                          </a:solidFill>
                          <a:latin typeface="Arial"/>
                          <a:ea typeface="Microsoft YaHei"/>
                        </a:rPr>
                        <a:t>While… / Although…</a:t>
                      </a:r>
                    </a:p>
                  </a:txBody>
                  <a:tcPr anchor="ctr">
                    <a:solidFill>
                      <a:srgbClr val="FFFFFF"/>
                    </a:solidFill>
                  </a:tcPr>
                </a:tc>
                <a:tc>
                  <a:txBody>
                    <a:bodyPr wrap="square"/>
                    <a:lstStyle/>
                    <a:p>
                      <a:r>
                        <a:rPr sz="1600" b="0">
                          <a:solidFill>
                            <a:srgbClr val="1F2A44"/>
                          </a:solidFill>
                          <a:latin typeface="Arial"/>
                          <a:ea typeface="Microsoft YaHei"/>
                        </a:rPr>
                        <a:t>While a permanent hire is loyal, a freelancer is flexible.</a:t>
                      </a:r>
                    </a:p>
                  </a:txBody>
                  <a:tcPr anchor="ctr">
                    <a:solidFill>
                      <a:srgbClr val="FFFFFF"/>
                    </a:solidFill>
                  </a:tcPr>
                </a:tc>
              </a:tr>
              <a:tr h="652272">
                <a:tc>
                  <a:txBody>
                    <a:bodyPr wrap="square"/>
                    <a:lstStyle/>
                    <a:p>
                      <a:r>
                        <a:rPr sz="1600" b="1">
                          <a:solidFill>
                            <a:srgbClr val="1F2A44"/>
                          </a:solidFill>
                          <a:latin typeface="Arial"/>
                          <a:ea typeface="Microsoft YaHei"/>
                        </a:rPr>
                        <a:t>On the one hand… on the other hand…</a:t>
                      </a:r>
                    </a:p>
                  </a:txBody>
                  <a:tcPr anchor="ctr">
                    <a:solidFill>
                      <a:srgbClr val="FFEFD9"/>
                    </a:solidFill>
                  </a:tcPr>
                </a:tc>
                <a:tc>
                  <a:txBody>
                    <a:bodyPr wrap="square"/>
                    <a:lstStyle/>
                    <a:p>
                      <a:r>
                        <a:rPr sz="1600" b="0">
                          <a:solidFill>
                            <a:srgbClr val="1F2A44"/>
                          </a:solidFill>
                          <a:latin typeface="Arial"/>
                          <a:ea typeface="Microsoft YaHei"/>
                        </a:rPr>
                        <a:t>On the one hand it’s cheaper. On the other hand, it’s riskier.</a:t>
                      </a:r>
                    </a:p>
                  </a:txBody>
                  <a:tcPr anchor="ctr">
                    <a:solidFill>
                      <a:srgbClr val="FFEFD9"/>
                    </a:solidFill>
                  </a:tcPr>
                </a:tc>
              </a:tr>
              <a:tr h="408432">
                <a:tc>
                  <a:txBody>
                    <a:bodyPr wrap="square"/>
                    <a:lstStyle/>
                    <a:p>
                      <a:r>
                        <a:rPr sz="1600" b="1">
                          <a:solidFill>
                            <a:srgbClr val="1F2A44"/>
                          </a:solidFill>
                          <a:latin typeface="Arial"/>
                          <a:ea typeface="Microsoft YaHei"/>
                        </a:rPr>
                        <a:t>However / Nevertheless</a:t>
                      </a:r>
                    </a:p>
                  </a:txBody>
                  <a:tcPr anchor="ctr">
                    <a:solidFill>
                      <a:srgbClr val="FFFFFF"/>
                    </a:solidFill>
                  </a:tcPr>
                </a:tc>
                <a:tc>
                  <a:txBody>
                    <a:bodyPr wrap="square"/>
                    <a:lstStyle/>
                    <a:p>
                      <a:r>
                        <a:rPr sz="1600" b="0">
                          <a:solidFill>
                            <a:srgbClr val="1F2A44"/>
                          </a:solidFill>
                          <a:latin typeface="Arial"/>
                          <a:ea typeface="Microsoft YaHei"/>
                        </a:rPr>
                        <a:t>However, he lacks experience.</a:t>
                      </a:r>
                    </a:p>
                  </a:txBody>
                  <a:tcPr anchor="ctr">
                    <a:solidFill>
                      <a:srgbClr val="FFFFFF"/>
                    </a:solidFill>
                  </a:tcPr>
                </a:tc>
              </a:tr>
              <a:tr h="408432">
                <a:tc>
                  <a:txBody>
                    <a:bodyPr wrap="square"/>
                    <a:lstStyle/>
                    <a:p>
                      <a:r>
                        <a:rPr sz="1600" b="1">
                          <a:solidFill>
                            <a:srgbClr val="1F2A44"/>
                          </a:solidFill>
                          <a:latin typeface="Arial"/>
                          <a:ea typeface="Microsoft YaHei"/>
                        </a:rPr>
                        <a:t>Despite / In spite of + noun/-ing</a:t>
                      </a:r>
                    </a:p>
                  </a:txBody>
                  <a:tcPr anchor="ctr">
                    <a:solidFill>
                      <a:srgbClr val="FFEFD9"/>
                    </a:solidFill>
                  </a:tcPr>
                </a:tc>
                <a:tc>
                  <a:txBody>
                    <a:bodyPr wrap="square"/>
                    <a:lstStyle/>
                    <a:p>
                      <a:r>
                        <a:rPr sz="1600" b="0">
                          <a:solidFill>
                            <a:srgbClr val="1F2A44"/>
                          </a:solidFill>
                          <a:latin typeface="Arial"/>
                          <a:ea typeface="Microsoft YaHei"/>
                        </a:rPr>
                        <a:t>Despite his experience, he left.</a:t>
                      </a:r>
                    </a:p>
                  </a:txBody>
                  <a:tcPr anchor="ctr">
                    <a:solidFill>
                      <a:srgbClr val="FFEFD9"/>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Contrast and concession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对比与让步</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Although/while + clause, but despite/in spite of + noun or -ing. Never although + but in one sentence.</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Although he is experienced, but he is slow.</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Although he is experienced, he is slow.</a:t>
            </a:r>
          </a:p>
          <a:p>
            <a:pPr algn="l">
              <a:spcAft>
                <a:spcPts val="200"/>
              </a:spcAft>
            </a:pPr>
            <a:r>
              <a:rPr sz="1200" b="0">
                <a:solidFill>
                  <a:srgbClr val="FFFFFF"/>
                </a:solidFill>
                <a:latin typeface="Arial"/>
                <a:ea typeface="Microsoft YaHei"/>
              </a:rPr>
              <a:t>although 与 but 不连用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Despite of his skills, he failed.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Despite his skills, he failed.</a:t>
            </a:r>
          </a:p>
          <a:p>
            <a:pPr algn="l">
              <a:spcAft>
                <a:spcPts val="200"/>
              </a:spcAft>
            </a:pPr>
            <a:r>
              <a:rPr sz="1200" b="0">
                <a:solidFill>
                  <a:srgbClr val="FFFFFF"/>
                </a:solidFill>
                <a:latin typeface="Arial"/>
                <a:ea typeface="Microsoft YaHei"/>
              </a:rPr>
              <a:t>despite 后不加 of</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Despite he is skilled, …</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Although he is skilled, …</a:t>
            </a:r>
          </a:p>
          <a:p>
            <a:pPr algn="l">
              <a:spcAft>
                <a:spcPts val="200"/>
              </a:spcAft>
            </a:pPr>
            <a:r>
              <a:rPr sz="1200" b="0">
                <a:solidFill>
                  <a:srgbClr val="FFFFFF"/>
                </a:solidFill>
                <a:latin typeface="Arial"/>
                <a:ea typeface="Microsoft YaHei"/>
              </a:rPr>
              <a:t>despite + 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prefer freelancers than staff.</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prefer freelancers to staff.</a:t>
            </a:r>
          </a:p>
          <a:p>
            <a:pPr algn="l">
              <a:spcAft>
                <a:spcPts val="200"/>
              </a:spcAft>
            </a:pPr>
            <a:r>
              <a:rPr sz="1200" b="0">
                <a:solidFill>
                  <a:srgbClr val="FFFFFF"/>
                </a:solidFill>
                <a:latin typeface="Arial"/>
                <a:ea typeface="Microsoft YaHei"/>
              </a:rPr>
              <a:t>prefer A to B</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depends of the project.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depends on the project.</a:t>
            </a:r>
          </a:p>
          <a:p>
            <a:pPr algn="l">
              <a:spcAft>
                <a:spcPts val="200"/>
              </a:spcAft>
            </a:pPr>
            <a:r>
              <a:rPr sz="1200" b="0">
                <a:solidFill>
                  <a:srgbClr val="FFFFFF"/>
                </a:solidFill>
                <a:latin typeface="Arial"/>
                <a:ea typeface="Microsoft YaHei"/>
              </a:rPr>
              <a:t>depend on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recruited a bad people.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hired the wrong person.</a:t>
            </a:r>
          </a:p>
          <a:p>
            <a:pPr algn="l">
              <a:spcAft>
                <a:spcPts val="200"/>
              </a:spcAft>
            </a:pPr>
            <a:r>
              <a:rPr sz="1200" b="0">
                <a:solidFill>
                  <a:srgbClr val="FFFFFF"/>
                </a:solidFill>
                <a:latin typeface="Arial"/>
                <a:ea typeface="Microsoft YaHei"/>
              </a:rPr>
              <a:t>people 复数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although / despite, prefer… to, depend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Internal moves matter. Many companies post jobs internally first.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Freelancers are common. Particularly in marketing, IT and creative work.</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Culture “add”. Many HR teams avoid “culture fit” to protect diversity.</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No nepotism. Hiring friends or relatives is often restricted.</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hiring options with the advantage is / on the downside.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justify a decision with all things considered.</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although / while / despite correctly.</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prefer… to and depend on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39 Hiring choices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Argue for internal or external hiring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although/despite, prefer to, depend on.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 · Lesson 40 The lengthy hiring process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lengthy hiring process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漫长的招聘流程</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the problems of slow hiring, candidate experience and how to improve it.</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waited a long time for a job decision?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long should a hiring process take?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it like to be “ghosted” by a company?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many interviews are too many?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companies do to improve the candidate experience?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“ghosted” = 被无声息地忽略(突然没有回音)。第 1 题 “Have you ever waited” 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an ideal hiring process from a candidate’s point of view.</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should happen first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communication should work</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long</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feedback to give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As a candidate, I’d expect…   💬 It’s frustrating when…   💬 Companies should…   💬 At the very least,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“It’s frustrating when…” 描述情绪;“At the very least” = 至少。</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Why good people walk away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survey of job seekers found that many drop out of a hiring process because it takes too long. Strong candidates are usually in several processes at once, so a company that takes eight weeks and five interviews often loses them to faster rivals. Slow hiring also costs money: the role stays empty, work is shared among colleagues, and productivity falls. The candidate experience matters too. People talk about how they were treated, and a rude or silent process can damage a company’s reputation as an employer. Practical improvements are simple. Set a clear timeline, combine interviews where possible, and reply within a few days, even to say no. A short, honest message is always better than silence, and it costs almost nothing to send.</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strong candidates drop out?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the process takes too long and rivals are faster.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does a slow process cost the company?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role stays empty, colleagues share work and productivity falls.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simplest improvement?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Set a timeline and reply within a few days, even if to say no.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拖延</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drag on</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拖拖拉拉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process dragged on for months.”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lengthy</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冗长的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lengthy process.”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time-to-hire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招聘周期</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cut our time-to-hire.”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ghost (someone)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(不回复)失联</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ghosted me.”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leave (someone) in limbo</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让人悬而未决</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left me in limbo for weeks.”</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Experience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候选人体验</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candidate experience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候选人体验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“Candidate experience affects our brand.”</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keep (someone) in the loop</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随时告知</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candidates in the loop.”</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timeline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时间表</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“Share the timeline.”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employer brand</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雇主品牌</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slow process hurts our employer brand.”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drop out</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退出</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candidates drop out.”</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Improving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改进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streamline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streamline the process.”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cut down on</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cut down on interview rounds.”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respond promptly</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及时回复</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“Respond promptly to applicants.”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 around quickly</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迅速处理</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turn around offers within 48 hours.”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a hit</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受损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reputation took a hit.”</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及时回复</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respond promptly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随时告知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keep (someone) in the loop</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迅速处理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turn around quickly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让人悬而未决</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leave (someone) in limbo</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退出</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drop out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减少</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down 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受损</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hit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简化</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streamline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lengthy</a:t>
            </a:r>
          </a:p>
        </p:txBody>
      </p:sp>
      <p:sp>
        <p:nvSpPr>
          <p:cNvPr id="10" name="Rounded Rectangle 9"/>
          <p:cNvSpPr/>
          <p:nvPr/>
        </p:nvSpPr>
        <p:spPr>
          <a:xfrm>
            <a:off x="3236976"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limbo</a:t>
            </a:r>
          </a:p>
        </p:txBody>
      </p:sp>
      <p:sp>
        <p:nvSpPr>
          <p:cNvPr id="11" name="Rounded Rectangle 10"/>
          <p:cNvSpPr/>
          <p:nvPr/>
        </p:nvSpPr>
        <p:spPr>
          <a:xfrm>
            <a:off x="4242816"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loop</a:t>
            </a:r>
          </a:p>
        </p:txBody>
      </p:sp>
      <p:sp>
        <p:nvSpPr>
          <p:cNvPr id="12" name="Rounded Rectangle 11"/>
          <p:cNvSpPr/>
          <p:nvPr/>
        </p:nvSpPr>
        <p:spPr>
          <a:xfrm>
            <a:off x="5138928"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streamline</a:t>
            </a:r>
          </a:p>
        </p:txBody>
      </p:sp>
      <p:sp>
        <p:nvSpPr>
          <p:cNvPr id="13" name="Rounded Rectangle 12"/>
          <p:cNvSpPr/>
          <p:nvPr/>
        </p:nvSpPr>
        <p:spPr>
          <a:xfrm>
            <a:off x="6693408"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drop</a:t>
            </a:r>
          </a:p>
        </p:txBody>
      </p:sp>
      <p:sp>
        <p:nvSpPr>
          <p:cNvPr id="14" name="Rounded Rectangle 13"/>
          <p:cNvSpPr/>
          <p:nvPr/>
        </p:nvSpPr>
        <p:spPr>
          <a:xfrm>
            <a:off x="758952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promptly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It’s a very _______ process.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lengthy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They left me in _______ for weeks.</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limbo</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Please keep candidates in the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loop</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Let’s _______ the process.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streamline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Many strong candidates _______ out.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drop</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always respond _______ to applicants.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promptly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drag on, drop out of, keep SOMEONE in the loop;time-to-hire 为复合名词。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Complaining politely about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礼貌地投诉拖延</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a candidate chasing a company.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Candidate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Recruiter</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Complaining politely about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I’m following up. It’s been three weeks since my last interview and I haven’t heard anything.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about the delay. The process has dragged 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but I have another offer to answer by Friday.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telling me. Let me check where we are.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Complaining politely about delay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give me an update by Thursday?</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I’ll speak to the hiring manager today.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it. I’d like to stay in the process.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to know. I’ll be in touch.</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Complaining politely about delay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chase a company politely.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Candidate.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Recruiter. Role: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following up · dragged on · I haven’t heard anything · an update by… · stay in the process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Chase politely, mention a deadline and keep the relationship positive.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competing offer tactfully.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the next steps are.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Close the call positively.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Fixing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改进招聘流程</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hiring manager and HR agree changes.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Hiring manager</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Fixing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Our time-to-hire is 55 days, which is too long.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Five interview rounds is a lot.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cut down to three?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and combine the technical and team interviews.</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should also keep candidates in the loop with a clear timeline.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And respond within two days.</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streamline it, we could aim for 30 days.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improve our employer brand.</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Fixing the process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redesign a slow process.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Hiring manager. Problem: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time-to-hire · cut down · keep in the loop · streamline · employer brand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Identify delays and agree three fixes.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target and a deadline.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Anticipate objections.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on how to measure success.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many interview rounds are reasonable?</a:t>
            </a:r>
          </a:p>
          <a:p>
            <a:pPr algn="l">
              <a:lnSpc>
                <a:spcPct val="115000"/>
              </a:lnSpc>
              <a:spcAft>
                <a:spcPts val="800"/>
              </a:spcAft>
            </a:pPr>
            <a:r>
              <a:rPr sz="1400" b="0">
                <a:solidFill>
                  <a:srgbClr val="5F677A"/>
                </a:solidFill>
                <a:latin typeface="Arial"/>
                <a:ea typeface="Microsoft YaHei"/>
              </a:rPr>
              <a:t>💬 “I’d say no more than…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acceptable for companies not to reply?</a:t>
            </a:r>
          </a:p>
          <a:p>
            <a:pPr algn="l">
              <a:lnSpc>
                <a:spcPct val="115000"/>
              </a:lnSpc>
              <a:spcAft>
                <a:spcPts val="800"/>
              </a:spcAft>
            </a:pPr>
            <a:r>
              <a:rPr sz="1400" b="0">
                <a:solidFill>
                  <a:srgbClr val="5F677A"/>
                </a:solidFill>
                <a:latin typeface="Arial"/>
                <a:ea typeface="Microsoft YaHei"/>
              </a:rPr>
              <a:t>💬 “Not really,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rejection message include?</a:t>
            </a:r>
          </a:p>
          <a:p>
            <a:pPr algn="l">
              <a:lnSpc>
                <a:spcPct val="115000"/>
              </a:lnSpc>
              <a:spcAft>
                <a:spcPts val="800"/>
              </a:spcAft>
            </a:pPr>
            <a:r>
              <a:rPr sz="1400" b="0">
                <a:solidFill>
                  <a:srgbClr val="5F677A"/>
                </a:solidFill>
                <a:latin typeface="Arial"/>
                <a:ea typeface="Microsoft YaHei"/>
              </a:rPr>
              <a:t>💬 “It should include…”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does a slow process matter?</a:t>
            </a:r>
          </a:p>
          <a:p>
            <a:pPr algn="l">
              <a:lnSpc>
                <a:spcPct val="115000"/>
              </a:lnSpc>
              <a:spcAft>
                <a:spcPts val="800"/>
              </a:spcAft>
            </a:pPr>
            <a:r>
              <a:rPr sz="1400" b="0">
                <a:solidFill>
                  <a:srgbClr val="5F677A"/>
                </a:solidFill>
                <a:latin typeface="Arial"/>
                <a:ea typeface="Microsoft YaHei"/>
              </a:rPr>
              <a:t>💬 “Because candidates… / It costs…”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ever withdrawn from a hiring process?</a:t>
            </a:r>
          </a:p>
          <a:p>
            <a:pPr algn="l">
              <a:lnSpc>
                <a:spcPct val="115000"/>
              </a:lnSpc>
              <a:spcAft>
                <a:spcPts val="800"/>
              </a:spcAft>
            </a:pPr>
            <a:r>
              <a:rPr sz="1400" b="0">
                <a:solidFill>
                  <a:srgbClr val="5F677A"/>
                </a:solidFill>
                <a:latin typeface="Arial"/>
                <a:ea typeface="Microsoft YaHei"/>
              </a:rPr>
              <a:t>💬 “Yes, because… / No,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rejection message should be short, polite and honest. It should thank the person for their time, say clearly that they were not selected, and if possible give one line of feedback. It shouldn’t be cold or vague. People remember how they were treated, and a kind message keeps the door open for the future.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“keep the door open” 留有余地;“cold or vague” 冷漠或含糊。</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Complaining and apologising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投诉与道歉</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Complaining</a:t>
                      </a:r>
                    </a:p>
                  </a:txBody>
                  <a:tcPr anchor="ctr">
                    <a:solidFill>
                      <a:srgbClr val="3CC49A"/>
                    </a:solidFill>
                  </a:tcPr>
                </a:tc>
                <a:tc>
                  <a:txBody>
                    <a:bodyPr wrap="square"/>
                    <a:lstStyle/>
                    <a:p>
                      <a:r>
                        <a:rPr sz="1600" b="1">
                          <a:solidFill>
                            <a:srgbClr val="FFFFFF"/>
                          </a:solidFill>
                          <a:latin typeface="Arial"/>
                          <a:ea typeface="Microsoft YaHei"/>
                        </a:rPr>
                        <a:t>Responding</a:t>
                      </a:r>
                    </a:p>
                  </a:txBody>
                  <a:tcPr anchor="ctr">
                    <a:solidFill>
                      <a:srgbClr val="3CC49A"/>
                    </a:solidFill>
                  </a:tcPr>
                </a:tc>
              </a:tr>
              <a:tr h="408432">
                <a:tc>
                  <a:txBody>
                    <a:bodyPr wrap="square"/>
                    <a:lstStyle/>
                    <a:p>
                      <a:r>
                        <a:rPr sz="1600" b="1">
                          <a:solidFill>
                            <a:srgbClr val="1F2A44"/>
                          </a:solidFill>
                          <a:latin typeface="Arial"/>
                          <a:ea typeface="Microsoft YaHei"/>
                        </a:rPr>
                        <a:t>I haven’t heard anything yet.</a:t>
                      </a:r>
                    </a:p>
                  </a:txBody>
                  <a:tcPr anchor="ctr">
                    <a:solidFill>
                      <a:srgbClr val="FFFFFF"/>
                    </a:solidFill>
                  </a:tcPr>
                </a:tc>
                <a:tc>
                  <a:txBody>
                    <a:bodyPr wrap="square"/>
                    <a:lstStyle/>
                    <a:p>
                      <a:r>
                        <a:rPr sz="1600" b="0">
                          <a:solidFill>
                            <a:srgbClr val="1F2A44"/>
                          </a:solidFill>
                          <a:latin typeface="Arial"/>
                          <a:ea typeface="Microsoft YaHei"/>
                        </a:rPr>
                        <a:t>I’m sorry about the delay.</a:t>
                      </a:r>
                    </a:p>
                  </a:txBody>
                  <a:tcPr anchor="ctr">
                    <a:solidFill>
                      <a:srgbClr val="FFFFFF"/>
                    </a:solidFill>
                  </a:tcPr>
                </a:tc>
              </a:tr>
              <a:tr h="408432">
                <a:tc>
                  <a:txBody>
                    <a:bodyPr wrap="square"/>
                    <a:lstStyle/>
                    <a:p>
                      <a:r>
                        <a:rPr sz="1600" b="1">
                          <a:solidFill>
                            <a:srgbClr val="1F2A44"/>
                          </a:solidFill>
                          <a:latin typeface="Arial"/>
                          <a:ea typeface="Microsoft YaHei"/>
                        </a:rPr>
                        <a:t>It’s been three weeks since…</a:t>
                      </a:r>
                    </a:p>
                  </a:txBody>
                  <a:tcPr anchor="ctr">
                    <a:solidFill>
                      <a:srgbClr val="FFEFD9"/>
                    </a:solidFill>
                  </a:tcPr>
                </a:tc>
                <a:tc>
                  <a:txBody>
                    <a:bodyPr wrap="square"/>
                    <a:lstStyle/>
                    <a:p>
                      <a:r>
                        <a:rPr sz="1600" b="0">
                          <a:solidFill>
                            <a:srgbClr val="1F2A44"/>
                          </a:solidFill>
                          <a:latin typeface="Arial"/>
                          <a:ea typeface="Microsoft YaHei"/>
                        </a:rPr>
                        <a:t>We’re working on it and will update you by…</a:t>
                      </a:r>
                    </a:p>
                  </a:txBody>
                  <a:tcPr anchor="ctr">
                    <a:solidFill>
                      <a:srgbClr val="FFEFD9"/>
                    </a:solidFill>
                  </a:tcPr>
                </a:tc>
              </a:tr>
              <a:tr h="408432">
                <a:tc>
                  <a:txBody>
                    <a:bodyPr wrap="square"/>
                    <a:lstStyle/>
                    <a:p>
                      <a:r>
                        <a:rPr sz="1600" b="1">
                          <a:solidFill>
                            <a:srgbClr val="1F2A44"/>
                          </a:solidFill>
                          <a:latin typeface="Arial"/>
                          <a:ea typeface="Microsoft YaHei"/>
                        </a:rPr>
                        <a:t>I’d appreciate an update.</a:t>
                      </a:r>
                    </a:p>
                  </a:txBody>
                  <a:tcPr anchor="ctr">
                    <a:solidFill>
                      <a:srgbClr val="FFFFFF"/>
                    </a:solidFill>
                  </a:tcPr>
                </a:tc>
                <a:tc>
                  <a:txBody>
                    <a:bodyPr wrap="square"/>
                    <a:lstStyle/>
                    <a:p>
                      <a:r>
                        <a:rPr sz="1600" b="0">
                          <a:solidFill>
                            <a:srgbClr val="1F2A44"/>
                          </a:solidFill>
                          <a:latin typeface="Arial"/>
                          <a:ea typeface="Microsoft YaHei"/>
                        </a:rPr>
                        <a:t>Thank you for your patience.</a:t>
                      </a:r>
                    </a:p>
                  </a:txBody>
                  <a:tcPr anchor="ctr">
                    <a:solidFill>
                      <a:srgbClr val="FFFFFF"/>
                    </a:solidFill>
                  </a:tcPr>
                </a:tc>
              </a:tr>
              <a:tr h="408432">
                <a:tc>
                  <a:txBody>
                    <a:bodyPr wrap="square"/>
                    <a:lstStyle/>
                    <a:p>
                      <a:r>
                        <a:rPr sz="1600" b="1">
                          <a:solidFill>
                            <a:srgbClr val="1F2A44"/>
                          </a:solidFill>
                          <a:latin typeface="Arial"/>
                          <a:ea typeface="Microsoft YaHei"/>
                        </a:rPr>
                        <a:t>I’m a little concerned that…</a:t>
                      </a:r>
                    </a:p>
                  </a:txBody>
                  <a:tcPr anchor="ctr">
                    <a:solidFill>
                      <a:srgbClr val="FFEFD9"/>
                    </a:solidFill>
                  </a:tcPr>
                </a:tc>
                <a:tc>
                  <a:txBody>
                    <a:bodyPr wrap="square"/>
                    <a:lstStyle/>
                    <a:p>
                      <a:r>
                        <a:rPr sz="1600" b="0">
                          <a:solidFill>
                            <a:srgbClr val="1F2A44"/>
                          </a:solidFill>
                          <a:latin typeface="Arial"/>
                          <a:ea typeface="Microsoft YaHei"/>
                        </a:rPr>
                        <a:t>I understand your concern.</a:t>
                      </a:r>
                    </a:p>
                  </a:txBody>
                  <a:tcPr anchor="ctr">
                    <a:solidFill>
                      <a:srgbClr val="FFEFD9"/>
                    </a:solidFill>
                  </a:tcPr>
                </a:tc>
              </a:tr>
            </a:tbl>
          </a:graphicData>
        </a:graphic>
      </p:graphicFrame>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Complaining and apologising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投诉与道歉</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Use present perfect for no news so far: </a:t>
            </a:r>
            <a:r>
              <a:rPr sz="1700" b="0">
                <a:solidFill>
                  <a:srgbClr val="1F2A44"/>
                </a:solidFill>
                <a:latin typeface="Arial"/>
                <a:ea typeface="Microsoft YaHei"/>
              </a:rPr>
              <a:t>I haven’t heard anything yet. Use since + point in time: since my interview.</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still don’t hear anything.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still haven’t heard anything.</a:t>
            </a:r>
          </a:p>
          <a:p>
            <a:pPr algn="l">
              <a:spcAft>
                <a:spcPts val="200"/>
              </a:spcAft>
            </a:pPr>
            <a:r>
              <a:rPr sz="1200" b="0">
                <a:solidFill>
                  <a:srgbClr val="FFFFFF"/>
                </a:solidFill>
                <a:latin typeface="Arial"/>
                <a:ea typeface="Microsoft YaHei"/>
              </a:rPr>
              <a:t>现在完成时</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wait for you since three weeks.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I’ve been waiting for three weeks.</a:t>
            </a:r>
          </a:p>
          <a:p>
            <a:pPr algn="l">
              <a:spcAft>
                <a:spcPts val="200"/>
              </a:spcAft>
            </a:pPr>
            <a:r>
              <a:rPr sz="1200" b="0">
                <a:solidFill>
                  <a:srgbClr val="FFFFFF"/>
                </a:solidFill>
                <a:latin typeface="Arial"/>
                <a:ea typeface="Microsoft YaHei"/>
              </a:rPr>
              <a:t>for + 现在完成进行时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three weeks since my interview.</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been three weeks since my interview.</a:t>
            </a:r>
          </a:p>
          <a:p>
            <a:pPr algn="l">
              <a:spcAft>
                <a:spcPts val="200"/>
              </a:spcAft>
            </a:pPr>
            <a:r>
              <a:rPr sz="1200" b="0">
                <a:solidFill>
                  <a:srgbClr val="FFFFFF"/>
                </a:solidFill>
                <a:latin typeface="Arial"/>
                <a:ea typeface="Microsoft YaHei"/>
              </a:rPr>
              <a:t>it’s been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for the late.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for the delay.</a:t>
            </a:r>
          </a:p>
          <a:p>
            <a:pPr algn="l">
              <a:spcAft>
                <a:spcPts val="200"/>
              </a:spcAft>
            </a:pPr>
            <a:r>
              <a:rPr sz="1200" b="0">
                <a:solidFill>
                  <a:srgbClr val="FFFFFF"/>
                </a:solidFill>
                <a:latin typeface="Arial"/>
                <a:ea typeface="Microsoft YaHei"/>
              </a:rPr>
              <a:t>delay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very frustrated of this.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very frustrated by this. / about this.</a:t>
            </a:r>
          </a:p>
          <a:p>
            <a:pPr algn="l">
              <a:spcAft>
                <a:spcPts val="200"/>
              </a:spcAft>
            </a:pPr>
            <a:r>
              <a:rPr sz="1200" b="0">
                <a:solidFill>
                  <a:srgbClr val="FFFFFF"/>
                </a:solidFill>
                <a:latin typeface="Arial"/>
                <a:ea typeface="Microsoft YaHei"/>
              </a:rPr>
              <a:t>frustrated by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inform me the progress.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let me know the progress. / update me.</a:t>
            </a:r>
          </a:p>
          <a:p>
            <a:pPr algn="l">
              <a:spcAft>
                <a:spcPts val="200"/>
              </a:spcAft>
            </a:pPr>
            <a:r>
              <a:rPr sz="1200" b="0">
                <a:solidFill>
                  <a:srgbClr val="FFFFFF"/>
                </a:solidFill>
                <a:latin typeface="Arial"/>
                <a:ea typeface="Microsoft YaHei"/>
              </a:rPr>
              <a:t>inform sb 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present perfect, it’s been… since, and sorry for the delay.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Chasing is accepted. A single polite follow-up after a week is normal.</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Be honest about other offers. It can speed things up, but don’t bluff.</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Reject politely. Withdrawing from a process by email is fine; ghosting isn’t.</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Candidates review employers. Sites like Glassdoor publish candidate experiences.</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delays and candidate experience problems.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chase a company politely.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propose improvements with streamline / cut down on.</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present perfect for “no news so far”.</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40 The lengthy hiring process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Write a polite follow-up email and say it aloud.</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present perfect, it’s been, delay, frustrated by.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 · Lesson 41 Recruitment testing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Recruitment testing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招聘测试</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recruitment tests (skills, personality, case tasks), their value and fairness, and prepare for them.</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taken a test as part of a job application?</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kinds of tests do employers use?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tests predict job performance?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feel about a personality test?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prepare for an assessment?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“assessment” = 评估/测评;“psychometric test” = 心理测评。第 1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test you took or would like to design for a job.</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test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it measures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it worked</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was it fair?</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test measured…   💬 It was designed to…   💬 One limitation is…   💬 In my experience,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designed to + 动词原形” 旨在…;“limitation” 局限性。</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Reading · Do tests predict performance?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employers use tests to reduce the guesswork in hiring. Skills tests check practical abilities, such as writing, coding or using spreadsheets. Psychometric tests measure personality or reasoning. Case exercises ask candidates to solve a realistic business problem. Research suggests that work-sample tests, where people do a small part of the real job, predict performance better than general interviews. Personality tests are more controversial because answers can be influenced by what candidates think the employer wants. Tests also raise fairness questions: a long unpaid task is unfair to people with little free time, and tests written in a second language may disadvantage some candidates, however capable they are. A good test is relevant, short, and clearly linked to the job.</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Which kind of test predicts performance best?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Work-sample tests.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are personality tests controversial?</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Answers can be influenced by what candidates think the employer wants.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Name one fairness concern.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Long unpaid tasks, or tests written in a second language.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Types of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测试类型</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skills test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技能测试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took a skills test in Excel.”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psychometric test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心理测评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psychometric test lasted an hour.”</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case exercise / case study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案例练习</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gave her a case study.”</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 sample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工作样本测试</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work sample shows real ability.”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aptitude test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能力倾向测试</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passed the aptitude test.”</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Using tests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使用测试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 sit a test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参加测试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sat a numeracy test.”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pass / fail</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通过/不通过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passed the test.”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limit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时间限制</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30-minute time limit.”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cut-off score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分数线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cut-off score is 70.”</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benchmark</a:t>
            </a:r>
          </a:p>
          <a:p>
            <a:pPr algn="l">
              <a:lnSpc>
                <a:spcPct val="115000"/>
              </a:lnSpc>
              <a:spcAft>
                <a:spcPts val="800"/>
              </a:spcAft>
            </a:pPr>
            <a:r>
              <a:rPr sz="1300" b="0">
                <a:solidFill>
                  <a:srgbClr val="5F677A"/>
                </a:solidFill>
                <a:latin typeface="Arial"/>
                <a:ea typeface="Microsoft YaHei"/>
              </a:rPr>
              <a:t>noun/verb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基准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benchmark against top performers.”</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Evaluating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评价测试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reliable / valid</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可靠的/有效的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test is reliable and valid.”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fair / biased</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公平/有偏见的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 test fair?”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relevant to the job</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与工作相关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“Questions should be relevant to the job.”</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level the playing field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营造公平</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“Tests help level the playing field.”</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game the system</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钻空子</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“Candidates can game the system.”</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通过/不通过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pass / fail</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工作样本测试</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sample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时间限制</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limit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钻空子</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game the system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心理测评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psychometric test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分数线</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cut-off score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可靠的/有效的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reliable / valid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公平/有偏见的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fair / biased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skills</a:t>
            </a:r>
          </a:p>
        </p:txBody>
      </p:sp>
      <p:sp>
        <p:nvSpPr>
          <p:cNvPr id="10" name="Rounded Rectangle 9"/>
          <p:cNvSpPr/>
          <p:nvPr/>
        </p:nvSpPr>
        <p:spPr>
          <a:xfrm>
            <a:off x="3127248"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psychometric</a:t>
            </a:r>
          </a:p>
        </p:txBody>
      </p:sp>
      <p:sp>
        <p:nvSpPr>
          <p:cNvPr id="11" name="Rounded Rectangle 10"/>
          <p:cNvSpPr/>
          <p:nvPr/>
        </p:nvSpPr>
        <p:spPr>
          <a:xfrm>
            <a:off x="4901183"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case</a:t>
            </a:r>
          </a:p>
        </p:txBody>
      </p:sp>
      <p:sp>
        <p:nvSpPr>
          <p:cNvPr id="12" name="Rounded Rectangle 11"/>
          <p:cNvSpPr/>
          <p:nvPr/>
        </p:nvSpPr>
        <p:spPr>
          <a:xfrm>
            <a:off x="5797295" y="987552"/>
            <a:ext cx="69494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a:t>
            </a:r>
          </a:p>
        </p:txBody>
      </p:sp>
      <p:sp>
        <p:nvSpPr>
          <p:cNvPr id="13" name="Rounded Rectangle 12"/>
          <p:cNvSpPr/>
          <p:nvPr/>
        </p:nvSpPr>
        <p:spPr>
          <a:xfrm>
            <a:off x="6583679"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valid</a:t>
            </a:r>
          </a:p>
        </p:txBody>
      </p:sp>
      <p:sp>
        <p:nvSpPr>
          <p:cNvPr id="14" name="Rounded Rectangle 13"/>
          <p:cNvSpPr/>
          <p:nvPr/>
        </p:nvSpPr>
        <p:spPr>
          <a:xfrm>
            <a:off x="7589519"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relevant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took a _______ test in Excel.</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skills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test measures personality.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psychometric</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gave her a _______ study to solve.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He had to _______ a numeracy test.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test is reliable and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valid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Questions should be _______ to the job.</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relevant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 sit a test (sit 是英式), pass a test(通过), pass an exam 但 hand in a test;psychometric 拼写。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Preparing for a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备考</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 asks how you prepared.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Friend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Preparing for a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have an online assessment tomorrow. How did you prepare for yours?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practised numerical reasoning, because there’s a time limit.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Was it a skills test or a psychometric test?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Both. The skills test was relevant to the job, but the personality part felt odd.</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Preparing for a test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was odd about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Some questions seemed repetitive. I just answered honestly.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advice. Any tips?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Read the instructions carefully, and keep an eye on the clock.</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Preparing for a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share test experience.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preparing.</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with experience. Test: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time limit · skills test · psychometric · relevant to the job · keep an eye on the clock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test and give three practical tips.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Share a mistake.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how to stay calm.</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how long to prepare.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Defending a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为测试辩护</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HR proposes a case exercise.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Sceptical manager</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Dialogue · Defending a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add a case exercise to the final round.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that fair to everyone? Some candidates may have less time to prepare.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We’ll keep it to 45 minutes and do it in the interview, so nobody needs to prepare.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relevant to the job?</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Defending a test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a real problem from last year, so it works like a work sample.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will we score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With clear criteria and a cut-off score agreed beforehand.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seems reasonable. Let’s pilot it.</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Defending a test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 recruitment test.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Test: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Sceptical 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case exercise · fair · work sample · cut-off score · pilot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Propose a test, answer fairness concerns and agree a pilot.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bias risk.</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an alternative.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how to explain the test to candidates.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Are tests a fair way to select candidates?</a:t>
            </a:r>
          </a:p>
          <a:p>
            <a:pPr algn="l">
              <a:lnSpc>
                <a:spcPct val="115000"/>
              </a:lnSpc>
              <a:spcAft>
                <a:spcPts val="800"/>
              </a:spcAft>
            </a:pPr>
            <a:r>
              <a:rPr sz="1400" b="0">
                <a:solidFill>
                  <a:srgbClr val="5F677A"/>
                </a:solidFill>
                <a:latin typeface="Arial"/>
                <a:ea typeface="Microsoft YaHei"/>
              </a:rPr>
              <a:t>💬 “They can be,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candidates be paid for long tasks?</a:t>
            </a:r>
          </a:p>
          <a:p>
            <a:pPr algn="l">
              <a:lnSpc>
                <a:spcPct val="115000"/>
              </a:lnSpc>
              <a:spcAft>
                <a:spcPts val="800"/>
              </a:spcAft>
            </a:pPr>
            <a:r>
              <a:rPr sz="1400" b="0">
                <a:solidFill>
                  <a:srgbClr val="5F677A"/>
                </a:solidFill>
                <a:latin typeface="Arial"/>
                <a:ea typeface="Microsoft YaHei"/>
              </a:rPr>
              <a:t>💬 “I think so,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trust personality tests?</a:t>
            </a:r>
          </a:p>
          <a:p>
            <a:pPr algn="l">
              <a:lnSpc>
                <a:spcPct val="115000"/>
              </a:lnSpc>
              <a:spcAft>
                <a:spcPts val="800"/>
              </a:spcAft>
            </a:pPr>
            <a:r>
              <a:rPr sz="1400" b="0">
                <a:solidFill>
                  <a:srgbClr val="5F677A"/>
                </a:solidFill>
                <a:latin typeface="Arial"/>
                <a:ea typeface="Microsoft YaHei"/>
              </a:rPr>
              <a:t>💬 “Not completely,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test communication skills?</a:t>
            </a:r>
          </a:p>
          <a:p>
            <a:pPr algn="l">
              <a:lnSpc>
                <a:spcPct val="115000"/>
              </a:lnSpc>
              <a:spcAft>
                <a:spcPts val="800"/>
              </a:spcAft>
            </a:pPr>
            <a:r>
              <a:rPr sz="1400" b="0">
                <a:solidFill>
                  <a:srgbClr val="5F677A"/>
                </a:solidFill>
                <a:latin typeface="Arial"/>
                <a:ea typeface="Microsoft YaHei"/>
              </a:rPr>
              <a:t>💬 “I’d use a role play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candidates prepare?</a:t>
            </a:r>
          </a:p>
          <a:p>
            <a:pPr algn="l">
              <a:lnSpc>
                <a:spcPct val="115000"/>
              </a:lnSpc>
              <a:spcAft>
                <a:spcPts val="800"/>
              </a:spcAft>
            </a:pPr>
            <a:r>
              <a:rPr sz="1400" b="0">
                <a:solidFill>
                  <a:srgbClr val="5F677A"/>
                </a:solidFill>
                <a:latin typeface="Arial"/>
                <a:ea typeface="Microsoft YaHei"/>
              </a:rPr>
              <a:t>💬 “They could… / It helps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candidates should be paid for any task over about two hours. Their time has value, and unpaid tasks favour people with more free time. Paying also tells candidates the company respects them. For short tasks of less than an hour, I don’t think payment is necessary. A good compromise is to keep tasks short and relevant.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“favour” 偏袒,有利于;“over about two hours” 超过约两小时。</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Reporting and evaluating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报告与评价</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The test was designed to + verb</a:t>
                      </a:r>
                    </a:p>
                  </a:txBody>
                  <a:tcPr anchor="ctr">
                    <a:solidFill>
                      <a:srgbClr val="FFFFFF"/>
                    </a:solidFill>
                  </a:tcPr>
                </a:tc>
                <a:tc>
                  <a:txBody>
                    <a:bodyPr wrap="square"/>
                    <a:lstStyle/>
                    <a:p>
                      <a:r>
                        <a:rPr sz="1600" b="0">
                          <a:solidFill>
                            <a:srgbClr val="1F2A44"/>
                          </a:solidFill>
                          <a:latin typeface="Arial"/>
                          <a:ea typeface="Microsoft YaHei"/>
                        </a:rPr>
                        <a:t>The test was designed to measure reasoning.</a:t>
                      </a:r>
                    </a:p>
                  </a:txBody>
                  <a:tcPr anchor="ctr">
                    <a:solidFill>
                      <a:srgbClr val="FFFFFF"/>
                    </a:solidFill>
                  </a:tcPr>
                </a:tc>
              </a:tr>
              <a:tr h="408432">
                <a:tc>
                  <a:txBody>
                    <a:bodyPr wrap="square"/>
                    <a:lstStyle/>
                    <a:p>
                      <a:r>
                        <a:rPr sz="1600" b="1">
                          <a:solidFill>
                            <a:srgbClr val="1F2A44"/>
                          </a:solidFill>
                          <a:latin typeface="Arial"/>
                          <a:ea typeface="Microsoft YaHei"/>
                        </a:rPr>
                        <a:t>It is said / thought to + verb</a:t>
                      </a:r>
                    </a:p>
                  </a:txBody>
                  <a:tcPr anchor="ctr">
                    <a:solidFill>
                      <a:srgbClr val="FFEFD9"/>
                    </a:solidFill>
                  </a:tcPr>
                </a:tc>
                <a:tc>
                  <a:txBody>
                    <a:bodyPr wrap="square"/>
                    <a:lstStyle/>
                    <a:p>
                      <a:r>
                        <a:rPr sz="1600" b="0">
                          <a:solidFill>
                            <a:srgbClr val="1F2A44"/>
                          </a:solidFill>
                          <a:latin typeface="Arial"/>
                          <a:ea typeface="Microsoft YaHei"/>
                        </a:rPr>
                        <a:t>It is thought to predict performance.</a:t>
                      </a:r>
                    </a:p>
                  </a:txBody>
                  <a:tcPr anchor="ctr">
                    <a:solidFill>
                      <a:srgbClr val="FFEFD9"/>
                    </a:solidFill>
                  </a:tcPr>
                </a:tc>
              </a:tr>
              <a:tr h="408432">
                <a:tc>
                  <a:txBody>
                    <a:bodyPr wrap="square"/>
                    <a:lstStyle/>
                    <a:p>
                      <a:r>
                        <a:rPr sz="1600" b="1">
                          <a:solidFill>
                            <a:srgbClr val="1F2A44"/>
                          </a:solidFill>
                          <a:latin typeface="Arial"/>
                          <a:ea typeface="Microsoft YaHei"/>
                        </a:rPr>
                        <a:t>seems / appears to</a:t>
                      </a:r>
                    </a:p>
                  </a:txBody>
                  <a:tcPr anchor="ctr">
                    <a:solidFill>
                      <a:srgbClr val="FFFFFF"/>
                    </a:solidFill>
                  </a:tcPr>
                </a:tc>
                <a:tc>
                  <a:txBody>
                    <a:bodyPr wrap="square"/>
                    <a:lstStyle/>
                    <a:p>
                      <a:r>
                        <a:rPr sz="1600" b="0">
                          <a:solidFill>
                            <a:srgbClr val="1F2A44"/>
                          </a:solidFill>
                          <a:latin typeface="Arial"/>
                          <a:ea typeface="Microsoft YaHei"/>
                        </a:rPr>
                        <a:t>It seems to be fair.</a:t>
                      </a:r>
                    </a:p>
                  </a:txBody>
                  <a:tcPr anchor="ctr">
                    <a:solidFill>
                      <a:srgbClr val="FFFFFF"/>
                    </a:solidFill>
                  </a:tcPr>
                </a:tc>
              </a:tr>
              <a:tr h="408432">
                <a:tc>
                  <a:txBody>
                    <a:bodyPr wrap="square"/>
                    <a:lstStyle/>
                    <a:p>
                      <a:r>
                        <a:rPr sz="1600" b="1">
                          <a:solidFill>
                            <a:srgbClr val="1F2A44"/>
                          </a:solidFill>
                          <a:latin typeface="Arial"/>
                          <a:ea typeface="Microsoft YaHei"/>
                        </a:rPr>
                        <a:t>One limitation is that…</a:t>
                      </a:r>
                    </a:p>
                  </a:txBody>
                  <a:tcPr anchor="ctr">
                    <a:solidFill>
                      <a:srgbClr val="FFEFD9"/>
                    </a:solidFill>
                  </a:tcPr>
                </a:tc>
                <a:tc>
                  <a:txBody>
                    <a:bodyPr wrap="square"/>
                    <a:lstStyle/>
                    <a:p>
                      <a:r>
                        <a:rPr sz="1600" b="0">
                          <a:solidFill>
                            <a:srgbClr val="1F2A44"/>
                          </a:solidFill>
                          <a:latin typeface="Arial"/>
                          <a:ea typeface="Microsoft YaHei"/>
                        </a:rPr>
                        <a:t>One limitation is that candidates can game it.</a:t>
                      </a:r>
                    </a:p>
                  </a:txBody>
                  <a:tcPr anchor="ctr">
                    <a:solidFill>
                      <a:srgbClr val="FFEFD9"/>
                    </a:solidFill>
                  </a:tcPr>
                </a:tc>
              </a:tr>
            </a:tbl>
          </a:graphicData>
        </a:graphic>
      </p:graphicFrame>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Reporting and evaluating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报告与评价</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passive + to-infinitive for purpose: </a:t>
            </a:r>
            <a:r>
              <a:rPr sz="1700" b="0">
                <a:solidFill>
                  <a:srgbClr val="1F2A44"/>
                </a:solidFill>
                <a:latin typeface="Arial"/>
                <a:ea typeface="Microsoft YaHei"/>
              </a:rPr>
              <a:t>was designed to measure, is used to select.</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did a test last week.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took a test last week.</a:t>
            </a:r>
          </a:p>
          <a:p>
            <a:pPr algn="l">
              <a:spcAft>
                <a:spcPts val="200"/>
              </a:spcAft>
            </a:pPr>
            <a:r>
              <a:rPr sz="1200" b="0">
                <a:solidFill>
                  <a:srgbClr val="FFFFFF"/>
                </a:solidFill>
                <a:latin typeface="Arial"/>
                <a:ea typeface="Microsoft YaHei"/>
              </a:rPr>
              <a:t>take a test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passed the test, so I’m very surprising.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 I’m very surprised.</a:t>
            </a:r>
          </a:p>
          <a:p>
            <a:pPr algn="l">
              <a:spcAft>
                <a:spcPts val="200"/>
              </a:spcAft>
            </a:pPr>
            <a:r>
              <a:rPr sz="1200" b="0">
                <a:solidFill>
                  <a:srgbClr val="FFFFFF"/>
                </a:solidFill>
                <a:latin typeface="Arial"/>
                <a:ea typeface="Microsoft YaHei"/>
              </a:rPr>
              <a:t>-ed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test is design to measure skills.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test is designed to measure skills.</a:t>
            </a:r>
          </a:p>
          <a:p>
            <a:pPr algn="l">
              <a:spcAft>
                <a:spcPts val="200"/>
              </a:spcAft>
            </a:pPr>
            <a:r>
              <a:rPr sz="1200" b="0">
                <a:solidFill>
                  <a:srgbClr val="FFFFFF"/>
                </a:solidFill>
                <a:latin typeface="Arial"/>
                <a:ea typeface="Microsoft YaHei"/>
              </a:rPr>
              <a:t>designed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a test tomorrow. I am nervous for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nervous about it.</a:t>
            </a:r>
          </a:p>
          <a:p>
            <a:pPr algn="l">
              <a:spcAft>
                <a:spcPts val="200"/>
              </a:spcAft>
            </a:pPr>
            <a:r>
              <a:rPr sz="1200" b="0">
                <a:solidFill>
                  <a:srgbClr val="FFFFFF"/>
                </a:solidFill>
                <a:latin typeface="Arial"/>
                <a:ea typeface="Microsoft YaHei"/>
              </a:rPr>
              <a:t>nervous about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is a informative test.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an informative test.</a:t>
            </a:r>
          </a:p>
          <a:p>
            <a:pPr algn="l">
              <a:spcAft>
                <a:spcPts val="200"/>
              </a:spcAft>
            </a:pPr>
            <a:r>
              <a:rPr sz="1200" b="0">
                <a:solidFill>
                  <a:srgbClr val="FFFFFF"/>
                </a:solidFill>
                <a:latin typeface="Arial"/>
                <a:ea typeface="Microsoft YaHei"/>
              </a:rPr>
              <a:t>an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result is depend on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result depends on time.</a:t>
            </a:r>
          </a:p>
          <a:p>
            <a:pPr algn="l">
              <a:spcAft>
                <a:spcPts val="200"/>
              </a:spcAft>
            </a:pPr>
            <a:r>
              <a:rPr sz="1200" b="0">
                <a:solidFill>
                  <a:srgbClr val="FFFFFF"/>
                </a:solidFill>
                <a:latin typeface="Arial"/>
                <a:ea typeface="Microsoft YaHei"/>
              </a:rPr>
              <a:t>depend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take a test, -ed/-ing adjectives, designed to, nervous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Be honest on personality tests. There’s no “right” answer; consistency is checked.</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Time is part of the test. Practise timed questions.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Ask what to expect. It’s normal to ask HR about the format.</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Pay and fairness. Long unpaid tasks are increasingly criticised.</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name types of recruitment tests.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test I took using was designed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fairness of tests politely.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take a test and -ed/-ing adjectives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 · Lesson 41 Recruitment testing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test and how you’d improve it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take a test, designed to, -ed/-ing, nervous about.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与工作相关</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relevant to the job</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候选人体验</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candidate experience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hire for attitude, train for skill</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hire for attitude, train for skill.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shortlist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She made the shortlist.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Six candidates are shortlist.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Six candidates are shortlisted.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钻空子</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game the system</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“受损”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a hit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“猎头挖角”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headhunt</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“璞玉”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rough diamond</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She has many experience.</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She has a lot of experience.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prefer freelancers than staff.</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prefer freelancers to staff.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8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