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Intermediate Level 7–8</a:t>
            </a:r>
          </a:p>
          <a:p>
            <a:r>
              <a:t>Unit 15: Industry Trends — Self-Study Workbook (Lessons 76–78)</a:t>
            </a:r>
          </a:p>
          <a:p/>
          <a:p>
            <a:r>
              <a:t>开场：简单介绍本单元的主题和要完成的 3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76 · The future of retail shopping 零售购物的未来</a:t>
            </a:r>
          </a:p>
          <a:p>
            <a:r>
              <a:t>Goal: discuss how shopping is changing (online, in-store, omnichannel) and make predictions with suitable future language.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“retail” 零售;“brick-and-mortar” 实体店。第 5 题用 will 做预测。</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Predict how shopping will change in the next ten years.</a:t>
            </a:r>
          </a:p>
          <a:p>
            <a:r>
              <a:t>Say: now → trend → prediction → effect on shops and customers.</a:t>
            </a:r>
          </a:p>
          <a:p>
            <a:r>
              <a:t>Useful starters: “These days, …” / “There’s a clear shift towards…” / “I expect… to…” / “As a result, shops will probably…”</a:t>
            </a:r>
          </a:p>
          <a:p>
            <a:r>
              <a:t>“shift towards” 转向;“I expect X to + 动词原形”。</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Online shopping has grown steadily for two decades, yet physical shops have not disappeared. Instead, the best retailers are blending the two in what is called “omnichannel” retail. A customer might browse on a phone, check stock in a nearby shop, try something on, and have it delivered home. Stores are changing role: they are becoming showrooms, collection points and places for experiences rather than simple warehouses. Technology supports this through mobile payments, self-checkouts and personalised offers based on past purchases. At the same time, customers expect fast delivery and easy returns, which puts pressure on costs. Analysts expect shops to survive where they offer something screens cannot: advice, atmosphere and trust. Those that merely sell goods at the same price as websites are likely to struggle.</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is omnichannel retail?</a:t>
            </a:r>
          </a:p>
          <a:p>
            <a:r>
              <a:t>A: Blending online and physical shopping into one experience.</a:t>
            </a:r>
          </a:p>
          <a:p>
            <a:r>
              <a:t>Q2. What new roles do stores have?</a:t>
            </a:r>
          </a:p>
          <a:p>
            <a:r>
              <a:t>A: Showrooms, collection points and experience spaces.</a:t>
            </a:r>
          </a:p>
          <a:p>
            <a:r>
              <a:t>Q3. Which shops are likely to struggle?</a:t>
            </a:r>
          </a:p>
          <a:p>
            <a:r>
              <a:t>A: Those that merely sell goods at the same price as websites.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Retail trends 零售趋势</a:t>
            </a:r>
          </a:p>
          <a:p>
            <a:r>
              <a:t>领读 → 学员跟读 → 请学员用表达造一个和自己工作相关的句子。</a:t>
            </a:r>
          </a:p>
          <a:p>
            <a:r>
              <a:t>brick-and-mortar (adjective) 实体的 — “Brick-and-mortar shops are changing.”</a:t>
            </a:r>
          </a:p>
          <a:p>
            <a:r>
              <a:t>omnichannel (adjective) 全渠道的 — “We offer an omnichannel experience.”</a:t>
            </a:r>
          </a:p>
          <a:p>
            <a:r>
              <a:t>click and collect (noun) 线上下单店内自提 — “Click and collect is popular.”</a:t>
            </a:r>
          </a:p>
          <a:p>
            <a:r>
              <a:t>★ the high street (noun) (英)商业街 — “The high street is struggling.”</a:t>
            </a:r>
          </a:p>
          <a:p>
            <a:r>
              <a:t>★ showrooming (noun) 店内看货线上买 — “Showrooming hurts shops.”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Technology 技术</a:t>
            </a:r>
          </a:p>
          <a:p>
            <a:r>
              <a:t>领读 → 学员跟读 → 请学员用表达造一个和自己工作相关的句子。</a:t>
            </a:r>
          </a:p>
          <a:p>
            <a:r>
              <a:t>contactless payment (noun) 非接触支付 — “Contactless payment is quick.”</a:t>
            </a:r>
          </a:p>
          <a:p>
            <a:r>
              <a:t>self-checkout (noun) 自助结账 — “Most shops have self-checkouts.”</a:t>
            </a:r>
          </a:p>
          <a:p>
            <a:r>
              <a:t>personalised offers (noun) 个性化优惠 — “We send personalised offers.”</a:t>
            </a:r>
          </a:p>
          <a:p>
            <a:r>
              <a:t>★ frictionless (adjective) 无摩擦的 — “A frictionless experience.”</a:t>
            </a:r>
          </a:p>
          <a:p>
            <a:r>
              <a:t>★ augmented reality (AR) (noun) 增强现实 — “AR lets you try furniture at home.”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Predictions 预测</a:t>
            </a:r>
          </a:p>
          <a:p>
            <a:r>
              <a:t>领读 → 学员跟读 → 请学员用表达造一个和自己工作相关的句子。</a:t>
            </a:r>
          </a:p>
          <a:p>
            <a:r>
              <a:t>be expected to (phrase) 预计会 — “Sales are expected to rise.”</a:t>
            </a:r>
          </a:p>
          <a:p>
            <a:r>
              <a:t>be likely to (phrase) 很可能 — “Prices are likely to fall.”</a:t>
            </a:r>
          </a:p>
          <a:p>
            <a:r>
              <a:t>be set to (phrase) 即将 — “The chain is set to open fifty shops.”</a:t>
            </a:r>
          </a:p>
          <a:p>
            <a:r>
              <a:t>★ on the horizon (idiom) 即将出现 — “Changes are on the horizon.”</a:t>
            </a:r>
          </a:p>
          <a:p>
            <a:r>
              <a:t>★ go the way of (idiom) 步…后尘而消失 — “Some shops will go the way of video rental.”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brick-and-mortar / omnichannel / collect / contactless / expected / likely</a:t>
            </a:r>
          </a:p>
          <a:p>
            <a:r>
              <a:t>1. _______ shops are changing their role. → Brick-and-mortar</a:t>
            </a:r>
          </a:p>
          <a:p>
            <a:r>
              <a:t>2. We offer an _______ experience. → omnichannel</a:t>
            </a:r>
          </a:p>
          <a:p>
            <a:r>
              <a:t>3. Click and _______ is popular with busy shoppers. → collect</a:t>
            </a:r>
          </a:p>
          <a:p>
            <a:r>
              <a:t>4. _______ payment is quick and safe. → Contactless</a:t>
            </a:r>
          </a:p>
          <a:p>
            <a:r>
              <a:t>5. Online sales are _______ to rise by 10 per cent. → expected</a:t>
            </a:r>
          </a:p>
          <a:p>
            <a:r>
              <a:t>6. Some shops are _______ to struggle. → likely</a:t>
            </a:r>
          </a:p>
          <a:p>
            <a:r>
              <a:t>Mistake Watch: (拼写与搭配) shop(英)/ store(美);high street 英式;be expected TO rise。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Comparing online and in-store 比较线上线下</a:t>
            </a:r>
          </a:p>
          <a:p>
            <a:r>
              <a:t>情景：Colleagues discuss habits.</a:t>
            </a:r>
          </a:p>
          <a:p>
            <a:r>
              <a:t>Role A: Colleague 1 Role B: Colleague 2</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Do you still shop in stores?</a:t>
            </a:r>
          </a:p>
          <a:p>
            <a:r>
              <a:t>B: For clothes, yes. I like to try things on. For everything else, I order online.</a:t>
            </a:r>
          </a:p>
          <a:p>
            <a:r>
              <a:t>A: I use click and collect. It’s the best of both.</a:t>
            </a:r>
          </a:p>
          <a:p>
            <a:r>
              <a:t>B: Do you think shops will survive?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The good ones will. They’re becoming places for experiences, not just selling.</a:t>
            </a:r>
          </a:p>
          <a:p>
            <a:r>
              <a:t>B: I agree. The high street is changing, but it won’t disappear.</a:t>
            </a:r>
          </a:p>
          <a:p>
            <a:r>
              <a:t>A: Prices matter too, though.</a:t>
            </a:r>
          </a:p>
          <a:p>
            <a:r>
              <a:t>B: True. Shops that can’t compete on service are likely to struggle.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 | </a:t>
            </a:r>
          </a:p>
          <a:p>
            <a:r>
              <a:t>Situation | You compare shopping habits.</a:t>
            </a:r>
          </a:p>
          <a:p>
            <a:r>
              <a:t>Your role (A) | Colleague.</a:t>
            </a:r>
          </a:p>
          <a:p>
            <a:r>
              <a:t>Partner’s role (B) | Colleague. Product type: ______________</a:t>
            </a:r>
          </a:p>
          <a:p>
            <a:r>
              <a:t>Must use (3 or more) | click and collect · try things on · experiences · likely to struggle · compete on service</a:t>
            </a:r>
          </a:p>
          <a:p>
            <a:r>
              <a:t>Goal | Share habits and make one prediction.</a:t>
            </a:r>
          </a:p>
          <a:p>
            <a:r>
              <a:t>My notes | ____________________________________________</a:t>
            </a:r>
          </a:p>
          <a:p>
            <a:r>
              <a:t>Mention delivery speed.</a:t>
            </a:r>
          </a:p>
          <a:p>
            <a:r>
              <a:t>Mention sustainability.</a:t>
            </a:r>
          </a:p>
          <a:p>
            <a:r>
              <a:t>Disagree politely.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Advising a shop owner 给店主建议</a:t>
            </a:r>
          </a:p>
          <a:p>
            <a:r>
              <a:t>情景：A consultant helps a small retailer.</a:t>
            </a:r>
          </a:p>
          <a:p>
            <a:r>
              <a:t>Role A: Shop owner Role B: Consultant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Sales in my shop are falling. People look, then buy online.</a:t>
            </a:r>
          </a:p>
          <a:p>
            <a:r>
              <a:t>B: That’s showrooming. What do you offer that a website can’t?</a:t>
            </a:r>
          </a:p>
          <a:p>
            <a:r>
              <a:t>A: Advice, I suppose. And I know my customers.</a:t>
            </a:r>
          </a:p>
          <a:p>
            <a:r>
              <a:t>B: Build on that. Offer personal recommendations and an easy click-and-collect service.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Will that bring people in?</a:t>
            </a:r>
          </a:p>
          <a:p>
            <a:r>
              <a:t>B: It’s likely to. Also create a simple website so customers can check stock.</a:t>
            </a:r>
          </a:p>
          <a:p>
            <a:r>
              <a:t>A: That sounds manageable.</a:t>
            </a:r>
          </a:p>
          <a:p>
            <a:r>
              <a:t>B: Start small and measure results after three months.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 | </a:t>
            </a:r>
          </a:p>
          <a:p>
            <a:r>
              <a:t>Situation | You advise a retailer.</a:t>
            </a:r>
          </a:p>
          <a:p>
            <a:r>
              <a:t>Your role (A) | Shop owner. Shop: ______________</a:t>
            </a:r>
          </a:p>
          <a:p>
            <a:r>
              <a:t>Partner’s role (B) | Consultant.</a:t>
            </a:r>
          </a:p>
          <a:p>
            <a:r>
              <a:t>Must use (3 or more) | showrooming · build on that · click and collect · likely to · measure results</a:t>
            </a:r>
          </a:p>
          <a:p>
            <a:r>
              <a:t>Goal | Diagnose the problem and recommend three steps.</a:t>
            </a:r>
          </a:p>
          <a:p>
            <a:r>
              <a:t>My notes | ____________________________________________</a:t>
            </a:r>
          </a:p>
          <a:p>
            <a:r>
              <a:t>Suggest a loyalty scheme.</a:t>
            </a:r>
          </a:p>
          <a:p>
            <a:r>
              <a:t>Discuss costs.</a:t>
            </a:r>
          </a:p>
          <a:p>
            <a:r>
              <a:t>Predict results.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Will physical shops disappear? | “I don’t think so, because…”</a:t>
            </a:r>
          </a:p>
          <a:p>
            <a:r>
              <a:t>2. What makes you choose a shop over a website? | “Usually it’s…”</a:t>
            </a:r>
          </a:p>
          <a:p>
            <a:r>
              <a:t>3. Is self-checkout a good idea? | “It’s convenient, but…”</a:t>
            </a:r>
          </a:p>
          <a:p>
            <a:r>
              <a:t>4. How will AI change retail? | “It will probably…”</a:t>
            </a:r>
          </a:p>
          <a:p>
            <a:r>
              <a:t>5. What is your shopping habit? | “I tend to…”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don’t think they will disappear, but they will change. People still value touching products, getting advice and having a social experience. Shops that offer these things, and also connect with online services, will probably survive. The ones that only sell products at the same price as websites will find it hard.”</a:t>
            </a:r>
          </a:p>
          <a:p>
            <a:r>
              <a:t>“find it hard” 觉得困难;“connect with” 与…衔接。</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Predictions and likelihood 预测与可能性</a:t>
            </a:r>
          </a:p>
          <a:p>
            <a:r>
              <a:t>Structure | Example</a:t>
            </a:r>
          </a:p>
          <a:p>
            <a:r>
              <a:t>will + base (prediction) | Shops will change.</a:t>
            </a:r>
          </a:p>
          <a:p>
            <a:r>
              <a:t>be likely/unlikely to | Prices are likely to fall.</a:t>
            </a:r>
          </a:p>
          <a:p>
            <a:r>
              <a:t>be expected to / set to | Sales are expected to rise.</a:t>
            </a:r>
          </a:p>
          <a:p>
            <a:r>
              <a:t>may/might/could | Some shops might close.</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Predictions and likelihood 预测与可能性</a:t>
            </a:r>
          </a:p>
          <a:p>
            <a:r>
              <a:t>Probably goes after will and before won’t: will probably, probably won’t.</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Shops will to change.  →  ✓ Shops will change.  (will + 原形)</a:t>
            </a:r>
          </a:p>
          <a:p>
            <a:r>
              <a:t>✗ I think shops won’t be disappear.  →  ✓ I don’t think shops will disappear.  (否定前置)</a:t>
            </a:r>
          </a:p>
          <a:p>
            <a:r>
              <a:t>✗ Online sales are expect to rise.  →  ✓ Online sales are expected to rise.  (被动)</a:t>
            </a:r>
          </a:p>
          <a:p>
            <a:r>
              <a:t>Mistake Watch: Check will + base, I don’t think… will, be expected to, probably position.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will probably not go.  →  ✓ I probably won’t go.  (语序)</a:t>
            </a:r>
          </a:p>
          <a:p>
            <a:r>
              <a:t>✗ In the future, people buy online.  →  ✓ In the future, people will buy online.  (将来)</a:t>
            </a:r>
          </a:p>
          <a:p>
            <a:r>
              <a:t>✗ I buy at a shop of clothes.  →  ✓ I buy at a clothes shop.  (名词修饰)</a:t>
            </a:r>
          </a:p>
          <a:p>
            <a:r>
              <a:t>Mistake Watch: Check will + base, I don’t think… will, be expected to, probably position.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Shopping vocabulary differs. UK: shop, trolley, high street. US: store, cart, downtown.</a:t>
            </a:r>
          </a:p>
          <a:p>
            <a:r>
              <a:t>Returns are normal. Retailers expect returns; ask about policies.</a:t>
            </a:r>
          </a:p>
          <a:p>
            <a:r>
              <a:t>Small talk in shops. “Can I help you?” – “I’m just looking, thanks” is polite.</a:t>
            </a:r>
          </a:p>
          <a:p>
            <a:r>
              <a:t>Local vs global. Support-local campaigns are common.</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retail trends with the right vocabulary.</a:t>
            </a:r>
          </a:p>
          <a:p>
            <a:r>
              <a:t>I can make predictions with be likely to / be expected to.</a:t>
            </a:r>
          </a:p>
          <a:p>
            <a:r>
              <a:t>I can give advice to a retailer.</a:t>
            </a:r>
          </a:p>
          <a:p>
            <a:r>
              <a:t>I use I don’t think… will and probably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Predict the future of shopping in 5 sentences.</a:t>
            </a:r>
          </a:p>
          <a:p>
            <a:r>
              <a:t>8–10 | Listen to your recording. Check: will + base, don’t think will, probably.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77 · Vegan economy 纯素经济</a:t>
            </a:r>
          </a:p>
          <a:p>
            <a:r>
              <a:t>Goal: discuss the growth of plant-based food and products, consumer motives, and business opportunities in a balanced way.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“vegan” 纯素;“plant-based” 植物性。谈饮食观念要尊重不同选择,避免评判。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why the plant-based market is growing and what challenges it faces.</a:t>
            </a:r>
          </a:p>
          <a:p>
            <a:r>
              <a:t>Say: trend → reasons → opportunities → challenges.</a:t>
            </a:r>
          </a:p>
          <a:p>
            <a:r>
              <a:t>Useful starters: “There’s growing demand for…” / “People choose… because…” / “This creates opportunities for…” / “However, …”</a:t>
            </a:r>
          </a:p>
          <a:p>
            <a:r>
              <a:t>“growing demand for” 对…的需求增长;“create opportunities for”。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Plant-based food has moved from a niche to a mainstream market in many countries. Supermarkets stock oat milk and meat alternatives, restaurants add vegan dishes, and fashion brands offer leather-free products. People choose these options for different reasons: health, animal welfare, environmental concerns or simple curiosity. Companies see opportunities in new products, partnerships with farms and growing interest from younger consumers. But challenges remain. Some products cost more than traditional ones, and taste and texture still matter greatly. Critics also question whether highly processed alternatives are always healthier. Investors, meanwhile, have learned that early excitement can fade if products fail to win repeat customers. In the long term, analysts suggest that the market will continue to grow, but only for companies that combine good flavour, fair prices and honest marketing.</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do people choose plant-based products?</a:t>
            </a:r>
          </a:p>
          <a:p>
            <a:r>
              <a:t>A: Health, animal welfare, environmental concerns, curiosity.</a:t>
            </a:r>
          </a:p>
          <a:p>
            <a:r>
              <a:t>Q2. What challenges does the market face?</a:t>
            </a:r>
          </a:p>
          <a:p>
            <a:r>
              <a:t>A: Higher prices, taste and texture, doubts about processing, loss of early excitement.</a:t>
            </a:r>
          </a:p>
          <a:p>
            <a:r>
              <a:t>Q3. What must successful companies combine?</a:t>
            </a:r>
          </a:p>
          <a:p>
            <a:r>
              <a:t>A: Good flavour, fair prices and honest marketing.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The market 市场</a:t>
            </a:r>
          </a:p>
          <a:p>
            <a:r>
              <a:t>领读 → 学员跟读 → 请学员用表达造一个和自己工作相关的句子。</a:t>
            </a:r>
          </a:p>
          <a:p>
            <a:r>
              <a:t>plant-based (adjective) 植物性的 — “We launched a plant-based burger.”</a:t>
            </a:r>
          </a:p>
          <a:p>
            <a:r>
              <a:t>vegan / vegetarian (adjective) 纯素/素食 — “She is vegan.”</a:t>
            </a:r>
          </a:p>
          <a:p>
            <a:r>
              <a:t>meat alternative (noun) 肉类替代品 — “Meat alternatives are popular.”</a:t>
            </a:r>
          </a:p>
          <a:p>
            <a:r>
              <a:t>★ flexitarian (noun) 弹性素食者 — “Many consumers are flexitarians.”</a:t>
            </a:r>
          </a:p>
          <a:p>
            <a:r>
              <a:t>★ mainstream (adjective) 主流的 — “Vegan food has gone mainstream.”</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Business 商业</a:t>
            </a:r>
          </a:p>
          <a:p>
            <a:r>
              <a:t>领读 → 学员跟读 → 请学员用表达造一个和自己工作相关的句子。</a:t>
            </a:r>
          </a:p>
          <a:p>
            <a:r>
              <a:t>growing demand (noun) 增长的需求 — “There’s growing demand for oat milk.”</a:t>
            </a:r>
          </a:p>
          <a:p>
            <a:r>
              <a:t>consumer trend (noun) 消费趋势 — “It’s a major consumer trend.”</a:t>
            </a:r>
          </a:p>
          <a:p>
            <a:r>
              <a:t>supply chain (noun) 供应链 — “We work with local farms in our supply chain.”</a:t>
            </a:r>
          </a:p>
          <a:p>
            <a:r>
              <a:t>★ tap into (phrasal verb) 开发利用 — “Brands are tapping into the trend.”</a:t>
            </a:r>
          </a:p>
          <a:p>
            <a:r>
              <a:t>★ a crowded space (noun) 拥挤的领域 — “It’s become a crowded space.”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Motives and concerns 动机与顾虑</a:t>
            </a:r>
          </a:p>
          <a:p>
            <a:r>
              <a:t>领读 → 学员跟读 → 请学员用表达造一个和自己工作相关的句子。</a:t>
            </a:r>
          </a:p>
          <a:p>
            <a:r>
              <a:t>animal welfare (noun) 动物福利 — “Animal welfare matters to many.”</a:t>
            </a:r>
          </a:p>
          <a:p>
            <a:r>
              <a:t>carbon footprint (noun) 碳足迹 — “Plant-based diets can reduce your carbon footprint.”</a:t>
            </a:r>
          </a:p>
          <a:p>
            <a:r>
              <a:t>ultra-processed (adjective) 超加工的 — “Some alternatives are ultra-processed.”</a:t>
            </a:r>
          </a:p>
          <a:p>
            <a:r>
              <a:t>★ greenwash (verb) 漂绿 — “Don’t greenwash your products.”</a:t>
            </a:r>
          </a:p>
          <a:p>
            <a:r>
              <a:t>★ a fad (noun) 一时风尚 — “Is it a fad or a lasting trend?”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plant-based / vegan / demand / supply / footprint / fad</a:t>
            </a:r>
          </a:p>
          <a:p>
            <a:r>
              <a:t>1. We launched a _______ burger last year. → plant-based</a:t>
            </a:r>
          </a:p>
          <a:p>
            <a:r>
              <a:t>2. She is _______ and avoids all animal products. → vegan</a:t>
            </a:r>
          </a:p>
          <a:p>
            <a:r>
              <a:t>3. There is growing _______ for oat milk. → demand</a:t>
            </a:r>
          </a:p>
          <a:p>
            <a:r>
              <a:t>4. We improved our _______ chain. → supply</a:t>
            </a:r>
          </a:p>
          <a:p>
            <a:r>
              <a:t>5. Plant-based diets can reduce your carbon _______. → footprint</a:t>
            </a:r>
          </a:p>
          <a:p>
            <a:r>
              <a:t>6. Critics say it’s just a _______. → fad</a:t>
            </a:r>
          </a:p>
          <a:p>
            <a:r>
              <a:t>Mistake Watch: (搭配) growing demand FOR,tap into a trend,reduce your carbon footprint;vegan 读 /ˈviːɡən/。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Discussing a new product line 讨论新产品线</a:t>
            </a:r>
          </a:p>
          <a:p>
            <a:r>
              <a:t>情景：A team considers plant-based options.</a:t>
            </a:r>
          </a:p>
          <a:p>
            <a:r>
              <a:t>Role A: Manager Role B: Marketing lead</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There’s growing demand for plant-based snacks. Should we launch a range?</a:t>
            </a:r>
          </a:p>
          <a:p>
            <a:r>
              <a:t>B: I think so. Younger customers especially are asking for them.</a:t>
            </a:r>
          </a:p>
          <a:p>
            <a:r>
              <a:t>A: What are the risks?</a:t>
            </a:r>
          </a:p>
          <a:p>
            <a:r>
              <a:t>B: It’s a crowded space, and taste is critical. If it isn’t good, people won’t buy again.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How can we stand out?</a:t>
            </a:r>
          </a:p>
          <a:p>
            <a:r>
              <a:t>B: Good flavour, fair prices and local ingredients.</a:t>
            </a:r>
          </a:p>
          <a:p>
            <a:r>
              <a:t>A: Let’s test three products in ten stores.</a:t>
            </a:r>
          </a:p>
          <a:p>
            <a:r>
              <a:t>B: I’ll prepare a plan for next week.</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 | </a:t>
            </a:r>
          </a:p>
          <a:p>
            <a:r>
              <a:t>Situation | You discuss a new product.</a:t>
            </a:r>
          </a:p>
          <a:p>
            <a:r>
              <a:t>Your role (A) | Manager. Product: ______________</a:t>
            </a:r>
          </a:p>
          <a:p>
            <a:r>
              <a:t>Partner’s role (B) | Marketing lead.</a:t>
            </a:r>
          </a:p>
          <a:p>
            <a:r>
              <a:t>Must use (3 or more) | growing demand · crowded space · stand out · fair prices · test</a:t>
            </a:r>
          </a:p>
          <a:p>
            <a:r>
              <a:t>Goal | Discuss opportunity, risk and a test plan.</a:t>
            </a:r>
          </a:p>
          <a:p>
            <a:r>
              <a:t>My notes | ____________________________________________</a:t>
            </a:r>
          </a:p>
          <a:p>
            <a:r>
              <a:t>Discuss pricing.</a:t>
            </a:r>
          </a:p>
          <a:p>
            <a:r>
              <a:t>Mention labelling honesty.</a:t>
            </a:r>
          </a:p>
          <a:p>
            <a:r>
              <a:t>Plan feedback collection.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about diets respectfully 尊重地谈饮食</a:t>
            </a:r>
          </a:p>
          <a:p>
            <a:r>
              <a:t>情景：A lunch conversation.</a:t>
            </a:r>
          </a:p>
          <a:p>
            <a:r>
              <a:t>Role A: Colleague Role B: You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I’ve become flexitarian. I eat less meat but not none.</a:t>
            </a:r>
          </a:p>
          <a:p>
            <a:r>
              <a:t>B: What made you change?</a:t>
            </a:r>
          </a:p>
          <a:p>
            <a:r>
              <a:t>A: Mainly the environment. It reduces my carbon footprint.</a:t>
            </a:r>
          </a:p>
          <a:p>
            <a:r>
              <a:t>B: Is it difficult?</a:t>
            </a:r>
          </a:p>
          <a:p>
            <a:r>
              <a:t>A: Not really. There are lots of good alternatives now.</a:t>
            </a:r>
          </a:p>
          <a:p>
            <a:r>
              <a:t>B: I’m curious. Could you recommend a restaurant?</a:t>
            </a:r>
          </a:p>
          <a:p>
            <a:r>
              <a:t>A: Sure. There’s a great place near the office.</a:t>
            </a:r>
          </a:p>
          <a:p>
            <a:r>
              <a:t>B: Let’s go on Friday.</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 | </a:t>
            </a:r>
          </a:p>
          <a:p>
            <a:r>
              <a:t>Situation | You talk about diets respectfully.</a:t>
            </a:r>
          </a:p>
          <a:p>
            <a:r>
              <a:t>Your role (A) | Colleague.</a:t>
            </a:r>
          </a:p>
          <a:p>
            <a:r>
              <a:t>Partner’s role (B) | You. Topic: ______________</a:t>
            </a:r>
          </a:p>
          <a:p>
            <a:r>
              <a:t>Must use (3 or more) | flexitarian · what made you change · carbon footprint · I’m curious · recommend</a:t>
            </a:r>
          </a:p>
          <a:p>
            <a:r>
              <a:t>Goal | Ask open questions without judging.</a:t>
            </a:r>
          </a:p>
          <a:p>
            <a:r>
              <a:t>My notes | ____________________________________________</a:t>
            </a:r>
          </a:p>
          <a:p>
            <a:r>
              <a:t>Avoid persuading.</a:t>
            </a:r>
          </a:p>
          <a:p>
            <a:r>
              <a:t>Share a personal habit.</a:t>
            </a:r>
          </a:p>
          <a:p>
            <a:r>
              <a:t>Suggest a team lunch with options.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Why is the plant-based market growing? | “Probably because…”</a:t>
            </a:r>
          </a:p>
          <a:p>
            <a:r>
              <a:t>2. Are plant-based products really healthier? | “Not always, since…”</a:t>
            </a:r>
          </a:p>
          <a:p>
            <a:r>
              <a:t>3. Should governments support plant-based farming? | “I think… because…”</a:t>
            </a:r>
          </a:p>
          <a:p>
            <a:r>
              <a:t>4. Will meat be replaced? | “Partly, but…”</a:t>
            </a:r>
          </a:p>
          <a:p>
            <a:r>
              <a:t>5. How can restaurants cater to all diets? | “By offering…”</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“Not always. Some plant-based products are high in salt, fat or additives, so they may not be healthier than simple foods. A diet with whole grains, vegetables and beans is usually good, but heavily processed products need careful reading of labels. So it depends on the product, not just on the label”vegan”.”</a:t>
            </a:r>
          </a:p>
          <a:p>
            <a:r>
              <a:t>“additives” 添加剂;“it depends on…” 视情况而定。</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Describing trends and change 描述趋势与变化</a:t>
            </a:r>
          </a:p>
          <a:p>
            <a:r>
              <a:t>Structure | Example</a:t>
            </a:r>
          </a:p>
          <a:p>
            <a:r>
              <a:t>There’s growing demand for… | There’s growing demand for oat milk.</a:t>
            </a:r>
          </a:p>
          <a:p>
            <a:r>
              <a:t>more and more | More and more people eat plant-based food.</a:t>
            </a:r>
          </a:p>
          <a:p>
            <a:r>
              <a:t>has/have become | Vegan food has become mainstream.</a:t>
            </a:r>
          </a:p>
          <a:p>
            <a:r>
              <a:t>is on the rise | Interest is on the rise.</a:t>
            </a:r>
          </a:p>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Describing trends and change 描述趋势与变化</a:t>
            </a:r>
          </a:p>
          <a:p>
            <a:r>
              <a:t>Use present perfect for change up to now: Sales have risen sharply.</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Vegan is growing.  →  ✓ The vegan market is growing.  (名词)</a:t>
            </a:r>
          </a:p>
          <a:p>
            <a:r>
              <a:t>✗ There are a growing demand.  →  ✓ There is growing demand.  (demand 不可数)</a:t>
            </a:r>
          </a:p>
          <a:p>
            <a:r>
              <a:t>✗ Many peoples are vegetarian.  →  ✓ Many people are vegetarian.  (people)</a:t>
            </a:r>
          </a:p>
          <a:p>
            <a:r>
              <a:t>Mistake Watch: Check uncountable demand, people, present perfect for change.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am eating no meat.  →  ✓ I don’t eat meat.  (习惯)</a:t>
            </a:r>
          </a:p>
          <a:p>
            <a:r>
              <a:t>✗ The meat alternative is became popular.  →  ✓ Meat alternatives have become popular.  (完成时)</a:t>
            </a:r>
          </a:p>
          <a:p>
            <a:r>
              <a:t>✗ It’s good for the environments.  →  ✓ It’s good for the environment.  (单数)</a:t>
            </a:r>
          </a:p>
          <a:p>
            <a:r>
              <a:t>Mistake Watch: Check uncountable demand, people, present perfect for change.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Ask before assuming. At events, ask about dietary needs: “Any dietary requirements?”</a:t>
            </a:r>
          </a:p>
          <a:p>
            <a:r>
              <a:t>Respect choices. Don’t comment on what others eat.</a:t>
            </a:r>
          </a:p>
          <a:p>
            <a:r>
              <a:t>Labels vary. Check allergens and local rules.</a:t>
            </a:r>
          </a:p>
          <a:p>
            <a:r>
              <a:t>Sustainability claims must be honest to avoid “greenwashing”.</a:t>
            </a:r>
          </a:p>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the plant-based market and trends.</a:t>
            </a:r>
          </a:p>
          <a:p>
            <a:r>
              <a:t>I can discuss diets respectfully.</a:t>
            </a:r>
          </a:p>
          <a:p>
            <a:r>
              <a:t>I can talk about opportunities and risks.</a:t>
            </a:r>
          </a:p>
          <a:p>
            <a:r>
              <a:t>I use demand (uncountable) and present perfect for change.</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Describe a food trend and its pros and cons in 90 seconds.</a:t>
            </a:r>
          </a:p>
          <a:p>
            <a:r>
              <a:t>8–10 | Listen to your recording. Check: demand uncountable, people, present perfect.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78 · Shortcuts 捷径</a:t>
            </a:r>
          </a:p>
          <a:p>
            <a:r>
              <a:t>Goal: discuss smart shortcuts versus risky ones at work, and give advice on saving time without cutting quality.</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“shortcut” 既指”近路/快捷方式”,也指”走捷径(省略步骤)“。本课区分”聪明的捷径”和”危险的捷径”。</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when a shortcut is smart and when it is risky.</a:t>
            </a:r>
          </a:p>
          <a:p>
            <a:r>
              <a:t>Say: smart examples → risky examples → how to tell the difference.</a:t>
            </a:r>
          </a:p>
          <a:p>
            <a:r>
              <a:t>Useful starters: “A good shortcut is one that…” / “The risk is that…” / “Before taking a shortcut, ask…” / “In the long run, …”</a:t>
            </a:r>
          </a:p>
          <a:p>
            <a:r>
              <a:t>“A good shortcut is one that…” 定语从句下定义。</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Everyone loves a shortcut. Keyboard shortcuts, templates and automatic reports can save hours every week, and they free time for more valuable work. Such shortcuts remove repetition without changing the quality of the result. Other shortcuts are more dangerous: skipping a safety check, copying figures without verifying them, or avoiding a difficult conversation. These save time today but often create bigger problems tomorrow. A useful test is to ask three questions. Does the shortcut preserve quality? Does it keep people safe and the work honest? Would I be comfortable explaining it to my manager or a client? If the answer to any is no, it is probably a shortcut to trouble. Finally, remember that some learning cannot be rushed. Skills built the slow way usually last longer.</a:t>
            </a:r>
          </a:p>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Give an example of a smart shortcut.</a:t>
            </a:r>
          </a:p>
          <a:p>
            <a:r>
              <a:t>A: Keyboard shortcuts, templates, automatic reports.</a:t>
            </a:r>
          </a:p>
          <a:p>
            <a:r>
              <a:t>Q2. Give an example of a risky shortcut.</a:t>
            </a:r>
          </a:p>
          <a:p>
            <a:r>
              <a:t>A: Skipping a safety check, copying figures without checking, avoiding a difficult conversation.</a:t>
            </a:r>
          </a:p>
          <a:p>
            <a:r>
              <a:t>Q3. What are the three test questions about?</a:t>
            </a:r>
          </a:p>
          <a:p>
            <a:r>
              <a:t>A: Quality, safety/honesty, and whether you could explain it to a manager or client.</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Shortcuts 捷径</a:t>
            </a:r>
          </a:p>
          <a:p>
            <a:r>
              <a:t>领读 → 学员跟读 → 请学员用表达造一个和自己工作相关的句子。</a:t>
            </a:r>
          </a:p>
          <a:p>
            <a:r>
              <a:t>shortcut (noun) 捷径 — “Learn keyboard shortcuts.”</a:t>
            </a:r>
          </a:p>
          <a:p>
            <a:r>
              <a:t>template (noun) 模板 — “Use a template to save time.”</a:t>
            </a:r>
          </a:p>
          <a:p>
            <a:r>
              <a:t>automate (verb) 自动化 — “We automated the weekly report.”</a:t>
            </a:r>
          </a:p>
          <a:p>
            <a:r>
              <a:t>★ streamline (verb) 精简流程 — “Let’s streamline the process.”</a:t>
            </a:r>
          </a:p>
          <a:p>
            <a:r>
              <a:t>★ life hack (noun) 生活窍门 — “Here’s a useful work hack.”</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Risky shortcuts 危险捷径</a:t>
            </a:r>
          </a:p>
          <a:p>
            <a:r>
              <a:t>领读 → 学员跟读 → 请学员用表达造一个和自己工作相关的句子。</a:t>
            </a:r>
          </a:p>
          <a:p>
            <a:r>
              <a:t>cut corners (idiom) 偷工减料 — “Don’t cut corners on safety.”</a:t>
            </a:r>
          </a:p>
          <a:p>
            <a:r>
              <a:t>skip a step (collocation) 跳过步骤 — “Never skip the checking step.”</a:t>
            </a:r>
          </a:p>
          <a:p>
            <a:r>
              <a:t>rush a job (collocation) 仓促做事 — “She rushed the job.”</a:t>
            </a:r>
          </a:p>
          <a:p>
            <a:r>
              <a:t>★ a quick fix (noun) 权宜之计 — “That’s a quick fix, not a solution.”</a:t>
            </a:r>
          </a:p>
          <a:p>
            <a:r>
              <a:t>★ come back to bite you (idiom) 日后自食其果 — “Skipping tests will come back to bite you.”</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Working smart 聪明工作</a:t>
            </a:r>
          </a:p>
          <a:p>
            <a:r>
              <a:t>领读 → 学员跟读 → 请学员用表达造一个和自己工作相关的句子。</a:t>
            </a:r>
          </a:p>
          <a:p>
            <a:r>
              <a:t>work smarter, not harder (phrase) 巧干而非苦干 — “Work smarter, not harder.”</a:t>
            </a:r>
          </a:p>
          <a:p>
            <a:r>
              <a:t>save time (collocation) 节省时间 — “This tool saves time.”</a:t>
            </a:r>
          </a:p>
          <a:p>
            <a:r>
              <a:t>efficiency (noun) 效率 — “Efficiency improved.”</a:t>
            </a:r>
          </a:p>
          <a:p>
            <a:r>
              <a:t>★ the 80/20 rule (noun) 二八法则 — “Apply the 80/20 rule.”</a:t>
            </a:r>
          </a:p>
          <a:p>
            <a:r>
              <a:t>★ low-hanging fruit (idiom) 容易达成的目标 — “Start with the low-hanging fruit.”</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shortcuts / template / automate / corners / skip / efficiency</a:t>
            </a:r>
          </a:p>
          <a:p>
            <a:r>
              <a:t>1. I learned some keyboard _______. → shortcuts</a:t>
            </a:r>
          </a:p>
          <a:p>
            <a:r>
              <a:t>2. Use a _______ to save time. → template</a:t>
            </a:r>
          </a:p>
          <a:p>
            <a:r>
              <a:t>3. We decided to _______ the weekly report. → automate</a:t>
            </a:r>
          </a:p>
          <a:p>
            <a:r>
              <a:t>4. Never cut _______ on safety. → corners</a:t>
            </a:r>
          </a:p>
          <a:p>
            <a:r>
              <a:t>5. Don’t _______ the checking step. → skip</a:t>
            </a:r>
          </a:p>
          <a:p>
            <a:r>
              <a:t>6. The new tool improved our _______. → efficiency</a:t>
            </a:r>
          </a:p>
          <a:p>
            <a:r>
              <a:t>Mistake Watch: (搭配) take a shortcut,cut corners,skip a step;shortcut 一词。</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Sharing a time-saving tip 分享省时技巧</a:t>
            </a:r>
          </a:p>
          <a:p>
            <a:r>
              <a:t>情景：Colleagues swap ideas.</a:t>
            </a:r>
          </a:p>
          <a:p>
            <a:r>
              <a:t>Role A: Colleague 1 Role B: Colleague 2</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saved hours this week by automating the weekly report.</a:t>
            </a:r>
          </a:p>
          <a:p>
            <a:r>
              <a:t>B: How did you do it?</a:t>
            </a:r>
          </a:p>
          <a:p>
            <a:r>
              <a:t>A: I used a template that pulls the data in automatically.</a:t>
            </a:r>
          </a:p>
          <a:p>
            <a:r>
              <a:t>B: Does it affect accuracy?</a:t>
            </a:r>
          </a:p>
          <a:p>
            <a:r>
              <a:t>A: No, I check the totals. It just removes repetitive work.</a:t>
            </a:r>
          </a:p>
          <a:p>
            <a:r>
              <a:t>B: That’s a smart shortcut. Can you show me?</a:t>
            </a:r>
          </a:p>
          <a:p>
            <a:r>
              <a:t>A: Sure. It takes ten minutes.</a:t>
            </a:r>
          </a:p>
          <a:p>
            <a:r>
              <a:t>B: Thanks. That would save me a lot of time.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 | </a:t>
            </a:r>
          </a:p>
          <a:p>
            <a:r>
              <a:t>Situation | You share a smart shortcut.</a:t>
            </a:r>
          </a:p>
          <a:p>
            <a:r>
              <a:t>Your role (A) | Sharer. Tip: ______________</a:t>
            </a:r>
          </a:p>
          <a:p>
            <a:r>
              <a:t>Partner’s role (B) | Colleague.</a:t>
            </a:r>
          </a:p>
          <a:p>
            <a:r>
              <a:t>Must use (3 or more) | automate · template · accuracy · repetitive · smart shortcut</a:t>
            </a:r>
          </a:p>
          <a:p>
            <a:r>
              <a:t>Goal | Explain the shortcut, its benefit and how you keep quality.</a:t>
            </a:r>
          </a:p>
          <a:p>
            <a:r>
              <a:t>My notes | ____________________________________________</a:t>
            </a:r>
          </a:p>
          <a:p>
            <a:r>
              <a:t>Mention a risk.</a:t>
            </a:r>
          </a:p>
          <a:p>
            <a:r>
              <a:t>Offer a mini training.</a:t>
            </a:r>
          </a:p>
          <a:p>
            <a:r>
              <a:t>Discuss tools.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Declining a risky shortcut 拒绝危险捷径</a:t>
            </a:r>
          </a:p>
          <a:p>
            <a:r>
              <a:t>情景：A teammate suggests skipping a check.</a:t>
            </a:r>
          </a:p>
          <a:p>
            <a:r>
              <a:t>Role A: Teammate Role B: You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We’re short on time. Let’s skip the final check.</a:t>
            </a:r>
          </a:p>
          <a:p>
            <a:r>
              <a:t>B: I’d rather not. If there’s an error, it’ll come back to bite us.</a:t>
            </a:r>
          </a:p>
          <a:p>
            <a:r>
              <a:t>A: But the deadline is tomorrow.</a:t>
            </a:r>
          </a:p>
          <a:p>
            <a:r>
              <a:t>B: How about checking only the key figures? That would take twenty minutes.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That’s a fair compromise.</a:t>
            </a:r>
          </a:p>
          <a:p>
            <a:r>
              <a:t>B: I’ll start now and you review the summary.</a:t>
            </a:r>
          </a:p>
          <a:p>
            <a:r>
              <a:t>A: OK. Thanks for being careful.</a:t>
            </a:r>
          </a:p>
          <a:p>
            <a:r>
              <a:t>B: No problem. Better to be safe.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 | </a:t>
            </a:r>
          </a:p>
          <a:p>
            <a:r>
              <a:t>Situation | You decline a risky shortcut.</a:t>
            </a:r>
          </a:p>
          <a:p>
            <a:r>
              <a:t>Your role (A) | Teammate. Shortcut: ______________</a:t>
            </a:r>
          </a:p>
          <a:p>
            <a:r>
              <a:t>Partner’s role (B) | You.</a:t>
            </a:r>
          </a:p>
          <a:p>
            <a:r>
              <a:t>Must use (3 or more) | skip · come back to bite us · How about…? · key figures · compromise</a:t>
            </a:r>
          </a:p>
          <a:p>
            <a:r>
              <a:t>Goal | Refuse politely and offer a quicker safe alternative.</a:t>
            </a:r>
          </a:p>
          <a:p>
            <a:r>
              <a:t>My notes | ____________________________________________</a:t>
            </a:r>
          </a:p>
          <a:p>
            <a:r>
              <a:t>Explain the risk with an example.</a:t>
            </a:r>
          </a:p>
          <a:p>
            <a:r>
              <a:t>Suggest asking the manager.</a:t>
            </a:r>
          </a:p>
          <a:p>
            <a:r>
              <a:t>Agree a plan.</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is the best time-saving tip you know? | “My favourite is…”</a:t>
            </a:r>
          </a:p>
          <a:p>
            <a:r>
              <a:t>2. When is it OK to take a shortcut? | “When it doesn’t affect…”</a:t>
            </a:r>
          </a:p>
          <a:p>
            <a:r>
              <a:t>3. Can automation replace careful checking? | “Not completely, because…”</a:t>
            </a:r>
          </a:p>
          <a:p>
            <a:r>
              <a:t>4. Why do people cut corners? | “Usually because of…”</a:t>
            </a:r>
          </a:p>
          <a:p>
            <a:r>
              <a:t>5. How do you balance speed and quality? | “I try to…”</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“Automation can reduce mistakes in repetitive tasks, but it can’t replace human judgement. A tool can add numbers, but it can’t tell if a number looks wrong. So I automate simple steps and keep a human check for the final result. That gives me speed without losing control.”</a:t>
            </a:r>
          </a:p>
          <a:p>
            <a:r>
              <a:t>“human judgement” 人的判断;“losing control” 失去掌控。</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Giving advice on how to do things 说明方法</a:t>
            </a:r>
          </a:p>
          <a:p>
            <a:r>
              <a:t>Structure | Example</a:t>
            </a:r>
          </a:p>
          <a:p>
            <a:r>
              <a:t>The best way to… is to… | The best way to save time is to use templates.</a:t>
            </a:r>
          </a:p>
          <a:p>
            <a:r>
              <a:t>It’s better to + base | It’s better to check twice.</a:t>
            </a:r>
          </a:p>
          <a:p>
            <a:r>
              <a:t>Instead of + -ing | Instead of typing, use a shortcut.</a:t>
            </a:r>
          </a:p>
          <a:p>
            <a:r>
              <a:t>By + -ing | By automating the report, I saved hours.</a:t>
            </a:r>
          </a:p>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Giving advice on how to do things 说明方法</a:t>
            </a:r>
          </a:p>
          <a:p>
            <a:r>
              <a:t>By + -ing explains the method; in order to + base explains the purpose.</a:t>
            </a:r>
          </a:p>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save time by use shortcuts.  →  ✓ I save time by using shortcuts.  (by + -ing)</a:t>
            </a:r>
          </a:p>
          <a:p>
            <a:r>
              <a:t>✗ It’s quick for do.  →  ✓ It’s quick to do.  (to + 原形)</a:t>
            </a:r>
          </a:p>
          <a:p>
            <a:r>
              <a:t>✗ I did a shortcut.  →  ✓ I took a shortcut.  (take)</a:t>
            </a:r>
          </a:p>
          <a:p>
            <a:r>
              <a:t>Mistake Watch: Check by + -ing, take a shortcut, cut corners, gerund subjects.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cut the corners.  →  ✓ We cut corners.  (无冠词)</a:t>
            </a:r>
          </a:p>
          <a:p>
            <a:r>
              <a:t>✗ Skip the step is dangerous.  →  ✓ Skipping the step is dangerous.  (动名词主语)</a:t>
            </a:r>
          </a:p>
          <a:p>
            <a:r>
              <a:t>✗ The tool is helpful to save time.  →  ✓ The tool helps (us) save time.  (动词)</a:t>
            </a:r>
          </a:p>
          <a:p>
            <a:r>
              <a:t>Mistake Watch: Check by + -ing, take a shortcut, cut corners, gerund subjects.</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Share tips freely. Colleagues usually appreciate shared tools.</a:t>
            </a:r>
          </a:p>
          <a:p>
            <a:r>
              <a:t>Check security rules. Don’t use unapproved tools with company data.</a:t>
            </a:r>
          </a:p>
          <a:p>
            <a:r>
              <a:t>Quality counts. In many industries, cutting corners has legal consequences.</a:t>
            </a:r>
          </a:p>
          <a:p>
            <a:r>
              <a:t>Be honest. If you automate, tell the team how it works.</a:t>
            </a:r>
          </a:p>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distinguish smart and risky shortcuts.</a:t>
            </a:r>
          </a:p>
          <a:p>
            <a:r>
              <a:t>I can explain a time-saving method with by + -ing.</a:t>
            </a:r>
          </a:p>
          <a:p>
            <a:r>
              <a:t>I can refuse a risky shortcut politely.</a:t>
            </a:r>
          </a:p>
          <a:p>
            <a:r>
              <a:t>I use take a shortcut, cut corners and by + -ing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Teach a colleague a shortcut in 60 seconds.</a:t>
            </a:r>
          </a:p>
          <a:p>
            <a:r>
              <a:t>8–10 | Listen to your recording. Check: by + -ing, take a shortcut, cut corners.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“自助结账” in English? → self-checkout</a:t>
            </a:r>
          </a:p>
          <a:p>
            <a:r>
              <a:t>“即将出现” in English? → on the horizon</a:t>
            </a:r>
          </a:p>
          <a:p>
            <a:r>
              <a:t>“偷工减料” in English? → cut corners</a:t>
            </a:r>
          </a:p>
          <a:p>
            <a:r>
              <a:t>Fix it: There are a growing demand. → There is growing demand.</a:t>
            </a:r>
          </a:p>
          <a:p>
            <a:r>
              <a:t>Fix it: The tool is helpful to save time. → The tool helps (us) save time.</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31.xml"/><Relationship Id="rId5" Type="http://schemas.openxmlformats.org/officeDocument/2006/relationships/slide" Target="slide5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3.xml"/><Relationship Id="rId4" Type="http://schemas.openxmlformats.org/officeDocument/2006/relationships/slide" Target="slide84.xml"/><Relationship Id="rId5" Type="http://schemas.openxmlformats.org/officeDocument/2006/relationships/slide" Target="slide85.xml"/><Relationship Id="rId6" Type="http://schemas.openxmlformats.org/officeDocument/2006/relationships/slide" Target="slide86.xml"/><Relationship Id="rId7" Type="http://schemas.openxmlformats.org/officeDocument/2006/relationships/slide" Target="slide87.xml"/><Relationship Id="rId8" Type="http://schemas.openxmlformats.org/officeDocument/2006/relationships/slide" Target="slide88.xml"/><Relationship Id="rId9" Type="http://schemas.openxmlformats.org/officeDocument/2006/relationships/slide" Target="slide89.xml"/><Relationship Id="rId10" Type="http://schemas.openxmlformats.org/officeDocument/2006/relationships/slide" Target="slide90.xml"/><Relationship Id="rId11" Type="http://schemas.openxmlformats.org/officeDocument/2006/relationships/slide" Target="slide91.xml"/><Relationship Id="rId12" Type="http://schemas.openxmlformats.org/officeDocument/2006/relationships/slide" Target="slide9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15</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7–8 · UNIT 15</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6000" b="1">
                <a:solidFill>
                  <a:srgbClr val="FFFFFF"/>
                </a:solidFill>
                <a:latin typeface="Arial"/>
                <a:ea typeface="Microsoft YaHei"/>
              </a:rPr>
              <a:t>Industry Trends</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527048"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3 Lessons</a:t>
            </a:r>
          </a:p>
        </p:txBody>
      </p:sp>
      <p:sp>
        <p:nvSpPr>
          <p:cNvPr id="12" name="Rounded Rectangle 11"/>
          <p:cNvSpPr/>
          <p:nvPr/>
        </p:nvSpPr>
        <p:spPr>
          <a:xfrm>
            <a:off x="4270248"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L76 The future of retail shopping · L77 Vegan economy · L78 Shortcuts</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5166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76</a:t>
            </a:r>
          </a:p>
        </p:txBody>
      </p:sp>
      <p:sp>
        <p:nvSpPr>
          <p:cNvPr id="9" name="TextBox 8"/>
          <p:cNvSpPr txBox="1"/>
          <p:nvPr/>
        </p:nvSpPr>
        <p:spPr>
          <a:xfrm>
            <a:off x="1645920"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The future of retail shopping</a:t>
            </a:r>
          </a:p>
          <a:p>
            <a:pPr algn="l">
              <a:lnSpc>
                <a:spcPct val="100000"/>
              </a:lnSpc>
              <a:spcAft>
                <a:spcPts val="800"/>
              </a:spcAft>
            </a:pPr>
            <a:r>
              <a:rPr sz="1400" b="0">
                <a:solidFill>
                  <a:srgbClr val="5F677A"/>
                </a:solidFill>
                <a:latin typeface="Arial"/>
                <a:ea typeface="Microsoft YaHei"/>
              </a:rPr>
              <a:t>零售购物的未来</a:t>
            </a:r>
          </a:p>
        </p:txBody>
      </p:sp>
      <p:sp>
        <p:nvSpPr>
          <p:cNvPr id="10" name="Rounded Rectangle 9">
            <a:hlinkClick action="ppaction://hlinksldjump" r:id="rId4"/>
          </p:cNvPr>
          <p:cNvSpPr/>
          <p:nvPr/>
        </p:nvSpPr>
        <p:spPr>
          <a:xfrm>
            <a:off x="4307738" y="155448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7466" y="185166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77</a:t>
            </a:r>
          </a:p>
        </p:txBody>
      </p:sp>
      <p:sp>
        <p:nvSpPr>
          <p:cNvPr id="12" name="TextBox 11"/>
          <p:cNvSpPr txBox="1"/>
          <p:nvPr/>
        </p:nvSpPr>
        <p:spPr>
          <a:xfrm>
            <a:off x="5405018"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Vegan economy</a:t>
            </a:r>
          </a:p>
          <a:p>
            <a:pPr algn="l">
              <a:lnSpc>
                <a:spcPct val="100000"/>
              </a:lnSpc>
              <a:spcAft>
                <a:spcPts val="800"/>
              </a:spcAft>
            </a:pPr>
            <a:r>
              <a:rPr sz="1400" b="0">
                <a:solidFill>
                  <a:srgbClr val="5F677A"/>
                </a:solidFill>
                <a:latin typeface="Arial"/>
                <a:ea typeface="Microsoft YaHei"/>
              </a:rPr>
              <a:t>纯素经济</a:t>
            </a:r>
          </a:p>
        </p:txBody>
      </p:sp>
      <p:sp>
        <p:nvSpPr>
          <p:cNvPr id="13" name="Rounded Rectangle 12">
            <a:hlinkClick action="ppaction://hlinksldjump" r:id="rId5"/>
          </p:cNvPr>
          <p:cNvSpPr/>
          <p:nvPr/>
        </p:nvSpPr>
        <p:spPr>
          <a:xfrm>
            <a:off x="8066836" y="1554480"/>
            <a:ext cx="3576218"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76564" y="1851660"/>
            <a:ext cx="8686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78</a:t>
            </a:r>
          </a:p>
        </p:txBody>
      </p:sp>
      <p:sp>
        <p:nvSpPr>
          <p:cNvPr id="15" name="TextBox 14"/>
          <p:cNvSpPr txBox="1"/>
          <p:nvPr/>
        </p:nvSpPr>
        <p:spPr>
          <a:xfrm>
            <a:off x="9164116"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Shortcuts</a:t>
            </a:r>
          </a:p>
          <a:p>
            <a:pPr algn="l">
              <a:lnSpc>
                <a:spcPct val="100000"/>
              </a:lnSpc>
              <a:spcAft>
                <a:spcPts val="800"/>
              </a:spcAft>
            </a:pPr>
            <a:r>
              <a:rPr sz="1400" b="0">
                <a:solidFill>
                  <a:srgbClr val="5F677A"/>
                </a:solidFill>
                <a:latin typeface="Arial"/>
                <a:ea typeface="Microsoft YaHei"/>
              </a:rPr>
              <a:t>捷径</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15 · Lesson 76 The future of retail shopping</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76</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100" b="1">
                <a:solidFill>
                  <a:srgbClr val="FFFFFF"/>
                </a:solidFill>
                <a:latin typeface="Arial"/>
                <a:ea typeface="Microsoft YaHei"/>
              </a:rPr>
              <a:t>The future of retail shopping</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零售购物的未来</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how shopping is changing (online, in-store, omnichannel) and make predictions with suitable future language.</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76 The future of retail shopping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prefer shopping online or in a shop?</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was the last thing you bought online?</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 physical shops offer that websites cannot?</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use self-checkouts or delivery apps?</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will shopping look like in ten years?</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“retail” 零售;“brick-and-mortar” 实体店。第 5 题用 will 做预测。</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76 The future of retail shopping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Predict how shopping will change in the next ten years.</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now</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trend</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prediction</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effect on shops and customers</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These days, …   💬 There’s a clear shift towards…   💬 I expect… to…   💬 As a result, shops will probably…</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“shift towards” 转向;“I expect X to + 动词原形”。</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Shops that adapt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127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76 The future of retail shopping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Online shopping has grown steadily for two decades, yet physical shops have not disappeared. Instead, the best retailers are blending the two in what is called “omnichannel” retail. A customer might browse on a phone, check stock in a nearby shop, try something on, and have it delivered home. Stores are changing role: they are becoming showrooms, collection points and places for experiences rather than simple warehouses. Technology supports this through mobile payments, self-checkouts and personalised offers based on past purchases. At the same time, customers expect fast delivery and easy returns, which puts pressure on costs. Analysts expect shops to survive where they offer something screens cannot: advice, atmosphere and trust. Those that merely sell goods at the same price as websites are likely to struggle.</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76 The future of retail shopping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is omnichannel retail?</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Blending online and physical shopping into one experience.</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new roles do stores have?</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Showrooms, collection points and experience spaces.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Which shops are likely to struggle?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Those that merely sell goods at the same price as websites.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Retail trends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76 The future of retail shopping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零售趋势</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brick-and-mortar</a:t>
            </a:r>
          </a:p>
          <a:p>
            <a:pPr algn="l">
              <a:lnSpc>
                <a:spcPct val="115000"/>
              </a:lnSpc>
              <a:spcAft>
                <a:spcPts val="800"/>
              </a:spcAft>
            </a:pPr>
            <a:r>
              <a:rPr sz="1300" b="0">
                <a:solidFill>
                  <a:srgbClr val="5F677A"/>
                </a:solidFill>
                <a:latin typeface="Arial"/>
                <a:ea typeface="Microsoft YaHei"/>
              </a:rPr>
              <a:t>adjective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实体的</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“Brick-and-mortar shops are changing.”</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omnichannel</a:t>
            </a:r>
          </a:p>
          <a:p>
            <a:pPr algn="l">
              <a:lnSpc>
                <a:spcPct val="115000"/>
              </a:lnSpc>
              <a:spcAft>
                <a:spcPts val="800"/>
              </a:spcAft>
            </a:pPr>
            <a:r>
              <a:rPr sz="1300" b="0">
                <a:solidFill>
                  <a:srgbClr val="5F677A"/>
                </a:solidFill>
                <a:latin typeface="Arial"/>
                <a:ea typeface="Microsoft YaHei"/>
              </a:rPr>
              <a:t>adjective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全渠道的</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offer an omnichannel experience.”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click and collect</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线上下单店内自提</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“Click and collect is popular.”</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 high street</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(英)商业街</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high street is struggling.”</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showrooming</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店内看货线上买</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“Showrooming hurts shops.”</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Technology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76 The future of retail shopping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技术</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contactless payment</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非接触支付</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“Contactless payment is quick.”</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self-checkout</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自助结账</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“Most shops have self-checkouts.”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personalised offers</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个性化优惠</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send personalised offers.”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frictionless</a:t>
            </a:r>
          </a:p>
          <a:p>
            <a:pPr algn="l">
              <a:lnSpc>
                <a:spcPct val="115000"/>
              </a:lnSpc>
              <a:spcAft>
                <a:spcPts val="800"/>
              </a:spcAft>
            </a:pPr>
            <a:r>
              <a:rPr sz="1300" b="0">
                <a:solidFill>
                  <a:srgbClr val="5F677A"/>
                </a:solidFill>
                <a:latin typeface="Arial"/>
                <a:ea typeface="Microsoft YaHei"/>
              </a:rPr>
              <a:t>adjective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无摩擦的</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frictionless experience.”</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augmented reality (AR)</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增强现实</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“AR lets you try furniture at home.”</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Predictions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76 The future of retail shopping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预测</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be expected to</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预计会</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“Sales are expected to rise.”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be likely to</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很可能</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“Prices are likely to fall.”</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be set to</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即将</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chain is set to open fifty shops.”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on the horizon</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即将出现</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“Changes are on the horizon.”</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go the way of</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步…后尘而消失</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“Some shops will go the way of video rental.”</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76 The future of retail shopping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店内看货线上买</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showrooming</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增强现实</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augmented reality (AR)</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实体的</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brick-and-mortar</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(英)商业街</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 high street</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预计会</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 expected to</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全渠道的</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omnichannel</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线上下单店内自提</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click and collect</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即将</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 set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76 The future of retail shopping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212140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brick-and-mortar</a:t>
            </a:r>
          </a:p>
        </p:txBody>
      </p:sp>
      <p:sp>
        <p:nvSpPr>
          <p:cNvPr id="10" name="Rounded Rectangle 9"/>
          <p:cNvSpPr/>
          <p:nvPr/>
        </p:nvSpPr>
        <p:spPr>
          <a:xfrm>
            <a:off x="4224528" y="987552"/>
            <a:ext cx="1572767"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omnichannel</a:t>
            </a:r>
          </a:p>
        </p:txBody>
      </p:sp>
      <p:sp>
        <p:nvSpPr>
          <p:cNvPr id="11" name="Rounded Rectangle 10"/>
          <p:cNvSpPr/>
          <p:nvPr/>
        </p:nvSpPr>
        <p:spPr>
          <a:xfrm>
            <a:off x="5888735"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collect</a:t>
            </a:r>
          </a:p>
        </p:txBody>
      </p:sp>
      <p:sp>
        <p:nvSpPr>
          <p:cNvPr id="12" name="Rounded Rectangle 11"/>
          <p:cNvSpPr/>
          <p:nvPr/>
        </p:nvSpPr>
        <p:spPr>
          <a:xfrm>
            <a:off x="7114031" y="987552"/>
            <a:ext cx="1572767"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contactless</a:t>
            </a:r>
          </a:p>
        </p:txBody>
      </p:sp>
      <p:sp>
        <p:nvSpPr>
          <p:cNvPr id="13" name="Rounded Rectangle 12"/>
          <p:cNvSpPr/>
          <p:nvPr/>
        </p:nvSpPr>
        <p:spPr>
          <a:xfrm>
            <a:off x="8778238" y="987552"/>
            <a:ext cx="124358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expected</a:t>
            </a:r>
          </a:p>
        </p:txBody>
      </p:sp>
      <p:sp>
        <p:nvSpPr>
          <p:cNvPr id="14" name="Rounded Rectangle 13"/>
          <p:cNvSpPr/>
          <p:nvPr/>
        </p:nvSpPr>
        <p:spPr>
          <a:xfrm>
            <a:off x="10113262"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likely</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_______ shops are changing their role.</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Brick-and-mortar</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We offer an _______ experience.</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omnichannel</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Click and _______ is popular with busy shoppers.</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collect</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_______ payment is quick and safe.</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Contactless</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Online sales are _______ to rise by 10 per cent.</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expected</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Some shops are _______ to struggle.</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likely</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(拼写与搭配) shop(英)/ store(美);high street 英式;be expected TO rise。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Role Play · Comparing online and in-store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76 The future of retail shopping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比较线上线下</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Colleagues discuss habits.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Colleague 1</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Colleague 2</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Comparing online and in-store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76 The future of retail shopping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 you still shop in stores?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For clothes, yes. I like to try things on. For everything else, I order online.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use click and collect. It’s the best of both.</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 you think shops will survive?</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Comparing online and in-store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76 The future of retail shopping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good ones will. They’re becoming places for experiences, not just selling.</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agree. The high street is changing, but it won’t disappear.</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Prices matter too, though.</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True. Shops that can’t compete on service are likely to struggle.</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Your Turn · Comparing online and in-store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76 The future of retail shopping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compare shopping habits.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Product type: ______________</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click and collect · try things on · experiences · likely to struggle · compete on service</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Share habits and make one prediction.</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delivery speed.</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sustainability.</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Disagree politely.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Advising a shop owner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76 The future of retail shopping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给店主建议</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consultant helps a small retailer.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Shop owner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Consultant</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Model Dialogue · Advising a shop owner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76 The future of retail shopping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Sales in my shop are falling. People look, then buy online.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showrooming. What do you offer that a website can’t?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Advice, I suppose. And I know my customers.</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Build on that. Offer personal recommendations and an easy click-and-collect service.</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Advising a shop owner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76 The future of retail shopping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Will that bring people in?</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likely to. Also create a simple website so customers can check stock.</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sounds manageable.</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Start small and measure results after three months.</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Advising a shop owner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76 The future of retail shopping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advise a retailer.</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Shop owner. Shop: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Consultant.</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showrooming · build on that · click and collect · likely to · measure results</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Diagnose the problem and recommend three steps.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a loyalty scheme.</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Discuss costs.</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Predict results.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76 The future of retail shopping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Will physical shops disappear?</a:t>
            </a:r>
          </a:p>
          <a:p>
            <a:pPr algn="l">
              <a:lnSpc>
                <a:spcPct val="115000"/>
              </a:lnSpc>
              <a:spcAft>
                <a:spcPts val="800"/>
              </a:spcAft>
            </a:pPr>
            <a:r>
              <a:rPr sz="1400" b="0">
                <a:solidFill>
                  <a:srgbClr val="5F677A"/>
                </a:solidFill>
                <a:latin typeface="Arial"/>
                <a:ea typeface="Microsoft YaHei"/>
              </a:rPr>
              <a:t>💬 “I don’t think so,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makes you choose a shop over a website?</a:t>
            </a:r>
          </a:p>
          <a:p>
            <a:pPr algn="l">
              <a:lnSpc>
                <a:spcPct val="115000"/>
              </a:lnSpc>
              <a:spcAft>
                <a:spcPts val="800"/>
              </a:spcAft>
            </a:pPr>
            <a:r>
              <a:rPr sz="1400" b="0">
                <a:solidFill>
                  <a:srgbClr val="5F677A"/>
                </a:solidFill>
                <a:latin typeface="Arial"/>
                <a:ea typeface="Microsoft YaHei"/>
              </a:rPr>
              <a:t>💬 “Usually it’s…”</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self-checkout a good idea?</a:t>
            </a:r>
          </a:p>
          <a:p>
            <a:pPr algn="l">
              <a:lnSpc>
                <a:spcPct val="115000"/>
              </a:lnSpc>
              <a:spcAft>
                <a:spcPts val="800"/>
              </a:spcAft>
            </a:pPr>
            <a:r>
              <a:rPr sz="1400" b="0">
                <a:solidFill>
                  <a:srgbClr val="5F677A"/>
                </a:solidFill>
                <a:latin typeface="Arial"/>
                <a:ea typeface="Microsoft YaHei"/>
              </a:rPr>
              <a:t>💬 “It’s convenient, but…”</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will AI change retail?</a:t>
            </a:r>
          </a:p>
          <a:p>
            <a:pPr algn="l">
              <a:lnSpc>
                <a:spcPct val="115000"/>
              </a:lnSpc>
              <a:spcAft>
                <a:spcPts val="800"/>
              </a:spcAft>
            </a:pPr>
            <a:r>
              <a:rPr sz="1400" b="0">
                <a:solidFill>
                  <a:srgbClr val="5F677A"/>
                </a:solidFill>
                <a:latin typeface="Arial"/>
                <a:ea typeface="Microsoft YaHei"/>
              </a:rPr>
              <a:t>💬 “It will probably…”</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your shopping habit?</a:t>
            </a:r>
          </a:p>
          <a:p>
            <a:pPr algn="l">
              <a:lnSpc>
                <a:spcPct val="115000"/>
              </a:lnSpc>
              <a:spcAft>
                <a:spcPts val="800"/>
              </a:spcAft>
            </a:pPr>
            <a:r>
              <a:rPr sz="1400" b="0">
                <a:solidFill>
                  <a:srgbClr val="5F677A"/>
                </a:solidFill>
                <a:latin typeface="Arial"/>
                <a:ea typeface="Microsoft YaHei"/>
              </a:rPr>
              <a:t>💬 “I tend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76 The future of retail shopping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don’t think they will disappear, but they will change. People still value touching products, getting advice and having a social experience. Shops that offer these things, and also connect with online services, will probably survive. The ones that only sell products at the same price as websites will find it hard.</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“find it hard” 觉得困难;“connect with” 与…衔接。</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Predictions and likelihood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76 The future of retail shopping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预测与可能性</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will + base (prediction)</a:t>
                      </a:r>
                    </a:p>
                  </a:txBody>
                  <a:tcPr anchor="ctr">
                    <a:solidFill>
                      <a:srgbClr val="FFFFFF"/>
                    </a:solidFill>
                  </a:tcPr>
                </a:tc>
                <a:tc>
                  <a:txBody>
                    <a:bodyPr wrap="square"/>
                    <a:lstStyle/>
                    <a:p>
                      <a:r>
                        <a:rPr sz="1600" b="0">
                          <a:solidFill>
                            <a:srgbClr val="1F2A44"/>
                          </a:solidFill>
                          <a:latin typeface="Arial"/>
                          <a:ea typeface="Microsoft YaHei"/>
                        </a:rPr>
                        <a:t>Shops will change.</a:t>
                      </a:r>
                    </a:p>
                  </a:txBody>
                  <a:tcPr anchor="ctr">
                    <a:solidFill>
                      <a:srgbClr val="FFFFFF"/>
                    </a:solidFill>
                  </a:tcPr>
                </a:tc>
              </a:tr>
              <a:tr h="408432">
                <a:tc>
                  <a:txBody>
                    <a:bodyPr wrap="square"/>
                    <a:lstStyle/>
                    <a:p>
                      <a:r>
                        <a:rPr sz="1600" b="1">
                          <a:solidFill>
                            <a:srgbClr val="1F2A44"/>
                          </a:solidFill>
                          <a:latin typeface="Arial"/>
                          <a:ea typeface="Microsoft YaHei"/>
                        </a:rPr>
                        <a:t>be likely/unlikely to</a:t>
                      </a:r>
                    </a:p>
                  </a:txBody>
                  <a:tcPr anchor="ctr">
                    <a:solidFill>
                      <a:srgbClr val="FFEFD9"/>
                    </a:solidFill>
                  </a:tcPr>
                </a:tc>
                <a:tc>
                  <a:txBody>
                    <a:bodyPr wrap="square"/>
                    <a:lstStyle/>
                    <a:p>
                      <a:r>
                        <a:rPr sz="1600" b="0">
                          <a:solidFill>
                            <a:srgbClr val="1F2A44"/>
                          </a:solidFill>
                          <a:latin typeface="Arial"/>
                          <a:ea typeface="Microsoft YaHei"/>
                        </a:rPr>
                        <a:t>Prices are likely to fall.</a:t>
                      </a:r>
                    </a:p>
                  </a:txBody>
                  <a:tcPr anchor="ctr">
                    <a:solidFill>
                      <a:srgbClr val="FFEFD9"/>
                    </a:solidFill>
                  </a:tcPr>
                </a:tc>
              </a:tr>
              <a:tr h="408432">
                <a:tc>
                  <a:txBody>
                    <a:bodyPr wrap="square"/>
                    <a:lstStyle/>
                    <a:p>
                      <a:r>
                        <a:rPr sz="1600" b="1">
                          <a:solidFill>
                            <a:srgbClr val="1F2A44"/>
                          </a:solidFill>
                          <a:latin typeface="Arial"/>
                          <a:ea typeface="Microsoft YaHei"/>
                        </a:rPr>
                        <a:t>be expected to / set to</a:t>
                      </a:r>
                    </a:p>
                  </a:txBody>
                  <a:tcPr anchor="ctr">
                    <a:solidFill>
                      <a:srgbClr val="FFFFFF"/>
                    </a:solidFill>
                  </a:tcPr>
                </a:tc>
                <a:tc>
                  <a:txBody>
                    <a:bodyPr wrap="square"/>
                    <a:lstStyle/>
                    <a:p>
                      <a:r>
                        <a:rPr sz="1600" b="0">
                          <a:solidFill>
                            <a:srgbClr val="1F2A44"/>
                          </a:solidFill>
                          <a:latin typeface="Arial"/>
                          <a:ea typeface="Microsoft YaHei"/>
                        </a:rPr>
                        <a:t>Sales are expected to rise.</a:t>
                      </a:r>
                    </a:p>
                  </a:txBody>
                  <a:tcPr anchor="ctr">
                    <a:solidFill>
                      <a:srgbClr val="FFFFFF"/>
                    </a:solidFill>
                  </a:tcPr>
                </a:tc>
              </a:tr>
              <a:tr h="408432">
                <a:tc>
                  <a:txBody>
                    <a:bodyPr wrap="square"/>
                    <a:lstStyle/>
                    <a:p>
                      <a:r>
                        <a:rPr sz="1600" b="1">
                          <a:solidFill>
                            <a:srgbClr val="1F2A44"/>
                          </a:solidFill>
                          <a:latin typeface="Arial"/>
                          <a:ea typeface="Microsoft YaHei"/>
                        </a:rPr>
                        <a:t>may/might/could</a:t>
                      </a:r>
                    </a:p>
                  </a:txBody>
                  <a:tcPr anchor="ctr">
                    <a:solidFill>
                      <a:srgbClr val="FFEFD9"/>
                    </a:solidFill>
                  </a:tcPr>
                </a:tc>
                <a:tc>
                  <a:txBody>
                    <a:bodyPr wrap="square"/>
                    <a:lstStyle/>
                    <a:p>
                      <a:r>
                        <a:rPr sz="1600" b="0">
                          <a:solidFill>
                            <a:srgbClr val="1F2A44"/>
                          </a:solidFill>
                          <a:latin typeface="Arial"/>
                          <a:ea typeface="Microsoft YaHei"/>
                        </a:rPr>
                        <a:t>Some shops might close.</a:t>
                      </a:r>
                    </a:p>
                  </a:txBody>
                  <a:tcPr anchor="ctr">
                    <a:solidFill>
                      <a:srgbClr val="FFEFD9"/>
                    </a:solidFill>
                  </a:tcPr>
                </a:tc>
              </a:tr>
            </a:tbl>
          </a:graphicData>
        </a:graphic>
      </p:graphicFrame>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Predictions and likelihood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76 The future of retail shopping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预测与可能性</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Probably goes after will and before won’t: </a:t>
            </a:r>
            <a:r>
              <a:rPr sz="1700" b="0">
                <a:solidFill>
                  <a:srgbClr val="1F2A44"/>
                </a:solidFill>
                <a:latin typeface="Arial"/>
                <a:ea typeface="Microsoft YaHei"/>
              </a:rPr>
              <a:t>will probably, probably won’t.</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76 The future of retail shopping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Shops will to change.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Shops will change.</a:t>
            </a:r>
          </a:p>
          <a:p>
            <a:pPr algn="l">
              <a:spcAft>
                <a:spcPts val="200"/>
              </a:spcAft>
            </a:pPr>
            <a:r>
              <a:rPr sz="1200" b="0">
                <a:solidFill>
                  <a:srgbClr val="FFFFFF"/>
                </a:solidFill>
                <a:latin typeface="Arial"/>
                <a:ea typeface="Microsoft YaHei"/>
              </a:rPr>
              <a:t>will + 原形</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think shops won’t be disappear.</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don’t think shops will disappear.</a:t>
            </a:r>
          </a:p>
          <a:p>
            <a:pPr algn="l">
              <a:spcAft>
                <a:spcPts val="200"/>
              </a:spcAft>
            </a:pPr>
            <a:r>
              <a:rPr sz="1200" b="0">
                <a:solidFill>
                  <a:srgbClr val="FFFFFF"/>
                </a:solidFill>
                <a:latin typeface="Arial"/>
                <a:ea typeface="Microsoft YaHei"/>
              </a:rPr>
              <a:t>否定前置</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Online sales are expect to rise.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Online sales are expected to rise.</a:t>
            </a:r>
          </a:p>
          <a:p>
            <a:pPr algn="l">
              <a:spcAft>
                <a:spcPts val="200"/>
              </a:spcAft>
            </a:pPr>
            <a:r>
              <a:rPr sz="1200" b="0">
                <a:solidFill>
                  <a:srgbClr val="FFFFFF"/>
                </a:solidFill>
                <a:latin typeface="Arial"/>
                <a:ea typeface="Microsoft YaHei"/>
              </a:rPr>
              <a:t>被动</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76 The future of retail shopping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will probably not go.</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probably won’t go.</a:t>
            </a:r>
          </a:p>
          <a:p>
            <a:pPr algn="l">
              <a:spcAft>
                <a:spcPts val="200"/>
              </a:spcAft>
            </a:pPr>
            <a:r>
              <a:rPr sz="1200" b="0">
                <a:solidFill>
                  <a:srgbClr val="FFFFFF"/>
                </a:solidFill>
                <a:latin typeface="Arial"/>
                <a:ea typeface="Microsoft YaHei"/>
              </a:rPr>
              <a:t>语序</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In the future, people buy online.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In the future, people will buy online.</a:t>
            </a:r>
          </a:p>
          <a:p>
            <a:pPr algn="l">
              <a:spcAft>
                <a:spcPts val="200"/>
              </a:spcAft>
            </a:pPr>
            <a:r>
              <a:rPr sz="1200" b="0">
                <a:solidFill>
                  <a:srgbClr val="FFFFFF"/>
                </a:solidFill>
                <a:latin typeface="Arial"/>
                <a:ea typeface="Microsoft YaHei"/>
              </a:rPr>
              <a:t>将来</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buy at a shop of clothes.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buy at a clothes shop.</a:t>
            </a:r>
          </a:p>
          <a:p>
            <a:pPr algn="l">
              <a:spcAft>
                <a:spcPts val="200"/>
              </a:spcAft>
            </a:pPr>
            <a:r>
              <a:rPr sz="1200" b="0">
                <a:solidFill>
                  <a:srgbClr val="FFFFFF"/>
                </a:solidFill>
                <a:latin typeface="Arial"/>
                <a:ea typeface="Microsoft YaHei"/>
              </a:rPr>
              <a:t>名词修饰</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will + base, I don’t think… will, be expected to, probably position.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76 The future of retail shopping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Shopping vocabulary differs. UK: </a:t>
            </a:r>
            <a:r>
              <a:rPr sz="1700" b="0">
                <a:solidFill>
                  <a:srgbClr val="1F2A44"/>
                </a:solidFill>
                <a:latin typeface="Arial"/>
                <a:ea typeface="Microsoft YaHei"/>
              </a:rPr>
              <a:t>shop, trolley, high street. US: store, cart, downtown.</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Returns are normal. Retailers expect returns; ask about policies.</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Small talk in shops. “Can I help you?” – “I’m just looking, thanks” is polite.</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Local vs global. Support-local campaigns are common.</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76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76 The future of retail shopping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retail trends with the right vocabulary.</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make predictions with be likely to / be expected to.</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give advice to a retailer.</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I don’t think… will and probably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76 The future of retail shopping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Predict the future of shopping in 5 sentences.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will + base, don’t think will, probably.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15 · Lesson 77 Vegan economy</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31</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77</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Vegan economy</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纯素经济</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the growth of plant-based food and products, consumer motives, and business opportunities in a balanced way.</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77 Vegan economy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know anyone who is vegan or vegetarian?</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tried plant-based meat or milk?</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do people choose plant-based diets?</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it expensive to eat plant-based?</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think companies should offer more vegan options?</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“vegan” 纯素;“plant-based” 植物性。谈饮食观念要尊重不同选择,避免评判。</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77 Vegan economy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why the plant-based market is growing and what challenges it faces.</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trend</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reasons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opportunities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challenges</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There’s growing demand for…   💬 People choose… because…   💬 This creates opportunities for…   💬 However, …</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“growing demand for” 对…的需求增长;“create opportunities for”。</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Beyond the salad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130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77 Vegan economy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Plant-based food has moved from a niche to a mainstream market in many countries. Supermarkets stock oat milk and meat alternatives, restaurants add vegan dishes, and fashion brands offer leather-free products. People choose these options for different reasons: health, animal welfare, environmental concerns or simple curiosity. Companies see opportunities in new products, partnerships with farms and growing interest from younger consumers. But challenges remain. Some products cost more than traditional ones, and taste and texture still matter greatly. Critics also question whether highly processed alternatives are always healthier. Investors, meanwhile, have learned that early excitement can fade if products fail to win repeat customers. In the long term, analysts suggest that the market will continue to grow, but only for companies that combine good flavour, fair prices and honest marketing.</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77 Vegan economy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do people choose plant-based products?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Health, animal welfare, environmental concerns, curiosity.</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challenges does the market face?</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Higher prices, taste and texture, doubts about processing, loss of early excitement.</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must successful companies combine?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Good flavour, fair prices and honest marketing.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The market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77 Vegan economy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市场</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plant-based</a:t>
            </a:r>
          </a:p>
          <a:p>
            <a:pPr algn="l">
              <a:lnSpc>
                <a:spcPct val="115000"/>
              </a:lnSpc>
              <a:spcAft>
                <a:spcPts val="800"/>
              </a:spcAft>
            </a:pPr>
            <a:r>
              <a:rPr sz="1300" b="0">
                <a:solidFill>
                  <a:srgbClr val="5F677A"/>
                </a:solidFill>
                <a:latin typeface="Arial"/>
                <a:ea typeface="Microsoft YaHei"/>
              </a:rPr>
              <a:t>adjective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植物性的</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launched a plant-based burger.”</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vegan / vegetarian</a:t>
            </a:r>
          </a:p>
          <a:p>
            <a:pPr algn="l">
              <a:lnSpc>
                <a:spcPct val="115000"/>
              </a:lnSpc>
              <a:spcAft>
                <a:spcPts val="800"/>
              </a:spcAft>
            </a:pPr>
            <a:r>
              <a:rPr sz="1300" b="0">
                <a:solidFill>
                  <a:srgbClr val="5F677A"/>
                </a:solidFill>
                <a:latin typeface="Arial"/>
                <a:ea typeface="Microsoft YaHei"/>
              </a:rPr>
              <a:t>adjective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纯素/素食</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is vegan.”</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meat alternative</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肉类替代品</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“Meat alternatives are popular.”</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flexitarian</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弹性素食者</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“Many consumers are flexitarians.”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mainstream</a:t>
            </a:r>
          </a:p>
          <a:p>
            <a:pPr algn="l">
              <a:lnSpc>
                <a:spcPct val="115000"/>
              </a:lnSpc>
              <a:spcAft>
                <a:spcPts val="800"/>
              </a:spcAft>
            </a:pPr>
            <a:r>
              <a:rPr sz="1300" b="0">
                <a:solidFill>
                  <a:srgbClr val="5F677A"/>
                </a:solidFill>
                <a:latin typeface="Arial"/>
                <a:ea typeface="Microsoft YaHei"/>
              </a:rPr>
              <a:t>adjective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主流的</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“Vegan food has gone mainstream.”</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Business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77 Vegan economy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商业</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growing demand</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增长的需求</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“There’s growing demand for oat milk.”</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consumer trend</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消费趋势</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a major consumer trend.”</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supply chain</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供应链</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work with local farms in our supply chain.”</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tap into</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开发利用</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“Brands are tapping into the trend.”</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crowded space</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拥挤的领域</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become a crowded space.”</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Motives and concerns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77 Vegan economy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动机与顾虑</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animal welfare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动物福利</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“Animal welfare matters to many.”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carbon footprint</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碳足迹</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“Plant-based diets can reduce your carbon footprint.”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ultra-processed</a:t>
            </a:r>
          </a:p>
          <a:p>
            <a:pPr algn="l">
              <a:lnSpc>
                <a:spcPct val="115000"/>
              </a:lnSpc>
              <a:spcAft>
                <a:spcPts val="800"/>
              </a:spcAft>
            </a:pPr>
            <a:r>
              <a:rPr sz="1300" b="0">
                <a:solidFill>
                  <a:srgbClr val="5F677A"/>
                </a:solidFill>
                <a:latin typeface="Arial"/>
                <a:ea typeface="Microsoft YaHei"/>
              </a:rPr>
              <a:t>adjective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超加工的</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“Some alternatives are ultra-processed.”</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greenwash</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漂绿</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“Don’t greenwash your products.”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fad</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一时风尚</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“Is it a fad or a lasting trend?”</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77 Vegan economy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弹性素食者</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flexitarian</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肉类替代品</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meat alternative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碳足迹</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carbon footprint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供应链</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supply chain</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主流的</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mainstream</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消费趋势</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consumer trend</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拥挤的领域</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crowded space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纯素/素食</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vegan / vegetarian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77 Vegan economy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572767"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plant-based</a:t>
            </a:r>
          </a:p>
        </p:txBody>
      </p:sp>
      <p:sp>
        <p:nvSpPr>
          <p:cNvPr id="10" name="Rounded Rectangle 9"/>
          <p:cNvSpPr/>
          <p:nvPr/>
        </p:nvSpPr>
        <p:spPr>
          <a:xfrm>
            <a:off x="3675887" y="987552"/>
            <a:ext cx="91440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vegan</a:t>
            </a:r>
          </a:p>
        </p:txBody>
      </p:sp>
      <p:sp>
        <p:nvSpPr>
          <p:cNvPr id="11" name="Rounded Rectangle 10"/>
          <p:cNvSpPr/>
          <p:nvPr/>
        </p:nvSpPr>
        <p:spPr>
          <a:xfrm>
            <a:off x="4681727" y="987552"/>
            <a:ext cx="1024128"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demand</a:t>
            </a:r>
          </a:p>
        </p:txBody>
      </p:sp>
      <p:sp>
        <p:nvSpPr>
          <p:cNvPr id="12" name="Rounded Rectangle 11"/>
          <p:cNvSpPr/>
          <p:nvPr/>
        </p:nvSpPr>
        <p:spPr>
          <a:xfrm>
            <a:off x="5797295" y="987552"/>
            <a:ext cx="1024128"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supply</a:t>
            </a:r>
          </a:p>
        </p:txBody>
      </p:sp>
      <p:sp>
        <p:nvSpPr>
          <p:cNvPr id="13" name="Rounded Rectangle 12"/>
          <p:cNvSpPr/>
          <p:nvPr/>
        </p:nvSpPr>
        <p:spPr>
          <a:xfrm>
            <a:off x="6912863" y="987552"/>
            <a:ext cx="135331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footprint</a:t>
            </a:r>
          </a:p>
        </p:txBody>
      </p:sp>
      <p:sp>
        <p:nvSpPr>
          <p:cNvPr id="14" name="Rounded Rectangle 13"/>
          <p:cNvSpPr/>
          <p:nvPr/>
        </p:nvSpPr>
        <p:spPr>
          <a:xfrm>
            <a:off x="8357615" y="987552"/>
            <a:ext cx="69494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fad</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We launched a _______ burger last year.</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plant-based</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She is _______ and avoids all animal products.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vegan</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There is growing _______ for oat milk.</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demand</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We improved our _______ chain.</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supply</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Plant-based diets can reduce your carbon _______.</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footprint</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Critics say it’s just a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fad</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growing demand FOR,tap into a trend,reduce your carbon footprint;vegan 读 /ˈviːɡən/。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Role Play · Discussing a new product line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77 Vegan economy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讨论新产品线</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team considers plant-based options.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Marketing lead</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Discussing a new product line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77 Vegan economy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There’s growing demand for plant-based snacks. Should we launch a range?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think so. Younger customers especially are asking for them.</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are the risks?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a crowded space, and taste is critical. If it isn’t good, people won’t buy again.</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a new product line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77 Vegan economy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can we stand out?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flavour, fair prices and local ingredients.</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Let’s test three products in ten stores.</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prepare a plan for next week.</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Your Turn · Discussing a new product line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77 Vegan economy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discuss a new product.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Product: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Marketing lead.</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growing demand · crowded space · stand out · fair prices · test</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Discuss opportunity, risk and a test plan.</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Discuss pricing.</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labelling honesty.</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Plan feedback collection.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Role Play · Talking about diets respectfully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77 Vegan economy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尊重地谈饮食</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lunch conversation.</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Colleague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You</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Talking about diets respectfully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77 Vegan economy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I’ve become flexitarian. I eat less meat but not none.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made you change?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Mainly the environment. It reduces my carbon footprint.</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Is it difficult?</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Not really. There are lots of good alternatives now.</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curious. Could you recommend a restaurant?</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Sure. There’s a great place near the office.</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Let’s go on Friday.</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Your Turn · Talking about diets respectfully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77 Vegan economy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talk about diets respectfully.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Topic: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flexitarian · what made you change · carbon footprint · I’m curious · recommend</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Ask open questions without judging.</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Avoid persuading.</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Share a personal habit.</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a team lunch with options.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77 Vegan economy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is the plant-based market growing?</a:t>
            </a:r>
          </a:p>
          <a:p>
            <a:pPr algn="l">
              <a:lnSpc>
                <a:spcPct val="115000"/>
              </a:lnSpc>
              <a:spcAft>
                <a:spcPts val="800"/>
              </a:spcAft>
            </a:pPr>
            <a:r>
              <a:rPr sz="1400" b="0">
                <a:solidFill>
                  <a:srgbClr val="5F677A"/>
                </a:solidFill>
                <a:latin typeface="Arial"/>
                <a:ea typeface="Microsoft YaHei"/>
              </a:rPr>
              <a:t>💬 “Probably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Are plant-based products really healthier?</a:t>
            </a:r>
          </a:p>
          <a:p>
            <a:pPr algn="l">
              <a:lnSpc>
                <a:spcPct val="115000"/>
              </a:lnSpc>
              <a:spcAft>
                <a:spcPts val="800"/>
              </a:spcAft>
            </a:pPr>
            <a:r>
              <a:rPr sz="1400" b="0">
                <a:solidFill>
                  <a:srgbClr val="5F677A"/>
                </a:solidFill>
                <a:latin typeface="Arial"/>
                <a:ea typeface="Microsoft YaHei"/>
              </a:rPr>
              <a:t>💬 “Not always, since…”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governments support plant-based farming?</a:t>
            </a:r>
          </a:p>
          <a:p>
            <a:pPr algn="l">
              <a:lnSpc>
                <a:spcPct val="115000"/>
              </a:lnSpc>
              <a:spcAft>
                <a:spcPts val="800"/>
              </a:spcAft>
            </a:pPr>
            <a:r>
              <a:rPr sz="1400" b="0">
                <a:solidFill>
                  <a:srgbClr val="5F677A"/>
                </a:solidFill>
                <a:latin typeface="Arial"/>
                <a:ea typeface="Microsoft YaHei"/>
              </a:rPr>
              <a:t>💬 “I think… because…”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Will meat be replaced?</a:t>
            </a:r>
          </a:p>
          <a:p>
            <a:pPr algn="l">
              <a:lnSpc>
                <a:spcPct val="115000"/>
              </a:lnSpc>
              <a:spcAft>
                <a:spcPts val="800"/>
              </a:spcAft>
            </a:pPr>
            <a:r>
              <a:rPr sz="1400" b="0">
                <a:solidFill>
                  <a:srgbClr val="5F677A"/>
                </a:solidFill>
                <a:latin typeface="Arial"/>
                <a:ea typeface="Microsoft YaHei"/>
              </a:rPr>
              <a:t>💬 “Partly, but…”</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restaurants cater to all diets?</a:t>
            </a:r>
          </a:p>
          <a:p>
            <a:pPr algn="l">
              <a:lnSpc>
                <a:spcPct val="115000"/>
              </a:lnSpc>
              <a:spcAft>
                <a:spcPts val="800"/>
              </a:spcAft>
            </a:pPr>
            <a:r>
              <a:rPr sz="1400" b="0">
                <a:solidFill>
                  <a:srgbClr val="5F677A"/>
                </a:solidFill>
                <a:latin typeface="Arial"/>
                <a:ea typeface="Microsoft YaHei"/>
              </a:rPr>
              <a:t>💬 “By offering…”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77 Vegan economy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Not always. Some plant-based products are high in salt, fat or additives, so they may not be healthier than simple foods. A diet with whole grains, vegetables and beans is usually good, but heavily processed products need careful reading of labels. So it depends on the product, not just on the label”vegan”.</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“additives” 添加剂;“it depends on…” 视情况而定。</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Describing trends and change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77 Vegan economy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描述趋势与变化</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There’s growing demand for…</a:t>
                      </a:r>
                    </a:p>
                  </a:txBody>
                  <a:tcPr anchor="ctr">
                    <a:solidFill>
                      <a:srgbClr val="FFFFFF"/>
                    </a:solidFill>
                  </a:tcPr>
                </a:tc>
                <a:tc>
                  <a:txBody>
                    <a:bodyPr wrap="square"/>
                    <a:lstStyle/>
                    <a:p>
                      <a:r>
                        <a:rPr sz="1600" b="0">
                          <a:solidFill>
                            <a:srgbClr val="1F2A44"/>
                          </a:solidFill>
                          <a:latin typeface="Arial"/>
                          <a:ea typeface="Microsoft YaHei"/>
                        </a:rPr>
                        <a:t>There’s growing demand for oat milk.</a:t>
                      </a:r>
                    </a:p>
                  </a:txBody>
                  <a:tcPr anchor="ctr">
                    <a:solidFill>
                      <a:srgbClr val="FFFFFF"/>
                    </a:solidFill>
                  </a:tcPr>
                </a:tc>
              </a:tr>
              <a:tr h="408432">
                <a:tc>
                  <a:txBody>
                    <a:bodyPr wrap="square"/>
                    <a:lstStyle/>
                    <a:p>
                      <a:r>
                        <a:rPr sz="1600" b="1">
                          <a:solidFill>
                            <a:srgbClr val="1F2A44"/>
                          </a:solidFill>
                          <a:latin typeface="Arial"/>
                          <a:ea typeface="Microsoft YaHei"/>
                        </a:rPr>
                        <a:t>more and more</a:t>
                      </a:r>
                    </a:p>
                  </a:txBody>
                  <a:tcPr anchor="ctr">
                    <a:solidFill>
                      <a:srgbClr val="FFEFD9"/>
                    </a:solidFill>
                  </a:tcPr>
                </a:tc>
                <a:tc>
                  <a:txBody>
                    <a:bodyPr wrap="square"/>
                    <a:lstStyle/>
                    <a:p>
                      <a:r>
                        <a:rPr sz="1600" b="0">
                          <a:solidFill>
                            <a:srgbClr val="1F2A44"/>
                          </a:solidFill>
                          <a:latin typeface="Arial"/>
                          <a:ea typeface="Microsoft YaHei"/>
                        </a:rPr>
                        <a:t>More and more people eat plant-based food.</a:t>
                      </a:r>
                    </a:p>
                  </a:txBody>
                  <a:tcPr anchor="ctr">
                    <a:solidFill>
                      <a:srgbClr val="FFEFD9"/>
                    </a:solidFill>
                  </a:tcPr>
                </a:tc>
              </a:tr>
              <a:tr h="408432">
                <a:tc>
                  <a:txBody>
                    <a:bodyPr wrap="square"/>
                    <a:lstStyle/>
                    <a:p>
                      <a:r>
                        <a:rPr sz="1600" b="1">
                          <a:solidFill>
                            <a:srgbClr val="1F2A44"/>
                          </a:solidFill>
                          <a:latin typeface="Arial"/>
                          <a:ea typeface="Microsoft YaHei"/>
                        </a:rPr>
                        <a:t>has/have become</a:t>
                      </a:r>
                    </a:p>
                  </a:txBody>
                  <a:tcPr anchor="ctr">
                    <a:solidFill>
                      <a:srgbClr val="FFFFFF"/>
                    </a:solidFill>
                  </a:tcPr>
                </a:tc>
                <a:tc>
                  <a:txBody>
                    <a:bodyPr wrap="square"/>
                    <a:lstStyle/>
                    <a:p>
                      <a:r>
                        <a:rPr sz="1600" b="0">
                          <a:solidFill>
                            <a:srgbClr val="1F2A44"/>
                          </a:solidFill>
                          <a:latin typeface="Arial"/>
                          <a:ea typeface="Microsoft YaHei"/>
                        </a:rPr>
                        <a:t>Vegan food has become mainstream.</a:t>
                      </a:r>
                    </a:p>
                  </a:txBody>
                  <a:tcPr anchor="ctr">
                    <a:solidFill>
                      <a:srgbClr val="FFFFFF"/>
                    </a:solidFill>
                  </a:tcPr>
                </a:tc>
              </a:tr>
              <a:tr h="408432">
                <a:tc>
                  <a:txBody>
                    <a:bodyPr wrap="square"/>
                    <a:lstStyle/>
                    <a:p>
                      <a:r>
                        <a:rPr sz="1600" b="1">
                          <a:solidFill>
                            <a:srgbClr val="1F2A44"/>
                          </a:solidFill>
                          <a:latin typeface="Arial"/>
                          <a:ea typeface="Microsoft YaHei"/>
                        </a:rPr>
                        <a:t>is on the rise</a:t>
                      </a:r>
                    </a:p>
                  </a:txBody>
                  <a:tcPr anchor="ctr">
                    <a:solidFill>
                      <a:srgbClr val="FFEFD9"/>
                    </a:solidFill>
                  </a:tcPr>
                </a:tc>
                <a:tc>
                  <a:txBody>
                    <a:bodyPr wrap="square"/>
                    <a:lstStyle/>
                    <a:p>
                      <a:r>
                        <a:rPr sz="1600" b="0">
                          <a:solidFill>
                            <a:srgbClr val="1F2A44"/>
                          </a:solidFill>
                          <a:latin typeface="Arial"/>
                          <a:ea typeface="Microsoft YaHei"/>
                        </a:rPr>
                        <a:t>Interest is on the rise.</a:t>
                      </a:r>
                    </a:p>
                  </a:txBody>
                  <a:tcPr anchor="ctr">
                    <a:solidFill>
                      <a:srgbClr val="FFEFD9"/>
                    </a:solidFill>
                  </a:tcPr>
                </a:tc>
              </a:tr>
            </a:tbl>
          </a:graphicData>
        </a:graphic>
      </p:graphicFrame>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Describing trends and change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77 Vegan economy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描述趋势与变化</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Use present perfect for change up to now: </a:t>
            </a:r>
            <a:r>
              <a:rPr sz="1700" b="0">
                <a:solidFill>
                  <a:srgbClr val="1F2A44"/>
                </a:solidFill>
                <a:latin typeface="Arial"/>
                <a:ea typeface="Microsoft YaHei"/>
              </a:rPr>
              <a:t>Sales have risen sharply.</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77 Vegan economy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Vegan is growing.</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vegan market is growing.</a:t>
            </a:r>
          </a:p>
          <a:p>
            <a:pPr algn="l">
              <a:spcAft>
                <a:spcPts val="200"/>
              </a:spcAft>
            </a:pPr>
            <a:r>
              <a:rPr sz="1200" b="0">
                <a:solidFill>
                  <a:srgbClr val="FFFFFF"/>
                </a:solidFill>
                <a:latin typeface="Arial"/>
                <a:ea typeface="Microsoft YaHei"/>
              </a:rPr>
              <a:t>名词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There are a growing demand.</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There is growing demand.</a:t>
            </a:r>
          </a:p>
          <a:p>
            <a:pPr algn="l">
              <a:spcAft>
                <a:spcPts val="200"/>
              </a:spcAft>
            </a:pPr>
            <a:r>
              <a:rPr sz="1200" b="0">
                <a:solidFill>
                  <a:srgbClr val="FFFFFF"/>
                </a:solidFill>
                <a:latin typeface="Arial"/>
                <a:ea typeface="Microsoft YaHei"/>
              </a:rPr>
              <a:t>demand 不可数</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Many peoples are vegetarian.</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Many people are vegetarian.</a:t>
            </a:r>
          </a:p>
          <a:p>
            <a:pPr algn="l">
              <a:spcAft>
                <a:spcPts val="200"/>
              </a:spcAft>
            </a:pPr>
            <a:r>
              <a:rPr sz="1200" b="0">
                <a:solidFill>
                  <a:srgbClr val="FFFFFF"/>
                </a:solidFill>
                <a:latin typeface="Arial"/>
                <a:ea typeface="Microsoft YaHei"/>
              </a:rPr>
              <a:t>people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77 Vegan economy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eating no meat.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don’t eat meat.</a:t>
            </a:r>
          </a:p>
          <a:p>
            <a:pPr algn="l">
              <a:spcAft>
                <a:spcPts val="200"/>
              </a:spcAft>
            </a:pPr>
            <a:r>
              <a:rPr sz="1200" b="0">
                <a:solidFill>
                  <a:srgbClr val="FFFFFF"/>
                </a:solidFill>
                <a:latin typeface="Arial"/>
                <a:ea typeface="Microsoft YaHei"/>
              </a:rPr>
              <a:t>习惯</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meat alternative is became popular.</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Meat alternatives have become popular.</a:t>
            </a:r>
          </a:p>
          <a:p>
            <a:pPr algn="l">
              <a:spcAft>
                <a:spcPts val="200"/>
              </a:spcAft>
            </a:pPr>
            <a:r>
              <a:rPr sz="1200" b="0">
                <a:solidFill>
                  <a:srgbClr val="FFFFFF"/>
                </a:solidFill>
                <a:latin typeface="Arial"/>
                <a:ea typeface="Microsoft YaHei"/>
              </a:rPr>
              <a:t>完成时</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It’s good for the environments.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It’s good for the environment.</a:t>
            </a:r>
          </a:p>
          <a:p>
            <a:pPr algn="l">
              <a:spcAft>
                <a:spcPts val="200"/>
              </a:spcAft>
            </a:pPr>
            <a:r>
              <a:rPr sz="1200" b="0">
                <a:solidFill>
                  <a:srgbClr val="FFFFFF"/>
                </a:solidFill>
                <a:latin typeface="Arial"/>
                <a:ea typeface="Microsoft YaHei"/>
              </a:rPr>
              <a:t>单数</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uncountable demand, people, present perfect for change.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77 Vegan economy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Ask before assuming. At events, ask about dietary needs: “Any dietary requirements?”</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Respect choices. Don’t comment on what others eat.</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Labels vary. Check allergens and local rules.</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Sustainability claims must be honest to avoid “greenwashing”.</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77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77 Vegan economy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the plant-based market and trends.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diets respectfully.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talk about opportunities and risks.</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demand (uncountable) and present perfect for change.</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77 Vegan economy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Describe a food trend and its pros and cons in 90 seconds.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demand uncountable, people, present perfect.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15 · Lesson 78 Shortcuts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57</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78</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Shortcuts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捷径</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smart shortcuts versus risky ones at work, and give advice on saving time without cutting quality.</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78 Shortcuts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8307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use shortcuts at work, like keyboard shortcuts or templates?</a:t>
            </a:r>
          </a:p>
        </p:txBody>
      </p:sp>
      <p:sp>
        <p:nvSpPr>
          <p:cNvPr id="12" name="Oval 11"/>
          <p:cNvSpPr/>
          <p:nvPr/>
        </p:nvSpPr>
        <p:spPr>
          <a:xfrm>
            <a:off x="548640" y="267004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62432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62432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is the quickest way you’ve found to do a routine task?</a:t>
            </a:r>
          </a:p>
        </p:txBody>
      </p:sp>
      <p:sp>
        <p:nvSpPr>
          <p:cNvPr id="15" name="Oval 14"/>
          <p:cNvSpPr/>
          <p:nvPr/>
        </p:nvSpPr>
        <p:spPr>
          <a:xfrm>
            <a:off x="548640" y="337413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2841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2841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When is a shortcut a bad idea?</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regretted taking a shortcut?</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“work smarter, not harder” good advice?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“shortcut” 既指”近路/快捷方式”,也指”走捷径(省略步骤)“。本课区分”聪明的捷径”和”危险的捷径”。</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78 Shortcuts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when a shortcut is smart and when it is risky.</a:t>
            </a:r>
          </a:p>
        </p:txBody>
      </p:sp>
      <p:sp>
        <p:nvSpPr>
          <p:cNvPr id="10" name="Rounded Rectangle 9"/>
          <p:cNvSpPr/>
          <p:nvPr/>
        </p:nvSpPr>
        <p:spPr>
          <a:xfrm>
            <a:off x="548640" y="3017520"/>
            <a:ext cx="326136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smart examples</a:t>
            </a:r>
          </a:p>
        </p:txBody>
      </p:sp>
      <p:sp>
        <p:nvSpPr>
          <p:cNvPr id="11" name="Rounded Rectangle 10"/>
          <p:cNvSpPr/>
          <p:nvPr/>
        </p:nvSpPr>
        <p:spPr>
          <a:xfrm>
            <a:off x="3947160" y="3017520"/>
            <a:ext cx="326136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risky examples</a:t>
            </a:r>
          </a:p>
        </p:txBody>
      </p:sp>
      <p:sp>
        <p:nvSpPr>
          <p:cNvPr id="12" name="Rounded Rectangle 11"/>
          <p:cNvSpPr/>
          <p:nvPr/>
        </p:nvSpPr>
        <p:spPr>
          <a:xfrm>
            <a:off x="7345680" y="3017520"/>
            <a:ext cx="326136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how to tell the difference</a:t>
            </a:r>
          </a:p>
        </p:txBody>
      </p:sp>
      <p:sp>
        <p:nvSpPr>
          <p:cNvPr id="13" name="TextBox 12"/>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4" name="TextBox 13"/>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A good shortcut is one that…   💬 The risk is that…   💬 Before taking a shortcut, ask…   💬 In the long run, …</a:t>
            </a:r>
          </a:p>
        </p:txBody>
      </p:sp>
      <p:sp>
        <p:nvSpPr>
          <p:cNvPr id="15" name="Rounded Rectangle 14"/>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 good shortcut is one that…” 定语从句下定义。</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Smart or risky?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127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78 Shortcuts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Everyone loves a shortcut. Keyboard shortcuts, templates and automatic reports can save hours every week, and they free time for more valuable work. Such shortcuts remove repetition without changing the quality of the result. Other shortcuts are more dangerous: skipping a safety check, copying figures without verifying them, or avoiding a difficult conversation. These save time today but often create bigger problems tomorrow. A useful test is to ask three questions. Does the shortcut preserve quality? Does it keep people safe and the work honest? Would I be comfortable explaining it to my manager or a client? If the answer to any is no, it is probably a shortcut to trouble. Finally, remember that some learning cannot be rushed. Skills built the slow way usually last longer.</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78 Shortcuts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Give an example of a smart shortcut.</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Keyboard shortcuts, templates, automatic reports.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Give an example of a risky shortcut.</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Skipping a safety check, copying figures without checking, avoiding a difficult conversation.</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are the three test questions about?</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Quality, safety/honesty, and whether you could explain it to a manager or client.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Shortcuts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78 Shortcuts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捷径</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shortcut</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捷径</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“Learn keyboard shortcuts.”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template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模板</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“Use a template to save time.”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automate</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自动化</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automated the weekly report.”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streamline</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精简流程</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streamline the process.”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life hack</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生活窍门</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“Here’s a useful work hack.”</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Risky shortcuts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78 Shortcuts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危险捷径</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cut corners</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偷工减料</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“Don’t cut corners on safety.”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skip a step</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跳过步骤</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“Never skip the checking step.”</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rush a job</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仓促做事</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rushed the job.”</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quick fix</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权宜之计</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“That’s a quick fix, not a solution.”</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come back to bite you</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日后自食其果</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“Skipping tests will come back to bite you.”</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Working smart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78 Shortcuts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聪明工作</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work smarter, not harder</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巧干而非苦干</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“Work smarter, not harder.”</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save time</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节省时间</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“This tool saves time.”</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efficiency</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效率</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“Efficiency improved.”</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 80/20 rule</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二八法则</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“Apply the 80/20 rule.”</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low-hanging fruit</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容易达成的目标</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“Start with the low-hanging fruit.”</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78 Shortcuts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跳过步骤</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skip a step</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仓促做事</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rush a job</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偷工减料</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cut corners</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二八法则</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 80/20 rule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容易达成的目标</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low-hanging fruit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捷径</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shortcut</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节省时间</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save time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模板</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template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78 Shortcuts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shortcuts</a:t>
            </a:r>
          </a:p>
        </p:txBody>
      </p:sp>
      <p:sp>
        <p:nvSpPr>
          <p:cNvPr id="10" name="Rounded Rectangle 9"/>
          <p:cNvSpPr/>
          <p:nvPr/>
        </p:nvSpPr>
        <p:spPr>
          <a:xfrm>
            <a:off x="3456432" y="987552"/>
            <a:ext cx="124358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template</a:t>
            </a:r>
          </a:p>
        </p:txBody>
      </p:sp>
      <p:sp>
        <p:nvSpPr>
          <p:cNvPr id="11" name="Rounded Rectangle 10"/>
          <p:cNvSpPr/>
          <p:nvPr/>
        </p:nvSpPr>
        <p:spPr>
          <a:xfrm>
            <a:off x="4791456" y="987552"/>
            <a:ext cx="124358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automate</a:t>
            </a:r>
          </a:p>
        </p:txBody>
      </p:sp>
      <p:sp>
        <p:nvSpPr>
          <p:cNvPr id="12" name="Rounded Rectangle 11"/>
          <p:cNvSpPr/>
          <p:nvPr/>
        </p:nvSpPr>
        <p:spPr>
          <a:xfrm>
            <a:off x="6126480" y="987552"/>
            <a:ext cx="1133856"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corners</a:t>
            </a:r>
          </a:p>
        </p:txBody>
      </p:sp>
      <p:sp>
        <p:nvSpPr>
          <p:cNvPr id="13" name="Rounded Rectangle 12"/>
          <p:cNvSpPr/>
          <p:nvPr/>
        </p:nvSpPr>
        <p:spPr>
          <a:xfrm>
            <a:off x="7351776" y="987552"/>
            <a:ext cx="80467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skip</a:t>
            </a:r>
          </a:p>
        </p:txBody>
      </p:sp>
      <p:sp>
        <p:nvSpPr>
          <p:cNvPr id="14" name="Rounded Rectangle 13"/>
          <p:cNvSpPr/>
          <p:nvPr/>
        </p:nvSpPr>
        <p:spPr>
          <a:xfrm>
            <a:off x="8247888" y="987552"/>
            <a:ext cx="146304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efficiency</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I learned some keyboard _______.</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shortcuts</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Use a _______ to save time.</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template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We decided to _______ the weekly report.</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automate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Never cut _______ on safety.</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corners</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Don’t _______ the checking step.</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skip</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The new tool improved our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efficiency</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take a shortcut,cut corners,skip a step;shortcut 一词。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Sharing a time-saving tip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78 Shortcuts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分享省时技巧</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Colleagues swap ideas.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Colleague 1</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Colleague 2</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Sharing a time-saving tip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78 Shortcuts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saved hours this week by automating the weekly report.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did you do it?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used a template that pulls the data in automatically.</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Does it affect accuracy?</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I check the totals. It just removes repetitive work.</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smart shortcut. Can you show me?</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Sure. It takes ten minutes.</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That would save me a lot of time.</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Sharing a time-saving tip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78 Shortcuts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share a smart shortcut.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Sharer. Tip: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automate · template · accuracy · repetitive · smart shortcut</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the shortcut, its benefit and how you keep quality.</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a risk.</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Offer a mini training.</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Discuss tools.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Role Play · Declining a risky shortcut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78 Shortcuts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拒绝危险捷径</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teammate suggests skipping a check.</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Teammate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You</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Declining a risky shortcut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78 Shortcuts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We’re short on time. Let’s skip the final check.</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rather not. If there’s an error, it’ll come back to bite us.</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But the deadline is tomorrow.</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about checking only the key figures? That would take twenty minutes.</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Declining a risky shortcut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78 Shortcuts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fair compromise.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start now and you review the summary.</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 Thanks for being careful.</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problem. Better to be safe.</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Your Turn · Declining a risky shortcut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78 Shortcuts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decline a risky shortcut.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Teammate. Shortcut: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skip · come back to bite us · How about…? · key figures · compromise</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Refuse politely and offer a quicker safe alternative.</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the risk with an example.</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asking the manager.</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Agree a plan.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78 Shortcuts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best time-saving tip you know?</a:t>
            </a:r>
          </a:p>
          <a:p>
            <a:pPr algn="l">
              <a:lnSpc>
                <a:spcPct val="115000"/>
              </a:lnSpc>
              <a:spcAft>
                <a:spcPts val="800"/>
              </a:spcAft>
            </a:pPr>
            <a:r>
              <a:rPr sz="1400" b="0">
                <a:solidFill>
                  <a:srgbClr val="5F677A"/>
                </a:solidFill>
                <a:latin typeface="Arial"/>
                <a:ea typeface="Microsoft YaHei"/>
              </a:rPr>
              <a:t>💬 “My favourite is…”</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When is it OK to take a shortcut?</a:t>
            </a:r>
          </a:p>
          <a:p>
            <a:pPr algn="l">
              <a:lnSpc>
                <a:spcPct val="115000"/>
              </a:lnSpc>
              <a:spcAft>
                <a:spcPts val="800"/>
              </a:spcAft>
            </a:pPr>
            <a:r>
              <a:rPr sz="1400" b="0">
                <a:solidFill>
                  <a:srgbClr val="5F677A"/>
                </a:solidFill>
                <a:latin typeface="Arial"/>
                <a:ea typeface="Microsoft YaHei"/>
              </a:rPr>
              <a:t>💬 “When it doesn’t affect…”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Can automation replace careful checking?</a:t>
            </a:r>
          </a:p>
          <a:p>
            <a:pPr algn="l">
              <a:lnSpc>
                <a:spcPct val="115000"/>
              </a:lnSpc>
              <a:spcAft>
                <a:spcPts val="800"/>
              </a:spcAft>
            </a:pPr>
            <a:r>
              <a:rPr sz="1400" b="0">
                <a:solidFill>
                  <a:srgbClr val="5F677A"/>
                </a:solidFill>
                <a:latin typeface="Arial"/>
                <a:ea typeface="Microsoft YaHei"/>
              </a:rPr>
              <a:t>💬 “Not completely, because…”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do people cut corners?</a:t>
            </a:r>
          </a:p>
          <a:p>
            <a:pPr algn="l">
              <a:lnSpc>
                <a:spcPct val="115000"/>
              </a:lnSpc>
              <a:spcAft>
                <a:spcPts val="800"/>
              </a:spcAft>
            </a:pPr>
            <a:r>
              <a:rPr sz="1400" b="0">
                <a:solidFill>
                  <a:srgbClr val="5F677A"/>
                </a:solidFill>
                <a:latin typeface="Arial"/>
                <a:ea typeface="Microsoft YaHei"/>
              </a:rPr>
              <a:t>💬 “Usually because of…”</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balance speed and quality?</a:t>
            </a:r>
          </a:p>
          <a:p>
            <a:pPr algn="l">
              <a:lnSpc>
                <a:spcPct val="115000"/>
              </a:lnSpc>
              <a:spcAft>
                <a:spcPts val="800"/>
              </a:spcAft>
            </a:pPr>
            <a:r>
              <a:rPr sz="1400" b="0">
                <a:solidFill>
                  <a:srgbClr val="5F677A"/>
                </a:solidFill>
                <a:latin typeface="Arial"/>
                <a:ea typeface="Microsoft YaHei"/>
              </a:rPr>
              <a:t>💬 “I try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78 Shortcuts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Automation can reduce mistakes in repetitive tasks, but it can’t replace human judgement. A tool can add numbers, but it can’t tell if a number looks wrong. So I automate simple steps and keep a human check for the final result. That gives me speed without losing control.</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“human judgement” 人的判断;“losing control” 失去掌控。</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Giving advice on how to do things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78 Shortcuts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说明方法</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The best way to… is to…</a:t>
                      </a:r>
                    </a:p>
                  </a:txBody>
                  <a:tcPr anchor="ctr">
                    <a:solidFill>
                      <a:srgbClr val="FFFFFF"/>
                    </a:solidFill>
                  </a:tcPr>
                </a:tc>
                <a:tc>
                  <a:txBody>
                    <a:bodyPr wrap="square"/>
                    <a:lstStyle/>
                    <a:p>
                      <a:r>
                        <a:rPr sz="1600" b="0">
                          <a:solidFill>
                            <a:srgbClr val="1F2A44"/>
                          </a:solidFill>
                          <a:latin typeface="Arial"/>
                          <a:ea typeface="Microsoft YaHei"/>
                        </a:rPr>
                        <a:t>The best way to save time is to use templates.</a:t>
                      </a:r>
                    </a:p>
                  </a:txBody>
                  <a:tcPr anchor="ctr">
                    <a:solidFill>
                      <a:srgbClr val="FFFFFF"/>
                    </a:solidFill>
                  </a:tcPr>
                </a:tc>
              </a:tr>
              <a:tr h="408432">
                <a:tc>
                  <a:txBody>
                    <a:bodyPr wrap="square"/>
                    <a:lstStyle/>
                    <a:p>
                      <a:r>
                        <a:rPr sz="1600" b="1">
                          <a:solidFill>
                            <a:srgbClr val="1F2A44"/>
                          </a:solidFill>
                          <a:latin typeface="Arial"/>
                          <a:ea typeface="Microsoft YaHei"/>
                        </a:rPr>
                        <a:t>It’s better to + base</a:t>
                      </a:r>
                    </a:p>
                  </a:txBody>
                  <a:tcPr anchor="ctr">
                    <a:solidFill>
                      <a:srgbClr val="FFEFD9"/>
                    </a:solidFill>
                  </a:tcPr>
                </a:tc>
                <a:tc>
                  <a:txBody>
                    <a:bodyPr wrap="square"/>
                    <a:lstStyle/>
                    <a:p>
                      <a:r>
                        <a:rPr sz="1600" b="0">
                          <a:solidFill>
                            <a:srgbClr val="1F2A44"/>
                          </a:solidFill>
                          <a:latin typeface="Arial"/>
                          <a:ea typeface="Microsoft YaHei"/>
                        </a:rPr>
                        <a:t>It’s better to check twice.</a:t>
                      </a:r>
                    </a:p>
                  </a:txBody>
                  <a:tcPr anchor="ctr">
                    <a:solidFill>
                      <a:srgbClr val="FFEFD9"/>
                    </a:solidFill>
                  </a:tcPr>
                </a:tc>
              </a:tr>
              <a:tr h="408432">
                <a:tc>
                  <a:txBody>
                    <a:bodyPr wrap="square"/>
                    <a:lstStyle/>
                    <a:p>
                      <a:r>
                        <a:rPr sz="1600" b="1">
                          <a:solidFill>
                            <a:srgbClr val="1F2A44"/>
                          </a:solidFill>
                          <a:latin typeface="Arial"/>
                          <a:ea typeface="Microsoft YaHei"/>
                        </a:rPr>
                        <a:t>Instead of + -ing</a:t>
                      </a:r>
                    </a:p>
                  </a:txBody>
                  <a:tcPr anchor="ctr">
                    <a:solidFill>
                      <a:srgbClr val="FFFFFF"/>
                    </a:solidFill>
                  </a:tcPr>
                </a:tc>
                <a:tc>
                  <a:txBody>
                    <a:bodyPr wrap="square"/>
                    <a:lstStyle/>
                    <a:p>
                      <a:r>
                        <a:rPr sz="1600" b="0">
                          <a:solidFill>
                            <a:srgbClr val="1F2A44"/>
                          </a:solidFill>
                          <a:latin typeface="Arial"/>
                          <a:ea typeface="Microsoft YaHei"/>
                        </a:rPr>
                        <a:t>Instead of typing, use a shortcut.</a:t>
                      </a:r>
                    </a:p>
                  </a:txBody>
                  <a:tcPr anchor="ctr">
                    <a:solidFill>
                      <a:srgbClr val="FFFFFF"/>
                    </a:solidFill>
                  </a:tcPr>
                </a:tc>
              </a:tr>
              <a:tr h="408432">
                <a:tc>
                  <a:txBody>
                    <a:bodyPr wrap="square"/>
                    <a:lstStyle/>
                    <a:p>
                      <a:r>
                        <a:rPr sz="1600" b="1">
                          <a:solidFill>
                            <a:srgbClr val="1F2A44"/>
                          </a:solidFill>
                          <a:latin typeface="Arial"/>
                          <a:ea typeface="Microsoft YaHei"/>
                        </a:rPr>
                        <a:t>By + -ing</a:t>
                      </a:r>
                    </a:p>
                  </a:txBody>
                  <a:tcPr anchor="ctr">
                    <a:solidFill>
                      <a:srgbClr val="FFEFD9"/>
                    </a:solidFill>
                  </a:tcPr>
                </a:tc>
                <a:tc>
                  <a:txBody>
                    <a:bodyPr wrap="square"/>
                    <a:lstStyle/>
                    <a:p>
                      <a:r>
                        <a:rPr sz="1600" b="0">
                          <a:solidFill>
                            <a:srgbClr val="1F2A44"/>
                          </a:solidFill>
                          <a:latin typeface="Arial"/>
                          <a:ea typeface="Microsoft YaHei"/>
                        </a:rPr>
                        <a:t>By automating the report, I saved hours.</a:t>
                      </a:r>
                    </a:p>
                  </a:txBody>
                  <a:tcPr anchor="ctr">
                    <a:solidFill>
                      <a:srgbClr val="FFEFD9"/>
                    </a:solidFill>
                  </a:tcPr>
                </a:tc>
              </a:tr>
            </a:tbl>
          </a:graphicData>
        </a:graphic>
      </p:graphicFrame>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Giving advice on how to do things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78 Shortcuts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说明方法</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By + -ing explains the method; in order to + base explains the purpose.</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78 Shortcuts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save time by use shortcuts.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save time by using shortcuts.</a:t>
            </a:r>
          </a:p>
          <a:p>
            <a:pPr algn="l">
              <a:spcAft>
                <a:spcPts val="200"/>
              </a:spcAft>
            </a:pPr>
            <a:r>
              <a:rPr sz="1200" b="0">
                <a:solidFill>
                  <a:srgbClr val="FFFFFF"/>
                </a:solidFill>
                <a:latin typeface="Arial"/>
                <a:ea typeface="Microsoft YaHei"/>
              </a:rPr>
              <a:t>by + -ing</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It’s quick for do.</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It’s quick to do.</a:t>
            </a:r>
          </a:p>
          <a:p>
            <a:pPr algn="l">
              <a:spcAft>
                <a:spcPts val="200"/>
              </a:spcAft>
            </a:pPr>
            <a:r>
              <a:rPr sz="1200" b="0">
                <a:solidFill>
                  <a:srgbClr val="FFFFFF"/>
                </a:solidFill>
                <a:latin typeface="Arial"/>
                <a:ea typeface="Microsoft YaHei"/>
              </a:rPr>
              <a:t>to + 原形</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did a shortcut.</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took a shortcut.</a:t>
            </a:r>
          </a:p>
          <a:p>
            <a:pPr algn="l">
              <a:spcAft>
                <a:spcPts val="200"/>
              </a:spcAft>
            </a:pPr>
            <a:r>
              <a:rPr sz="1200" b="0">
                <a:solidFill>
                  <a:srgbClr val="FFFFFF"/>
                </a:solidFill>
                <a:latin typeface="Arial"/>
                <a:ea typeface="Microsoft YaHei"/>
              </a:rPr>
              <a:t>take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78 Shortcuts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cut the corners.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cut corners.</a:t>
            </a:r>
          </a:p>
          <a:p>
            <a:pPr algn="l">
              <a:spcAft>
                <a:spcPts val="200"/>
              </a:spcAft>
            </a:pPr>
            <a:r>
              <a:rPr sz="1200" b="0">
                <a:solidFill>
                  <a:srgbClr val="FFFFFF"/>
                </a:solidFill>
                <a:latin typeface="Arial"/>
                <a:ea typeface="Microsoft YaHei"/>
              </a:rPr>
              <a:t>无冠词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Skip the step is dangerous.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Skipping the step is dangerous.</a:t>
            </a:r>
          </a:p>
          <a:p>
            <a:pPr algn="l">
              <a:spcAft>
                <a:spcPts val="200"/>
              </a:spcAft>
            </a:pPr>
            <a:r>
              <a:rPr sz="1200" b="0">
                <a:solidFill>
                  <a:srgbClr val="FFFFFF"/>
                </a:solidFill>
                <a:latin typeface="Arial"/>
                <a:ea typeface="Microsoft YaHei"/>
              </a:rPr>
              <a:t>动名词主语</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tool is helpful to save time.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tool helps (us) save time.</a:t>
            </a:r>
          </a:p>
          <a:p>
            <a:pPr algn="l">
              <a:spcAft>
                <a:spcPts val="200"/>
              </a:spcAft>
            </a:pPr>
            <a:r>
              <a:rPr sz="1200" b="0">
                <a:solidFill>
                  <a:srgbClr val="FFFFFF"/>
                </a:solidFill>
                <a:latin typeface="Arial"/>
                <a:ea typeface="Microsoft YaHei"/>
              </a:rPr>
              <a:t>动词</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by + -ing, take a shortcut, cut corners, gerund subjects.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78 Shortcuts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Share tips freely. Colleagues usually appreciate shared tools.</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Check security rules. Don’t use unapproved tools with company data.</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Quality counts. In many industries, cutting corners has legal consequences.</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Be honest. If you automate, tell the team how it works.</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78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78 Shortcuts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distinguish smart and risky shortcuts.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a time-saving method with by + -ing.</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refuse a risky shortcut politely.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take a shortcut, cut corners and by + -ing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 · Lesson 78 Shortcuts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Teach a colleague a shortcut in 60 seconds.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by + -ing, take a shortcut, cut corners.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84</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The meat alternative is became popular.</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Meat alternatives have become popular.</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85</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(英)商业街</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the high street</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86</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low-hanging fruit</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Start with the low-hanging fruit.</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87</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动物福利</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animal welfare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88</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89</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come back to bite you</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Skipping tests will come back to bite you.</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90</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91</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效率</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efficiency</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92</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“自助结账”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self-checkout</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“即将出现”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on the horizon</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“偷工减料”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cut corners</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There are a growing demand.</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There is growing demand.</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The tool is helpful to save time.</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 tool helps (us) save time.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15</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94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15</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95</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15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