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4: Communication Skills — Self-Study Workbook (Lessons 14–20)</a:t>
            </a:r>
          </a:p>
          <a:p/>
          <a:p>
            <a:r>
              <a:t>开场：简单介绍本单元的主题和要完成的 7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14 · Feedback 反馈</a:t>
            </a:r>
          </a:p>
          <a:p>
            <a:r>
              <a:t>Goal: give and receive feedback constructively: praise specifically, raise problems without blame, and respond to criticism calmly.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题讲过去的事,用过去式。“feedback” 是不可数名词:some feedback / a piece of feedback,不说 feedbacks。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piece of feedback that changed the way you work.</a:t>
            </a:r>
          </a:p>
          <a:p>
            <a:r>
              <a:t>Say: who gave it → what they said → how you felt → what you changed.</a:t>
            </a:r>
          </a:p>
          <a:p>
            <a:r>
              <a:t>Useful starters: “My manager once told me that…” / “At first, I was a bit… but…” / “Since then, I’ve…”</a:t>
            </a:r>
          </a:p>
          <a:p>
            <a:r>
              <a:t>“Since then, I’ve + 过去分词” 用现在完成时说明从那以后的变化。once 在这里是”曾经有一次”。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Jon was a good designer but often late with drafts. His manager, Amy, used to say, “You need to be more reliable”, which made him defensive. After a feedback course, she tried a new approach. “Last Tuesday’s draft arrived two days late,” she said. “That meant the client review had to move. I know you worked hard on the detail, and the quality was excellent. Can we find a way to hit the deadline?” Jon was surprised. She had described one situation, the behaviour and its impact, without attacking his character. He explained that he was waiting for data from another team. Together they set an earlier internal deadline and agreed that he would flag delays by Monday. Jon later said it was the first time he had understood feedback as help rather than blame. Amy now ends each conversation by asking, “What feedback do you have for me?”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was wrong with Amy’s first style of feedback?</a:t>
            </a:r>
          </a:p>
          <a:p>
            <a:r>
              <a:t>A: It was vague and judged his character (“be more reliable”), so Jon got defensive.</a:t>
            </a:r>
          </a:p>
          <a:p>
            <a:r>
              <a:t>Q2. What three things did she describe in the new approach?</a:t>
            </a:r>
          </a:p>
          <a:p>
            <a:r>
              <a:t>A: The situation, the behaviour and its impact.</a:t>
            </a:r>
          </a:p>
          <a:p>
            <a:r>
              <a:t>Q3. What did they agree?</a:t>
            </a:r>
          </a:p>
          <a:p>
            <a:r>
              <a:t>A: An earlier internal deadline, and Jon would flag delays by Monday.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Giving feedback 给予反馈</a:t>
            </a:r>
          </a:p>
          <a:p>
            <a:r>
              <a:t>领读 → 学员跟读 → 请学员用表达造一个和自己工作相关的句子。</a:t>
            </a:r>
          </a:p>
          <a:p>
            <a:r>
              <a:t>feedback (noun (uncountable)) 反馈 — “Thanks for your feedback. It’s really useful.”</a:t>
            </a:r>
          </a:p>
          <a:p>
            <a:r>
              <a:t>constructive criticism (noun phrase) 建设性批评 — “I’d appreciate some constructive criticism.”</a:t>
            </a:r>
          </a:p>
          <a:p>
            <a:r>
              <a:t>strength / area for improvement (noun) 优点 / 待改进之处 — “Your main strength is clear writing.”</a:t>
            </a:r>
          </a:p>
          <a:p>
            <a:r>
              <a:t>★ praise (someone) for… (verb) 因…表扬某人 — “She praised him for handling the complaint so well.”</a:t>
            </a:r>
          </a:p>
          <a:p>
            <a:r>
              <a:t>★ I’d like to flag something. (phrase) 我想指出一点 — “I’d like to flag something about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Softening and being specific 委婉而具体</a:t>
            </a:r>
          </a:p>
          <a:p>
            <a:r>
              <a:t>领读 → 学员跟读 → 请学员用表达造一个和自己工作相关的句子。</a:t>
            </a:r>
          </a:p>
          <a:p>
            <a:r>
              <a:t>It might be worth… (phrase) 也许值得… — “It might be worth adding a summary at the top.”</a:t>
            </a:r>
          </a:p>
          <a:p>
            <a:r>
              <a:t>★ I wonder if you could… (phrase) 不知你能否… — “I wonder if you could make the charts a little bigger.”</a:t>
            </a:r>
          </a:p>
          <a:p>
            <a:r>
              <a:t>★ come across as (phrasal verb) 给人…的印象 — “In the meeting, you came across as very confident.”</a:t>
            </a:r>
          </a:p>
          <a:p>
            <a:r>
              <a:t>★ blunt (adjective) 直率(甚至刺耳)的 — “My feedback was too blunt, and I’m sorry.”</a:t>
            </a:r>
          </a:p>
          <a:p>
            <a:r>
              <a:t>to be fair (phrase) 公平地说 — “To be fair, the deadline was very short.”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Receiving feedback 接受反馈</a:t>
            </a:r>
          </a:p>
          <a:p>
            <a:r>
              <a:t>领读 → 学员跟读 → 请学员用表达造一个和自己工作相关的句子。</a:t>
            </a:r>
          </a:p>
          <a:p>
            <a:r>
              <a:t>Thanks for letting me know. (phrase) 谢谢告诉我 — “Thanks for letting me know. I’ll fix it today.”</a:t>
            </a:r>
          </a:p>
          <a:p>
            <a:r>
              <a:t>take (it) on board (idiom) 接受并采纳 — “I’ll take your comments on board.”</a:t>
            </a:r>
          </a:p>
          <a:p>
            <a:r>
              <a:t>★ take it personally (collocation) 把它当成人身攻击 — “Try not to take it personally; it’s about the work.”</a:t>
            </a:r>
          </a:p>
          <a:p>
            <a:r>
              <a:t>★ get defensive (collocation) 变得有防御心理 — “I got defensive at first, but then I listened.”</a:t>
            </a:r>
          </a:p>
          <a:p>
            <a:r>
              <a:t>★ follow up with (phrasal verb) 后续跟进 — “Can we follow up with a quick chat next week?”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feedback / constructive / worth / blunt / board / personally</a:t>
            </a:r>
          </a:p>
          <a:p>
            <a:r>
              <a:t>1. Thanks for your _______. It’s really useful. → feedback</a:t>
            </a:r>
          </a:p>
          <a:p>
            <a:r>
              <a:t>2. I’d appreciate some _______ criticism. → constructive</a:t>
            </a:r>
          </a:p>
          <a:p>
            <a:r>
              <a:t>3. It might be _______ adding a summary at the top. → worth</a:t>
            </a:r>
          </a:p>
          <a:p>
            <a:r>
              <a:t>4. My comment was too _______, and I’m sorry. → blunt</a:t>
            </a:r>
          </a:p>
          <a:p>
            <a:r>
              <a:t>5. I’ll take your comments on _______. → board</a:t>
            </a:r>
          </a:p>
          <a:p>
            <a:r>
              <a:t>6. Try not to take it _______; it’s about the work. → personally</a:t>
            </a:r>
          </a:p>
          <a:p>
            <a:r>
              <a:t>Mistake Watch: (可数性) feedback is uncountable: “some feedback”, “a piece of feedback” (not “feedbacks”). Spelling: constructive, criticism,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feedback to a team member 给同事反馈</a:t>
            </a:r>
          </a:p>
          <a:p>
            <a:r>
              <a:t>情景：You give your colleague feedback on a late report.</a:t>
            </a:r>
          </a:p>
          <a:p>
            <a:r>
              <a:t>Role A: Amy Ross, manager Role B: Jon Lee, designer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(Amy): Jon, do you have a few minutes? I’d like to give you some feedback on last week’s draft.</a:t>
            </a:r>
          </a:p>
          <a:p>
            <a:r>
              <a:t>B (Jon): Sure.</a:t>
            </a:r>
          </a:p>
          <a:p>
            <a:r>
              <a:t>A: First, the quality was excellent. The layout was clean and the client loved it.</a:t>
            </a:r>
          </a:p>
          <a:p>
            <a:r>
              <a:t>B: Thanks, that’s good to hear.</a:t>
            </a:r>
          </a:p>
          <a:p>
            <a:r>
              <a:t>A: One thing I’d like to flag: it arrived two days late, so the client review had to move.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 know, sorry. I was waiting for data from Finance.</a:t>
            </a:r>
          </a:p>
          <a:p>
            <a:r>
              <a:t>A: That makes sense. It might be worth setting an earlier internal deadline. Could you also tell me by Monday if a delay looks likely?</a:t>
            </a:r>
          </a:p>
          <a:p>
            <a:r>
              <a:t>B: Yes, I’ll do that. Thanks for letting me know.</a:t>
            </a:r>
          </a:p>
          <a:p>
            <a:r>
              <a:t>A: And what feedback do you have for 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give feedback to a colleague about a late task.</a:t>
            </a:r>
          </a:p>
          <a:p>
            <a:r>
              <a:t>Your role (A) | Manager. The task: ______________</a:t>
            </a:r>
          </a:p>
          <a:p>
            <a:r>
              <a:t>Partner’s role (B) | Colleague who gets a little defensive.</a:t>
            </a:r>
          </a:p>
          <a:p>
            <a:r>
              <a:t>Must use (4 or more) | I’d like to give you some feedback · One thing I’d like to flag · It might be worth… · Could you…? · Thanks for letting me know</a:t>
            </a:r>
          </a:p>
          <a:p>
            <a:r>
              <a:t>Goal | Start with a positive, state one issue (situation and impact), and agree one action.</a:t>
            </a:r>
          </a:p>
          <a:p>
            <a:r>
              <a:t>My notes | ____________________________________________</a:t>
            </a:r>
          </a:p>
          <a:p>
            <a:r>
              <a:t>The colleague says, “It’s not my fault.” Reply: “I’m not blaming you. I just want us to find a way to avoid it next time.”</a:t>
            </a:r>
          </a:p>
          <a:p>
            <a:r>
              <a:t>Replace “You are always late” with a specific example.</a:t>
            </a:r>
          </a:p>
          <a:p>
            <a:r>
              <a:t>End by asking: “What can I do to help?”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Receiving critical feedback 接受批评</a:t>
            </a:r>
          </a:p>
          <a:p>
            <a:r>
              <a:t>情景：Your manager says your presentation was too long and unclear. You respond calmly.</a:t>
            </a:r>
          </a:p>
          <a:p>
            <a:r>
              <a:t>Role A: Sandra Kim, manager Role B: Ravi Shah,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(Sandra): Ravi, can I give you some feedback on your presentation?</a:t>
            </a:r>
          </a:p>
          <a:p>
            <a:r>
              <a:t>B (Ravi): Of course. I’d appreciate it.</a:t>
            </a:r>
          </a:p>
          <a:p>
            <a:r>
              <a:t>A: Your ideas were strong, but the presentation was too long, and the main message got lost.</a:t>
            </a:r>
          </a:p>
          <a:p>
            <a:r>
              <a:t>B: That’s fair. I think I tried to include too much.</a:t>
            </a:r>
          </a:p>
          <a:p>
            <a:r>
              <a:t>A: To be fair, the topic was complex. I wonder if you could try one key message per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Good idea. I’ll take that on board. Could you give me an example of a slide that worked well?</a:t>
            </a:r>
          </a:p>
          <a:p>
            <a:r>
              <a:t>A: The one about customer churn. It had one chart and one headline.</a:t>
            </a:r>
          </a:p>
          <a:p>
            <a:r>
              <a:t>B: Got it. Can we follow up after my next presentation?</a:t>
            </a:r>
          </a:p>
          <a:p>
            <a:r>
              <a:t>A: Of course. I’d be happy to.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receive critical feedback calmly.</a:t>
            </a:r>
          </a:p>
          <a:p>
            <a:r>
              <a:t>Your role (B) | Employee. Your presentation topic: ______________</a:t>
            </a:r>
          </a:p>
          <a:p>
            <a:r>
              <a:t>Partner’s role (A) | Manager who is honest but fair.</a:t>
            </a:r>
          </a:p>
          <a:p>
            <a:r>
              <a:t>Must use (3 or more) | That’s fair · I’ll take that on board · Could you give me an example? · Thanks for letting me know · follow up</a:t>
            </a:r>
          </a:p>
          <a:p>
            <a:r>
              <a:t>Goal | Listen, ask for one example, and summarise what you will change.</a:t>
            </a:r>
          </a:p>
          <a:p>
            <a:r>
              <a:t>My notes | ____________________________________________</a:t>
            </a:r>
          </a:p>
          <a:p>
            <a:r>
              <a:t>You disagree: “I see your point. From my side, I thought… Could we talk about it?”</a:t>
            </a:r>
          </a:p>
          <a:p>
            <a:r>
              <a:t>Don’t apologise too much. One “thanks, that’s useful” is enough.</a:t>
            </a:r>
          </a:p>
          <a:p>
            <a:r>
              <a:t>Write down your three action points.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should managers give negative feedback? | “I think they should…” / “It’s best to start with…”</a:t>
            </a:r>
          </a:p>
          <a:p>
            <a:r>
              <a:t>2. Should feedback be given in public or in private? | “In general, … should be private because…”</a:t>
            </a:r>
          </a:p>
          <a:p>
            <a:r>
              <a:t>3. How do you react when you disagree with feedback? | “I try to… first, then…” / “I ask for examples.”</a:t>
            </a:r>
          </a:p>
          <a:p>
            <a:r>
              <a:t>4. Do you ask for feedback? Why (not)? | “I regularly ask because…” / “I avoid it because…”</a:t>
            </a:r>
          </a:p>
          <a:p>
            <a:r>
              <a:t>5. Is feedback different in different cultures? | “In my culture, people tend to…” / “In the UK/US,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managers should be specific, kind and quick. They should describe one situation, explain the effect, and ask the person for their view. It’s best to start with something positive that is genuinely true, not just a trick. Negative feedback should always be private. And it’s much easier to hear if it comes soon after the event, not three months later at the annual review.”</a:t>
            </a:r>
          </a:p>
          <a:p>
            <a:r>
              <a:t>“not just a trick” = 不只是技巧;“it’s much easier to hear” = 更容易听进去;feedback 不可数,不说 feedbacks。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Situation – Behaviour – Impact (SBI) 反馈模型</a:t>
            </a:r>
          </a:p>
          <a:p>
            <a:r>
              <a:t>Step | Example</a:t>
            </a:r>
          </a:p>
          <a:p>
            <a:r>
              <a:t>Situation | In yesterday’s client call…</a:t>
            </a:r>
          </a:p>
          <a:p>
            <a:r>
              <a:t>Behaviour | …you interrupted the client twice.</a:t>
            </a:r>
          </a:p>
          <a:p>
            <a:r>
              <a:t>Impact | That made the client feel unheard.</a:t>
            </a:r>
          </a:p>
          <a:p>
            <a:r>
              <a:t>Next step | Next time, could you wait for the client to finish?</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Situation – Behaviour – Impact (SBI) 反馈模型</a:t>
            </a:r>
          </a:p>
          <a:p>
            <a:r>
              <a:t>Describe behaviour (“You interrupted twice”), not character (“You’re rude”).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 you for your feedbacks.  →  ✓ Thank you for your feedback.  (feedback 不可数)</a:t>
            </a:r>
          </a:p>
          <a:p>
            <a:r>
              <a:t>✗ He gave me some advices.  →  ✓ He gave me some advice.  (advice 不可数)</a:t>
            </a:r>
          </a:p>
          <a:p>
            <a:r>
              <a:t>✗ You should to be more careful.  →  ✓ You should be more careful.  (should + 动词原形)</a:t>
            </a:r>
          </a:p>
          <a:p>
            <a:r>
              <a:t>Mistake Watch: Check every uncountable noun: feedback, advice, information, equipment. They never take -s.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I’d like to give you a comment about the report.  →  ✓ I’d like to give you some feedback on the report.  (feedback on)</a:t>
            </a:r>
          </a:p>
          <a:p>
            <a:r>
              <a:t>✗ You are always so late!  →  ✓ The last two reports were late.  (具体事实,少用 always)</a:t>
            </a:r>
          </a:p>
          <a:p>
            <a:r>
              <a:t>✗ I disagree with the criticize.  →  ✓ I disagree with the criticism.  (criticism 是名词)</a:t>
            </a:r>
          </a:p>
          <a:p>
            <a:r>
              <a:t>Mistake Watch: Check every uncountable noun: feedback, advice, information, equipment. They never take -s.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Direct vs indirect. US feedback is often direct and enthusiastic; British feedback is more understated. “Not bad” can mean “good”, and “That’s quite interesting” can mean “I’m not convinced”.</a:t>
            </a:r>
          </a:p>
          <a:p>
            <a:r>
              <a:t>Praise specifically. “Great job!” is nice; “Your summary slide made the decision easy” is useful.</a:t>
            </a:r>
          </a:p>
          <a:p>
            <a:r>
              <a:t>Ask for it. Asking “What could I do better?” is seen as ambition, not weakness.</a:t>
            </a:r>
          </a:p>
          <a:p>
            <a:r>
              <a:t>Say thanks. A calm “Thanks, that’s useful” is the safest first response.</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give specific, balanced feedback with situation – behaviour – impact.</a:t>
            </a:r>
          </a:p>
          <a:p>
            <a:r>
              <a:t>I can soften criticism with It might be worth… / I wonder if you could…</a:t>
            </a:r>
          </a:p>
          <a:p>
            <a:r>
              <a:t>I can receive criticism calmly and ask for an example.</a:t>
            </a:r>
          </a:p>
          <a:p>
            <a:r>
              <a:t>I use feedback and advice as uncountable nouns.</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60 seconds of feedback on a (real or imagined) colleague’s report. Then respond to critical feedback in 30 seconds. Record both.</a:t>
            </a:r>
          </a:p>
          <a:p>
            <a:r>
              <a:t>8–10 | Listen to your recording. Check: uncountable nouns, specific facts, soft modals.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15 · Small talk 闲聊</a:t>
            </a:r>
          </a:p>
          <a:p>
            <a:r>
              <a:t>Goal: start, keep going and end a short friendly conversation with colleagues and clients on safe topics.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题讲过去的事,用过去式(had, talked)。“hardly” 是”几乎不”,不是”努力地”。</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Make small talk with a client who has just arrived at your office.</a:t>
            </a:r>
          </a:p>
          <a:p>
            <a:r>
              <a:t>Say: greeting → question about the journey → comment about the city or weather → move to business.</a:t>
            </a:r>
          </a:p>
          <a:p>
            <a:r>
              <a:t>Useful starters: “How was your journey?” / “Is this your first time in…?” / “Shall we make a start?”</a:t>
            </a:r>
          </a:p>
          <a:p>
            <a:r>
              <a:t>“Shall we make a start?” 是礼貌地从闲聊转入正题。“first time in + 地点”,不要说 “first time to”。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Li Na was puzzled by her British clients. They always began meetings by talking about the weather, trains or football. “Why don’t they just start?” she wondered. Then a colleague explained: small talk isn’t about information. It is a way of saying, “I’m friendly, and I’d like to get to know you before we do business.” It also gives everyone time to settle down. Li Na began to prepare three safe questions before every meeting: about the journey, the city and the weekend. She noticed that conversations became easier and her clients opened up. One of them even mentioned a competitor’s plan, something she wouldn’t have heard in a formal meeting. “I used to think small talk was a waste of time,” she says. “Now I think it’s the first step of the negotiation.”</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was Li Na puzzled?</a:t>
            </a:r>
          </a:p>
          <a:p>
            <a:r>
              <a:t>A: British clients began meetings by talking about the weather, trains and football.</a:t>
            </a:r>
          </a:p>
          <a:p>
            <a:r>
              <a:t>Q2. What is the real purpose of small talk, according to her colleague?</a:t>
            </a:r>
          </a:p>
          <a:p>
            <a:r>
              <a:t>A: To show friendliness and build rapport before business.</a:t>
            </a:r>
          </a:p>
          <a:p>
            <a:r>
              <a:t>Q3. What did she start doing?</a:t>
            </a:r>
          </a:p>
          <a:p>
            <a:r>
              <a:t>A: She prepared three safe questions before every meeting.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Starting a conversation 开始闲聊</a:t>
            </a:r>
          </a:p>
          <a:p>
            <a:r>
              <a:t>领读 → 学员跟读 → 请学员用表达造一个和自己工作相关的句子。</a:t>
            </a:r>
          </a:p>
          <a:p>
            <a:r>
              <a:t>small talk (noun) 闲聊,寒暄 — “I’m not very good at small talk.”</a:t>
            </a:r>
          </a:p>
          <a:p>
            <a:r>
              <a:t>How was your journey / flight? (phrase) 旅途怎么样? — “Welcome! How was your journey?”</a:t>
            </a:r>
          </a:p>
          <a:p>
            <a:r>
              <a:t>Is this your first time in…? (phrase) 这是你第一次来…吗? — “Is this your first time in Shanghai?”</a:t>
            </a:r>
          </a:p>
          <a:p>
            <a:r>
              <a:t>★ break the ice (idiom) 打破僵局 — “A joke about the weather helped break the ice.”</a:t>
            </a:r>
          </a:p>
          <a:p>
            <a:r>
              <a:t>★ How are you getting on? (phrase) 你近来怎么样?(英式) — “How are you getting on in the new role?”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Keeping it going 保持话题</a:t>
            </a:r>
          </a:p>
          <a:p>
            <a:r>
              <a:t>领读 → 学员跟读 → 请学员用表达造一个和自己工作相关的句子。</a:t>
            </a:r>
          </a:p>
          <a:p>
            <a:r>
              <a:t>What do you do in your spare time? (phrase) 你业余时间做什么? — “What do you do in your spare time?”</a:t>
            </a:r>
          </a:p>
          <a:p>
            <a:r>
              <a:t>Really? Tell me more. (phrase) 真的吗?多说说 — “You ran a marathon? Really? Tell me more.”</a:t>
            </a:r>
          </a:p>
          <a:p>
            <a:r>
              <a:t>★ have something in common (collocation) 有共同点 — “We discovered that we both love cycling. We have a lot in common.”</a:t>
            </a:r>
          </a:p>
          <a:p>
            <a:r>
              <a:t>★ ask a follow-up question (collocation) 追问一个问题 — “Always ask a follow-up question to show interest.”</a:t>
            </a:r>
          </a:p>
          <a:p>
            <a:r>
              <a:t>★ steer the conversation (collocation) 引导话题 — “She steered the conversation back to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Ending politely 礼貌结束</a:t>
            </a:r>
          </a:p>
          <a:p>
            <a:r>
              <a:t>领读 → 学员跟读 → 请学员用表达造一个和自己工作相关的句子。</a:t>
            </a:r>
          </a:p>
          <a:p>
            <a:r>
              <a:t>Shall we make a start? (phrase) 我们开始吧? — “Shall we make a start? I know you’re busy.”</a:t>
            </a:r>
          </a:p>
          <a:p>
            <a:r>
              <a:t>It was great chatting. (phrase) 聊得很开心 — “It was great chatting with you.”</a:t>
            </a:r>
          </a:p>
          <a:p>
            <a:r>
              <a:t>★ I’d better let you go. (phrase) 我不耽误你了 — “I’d better let you go. You have a meeting.”</a:t>
            </a:r>
          </a:p>
          <a:p>
            <a:r>
              <a:t>★ catch up (with) (phrasal verb) 叙旧 — “Let’s catch up properly next week.”</a:t>
            </a:r>
          </a:p>
          <a:p>
            <a:r>
              <a:t>Let’s keep in touch. (phrase) 保持联系 — “It was lovely to meet you. Let’s keep in touch.”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small / journey / ice / common / follow-up / touch</a:t>
            </a:r>
          </a:p>
          <a:p>
            <a:r>
              <a:t>1. I’m not very good at _______ talk. → small</a:t>
            </a:r>
          </a:p>
          <a:p>
            <a:r>
              <a:t>2. Welcome! How was your _______? → journey</a:t>
            </a:r>
          </a:p>
          <a:p>
            <a:r>
              <a:t>3. A joke about the weather helped break the _______. → ice</a:t>
            </a:r>
          </a:p>
          <a:p>
            <a:r>
              <a:t>4. We found we have a lot in _______. → common</a:t>
            </a:r>
          </a:p>
          <a:p>
            <a:r>
              <a:t>5. Always ask a _______ question to show interest. → follow-up</a:t>
            </a:r>
          </a:p>
          <a:p>
            <a:r>
              <a:t>6. It was lovely to meet you. Let’s keep in _______. → touch</a:t>
            </a:r>
          </a:p>
          <a:p>
            <a:r>
              <a:t>Mistake Watch: (介词与拼写) first time IN Shanghai; talk ABOUT the weather. Spelling: journey (not “journy”); weather ≠ whether.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Welcoming a client 迎接客户</a:t>
            </a:r>
          </a:p>
          <a:p>
            <a:r>
              <a:t>情景：A client arrives for a first meeting. You make small talk before you start.</a:t>
            </a:r>
          </a:p>
          <a:p>
            <a:r>
              <a:t>Role A: Emma Lin, host Role B: Mr Carter,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(Emma): Mr Carter, welcome! Did you find us OK?</a:t>
            </a:r>
          </a:p>
          <a:p>
            <a:r>
              <a:t>B (Mr Carter): Yes, no problem. Your directions were very clear.</a:t>
            </a:r>
          </a:p>
          <a:p>
            <a:r>
              <a:t>A: Good. How was your journey?</a:t>
            </a:r>
          </a:p>
          <a:p>
            <a:r>
              <a:t>B: Long, but fine. I flew in from Manchester yesterday.</a:t>
            </a:r>
          </a:p>
          <a:p>
            <a:r>
              <a:t>A: Is this your first time in Shanghai?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It is, actually. I’m looking forward to seeing the city.</a:t>
            </a:r>
          </a:p>
          <a:p>
            <a:r>
              <a:t>A: You should try the old town if you have time. It’s quite a contrast to the business district.</a:t>
            </a:r>
          </a:p>
          <a:p>
            <a:r>
              <a:t>B: Thanks, I’ll do that. It’s a lot warmer than Manchester, too!</a:t>
            </a:r>
          </a:p>
          <a:p>
            <a:r>
              <a:t>A: Ha, I’m sure. Shall we make a start? I’ll show you to the meeting room.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make small talk with a visiting client.</a:t>
            </a:r>
          </a:p>
          <a:p>
            <a:r>
              <a:t>Your role (A) | Host. Your company: ______________</a:t>
            </a:r>
          </a:p>
          <a:p>
            <a:r>
              <a:t>Partner’s role (B) | Visitor from abroad.</a:t>
            </a:r>
          </a:p>
          <a:p>
            <a:r>
              <a:t>Must use (4 or more) | How was your journey? · Is this your first time in…? · break the ice · Shall we make a start? · a lot in common</a:t>
            </a:r>
          </a:p>
          <a:p>
            <a:r>
              <a:t>Goal | Make three exchanges of small talk, then move to business.</a:t>
            </a:r>
          </a:p>
          <a:p>
            <a:r>
              <a:t>My notes | ____________________________________________</a:t>
            </a:r>
          </a:p>
          <a:p>
            <a:r>
              <a:t>The client answers with only “Yes” or “No”. Ask an open question: “What did you think of the hotel?”</a:t>
            </a:r>
          </a:p>
          <a:p>
            <a:r>
              <a:t>Find something in common: “Oh, I love that too!”</a:t>
            </a:r>
          </a:p>
          <a:p>
            <a:r>
              <a:t>Practise a smooth transition: “Anyway,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talk at a coffee break 会议休息时闲聊</a:t>
            </a:r>
          </a:p>
          <a:p>
            <a:r>
              <a:t>情景：At a conference break, you meet a stranger and end the conversation politely.</a:t>
            </a:r>
          </a:p>
          <a:p>
            <a:r>
              <a:t>Role A: Kevin Wu, you Role B: Sarah Moore, another delegate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(Kevin): Hi, I’m Kevin. Are you enjoying the conference?</a:t>
            </a:r>
          </a:p>
          <a:p>
            <a:r>
              <a:t>B (Sarah): Hi, Kevin. Sarah. Yes, the morning session was really interesting. What about you?</a:t>
            </a:r>
          </a:p>
          <a:p>
            <a:r>
              <a:t>A: Same here. The talk about supply chains gave me some ideas. Have you been to this event before?</a:t>
            </a:r>
          </a:p>
          <a:p>
            <a:r>
              <a:t>B: This is my third time. It’s always a good way to catch up with old colleagues.</a:t>
            </a:r>
          </a:p>
          <a:p>
            <a:r>
              <a:t>A: Nice. What line of work are you 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I’m in logistics. And you?</a:t>
            </a:r>
          </a:p>
          <a:p>
            <a:r>
              <a:t>A: Software for retailers. We have something in common: we both depend on good deliveries!</a:t>
            </a:r>
          </a:p>
          <a:p>
            <a:r>
              <a:t>B: Ha, true! Anyway, I’d better let you go. I’m meeting a colleague.</a:t>
            </a:r>
          </a:p>
          <a:p>
            <a:r>
              <a:t>A: Of course. It was great chatting. Let’s keep in touch.</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start and end small talk with a stranger at an event.</a:t>
            </a:r>
          </a:p>
          <a:p>
            <a:r>
              <a:t>Your role (A) | Delegate. Your job: ______________</a:t>
            </a:r>
          </a:p>
          <a:p>
            <a:r>
              <a:t>Partner’s role (B) | Another delegate.</a:t>
            </a:r>
          </a:p>
          <a:p>
            <a:r>
              <a:t>Must use (3 or more) | Are you enjoying…? · Have you been to… before? · What line of work are you in? · I’d better let you go · Let’s keep in touch</a:t>
            </a:r>
          </a:p>
          <a:p>
            <a:r>
              <a:t>Goal | Have a 90-second conversation with at least two follow-up questions.</a:t>
            </a:r>
          </a:p>
          <a:p>
            <a:r>
              <a:t>My notes | ____________________________________________</a:t>
            </a:r>
          </a:p>
          <a:p>
            <a:r>
              <a:t>Exchange contact details: “Shall we connect on LinkedIn?”</a:t>
            </a:r>
          </a:p>
          <a:p>
            <a:r>
              <a:t>The other person is shy. Help them with an easy question.</a:t>
            </a:r>
          </a:p>
          <a:p>
            <a:r>
              <a:t>Leave without sounding rude: “I’ll let you mingle. It was great meeting you.”</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is small talk important in business? | “It builds…” / “It shows that…”</a:t>
            </a:r>
          </a:p>
          <a:p>
            <a:r>
              <a:t>2. Which topics are safe? Which should you avoid? | “Safe topics are…” / “I’d avoid… because…”</a:t>
            </a:r>
          </a:p>
          <a:p>
            <a:r>
              <a:t>3. Is small talk different in your culture? | “In China, people often…” / “In the UK, it’s common to…”</a:t>
            </a:r>
          </a:p>
          <a:p>
            <a:r>
              <a:t>4. How do you start a conversation with a stranger? | “I usually say…” / “I might comment on…”</a:t>
            </a:r>
          </a:p>
          <a:p>
            <a:r>
              <a:t>5. How do you end a conversation politely? | “I’d say something like…” / “I’d mention that…”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China, people often ask personal questions such as age or salary, because it shows interest. In the UK and the US, those topics are private. Small talk there is lighter: travel, the weather, sport, food. When I talk with people from other countries, I try to follow their style. I ask about their trip or their weekend. It feels strange at first, but it works well.”</a:t>
            </a:r>
          </a:p>
          <a:p>
            <a:r>
              <a:t>“such as” = 例如;“follow their style” = 跟随对方的风格;注意 “ask about + 名词”。</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and closed questions 开放式与封闭式问题</a:t>
            </a:r>
          </a:p>
          <a:p>
            <a:r>
              <a:t>Closed (yes/no) | Open (more talk)</a:t>
            </a:r>
          </a:p>
          <a:p>
            <a:r>
              <a:t>Did you enjoy the trip? | What was the best part of the trip?</a:t>
            </a:r>
          </a:p>
          <a:p>
            <a:r>
              <a:t>Do you like the city? | What do you like most about the city?</a:t>
            </a:r>
          </a:p>
          <a:p>
            <a:r>
              <a:t>Are you busy? | What are you working on at the moment?</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and closed questions 开放式与封闭式问题</a:t>
            </a:r>
          </a:p>
          <a:p>
            <a:r>
              <a:t>Indirect questions are more polite: “Could I ask what you do?” / “I was wondering whether you’d been here before.”</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Is this your first time to Shanghai?  →  ✓ Is this your first time in Shanghai?  (first time in + 地点)</a:t>
            </a:r>
          </a:p>
          <a:p>
            <a:r>
              <a:t>✗ How is your journey?  →  ✓ How was your journey?  (旅程已结束,用过去式)</a:t>
            </a:r>
          </a:p>
          <a:p>
            <a:r>
              <a:t>✗ I’m good at make small talk.  →  ✓ I’m good at making small talk.  (介词后用 -ing)</a:t>
            </a:r>
          </a:p>
          <a:p>
            <a:r>
              <a:t>Mistake Watch: Check three things: first time IN, past tense for a finished journey (was), and -ing after prepositions (good at making).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Do you want to drink a coffee?  →  ✓ Would you like a coffee?  (礼貌邀请用 Would you like)</a:t>
            </a:r>
          </a:p>
          <a:p>
            <a:r>
              <a:t>✗ I’m looking forward to see you.  →  ✓ I’m looking forward to seeing you.  (to + -ing)</a:t>
            </a:r>
          </a:p>
          <a:p>
            <a:r>
              <a:t>✗ He asked me what do I do.  →  ✓ He asked me what I do.  (间接问句用陈述语序)</a:t>
            </a:r>
          </a:p>
          <a:p>
            <a:r>
              <a:t>Mistake Watch: Check three things: first time IN, past tense for a finished journey (was), and -ing after prepositions (good at making).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Safe topics: travel, the city, food, sport, the event itself. Avoid: salary, age, marriage, religion, politics.</a:t>
            </a:r>
          </a:p>
          <a:p>
            <a:r>
              <a:t>Two-way. After you answer, return the question: “I’m fine, thanks. And you?” Don’t just reply and stop.</a:t>
            </a:r>
          </a:p>
          <a:p>
            <a:r>
              <a:t>Weather is a conversation starter, not a topic to analyse. Two sentences are enough.</a:t>
            </a:r>
          </a:p>
          <a:p>
            <a:r>
              <a:t>Keep it short. Two to five minutes of small talk before a meeting is typical.</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start small talk with three safe questions.</a:t>
            </a:r>
          </a:p>
          <a:p>
            <a:r>
              <a:t>I can ask open questions and follow-up questions.</a:t>
            </a:r>
          </a:p>
          <a:p>
            <a:r>
              <a:t>I can end a conversation politely (I’d better let you go).</a:t>
            </a:r>
          </a:p>
          <a:p>
            <a:r>
              <a:t>I know safe and unsafe topics in English-speaking business culture.</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Prepare three opening questions. Record a 60-second small-talk conversation with an imaginary client.</a:t>
            </a:r>
          </a:p>
          <a:p>
            <a:r>
              <a:t>8–10 | Listen to your recording. Check: first time in, past tense for a finished journey, open questions, -ing after prepositions.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16 · Mastering small talk 掌握闲聊的技巧</a:t>
            </a:r>
          </a:p>
          <a:p>
            <a:r>
              <a:t>Goal: go beyond basic small talk: build rapport, share your own experiences, handle awkward silences and topics, and network at events.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题讲过去的事,用过去式。第 5 题用 “I’d…”,表示假设的情况。</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 network at an event.</a:t>
            </a:r>
          </a:p>
          <a:p>
            <a:r>
              <a:t>Say: before the event → during the event → after the event.</a:t>
            </a:r>
          </a:p>
          <a:p>
            <a:r>
              <a:t>Useful starters: “Before the event, I…” / “Once I’m there, I try to…” / “Afterwards, I always…”</a:t>
            </a:r>
          </a:p>
          <a:p>
            <a:r>
              <a:t>Before / Once / Afterwards 是顺序连接词。“Once I’m there” 中 once = 一旦,后面用一般现在时,不用将来时。</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Tariq hated networking. Standing alone with a drink, he felt invisible. His mentor gave him a simple rule: spend two minutes with each person, then move on gracefully. Tariq prepared three open questions, such as “What brought you to this event?” and listened for details he could follow up on. When someone mentioned a daughter at university, he asked, “What is she studying?” Afterwards, he wrote short notes on his phone: “Maria, Madrid, loves sailing.” A week later, he sent each person a message: “Great meeting you at the conference. I hope the sailing trip went well!” Many replied within hours. “People don’t remember what you said,” his mentor told him. “They remember how you made them feel.” Tariq now says networking is no longer about selling himself. It is about being curious about others.</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was Tariq’s problem at events?</a:t>
            </a:r>
          </a:p>
          <a:p>
            <a:r>
              <a:t>A: He felt invisible and alone.</a:t>
            </a:r>
          </a:p>
          <a:p>
            <a:r>
              <a:t>Q2. What was the “two-minute rule”?</a:t>
            </a:r>
          </a:p>
          <a:p>
            <a:r>
              <a:t>A: Spend two minutes with each person, then move on politely.</a:t>
            </a:r>
          </a:p>
          <a:p>
            <a:r>
              <a:t>Q3. What did he do after the events?</a:t>
            </a:r>
          </a:p>
          <a:p>
            <a:r>
              <a:t>A: He noted details and sent a personal follow-up message a week later.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Building rapport 建立融洽关系</a:t>
            </a:r>
          </a:p>
          <a:p>
            <a:r>
              <a:t>领读 → 学员跟读 → 请学员用表达造一个和自己工作相关的句子。</a:t>
            </a:r>
          </a:p>
          <a:p>
            <a:r>
              <a:t>build rapport (collocation) 建立融洽关系 — “Small talk helps you build rapport with clients.”</a:t>
            </a:r>
          </a:p>
          <a:p>
            <a:r>
              <a:t>show genuine interest (collocation) 表现出真诚的兴趣 — “People like it when you show genuine interest.”</a:t>
            </a:r>
          </a:p>
          <a:p>
            <a:r>
              <a:t>★ find common ground (collocation) 找到共同点 — “We found common ground in our love of football.”</a:t>
            </a:r>
          </a:p>
          <a:p>
            <a:r>
              <a:t>★ open up (phrasal verb) 敞开心扉 — “Clients open up when you listen carefully.”</a:t>
            </a:r>
          </a:p>
          <a:p>
            <a:r>
              <a:t>★ put (someone) at ease (collocation) 让人放松 — “A friendly smile can put people at ease.”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Keeping the conversation alive 保持话题</a:t>
            </a:r>
          </a:p>
          <a:p>
            <a:r>
              <a:t>领读 → 学员跟读 → 请学员用表达造一个和自己工作相关的句子。</a:t>
            </a:r>
          </a:p>
          <a:p>
            <a:r>
              <a:t>That reminds me of… (phrase) 这让我想起… — “That reminds me of a trip I took last year.”</a:t>
            </a:r>
          </a:p>
          <a:p>
            <a:r>
              <a:t>By the way, … (phrase) 顺便说一下… — “By the way, how was your holiday?”</a:t>
            </a:r>
          </a:p>
          <a:p>
            <a:r>
              <a:t>★ pick up on (phrasal verb) 抓住(话题细节) — “She picked up on my comment about hiking and asked about it.”</a:t>
            </a:r>
          </a:p>
          <a:p>
            <a:r>
              <a:t>★ fill an awkward silence (collocation) 打破尴尬的沉默 — “I asked about the coffee to fill an awkward silence.”</a:t>
            </a:r>
          </a:p>
          <a:p>
            <a:r>
              <a:t>★ change the subject (collocation) 转换话题 — “He smoothly changed the subject when things got tense.”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Networking and following up 社交与跟进</a:t>
            </a:r>
          </a:p>
          <a:p>
            <a:r>
              <a:t>领读 → 学员跟读 → 请学员用表达造一个和自己工作相关的句子。</a:t>
            </a:r>
          </a:p>
          <a:p>
            <a:r>
              <a:t>work the room (idiom) 在活动中广泛交际 — “She knows how to work the room at conferences.”</a:t>
            </a:r>
          </a:p>
          <a:p>
            <a:r>
              <a:t>★ make a good impression (collocation) 给人留下好印象 — “Make a good impression with a firm handshake.”</a:t>
            </a:r>
          </a:p>
          <a:p>
            <a:r>
              <a:t>introduce yourself (verb phrase) 自我介绍 — “Introduce yourself with your name and role.”</a:t>
            </a:r>
          </a:p>
          <a:p>
            <a:r>
              <a:t>exchange contact details (collocation) 交换联系方式 — “We exchanged contact details at the end.”</a:t>
            </a:r>
          </a:p>
          <a:p>
            <a:r>
              <a:t>★ follow up (phrasal verb) 事后联系 — “Follow up within 48 hours with a short message.”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rapport / interest / common / reminds / impression / Follow</a:t>
            </a:r>
          </a:p>
          <a:p>
            <a:r>
              <a:t>1. Small talk helps you build _______ with clients. → rapport</a:t>
            </a:r>
          </a:p>
          <a:p>
            <a:r>
              <a:t>2. People like it when you show genuine _______. → interest</a:t>
            </a:r>
          </a:p>
          <a:p>
            <a:r>
              <a:t>3. We found _______ ground in our love of football. → common</a:t>
            </a:r>
          </a:p>
          <a:p>
            <a:r>
              <a:t>4. That _______ me of a trip I took last year. → reminds</a:t>
            </a:r>
          </a:p>
          <a:p>
            <a:r>
              <a:t>5. Make a good _______ with a firm handshake. → impression</a:t>
            </a:r>
          </a:p>
          <a:p>
            <a:r>
              <a:t>6. _______ up within 48 hours with a short message. → Follow</a:t>
            </a:r>
          </a:p>
          <a:p>
            <a:r>
              <a:t>Mistake Watch: (搭配) make an impression (not “do”); show interest IN. Spelling: rapport (the final -t is silent), awkward.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Networking at a conference 会议社交</a:t>
            </a:r>
          </a:p>
          <a:p>
            <a:r>
              <a:t>情景：You join a small group at a conference and add to the conversation.</a:t>
            </a:r>
          </a:p>
          <a:p>
            <a:r>
              <a:t>Role A: Tariq Aziz, you Role B: Maria Soto, another delegate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(Tariq): Hi, may I join you? I’m Tariq, from a logistics company.</a:t>
            </a:r>
          </a:p>
          <a:p>
            <a:r>
              <a:t>B (Maria): Of course. Maria, from Madrid. What brought you to the event?</a:t>
            </a:r>
          </a:p>
          <a:p>
            <a:r>
              <a:t>A: I wanted to hear the talk on green shipping. Have you been to this conference before?</a:t>
            </a:r>
          </a:p>
          <a:p>
            <a:r>
              <a:t>B: Twice. It’s always worth coming. I noticed your badge says “Sailing Club”. Do you sail?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Good eye! I’m a weekend sailor. Do you sail too?</a:t>
            </a:r>
          </a:p>
          <a:p>
            <a:r>
              <a:t>B: I love it. That reminds me, we have a regatta next month in Valencia.</a:t>
            </a:r>
          </a:p>
          <a:p>
            <a:r>
              <a:t>A: That sounds brilliant. By the way, here’s my card. I’d love to hear how it goes.</a:t>
            </a:r>
          </a:p>
          <a:p>
            <a:r>
              <a:t>B: Thanks. Let me give you mine. I’ll message you after the regatta.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join a group and build rapport at an event.</a:t>
            </a:r>
          </a:p>
          <a:p>
            <a:r>
              <a:t>Your role (A) | Delegate. Your industry: ______________</a:t>
            </a:r>
          </a:p>
          <a:p>
            <a:r>
              <a:t>Partner’s role (B) | Friendly delegate with a hobby you can discuss.</a:t>
            </a:r>
          </a:p>
          <a:p>
            <a:r>
              <a:t>Must use (4 or more) | May I join you? · What brought you to…? · That reminds me… · By the way, … · exchange contact details</a:t>
            </a:r>
          </a:p>
          <a:p>
            <a:r>
              <a:t>Goal | Join a conversation, ask two open questions, find common ground and exchange cards.</a:t>
            </a:r>
          </a:p>
          <a:p>
            <a:r>
              <a:t>My notes | ____________________________________________</a:t>
            </a:r>
          </a:p>
          <a:p>
            <a:r>
              <a:t>The conversation goes quiet. Use a prepared question: “What’s the best thing you’ve seen so far?”</a:t>
            </a:r>
          </a:p>
          <a:p>
            <a:r>
              <a:t>Politely leave a group: “It was lovely talking to you. I’ll let you mingle.”</a:t>
            </a:r>
          </a:p>
          <a:p>
            <a:r>
              <a:t>After the event, write a two-line follow-up message.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Dealing with awkward questions 应对尴尬问题</a:t>
            </a:r>
          </a:p>
          <a:p>
            <a:r>
              <a:t>情景：A person asks a personal question and you redirect the conversation politely.</a:t>
            </a:r>
          </a:p>
          <a:p>
            <a:r>
              <a:t>Role A: David Lee, you Role B: Ms Fox, acquaintance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(Ms Fox): David, how much do you earn at your new company?</a:t>
            </a:r>
          </a:p>
          <a:p>
            <a:r>
              <a:t>A (David): Ha, I’d rather keep that between me and my bank! How are things with you, though? How is the new project going?</a:t>
            </a:r>
          </a:p>
          <a:p>
            <a:r>
              <a:t>B: Busy. We’re launching next week.</a:t>
            </a:r>
          </a:p>
          <a:p>
            <a:r>
              <a:t>A: Exciting! Are you ready?</a:t>
            </a:r>
          </a:p>
          <a:p>
            <a:r>
              <a:t>B: Almost. There’s a lot to do, and the team is stressed.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know that feeling. What helps you to unwind?</a:t>
            </a:r>
          </a:p>
          <a:p>
            <a:r>
              <a:t>B: Honestly, long walks. I try to walk to work when it’s not raining.</a:t>
            </a:r>
          </a:p>
          <a:p>
            <a:r>
              <a:t>A: That’s a good idea. By the way, did you see the match last night?</a:t>
            </a:r>
          </a:p>
          <a:p>
            <a:r>
              <a:t>B: I did! What a game.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redirect a personal question politely.</a:t>
            </a:r>
          </a:p>
          <a:p>
            <a:r>
              <a:t>Your role (A) | You. Your hobby: ______________</a:t>
            </a:r>
          </a:p>
          <a:p>
            <a:r>
              <a:t>Partner’s role (B) | Acquaintance who asks a too-personal question.</a:t>
            </a:r>
          </a:p>
          <a:p>
            <a:r>
              <a:t>Must use (3 or more) | I’d rather keep that private · How about you? · By the way, … · change the subject · What helps you to…?</a:t>
            </a:r>
          </a:p>
          <a:p>
            <a:r>
              <a:t>Goal | Avoid a personal question with a smile and move to a safe topic.</a:t>
            </a:r>
          </a:p>
          <a:p>
            <a:r>
              <a:t>My notes | ____________________________________________</a:t>
            </a:r>
          </a:p>
          <a:p>
            <a:r>
              <a:t>Use humour: “That’s a question for my accountant!”</a:t>
            </a:r>
          </a:p>
          <a:p>
            <a:r>
              <a:t>Be honest but kind: “I prefer not to discuss that, but thanks for asking.”</a:t>
            </a:r>
          </a:p>
          <a:p>
            <a:r>
              <a:t>Never lie about facts. Redirect instead.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feel about networking events? | “I find them… because…” / “It gets easier when…”</a:t>
            </a:r>
          </a:p>
          <a:p>
            <a:r>
              <a:t>2. What can you do when a conversation goes silent? | “I might ask…” / “I’d comment on…”</a:t>
            </a:r>
          </a:p>
          <a:p>
            <a:r>
              <a:t>3. How do you remember names and details? | “I repeat the name…” / “I write notes after…”</a:t>
            </a:r>
          </a:p>
          <a:p>
            <a:r>
              <a:t>4. What is the difference between networking online and in person? | “Online, it’s easier to…” / “In person, you can…”</a:t>
            </a:r>
          </a:p>
          <a:p>
            <a:r>
              <a:t>5. Is small talk a skill or a talent? | “I believe it’s a skill because…” / “Anyone can learn…”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believe it’s a skill. Some people seem naturally charming, but most of us can learn it. You prepare a few questions, practise listening, and notice the details people give you. Over time, it becomes automatic. I used to be very shy at events, but now I set myself a small goal: talk to three new people. That gets me started, and the rest follows.”</a:t>
            </a:r>
          </a:p>
          <a:p>
            <a:r>
              <a:t>“set myself a goal” = 给自己设目标;“over time” = 随着时间;“the rest follows” = 其余的自然水到渠成。</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Phrases that keep conversations flowing 让对话流畅的短语</a:t>
            </a:r>
          </a:p>
          <a:p>
            <a:r>
              <a:t>Function | Phrases</a:t>
            </a:r>
          </a:p>
          <a:p>
            <a:r>
              <a:t>Add information | That reminds me… / By the way, …</a:t>
            </a:r>
          </a:p>
          <a:p>
            <a:r>
              <a:t>Show interest | Really? / No way! / That’s fascinating.</a:t>
            </a:r>
          </a:p>
          <a:p>
            <a:r>
              <a:t>Ask for more | What was that like? / How did you get into that?</a:t>
            </a:r>
          </a:p>
          <a:p>
            <a:r>
              <a:t>Change topic | Anyway, … / On a different note, …</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Phrases that keep conversations flowing 让对话流畅的短语</a:t>
            </a:r>
          </a:p>
          <a:p>
            <a:r>
              <a:t>Use tag questions for warm agreement: “It’s a great venue, isn’t it?”</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boring at networking events.  →  ✓ I’m bored at networking events. / I find networking boring.  (bored / boring)</a:t>
            </a:r>
          </a:p>
          <a:p>
            <a:r>
              <a:t>✗ My name is Tariq, I work in logistics.  →  ✓ I’m Tariq, and I work in logistics.  (两个分句要连接)</a:t>
            </a:r>
          </a:p>
          <a:p>
            <a:r>
              <a:t>✗ What did bring you here?  →  ✓ What brought you here?  (what 做主语时不用助动词)</a:t>
            </a:r>
          </a:p>
          <a:p>
            <a:r>
              <a:t>Mistake Watch: Check: what brought (no did), indirect question word order (what I do), and -ing after prepositions.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It’s nice to know you.  →  ✓ It’s nice to meet you.  (初次见面用 meet)</a:t>
            </a:r>
          </a:p>
          <a:p>
            <a:r>
              <a:t>✗ He asked me what do I do.  →  ✓ He asked me what I do.  (间接问句用陈述语序)</a:t>
            </a:r>
          </a:p>
          <a:p>
            <a:r>
              <a:t>✗ I’m good at talk to strangers.  →  ✓ I’m good at talking to strangers.  (介词后用 -ing)</a:t>
            </a:r>
          </a:p>
          <a:p>
            <a:r>
              <a:t>Mistake Watch: Check: what brought (no did), indirect question word order (what I do), and -ing after prepositions.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Eye contact and a smile. Look at the person, nod, and don’t check your phone.</a:t>
            </a:r>
          </a:p>
          <a:p>
            <a:r>
              <a:t>Use the name. Repeat a new name once (“Nice to meet you, Maria”) to remember it.</a:t>
            </a:r>
          </a:p>
          <a:p>
            <a:r>
              <a:t>Give before you ask. Offer help or information first; ask for favours later.</a:t>
            </a:r>
          </a:p>
          <a:p>
            <a:r>
              <a:t>Follow up in 48 hours. A short, personal message makes you memorable.</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join a conversation and build rapport with open questions.</a:t>
            </a:r>
          </a:p>
          <a:p>
            <a:r>
              <a:t>I can keep a conversation going with That reminds me… and follow-up questions.</a:t>
            </a:r>
          </a:p>
          <a:p>
            <a:r>
              <a:t>I can redirect an awkward question politely.</a:t>
            </a:r>
          </a:p>
          <a:p>
            <a:r>
              <a:t>I can follow up after an event with a short message.</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a 90-second networking conversation with two follow-up questions and a polite exit.</a:t>
            </a:r>
          </a:p>
          <a:p>
            <a:r>
              <a:t>8–10 | Listen to your recording. Check: indirect question order, what brought, -ing forms, intonation.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17 · Catching up made easy 跟进</a:t>
            </a:r>
          </a:p>
          <a:p>
            <a:r>
              <a:t>Goal: catch up naturally with colleagues and clients: ask about news, share updates, and follow up on earlier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“keep in touch with” 注意介词 with。第 4 题讲过去的事,用过去式。第 5 题可用 “I send a short message to…”。</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Catch up with an old colleague you haven’t seen for two years.</a:t>
            </a:r>
          </a:p>
          <a:p>
            <a:r>
              <a:t>Say: greeting → their news → your news → plans to meet again.</a:t>
            </a:r>
          </a:p>
          <a:p>
            <a:r>
              <a:t>Useful starters: “It’s so good to see you!” / “What have you been up to?” / “Since I last saw you, I’ve…” / “We should catch up properly.”</a:t>
            </a:r>
          </a:p>
          <a:p>
            <a:r>
              <a:t>“What have you been up to?” 用现在完成进行时,问”这段时间在忙什么”。“Since I last saw you, I’ve + 过去分词”。</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Harriet managed a team spread across five countries. In the first months, she noticed something: people talked about work but never about their lives. Conversations felt thin. So she began every Monday with a fifteen-minute catch-up call. Nobody had to prepare. She asked, “What’s one thing from the weekend, and what’s one thing you’re looking forward to this week?” Some answers were funny; others were serious. When Ali mentioned that his mother was ill, Harriet followed up on Wednesday with a short message: “Thinking of you. How is she?” Ali later said it was the moment he began to trust the team. Over a year, her team’s engagement scores rose, and two people who had planned to leave decided to stay. “It takes fifteen minutes a week,” Harriet says, “and it saves months of rebuilding trust.”</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did Harriet notice about her team?</a:t>
            </a:r>
          </a:p>
          <a:p>
            <a:r>
              <a:t>A: They talked about work but never about their lives.</a:t>
            </a:r>
          </a:p>
          <a:p>
            <a:r>
              <a:t>Q2. What happens in the Monday call?</a:t>
            </a:r>
          </a:p>
          <a:p>
            <a:r>
              <a:t>A: Each person shares one thing from the weekend and one thing to look forward to.</a:t>
            </a:r>
          </a:p>
          <a:p>
            <a:r>
              <a:t>Q3. What was the effect of her message to Ali?</a:t>
            </a:r>
          </a:p>
          <a:p>
            <a:r>
              <a:t>A: Ali felt supported and began to trust the team.</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Asking for news 询问近况</a:t>
            </a:r>
          </a:p>
          <a:p>
            <a:r>
              <a:t>领读 → 学员跟读 → 请学员用表达造一个和自己工作相关的句子。</a:t>
            </a:r>
          </a:p>
          <a:p>
            <a:r>
              <a:t>What have you been up to? (phrase) 你最近在忙什么? — “Long time no see! What have you been up to?”</a:t>
            </a:r>
          </a:p>
          <a:p>
            <a:r>
              <a:t>How have things been? (phrase) 最近怎么样? — “How have things been since the merger?”</a:t>
            </a:r>
          </a:p>
          <a:p>
            <a:r>
              <a:t>Long time no see. (phrase (informal)) 好久不见 — “Hi, Jun! Long time no see.”</a:t>
            </a:r>
          </a:p>
          <a:p>
            <a:r>
              <a:t>★ How’s everything going at…? (phrase) …那边怎么样? — “How’s everything going at the new office?”</a:t>
            </a:r>
          </a:p>
          <a:p>
            <a:r>
              <a:t>★ I haven’t heard from you in ages. (phrase) 好久没你消息了 — “I haven’t heard from you in ages. Is everything OK?”</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Sharing updates 分享近况</a:t>
            </a:r>
          </a:p>
          <a:p>
            <a:r>
              <a:t>领读 → 学员跟读 → 请学员用表达造一个和自己工作相关的句子。</a:t>
            </a:r>
          </a:p>
          <a:p>
            <a:r>
              <a:t>Since I last saw you, … (phrase) 自从上次见面… — “Since I last saw you, I’ve moved to Hangzhou.”</a:t>
            </a:r>
          </a:p>
          <a:p>
            <a:r>
              <a:t>I’ve just been promoted. (phrase) 我刚升职了 — “I’ve just been promoted to team leader.”</a:t>
            </a:r>
          </a:p>
          <a:p>
            <a:r>
              <a:t>★ Things have been hectic. (phrase) 最近一直很忙乱 — “Things have been hectic since the launch.”</a:t>
            </a:r>
          </a:p>
          <a:p>
            <a:r>
              <a:t>★ I’ve been snowed under. (idiom) 我被工作淹没了 — “Sorry for the late reply. I’ve been snowed under.”</a:t>
            </a:r>
          </a:p>
          <a:p>
            <a:r>
              <a:t>★ It’s been a rollercoaster. (idiom) 经历了起起伏伏 — “This year has been a bit of a rollercoaster.”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Following up 跟进</a:t>
            </a:r>
          </a:p>
          <a:p>
            <a:r>
              <a:t>领读 → 学员跟读 → 请学员用表达造一个和自己工作相关的句子。</a:t>
            </a:r>
          </a:p>
          <a:p>
            <a:r>
              <a:t>Just following up on… (phrase) 跟进一下… — “Just following up on our call last week.”</a:t>
            </a:r>
          </a:p>
          <a:p>
            <a:r>
              <a:t>★ touch base (phrasal verb) 简单联系沟通 — “I’m just touching base to see how things are going.”</a:t>
            </a:r>
          </a:p>
          <a:p>
            <a:r>
              <a:t>Let’s pick this up again. (phrase) 我们之后再继续 — “Let’s pick this up again on Thursday.”</a:t>
            </a:r>
          </a:p>
          <a:p>
            <a:r>
              <a:t>★ circle back (phrasal verb) 回头再谈 — “I’ll circle back with an answer by Friday.”</a:t>
            </a:r>
          </a:p>
          <a:p>
            <a:r>
              <a:t>Keep me posted. (phrase) 有进展告诉我 — “Please keep me posted on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up / ages / promoted / hectic / base / posted</a:t>
            </a:r>
          </a:p>
          <a:p>
            <a:r>
              <a:t>1. Long time no see! What have you been _______ to? → up</a:t>
            </a:r>
          </a:p>
          <a:p>
            <a:r>
              <a:t>2. I haven’t heard from you in _______. → ages</a:t>
            </a:r>
          </a:p>
          <a:p>
            <a:r>
              <a:t>3. I’ve just been _______ to team leader. → promoted</a:t>
            </a:r>
          </a:p>
          <a:p>
            <a:r>
              <a:t>4. Things have been _______ since the launch. → hectic</a:t>
            </a:r>
          </a:p>
          <a:p>
            <a:r>
              <a:t>5. I’m just touching _______ to see how things are going. → base</a:t>
            </a:r>
          </a:p>
          <a:p>
            <a:r>
              <a:t>6. Please keep me _______ on the project. → posted</a:t>
            </a:r>
          </a:p>
          <a:p>
            <a:r>
              <a:t>Mistake Watch: (时态) Since I last saw you, I’ve… (现在完成时);I’ve been working (进行时,强调持续)。Spelling: hectic, promoted.</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an old colleague 偶遇老同事</a:t>
            </a:r>
          </a:p>
          <a:p>
            <a:r>
              <a:t>情景：You run into a former colleague at an industry event.</a:t>
            </a:r>
          </a:p>
          <a:p>
            <a:r>
              <a:t>Role A: Jun Zhang, you Role B: Claire Dubois, former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(Jun): Claire! Long time no see! What have you been up to?</a:t>
            </a:r>
          </a:p>
          <a:p>
            <a:r>
              <a:t>B (Claire): Jun! It’s been ages. I’ve moved to Paris, actually. I joined a consulting firm last spring.</a:t>
            </a:r>
          </a:p>
          <a:p>
            <a:r>
              <a:t>A: Wow, that’s a big change. How are you finding it?</a:t>
            </a:r>
          </a:p>
          <a:p>
            <a:r>
              <a:t>B: It’s been a bit of a rollercoaster, but I love it. And you? Are you still at the bank?</a:t>
            </a:r>
          </a:p>
          <a:p>
            <a:r>
              <a:t>A: No, I left last year. Things have been hectic since I joined a start-up.</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That sounds exciting. Is it going well?</a:t>
            </a:r>
          </a:p>
          <a:p>
            <a:r>
              <a:t>A: So far, yes. We’ve just closed our first round of funding.</a:t>
            </a:r>
          </a:p>
          <a:p>
            <a:r>
              <a:t>B: Congratulations! We should catch up properly. Are you free for coffee tomorrow?</a:t>
            </a:r>
          </a:p>
          <a:p>
            <a:r>
              <a:t>A: Absolutely. Let me give you my new number.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catch up with someone you haven’t seen for a while.</a:t>
            </a:r>
          </a:p>
          <a:p>
            <a:r>
              <a:t>Your role (A) | You. Your recent news: ______________</a:t>
            </a:r>
          </a:p>
          <a:p>
            <a:r>
              <a:t>Partner’s role (B) | Former colleague with news of their own.</a:t>
            </a:r>
          </a:p>
          <a:p>
            <a:r>
              <a:t>Must use (4 or more) | What have you been up to? · Since I last saw you… · It’s been a rollercoaster · hectic · We should catch up properly</a:t>
            </a:r>
          </a:p>
          <a:p>
            <a:r>
              <a:t>Goal | Exchange news for 90 seconds and agree a time to meet.</a:t>
            </a:r>
          </a:p>
          <a:p>
            <a:r>
              <a:t>My notes | ____________________________________________</a:t>
            </a:r>
          </a:p>
          <a:p>
            <a:r>
              <a:t>Use an informal reaction: “No way! That’s brilliant!”</a:t>
            </a:r>
          </a:p>
          <a:p>
            <a:r>
              <a:t>Remember a detail from last time: “Last time, you were planning to move house. Did you?”</a:t>
            </a:r>
          </a:p>
          <a:p>
            <a:r>
              <a:t>Add a plan: “Let’s pick this up over lunch.”</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up with a client 跟进客户</a:t>
            </a:r>
          </a:p>
          <a:p>
            <a:r>
              <a:t>情景：You call a client after two quiet weeks to follow up on a proposal.</a:t>
            </a:r>
          </a:p>
          <a:p>
            <a:r>
              <a:t>Role A: Rita Chen, account manager Role B: Mr Foster,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(Rita): Hello, Mr Foster. It’s Rita Chen. I hope I’m not catching you at a bad time.</a:t>
            </a:r>
          </a:p>
          <a:p>
            <a:r>
              <a:t>B (Mr Foster): Not at all, Rita. How have you been?</a:t>
            </a:r>
          </a:p>
          <a:p>
            <a:r>
              <a:t>A: Very well, thanks. I’m just touching base about the proposal I sent two weeks ago. Have you had a chance to look at it?</a:t>
            </a:r>
          </a:p>
          <a:p>
            <a:r>
              <a:t>B: I have, and I’m afraid it’s been hectic here. We’ve been snowed under with year-end reports.</a:t>
            </a:r>
          </a:p>
          <a:p>
            <a:r>
              <a:t>A: I understand completely. Is there anything I can clarify to help?</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Actually, yes. The delivery timeline is tight. Could you look at it again?</a:t>
            </a:r>
          </a:p>
          <a:p>
            <a:r>
              <a:t>A: Of course. I’ll circle back with a revised timeline by Friday.</a:t>
            </a:r>
          </a:p>
          <a:p>
            <a:r>
              <a:t>B: That would be great. Keep me posted.</a:t>
            </a:r>
          </a:p>
          <a:p>
            <a:r>
              <a:t>A: Will do. Thanks for your time.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follow up with a client who has been silent.</a:t>
            </a:r>
          </a:p>
          <a:p>
            <a:r>
              <a:t>Your role (A) | Account manager. Your product: ______________</a:t>
            </a:r>
          </a:p>
          <a:p>
            <a:r>
              <a:t>Partner’s role (B) | Busy client with one concern.</a:t>
            </a:r>
          </a:p>
          <a:p>
            <a:r>
              <a:t>Must use (3 or more) | I’m just touching base about… · Have you had a chance to…? · Is there anything I can clarify? · circle back · Keep me posted</a:t>
            </a:r>
          </a:p>
          <a:p>
            <a:r>
              <a:t>Goal | Follow up politely, learn the client’s concern, and agree a next step with a date.</a:t>
            </a:r>
          </a:p>
          <a:p>
            <a:r>
              <a:t>My notes | ____________________________________________</a:t>
            </a:r>
          </a:p>
          <a:p>
            <a:r>
              <a:t>The client is irritated: “I’m very busy.” Reply: “I understand. I’ll keep it short.”</a:t>
            </a:r>
          </a:p>
          <a:p>
            <a:r>
              <a:t>Send a one-line follow-up email after the call.</a:t>
            </a:r>
          </a:p>
          <a:p>
            <a:r>
              <a:t>Don’t sound pushy. Say: “No pressure at all.”</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stay in touch with people from your previous jobs? | “I send…” / “Once a year, I…”</a:t>
            </a:r>
          </a:p>
          <a:p>
            <a:r>
              <a:t>2. What is a good way to follow up with a client? | “I’d start with…” / “I try to add value by…”</a:t>
            </a:r>
          </a:p>
          <a:p>
            <a:r>
              <a:t>3. Why is it important to catch up with colleagues? | “It builds… and helps…”</a:t>
            </a:r>
          </a:p>
          <a:p>
            <a:r>
              <a:t>4. Do you prefer to catch up by phone, message or in person? | “I prefer… because…”</a:t>
            </a:r>
          </a:p>
          <a:p>
            <a:r>
              <a:t>5. What is the difference between “touching base” and “chasing”? | “Chasing sounds…, touching base sounds…”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good way to follow up is to add something useful, such as an article or an idea, rather than just asking,”Have you decided?” I’d also be polite about the timing: “I know you’re busy, so I’ll keep this short.” If there’s no answer after a week, I send a gentle reminder. I think the difference between a good follow-up and a bad one is that a good one helps the client, while a bad one only helps me.”</a:t>
            </a:r>
          </a:p>
          <a:p>
            <a:r>
              <a:t>“add value” = 增加价值;“rather than” = 而不是;注意 “the difference between A and B”。</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perfect for news 现在完成时谈近况</a:t>
            </a:r>
          </a:p>
          <a:p>
            <a:r>
              <a:t>Form | Example</a:t>
            </a:r>
          </a:p>
          <a:p>
            <a:r>
              <a:t>have + past participle (result) | I’ve just been promoted.</a:t>
            </a:r>
          </a:p>
          <a:p>
            <a:r>
              <a:t>have been + -ing (activity until now) | I’ve been working on a new project.</a:t>
            </a:r>
          </a:p>
          <a:p>
            <a:r>
              <a:t>for / since | I’ve worked here for two years / since 2024.</a:t>
            </a:r>
          </a:p>
          <a:p>
            <a:r>
              <a:t>past simple + finished time | I joined in March.</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perfect for news 现在完成时谈近况</a:t>
            </a:r>
          </a:p>
          <a:p>
            <a:r>
              <a:t>If you give a finished time (last year, in March, two weeks ago), use the past simple.</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moved to Paris last year.  →  ✓ I moved to Paris last year.  (具体时间 → 过去式)</a:t>
            </a:r>
          </a:p>
          <a:p>
            <a:r>
              <a:t>✗ What did you do recently?  →  ✓ What have you been doing recently?  (recently → 现在完成时)</a:t>
            </a:r>
          </a:p>
          <a:p>
            <a:r>
              <a:t>✗ I don’t see him since 2022.  →  ✓ I haven’t seen him since 2022.  (since → 现在完成时)</a:t>
            </a:r>
          </a:p>
          <a:p>
            <a:r>
              <a:t>Mistake Watch: Underline each time word (recently, since, ago, last year). Match it with the right tense.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keep in contact each other.  →  ✓ We keep in contact with each other. / We stay in touch.  (介词 with)</a:t>
            </a:r>
          </a:p>
          <a:p>
            <a:r>
              <a:t>✗ He is promoted last month.  →  ✓ He was promoted last month.  (被动过去式)</a:t>
            </a:r>
          </a:p>
          <a:p>
            <a:r>
              <a:t>✗ I’m busy these days, so I didn’t reply.  →  ✓ I’ve been busy, so I haven’t replied yet.  (现在完成时)</a:t>
            </a:r>
          </a:p>
          <a:p>
            <a:r>
              <a:t>Mistake Watch: Underline each time word (recently, since, ago, last year). Match it with the right tense.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“Long time no see” is informal. With clients, say “It’s good to see you again.”</a:t>
            </a:r>
          </a:p>
          <a:p>
            <a:r>
              <a:t>Keep it short. Answer “How are you?” with a sentence, not a story.</a:t>
            </a:r>
          </a:p>
          <a:p>
            <a:r>
              <a:t>Remember details. Asking about someone’s hobby or holiday builds trust, but don’t ask about salary or health unprompted.</a:t>
            </a:r>
          </a:p>
          <a:p>
            <a:r>
              <a:t>Follow-up timing. A polite follow-up after 3–5 working days is normal.</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ask for news with What have you been up to?</a:t>
            </a:r>
          </a:p>
          <a:p>
            <a:r>
              <a:t>I can share my news with Since I last saw you, I’ve… using the right tenses.</a:t>
            </a:r>
          </a:p>
          <a:p>
            <a:r>
              <a:t>I can follow up politely with I’m just touching base… and Keep me posted.</a:t>
            </a:r>
          </a:p>
          <a:p>
            <a:r>
              <a:t>I can use snowed under, hectic and rollercoaster in context.</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a 60-second catch-up with an old friend or colleague, then a 30-second follow-up call to a client.</a:t>
            </a:r>
          </a:p>
          <a:p>
            <a:r>
              <a:t>8–10 | Listen to your recording. Check: present perfect vs past simple, for/since, friendly tone.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18 · Mastering conversation 掌握对话技巧</a:t>
            </a:r>
          </a:p>
          <a:p>
            <a:r>
              <a:t>Goal: manage a business conversation actively: listen, show understanding, ask clarifying questions, take turns and interrupt politely.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题讲过去的事,用过去式。第 5 题可以用 “someone who…” 定语从句来描述人。</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person who is a great listener and explain what they do.</a:t>
            </a:r>
          </a:p>
          <a:p>
            <a:r>
              <a:t>Say: who they are → three habits → how it makes you feel.</a:t>
            </a:r>
          </a:p>
          <a:p>
            <a:r>
              <a:t>Useful starters: “She’s someone who…” / “She never…, and she always…” / “That makes me feel…”</a:t>
            </a:r>
          </a:p>
          <a:p>
            <a:r>
              <a:t>“someone who + 动词” 是定语从句,用来描述人的特点。who 后面的动词要和 someone 一致:someone who listens。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Rob thought he was a good communicator because he talked well. In meetings, he gave clear answers and strong opinions. But colleagues rarely came to him with problems. His mentor, Helen, asked him to try an experiment: for one week, he would talk less than half the time. In each conversation, he would ask a question, wait, and summarise what he heard: “So what you’re saying is that the deadline is the real problem.” At first, it felt strange. But people began to talk more, and Rob learned things he had never known: a client was unhappy, and two team members were overloaded. “I thought I was leading the conversation,” he admitted. “Really, I was blocking it.” Now he follows a simple rule: listen to understand, not just to reply. His team says he has become much easier to talk to.</a:t>
            </a:r>
          </a:p>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Rob think he was a good communicator?</a:t>
            </a:r>
          </a:p>
          <a:p>
            <a:r>
              <a:t>A: Because he talked well and gave clear opinions.</a:t>
            </a:r>
          </a:p>
          <a:p>
            <a:r>
              <a:t>Q2. What was the experiment?</a:t>
            </a:r>
          </a:p>
          <a:p>
            <a:r>
              <a:t>A: Talk less than half the time, ask questions, wait, and summarise.</a:t>
            </a:r>
          </a:p>
          <a:p>
            <a:r>
              <a:t>Q3. What did he learn?</a:t>
            </a:r>
          </a:p>
          <a:p>
            <a:r>
              <a:t>A: People opened up and told him about problems he hadn’t known.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Active listening 积极倾听</a:t>
            </a:r>
          </a:p>
          <a:p>
            <a:r>
              <a:t>领读 → 学员跟读 → 请学员用表达造一个和自己工作相关的句子。</a:t>
            </a:r>
          </a:p>
          <a:p>
            <a:r>
              <a:t>active listening (noun) 积极倾听 — “Active listening means showing that you understand.”</a:t>
            </a:r>
          </a:p>
          <a:p>
            <a:r>
              <a:t>Go on. / I see. / Right. (phrase) 请继续 / 明白 / 对 — “Go on, I’m listening.”</a:t>
            </a:r>
          </a:p>
          <a:p>
            <a:r>
              <a:t>★ So what you’re saying is… (phrase) 你的意思是… — “So what you’re saying is that the deadline is the problem.”</a:t>
            </a:r>
          </a:p>
          <a:p>
            <a:r>
              <a:t>★ paraphrase (verb) 用自己的话复述 — “Paraphrase what they said to check you understood.”</a:t>
            </a:r>
          </a:p>
          <a:p>
            <a:r>
              <a:t>★ read between the lines (idiom) 听出言外之意 — “She didn’t complain, but I could read between the lines.”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Clarifying 澄清</a:t>
            </a:r>
          </a:p>
          <a:p>
            <a:r>
              <a:t>领读 → 学员跟读 → 请学员用表达造一个和自己工作相关的句子。</a:t>
            </a:r>
          </a:p>
          <a:p>
            <a:r>
              <a:t>Could you clarify what you mean by…? (phrase) 你能解释一下…是什么意思吗? — “Could you clarify what you mean by ‘soon’?”</a:t>
            </a:r>
          </a:p>
          <a:p>
            <a:r>
              <a:t>Sorry, I didn’t quite follow. (phrase) 抱歉,我没太跟上 — “Sorry, I didn’t quite follow. Could you go over that again?”</a:t>
            </a:r>
          </a:p>
          <a:p>
            <a:r>
              <a:t>★ Could you elaborate on that? (phrase) 你能详细说说吗? — “Could you elaborate on that last point?”</a:t>
            </a:r>
          </a:p>
          <a:p>
            <a:r>
              <a:t>★ To make sure I’ve got this right, … (phrase) 为了确认我没理解错… — “To make sure I’ve got this right, we start in May?”</a:t>
            </a:r>
          </a:p>
          <a:p>
            <a:r>
              <a:t>★ go over (phrasal verb) 再过一遍 — “Let’s go over the main points again.”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Turn-taking 轮流发言</a:t>
            </a:r>
          </a:p>
          <a:p>
            <a:r>
              <a:t>领读 → 学员跟读 → 请学员用表达造一个和自己工作相关的句子。</a:t>
            </a:r>
          </a:p>
          <a:p>
            <a:r>
              <a:t>Sorry to interrupt, but… (phrase) 抱歉打断一下… — “Sorry to interrupt, but I have a quick question.”</a:t>
            </a:r>
          </a:p>
          <a:p>
            <a:r>
              <a:t>May I finish my point? (phrase) 我能把话说完吗? — “May I just finish my point?”</a:t>
            </a:r>
          </a:p>
          <a:p>
            <a:r>
              <a:t>★ Let me jump in here. (phrase) 我插一句 — “Let me jump in here. I think we’re missing something.”</a:t>
            </a:r>
          </a:p>
          <a:p>
            <a:r>
              <a:t>★ I’d like to build on that. (phrase) 我想在此基础上补充 — “I’d like to build on what Maria said.”</a:t>
            </a:r>
          </a:p>
          <a:p>
            <a:r>
              <a:t>★ get a word in (idiom) 插得上话 — “He talks so much that I can’t get a word in.”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listening / saying / clarify / follow / interrupt / build</a:t>
            </a:r>
          </a:p>
          <a:p>
            <a:r>
              <a:t>1. Active _______ means showing that you understand. → listening</a:t>
            </a:r>
          </a:p>
          <a:p>
            <a:r>
              <a:t>2. So what you’re _______ is that the deadline is the problem. → saying</a:t>
            </a:r>
          </a:p>
          <a:p>
            <a:r>
              <a:t>3. Could you _______ what you mean by “soon”? → clarify</a:t>
            </a:r>
          </a:p>
          <a:p>
            <a:r>
              <a:t>4. Sorry, I didn’t quite _______. Could you go over that again? → follow</a:t>
            </a:r>
          </a:p>
          <a:p>
            <a:r>
              <a:t>5. Sorry to _______, but I have a quick question. → interrupt</a:t>
            </a:r>
          </a:p>
          <a:p>
            <a:r>
              <a:t>6. I’d like to _______ on what Maria said. → build</a:t>
            </a:r>
          </a:p>
          <a:p>
            <a:r>
              <a:t>Mistake Watch: (搭配) listen TO someone; pay attention TO. Spelling: interrupt (rr), paraphrase, clarify; conversation (not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Clarifying in a business conversation 澄清含义</a:t>
            </a:r>
          </a:p>
          <a:p>
            <a:r>
              <a:t>情景：A manager gives vague instructions. You listen and clarify.</a:t>
            </a:r>
          </a:p>
          <a:p>
            <a:r>
              <a:t>Role A: Helen Brook, manager Role B: Rob Davies,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(Helen): Rob, I need the report soon, and it should cover the main issues.</a:t>
            </a:r>
          </a:p>
          <a:p>
            <a:r>
              <a:t>B (Rob): Sure. Could you clarify what you mean by “soon”?</a:t>
            </a:r>
          </a:p>
          <a:p>
            <a:r>
              <a:t>A: Ideally by Thursday.</a:t>
            </a:r>
          </a:p>
          <a:p>
            <a:r>
              <a:t>B: Thursday morning or afternoon?</a:t>
            </a:r>
          </a:p>
          <a:p>
            <a:r>
              <a:t>A: Morning, before the client call at eleven.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Got it. And when you say “the main issues”, do you mean the budget and the timeline?</a:t>
            </a:r>
          </a:p>
          <a:p>
            <a:r>
              <a:t>A: Yes, and also the staffing risk.</a:t>
            </a:r>
          </a:p>
          <a:p>
            <a:r>
              <a:t>B: To make sure I’ve got this right, you want a short report by Thursday morning on budget, timeline and staffing risk?</a:t>
            </a:r>
          </a:p>
          <a:p>
            <a:r>
              <a:t>A: Exactly. Thanks, Rob.</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clarify vague instructions.</a:t>
            </a:r>
          </a:p>
          <a:p>
            <a:r>
              <a:t>Your role (B) | Employee. Your task: ______________</a:t>
            </a:r>
          </a:p>
          <a:p>
            <a:r>
              <a:t>Partner’s role (A) | Manager who gives vague instructions.</a:t>
            </a:r>
          </a:p>
          <a:p>
            <a:r>
              <a:t>Must use (4 or more) | Could you clarify what you mean by…? · Do you mean…? · To make sure I’ve got this right, … · by when · Got it</a:t>
            </a:r>
          </a:p>
          <a:p>
            <a:r>
              <a:t>Goal | Ask three clarifying questions and summarise the instructions at the end.</a:t>
            </a:r>
          </a:p>
          <a:p>
            <a:r>
              <a:t>My notes | ____________________________________________</a:t>
            </a:r>
          </a:p>
          <a:p>
            <a:r>
              <a:t>The manager is in a hurry. Be brief: “Just one thing: what’s the deadline?”</a:t>
            </a:r>
          </a:p>
          <a:p>
            <a:r>
              <a:t>Paraphrase twice in 90 seconds.</a:t>
            </a:r>
          </a:p>
          <a:p>
            <a:r>
              <a:t>Confirm by email afterwards: “Just to confirm, …”</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Taking turns and interrupting politely 轮流发言与礼貌打断</a:t>
            </a:r>
          </a:p>
          <a:p>
            <a:r>
              <a:t>情景：In a discussion, one person talks too much and you want to add your point.</a:t>
            </a:r>
          </a:p>
          <a:p>
            <a:r>
              <a:t>Role A: Greg, talkative colleague Role B: Lena,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(Greg): …and another thing, I think we should change the whole system, and we should do it now, and…</a:t>
            </a:r>
          </a:p>
          <a:p>
            <a:r>
              <a:t>B (Lena): Sorry to interrupt, Greg, but may I add something?</a:t>
            </a:r>
          </a:p>
          <a:p>
            <a:r>
              <a:t>A: Go ahead.</a:t>
            </a:r>
          </a:p>
          <a:p>
            <a:r>
              <a:t>B: I’d like to build on your point about the system. I agree it needs to change, but I wonder if we should do it in stages.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In stages? Why?</a:t>
            </a:r>
          </a:p>
          <a:p>
            <a:r>
              <a:t>B: Because a big change might cause problems for customers. Perhaps we could start with one department?</a:t>
            </a:r>
          </a:p>
          <a:p>
            <a:r>
              <a:t>A: Hmm. That’s a fair point. Let’s talk about it.</a:t>
            </a:r>
          </a:p>
          <a:p>
            <a:r>
              <a:t>B: Thanks, Greg. If we pilot it, we can learn from mistakes before going further.</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politely interrupt a talkative colleague.</a:t>
            </a:r>
          </a:p>
          <a:p>
            <a:r>
              <a:t>Your role (B) | You. The topic: ______________</a:t>
            </a:r>
          </a:p>
          <a:p>
            <a:r>
              <a:t>Partner’s role (A) | Colleague who dominates the conversation.</a:t>
            </a:r>
          </a:p>
          <a:p>
            <a:r>
              <a:t>Must use (3 or more) | Sorry to interrupt, but… · May I add something? · I’d like to build on… · Perhaps we could… · Let me finish my point</a:t>
            </a:r>
          </a:p>
          <a:p>
            <a:r>
              <a:t>Goal | Interrupt, add a point and keep control of the conversation.</a:t>
            </a:r>
          </a:p>
          <a:p>
            <a:r>
              <a:t>My notes | ____________________________________________</a:t>
            </a:r>
          </a:p>
          <a:p>
            <a:r>
              <a:t>Interrupt a senior person: “If I may, I’d like to add something quickly.”</a:t>
            </a:r>
          </a:p>
          <a:p>
            <a:r>
              <a:t>Handle being interrupted: “Sorry, may I just finish this thought?”</a:t>
            </a:r>
          </a:p>
          <a:p>
            <a:r>
              <a:t>Give credit: “As Greg said, …”</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conversation successful? | “I think it’s…” / “A good conversation is one where…”</a:t>
            </a:r>
          </a:p>
          <a:p>
            <a:r>
              <a:t>2. How do you show you’re listening on a video call? | “I nod and…” / “I use phrases like…”</a:t>
            </a:r>
          </a:p>
          <a:p>
            <a:r>
              <a:t>3. Is interrupting always rude? | “It depends on…” / “In some cultures, …”</a:t>
            </a:r>
          </a:p>
          <a:p>
            <a:r>
              <a:t>4. How do you deal with people who talk too much? | “I try to…” / “I wait for a pause and…”</a:t>
            </a:r>
          </a:p>
          <a:p>
            <a:r>
              <a:t>5. What do you do when you disagree but don’t want to argue? | “I say… and then…” / “I find common ground first.”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a successful conversation is one where both people leave with something new. That means each person speaks and listens in a fairly balanced way. You ask questions, you check you’ve understood, and you don’t just wait for your turn to talk. It also helps to have a purpose, even for a casual chat. If both of you feel heard, the conversation was a success.”</a:t>
            </a:r>
          </a:p>
          <a:p>
            <a:r>
              <a:t>“a conversation where…” 定语从句;“wait for your turn” = 等轮到你说;“feel heard” = 感到被倾听。</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Phrases for managing a conversation 控制对话的短语</a:t>
            </a:r>
          </a:p>
          <a:p>
            <a:r>
              <a:t>Function | Phrase</a:t>
            </a:r>
          </a:p>
          <a:p>
            <a:r>
              <a:t>Check understanding | So what you’re saying is… / Do you mean…?</a:t>
            </a:r>
          </a:p>
          <a:p>
            <a:r>
              <a:t>Ask for more detail | Could you elaborate on that?</a:t>
            </a:r>
          </a:p>
          <a:p>
            <a:r>
              <a:t>Interrupt | Sorry to interrupt, but… / If I may, …</a:t>
            </a:r>
          </a:p>
          <a:p>
            <a:r>
              <a:t>Take the floor back | Let me finish my point. / As I was saying, …</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Phrases for managing a conversation 控制对话的短语</a:t>
            </a:r>
          </a:p>
          <a:p>
            <a:r>
              <a:t>Show you’re listening: nod, say I see / Right / Mm-hmm, and keep eye contact (or look at the camera).</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listened him carefully.  →  ✓ I listened to him carefully.  (listen to)</a:t>
            </a:r>
          </a:p>
          <a:p>
            <a:r>
              <a:t>✗ Can you explain me what you mean?  →  ✓ Can you explain to me what you mean? / Can you explain what you mean?  (explain to sb)</a:t>
            </a:r>
          </a:p>
          <a:p>
            <a:r>
              <a:t>✗ I don’t understand your speaking.  →  ✓ Sorry, I didn’t quite follow.  (更自然,不责备对方)</a:t>
            </a:r>
          </a:p>
          <a:p>
            <a:r>
              <a:t>Mistake Watch: Check the prepositions: listen TO, explain TO, pay attention TO.</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repeat again.  →  ✓ Could you say that again? / Could you repeat that?  (repeat 已含”再一次”)</a:t>
            </a:r>
          </a:p>
          <a:p>
            <a:r>
              <a:t>✗ You are agree?  →  ✓ Do you agree?  (agree 是动词)</a:t>
            </a:r>
          </a:p>
          <a:p>
            <a:r>
              <a:t>✗ He is so talkative that I can’t say a word.  →  ✓ He talks so much that I can’t get a word in.  (get a word in)</a:t>
            </a:r>
          </a:p>
          <a:p>
            <a:r>
              <a:t>Mistake Watch: Check the prepositions: listen TO, explain TO, pay attention TO.</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Silence. In English-speaking cultures, a pause of 2–3 seconds before answering is normal. Don’t rush to fill it.</a:t>
            </a:r>
          </a:p>
          <a:p>
            <a:r>
              <a:t>Interrupting. In some cultures overlapping speech shows enthusiasm. In UK/US business meetings, it is often seen as rude. Say “Sorry to interrupt” first.</a:t>
            </a:r>
          </a:p>
          <a:p>
            <a:r>
              <a:t>Eye contact. Short, regular eye contact signals honesty. Staring can feel aggressive.</a:t>
            </a:r>
          </a:p>
          <a:p>
            <a:r>
              <a:t>Small sounds. “Mm-hmm” and “I see” show you’re following. Complete silence can look as if you don’t understand.</a:t>
            </a:r>
          </a:p>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use So what you’re saying is… to show I understand.</a:t>
            </a:r>
          </a:p>
          <a:p>
            <a:r>
              <a:t>I can ask for clarification and detail politely.</a:t>
            </a:r>
          </a:p>
          <a:p>
            <a:r>
              <a:t>I can interrupt and take turns without sounding rude.</a:t>
            </a:r>
          </a:p>
          <a:p>
            <a:r>
              <a:t>I use listen to and explain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a 90-second conversation with a partner or imagined partner, including two clarifying questions and one polite interruption.</a:t>
            </a:r>
          </a:p>
          <a:p>
            <a:r>
              <a:t>8–10 | Listen to your recording. Check: listen to / explain to, “agree” as a verb, polite interruption.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19 · How miscommunication happens 误解如何发生</a:t>
            </a:r>
          </a:p>
          <a:p>
            <a:r>
              <a:t>Goal: understand why misunderstandings happen at work, repair them quickly and prevent them with clearer language.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题讲过去的事,用过去式。第 5 题用现在完成时问经历,回答时改用过去式。</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Tell the story of a misunderstanding at work and how it was fixed.</a:t>
            </a:r>
          </a:p>
          <a:p>
            <a:r>
              <a:t>Say: what happened → why it happened → how you fixed it → what you learned.</a:t>
            </a:r>
          </a:p>
          <a:p>
            <a:r>
              <a:t>Useful starters: “What went wrong was that…” / “It turned out that…” / “The lesson I learned was…”</a:t>
            </a:r>
          </a:p>
          <a:p>
            <a:r>
              <a:t>“It turned out that…” 表示”结果发现…“,常用来揭示真相。”What went wrong was that…” 是强调句型。</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British manager, Nick, reviewed a draft from his Chinese colleague, Wen. “This is quite good,” he said. Wen was delighted. In China, that sounded like praise. But Nick meant something different: good, but not great, and some things needed to change. When the final version arrived with few changes, Nick was disappointed, and Wen was confused. Later they discovered the gap. Nick learned to be clearer: “I like the structure, but the summary needs to be shorter. Please change it by Friday.” Wen started to ask, “Could you tell me what would make it excellent?” The two also agreed to confirm important points in writing. “We were both being polite,” Nick says. “That was exactly the problem.” Miscommunication is rarely about grammar. It is usually about assumptions, tone and what is left unsaid.</a:t>
            </a:r>
          </a:p>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did Wen think “quite good” meant?</a:t>
            </a:r>
          </a:p>
          <a:p>
            <a:r>
              <a:t>A: That it was real praise.</a:t>
            </a:r>
          </a:p>
          <a:p>
            <a:r>
              <a:t>Q2. What did Nick actually mean?</a:t>
            </a:r>
          </a:p>
          <a:p>
            <a:r>
              <a:t>A: That it was good but needed changes.</a:t>
            </a:r>
          </a:p>
          <a:p>
            <a:r>
              <a:t>Q3. What two things did they change?</a:t>
            </a:r>
          </a:p>
          <a:p>
            <a:r>
              <a:t>A: Nick gave clearer, specific feedback; Wen asked what would make it excellent, and they confirmed points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Why it happens 误解的原因</a:t>
            </a:r>
          </a:p>
          <a:p>
            <a:r>
              <a:t>领读 → 学员跟读 → 请学员用表达造一个和自己工作相关的句子。</a:t>
            </a:r>
          </a:p>
          <a:p>
            <a:r>
              <a:t>misunderstanding (noun) 误会 — “There was a misunderstanding about the delivery date.”</a:t>
            </a:r>
          </a:p>
          <a:p>
            <a:r>
              <a:t>assumption (noun) 假设,想当然的看法 — “We made different assumptions about the deadline.”</a:t>
            </a:r>
          </a:p>
          <a:p>
            <a:r>
              <a:t>jargon (noun (uncountable)) 行话 — “Avoid jargon when you talk to clients.”</a:t>
            </a:r>
          </a:p>
          <a:p>
            <a:r>
              <a:t>★ lost in translation (idiom) 翻译中丢失了含义 — “Something got lost in translation between the two teams.”</a:t>
            </a:r>
          </a:p>
          <a:p>
            <a:r>
              <a:t>★ mixed signals (noun phrase) 前后矛盾的信号 — “He said yes but looked unsure, so I got mixed signals.”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Repairing 补救</a:t>
            </a:r>
          </a:p>
          <a:p>
            <a:r>
              <a:t>领读 → 学员跟读 → 请学员用表达造一个和自己工作相关的句子。</a:t>
            </a:r>
          </a:p>
          <a:p>
            <a:r>
              <a:t>What I meant was… (phrase) 我的意思是… — “What I meant was that the budget is flexible.”</a:t>
            </a:r>
          </a:p>
          <a:p>
            <a:r>
              <a:t>Let me put it another way. (phrase) 我换个说法 — “Let me put it another way: we need two more weeks.”</a:t>
            </a:r>
          </a:p>
          <a:p>
            <a:r>
              <a:t>★ at cross purposes (idiom) 各说各话 — “I think we’re at cross purposes. Are you talking about version one or two?”</a:t>
            </a:r>
          </a:p>
          <a:p>
            <a:r>
              <a:t>★ clear the air (idiom) 消除误会,化解紧张 — “Let’s have a quick chat to clear the air.”</a:t>
            </a:r>
          </a:p>
          <a:p>
            <a:r>
              <a:t>★ give the wrong impression (collocation) 给人错误的印象 — “I may have given the wrong impression. I didn’t mean to be critical.”</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Preventing 预防</a:t>
            </a:r>
          </a:p>
          <a:p>
            <a:r>
              <a:t>领读 → 学员跟读 → 请学员用表达造一个和自己工作相关的句子。</a:t>
            </a:r>
          </a:p>
          <a:p>
            <a:r>
              <a:t>spell it out (phrasal verb) 讲得清清楚楚 — “Let me spell it out: we need it by 5 p.m.”</a:t>
            </a:r>
          </a:p>
          <a:p>
            <a:r>
              <a:t>confirm in writing (collocation) 书面确认 — “Please confirm in writing.”</a:t>
            </a:r>
          </a:p>
          <a:p>
            <a:r>
              <a:t>be on the same page (idiom) 想法一致 — “Let’s make sure we’re on the same page.”</a:t>
            </a:r>
          </a:p>
          <a:p>
            <a:r>
              <a:t>★ ambiguous (adjective) 含糊的,有歧义的 — “The instruction was ambiguous.”</a:t>
            </a:r>
          </a:p>
          <a:p>
            <a:r>
              <a:t>★ take for granted (idiom) 想当然 — “Don’t take it for granted that everyone knows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assumptions / jargon / meant / air / spell / ambiguous</a:t>
            </a:r>
          </a:p>
          <a:p>
            <a:r>
              <a:t>1. We made different _______ about the deadline. → assumptions</a:t>
            </a:r>
          </a:p>
          <a:p>
            <a:r>
              <a:t>2. Avoid _______ when you talk to clients. → jargon</a:t>
            </a:r>
          </a:p>
          <a:p>
            <a:r>
              <a:t>3. What I _______ was that the budget is flexible. → meant</a:t>
            </a:r>
          </a:p>
          <a:p>
            <a:r>
              <a:t>4. Let’s have a quick chat to clear the _______. → air</a:t>
            </a:r>
          </a:p>
          <a:p>
            <a:r>
              <a:t>5. Let me _______ it out: we need it by 5 p.m. → spell</a:t>
            </a:r>
          </a:p>
          <a:p>
            <a:r>
              <a:t>6. The instruction was _______, so we guessed. → ambiguous</a:t>
            </a:r>
          </a:p>
          <a:p>
            <a:r>
              <a:t>Mistake Watch: (词形) assume (verb) → assumption (noun); misunderstand → misunderstood → misunderstanding. Spelling: ambiguous, assumption, jargon.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Fixing a misunderstanding 化解误会</a:t>
            </a:r>
          </a:p>
          <a:p>
            <a:r>
              <a:t>情景：You and a colleague discover that you meant different things by a deadline.</a:t>
            </a:r>
          </a:p>
          <a:p>
            <a:r>
              <a:t>Role A: Nick Hall, manager Role B: Wen Li,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(Nick): Wen, I thought you were sending the report today. Is it ready?</a:t>
            </a:r>
          </a:p>
          <a:p>
            <a:r>
              <a:t>B (Wen): I thought the deadline was Friday. You said “by the end of the week.”</a:t>
            </a:r>
          </a:p>
          <a:p>
            <a:r>
              <a:t>A: Ah, I think we’re at cross purposes. By “the end of the week” I meant Wednesday, because the client call is on Thursday.</a:t>
            </a:r>
          </a:p>
          <a:p>
            <a:r>
              <a:t>B: I see. I’m sorry, I took it for granted that it meant Friday.</a:t>
            </a:r>
          </a:p>
          <a:p>
            <a:r>
              <a:t>A: No, it’s my fault. I should have spelled it out. What I meant was Wednesday evening.</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Can I send it by tomorrow morning? That’s the earliest I can do.</a:t>
            </a:r>
          </a:p>
          <a:p>
            <a:r>
              <a:t>A: Tomorrow morning is fine. Let’s confirm it in writing.</a:t>
            </a:r>
          </a:p>
          <a:p>
            <a:r>
              <a:t>B: I’ll send an email now: “Report due Thursday, 9 a.m.”</a:t>
            </a:r>
          </a:p>
          <a:p>
            <a:r>
              <a:t>A: Perfect. Thanks, and sorry for the confusion.</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11 | </a:t>
            </a:r>
          </a:p>
          <a:p>
            <a:r>
              <a:t>Situation | You discover a misunderstanding about a deadline and fix it.</a:t>
            </a:r>
          </a:p>
          <a:p>
            <a:r>
              <a:t>Your role (B) | Colleague. Your task: ______________</a:t>
            </a:r>
          </a:p>
          <a:p>
            <a:r>
              <a:t>Partner’s role (A) | Manager.</a:t>
            </a:r>
          </a:p>
          <a:p>
            <a:r>
              <a:t>Must use (4 or more) | I thought… · at cross purposes · What I meant was… · spell it out · confirm in writing</a:t>
            </a:r>
          </a:p>
          <a:p>
            <a:r>
              <a:t>Goal | Find the cause, apologise briefly, agree a new date, confirm in writing.</a:t>
            </a:r>
          </a:p>
          <a:p>
            <a:r>
              <a:t>My notes | ____________________________________________</a:t>
            </a:r>
          </a:p>
          <a:p>
            <a:r>
              <a:t>Blame no one: “It seems we understood it differently.”</a:t>
            </a:r>
          </a:p>
          <a:p>
            <a:r>
              <a:t>Ask: “What did you understand by ‘urgent’?”</a:t>
            </a:r>
          </a:p>
          <a:p>
            <a:r>
              <a:t>Suggest a prevention: “Next time, let’s put the date in the subject line.”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cultural misunderstanding 文化误解</a:t>
            </a:r>
          </a:p>
          <a:p>
            <a:r>
              <a:t>情景：A UK manager and a Chinese colleague talk about feedback that was unclear.</a:t>
            </a:r>
          </a:p>
          <a:p>
            <a:r>
              <a:t>Role A: Nick Hall, UK manager Role B: Wen Li, Chinese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(Nick): Wen, I’d like to talk about your draft. I said it was quite good, but I’m not sure I made myself clear.</a:t>
            </a:r>
          </a:p>
          <a:p>
            <a:r>
              <a:t>B (Wen): I was happy with that. Was there a problem?</a:t>
            </a:r>
          </a:p>
          <a:p>
            <a:r>
              <a:t>A: Not a problem, but I may have given the wrong impression. In British English, “quite good” can mean “good, but not excellent”.</a:t>
            </a:r>
          </a:p>
          <a:p>
            <a:r>
              <a:t>B: Oh, I see. I thought it meant you were pleased.</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was, mostly. The structure is strong. The summary is too long. Could you shorten it?</a:t>
            </a:r>
          </a:p>
          <a:p>
            <a:r>
              <a:t>B: Of course. Thank you for telling me directly.</a:t>
            </a:r>
          </a:p>
          <a:p>
            <a:r>
              <a:t>A: And please do the same for me. If something I say is unclear, ask: “Could you tell me what you mean?”</a:t>
            </a:r>
          </a:p>
          <a:p>
            <a:r>
              <a:t>B: I will. It helps to know. Let’s check in again on Friday.</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12 | </a:t>
            </a:r>
          </a:p>
          <a:p>
            <a:r>
              <a:t>Situation | You clear up a cultural misunderstanding about tone.</a:t>
            </a:r>
          </a:p>
          <a:p>
            <a:r>
              <a:t>Your role (A) | Manager from another culture. Your culture: ______________</a:t>
            </a:r>
          </a:p>
          <a:p>
            <a:r>
              <a:t>Partner’s role (B) | Employee whose culture uses different signals.</a:t>
            </a:r>
          </a:p>
          <a:p>
            <a:r>
              <a:t>Must use (3 or more) | I’m not sure I made myself clear · I may have given the wrong impression · In my culture… · Could you tell me what you mean? · clear the air</a:t>
            </a:r>
          </a:p>
          <a:p>
            <a:r>
              <a:t>Goal | Explain what each of you meant and agree a way to avoid it.</a:t>
            </a:r>
          </a:p>
          <a:p>
            <a:r>
              <a:t>My notes | ____________________________________________</a:t>
            </a:r>
          </a:p>
          <a:p>
            <a:r>
              <a:t>Use “In my culture…” without judging: “In my culture, silence often means respect.”</a:t>
            </a:r>
          </a:p>
          <a:p>
            <a:r>
              <a:t>Ask about tone: “How did my message sound to you?”</a:t>
            </a:r>
          </a:p>
          <a:p>
            <a:r>
              <a:t>Write down one team rule.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main causes of miscommunication at work? | “One major cause is…” / “Often it comes down to…”</a:t>
            </a:r>
          </a:p>
          <a:p>
            <a:r>
              <a:t>2. How can we reduce misunderstandings in emails? | “Be specific about…” / “I’d put the key point…”</a:t>
            </a:r>
          </a:p>
          <a:p>
            <a:r>
              <a:t>3. Do cultural differences cause problems in your workplace? | “Yes. For example, …” / “Not really, but…”</a:t>
            </a:r>
          </a:p>
          <a:p>
            <a:r>
              <a:t>4. How do you check understanding? | “I ask people to…” / “I summarise and…”</a:t>
            </a:r>
          </a:p>
          <a:p>
            <a:r>
              <a:t>5. Who is responsible for clear communication: the speaker or the listener? | “Both, but especially…”</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both are responsible, but the speaker has the first duty. If I want to be understood, I need to choose clear words, avoid jargon, and check that the listener has followed. At the same time, listeners should ask questions if something isn’t clear instead of guessing. It only takes five seconds to ask, and it can save five days of rework.”</a:t>
            </a:r>
          </a:p>
          <a:p>
            <a:r>
              <a:t>“the first duty” = 首要责任;“instead of + -ing” = 而不是…;“rework” = 返工。</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Repair phrases 补救短语</a:t>
            </a:r>
          </a:p>
          <a:p>
            <a:r>
              <a:t>Problem | What to say</a:t>
            </a:r>
          </a:p>
          <a:p>
            <a:r>
              <a:t>You were not clear | What I meant was… / Let me put it another way.</a:t>
            </a:r>
          </a:p>
          <a:p>
            <a:r>
              <a:t>You did not understand | Sorry, I didn’t catch that. / Could you say that differently?</a:t>
            </a:r>
          </a:p>
          <a:p>
            <a:r>
              <a:t>Different assumptions | I think we’re at cross purposes.</a:t>
            </a:r>
          </a:p>
          <a:p>
            <a:r>
              <a:t>Wrong impression | I didn’t mean it like that. I’m sorry if it sounded…</a:t>
            </a:r>
          </a:p>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Repair phrases 补救短语</a:t>
            </a:r>
          </a:p>
          <a:p>
            <a:r>
              <a:t>Take the blame lightly (“I should have been clearer”) to protect the other person’s face.</a:t>
            </a:r>
          </a:p>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misunderstood you because your speaking is not clear.  →  ✓ I think I misunderstood. Could you say that again?  (不要责备对方)</a:t>
            </a:r>
          </a:p>
          <a:p>
            <a:r>
              <a:t>✗ You mistake my meaning.  →  ✓ You’ve misunderstood me. / You’ve got the wrong end of the stick.  (misunderstand)</a:t>
            </a:r>
          </a:p>
          <a:p>
            <a:r>
              <a:t>✗ There is a misunderstand.  →  ✓ There is a misunderstanding.  (名词)</a:t>
            </a:r>
          </a:p>
          <a:p>
            <a:r>
              <a:t>Mistake Watch: Practise the forms: misunderstand (verb), misunderstanding (noun), misunderstood (past), and clearly (adverb).</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didn’t mean to hurt you by my word.  →  ✓ I didn’t mean to upset you.  (upset)</a:t>
            </a:r>
          </a:p>
          <a:p>
            <a:r>
              <a:t>✗ It’s not my mistake, it’s your.  →  ✓ It’s not my mistake. It’s yours.  (yours)</a:t>
            </a:r>
          </a:p>
          <a:p>
            <a:r>
              <a:t>✗ We should have communicated clear.  →  ✓ We should have communicated clearly.  (副词)</a:t>
            </a:r>
          </a:p>
          <a:p>
            <a:r>
              <a:t>Mistake Watch: Practise the forms: misunderstand (verb), misunderstanding (noun), misunderstood (past), and clearly (adverb).</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High-context vs low-context. Many Asian cultures are “high-context”: meaning is in the situation. UK/US business English is more “low-context”: say it directly, then soften.</a:t>
            </a:r>
          </a:p>
          <a:p>
            <a:r>
              <a:t>Understatement. British “not bad” = good; “quite interesting” = maybe not; “I’ll bear it in mind” = probably no.</a:t>
            </a:r>
          </a:p>
          <a:p>
            <a:r>
              <a:t>Say it twice. Say the key point in speech and confirm it in writing.</a:t>
            </a:r>
          </a:p>
          <a:p>
            <a:r>
              <a:t>Apologise lightly. “Sorry, I wasn’t clear” is a professional way to reset.</a:t>
            </a:r>
          </a:p>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name three causes of miscommunication.</a:t>
            </a:r>
          </a:p>
          <a:p>
            <a:r>
              <a:t>I can repair a misunderstanding with What I meant was… and at cross purposes.</a:t>
            </a:r>
          </a:p>
          <a:p>
            <a:r>
              <a:t>I can clarify expectations and confirm in writing.</a:t>
            </a:r>
          </a:p>
          <a:p>
            <a:r>
              <a:t>I use misunderstand / misunderstanding / misunderstood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Tell your misunderstanding story in 60 seconds. Then role-play the repair conversation. Record both.</a:t>
            </a:r>
          </a:p>
          <a:p>
            <a:r>
              <a:t>8–10 | Listen to your recording. Check: misunderstand forms, clearly vs clear, past tense in stories.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20 · Managing a phone call 处理电话</a:t>
            </a:r>
          </a:p>
          <a:p>
            <a:r>
              <a:t>Goal: handle business phone calls confidently: answer, ask who is calling, take messages, transfer calls, deal with problems and leave voicemail.</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题讲过去的事,用过去式。“on the phone” 指正在通话;“by phone” 指通过电话方式。</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Leave a 30-second voicemail for a client about a meeting change.</a:t>
            </a:r>
          </a:p>
          <a:p>
            <a:r>
              <a:t>Say: greeting and name → reason → request → your number.</a:t>
            </a:r>
          </a:p>
          <a:p>
            <a:r>
              <a:t>Useful starters: “Hello, this is… from…” / “I’m calling about…” / “Could you call me back on…?” / “Thank you. Goodbye.”</a:t>
            </a:r>
          </a:p>
          <a:p>
            <a:r>
              <a:t>“I’m calling about…” 说明来电目的;“call me back on + 号码” 介词用 on。号码要慢读:每组数字后停顿。</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Greg used to dislike leaving voicemails. He rambled, forgot his number and often ended up saying, “Um, just call me.” Then his assistant gave him a template. First, say who you are and which company you’re from. Second, say why you’re calling in one sentence. Third, say what you need and by when. Finally, repeat your number slowly and say thank you. A voicemail should be shorter than thirty seconds. The first time he tried it, Greg felt as if he was reading from a script. But replies came faster, and one client told him: “I always call back when I know exactly what you want.” Greg now writes down two key points before he dials, so he never loses track. He says his calls have become shorter and more useful, and he no longer worries when he hears the beep.</a:t>
            </a:r>
          </a:p>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problems did Greg have with voicemails?</a:t>
            </a:r>
          </a:p>
          <a:p>
            <a:r>
              <a:t>A: He rambled, forgot his number and was unclear.</a:t>
            </a:r>
          </a:p>
          <a:p>
            <a:r>
              <a:t>Q2. What are the four parts of the template?</a:t>
            </a:r>
          </a:p>
          <a:p>
            <a:r>
              <a:t>A: Who you are, why you call, what you need and by when, your number and thanks.</a:t>
            </a:r>
          </a:p>
          <a:p>
            <a:r>
              <a:t>Q3. What was the result?</a:t>
            </a:r>
          </a:p>
          <a:p>
            <a:r>
              <a:t>A: Replies came faster and clients knew what he wanted.</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and identifying 接听与自我介绍</a:t>
            </a:r>
          </a:p>
          <a:p>
            <a:r>
              <a:t>领读 → 学员跟读 → 请学员用表达造一个和自己工作相关的句子。</a:t>
            </a:r>
          </a:p>
          <a:p>
            <a:r>
              <a:t>Hello, this is … speaking. (phrase) 您好,我是… — “Good morning, this is Anna Wu speaking.”</a:t>
            </a:r>
          </a:p>
          <a:p>
            <a:r>
              <a:t>Who’s calling, please? (phrase) 请问哪位? — “Who’s calling, please?”</a:t>
            </a:r>
          </a:p>
          <a:p>
            <a:r>
              <a:t>I’m calling about… (phrase) 我来电是关于… — “I’m calling about your invoice.”</a:t>
            </a:r>
          </a:p>
          <a:p>
            <a:r>
              <a:t>Could I speak to…? (phrase) 请找… — “Could I speak to Mr Brown, please?”</a:t>
            </a:r>
          </a:p>
          <a:p>
            <a:r>
              <a:t>★ hold the line (phrase) 请稍等(不要挂电话) — “Could you hold the line, please? I’ll put you through.”</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Transferring and taking messages 转接与留言</a:t>
            </a:r>
          </a:p>
          <a:p>
            <a:r>
              <a:t>领读 → 学员跟读 → 请学员用表达造一个和自己工作相关的句子。</a:t>
            </a:r>
          </a:p>
          <a:p>
            <a:r>
              <a:t>put (someone) through (phrasal verb) 转接电话 — “I’ll put you through to Sales.”</a:t>
            </a:r>
          </a:p>
          <a:p>
            <a:r>
              <a:t>take a message (collocation) 记录留言 — “Can I take a message?”</a:t>
            </a:r>
          </a:p>
          <a:p>
            <a:r>
              <a:t>★ get back to you (phrasal verb) 回复您 — “I’ll get back to you this afternoon.”</a:t>
            </a:r>
          </a:p>
          <a:p>
            <a:r>
              <a:t>★ call (someone) back (phrasal verb) 回电话 — “Could you call me back after three?”</a:t>
            </a:r>
          </a:p>
          <a:p>
            <a:r>
              <a:t>leave a voicemail (verb phrase) 留语音留言 — “Please leave a voicemail and I’ll call you back.”</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Problems and checking details 问题与确认</a:t>
            </a:r>
          </a:p>
          <a:p>
            <a:r>
              <a:t>领读 → 学员跟读 → 请学员用表达造一个和自己工作相关的句子。</a:t>
            </a:r>
          </a:p>
          <a:p>
            <a:r>
              <a:t>You’re breaking up. (phrase) 信号断断续续 — “Sorry, you’re breaking up. Could you repeat that?”</a:t>
            </a:r>
          </a:p>
          <a:p>
            <a:r>
              <a:t>Could you spell that, please? (phrase) 请拼写一下 — “Could you spell your surname, please?”</a:t>
            </a:r>
          </a:p>
          <a:p>
            <a:r>
              <a:t>★ Let me read that back to you. (phrase) 我复述一遍给您确认 — “Let me read that back to you to make sure it’s right.”</a:t>
            </a:r>
          </a:p>
          <a:p>
            <a:r>
              <a:t>★ I’ll follow up in writing. (phrase) 我会书面跟进 — “I’ll follow up in writing with a summary.”</a:t>
            </a:r>
          </a:p>
          <a:p>
            <a:r>
              <a:t>★ get cut off (phrasal verb) 通话被切断 — “Sorry, we got cut off. I’ll call you back.”</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speaking / through / message / spell / back / cut</a:t>
            </a:r>
          </a:p>
          <a:p>
            <a:r>
              <a:t>1. Good morning, Anna Wu _______. → speaking</a:t>
            </a:r>
          </a:p>
          <a:p>
            <a:r>
              <a:t>2. I’ll put you _______ to Sales. → through</a:t>
            </a:r>
          </a:p>
          <a:p>
            <a:r>
              <a:t>3. Can I take a _______? → message</a:t>
            </a:r>
          </a:p>
          <a:p>
            <a:r>
              <a:t>4. Could you _______ your surname, please? → spell</a:t>
            </a:r>
          </a:p>
          <a:p>
            <a:r>
              <a:t>5. Let me read that _______ to you to make sure it’s right. → back</a:t>
            </a:r>
          </a:p>
          <a:p>
            <a:r>
              <a:t>6. Sorry, we got _______ off. I’ll call you back. → cut</a:t>
            </a:r>
          </a:p>
          <a:p>
            <a:r>
              <a:t>Mistake Watch: (介词与拼写) on the phone, by phone, call someone back. Spelling: surname, voicemail, through.</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Answering and transferring a call 接听并转接电话</a:t>
            </a:r>
          </a:p>
          <a:p>
            <a:r>
              <a:t>情景：You answer a call, ask who is calling and put the caller through.</a:t>
            </a:r>
          </a:p>
          <a:p>
            <a:r>
              <a:t>Role A: Anna Wu, receptionist Role B: Mr Blake, caller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(Anna): Good morning, Bright Logistics, Anna Wu speaking. How can I help you?</a:t>
            </a:r>
          </a:p>
          <a:p>
            <a:r>
              <a:t>B (Mr Blake): Good morning. Could I speak to Ms Chen in Sales, please?</a:t>
            </a:r>
          </a:p>
          <a:p>
            <a:r>
              <a:t>A: May I ask who’s calling?</a:t>
            </a:r>
          </a:p>
          <a:p>
            <a:r>
              <a:t>B: Yes, it’s Tom Blake from Delta Foods.</a:t>
            </a:r>
          </a:p>
          <a:p>
            <a:r>
              <a:t>A: Thank you, Mr Blake. Could you hold the line, please? I’ll put you through… I’m afraid Ms Chen is on another call. Would you like to hold, or can I take a message?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I’ll leave a message, please. Could you ask her to call me back?</a:t>
            </a:r>
          </a:p>
          <a:p>
            <a:r>
              <a:t>A: Of course. Could you spell your surname, please? And your number?</a:t>
            </a:r>
          </a:p>
          <a:p>
            <a:r>
              <a:t>B: B-L-A-K-E. My number is 0 2 1, 5 5 5, 0 1 9 8.</a:t>
            </a:r>
          </a:p>
          <a:p>
            <a:r>
              <a:t>A: Let me read that back to you: Blake, 021 555 0198. I’ll pass this on right away.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13 | </a:t>
            </a:r>
          </a:p>
          <a:p>
            <a:r>
              <a:t>Situation | You answer and handle a call for a colleague.</a:t>
            </a:r>
          </a:p>
          <a:p>
            <a:r>
              <a:t>Your role (A) | Receptionist. Your company: ______________</a:t>
            </a:r>
          </a:p>
          <a:p>
            <a:r>
              <a:t>Partner’s role (B) | Caller who wants a colleague who is not available.</a:t>
            </a:r>
          </a:p>
          <a:p>
            <a:r>
              <a:t>Must use (4 or more) | speaking · May I ask who’s calling? · hold the line · put you through · take a message · read that back</a:t>
            </a:r>
          </a:p>
          <a:p>
            <a:r>
              <a:t>Goal | Answer, identify the caller, transfer or take a message, and confirm the details.</a:t>
            </a:r>
          </a:p>
          <a:p>
            <a:r>
              <a:t>My notes | ____________________________________________</a:t>
            </a:r>
          </a:p>
          <a:p>
            <a:r>
              <a:t>The line is bad: “Sorry, you’re breaking up. Could you say that again?”</a:t>
            </a:r>
          </a:p>
          <a:p>
            <a:r>
              <a:t>The caller is annoyed: “I understand, Mr Blake. I’ll make sure Ms Chen calls you today.”</a:t>
            </a:r>
          </a:p>
          <a:p>
            <a:r>
              <a:t>Write down name, company, number and reason in 30 seconds.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Calling about a problem 为问题打电话</a:t>
            </a:r>
          </a:p>
          <a:p>
            <a:r>
              <a:t>情景：You call a supplier about a late delivery and agree on a solution.</a:t>
            </a:r>
          </a:p>
          <a:p>
            <a:r>
              <a:t>Role A: Wei Zhang, buyer Role B: Mr Reid, supplier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(Wei): Good afternoon, Mr Reid. It’s Wei Zhang from Orion Foods. I’m calling about order 4471.</a:t>
            </a:r>
          </a:p>
          <a:p>
            <a:r>
              <a:t>B (Mr Reid): Hello, Wei. How can I help?</a:t>
            </a:r>
          </a:p>
          <a:p>
            <a:r>
              <a:t>A: It was due on Monday, but it still hasn’t arrived. Do you know what happened?</a:t>
            </a:r>
          </a:p>
          <a:p>
            <a:r>
              <a:t>B: I’m sorry about that. Let me check. Could you hold on a moment? … It looks like it was held up at customs.</a:t>
            </a:r>
          </a:p>
          <a:p>
            <a:r>
              <a:t>A: I see. When can we expect it?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I’ll get back to you this afternoon with a firm date.</a:t>
            </a:r>
          </a:p>
          <a:p>
            <a:r>
              <a:t>A: That would be helpful. We have a customer waiting, so it’s quite urgent.</a:t>
            </a:r>
          </a:p>
          <a:p>
            <a:r>
              <a:t>B: Understood. I’ll follow up in writing as well.</a:t>
            </a:r>
          </a:p>
          <a:p>
            <a:r>
              <a:t>A: Thank you. Let me read that back: you’ll call me by three and confirm the date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14 | </a:t>
            </a:r>
          </a:p>
          <a:p>
            <a:r>
              <a:t>Situation | You call a supplier about a delay.</a:t>
            </a:r>
          </a:p>
          <a:p>
            <a:r>
              <a:t>Your role (A) | Buyer. Your order: ______________</a:t>
            </a:r>
          </a:p>
          <a:p>
            <a:r>
              <a:t>Partner’s role (B) | Supplier.</a:t>
            </a:r>
          </a:p>
          <a:p>
            <a:r>
              <a:t>Must use (3 or more) | I’m calling about… · it still hasn’t arrived · When can we expect it? · get back to you · I’ll follow up in writing</a:t>
            </a:r>
          </a:p>
          <a:p>
            <a:r>
              <a:t>Goal | State the problem, get a date, and confirm the next step.</a:t>
            </a:r>
          </a:p>
          <a:p>
            <a:r>
              <a:t>My notes | ____________________________________________</a:t>
            </a:r>
          </a:p>
          <a:p>
            <a:r>
              <a:t>Stay calm even if you’re annoyed: “I understand it’s out of your control, but I need a solution today.”</a:t>
            </a:r>
          </a:p>
          <a:p>
            <a:r>
              <a:t>Escalate politely: “Could I speak to someone who can authorise a refund?”</a:t>
            </a:r>
          </a:p>
          <a:p>
            <a:r>
              <a:t>End with a recap: “To confirm, …”</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phone calls or emails for business? | “For complex topics, I prefer…” / “Emails are better when…”</a:t>
            </a:r>
          </a:p>
          <a:p>
            <a:r>
              <a:t>2. How can you sound confident on the phone? | “I speak more slowly…” / “I smile because…”</a:t>
            </a:r>
          </a:p>
          <a:p>
            <a:r>
              <a:t>3. What is the most difficult part of a phone call in English? | “For me it’s…” / “I struggle with…”</a:t>
            </a:r>
          </a:p>
          <a:p>
            <a:r>
              <a:t>4. How should you handle an angry caller? | “I’d stay calm and…” / “First, I’d listen and…”</a:t>
            </a:r>
          </a:p>
          <a:p>
            <a:r>
              <a:t>5. Is voicemail still useful? | “Yes, it’s useful when…” / “No, because…”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stay calm and let the caller explain without interrupting. Then I’d summarise the problem:”So you’ve been waiting two weeks for a refund, is that right?” That shows I’ve listened. Next, I’d apologise for the inconvenience and say exactly what I’m going to do and by when. I’d avoid making promises I can’t keep. If I can’t solve it myself, I’d say who can.”</a:t>
            </a:r>
          </a:p>
          <a:p>
            <a:r>
              <a:t>“stay calm” = 保持冷静;“make / keep a promise” = 许下 / 遵守承诺;“exactly what… and by when” = 明确说明做什么、何时完成。</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Telephone English: polite formulas 电话英语礼貌用语</a:t>
            </a:r>
          </a:p>
          <a:p>
            <a:r>
              <a:t>Too direct | Polite</a:t>
            </a:r>
          </a:p>
          <a:p>
            <a:r>
              <a:t>Who are you? | May I ask who’s calling?</a:t>
            </a:r>
          </a:p>
          <a:p>
            <a:r>
              <a:t>He’s not here. | I’m afraid he’s not available at the moment. Can I take a message?</a:t>
            </a:r>
          </a:p>
          <a:p>
            <a:r>
              <a:t>Wait. | Could you hold the line, please?</a:t>
            </a:r>
          </a:p>
          <a:p>
            <a:r>
              <a:t>Speak again. | Sorry, could you say that again, please?</a:t>
            </a:r>
          </a:p>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Telephone English: polite formulas 电话英语礼貌用语</a:t>
            </a:r>
          </a:p>
          <a:p>
            <a:r>
              <a:t>Say numbers one by one, with a pause after each group: “oh two one — five five five — oh one nine eight”. US speakers say “zero”.</a:t>
            </a:r>
          </a:p>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Who are you?  →  ✓ May I ask who’s calling?  (礼貌说法)</a:t>
            </a:r>
          </a:p>
          <a:p>
            <a:r>
              <a:t>✗ I am Wei Zhang. (on the phone)  →  ✓ This is Wei Zhang.  (电话中用 This is)</a:t>
            </a:r>
          </a:p>
          <a:p>
            <a:r>
              <a:t>✗ I call you about the order.  →  ✓ I’m calling about the order.  (现在进行时,表示现在打电话)</a:t>
            </a:r>
          </a:p>
          <a:p>
            <a:r>
              <a:t>Mistake Watch: On the phone, say This is… (not “I am”), I’m calling about…, and put you through.</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wait a moment, I will pass you.  →  ✓ Please hold. I’ll put you through.  (put through)</a:t>
            </a:r>
          </a:p>
          <a:p>
            <a:r>
              <a:t>✗ He is not in the seat.  →  ✓ He’s not at his desk.  (不说 in the seat)</a:t>
            </a:r>
          </a:p>
          <a:p>
            <a:r>
              <a:t>✗ I want to leave a message for her to call back me.  →  ✓ I’d like to leave a message asking her to call me back.  (call me back)</a:t>
            </a:r>
          </a:p>
          <a:p>
            <a:r>
              <a:t>Mistake Watch: On the phone, say This is… (not “I am”), I’m calling about…, and put you through.</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Smile when you speak. Listeners can hear a smile. It makes your voice warmer.</a:t>
            </a:r>
          </a:p>
          <a:p>
            <a:r>
              <a:t>Name and company first. UK/US callers expect you to say who you are straight away.</a:t>
            </a:r>
          </a:p>
          <a:p>
            <a:r>
              <a:t>Say numbers slowly. In the UK, “double five” is used for 55; US speakers say “five five”.</a:t>
            </a:r>
          </a:p>
          <a:p>
            <a:r>
              <a:t>End properly. Finish with “Thank you. Have a good day. Goodbye.” Don’t hang up abruptly.</a:t>
            </a:r>
          </a:p>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answer a call and ask who is calling politely.</a:t>
            </a:r>
          </a:p>
          <a:p>
            <a:r>
              <a:t>I can put a call through or take a message accurately.</a:t>
            </a:r>
          </a:p>
          <a:p>
            <a:r>
              <a:t>I can handle problems on the phone (I’m calling about…, get back to you).</a:t>
            </a:r>
          </a:p>
          <a:p>
            <a:r>
              <a:t>I use This is…, I’m calling about…, put through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three short calls: an incoming call, a message-taking call and a voicemail. Check numbers and spelling.</a:t>
            </a:r>
          </a:p>
          <a:p>
            <a:r>
              <a:t>8–10 | Listen to your recording. Check: This is…, I’m calling about…, put through, clear numbers.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“旅途怎么样?” in English? → How was your journey / flight?</a:t>
            </a:r>
          </a:p>
          <a:p>
            <a:r>
              <a:t>“想法一致” in English? → be on the same page</a:t>
            </a:r>
          </a:p>
          <a:p>
            <a:r>
              <a:t>“请拼写一下” in English? → Could you spell that, please?</a:t>
            </a:r>
          </a:p>
          <a:p>
            <a:r>
              <a:t>Fix it: You are agree? → Do you agree?</a:t>
            </a:r>
          </a:p>
          <a:p>
            <a:r>
              <a:t>Fix it: Please wait a moment, I will pass you. → Please hold. I’ll put you through.</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 Id="rId6" Type="http://schemas.openxmlformats.org/officeDocument/2006/relationships/slide" Target="slide85.xml"/><Relationship Id="rId7" Type="http://schemas.openxmlformats.org/officeDocument/2006/relationships/slide" Target="slide112.xml"/><Relationship Id="rId8" Type="http://schemas.openxmlformats.org/officeDocument/2006/relationships/slide" Target="slide139.xml"/><Relationship Id="rId9" Type="http://schemas.openxmlformats.org/officeDocument/2006/relationships/slide" Target="slide16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 Id="rId4" Type="http://schemas.openxmlformats.org/officeDocument/2006/relationships/slide" Target="slide194.xml"/><Relationship Id="rId5" Type="http://schemas.openxmlformats.org/officeDocument/2006/relationships/slide" Target="slide195.xml"/><Relationship Id="rId6" Type="http://schemas.openxmlformats.org/officeDocument/2006/relationships/slide" Target="slide196.xml"/><Relationship Id="rId7" Type="http://schemas.openxmlformats.org/officeDocument/2006/relationships/slide" Target="slide197.xml"/><Relationship Id="rId8" Type="http://schemas.openxmlformats.org/officeDocument/2006/relationships/slide" Target="slide198.xml"/><Relationship Id="rId9" Type="http://schemas.openxmlformats.org/officeDocument/2006/relationships/slide" Target="slide199.xml"/><Relationship Id="rId10" Type="http://schemas.openxmlformats.org/officeDocument/2006/relationships/slide" Target="slide200.xml"/><Relationship Id="rId11" Type="http://schemas.openxmlformats.org/officeDocument/2006/relationships/slide" Target="slide201.xml"/><Relationship Id="rId12" Type="http://schemas.openxmlformats.org/officeDocument/2006/relationships/slide" Target="slide20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4</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700" b="1">
                <a:solidFill>
                  <a:srgbClr val="FFFFFF"/>
                </a:solidFill>
                <a:latin typeface="Arial"/>
                <a:ea typeface="Microsoft YaHei"/>
              </a:rPr>
              <a:t>Communication Skills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7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L14 Feedback · L15 Small talk · L16 Mastering small talk · L17 Catching up made easy · L18 Mastering conversation · L19 How miscommunication happens · L20 Managing a phone call</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14</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Feedback</a:t>
            </a:r>
          </a:p>
          <a:p>
            <a:pPr algn="l">
              <a:lnSpc>
                <a:spcPct val="100000"/>
              </a:lnSpc>
              <a:spcAft>
                <a:spcPts val="800"/>
              </a:spcAft>
            </a:pPr>
            <a:r>
              <a:rPr sz="1400" b="0">
                <a:solidFill>
                  <a:srgbClr val="5F677A"/>
                </a:solidFill>
                <a:latin typeface="Arial"/>
                <a:ea typeface="Microsoft YaHei"/>
              </a:rPr>
              <a:t>反馈</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15</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Small talk</a:t>
            </a:r>
          </a:p>
          <a:p>
            <a:pPr algn="l">
              <a:lnSpc>
                <a:spcPct val="100000"/>
              </a:lnSpc>
              <a:spcAft>
                <a:spcPts val="800"/>
              </a:spcAft>
            </a:pPr>
            <a:r>
              <a:rPr sz="1400" b="0">
                <a:solidFill>
                  <a:srgbClr val="5F677A"/>
                </a:solidFill>
                <a:latin typeface="Arial"/>
                <a:ea typeface="Microsoft YaHei"/>
              </a:rPr>
              <a:t>闲聊</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16</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Mastering small talk</a:t>
            </a:r>
          </a:p>
          <a:p>
            <a:pPr algn="l">
              <a:lnSpc>
                <a:spcPct val="100000"/>
              </a:lnSpc>
              <a:spcAft>
                <a:spcPts val="800"/>
              </a:spcAft>
            </a:pPr>
            <a:r>
              <a:rPr sz="1400" b="0">
                <a:solidFill>
                  <a:srgbClr val="5F677A"/>
                </a:solidFill>
                <a:latin typeface="Arial"/>
                <a:ea typeface="Microsoft YaHei"/>
              </a:rPr>
              <a:t>掌握闲聊的技巧</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17</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Catching up made easy</a:t>
            </a:r>
          </a:p>
          <a:p>
            <a:pPr algn="l">
              <a:lnSpc>
                <a:spcPct val="100000"/>
              </a:lnSpc>
              <a:spcAft>
                <a:spcPts val="800"/>
              </a:spcAft>
            </a:pPr>
            <a:r>
              <a:rPr sz="1400" b="0">
                <a:solidFill>
                  <a:srgbClr val="5F677A"/>
                </a:solidFill>
                <a:latin typeface="Arial"/>
                <a:ea typeface="Microsoft YaHei"/>
              </a:rPr>
              <a:t>跟进</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18</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Mastering conversation</a:t>
            </a:r>
          </a:p>
          <a:p>
            <a:pPr algn="l">
              <a:lnSpc>
                <a:spcPct val="100000"/>
              </a:lnSpc>
              <a:spcAft>
                <a:spcPts val="800"/>
              </a:spcAft>
            </a:pPr>
            <a:r>
              <a:rPr sz="1400" b="0">
                <a:solidFill>
                  <a:srgbClr val="5F677A"/>
                </a:solidFill>
                <a:latin typeface="Arial"/>
                <a:ea typeface="Microsoft YaHei"/>
              </a:rPr>
              <a:t>掌握对话技巧</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19</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miscommunication happens</a:t>
            </a:r>
          </a:p>
          <a:p>
            <a:pPr algn="l">
              <a:lnSpc>
                <a:spcPct val="100000"/>
              </a:lnSpc>
              <a:spcAft>
                <a:spcPts val="800"/>
              </a:spcAft>
            </a:pPr>
            <a:r>
              <a:rPr sz="1400" b="0">
                <a:solidFill>
                  <a:srgbClr val="5F677A"/>
                </a:solidFill>
                <a:latin typeface="Arial"/>
                <a:ea typeface="Microsoft YaHei"/>
              </a:rPr>
              <a:t>误解如何发生</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20</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Managing a phone call</a:t>
            </a:r>
          </a:p>
          <a:p>
            <a:pPr algn="l">
              <a:lnSpc>
                <a:spcPct val="100000"/>
              </a:lnSpc>
              <a:spcAft>
                <a:spcPts val="800"/>
              </a:spcAft>
            </a:pPr>
            <a:r>
              <a:rPr sz="1400" b="0">
                <a:solidFill>
                  <a:srgbClr val="5F677A"/>
                </a:solidFill>
                <a:latin typeface="Arial"/>
                <a:ea typeface="Microsoft YaHei"/>
              </a:rPr>
              <a:t>处理电话</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 · Lesson 14 Feedback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Feedback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反馈</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give and receive feedback constructively: praise specifically, raise problems without blame, and respond to criticism calmly.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receive feedback at work? How did you feel?</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easier for you to give praise or criticism? Why?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best feedback you have ever received?</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your company give feedback: formally, informally or not at all?</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react when you disagree with feedback?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题讲过去的事,用过去式。“feedback” 是不可数名词:some feedback / a piece of feedback,不说 feedbacks。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piece of feedback that changed the way you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who gave it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they said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felt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changed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My manager once told me that…   💬 At first, I was a bit… but…   💬 Since then, I’ve…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“Since then, I’ve + 过去分词” 用现在完成时说明从那以后的变化。once 在这里是”曾经有一次”。</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Reading · Situation, behaviour, impact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Jon was a good designer but often late with drafts. His manager, Amy, used to say, “You need to be more reliable”, which made him defensive. After a feedback course, she tried a new approach. “Last Tuesday’s draft arrived two days late,” she said. “That meant the client review had to move. I know you worked hard on the detail, and the quality was excellent. Can we find a way to hit the deadline?” Jon was surprised. She had described one situation, the behaviour and its impact, without attacking his character. He explained that he was waiting for data from another team. Together they set an earlier internal deadline and agreed that he would flag delays by Monday. Jon later said it was the first time he had understood feedback as help rather than blame. Amy now ends each conversation by asking, “What feedback do you have for me?”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was wrong with Amy’s first style of feedback?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was vague and judged his character (“be more reliable”), so Jon got defensive.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three things did she describe in the new approach?</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situation, the behaviour and its impact.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did they agree?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An earlier internal deadline, and Jon would flag delays by Monday.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Giving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给予反馈</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feedback</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“Thanks for your feedback. It’s really useful.”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constructive criticism</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建设性批评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appreciate some constructive criticism.”</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strength / area for improvement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优点 / 待改进之处</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“Your main strength is clear writing.”</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praise (someone) for…</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因…表扬某人</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praised him for handling the complaint so well.”</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like to flag something.</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我想指出一点</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flag something about the report.”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Softening and being specific</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委婉而具体</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 might be worth…</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也许值得…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might be worth adding a summary at the top.”</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wonder if you could…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不知你能否…</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wonder if you could make the charts a little bigger.”</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across as</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给人…的印象</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the meeting, you came across as very confident.”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blunt</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直率(甚至刺耳)的</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feedback was too blunt, and I’m sorry.”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 be fair</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公平地说</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be fair, the deadline was very short.”</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Receiving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接受反馈</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Thanks for letting me know.</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谢谢告诉我</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“Thanks for letting me know. I’ll fix it today.”</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(it) on board</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接受并采纳</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take your comments on board.”</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it personally</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把它当成人身攻击</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 not to take it personally; it’s about the work.”</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defensive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变得有防御心理</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got defensive at first, but then I listened.”</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follow up with</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后续跟进</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we follow up with a quick chat next week?”</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变得有防御心理</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defensive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直率(甚至刺耳)的</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blunt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建设性批评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constructive criticism</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不知你能否…</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wonder if you could…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后续跟进</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 up with</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公平地说</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 be fair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我想指出一点</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like to flag something.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也许值得…</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might be worth…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feedback</a:t>
            </a:r>
          </a:p>
        </p:txBody>
      </p:sp>
      <p:sp>
        <p:nvSpPr>
          <p:cNvPr id="10" name="Rounded Rectangle 9"/>
          <p:cNvSpPr/>
          <p:nvPr/>
        </p:nvSpPr>
        <p:spPr>
          <a:xfrm>
            <a:off x="3346704"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constructive</a:t>
            </a:r>
          </a:p>
        </p:txBody>
      </p:sp>
      <p:sp>
        <p:nvSpPr>
          <p:cNvPr id="11" name="Rounded Rectangle 10"/>
          <p:cNvSpPr/>
          <p:nvPr/>
        </p:nvSpPr>
        <p:spPr>
          <a:xfrm>
            <a:off x="5120639"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worth</a:t>
            </a:r>
          </a:p>
        </p:txBody>
      </p:sp>
      <p:sp>
        <p:nvSpPr>
          <p:cNvPr id="12" name="Rounded Rectangle 11"/>
          <p:cNvSpPr/>
          <p:nvPr/>
        </p:nvSpPr>
        <p:spPr>
          <a:xfrm>
            <a:off x="6126479"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blunt</a:t>
            </a:r>
          </a:p>
        </p:txBody>
      </p:sp>
      <p:sp>
        <p:nvSpPr>
          <p:cNvPr id="13" name="Rounded Rectangle 12"/>
          <p:cNvSpPr/>
          <p:nvPr/>
        </p:nvSpPr>
        <p:spPr>
          <a:xfrm>
            <a:off x="7132319"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board</a:t>
            </a:r>
          </a:p>
        </p:txBody>
      </p:sp>
      <p:sp>
        <p:nvSpPr>
          <p:cNvPr id="14" name="Rounded Rectangle 13"/>
          <p:cNvSpPr/>
          <p:nvPr/>
        </p:nvSpPr>
        <p:spPr>
          <a:xfrm>
            <a:off x="8138159"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personally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Thanks for your _______. It’s really useful.</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feedback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I’d appreciate some _______ criticism.</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constructive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It might be _______ adding a summary at the top.</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worth</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My comment was too _______, and I’m sorry.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blunt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I’ll take your comments on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board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Try not to take it _______; it’s about the work.</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personally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(可数性) feedback is uncountable: “some feedback”, “a piece of feedback” (not “feedbacks”). Spelling: constructive, criticism, improvement.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Giving feedback to a team member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给同事反馈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give your colleague feedback on a late report.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Amy Ross,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Jon Lee, designer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Giving feedback to a team member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Amy</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Jon, do you have a few minutes? I’d like to give you some feedback on last week’s draft.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Jon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First, the quality was excellent. The layout was clean and the client loved it.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that’s good to hear.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thing I’d like to flag: it arrived two days late, so the client review had to move.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feedback to a team member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sorry. I was waiting for data from Finance.</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 It might be worth setting an earlier internal deadline. Could you also tell me by Monday if a delay looks likely?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do that. Thanks for letting me know.</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feedback do you have for 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Giving feedback to a team member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give feedback to a colleague about a late task.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The task: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gets a little defensive.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give you some feedback · One thing I’d like to flag · It might be worth… · Could you…? · Thanks for letting me know</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Start with a positive, state one issue (situation and impact), and agree one action.</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colleague says, “It’s not my fault.” Reply: “I’m not blaming you. I just want us to find a way to avoid it next time.”</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Replace “You are always late” with a specific example.</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End by asking: “What can I do to help?”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Receiving critical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接受批评</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manager says your presentation was too long and unclear. You respond calmly.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Sandra Kim,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Ravi Shah, employee</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Receiving critical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Sandra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Ravi, can I give you some feedback on your presentation?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Ravi</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I’d appreciate it.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 ideas were strong, but the presentation was too long, and the main message got lost.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fair. I think I tried to include too much.</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be fair, the topic was complex. I wonder if you could try one key message per slide.</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Receiving critical feedback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I’ll take that on board. Could you give me an example of a slide that worked well?</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one about customer churn. It had one chart and one headline.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Got it. Can we follow up after my next presentation?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I’d be happy to.</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Receiving critical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receive critical feedback calmly.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Your presentation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is honest but fair.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That’s fair · I’ll take that on board · Could you give me an example? · Thanks for letting me know · follow up</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 ask for one example, and summarise what you will change.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disagree: “I see your point. From my side, I thought… Could we talk about it?”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apologise too much. One “thanks, that’s useful” is enough.</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down your three action points.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managers give negative feedback?</a:t>
            </a:r>
          </a:p>
          <a:p>
            <a:pPr algn="l">
              <a:lnSpc>
                <a:spcPct val="115000"/>
              </a:lnSpc>
              <a:spcAft>
                <a:spcPts val="800"/>
              </a:spcAft>
            </a:pPr>
            <a:r>
              <a:rPr sz="1400" b="0">
                <a:solidFill>
                  <a:srgbClr val="5F677A"/>
                </a:solidFill>
                <a:latin typeface="Arial"/>
                <a:ea typeface="Microsoft YaHei"/>
              </a:rPr>
              <a:t>💬 “I think they should…” / “It’s best to start with…”</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feedback be given in public or in private?</a:t>
            </a:r>
          </a:p>
          <a:p>
            <a:pPr algn="l">
              <a:lnSpc>
                <a:spcPct val="115000"/>
              </a:lnSpc>
              <a:spcAft>
                <a:spcPts val="800"/>
              </a:spcAft>
            </a:pPr>
            <a:r>
              <a:rPr sz="1400" b="0">
                <a:solidFill>
                  <a:srgbClr val="5F677A"/>
                </a:solidFill>
                <a:latin typeface="Arial"/>
                <a:ea typeface="Microsoft YaHei"/>
              </a:rPr>
              <a:t>💬 “In general, … should be private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react when you disagree with feedback?</a:t>
            </a:r>
          </a:p>
          <a:p>
            <a:pPr algn="l">
              <a:lnSpc>
                <a:spcPct val="115000"/>
              </a:lnSpc>
              <a:spcAft>
                <a:spcPts val="800"/>
              </a:spcAft>
            </a:pPr>
            <a:r>
              <a:rPr sz="1400" b="0">
                <a:solidFill>
                  <a:srgbClr val="5F677A"/>
                </a:solidFill>
                <a:latin typeface="Arial"/>
                <a:ea typeface="Microsoft YaHei"/>
              </a:rPr>
              <a:t>💬 “I try to… first, then…” / “I ask for examples.”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ask for feedback? Why (not)?</a:t>
            </a:r>
          </a:p>
          <a:p>
            <a:pPr algn="l">
              <a:lnSpc>
                <a:spcPct val="115000"/>
              </a:lnSpc>
              <a:spcAft>
                <a:spcPts val="800"/>
              </a:spcAft>
            </a:pPr>
            <a:r>
              <a:rPr sz="1400" b="0">
                <a:solidFill>
                  <a:srgbClr val="5F677A"/>
                </a:solidFill>
                <a:latin typeface="Arial"/>
                <a:ea typeface="Microsoft YaHei"/>
              </a:rPr>
              <a:t>💬 “I regularly ask because…” / “I avoid it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feedback different in different cultures?</a:t>
            </a:r>
          </a:p>
          <a:p>
            <a:pPr algn="l">
              <a:lnSpc>
                <a:spcPct val="115000"/>
              </a:lnSpc>
              <a:spcAft>
                <a:spcPts val="800"/>
              </a:spcAft>
            </a:pPr>
            <a:r>
              <a:rPr sz="1400" b="0">
                <a:solidFill>
                  <a:srgbClr val="5F677A"/>
                </a:solidFill>
                <a:latin typeface="Arial"/>
                <a:ea typeface="Microsoft YaHei"/>
              </a:rPr>
              <a:t>💬 “In my culture, people tend to…” / “In the UK/US,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managers should be specific, kind and quick. They should describe one situation, explain the effect, and ask the person for their view. It’s best to start with something positive that is genuinely true, not just a trick. Negative feedback should always be private. And it’s much easier to hear if it comes soon after the event, not three months later at the annual review.</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“not just a trick” = 不只是技巧;“it’s much easier to hear” = 更容易听进去;feedback 不可数,不说 feedbacks。</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Situation – Behaviour – Impact (SBI)</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反馈模型</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Situation</a:t>
                      </a:r>
                    </a:p>
                  </a:txBody>
                  <a:tcPr anchor="ctr">
                    <a:solidFill>
                      <a:srgbClr val="FFFFFF"/>
                    </a:solidFill>
                  </a:tcPr>
                </a:tc>
                <a:tc>
                  <a:txBody>
                    <a:bodyPr wrap="square"/>
                    <a:lstStyle/>
                    <a:p>
                      <a:r>
                        <a:rPr sz="1600" b="0">
                          <a:solidFill>
                            <a:srgbClr val="1F2A44"/>
                          </a:solidFill>
                          <a:latin typeface="Arial"/>
                          <a:ea typeface="Microsoft YaHei"/>
                        </a:rPr>
                        <a:t>In yesterday’s client call…</a:t>
                      </a:r>
                    </a:p>
                  </a:txBody>
                  <a:tcPr anchor="ctr">
                    <a:solidFill>
                      <a:srgbClr val="FFFFFF"/>
                    </a:solidFill>
                  </a:tcPr>
                </a:tc>
              </a:tr>
              <a:tr h="408432">
                <a:tc>
                  <a:txBody>
                    <a:bodyPr wrap="square"/>
                    <a:lstStyle/>
                    <a:p>
                      <a:r>
                        <a:rPr sz="1600" b="1">
                          <a:solidFill>
                            <a:srgbClr val="1F2A44"/>
                          </a:solidFill>
                          <a:latin typeface="Arial"/>
                          <a:ea typeface="Microsoft YaHei"/>
                        </a:rPr>
                        <a:t>Behaviour</a:t>
                      </a:r>
                    </a:p>
                  </a:txBody>
                  <a:tcPr anchor="ctr">
                    <a:solidFill>
                      <a:srgbClr val="FFEFD9"/>
                    </a:solidFill>
                  </a:tcPr>
                </a:tc>
                <a:tc>
                  <a:txBody>
                    <a:bodyPr wrap="square"/>
                    <a:lstStyle/>
                    <a:p>
                      <a:r>
                        <a:rPr sz="1600" b="0">
                          <a:solidFill>
                            <a:srgbClr val="1F2A44"/>
                          </a:solidFill>
                          <a:latin typeface="Arial"/>
                          <a:ea typeface="Microsoft YaHei"/>
                        </a:rPr>
                        <a:t>…you interrupted the client twice.</a:t>
                      </a:r>
                    </a:p>
                  </a:txBody>
                  <a:tcPr anchor="ctr">
                    <a:solidFill>
                      <a:srgbClr val="FFEFD9"/>
                    </a:solidFill>
                  </a:tcPr>
                </a:tc>
              </a:tr>
              <a:tr h="408432">
                <a:tc>
                  <a:txBody>
                    <a:bodyPr wrap="square"/>
                    <a:lstStyle/>
                    <a:p>
                      <a:r>
                        <a:rPr sz="1600" b="1">
                          <a:solidFill>
                            <a:srgbClr val="1F2A44"/>
                          </a:solidFill>
                          <a:latin typeface="Arial"/>
                          <a:ea typeface="Microsoft YaHei"/>
                        </a:rPr>
                        <a:t>Impact</a:t>
                      </a:r>
                    </a:p>
                  </a:txBody>
                  <a:tcPr anchor="ctr">
                    <a:solidFill>
                      <a:srgbClr val="FFFFFF"/>
                    </a:solidFill>
                  </a:tcPr>
                </a:tc>
                <a:tc>
                  <a:txBody>
                    <a:bodyPr wrap="square"/>
                    <a:lstStyle/>
                    <a:p>
                      <a:r>
                        <a:rPr sz="1600" b="0">
                          <a:solidFill>
                            <a:srgbClr val="1F2A44"/>
                          </a:solidFill>
                          <a:latin typeface="Arial"/>
                          <a:ea typeface="Microsoft YaHei"/>
                        </a:rPr>
                        <a:t>That made the client feel unheard.</a:t>
                      </a:r>
                    </a:p>
                  </a:txBody>
                  <a:tcPr anchor="ctr">
                    <a:solidFill>
                      <a:srgbClr val="FFFFFF"/>
                    </a:solidFill>
                  </a:tcPr>
                </a:tc>
              </a:tr>
              <a:tr h="408432">
                <a:tc>
                  <a:txBody>
                    <a:bodyPr wrap="square"/>
                    <a:lstStyle/>
                    <a:p>
                      <a:r>
                        <a:rPr sz="1600" b="1">
                          <a:solidFill>
                            <a:srgbClr val="1F2A44"/>
                          </a:solidFill>
                          <a:latin typeface="Arial"/>
                          <a:ea typeface="Microsoft YaHei"/>
                        </a:rPr>
                        <a:t>Next step</a:t>
                      </a:r>
                    </a:p>
                  </a:txBody>
                  <a:tcPr anchor="ctr">
                    <a:solidFill>
                      <a:srgbClr val="FFEFD9"/>
                    </a:solidFill>
                  </a:tcPr>
                </a:tc>
                <a:tc>
                  <a:txBody>
                    <a:bodyPr wrap="square"/>
                    <a:lstStyle/>
                    <a:p>
                      <a:r>
                        <a:rPr sz="1600" b="0">
                          <a:solidFill>
                            <a:srgbClr val="1F2A44"/>
                          </a:solidFill>
                          <a:latin typeface="Arial"/>
                          <a:ea typeface="Microsoft YaHei"/>
                        </a:rPr>
                        <a:t>Next time, could you wait for the client to finish?</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Situation – Behaviour – Impact (SBI)</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反馈模型</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Describe behaviour (“You interrupted twice”), not character (“You’re rude”).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your feedbacks.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feedback.</a:t>
            </a:r>
          </a:p>
          <a:p>
            <a:pPr algn="l">
              <a:spcAft>
                <a:spcPts val="200"/>
              </a:spcAft>
            </a:pPr>
            <a:r>
              <a:rPr sz="1200" b="0">
                <a:solidFill>
                  <a:srgbClr val="FFFFFF"/>
                </a:solidFill>
                <a:latin typeface="Arial"/>
                <a:ea typeface="Microsoft YaHei"/>
              </a:rPr>
              <a:t>feedback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gave me some advices.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gave me some advice.</a:t>
            </a:r>
          </a:p>
          <a:p>
            <a:pPr algn="l">
              <a:spcAft>
                <a:spcPts val="200"/>
              </a:spcAft>
            </a:pPr>
            <a:r>
              <a:rPr sz="1200" b="0">
                <a:solidFill>
                  <a:srgbClr val="FFFFFF"/>
                </a:solidFill>
                <a:latin typeface="Arial"/>
                <a:ea typeface="Microsoft YaHei"/>
              </a:rPr>
              <a:t>advice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should to be more careful.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should be more careful.</a:t>
            </a:r>
          </a:p>
          <a:p>
            <a:pPr algn="l">
              <a:spcAft>
                <a:spcPts val="200"/>
              </a:spcAft>
            </a:pPr>
            <a:r>
              <a:rPr sz="1200" b="0">
                <a:solidFill>
                  <a:srgbClr val="FFFFFF"/>
                </a:solidFill>
                <a:latin typeface="Arial"/>
                <a:ea typeface="Microsoft YaHei"/>
              </a:rPr>
              <a:t>should + 动词原形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I’d like to give you a comment about the report.</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give you some feedback on the report.</a:t>
            </a:r>
          </a:p>
          <a:p>
            <a:pPr algn="l">
              <a:spcAft>
                <a:spcPts val="200"/>
              </a:spcAft>
            </a:pPr>
            <a:r>
              <a:rPr sz="1200" b="0">
                <a:solidFill>
                  <a:srgbClr val="FFFFFF"/>
                </a:solidFill>
                <a:latin typeface="Arial"/>
                <a:ea typeface="Microsoft YaHei"/>
              </a:rPr>
              <a:t>feedback on</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are always so late!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last two reports were late.</a:t>
            </a:r>
          </a:p>
          <a:p>
            <a:pPr algn="l">
              <a:spcAft>
                <a:spcPts val="200"/>
              </a:spcAft>
            </a:pPr>
            <a:r>
              <a:rPr sz="1200" b="0">
                <a:solidFill>
                  <a:srgbClr val="FFFFFF"/>
                </a:solidFill>
                <a:latin typeface="Arial"/>
                <a:ea typeface="Microsoft YaHei"/>
              </a:rPr>
              <a:t>具体事实,少用 always</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disagree with the criticize.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disagree with the criticism.</a:t>
            </a:r>
          </a:p>
          <a:p>
            <a:pPr algn="l">
              <a:spcAft>
                <a:spcPts val="200"/>
              </a:spcAft>
            </a:pPr>
            <a:r>
              <a:rPr sz="1200" b="0">
                <a:solidFill>
                  <a:srgbClr val="FFFFFF"/>
                </a:solidFill>
                <a:latin typeface="Arial"/>
                <a:ea typeface="Microsoft YaHei"/>
              </a:rPr>
              <a:t>criticism 是名词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every uncountable noun: feedback, advice, information, equipment. They never take -s.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Direct vs indirect. US feedback is often direct and enthusiastic; British feedback is more understated. “Not bad” can mean “good”, and “That’s quite interesting” can mean “I’m not convinced”.</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Praise specifically. “Great job!” is nice; “Your summary slide made the decision easy” is useful.</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Ask for it. Asking “What could I do better?” is seen as ambition, not weakness.</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Say thanks. A calm “Thanks, that’s useful” is the safest first response.</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specific, balanced feedback with situation – behaviour – impact.</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soften criticism with It might be worth… / I wonder if you could…</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receive criticism calmly and ask for an example.</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feedback and advice as uncountable nouns.</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14 Feedback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60 seconds of feedback on a (real or imagined) colleague’s report. Then respond to critical feedback in 30 seconds. Record both.</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uncountable nouns, specific facts, soft modals.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 · Lesson 15 Small talk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Small talk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闲聊</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start, keep going and end a short friendly conversation with colleagues and clients on safe topics.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do you make small talk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small talk easy or hard for you in English? Why?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good topics for small talk, and what should you avoid?</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have a good conversation with someone you hardly knew?</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English-speaking people make so much small talk?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题讲过去的事,用过去式(had, talked)。“hardly” 是”几乎不”,不是”努力地”。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Make small talk with a client who has just arrived at your office.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greeting</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question about the journey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comment about the city or weather</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move to business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How was your journey?   💬 Is this your first time in…?   💬 Shall we make a start?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“Shall we make a start?” 是礼貌地从闲聊转入正题。“first time in + 地点”,不要说 “first time to”。</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Why we talk about the weather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Li Na was puzzled by her British clients. They always began meetings by talking about the weather, trains or football. “Why don’t they just start?” she wondered. Then a colleague explained: small talk isn’t about information. It is a way of saying, “I’m friendly, and I’d like to get to know you before we do business.” It also gives everyone time to settle down. Li Na began to prepare three safe questions before every meeting: about the journey, the city and the weekend. She noticed that conversations became easier and her clients opened up. One of them even mentioned a competitor’s plan, something she wouldn’t have heard in a formal meeting. “I used to think small talk was a waste of time,” she says. “Now I think it’s the first step of the negotiation.”</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was Li Na puzzled?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British clients began meetings by talking about the weather, trains and football.</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real purpose of small talk, according to her colleague?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show friendliness and build rapport before business.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did she start doing?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She prepared three safe questions before every meeting.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Starting a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开始闲聊</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small talk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闲聊,寒暄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not very good at small talk.”</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was your journey / flight?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旅途怎么样?</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“Welcome! How was your journey?”</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this your first time in…?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这是你第一次来…吗?</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this your first time in Shanghai?”</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break the ice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打破僵局</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joke about the weather helped break the ice.”</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How are you getting on?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你近来怎么样?(英式)</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are you getting on in the new role?”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Keeping it going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保持话题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do you do in your spare time?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你业余时间做什么?</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do you do in your spare time?”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Really? Tell me more.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真的吗?多说说</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ran a marathon? Really? Tell me more.”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have something in common</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有共同点</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discovered that we both love cycling. We have a lot in common.”</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ask a follow-up question</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追问一个问题</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“Always ask a follow-up question to show interest.”</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steer the conversation</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引导话题</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steered the conversation back to the project.”</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Ending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礼貌结束</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Shall we make a start?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我们开始吧?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“Shall we make a start? I know you’re busy.”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 was great chatting.</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聊得很开心</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great chatting with you.”</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better let you go.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我不耽误你了</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better let you go. You have a meeting.”</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catch up (with)</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叙旧</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catch up properly next week.”</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keep in touch.</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保持联系</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lovely to meet you. Let’s keep in touch.”</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这是你第一次来…吗?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 this your first time in…?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聊得很开心</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was great chatting.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叙旧</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catch up (with)</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你近来怎么样?(英式)</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 are you getting 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真的吗?多说说</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Really? Tell me more.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旅途怎么样?</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 was your journey / flight?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有共同点</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have something in common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你业余时间做什么?</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What do you do in your spare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small</a:t>
            </a:r>
          </a:p>
        </p:txBody>
      </p:sp>
      <p:sp>
        <p:nvSpPr>
          <p:cNvPr id="10" name="Rounded Rectangle 9"/>
          <p:cNvSpPr/>
          <p:nvPr/>
        </p:nvSpPr>
        <p:spPr>
          <a:xfrm>
            <a:off x="3017520"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journey</a:t>
            </a:r>
          </a:p>
        </p:txBody>
      </p:sp>
      <p:sp>
        <p:nvSpPr>
          <p:cNvPr id="11" name="Rounded Rectangle 10"/>
          <p:cNvSpPr/>
          <p:nvPr/>
        </p:nvSpPr>
        <p:spPr>
          <a:xfrm>
            <a:off x="4242816" y="987552"/>
            <a:ext cx="69494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ice</a:t>
            </a:r>
          </a:p>
        </p:txBody>
      </p:sp>
      <p:sp>
        <p:nvSpPr>
          <p:cNvPr id="12" name="Rounded Rectangle 11"/>
          <p:cNvSpPr/>
          <p:nvPr/>
        </p:nvSpPr>
        <p:spPr>
          <a:xfrm>
            <a:off x="5029200"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common</a:t>
            </a:r>
          </a:p>
        </p:txBody>
      </p:sp>
      <p:sp>
        <p:nvSpPr>
          <p:cNvPr id="13" name="Rounded Rectangle 12"/>
          <p:cNvSpPr/>
          <p:nvPr/>
        </p:nvSpPr>
        <p:spPr>
          <a:xfrm>
            <a:off x="6144768"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follow-up</a:t>
            </a:r>
          </a:p>
        </p:txBody>
      </p:sp>
      <p:sp>
        <p:nvSpPr>
          <p:cNvPr id="14" name="Rounded Rectangle 13"/>
          <p:cNvSpPr/>
          <p:nvPr/>
        </p:nvSpPr>
        <p:spPr>
          <a:xfrm>
            <a:off x="758952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touch</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not very good at _______ talk.</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small</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Welcome! How was your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journey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 joke about the weather helped break the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ice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found we have a lot in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common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Always ask a _______ question to show interest.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follow-up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 was lovely to meet you. Let’s keep in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touch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(介词与拼写) first time IN Shanghai; talk ABOUT the weather. Spelling: journey (not “journy”); weather ≠ whether.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Welcoming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迎接客户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client arrives for a first meeting. You make small talk before you start.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Emma Lin, host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Carter, client</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Welcoming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Emma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Carter, welcome! Did you find us OK?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Carter</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no problem. Your directions were very clear.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How was your journey?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Long, but fine. I flew in from Manchester yesterday.</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this your first time in Shanghai?</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Welcoming a client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is, actually. I’m looking forward to seeing the city.</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should try the old town if you have time. It’s quite a contrast to the business district.</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I’ll do that. It’s a lot warmer than Manchester, too!</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 I’m sure. Shall we make a start? I’ll show you to the meeting room.</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Welcoming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make small talk with a visiting client.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Your company: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Visitor from abroad.</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How was your journey? · Is this your first time in…? · break the ice · Shall we make a start? · a lot in common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three exchanges of small talk, then move to business.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answers with only “Yes” or “No”. Ask an open question: “What did you think of the hotel?”</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Find something in common: “Oh, I love that too!”</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Practise a smooth transition: “Anyway, let’s get started.”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Small talk at a coffee break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会议休息时闲聊</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conference break, you meet a stranger and end the conversation politely.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Kevin Wu,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Sarah Moore, another delegate</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Small talk at a coffee break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Kevin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I’m Kevin. Are you enjoying the conference?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Sarah</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Kevin. Sarah. Yes, the morning session was really interesting. What about you?</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Same here. The talk about supply chains gave me some ideas. Have you been to this event before?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This is my third time. It’s always a good way to catch up with old colleagues.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Nice. What line of work are you in?</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Small talk at a coffee break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in logistics. And you?</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Software for retailers. We have something in common: we both depend on good deliveries!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 true! Anyway, I’d better let you go. I’m meeting a colleague.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It was great chatting. Let’s keep in touch.</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Small talk at a coffee break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start and end small talk with a stranger at an event.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Delegate. Your job: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Another delegate.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Are you enjoying…? · Have you been to… before? · What line of work are you in? · I’d better let you go · Let’s keep in touch</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Have a 90-second conversation with at least two follow-up questions.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Exchange contact details: “Shall we connect on LinkedIn?”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other person is shy. Help them with an easy question.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Leave without sounding rude: “I’ll let you mingle. It was great meeting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small talk important in business?</a:t>
            </a:r>
          </a:p>
          <a:p>
            <a:pPr algn="l">
              <a:lnSpc>
                <a:spcPct val="115000"/>
              </a:lnSpc>
              <a:spcAft>
                <a:spcPts val="800"/>
              </a:spcAft>
            </a:pPr>
            <a:r>
              <a:rPr sz="1400" b="0">
                <a:solidFill>
                  <a:srgbClr val="5F677A"/>
                </a:solidFill>
                <a:latin typeface="Arial"/>
                <a:ea typeface="Microsoft YaHei"/>
              </a:rPr>
              <a:t>💬 “It builds…” / “It shows that…”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topics are safe? Which should you avoid?</a:t>
            </a:r>
          </a:p>
          <a:p>
            <a:pPr algn="l">
              <a:lnSpc>
                <a:spcPct val="115000"/>
              </a:lnSpc>
              <a:spcAft>
                <a:spcPts val="800"/>
              </a:spcAft>
            </a:pPr>
            <a:r>
              <a:rPr sz="1400" b="0">
                <a:solidFill>
                  <a:srgbClr val="5F677A"/>
                </a:solidFill>
                <a:latin typeface="Arial"/>
                <a:ea typeface="Microsoft YaHei"/>
              </a:rPr>
              <a:t>💬 “Safe topics are…” / “I’d avoid…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small talk different in your culture?</a:t>
            </a:r>
          </a:p>
          <a:p>
            <a:pPr algn="l">
              <a:lnSpc>
                <a:spcPct val="115000"/>
              </a:lnSpc>
              <a:spcAft>
                <a:spcPts val="800"/>
              </a:spcAft>
            </a:pPr>
            <a:r>
              <a:rPr sz="1400" b="0">
                <a:solidFill>
                  <a:srgbClr val="5F677A"/>
                </a:solidFill>
                <a:latin typeface="Arial"/>
                <a:ea typeface="Microsoft YaHei"/>
              </a:rPr>
              <a:t>💬 “In China, people often…” / “In the UK, it’s common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start a conversation with a stranger?</a:t>
            </a:r>
          </a:p>
          <a:p>
            <a:pPr algn="l">
              <a:lnSpc>
                <a:spcPct val="115000"/>
              </a:lnSpc>
              <a:spcAft>
                <a:spcPts val="800"/>
              </a:spcAft>
            </a:pPr>
            <a:r>
              <a:rPr sz="1400" b="0">
                <a:solidFill>
                  <a:srgbClr val="5F677A"/>
                </a:solidFill>
                <a:latin typeface="Arial"/>
                <a:ea typeface="Microsoft YaHei"/>
              </a:rPr>
              <a:t>💬 “I usually say…” / “I might comment on…”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end a conversation politely?</a:t>
            </a:r>
          </a:p>
          <a:p>
            <a:pPr algn="l">
              <a:lnSpc>
                <a:spcPct val="115000"/>
              </a:lnSpc>
              <a:spcAft>
                <a:spcPts val="800"/>
              </a:spcAft>
            </a:pPr>
            <a:r>
              <a:rPr sz="1400" b="0">
                <a:solidFill>
                  <a:srgbClr val="5F677A"/>
                </a:solidFill>
                <a:latin typeface="Arial"/>
                <a:ea typeface="Microsoft YaHei"/>
              </a:rPr>
              <a:t>💬 “I’d say something like…” / “I’d mention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China, people often ask personal questions such as age or salary, because it shows interest. In the UK and the US, those topics are private. Small talk there is lighter: travel, the weather, sport, food. When I talk with people from other countries, I try to follow their style. I ask about their trip or their weekend. It feels strange at first, but it works well.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“such as” = 例如;“follow their style” = 跟随对方的风格;注意 “ask about + 名词”。</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Open and closed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开放式与封闭式问题</a:t>
            </a:r>
          </a:p>
        </p:txBody>
      </p:sp>
      <p:graphicFrame>
        <p:nvGraphicFramePr>
          <p:cNvPr id="9" name="Table 8"/>
          <p:cNvGraphicFramePr>
            <a:graphicFrameLocks noGrp="1"/>
          </p:cNvGraphicFramePr>
          <p:nvPr/>
        </p:nvGraphicFramePr>
        <p:xfrm>
          <a:off x="548640" y="1417320"/>
          <a:ext cx="11094415" cy="163372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Closed (yes/no)</a:t>
                      </a:r>
                    </a:p>
                  </a:txBody>
                  <a:tcPr anchor="ctr">
                    <a:solidFill>
                      <a:srgbClr val="3CC49A"/>
                    </a:solidFill>
                  </a:tcPr>
                </a:tc>
                <a:tc>
                  <a:txBody>
                    <a:bodyPr wrap="square"/>
                    <a:lstStyle/>
                    <a:p>
                      <a:r>
                        <a:rPr sz="1600" b="1">
                          <a:solidFill>
                            <a:srgbClr val="FFFFFF"/>
                          </a:solidFill>
                          <a:latin typeface="Arial"/>
                          <a:ea typeface="Microsoft YaHei"/>
                        </a:rPr>
                        <a:t>Open (more talk)</a:t>
                      </a:r>
                    </a:p>
                  </a:txBody>
                  <a:tcPr anchor="ctr">
                    <a:solidFill>
                      <a:srgbClr val="3CC49A"/>
                    </a:solidFill>
                  </a:tcPr>
                </a:tc>
              </a:tr>
              <a:tr h="408432">
                <a:tc>
                  <a:txBody>
                    <a:bodyPr wrap="square"/>
                    <a:lstStyle/>
                    <a:p>
                      <a:r>
                        <a:rPr sz="1600" b="1">
                          <a:solidFill>
                            <a:srgbClr val="1F2A44"/>
                          </a:solidFill>
                          <a:latin typeface="Arial"/>
                          <a:ea typeface="Microsoft YaHei"/>
                        </a:rPr>
                        <a:t>Did you enjoy the trip?</a:t>
                      </a:r>
                    </a:p>
                  </a:txBody>
                  <a:tcPr anchor="ctr">
                    <a:solidFill>
                      <a:srgbClr val="FFFFFF"/>
                    </a:solidFill>
                  </a:tcPr>
                </a:tc>
                <a:tc>
                  <a:txBody>
                    <a:bodyPr wrap="square"/>
                    <a:lstStyle/>
                    <a:p>
                      <a:r>
                        <a:rPr sz="1600" b="0">
                          <a:solidFill>
                            <a:srgbClr val="1F2A44"/>
                          </a:solidFill>
                          <a:latin typeface="Arial"/>
                          <a:ea typeface="Microsoft YaHei"/>
                        </a:rPr>
                        <a:t>What was the best part of the trip?</a:t>
                      </a:r>
                    </a:p>
                  </a:txBody>
                  <a:tcPr anchor="ctr">
                    <a:solidFill>
                      <a:srgbClr val="FFFFFF"/>
                    </a:solidFill>
                  </a:tcPr>
                </a:tc>
              </a:tr>
              <a:tr h="408432">
                <a:tc>
                  <a:txBody>
                    <a:bodyPr wrap="square"/>
                    <a:lstStyle/>
                    <a:p>
                      <a:r>
                        <a:rPr sz="1600" b="1">
                          <a:solidFill>
                            <a:srgbClr val="1F2A44"/>
                          </a:solidFill>
                          <a:latin typeface="Arial"/>
                          <a:ea typeface="Microsoft YaHei"/>
                        </a:rPr>
                        <a:t>Do you like the city?</a:t>
                      </a:r>
                    </a:p>
                  </a:txBody>
                  <a:tcPr anchor="ctr">
                    <a:solidFill>
                      <a:srgbClr val="FFEFD9"/>
                    </a:solidFill>
                  </a:tcPr>
                </a:tc>
                <a:tc>
                  <a:txBody>
                    <a:bodyPr wrap="square"/>
                    <a:lstStyle/>
                    <a:p>
                      <a:r>
                        <a:rPr sz="1600" b="0">
                          <a:solidFill>
                            <a:srgbClr val="1F2A44"/>
                          </a:solidFill>
                          <a:latin typeface="Arial"/>
                          <a:ea typeface="Microsoft YaHei"/>
                        </a:rPr>
                        <a:t>What do you like most about the city?</a:t>
                      </a:r>
                    </a:p>
                  </a:txBody>
                  <a:tcPr anchor="ctr">
                    <a:solidFill>
                      <a:srgbClr val="FFEFD9"/>
                    </a:solidFill>
                  </a:tcPr>
                </a:tc>
              </a:tr>
              <a:tr h="408432">
                <a:tc>
                  <a:txBody>
                    <a:bodyPr wrap="square"/>
                    <a:lstStyle/>
                    <a:p>
                      <a:r>
                        <a:rPr sz="1600" b="1">
                          <a:solidFill>
                            <a:srgbClr val="1F2A44"/>
                          </a:solidFill>
                          <a:latin typeface="Arial"/>
                          <a:ea typeface="Microsoft YaHei"/>
                        </a:rPr>
                        <a:t>Are you busy?</a:t>
                      </a:r>
                    </a:p>
                  </a:txBody>
                  <a:tcPr anchor="ctr">
                    <a:solidFill>
                      <a:srgbClr val="FFFFFF"/>
                    </a:solidFill>
                  </a:tcPr>
                </a:tc>
                <a:tc>
                  <a:txBody>
                    <a:bodyPr wrap="square"/>
                    <a:lstStyle/>
                    <a:p>
                      <a:r>
                        <a:rPr sz="1600" b="0">
                          <a:solidFill>
                            <a:srgbClr val="1F2A44"/>
                          </a:solidFill>
                          <a:latin typeface="Arial"/>
                          <a:ea typeface="Microsoft YaHei"/>
                        </a:rPr>
                        <a:t>What are you working on at the moment?</a:t>
                      </a:r>
                    </a:p>
                  </a:txBody>
                  <a:tcPr anchor="ctr">
                    <a:solidFill>
                      <a:srgbClr val="FFFFFF"/>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Open and closed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开放式与封闭式问题</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Indirect questions are more polite: </a:t>
            </a:r>
            <a:r>
              <a:rPr sz="1700" b="0">
                <a:solidFill>
                  <a:srgbClr val="1F2A44"/>
                </a:solidFill>
                <a:latin typeface="Arial"/>
                <a:ea typeface="Microsoft YaHei"/>
              </a:rPr>
              <a:t>“Could I ask what you do?” / “I was wondering whether you’d been here before.”</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Is this your first time to Shanghai?</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Is this your first time in Shanghai?</a:t>
            </a:r>
          </a:p>
          <a:p>
            <a:pPr algn="l">
              <a:spcAft>
                <a:spcPts val="200"/>
              </a:spcAft>
            </a:pPr>
            <a:r>
              <a:rPr sz="1200" b="0">
                <a:solidFill>
                  <a:srgbClr val="FFFFFF"/>
                </a:solidFill>
                <a:latin typeface="Arial"/>
                <a:ea typeface="Microsoft YaHei"/>
              </a:rPr>
              <a:t>first time in + 地点</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is your journey?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was your journey?</a:t>
            </a:r>
          </a:p>
          <a:p>
            <a:pPr algn="l">
              <a:spcAft>
                <a:spcPts val="200"/>
              </a:spcAft>
            </a:pPr>
            <a:r>
              <a:rPr sz="1200" b="0">
                <a:solidFill>
                  <a:srgbClr val="FFFFFF"/>
                </a:solidFill>
                <a:latin typeface="Arial"/>
                <a:ea typeface="Microsoft YaHei"/>
              </a:rPr>
              <a:t>旅程已结束,用过去式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good at make small talk.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good at making small talk.</a:t>
            </a:r>
          </a:p>
          <a:p>
            <a:pPr algn="l">
              <a:spcAft>
                <a:spcPts val="200"/>
              </a:spcAft>
            </a:pPr>
            <a:r>
              <a:rPr sz="1200" b="0">
                <a:solidFill>
                  <a:srgbClr val="FFFFFF"/>
                </a:solidFill>
                <a:latin typeface="Arial"/>
                <a:ea typeface="Microsoft YaHei"/>
              </a:rPr>
              <a:t>介词后用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 you want to drink a coffee?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Would you like a coffee?</a:t>
            </a:r>
          </a:p>
          <a:p>
            <a:pPr algn="l">
              <a:spcAft>
                <a:spcPts val="200"/>
              </a:spcAft>
            </a:pPr>
            <a:r>
              <a:rPr sz="1200" b="0">
                <a:solidFill>
                  <a:srgbClr val="FFFFFF"/>
                </a:solidFill>
                <a:latin typeface="Arial"/>
                <a:ea typeface="Microsoft YaHei"/>
              </a:rPr>
              <a:t>礼貌邀请用 Would you like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looking forward to see you.</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looking forward to seeing you.</a:t>
            </a:r>
          </a:p>
          <a:p>
            <a:pPr algn="l">
              <a:spcAft>
                <a:spcPts val="200"/>
              </a:spcAft>
            </a:pPr>
            <a:r>
              <a:rPr sz="1200" b="0">
                <a:solidFill>
                  <a:srgbClr val="FFFFFF"/>
                </a:solidFill>
                <a:latin typeface="Arial"/>
                <a:ea typeface="Microsoft YaHei"/>
              </a:rPr>
              <a:t>to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asked me what do I do.</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asked me what I do.</a:t>
            </a:r>
          </a:p>
          <a:p>
            <a:pPr algn="l">
              <a:spcAft>
                <a:spcPts val="200"/>
              </a:spcAft>
            </a:pPr>
            <a:r>
              <a:rPr sz="1200" b="0">
                <a:solidFill>
                  <a:srgbClr val="FFFFFF"/>
                </a:solidFill>
                <a:latin typeface="Arial"/>
                <a:ea typeface="Microsoft YaHei"/>
              </a:rPr>
              <a:t>间接问句用陈述语序</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Check three things: first time IN, past tense for a finished journey (was), and -ing after prepositions (good at making).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Safe topics: </a:t>
            </a:r>
            <a:r>
              <a:rPr sz="1700" b="0">
                <a:solidFill>
                  <a:srgbClr val="1F2A44"/>
                </a:solidFill>
                <a:latin typeface="Arial"/>
                <a:ea typeface="Microsoft YaHei"/>
              </a:rPr>
              <a:t>travel, the city, food, sport, the event itself. Avoid: salary, age, marriage, religion, politics.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Two-way. After you answer, return the question: </a:t>
            </a:r>
            <a:r>
              <a:rPr sz="1700" b="0">
                <a:solidFill>
                  <a:srgbClr val="1F2A44"/>
                </a:solidFill>
                <a:latin typeface="Arial"/>
                <a:ea typeface="Microsoft YaHei"/>
              </a:rPr>
              <a:t>“I’m fine, thanks. And you?” Don’t just reply and stop.</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Weather is a conversation starter, not a topic to analyse. Two sentences are enough.</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0">
                <a:solidFill>
                  <a:srgbClr val="1F2A44"/>
                </a:solidFill>
                <a:latin typeface="Arial"/>
                <a:ea typeface="Microsoft YaHei"/>
              </a:rPr>
              <a:t>Keep it short. Two to five minutes of small talk before a meeting is typical.</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start small talk with three safe questions.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open questions and follow-up questions.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end a conversation politely (I’d better let you go).</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know safe and unsafe topics in English-speaking business culture.</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15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Prepare three opening questions. Record a 60-second small-talk conversation with an imaginary client.</a:t>
            </a:r>
          </a:p>
        </p:txBody>
      </p:sp>
      <p:sp>
        <p:nvSpPr>
          <p:cNvPr id="14" name="Rounded Rectangle 13"/>
          <p:cNvSpPr/>
          <p:nvPr/>
        </p:nvSpPr>
        <p:spPr>
          <a:xfrm>
            <a:off x="548640" y="341071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first time in, past tense for a finished journey, open questions, -ing after prepositions.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 · Lesson 16 Mastering small talk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Mastering small talk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掌握闲聊的技巧</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go beyond basic small talk: build rapport, share your own experiences, handle awkward silences and topics, and network at events.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enjoy networking events? Why (not)?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when a conversation goes quiet?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remember people’s names and details?</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meet someone who was really easy to talk to? What made it easy?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do if someone asked you a very personal question?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题讲过去的事,用过去式。第 5 题用 “I’d…”,表示假设的情况。</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 network at an event.</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before the event</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during the event</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after the event</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Before the event, I…   💬 Once I’m there, I try to…   💬 Afterwards, I always…</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Before / Once / Afterwards 是顺序连接词。“Once I’m there” 中 once = 一旦,后面用一般现在时,不用将来时。</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two-minute rule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Tariq hated networking. Standing alone with a drink, he felt invisible. His mentor gave him a simple rule: spend two minutes with each person, then move on gracefully. Tariq prepared three open questions, such as “What brought you to this event?” and listened for details he could follow up on. When someone mentioned a daughter at university, he asked, “What is she studying?” Afterwards, he wrote short notes on his phone: “Maria, Madrid, loves sailing.” A week later, he sent each person a message: “Great meeting you at the conference. I hope the sailing trip went well!” Many replied within hours. “People don’t remember what you said,” his mentor told him. “They remember how you made them feel.” Tariq now says networking is no longer about selling himself. It is about being curious about others.</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was Tariq’s problem at events?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felt invisible and alone.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was the “two-minute rule”?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Spend two minutes with each person, then move on politely.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did he do after the events?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noted details and sent a personal follow-up message a week later.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Building rapport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建立融洽关系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build rapport</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建立融洽关系</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“Small talk helps you build rapport with clients.”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show genuine interest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表现出真诚的兴趣</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“People like it when you show genuine interest.”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find common ground</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找到共同点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found common ground in our love of football.”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open up</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敞开心扉</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“Clients open up when you listen carefully.”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(someone) at ease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让人放松</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friendly smile can put people at ease.”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2: Keeping the conversation alive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保持话题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 reminds me of…</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这让我想起…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reminds me of a trip I took last year.”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By the way, …</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顺便说一下…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“By the way, how was your holiday?”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pick up on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抓住(话题细节)</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picked up on my comment about hiking and asked about it.”</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fill an awkward silence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打破尴尬的沉默</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asked about the coffee to fill an awkward silence.”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change the subject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转换话题</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smoothly changed the subject when things got tense.”</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3: Networking and following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社交与跟进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 the room</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在活动中广泛交际</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knows how to work the room at conferences.”</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a good impression</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给人留下好印象</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“Make a good impression with a firm handshake.”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introduce yourself</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自我介绍</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“Introduce yourself with your name and role.”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exchange contact details</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交换联系方式</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exchanged contact details at the end.”</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follow up</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事后联系</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“Follow up within 48 hours with a short message.”</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找到共同点</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find common ground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让人放松</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(someone) at ease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建立融洽关系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build rapport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自我介绍</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introduce yourself</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打破尴尬的沉默</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fill an awkward silence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交换联系方式</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exchange contact details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表现出真诚的兴趣</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show genuine interest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事后联系</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 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rapport</a:t>
            </a:r>
          </a:p>
        </p:txBody>
      </p:sp>
      <p:sp>
        <p:nvSpPr>
          <p:cNvPr id="10" name="Rounded Rectangle 9"/>
          <p:cNvSpPr/>
          <p:nvPr/>
        </p:nvSpPr>
        <p:spPr>
          <a:xfrm>
            <a:off x="3236976"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interest</a:t>
            </a:r>
          </a:p>
        </p:txBody>
      </p:sp>
      <p:sp>
        <p:nvSpPr>
          <p:cNvPr id="11" name="Rounded Rectangle 10"/>
          <p:cNvSpPr/>
          <p:nvPr/>
        </p:nvSpPr>
        <p:spPr>
          <a:xfrm>
            <a:off x="4572000"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common</a:t>
            </a:r>
          </a:p>
        </p:txBody>
      </p:sp>
      <p:sp>
        <p:nvSpPr>
          <p:cNvPr id="12" name="Rounded Rectangle 11"/>
          <p:cNvSpPr/>
          <p:nvPr/>
        </p:nvSpPr>
        <p:spPr>
          <a:xfrm>
            <a:off x="5687568"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reminds</a:t>
            </a:r>
          </a:p>
        </p:txBody>
      </p:sp>
      <p:sp>
        <p:nvSpPr>
          <p:cNvPr id="13" name="Rounded Rectangle 12"/>
          <p:cNvSpPr/>
          <p:nvPr/>
        </p:nvSpPr>
        <p:spPr>
          <a:xfrm>
            <a:off x="6912864"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impression</a:t>
            </a:r>
          </a:p>
        </p:txBody>
      </p:sp>
      <p:sp>
        <p:nvSpPr>
          <p:cNvPr id="14" name="Rounded Rectangle 13"/>
          <p:cNvSpPr/>
          <p:nvPr/>
        </p:nvSpPr>
        <p:spPr>
          <a:xfrm>
            <a:off x="8467344"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Follow</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Small talk helps you build _______ with clients.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rapport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People like it when you show genuine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interest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found _______ ground in our love of football.</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That _______ me of a trip I took last year.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reminds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Make a good _______ with a firm handshake.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impression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_______ up within 48 hours with a short message.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make an impression (not “do”); show interest IN. Spelling: rapport (the final -t is silent), awkward.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Networking at a conference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会议社交</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join a small group at a conference and add to the conversation.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Tariq Aziz,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Maria Soto, another delegate</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Networking at a conference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Tariq</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may I join you? I’m Tariq, from a logistics company.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Maria</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Maria, from Madrid. What brought you to the event?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wanted to hear the talk on green shipping. Have you been to this conference before?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Twice. It’s always worth coming. I noticed your badge says “Sailing Club”. Do you sail?</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Networking at a conference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eye! I’m a weekend sailor. Do you sail too?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love it. That reminds me, we have a regatta next month in Valencia.</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brilliant. By the way, here’s my card. I’d love to hear how it goes.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Let me give you mine. I’ll message you after the regatta.</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Networking at a conference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join a group and build rapport at an event.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Delegate. Your industry: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Friendly delegate with a hobby you can discuss.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May I join you? · What brought you to…? · That reminds me… · By the way, … · exchange contact details</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Join a conversation, ask two open questions, find common ground and exchange cards.</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The conversation goes quiet. Use a prepared question: “What’s the best thing you’ve seen so far?”</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Politely leave a group: “It was lovely talking to you. I’ll let you mingle.”</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After the event, write a two-line follow-up message.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Dealing with awkward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应对尴尬问题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person asks a personal question and you redirect the conversation politely.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David Lee,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Fox, acquaintance</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Dealing with awkward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Fox</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David, how much do you earn at your new company?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David</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 I’d rather keep that between me and my bank! How are things with you, though? How is the new project going?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Busy. We’re launching next week.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Exciting! Are you ready?</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Almost. There’s a lot to do, and the team is stressed.</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Dealing with awkward questions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that feeling. What helps you to unwind?</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long walks. I try to walk to work when it’s not raining.</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idea. By the way, did you see the match last night?</a:t>
            </a:r>
          </a:p>
        </p:txBody>
      </p:sp>
      <p:sp>
        <p:nvSpPr>
          <p:cNvPr id="17" name="Rounded Rectangle 16"/>
          <p:cNvSpPr/>
          <p:nvPr/>
        </p:nvSpPr>
        <p:spPr>
          <a:xfrm>
            <a:off x="548640" y="307238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274320"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07238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did! What a game.</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Dealing with awkward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redirect a personal question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Your hobby: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Acquaintance who asks a too-personal question.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rather keep that private · How about you? · By the way, … · change the subject · What helps you to…?</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Avoid a personal question with a smile and move to a safe topic.</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humour: “That’s a question for my accountant!”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Be honest but kind: “I prefer not to discuss that, but thanks for asking.”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Never lie about facts. Redirect instead.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feel about networking events?</a:t>
            </a:r>
          </a:p>
          <a:p>
            <a:pPr algn="l">
              <a:lnSpc>
                <a:spcPct val="115000"/>
              </a:lnSpc>
              <a:spcAft>
                <a:spcPts val="800"/>
              </a:spcAft>
            </a:pPr>
            <a:r>
              <a:rPr sz="1400" b="0">
                <a:solidFill>
                  <a:srgbClr val="5F677A"/>
                </a:solidFill>
                <a:latin typeface="Arial"/>
                <a:ea typeface="Microsoft YaHei"/>
              </a:rPr>
              <a:t>💬 “I find them… because…” / “It gets easier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you do when a conversation goes silent?</a:t>
            </a:r>
          </a:p>
          <a:p>
            <a:pPr algn="l">
              <a:lnSpc>
                <a:spcPct val="115000"/>
              </a:lnSpc>
              <a:spcAft>
                <a:spcPts val="800"/>
              </a:spcAft>
            </a:pPr>
            <a:r>
              <a:rPr sz="1400" b="0">
                <a:solidFill>
                  <a:srgbClr val="5F677A"/>
                </a:solidFill>
                <a:latin typeface="Arial"/>
                <a:ea typeface="Microsoft YaHei"/>
              </a:rPr>
              <a:t>💬 “I might ask…” / “I’d comment 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remember names and details?</a:t>
            </a:r>
          </a:p>
          <a:p>
            <a:pPr algn="l">
              <a:lnSpc>
                <a:spcPct val="115000"/>
              </a:lnSpc>
              <a:spcAft>
                <a:spcPts val="800"/>
              </a:spcAft>
            </a:pPr>
            <a:r>
              <a:rPr sz="1400" b="0">
                <a:solidFill>
                  <a:srgbClr val="5F677A"/>
                </a:solidFill>
                <a:latin typeface="Arial"/>
                <a:ea typeface="Microsoft YaHei"/>
              </a:rPr>
              <a:t>💬 “I repeat the name…” / “I write notes after…”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difference between networking online and in person?</a:t>
            </a:r>
          </a:p>
          <a:p>
            <a:pPr algn="l">
              <a:lnSpc>
                <a:spcPct val="115000"/>
              </a:lnSpc>
              <a:spcAft>
                <a:spcPts val="800"/>
              </a:spcAft>
            </a:pPr>
            <a:r>
              <a:rPr sz="1400" b="0">
                <a:solidFill>
                  <a:srgbClr val="5F677A"/>
                </a:solidFill>
                <a:latin typeface="Arial"/>
                <a:ea typeface="Microsoft YaHei"/>
              </a:rPr>
              <a:t>💬 “Online, it’s easier to…” / “In person, you can…”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small talk a skill or a talent?</a:t>
            </a:r>
          </a:p>
          <a:p>
            <a:pPr algn="l">
              <a:lnSpc>
                <a:spcPct val="115000"/>
              </a:lnSpc>
              <a:spcAft>
                <a:spcPts val="800"/>
              </a:spcAft>
            </a:pPr>
            <a:r>
              <a:rPr sz="1400" b="0">
                <a:solidFill>
                  <a:srgbClr val="5F677A"/>
                </a:solidFill>
                <a:latin typeface="Arial"/>
                <a:ea typeface="Microsoft YaHei"/>
              </a:rPr>
              <a:t>💬 “I believe it’s a skill because…” / “Anyone can learn…”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believe it’s a skill. Some people seem naturally charming, but most of us can learn it. You prepare a few questions, practise listening, and notice the details people give you. Over time, it becomes automatic. I used to be very shy at events, but now I set myself a small goal: talk to three new people. That gets me started, and the rest follows.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“set myself a goal” = 给自己设目标;“over time” = 随着时间;“the rest follows” = 其余的自然水到渠成。</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Phrases that keep conversations flowing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让对话流畅的短语</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Phrases</a:t>
                      </a:r>
                    </a:p>
                  </a:txBody>
                  <a:tcPr anchor="ctr">
                    <a:solidFill>
                      <a:srgbClr val="3CC49A"/>
                    </a:solidFill>
                  </a:tcPr>
                </a:tc>
              </a:tr>
              <a:tr h="408432">
                <a:tc>
                  <a:txBody>
                    <a:bodyPr wrap="square"/>
                    <a:lstStyle/>
                    <a:p>
                      <a:r>
                        <a:rPr sz="1600" b="1">
                          <a:solidFill>
                            <a:srgbClr val="1F2A44"/>
                          </a:solidFill>
                          <a:latin typeface="Arial"/>
                          <a:ea typeface="Microsoft YaHei"/>
                        </a:rPr>
                        <a:t>Add information</a:t>
                      </a:r>
                    </a:p>
                  </a:txBody>
                  <a:tcPr anchor="ctr">
                    <a:solidFill>
                      <a:srgbClr val="FFFFFF"/>
                    </a:solidFill>
                  </a:tcPr>
                </a:tc>
                <a:tc>
                  <a:txBody>
                    <a:bodyPr wrap="square"/>
                    <a:lstStyle/>
                    <a:p>
                      <a:r>
                        <a:rPr sz="1600" b="0">
                          <a:solidFill>
                            <a:srgbClr val="1F2A44"/>
                          </a:solidFill>
                          <a:latin typeface="Arial"/>
                          <a:ea typeface="Microsoft YaHei"/>
                        </a:rPr>
                        <a:t>That reminds me… / By the way, …</a:t>
                      </a:r>
                    </a:p>
                  </a:txBody>
                  <a:tcPr anchor="ctr">
                    <a:solidFill>
                      <a:srgbClr val="FFFFFF"/>
                    </a:solidFill>
                  </a:tcPr>
                </a:tc>
              </a:tr>
              <a:tr h="408432">
                <a:tc>
                  <a:txBody>
                    <a:bodyPr wrap="square"/>
                    <a:lstStyle/>
                    <a:p>
                      <a:r>
                        <a:rPr sz="1600" b="1">
                          <a:solidFill>
                            <a:srgbClr val="1F2A44"/>
                          </a:solidFill>
                          <a:latin typeface="Arial"/>
                          <a:ea typeface="Microsoft YaHei"/>
                        </a:rPr>
                        <a:t>Show interest</a:t>
                      </a:r>
                    </a:p>
                  </a:txBody>
                  <a:tcPr anchor="ctr">
                    <a:solidFill>
                      <a:srgbClr val="FFEFD9"/>
                    </a:solidFill>
                  </a:tcPr>
                </a:tc>
                <a:tc>
                  <a:txBody>
                    <a:bodyPr wrap="square"/>
                    <a:lstStyle/>
                    <a:p>
                      <a:r>
                        <a:rPr sz="1600" b="0">
                          <a:solidFill>
                            <a:srgbClr val="1F2A44"/>
                          </a:solidFill>
                          <a:latin typeface="Arial"/>
                          <a:ea typeface="Microsoft YaHei"/>
                        </a:rPr>
                        <a:t>Really? / No way! / That’s fascinating.</a:t>
                      </a:r>
                    </a:p>
                  </a:txBody>
                  <a:tcPr anchor="ctr">
                    <a:solidFill>
                      <a:srgbClr val="FFEFD9"/>
                    </a:solidFill>
                  </a:tcPr>
                </a:tc>
              </a:tr>
              <a:tr h="408432">
                <a:tc>
                  <a:txBody>
                    <a:bodyPr wrap="square"/>
                    <a:lstStyle/>
                    <a:p>
                      <a:r>
                        <a:rPr sz="1600" b="1">
                          <a:solidFill>
                            <a:srgbClr val="1F2A44"/>
                          </a:solidFill>
                          <a:latin typeface="Arial"/>
                          <a:ea typeface="Microsoft YaHei"/>
                        </a:rPr>
                        <a:t>Ask for more</a:t>
                      </a:r>
                    </a:p>
                  </a:txBody>
                  <a:tcPr anchor="ctr">
                    <a:solidFill>
                      <a:srgbClr val="FFFFFF"/>
                    </a:solidFill>
                  </a:tcPr>
                </a:tc>
                <a:tc>
                  <a:txBody>
                    <a:bodyPr wrap="square"/>
                    <a:lstStyle/>
                    <a:p>
                      <a:r>
                        <a:rPr sz="1600" b="0">
                          <a:solidFill>
                            <a:srgbClr val="1F2A44"/>
                          </a:solidFill>
                          <a:latin typeface="Arial"/>
                          <a:ea typeface="Microsoft YaHei"/>
                        </a:rPr>
                        <a:t>What was that like? / How did you get into that?</a:t>
                      </a:r>
                    </a:p>
                  </a:txBody>
                  <a:tcPr anchor="ctr">
                    <a:solidFill>
                      <a:srgbClr val="FFFFFF"/>
                    </a:solidFill>
                  </a:tcPr>
                </a:tc>
              </a:tr>
              <a:tr h="408432">
                <a:tc>
                  <a:txBody>
                    <a:bodyPr wrap="square"/>
                    <a:lstStyle/>
                    <a:p>
                      <a:r>
                        <a:rPr sz="1600" b="1">
                          <a:solidFill>
                            <a:srgbClr val="1F2A44"/>
                          </a:solidFill>
                          <a:latin typeface="Arial"/>
                          <a:ea typeface="Microsoft YaHei"/>
                        </a:rPr>
                        <a:t>Change topic</a:t>
                      </a:r>
                    </a:p>
                  </a:txBody>
                  <a:tcPr anchor="ctr">
                    <a:solidFill>
                      <a:srgbClr val="FFEFD9"/>
                    </a:solidFill>
                  </a:tcPr>
                </a:tc>
                <a:tc>
                  <a:txBody>
                    <a:bodyPr wrap="square"/>
                    <a:lstStyle/>
                    <a:p>
                      <a:r>
                        <a:rPr sz="1600" b="0">
                          <a:solidFill>
                            <a:srgbClr val="1F2A44"/>
                          </a:solidFill>
                          <a:latin typeface="Arial"/>
                          <a:ea typeface="Microsoft YaHei"/>
                        </a:rPr>
                        <a:t>Anyway, … / On a different note, …</a:t>
                      </a:r>
                    </a:p>
                  </a:txBody>
                  <a:tcPr anchor="ctr">
                    <a:solidFill>
                      <a:srgbClr val="FFEFD9"/>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Phrases that keep conversations flowing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让对话流畅的短语</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tag questions for warm agreement: </a:t>
            </a:r>
            <a:r>
              <a:rPr sz="1700" b="0">
                <a:solidFill>
                  <a:srgbClr val="1F2A44"/>
                </a:solidFill>
                <a:latin typeface="Arial"/>
                <a:ea typeface="Microsoft YaHei"/>
              </a:rPr>
              <a:t>“It’s a great venue, isn’t it?”</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boring at networking events.</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bored at networking events. / I find networking boring.</a:t>
            </a:r>
          </a:p>
          <a:p>
            <a:pPr algn="l">
              <a:spcAft>
                <a:spcPts val="200"/>
              </a:spcAft>
            </a:pPr>
            <a:r>
              <a:rPr sz="1200" b="0">
                <a:solidFill>
                  <a:srgbClr val="FFFFFF"/>
                </a:solidFill>
                <a:latin typeface="Arial"/>
                <a:ea typeface="Microsoft YaHei"/>
              </a:rPr>
              <a:t>bored / boring</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name is Tariq, I work in logistics.</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Tariq, and I work in logistics.</a:t>
            </a:r>
          </a:p>
          <a:p>
            <a:pPr algn="l">
              <a:spcAft>
                <a:spcPts val="200"/>
              </a:spcAft>
            </a:pPr>
            <a:r>
              <a:rPr sz="1200" b="0">
                <a:solidFill>
                  <a:srgbClr val="FFFFFF"/>
                </a:solidFill>
                <a:latin typeface="Arial"/>
                <a:ea typeface="Microsoft YaHei"/>
              </a:rPr>
              <a:t>两个分句要连接</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What did bring you here?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What brought you here?</a:t>
            </a:r>
          </a:p>
          <a:p>
            <a:pPr algn="l">
              <a:spcAft>
                <a:spcPts val="200"/>
              </a:spcAft>
            </a:pPr>
            <a:r>
              <a:rPr sz="1200" b="0">
                <a:solidFill>
                  <a:srgbClr val="FFFFFF"/>
                </a:solidFill>
                <a:latin typeface="Arial"/>
                <a:ea typeface="Microsoft YaHei"/>
              </a:rPr>
              <a:t>what 做主语时不用助动词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nice to know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nice to meet you.</a:t>
            </a:r>
          </a:p>
          <a:p>
            <a:pPr algn="l">
              <a:spcAft>
                <a:spcPts val="200"/>
              </a:spcAft>
            </a:pPr>
            <a:r>
              <a:rPr sz="1200" b="0">
                <a:solidFill>
                  <a:srgbClr val="FFFFFF"/>
                </a:solidFill>
                <a:latin typeface="Arial"/>
                <a:ea typeface="Microsoft YaHei"/>
              </a:rPr>
              <a:t>初次见面用 meet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asked me what do I do.</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asked me what I do.</a:t>
            </a:r>
          </a:p>
          <a:p>
            <a:pPr algn="l">
              <a:spcAft>
                <a:spcPts val="200"/>
              </a:spcAft>
            </a:pPr>
            <a:r>
              <a:rPr sz="1200" b="0">
                <a:solidFill>
                  <a:srgbClr val="FFFFFF"/>
                </a:solidFill>
                <a:latin typeface="Arial"/>
                <a:ea typeface="Microsoft YaHei"/>
              </a:rPr>
              <a:t>间接问句用陈述语序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good at talk to strangers.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good at talking to strangers.</a:t>
            </a:r>
          </a:p>
          <a:p>
            <a:pPr algn="l">
              <a:spcAft>
                <a:spcPts val="200"/>
              </a:spcAft>
            </a:pPr>
            <a:r>
              <a:rPr sz="1200" b="0">
                <a:solidFill>
                  <a:srgbClr val="FFFFFF"/>
                </a:solidFill>
                <a:latin typeface="Arial"/>
                <a:ea typeface="Microsoft YaHei"/>
              </a:rPr>
              <a:t>介词后用 -ing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what brought (no did), indirect question word order (what I do), and -ing after prepositions.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Eye contact and a smile. Look at the person, nod, and don’t check your phone.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Use the name. Repeat a new name once (“Nice to meet you, Maria”) to remember it.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Give before you ask. Offer help or information first; ask for favours later.</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Follow up in 48 hours. A short, personal message makes you memorable.</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join a conversation and build rapport with open questions.</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keep a conversation going with That reminds me… and follow-up questions.</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redirect an awkward question politely.</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follow up after an event with a short message.</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16 Mastering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a 90-second networking conversation with two follow-up questions and a polite exit.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indirect question order, what brought, -ing forms, intonation.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 · Lesson 17 Catching up made easy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Catching up made easy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跟进</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catch up naturally with colleagues and clients: ask about news, share updates, and follow up on earlier conversations.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Who do you keep in touch with from your past jobs?</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often do you catch up with your team?</a:t>
            </a:r>
          </a:p>
        </p:txBody>
      </p:sp>
      <p:sp>
        <p:nvSpPr>
          <p:cNvPr id="15" name="Oval 14"/>
          <p:cNvSpPr/>
          <p:nvPr/>
        </p:nvSpPr>
        <p:spPr>
          <a:xfrm>
            <a:off x="548640" y="29321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say when you meet someone you haven’t seen for a long time?</a:t>
            </a:r>
          </a:p>
        </p:txBody>
      </p:sp>
      <p:sp>
        <p:nvSpPr>
          <p:cNvPr id="18" name="Oval 17"/>
          <p:cNvSpPr/>
          <p:nvPr/>
        </p:nvSpPr>
        <p:spPr>
          <a:xfrm>
            <a:off x="548640" y="37734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57530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57530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did you last get an unexpected message from an old colleague? What did it say?</a:t>
            </a:r>
          </a:p>
        </p:txBody>
      </p:sp>
      <p:sp>
        <p:nvSpPr>
          <p:cNvPr id="21" name="Oval 20"/>
          <p:cNvSpPr/>
          <p:nvPr/>
        </p:nvSpPr>
        <p:spPr>
          <a:xfrm>
            <a:off x="548640" y="46146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follow up on a conversation you had last week?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“keep in touch with” 注意介词 with。第 4 题讲过去的事,用过去式。第 5 题可用 “I send a short message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Catch up with an old colleague you haven’t seen for two years.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greeting</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their news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your news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plans to meet again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It’s so good to see you!   💬 What have you been up to?   💬 Since I last saw you, I’ve…   💬 We should catch up properly.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“What have you been up to?” 用现在完成进行时,问”这段时间在忙什么”。“Since I last saw you, I’ve + 过去分词”。</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Fifteen minutes on Monday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Harriet managed a team spread across five countries. In the first months, she noticed something: people talked about work but never about their lives. Conversations felt thin. So she began every Monday with a fifteen-minute catch-up call. Nobody had to prepare. She asked, “What’s one thing from the weekend, and what’s one thing you’re looking forward to this week?” Some answers were funny; others were serious. When Ali mentioned that his mother was ill, Harriet followed up on Wednesday with a short message: “Thinking of you. How is she?” Ali later said it was the moment he began to trust the team. Over a year, her team’s engagement scores rose, and two people who had planned to leave decided to stay. “It takes fifteen minutes a week,” Harriet says, “and it saves months of rebuilding trust.”</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did Harriet notice about her team?</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talked about work but never about their lives.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happens in the Monday call?</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Each person shares one thing from the weekend and one thing to look forward to.</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was the effect of her message to Ali?</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Ali felt supported and began to trust the team.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Asking for news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询问近况</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have you been up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你最近在忙什么?</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“Long time no see! What have you been up to?”</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have things been?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最近怎么样?</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have things been since the merger?”</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Long time no see.</a:t>
            </a:r>
          </a:p>
          <a:p>
            <a:pPr algn="l">
              <a:lnSpc>
                <a:spcPct val="115000"/>
              </a:lnSpc>
              <a:spcAft>
                <a:spcPts val="800"/>
              </a:spcAft>
            </a:pPr>
            <a:r>
              <a:rPr sz="1300" b="0">
                <a:solidFill>
                  <a:srgbClr val="5F677A"/>
                </a:solidFill>
                <a:latin typeface="Arial"/>
                <a:ea typeface="Microsoft YaHei"/>
              </a:rPr>
              <a:t>phrase (informal)</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好久不见</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“Hi, Jun! Long time no see.”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How’s everything going at…?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…那边怎么样?</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“How’s everything going at the new office?”</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haven’t heard from you in ages.</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好久没你消息了</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haven’t heard from you in ages. Is everything OK?”</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Sharing updates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分享近况</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Since I last saw you, …</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自从上次见面…</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“Since I last saw you, I’ve moved to Hangzhou.”</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I’ve just been promoted.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我刚升职了</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just been promoted to team leader.”</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Things have been hectic.</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最近一直很忙乱</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“Things have been hectic since the launch.”</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I’ve been snowed under.</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我被工作淹没了</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for the late reply. I’ve been snowed under.”</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It’s been a rollercoaster.</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经历了起起伏伏</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year has been a bit of a rollercoaster.”</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Following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跟进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Just following up 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跟进一下…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“Just following up on our call last week.”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touch base</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简单联系沟通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just touching base to see how things are going.”</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pick this up again.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我们之后再继续</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pick this up again on Thursday.”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circle back</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回头再谈</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circle back with an answer by Friday.”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Keep me posted.</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有进展告诉我</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keep me posted on the project.”</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好久不见</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Long time no see.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最近一直很忙乱</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Things have been hectic.</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我被工作淹没了</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I’ve been snowed under.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回头再谈</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circle back</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有进展告诉我</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me posted.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最近怎么样?</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 have things been?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跟进一下…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 following up 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你最近在忙什么?</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 have you been up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58521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a:t>
            </a:r>
          </a:p>
        </p:txBody>
      </p:sp>
      <p:sp>
        <p:nvSpPr>
          <p:cNvPr id="10" name="Rounded Rectangle 9"/>
          <p:cNvSpPr/>
          <p:nvPr/>
        </p:nvSpPr>
        <p:spPr>
          <a:xfrm>
            <a:off x="2688336"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ages</a:t>
            </a:r>
          </a:p>
        </p:txBody>
      </p:sp>
      <p:sp>
        <p:nvSpPr>
          <p:cNvPr id="11" name="Rounded Rectangle 10"/>
          <p:cNvSpPr/>
          <p:nvPr/>
        </p:nvSpPr>
        <p:spPr>
          <a:xfrm>
            <a:off x="3584448"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promoted</a:t>
            </a:r>
          </a:p>
        </p:txBody>
      </p:sp>
      <p:sp>
        <p:nvSpPr>
          <p:cNvPr id="12" name="Rounded Rectangle 11"/>
          <p:cNvSpPr/>
          <p:nvPr/>
        </p:nvSpPr>
        <p:spPr>
          <a:xfrm>
            <a:off x="4919472"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hectic</a:t>
            </a:r>
          </a:p>
        </p:txBody>
      </p:sp>
      <p:sp>
        <p:nvSpPr>
          <p:cNvPr id="13" name="Rounded Rectangle 12"/>
          <p:cNvSpPr/>
          <p:nvPr/>
        </p:nvSpPr>
        <p:spPr>
          <a:xfrm>
            <a:off x="6035040"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base</a:t>
            </a:r>
          </a:p>
        </p:txBody>
      </p:sp>
      <p:sp>
        <p:nvSpPr>
          <p:cNvPr id="14" name="Rounded Rectangle 13"/>
          <p:cNvSpPr/>
          <p:nvPr/>
        </p:nvSpPr>
        <p:spPr>
          <a:xfrm>
            <a:off x="6931152"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posted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Long time no see! What have you been _______ to?</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haven’t heard from you in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I’ve just been _______ to team leader.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promoted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Things have been _______ since the launch.</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hectic</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just touching _______ to see how things are going.</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base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Please keep me _______ on the project.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posted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(时态) Since I last saw you, I’ve… (现在完成时);I’ve been working (进行时,强调持续)。Spelling: hectic, promoted.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Meeting an old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偶遇老同事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run into a former colleague at an industry event.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Jun Zhang,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Claire Dubois, former colleague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Meeting an old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Jun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Claire! Long time no see! What have you been up to?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Claire</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Jun! It’s been ages. I’ve moved to Paris, actually. I joined a consulting firm last spring.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Wow, that’s a big change. How are you finding it?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been a bit of a rollercoaster, but I love it. And you? Are you still at the bank?</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I left last year. Things have been hectic since I joined a start-up.</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Meeting an old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exciting. Is it going well?</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far, yes. We’ve just closed our first round of funding.</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Congratulations! We should catch up properly. Are you free for coffee tomorrow?</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Absolutely. Let me give you my new number.</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Meeting an old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catch up with someone you haven’t seen for a while.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Your recent news: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Former colleague with news of their own.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have you been up to? · Since I last saw you… · It’s been a rollercoaster · hectic · We should catch up properly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Exchange news for 90 seconds and agree a time to meet.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an informal reaction: “No way! That’s brilliant!”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Remember a detail from last time: “Last time, you were planning to move house. Did you?”</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plan: “Let’s pick this up over lunch.”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Following up with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跟进客户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client after two quiet weeks to follow up on a proposal.</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Rita Chen, account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Foster, client</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Following up with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Rita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Mr Foster. It’s Rita Chen. I hope I’m not catching you at a bad time.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Foster</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at all, Rita. How have you been?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Very well, thanks. I’m just touching base about the proposal I sent two weeks ago. Have you had a chance to look at it?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have, and I’m afraid it’s been hectic here. We’ve been snowed under with year-end reports.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completely. Is there anything I can clarify to help?</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Following up with a client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Actually, yes. The delivery timeline is tight. Could you look at it again?</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circle back with a revised timeline by Friday.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great. Keep me posted.</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 Thanks for your time.</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Following up with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follow up with a client who has been silent.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Account manager. Your product: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Busy client with one concern.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just touching base about… · Have you had a chance to…? · Is there anything I can clarify? · circle back · Keep me posted</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Follow up politely, learn the client’s concern, and agree a next step with a date.</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is irritated: “I’m very busy.” Reply: “I understand. I’ll keep it short.”</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Send a one-line follow-up email after the call.</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sound pushy. Say: “No pressure at all.”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stay in touch with people from your previous jobs?</a:t>
            </a:r>
          </a:p>
          <a:p>
            <a:pPr algn="l">
              <a:lnSpc>
                <a:spcPct val="115000"/>
              </a:lnSpc>
              <a:spcAft>
                <a:spcPts val="800"/>
              </a:spcAft>
            </a:pPr>
            <a:r>
              <a:rPr sz="1400" b="0">
                <a:solidFill>
                  <a:srgbClr val="5F677A"/>
                </a:solidFill>
                <a:latin typeface="Arial"/>
                <a:ea typeface="Microsoft YaHei"/>
              </a:rPr>
              <a:t>💬 “I send…” / “Once a year, I…”</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a good way to follow up with a client?</a:t>
            </a:r>
          </a:p>
          <a:p>
            <a:pPr algn="l">
              <a:lnSpc>
                <a:spcPct val="115000"/>
              </a:lnSpc>
              <a:spcAft>
                <a:spcPts val="800"/>
              </a:spcAft>
            </a:pPr>
            <a:r>
              <a:rPr sz="1400" b="0">
                <a:solidFill>
                  <a:srgbClr val="5F677A"/>
                </a:solidFill>
                <a:latin typeface="Arial"/>
                <a:ea typeface="Microsoft YaHei"/>
              </a:rPr>
              <a:t>💬 “I’d start with…” / “I try to add value by…”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it important to catch up with colleagues?</a:t>
            </a:r>
          </a:p>
          <a:p>
            <a:pPr algn="l">
              <a:lnSpc>
                <a:spcPct val="115000"/>
              </a:lnSpc>
              <a:spcAft>
                <a:spcPts val="800"/>
              </a:spcAft>
            </a:pPr>
            <a:r>
              <a:rPr sz="1400" b="0">
                <a:solidFill>
                  <a:srgbClr val="5F677A"/>
                </a:solidFill>
                <a:latin typeface="Arial"/>
                <a:ea typeface="Microsoft YaHei"/>
              </a:rPr>
              <a:t>💬 “It builds… and helps…”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to catch up by phone, message or in person?</a:t>
            </a:r>
          </a:p>
          <a:p>
            <a:pPr algn="l">
              <a:lnSpc>
                <a:spcPct val="115000"/>
              </a:lnSpc>
              <a:spcAft>
                <a:spcPts val="800"/>
              </a:spcAft>
            </a:pPr>
            <a:r>
              <a:rPr sz="1400" b="0">
                <a:solidFill>
                  <a:srgbClr val="5F677A"/>
                </a:solidFill>
                <a:latin typeface="Arial"/>
                <a:ea typeface="Microsoft YaHei"/>
              </a:rPr>
              <a:t>💬 “I prefer…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difference between “touching base” and “chasing”?</a:t>
            </a:r>
          </a:p>
          <a:p>
            <a:pPr algn="l">
              <a:lnSpc>
                <a:spcPct val="115000"/>
              </a:lnSpc>
              <a:spcAft>
                <a:spcPts val="800"/>
              </a:spcAft>
            </a:pPr>
            <a:r>
              <a:rPr sz="1400" b="0">
                <a:solidFill>
                  <a:srgbClr val="5F677A"/>
                </a:solidFill>
                <a:latin typeface="Arial"/>
                <a:ea typeface="Microsoft YaHei"/>
              </a:rPr>
              <a:t>💬 “Chasing sounds…, touching base sounds…”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good way to follow up is to add something useful, such as an article or an idea, rather than just asking,”Have you decided?” I’d also be polite about the timing: “I know you’re busy, so I’ll keep this short.” If there’s no answer after a week, I send a gentle reminder. I think the difference between a good follow-up and a bad one is that a good one helps the client, while a bad one only helps me.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“add value” = 增加价值;“rather than” = 而不是;注意 “the difference between A and B”。</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Present perfect for news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现在完成时谈近况</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Form</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have + past participle (result)</a:t>
                      </a:r>
                    </a:p>
                  </a:txBody>
                  <a:tcPr anchor="ctr">
                    <a:solidFill>
                      <a:srgbClr val="FFFFFF"/>
                    </a:solidFill>
                  </a:tcPr>
                </a:tc>
                <a:tc>
                  <a:txBody>
                    <a:bodyPr wrap="square"/>
                    <a:lstStyle/>
                    <a:p>
                      <a:r>
                        <a:rPr sz="1600" b="0">
                          <a:solidFill>
                            <a:srgbClr val="1F2A44"/>
                          </a:solidFill>
                          <a:latin typeface="Arial"/>
                          <a:ea typeface="Microsoft YaHei"/>
                        </a:rPr>
                        <a:t>I’ve just been promoted.</a:t>
                      </a:r>
                    </a:p>
                  </a:txBody>
                  <a:tcPr anchor="ctr">
                    <a:solidFill>
                      <a:srgbClr val="FFFFFF"/>
                    </a:solidFill>
                  </a:tcPr>
                </a:tc>
              </a:tr>
              <a:tr h="408432">
                <a:tc>
                  <a:txBody>
                    <a:bodyPr wrap="square"/>
                    <a:lstStyle/>
                    <a:p>
                      <a:r>
                        <a:rPr sz="1600" b="1">
                          <a:solidFill>
                            <a:srgbClr val="1F2A44"/>
                          </a:solidFill>
                          <a:latin typeface="Arial"/>
                          <a:ea typeface="Microsoft YaHei"/>
                        </a:rPr>
                        <a:t>have been + -ing (activity until now)</a:t>
                      </a:r>
                    </a:p>
                  </a:txBody>
                  <a:tcPr anchor="ctr">
                    <a:solidFill>
                      <a:srgbClr val="FFEFD9"/>
                    </a:solidFill>
                  </a:tcPr>
                </a:tc>
                <a:tc>
                  <a:txBody>
                    <a:bodyPr wrap="square"/>
                    <a:lstStyle/>
                    <a:p>
                      <a:r>
                        <a:rPr sz="1600" b="0">
                          <a:solidFill>
                            <a:srgbClr val="1F2A44"/>
                          </a:solidFill>
                          <a:latin typeface="Arial"/>
                          <a:ea typeface="Microsoft YaHei"/>
                        </a:rPr>
                        <a:t>I’ve been working on a new project.</a:t>
                      </a:r>
                    </a:p>
                  </a:txBody>
                  <a:tcPr anchor="ctr">
                    <a:solidFill>
                      <a:srgbClr val="FFEFD9"/>
                    </a:solidFill>
                  </a:tcPr>
                </a:tc>
              </a:tr>
              <a:tr h="408432">
                <a:tc>
                  <a:txBody>
                    <a:bodyPr wrap="square"/>
                    <a:lstStyle/>
                    <a:p>
                      <a:r>
                        <a:rPr sz="1600" b="1">
                          <a:solidFill>
                            <a:srgbClr val="1F2A44"/>
                          </a:solidFill>
                          <a:latin typeface="Arial"/>
                          <a:ea typeface="Microsoft YaHei"/>
                        </a:rPr>
                        <a:t>for / since</a:t>
                      </a:r>
                    </a:p>
                  </a:txBody>
                  <a:tcPr anchor="ctr">
                    <a:solidFill>
                      <a:srgbClr val="FFFFFF"/>
                    </a:solidFill>
                  </a:tcPr>
                </a:tc>
                <a:tc>
                  <a:txBody>
                    <a:bodyPr wrap="square"/>
                    <a:lstStyle/>
                    <a:p>
                      <a:r>
                        <a:rPr sz="1600" b="0">
                          <a:solidFill>
                            <a:srgbClr val="1F2A44"/>
                          </a:solidFill>
                          <a:latin typeface="Arial"/>
                          <a:ea typeface="Microsoft YaHei"/>
                        </a:rPr>
                        <a:t>I’ve worked here for two years / since 2024.</a:t>
                      </a:r>
                    </a:p>
                  </a:txBody>
                  <a:tcPr anchor="ctr">
                    <a:solidFill>
                      <a:srgbClr val="FFFFFF"/>
                    </a:solidFill>
                  </a:tcPr>
                </a:tc>
              </a:tr>
              <a:tr h="408432">
                <a:tc>
                  <a:txBody>
                    <a:bodyPr wrap="square"/>
                    <a:lstStyle/>
                    <a:p>
                      <a:r>
                        <a:rPr sz="1600" b="1">
                          <a:solidFill>
                            <a:srgbClr val="1F2A44"/>
                          </a:solidFill>
                          <a:latin typeface="Arial"/>
                          <a:ea typeface="Microsoft YaHei"/>
                        </a:rPr>
                        <a:t>past simple + finished time</a:t>
                      </a:r>
                    </a:p>
                  </a:txBody>
                  <a:tcPr anchor="ctr">
                    <a:solidFill>
                      <a:srgbClr val="FFEFD9"/>
                    </a:solidFill>
                  </a:tcPr>
                </a:tc>
                <a:tc>
                  <a:txBody>
                    <a:bodyPr wrap="square"/>
                    <a:lstStyle/>
                    <a:p>
                      <a:r>
                        <a:rPr sz="1600" b="0">
                          <a:solidFill>
                            <a:srgbClr val="1F2A44"/>
                          </a:solidFill>
                          <a:latin typeface="Arial"/>
                          <a:ea typeface="Microsoft YaHei"/>
                        </a:rPr>
                        <a:t>I joined in March.</a:t>
                      </a:r>
                    </a:p>
                  </a:txBody>
                  <a:tcPr anchor="ctr">
                    <a:solidFill>
                      <a:srgbClr val="FFEFD9"/>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Present perfect for news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现在完成时谈近况</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If you give a finished time (last year, in March, two weeks ago), use the past simple.</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moved to Paris last year.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moved to Paris last year.</a:t>
            </a:r>
          </a:p>
          <a:p>
            <a:pPr algn="l">
              <a:spcAft>
                <a:spcPts val="200"/>
              </a:spcAft>
            </a:pPr>
            <a:r>
              <a:rPr sz="1200" b="0">
                <a:solidFill>
                  <a:srgbClr val="FFFFFF"/>
                </a:solidFill>
                <a:latin typeface="Arial"/>
                <a:ea typeface="Microsoft YaHei"/>
              </a:rPr>
              <a:t>具体时间 → 过去式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What did you do recently?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What have you been doing recently?</a:t>
            </a:r>
          </a:p>
          <a:p>
            <a:pPr algn="l">
              <a:spcAft>
                <a:spcPts val="200"/>
              </a:spcAft>
            </a:pPr>
            <a:r>
              <a:rPr sz="1200" b="0">
                <a:solidFill>
                  <a:srgbClr val="FFFFFF"/>
                </a:solidFill>
                <a:latin typeface="Arial"/>
                <a:ea typeface="Microsoft YaHei"/>
              </a:rPr>
              <a:t>recently → 现在完成时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see him since 2022.</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haven’t seen him since 2022.</a:t>
            </a:r>
          </a:p>
          <a:p>
            <a:pPr algn="l">
              <a:spcAft>
                <a:spcPts val="200"/>
              </a:spcAft>
            </a:pPr>
            <a:r>
              <a:rPr sz="1200" b="0">
                <a:solidFill>
                  <a:srgbClr val="FFFFFF"/>
                </a:solidFill>
                <a:latin typeface="Arial"/>
                <a:ea typeface="Microsoft YaHei"/>
              </a:rPr>
              <a:t>since → 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keep in contact each other.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keep in contact with each other. / We stay in touch.</a:t>
            </a:r>
          </a:p>
          <a:p>
            <a:pPr algn="l">
              <a:spcAft>
                <a:spcPts val="200"/>
              </a:spcAft>
            </a:pPr>
            <a:r>
              <a:rPr sz="1200" b="0">
                <a:solidFill>
                  <a:srgbClr val="FFFFFF"/>
                </a:solidFill>
                <a:latin typeface="Arial"/>
                <a:ea typeface="Microsoft YaHei"/>
              </a:rPr>
              <a:t>介词 with</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promoted last month.</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was promoted last month.</a:t>
            </a:r>
          </a:p>
          <a:p>
            <a:pPr algn="l">
              <a:spcAft>
                <a:spcPts val="200"/>
              </a:spcAft>
            </a:pPr>
            <a:r>
              <a:rPr sz="1200" b="0">
                <a:solidFill>
                  <a:srgbClr val="FFFFFF"/>
                </a:solidFill>
                <a:latin typeface="Arial"/>
                <a:ea typeface="Microsoft YaHei"/>
              </a:rPr>
              <a:t>被动过去式</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busy these days, so I didn’t reply.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been busy, so I haven’t replied yet.</a:t>
            </a:r>
          </a:p>
          <a:p>
            <a:pPr algn="l">
              <a:spcAft>
                <a:spcPts val="200"/>
              </a:spcAft>
            </a:pPr>
            <a:r>
              <a:rPr sz="1200" b="0">
                <a:solidFill>
                  <a:srgbClr val="FFFFFF"/>
                </a:solidFill>
                <a:latin typeface="Arial"/>
                <a:ea typeface="Microsoft YaHei"/>
              </a:rPr>
              <a:t>现在完成时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Underline each time word (recently, since, ago, last year). Match it with the right tense.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“Long time no see” is informal. With clients, say “It’s good to see you again.”</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Keep it short. Answer “How are you?” with a sentence, not a story.</a:t>
            </a:r>
          </a:p>
        </p:txBody>
      </p:sp>
      <p:sp>
        <p:nvSpPr>
          <p:cNvPr id="15" name="Rounded Rectangle 14"/>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701039"/>
          </a:xfrm>
          <a:prstGeom prst="rect">
            <a:avLst/>
          </a:prstGeom>
          <a:noFill/>
        </p:spPr>
        <p:txBody>
          <a:bodyPr wrap="square" anchor="ctr">
            <a:spAutoFit/>
          </a:bodyPr>
          <a:lstStyle/>
          <a:p>
            <a:r>
              <a:rPr sz="1700" b="0">
                <a:solidFill>
                  <a:srgbClr val="1F2A44"/>
                </a:solidFill>
                <a:latin typeface="Arial"/>
                <a:ea typeface="Microsoft YaHei"/>
              </a:rPr>
              <a:t>Remember details. Asking about someone’s hobby or holiday builds trust, but don’t ask about salary or health unprompted.</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Follow-up timing. A polite follow-up after 3–5 working days is normal.</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news with What have you been up to?</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share my news with Since I last saw you, I’ve… using the right tenses.</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follow up politely with I’m just touching base… and Keep me posted.</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snowed under, hectic and rollercoaster in context.</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17 Catching up made easy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a 60-second catch-up with an old friend or colleague, then a 30-second follow-up call to a client.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present perfect vs past simple, for/since, friendly tone.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 · Lesson 18 Mastering conversation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Mastering conversation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掌握对话技巧</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manage a business conversation actively: listen, show understanding, ask clarifying questions, take turns and interrupt politely.</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Are you a good listener? How do you know?</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when you don’t understand something in a conversation?</a:t>
            </a:r>
          </a:p>
        </p:txBody>
      </p:sp>
      <p:sp>
        <p:nvSpPr>
          <p:cNvPr id="15" name="Oval 14"/>
          <p:cNvSpPr/>
          <p:nvPr/>
        </p:nvSpPr>
        <p:spPr>
          <a:xfrm>
            <a:off x="548640" y="29321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ever interrupt people? When is it OK?</a:t>
            </a:r>
          </a:p>
        </p:txBody>
      </p:sp>
      <p:sp>
        <p:nvSpPr>
          <p:cNvPr id="18" name="Oval 17"/>
          <p:cNvSpPr/>
          <p:nvPr/>
        </p:nvSpPr>
        <p:spPr>
          <a:xfrm>
            <a:off x="548640" y="37734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57530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57530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did you last feel that someone didn’t listen to you? What happened?</a:t>
            </a:r>
          </a:p>
        </p:txBody>
      </p:sp>
      <p:sp>
        <p:nvSpPr>
          <p:cNvPr id="21" name="Oval 20"/>
          <p:cNvSpPr/>
          <p:nvPr/>
        </p:nvSpPr>
        <p:spPr>
          <a:xfrm>
            <a:off x="548640" y="46146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makes someone easy to talk to?</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题讲过去的事,用过去式。第 5 题可以用 “someone who…” 定语从句来描述人。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person who is a great listener and explain what they do.</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who they are</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three habits</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it makes you feel</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She’s someone who…   💬 She never…, and she always…   💬 That makes me feel…</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“someone who + 动词” 是定语从句,用来描述人的特点。who 后面的动词要和 someone 一致:someone who listens。</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Listening is a skill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Rob thought he was a good communicator because he talked well. In meetings, he gave clear answers and strong opinions. But colleagues rarely came to him with problems. His mentor, Helen, asked him to try an experiment: for one week, he would talk less than half the time. In each conversation, he would ask a question, wait, and summarise what he heard: “So what you’re saying is that the deadline is the real problem.” At first, it felt strange. But people began to talk more, and Rob learned things he had never known: a client was unhappy, and two team members were overloaded. “I thought I was leading the conversation,” he admitted. “Really, I was blocking it.” Now he follows a simple rule: listen to understand, not just to reply. His team says he has become much easier to talk to.</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Rob think he was a good communicator?</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he talked well and gave clear opinions.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was the experiment?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Talk less than half the time, ask questions, wait, and summarise.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did he learn?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People opened up and told him about problems he hadn’t known.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Active listening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积极倾听</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active listening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积极倾听</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“Active listening means showing that you understand.”</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 on. / I see. / Right.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请继续 / 明白 / 对</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 on, I’m listening.”</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So what you’re saying is…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你的意思是…</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 what you’re saying is that the deadline is the problem.”</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paraphrase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用自己的话复述</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“Paraphrase what they said to check you understood.”</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read between the lines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听出言外之意</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didn’t complain, but I could read between the lines.”</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Clarifying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澄清</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clarify what you mean by…?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你能解释一下…是什么意思吗?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clarify what you mean by ‘soon’?”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Sorry, I didn’t quite follow.</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抱歉,我没太跟上</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I didn’t quite follow. Could you go over that again?”</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elaborate on that?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你能详细说说吗?</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elaborate on that last point?”</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 make sure I’ve got this right, …</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为了确认我没理解错…</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make sure I’ve got this right, we start in May?”</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over</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再过一遍</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go over the main points again.”</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Turn-taking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轮流发言</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Sorry to interrupt, but…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抱歉打断一下…</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to interrupt, but I have a quick question.”</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May I finish my point?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我能把话说完吗?</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“May I just finish my point?”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jump in here.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我插一句</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jump in here. I think we’re missing something.”</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like to build on that.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我想在此基础上补充</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build on what Maria said.”</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a word in</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插得上话</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talks so much that I can’t get a word in.”</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我能把话说完吗?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May I finish my point?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插得上话</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a word in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积极倾听</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active listening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我插一句</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me jump in here.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再过一遍</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over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听出言外之意</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read between the lines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抱歉打断一下…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Sorry to interrupt, but…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为了确认我没理解错…</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To make sure I’ve got this right,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listening</a:t>
            </a:r>
          </a:p>
        </p:txBody>
      </p:sp>
      <p:sp>
        <p:nvSpPr>
          <p:cNvPr id="10" name="Rounded Rectangle 9"/>
          <p:cNvSpPr/>
          <p:nvPr/>
        </p:nvSpPr>
        <p:spPr>
          <a:xfrm>
            <a:off x="3456432"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saying</a:t>
            </a:r>
          </a:p>
        </p:txBody>
      </p:sp>
      <p:sp>
        <p:nvSpPr>
          <p:cNvPr id="11" name="Rounded Rectangle 10"/>
          <p:cNvSpPr/>
          <p:nvPr/>
        </p:nvSpPr>
        <p:spPr>
          <a:xfrm>
            <a:off x="457200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clarify</a:t>
            </a:r>
          </a:p>
        </p:txBody>
      </p:sp>
      <p:sp>
        <p:nvSpPr>
          <p:cNvPr id="12" name="Rounded Rectangle 11"/>
          <p:cNvSpPr/>
          <p:nvPr/>
        </p:nvSpPr>
        <p:spPr>
          <a:xfrm>
            <a:off x="5797296"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follow</a:t>
            </a:r>
          </a:p>
        </p:txBody>
      </p:sp>
      <p:sp>
        <p:nvSpPr>
          <p:cNvPr id="13" name="Rounded Rectangle 12"/>
          <p:cNvSpPr/>
          <p:nvPr/>
        </p:nvSpPr>
        <p:spPr>
          <a:xfrm>
            <a:off x="6912864"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interrupt</a:t>
            </a:r>
          </a:p>
        </p:txBody>
      </p:sp>
      <p:sp>
        <p:nvSpPr>
          <p:cNvPr id="14" name="Rounded Rectangle 13"/>
          <p:cNvSpPr/>
          <p:nvPr/>
        </p:nvSpPr>
        <p:spPr>
          <a:xfrm>
            <a:off x="835761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build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Active _______ means showing that you understand.</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listening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So what you’re _______ is that the deadline is the problem.</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saying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Could you _______ what you mean by “soon”?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clarify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Sorry, I didn’t quite _______. Could you go over that again?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Sorry to _______, but I have a quick question.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interrupt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I’d like to _______ on what Maria said.</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build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(搭配) listen TO someone; pay attention TO. Spelling: interrupt (rr), paraphrase, clarify; conversation (not “conversion”).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Clarifying in a business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澄清含义</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gives vague instructions. You listen and clarify.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Helen Brook,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Rob Davies, team member</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Clarifying in a business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Helen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Rob, I need the report soon, and it should cover the main issues.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Rob</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Could you clarify what you mean by “soon”?</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Ideally by Thursday.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Thursday morning or afternoon?</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Morning, before the client call at eleven.</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Clarifying in a business conversation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Got it. And when you say “the main issues”, do you mean the budget and the timeline?</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and also the staffing risk.</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make sure I’ve got this right, you want a short report by Thursday morning on budget, timeline and staffing risk?</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Thanks, Rob.</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Clarifying in a business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clarify vague instructions.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Your task: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gives vague instructions.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Could you clarify what you mean by…? · Do you mean…? · To make sure I’ve got this right, … · by when · Got it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three clarifying questions and summarise the instructions at the end.</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manager is in a hurry. Be brief: “Just one thing: what’s the deadline?”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Paraphrase twice in 90 seconds.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Confirm by email afterwards: “Just to confirm,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Taking turns and interrupting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轮流发言与礼貌打断</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a discussion, one person talks too much and you want to add your point.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Greg, talkative 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Lena, you</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Taking turns and interrupting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Greg</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another thing, I think we should change the whole system, and we should do it now, and…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Lena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to interrupt, Greg, but may I add something?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 ahead.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build on your point about the system. I agree it needs to change, but I wonder if we should do it in stages.</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Taking turns and interrupting politely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stages? Why?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Because a big change might cause problems for customers. Perhaps we could start with one department?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That’s a fair point. Let’s talk about it.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Greg. If we pilot it, we can learn from mistakes before going further.</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Taking turns and interrupting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politely interrupt a talkative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The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dominates the conversation.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Sorry to interrupt, but… · May I add something? · I’d like to build on… · Perhaps we could… · Let me finish my point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Interrupt, add a point and keep control of the conversation.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Interrupt a senior person: “If I may, I’d like to add something quickly.”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Handle being interrupted: “Sorry, may I just finish this thought?”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credit: “As Greg said,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conversation successful?</a:t>
            </a:r>
          </a:p>
          <a:p>
            <a:pPr algn="l">
              <a:lnSpc>
                <a:spcPct val="115000"/>
              </a:lnSpc>
              <a:spcAft>
                <a:spcPts val="800"/>
              </a:spcAft>
            </a:pPr>
            <a:r>
              <a:rPr sz="1400" b="0">
                <a:solidFill>
                  <a:srgbClr val="5F677A"/>
                </a:solidFill>
                <a:latin typeface="Arial"/>
                <a:ea typeface="Microsoft YaHei"/>
              </a:rPr>
              <a:t>💬 “I think it’s…” / “A good conversation is one where…”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show you’re listening on a video call?</a:t>
            </a:r>
          </a:p>
          <a:p>
            <a:pPr algn="l">
              <a:lnSpc>
                <a:spcPct val="115000"/>
              </a:lnSpc>
              <a:spcAft>
                <a:spcPts val="800"/>
              </a:spcAft>
            </a:pPr>
            <a:r>
              <a:rPr sz="1400" b="0">
                <a:solidFill>
                  <a:srgbClr val="5F677A"/>
                </a:solidFill>
                <a:latin typeface="Arial"/>
                <a:ea typeface="Microsoft YaHei"/>
              </a:rPr>
              <a:t>💬 “I nod and…” / “I use phrases like…”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interrupting always rude?</a:t>
            </a:r>
          </a:p>
          <a:p>
            <a:pPr algn="l">
              <a:lnSpc>
                <a:spcPct val="115000"/>
              </a:lnSpc>
              <a:spcAft>
                <a:spcPts val="800"/>
              </a:spcAft>
            </a:pPr>
            <a:r>
              <a:rPr sz="1400" b="0">
                <a:solidFill>
                  <a:srgbClr val="5F677A"/>
                </a:solidFill>
                <a:latin typeface="Arial"/>
                <a:ea typeface="Microsoft YaHei"/>
              </a:rPr>
              <a:t>💬 “It depends on…” / “In some cultures, …”</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people who talk too much?</a:t>
            </a:r>
          </a:p>
          <a:p>
            <a:pPr algn="l">
              <a:lnSpc>
                <a:spcPct val="115000"/>
              </a:lnSpc>
              <a:spcAft>
                <a:spcPts val="800"/>
              </a:spcAft>
            </a:pPr>
            <a:r>
              <a:rPr sz="1400" b="0">
                <a:solidFill>
                  <a:srgbClr val="5F677A"/>
                </a:solidFill>
                <a:latin typeface="Arial"/>
                <a:ea typeface="Microsoft YaHei"/>
              </a:rPr>
              <a:t>💬 “I try to…” / “I wait for a pause and…”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you disagree but don’t want to argue?</a:t>
            </a:r>
          </a:p>
          <a:p>
            <a:pPr algn="l">
              <a:lnSpc>
                <a:spcPct val="115000"/>
              </a:lnSpc>
              <a:spcAft>
                <a:spcPts val="800"/>
              </a:spcAft>
            </a:pPr>
            <a:r>
              <a:rPr sz="1400" b="0">
                <a:solidFill>
                  <a:srgbClr val="5F677A"/>
                </a:solidFill>
                <a:latin typeface="Arial"/>
                <a:ea typeface="Microsoft YaHei"/>
              </a:rPr>
              <a:t>💬 “I say… and then…” / “I find common ground first.”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a successful conversation is one where both people leave with something new. That means each person speaks and listens in a fairly balanced way. You ask questions, you check you’ve understood, and you don’t just wait for your turn to talk. It also helps to have a purpose, even for a casual chat. If both of you feel heard, the conversation was a success.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 conversation where…” 定语从句;“wait for your turn” = 等轮到你说;“feel heard” = 感到被倾听。</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Phrases for managing a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控制对话的短语</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Phrase</a:t>
                      </a:r>
                    </a:p>
                  </a:txBody>
                  <a:tcPr anchor="ctr">
                    <a:solidFill>
                      <a:srgbClr val="3CC49A"/>
                    </a:solidFill>
                  </a:tcPr>
                </a:tc>
              </a:tr>
              <a:tr h="408432">
                <a:tc>
                  <a:txBody>
                    <a:bodyPr wrap="square"/>
                    <a:lstStyle/>
                    <a:p>
                      <a:r>
                        <a:rPr sz="1600" b="1">
                          <a:solidFill>
                            <a:srgbClr val="1F2A44"/>
                          </a:solidFill>
                          <a:latin typeface="Arial"/>
                          <a:ea typeface="Microsoft YaHei"/>
                        </a:rPr>
                        <a:t>Check understanding</a:t>
                      </a:r>
                    </a:p>
                  </a:txBody>
                  <a:tcPr anchor="ctr">
                    <a:solidFill>
                      <a:srgbClr val="FFFFFF"/>
                    </a:solidFill>
                  </a:tcPr>
                </a:tc>
                <a:tc>
                  <a:txBody>
                    <a:bodyPr wrap="square"/>
                    <a:lstStyle/>
                    <a:p>
                      <a:r>
                        <a:rPr sz="1600" b="0">
                          <a:solidFill>
                            <a:srgbClr val="1F2A44"/>
                          </a:solidFill>
                          <a:latin typeface="Arial"/>
                          <a:ea typeface="Microsoft YaHei"/>
                        </a:rPr>
                        <a:t>So what you’re saying is… / Do you mean…?</a:t>
                      </a:r>
                    </a:p>
                  </a:txBody>
                  <a:tcPr anchor="ctr">
                    <a:solidFill>
                      <a:srgbClr val="FFFFFF"/>
                    </a:solidFill>
                  </a:tcPr>
                </a:tc>
              </a:tr>
              <a:tr h="408432">
                <a:tc>
                  <a:txBody>
                    <a:bodyPr wrap="square"/>
                    <a:lstStyle/>
                    <a:p>
                      <a:r>
                        <a:rPr sz="1600" b="1">
                          <a:solidFill>
                            <a:srgbClr val="1F2A44"/>
                          </a:solidFill>
                          <a:latin typeface="Arial"/>
                          <a:ea typeface="Microsoft YaHei"/>
                        </a:rPr>
                        <a:t>Ask for more detail</a:t>
                      </a:r>
                    </a:p>
                  </a:txBody>
                  <a:tcPr anchor="ctr">
                    <a:solidFill>
                      <a:srgbClr val="FFEFD9"/>
                    </a:solidFill>
                  </a:tcPr>
                </a:tc>
                <a:tc>
                  <a:txBody>
                    <a:bodyPr wrap="square"/>
                    <a:lstStyle/>
                    <a:p>
                      <a:r>
                        <a:rPr sz="1600" b="0">
                          <a:solidFill>
                            <a:srgbClr val="1F2A44"/>
                          </a:solidFill>
                          <a:latin typeface="Arial"/>
                          <a:ea typeface="Microsoft YaHei"/>
                        </a:rPr>
                        <a:t>Could you elaborate on that?</a:t>
                      </a:r>
                    </a:p>
                  </a:txBody>
                  <a:tcPr anchor="ctr">
                    <a:solidFill>
                      <a:srgbClr val="FFEFD9"/>
                    </a:solidFill>
                  </a:tcPr>
                </a:tc>
              </a:tr>
              <a:tr h="408432">
                <a:tc>
                  <a:txBody>
                    <a:bodyPr wrap="square"/>
                    <a:lstStyle/>
                    <a:p>
                      <a:r>
                        <a:rPr sz="1600" b="1">
                          <a:solidFill>
                            <a:srgbClr val="1F2A44"/>
                          </a:solidFill>
                          <a:latin typeface="Arial"/>
                          <a:ea typeface="Microsoft YaHei"/>
                        </a:rPr>
                        <a:t>Interrupt</a:t>
                      </a:r>
                    </a:p>
                  </a:txBody>
                  <a:tcPr anchor="ctr">
                    <a:solidFill>
                      <a:srgbClr val="FFFFFF"/>
                    </a:solidFill>
                  </a:tcPr>
                </a:tc>
                <a:tc>
                  <a:txBody>
                    <a:bodyPr wrap="square"/>
                    <a:lstStyle/>
                    <a:p>
                      <a:r>
                        <a:rPr sz="1600" b="0">
                          <a:solidFill>
                            <a:srgbClr val="1F2A44"/>
                          </a:solidFill>
                          <a:latin typeface="Arial"/>
                          <a:ea typeface="Microsoft YaHei"/>
                        </a:rPr>
                        <a:t>Sorry to interrupt, but… / If I may, …</a:t>
                      </a:r>
                    </a:p>
                  </a:txBody>
                  <a:tcPr anchor="ctr">
                    <a:solidFill>
                      <a:srgbClr val="FFFFFF"/>
                    </a:solidFill>
                  </a:tcPr>
                </a:tc>
              </a:tr>
              <a:tr h="408432">
                <a:tc>
                  <a:txBody>
                    <a:bodyPr wrap="square"/>
                    <a:lstStyle/>
                    <a:p>
                      <a:r>
                        <a:rPr sz="1600" b="1">
                          <a:solidFill>
                            <a:srgbClr val="1F2A44"/>
                          </a:solidFill>
                          <a:latin typeface="Arial"/>
                          <a:ea typeface="Microsoft YaHei"/>
                        </a:rPr>
                        <a:t>Take the floor back</a:t>
                      </a:r>
                    </a:p>
                  </a:txBody>
                  <a:tcPr anchor="ctr">
                    <a:solidFill>
                      <a:srgbClr val="FFEFD9"/>
                    </a:solidFill>
                  </a:tcPr>
                </a:tc>
                <a:tc>
                  <a:txBody>
                    <a:bodyPr wrap="square"/>
                    <a:lstStyle/>
                    <a:p>
                      <a:r>
                        <a:rPr sz="1600" b="0">
                          <a:solidFill>
                            <a:srgbClr val="1F2A44"/>
                          </a:solidFill>
                          <a:latin typeface="Arial"/>
                          <a:ea typeface="Microsoft YaHei"/>
                        </a:rPr>
                        <a:t>Let me finish my point. / As I was saying, …</a:t>
                      </a:r>
                    </a:p>
                  </a:txBody>
                  <a:tcPr anchor="ctr">
                    <a:solidFill>
                      <a:srgbClr val="FFEFD9"/>
                    </a:solidFill>
                  </a:tcPr>
                </a:tc>
              </a:tr>
            </a:tbl>
          </a:graphicData>
        </a:graphic>
      </p:graphicFrame>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Phrases for managing a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控制对话的短语</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Show you’re listening: </a:t>
            </a:r>
            <a:r>
              <a:rPr sz="1700" b="0">
                <a:solidFill>
                  <a:srgbClr val="1F2A44"/>
                </a:solidFill>
                <a:latin typeface="Arial"/>
                <a:ea typeface="Microsoft YaHei"/>
              </a:rPr>
              <a:t>nod, say I see / Right / Mm-hmm, and keep eye contact (or look at the camera).</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listened him carefully.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listened to him carefully.</a:t>
            </a:r>
          </a:p>
          <a:p>
            <a:pPr algn="l">
              <a:spcAft>
                <a:spcPts val="200"/>
              </a:spcAft>
            </a:pPr>
            <a:r>
              <a:rPr sz="1200" b="0">
                <a:solidFill>
                  <a:srgbClr val="FFFFFF"/>
                </a:solidFill>
                <a:latin typeface="Arial"/>
                <a:ea typeface="Microsoft YaHei"/>
              </a:rPr>
              <a:t>listen to</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explain me what you mean?</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you explain to me what you mean? / Can you explain what you mean?</a:t>
            </a:r>
          </a:p>
          <a:p>
            <a:pPr algn="l">
              <a:spcAft>
                <a:spcPts val="200"/>
              </a:spcAft>
            </a:pPr>
            <a:r>
              <a:rPr sz="1200" b="0">
                <a:solidFill>
                  <a:srgbClr val="FFFFFF"/>
                </a:solidFill>
                <a:latin typeface="Arial"/>
                <a:ea typeface="Microsoft YaHei"/>
              </a:rPr>
              <a:t>explain to sb</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understand your speaking.</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Sorry, I didn’t quite follow.</a:t>
            </a:r>
          </a:p>
          <a:p>
            <a:pPr algn="l">
              <a:spcAft>
                <a:spcPts val="200"/>
              </a:spcAft>
            </a:pPr>
            <a:r>
              <a:rPr sz="1200" b="0">
                <a:solidFill>
                  <a:srgbClr val="FFFFFF"/>
                </a:solidFill>
                <a:latin typeface="Arial"/>
                <a:ea typeface="Microsoft YaHei"/>
              </a:rPr>
              <a:t>更自然,不责备对方</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repeat again.</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say that again? / Could you repeat that?</a:t>
            </a:r>
          </a:p>
          <a:p>
            <a:pPr algn="l">
              <a:spcAft>
                <a:spcPts val="200"/>
              </a:spcAft>
            </a:pPr>
            <a:r>
              <a:rPr sz="1200" b="0">
                <a:solidFill>
                  <a:srgbClr val="FFFFFF"/>
                </a:solidFill>
                <a:latin typeface="Arial"/>
                <a:ea typeface="Microsoft YaHei"/>
              </a:rPr>
              <a:t>repeat 已含”再一次”</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are agree?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 you agree?</a:t>
            </a:r>
          </a:p>
          <a:p>
            <a:pPr algn="l">
              <a:spcAft>
                <a:spcPts val="200"/>
              </a:spcAft>
            </a:pPr>
            <a:r>
              <a:rPr sz="1200" b="0">
                <a:solidFill>
                  <a:srgbClr val="FFFFFF"/>
                </a:solidFill>
                <a:latin typeface="Arial"/>
                <a:ea typeface="Microsoft YaHei"/>
              </a:rPr>
              <a:t>agree 是动词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so talkative that I can’t say a word.</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talks so much that I can’t get a word in.</a:t>
            </a:r>
          </a:p>
          <a:p>
            <a:pPr algn="l">
              <a:spcAft>
                <a:spcPts val="200"/>
              </a:spcAft>
            </a:pPr>
            <a:r>
              <a:rPr sz="1200" b="0">
                <a:solidFill>
                  <a:srgbClr val="FFFFFF"/>
                </a:solidFill>
                <a:latin typeface="Arial"/>
                <a:ea typeface="Microsoft YaHei"/>
              </a:rPr>
              <a:t>get a word in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the prepositions: listen TO, explain TO, pay attention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Silence. In English-speaking cultures, a pause of 2–3 seconds before answering is normal. Don’t rush to fill it.</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Interrupting. In some cultures overlapping speech shows enthusiasm. In UK/US business meetings, it is often seen as rude. Say “Sorry to interrupt” first.</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Eye contact. Short, regular eye contact signals honesty. Staring can feel aggressive.</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Small sounds. “Mm-hmm” and “I see” show you’re following. Complete silence can look as if you don’t understand.</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So what you’re saying is… to show I understand.</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clarification and detail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interrupt and take turns without sounding rude.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listen to and explain to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18 Mastering conversation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a 90-second conversation with a partner or imagined partner, including two clarifying questions and one polite interruption.</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listen to / explain to, “agree” as a verb, polite interruption.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 · Lesson 19 How miscommunication happens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300" b="1">
                <a:solidFill>
                  <a:srgbClr val="FFFFFF"/>
                </a:solidFill>
                <a:latin typeface="Arial"/>
                <a:ea typeface="Microsoft YaHei"/>
              </a:rPr>
              <a:t>How miscommunication happens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误解如何发生</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understand why misunderstandings happen at work, repair them quickly and prevent them with clearer language.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When did a misunderstanding last cause a problem at work?</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are the most common causes of misunderstandings in your team?</a:t>
            </a:r>
          </a:p>
        </p:txBody>
      </p:sp>
      <p:sp>
        <p:nvSpPr>
          <p:cNvPr id="15" name="Oval 14"/>
          <p:cNvSpPr/>
          <p:nvPr/>
        </p:nvSpPr>
        <p:spPr>
          <a:xfrm>
            <a:off x="548640" y="29702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emails or messages cause more problems than speech? Why?</a:t>
            </a:r>
          </a:p>
        </p:txBody>
      </p:sp>
      <p:sp>
        <p:nvSpPr>
          <p:cNvPr id="18" name="Oval 17"/>
          <p:cNvSpPr/>
          <p:nvPr/>
        </p:nvSpPr>
        <p:spPr>
          <a:xfrm>
            <a:off x="548640" y="36591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2102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2102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check that someone has understood you?</a:t>
            </a:r>
          </a:p>
        </p:txBody>
      </p:sp>
      <p:sp>
        <p:nvSpPr>
          <p:cNvPr id="21" name="Oval 20"/>
          <p:cNvSpPr/>
          <p:nvPr/>
        </p:nvSpPr>
        <p:spPr>
          <a:xfrm>
            <a:off x="548640" y="45232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09872"/>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09872"/>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Have you ever had a misunderstanding with someone from another culture? What happened?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题讲过去的事,用过去式。第 5 题用现在完成时问经历,回答时改用过去式。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Tell the story of a misunderstanding at work and how it was fixed.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happened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it happened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fixed it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learned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What went wrong was that…   💬 It turned out that…   💬 The lesson I learned was…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 turned out that…” 表示”结果发现…“,常用来揭示真相。”What went wrong was that…” 是强调句型。</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“Quite good”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British manager, Nick, reviewed a draft from his Chinese colleague, Wen. “This is quite good,” he said. Wen was delighted. In China, that sounded like praise. But Nick meant something different: good, but not great, and some things needed to change. When the final version arrived with few changes, Nick was disappointed, and Wen was confused. Later they discovered the gap. Nick learned to be clearer: “I like the structure, but the summary needs to be shorter. Please change it by Friday.” Wen started to ask, “Could you tell me what would make it excellent?” The two also agreed to confirm important points in writing. “We were both being polite,” Nick says. “That was exactly the problem.” Miscommunication is rarely about grammar. It is usually about assumptions, tone and what is left unsaid.</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did Wen think “quite good” meant?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That it was real praise.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did Nick actually mean?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That it was good but needed changes.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two things did they change?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Nick gave clearer, specific feedback; Wen asked what would make it excellent, and they confirmed points in writing.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Why it happens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误解的原因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misunderstanding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误会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was a misunderstanding about the delivery date.”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assumption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假设,想当然的看法</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made different assumptions about the deadline.”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jargon</a:t>
            </a:r>
          </a:p>
          <a:p>
            <a:pPr algn="l">
              <a:lnSpc>
                <a:spcPct val="115000"/>
              </a:lnSpc>
              <a:spcAft>
                <a:spcPts val="800"/>
              </a:spcAft>
            </a:pPr>
            <a:r>
              <a:rPr sz="1300" b="0">
                <a:solidFill>
                  <a:srgbClr val="5F677A"/>
                </a:solidFill>
                <a:latin typeface="Arial"/>
                <a:ea typeface="Microsoft YaHei"/>
              </a:rPr>
              <a:t>noun (uncountable)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行话</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“Avoid jargon when you talk to clients.”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lost in translation</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翻译中丢失了含义</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“Something got lost in translation between the two teams.”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mixed signals</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前后矛盾的信号</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said yes but looked unsure, so I got mixed signals.”</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Repairing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补救</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I meant was…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我的意思是…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I meant was that the budget is flexible.”</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put it another way.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我换个说法</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put it another way: we need two more weeks.”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at cross purposes</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各说各话</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think we’re at cross purposes. Are you talking about version one or two?”</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clear the air</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消除误会,化解紧张</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have a quick chat to clear the air.”</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give the wrong impression</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给人错误的印象</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may have given the wrong impression. I didn’t mean to be critical.”</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Preventing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预防</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spell it out</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讲得清清楚楚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spell it out: we need it by 5 p.m.”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confirm in writing</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书面确认</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confirm in writing.”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on the same page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想法一致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make sure we’re on the same page.”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ambiguous</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含糊的,有歧义的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instruction was ambiguous.”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for granted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想当然</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take it for granted that everyone knows the deadline.”</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讲得清清楚楚</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spell it out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行话</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jargon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书面确认</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confirm in writing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想当然</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for granted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消除误会,化解紧张</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clear the air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误会</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misunderstanding</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我换个说法</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me put it another way.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想法一致</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on the same page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assumptions</a:t>
            </a:r>
          </a:p>
        </p:txBody>
      </p:sp>
      <p:sp>
        <p:nvSpPr>
          <p:cNvPr id="10" name="Rounded Rectangle 9"/>
          <p:cNvSpPr/>
          <p:nvPr/>
        </p:nvSpPr>
        <p:spPr>
          <a:xfrm>
            <a:off x="3675887"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jargon</a:t>
            </a:r>
          </a:p>
        </p:txBody>
      </p:sp>
      <p:sp>
        <p:nvSpPr>
          <p:cNvPr id="11" name="Rounded Rectangle 10"/>
          <p:cNvSpPr/>
          <p:nvPr/>
        </p:nvSpPr>
        <p:spPr>
          <a:xfrm>
            <a:off x="4791455"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meant</a:t>
            </a:r>
          </a:p>
        </p:txBody>
      </p:sp>
      <p:sp>
        <p:nvSpPr>
          <p:cNvPr id="12" name="Rounded Rectangle 11"/>
          <p:cNvSpPr/>
          <p:nvPr/>
        </p:nvSpPr>
        <p:spPr>
          <a:xfrm>
            <a:off x="5797295"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air</a:t>
            </a:r>
          </a:p>
        </p:txBody>
      </p:sp>
      <p:sp>
        <p:nvSpPr>
          <p:cNvPr id="13" name="Rounded Rectangle 12"/>
          <p:cNvSpPr/>
          <p:nvPr/>
        </p:nvSpPr>
        <p:spPr>
          <a:xfrm>
            <a:off x="6583679"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spell</a:t>
            </a:r>
          </a:p>
        </p:txBody>
      </p:sp>
      <p:sp>
        <p:nvSpPr>
          <p:cNvPr id="14" name="Rounded Rectangle 13"/>
          <p:cNvSpPr/>
          <p:nvPr/>
        </p:nvSpPr>
        <p:spPr>
          <a:xfrm>
            <a:off x="7589519"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ambiguous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made different _______ about the deadline.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assumptions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Avoid _______ when you talk to clients.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jargon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What I _______ was that the budget is flexible.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meant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Let’s have a quick chat to clear the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air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Let me _______ it out: we need it by 5 p.m.</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spell</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instruction was _______, so we guessed.</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ambiguous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(词形) assume (verb) → assumption (noun); misunderstand → misunderstood → misunderstanding. Spelling: ambiguous, assumption, jargon.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Fixing a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化解误会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a colleague discover that you meant different things by a deadline.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Nick Hall,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Wen Li, colleague</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Fixing a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Nick</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Wen, I thought you were sending the report today. Is it ready?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Wen</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thought the deadline was Friday. You said “by the end of the week.”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Ah, I think we’re at cross purposes. By “the end of the week” I meant Wednesday, because the client call is on Thursday.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I’m sorry, I took it for granted that it meant Friday.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it’s my fault. I should have spelled it out. What I meant was Wednesday evening.</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Fixing a misunderstanding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I send it by tomorrow morning? That’s the earliest I can do.</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Tomorrow morning is fine. Let’s confirm it in writing.</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send an email now: “Report due Thursday, 9 a.m.”</a:t>
            </a:r>
          </a:p>
        </p:txBody>
      </p:sp>
      <p:sp>
        <p:nvSpPr>
          <p:cNvPr id="17" name="Rounded Rectangle 16"/>
          <p:cNvSpPr/>
          <p:nvPr/>
        </p:nvSpPr>
        <p:spPr>
          <a:xfrm>
            <a:off x="548640" y="307238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07238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Thanks, and sorry for the confusion.</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Fixing a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discover a misunderstanding about a deadline and fix it.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Your task: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thought… · at cross purposes · What I meant was… · spell it out · confirm in writing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Find the cause, apologise briefly, agree a new date, confirm in writing.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Blame no one: “It seems we understood it differently.”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did you understand by ‘urgent’?”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prevention: “Next time, let’s put the date in the subject 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A cultural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文化误解</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UK manager and a Chinese colleague talk about feedback that was unclear.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Nick Hall, UK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Wen Li, Chinese colleague</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 cultural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Nick</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Wen, I’d like to talk about your draft. I said it was quite good, but I’m not sure I made myself clear.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was happy with that. Was there a problem?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 problem, but I may have given the wrong impression. In British English, “quite good” can mean “good, but not excellent”.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 see. I thought it meant you were pleased.</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cultural misunderstanding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was, mostly. The structure is strong. The summary is too long. Could you shorten 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Thank you for telling me directly.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please do the same for me. If something I say is unclear, ask: “Could you tell me what you mean?”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It helps to know. Let’s check in again on Friday.</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A cultural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clear up a cultural misunderstanding about tone.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from another culture. Your culture: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whose culture uses different signals.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not sure I made myself clear · I may have given the wrong impression · In my culture… · Could you tell me what you mean? · clear the air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what each of you meant and agree a way to avoid it.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“In my culture…” without judging: “In my culture, silence often means respect.”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tone: “How did my message sound to you?”</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down one team rule.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main causes of miscommunication at work?</a:t>
            </a:r>
          </a:p>
          <a:p>
            <a:pPr algn="l">
              <a:lnSpc>
                <a:spcPct val="115000"/>
              </a:lnSpc>
              <a:spcAft>
                <a:spcPts val="800"/>
              </a:spcAft>
            </a:pPr>
            <a:r>
              <a:rPr sz="1400" b="0">
                <a:solidFill>
                  <a:srgbClr val="5F677A"/>
                </a:solidFill>
                <a:latin typeface="Arial"/>
                <a:ea typeface="Microsoft YaHei"/>
              </a:rPr>
              <a:t>💬 “One major cause is…” / “Often it comes down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we reduce misunderstandings in emails?</a:t>
            </a:r>
          </a:p>
          <a:p>
            <a:pPr algn="l">
              <a:lnSpc>
                <a:spcPct val="115000"/>
              </a:lnSpc>
              <a:spcAft>
                <a:spcPts val="800"/>
              </a:spcAft>
            </a:pPr>
            <a:r>
              <a:rPr sz="1400" b="0">
                <a:solidFill>
                  <a:srgbClr val="5F677A"/>
                </a:solidFill>
                <a:latin typeface="Arial"/>
                <a:ea typeface="Microsoft YaHei"/>
              </a:rPr>
              <a:t>💬 “Be specific about…” / “I’d put the key point…”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cultural differences cause problems in your workplace?</a:t>
            </a:r>
          </a:p>
          <a:p>
            <a:pPr algn="l">
              <a:lnSpc>
                <a:spcPct val="115000"/>
              </a:lnSpc>
              <a:spcAft>
                <a:spcPts val="800"/>
              </a:spcAft>
            </a:pPr>
            <a:r>
              <a:rPr sz="1400" b="0">
                <a:solidFill>
                  <a:srgbClr val="5F677A"/>
                </a:solidFill>
                <a:latin typeface="Arial"/>
                <a:ea typeface="Microsoft YaHei"/>
              </a:rPr>
              <a:t>💬 “Yes. For example, …” / “Not really,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check understanding?</a:t>
            </a:r>
          </a:p>
          <a:p>
            <a:pPr algn="l">
              <a:lnSpc>
                <a:spcPct val="115000"/>
              </a:lnSpc>
              <a:spcAft>
                <a:spcPts val="800"/>
              </a:spcAft>
            </a:pPr>
            <a:r>
              <a:rPr sz="1400" b="0">
                <a:solidFill>
                  <a:srgbClr val="5F677A"/>
                </a:solidFill>
                <a:latin typeface="Arial"/>
                <a:ea typeface="Microsoft YaHei"/>
              </a:rPr>
              <a:t>💬 “I ask people to…” / “I summarise and…”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is responsible for clear communication: the speaker or the listener?</a:t>
            </a:r>
          </a:p>
          <a:p>
            <a:pPr algn="l">
              <a:lnSpc>
                <a:spcPct val="115000"/>
              </a:lnSpc>
              <a:spcAft>
                <a:spcPts val="800"/>
              </a:spcAft>
            </a:pPr>
            <a:r>
              <a:rPr sz="1400" b="0">
                <a:solidFill>
                  <a:srgbClr val="5F677A"/>
                </a:solidFill>
                <a:latin typeface="Arial"/>
                <a:ea typeface="Microsoft YaHei"/>
              </a:rPr>
              <a:t>💬 “Both, but especially…”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both are responsible, but the speaker has the first duty. If I want to be understood, I need to choose clear words, avoid jargon, and check that the listener has followed. At the same time, listeners should ask questions if something isn’t clear instead of guessing. It only takes five seconds to ask, and it can save five days of rework.</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first duty” = 首要责任;“instead of + -ing” = 而不是…;“rework” = 返工。</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Repair phrases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补救短语</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Problem</a:t>
                      </a:r>
                    </a:p>
                  </a:txBody>
                  <a:tcPr anchor="ctr">
                    <a:solidFill>
                      <a:srgbClr val="3CC49A"/>
                    </a:solidFill>
                  </a:tcPr>
                </a:tc>
                <a:tc>
                  <a:txBody>
                    <a:bodyPr wrap="square"/>
                    <a:lstStyle/>
                    <a:p>
                      <a:r>
                        <a:rPr sz="1600" b="1">
                          <a:solidFill>
                            <a:srgbClr val="FFFFFF"/>
                          </a:solidFill>
                          <a:latin typeface="Arial"/>
                          <a:ea typeface="Microsoft YaHei"/>
                        </a:rPr>
                        <a:t>What to say</a:t>
                      </a:r>
                    </a:p>
                  </a:txBody>
                  <a:tcPr anchor="ctr">
                    <a:solidFill>
                      <a:srgbClr val="3CC49A"/>
                    </a:solidFill>
                  </a:tcPr>
                </a:tc>
              </a:tr>
              <a:tr h="408432">
                <a:tc>
                  <a:txBody>
                    <a:bodyPr wrap="square"/>
                    <a:lstStyle/>
                    <a:p>
                      <a:r>
                        <a:rPr sz="1600" b="1">
                          <a:solidFill>
                            <a:srgbClr val="1F2A44"/>
                          </a:solidFill>
                          <a:latin typeface="Arial"/>
                          <a:ea typeface="Microsoft YaHei"/>
                        </a:rPr>
                        <a:t>You were not clear</a:t>
                      </a:r>
                    </a:p>
                  </a:txBody>
                  <a:tcPr anchor="ctr">
                    <a:solidFill>
                      <a:srgbClr val="FFFFFF"/>
                    </a:solidFill>
                  </a:tcPr>
                </a:tc>
                <a:tc>
                  <a:txBody>
                    <a:bodyPr wrap="square"/>
                    <a:lstStyle/>
                    <a:p>
                      <a:r>
                        <a:rPr sz="1600" b="0">
                          <a:solidFill>
                            <a:srgbClr val="1F2A44"/>
                          </a:solidFill>
                          <a:latin typeface="Arial"/>
                          <a:ea typeface="Microsoft YaHei"/>
                        </a:rPr>
                        <a:t>What I meant was… / Let me put it another way.</a:t>
                      </a:r>
                    </a:p>
                  </a:txBody>
                  <a:tcPr anchor="ctr">
                    <a:solidFill>
                      <a:srgbClr val="FFFFFF"/>
                    </a:solidFill>
                  </a:tcPr>
                </a:tc>
              </a:tr>
              <a:tr h="652272">
                <a:tc>
                  <a:txBody>
                    <a:bodyPr wrap="square"/>
                    <a:lstStyle/>
                    <a:p>
                      <a:r>
                        <a:rPr sz="1600" b="1">
                          <a:solidFill>
                            <a:srgbClr val="1F2A44"/>
                          </a:solidFill>
                          <a:latin typeface="Arial"/>
                          <a:ea typeface="Microsoft YaHei"/>
                        </a:rPr>
                        <a:t>You did not understand</a:t>
                      </a:r>
                    </a:p>
                  </a:txBody>
                  <a:tcPr anchor="ctr">
                    <a:solidFill>
                      <a:srgbClr val="FFEFD9"/>
                    </a:solidFill>
                  </a:tcPr>
                </a:tc>
                <a:tc>
                  <a:txBody>
                    <a:bodyPr wrap="square"/>
                    <a:lstStyle/>
                    <a:p>
                      <a:r>
                        <a:rPr sz="1600" b="0">
                          <a:solidFill>
                            <a:srgbClr val="1F2A44"/>
                          </a:solidFill>
                          <a:latin typeface="Arial"/>
                          <a:ea typeface="Microsoft YaHei"/>
                        </a:rPr>
                        <a:t>Sorry, I didn’t catch that. / Could you say that differently?</a:t>
                      </a:r>
                    </a:p>
                  </a:txBody>
                  <a:tcPr anchor="ctr">
                    <a:solidFill>
                      <a:srgbClr val="FFEFD9"/>
                    </a:solidFill>
                  </a:tcPr>
                </a:tc>
              </a:tr>
              <a:tr h="408432">
                <a:tc>
                  <a:txBody>
                    <a:bodyPr wrap="square"/>
                    <a:lstStyle/>
                    <a:p>
                      <a:r>
                        <a:rPr sz="1600" b="1">
                          <a:solidFill>
                            <a:srgbClr val="1F2A44"/>
                          </a:solidFill>
                          <a:latin typeface="Arial"/>
                          <a:ea typeface="Microsoft YaHei"/>
                        </a:rPr>
                        <a:t>Different assumptions</a:t>
                      </a:r>
                    </a:p>
                  </a:txBody>
                  <a:tcPr anchor="ctr">
                    <a:solidFill>
                      <a:srgbClr val="FFFFFF"/>
                    </a:solidFill>
                  </a:tcPr>
                </a:tc>
                <a:tc>
                  <a:txBody>
                    <a:bodyPr wrap="square"/>
                    <a:lstStyle/>
                    <a:p>
                      <a:r>
                        <a:rPr sz="1600" b="0">
                          <a:solidFill>
                            <a:srgbClr val="1F2A44"/>
                          </a:solidFill>
                          <a:latin typeface="Arial"/>
                          <a:ea typeface="Microsoft YaHei"/>
                        </a:rPr>
                        <a:t>I think we’re at cross purposes.</a:t>
                      </a:r>
                    </a:p>
                  </a:txBody>
                  <a:tcPr anchor="ctr">
                    <a:solidFill>
                      <a:srgbClr val="FFFFFF"/>
                    </a:solidFill>
                  </a:tcPr>
                </a:tc>
              </a:tr>
              <a:tr h="652272">
                <a:tc>
                  <a:txBody>
                    <a:bodyPr wrap="square"/>
                    <a:lstStyle/>
                    <a:p>
                      <a:r>
                        <a:rPr sz="1600" b="1">
                          <a:solidFill>
                            <a:srgbClr val="1F2A44"/>
                          </a:solidFill>
                          <a:latin typeface="Arial"/>
                          <a:ea typeface="Microsoft YaHei"/>
                        </a:rPr>
                        <a:t>Wrong impression</a:t>
                      </a:r>
                    </a:p>
                  </a:txBody>
                  <a:tcPr anchor="ctr">
                    <a:solidFill>
                      <a:srgbClr val="FFEFD9"/>
                    </a:solidFill>
                  </a:tcPr>
                </a:tc>
                <a:tc>
                  <a:txBody>
                    <a:bodyPr wrap="square"/>
                    <a:lstStyle/>
                    <a:p>
                      <a:r>
                        <a:rPr sz="1600" b="0">
                          <a:solidFill>
                            <a:srgbClr val="1F2A44"/>
                          </a:solidFill>
                          <a:latin typeface="Arial"/>
                          <a:ea typeface="Microsoft YaHei"/>
                        </a:rPr>
                        <a:t>I didn’t mean it like that. I’m sorry if it sounded…</a:t>
                      </a:r>
                    </a:p>
                  </a:txBody>
                  <a:tcPr anchor="ctr">
                    <a:solidFill>
                      <a:srgbClr val="FFEFD9"/>
                    </a:solidFill>
                  </a:tcPr>
                </a:tc>
              </a:tr>
            </a:tbl>
          </a:graphicData>
        </a:graphic>
      </p:graphicFrame>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Repair phrases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补救短语</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Take the blame lightly (“I should have been clearer”) to protect the other person’s face.</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misunderstood you because your speaking is not clear.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think I misunderstood. Could you say that again?</a:t>
            </a:r>
          </a:p>
          <a:p>
            <a:pPr algn="l">
              <a:spcAft>
                <a:spcPts val="200"/>
              </a:spcAft>
            </a:pPr>
            <a:r>
              <a:rPr sz="1200" b="0">
                <a:solidFill>
                  <a:srgbClr val="FFFFFF"/>
                </a:solidFill>
                <a:latin typeface="Arial"/>
                <a:ea typeface="Microsoft YaHei"/>
              </a:rPr>
              <a:t>不要责备对方</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mistake my meaning.</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You’ve misunderstood me. / You’ve got the wrong end of the stick.</a:t>
            </a:r>
          </a:p>
          <a:p>
            <a:pPr algn="l">
              <a:spcAft>
                <a:spcPts val="200"/>
              </a:spcAft>
            </a:pPr>
            <a:r>
              <a:rPr sz="1200" b="0">
                <a:solidFill>
                  <a:srgbClr val="FFFFFF"/>
                </a:solidFill>
                <a:latin typeface="Arial"/>
                <a:ea typeface="Microsoft YaHei"/>
              </a:rPr>
              <a:t>misunderstand</a:t>
            </a:r>
          </a:p>
        </p:txBody>
      </p:sp>
      <p:sp>
        <p:nvSpPr>
          <p:cNvPr id="13" name="Rounded Rectangle 12"/>
          <p:cNvSpPr/>
          <p:nvPr/>
        </p:nvSpPr>
        <p:spPr>
          <a:xfrm>
            <a:off x="548640" y="335279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a misunderstand.</a:t>
            </a:r>
          </a:p>
        </p:txBody>
      </p:sp>
      <p:sp>
        <p:nvSpPr>
          <p:cNvPr id="14" name="Rounded Rectangle 13"/>
          <p:cNvSpPr/>
          <p:nvPr/>
        </p:nvSpPr>
        <p:spPr>
          <a:xfrm>
            <a:off x="6187287" y="335279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is a misunderstanding.</a:t>
            </a:r>
          </a:p>
          <a:p>
            <a:pPr algn="l">
              <a:spcAft>
                <a:spcPts val="200"/>
              </a:spcAft>
            </a:pPr>
            <a:r>
              <a:rPr sz="1200" b="0">
                <a:solidFill>
                  <a:srgbClr val="FFFFFF"/>
                </a:solidFill>
                <a:latin typeface="Arial"/>
                <a:ea typeface="Microsoft YaHei"/>
              </a:rPr>
              <a:t>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didn’t mean to hurt you by my word.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didn’t mean to upset you.</a:t>
            </a:r>
          </a:p>
          <a:p>
            <a:pPr algn="l">
              <a:spcAft>
                <a:spcPts val="200"/>
              </a:spcAft>
            </a:pPr>
            <a:r>
              <a:rPr sz="1200" b="0">
                <a:solidFill>
                  <a:srgbClr val="FFFFFF"/>
                </a:solidFill>
                <a:latin typeface="Arial"/>
                <a:ea typeface="Microsoft YaHei"/>
              </a:rPr>
              <a:t>upset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not my mistake, it’s your.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not my mistake. It’s yours.</a:t>
            </a:r>
          </a:p>
          <a:p>
            <a:pPr algn="l">
              <a:spcAft>
                <a:spcPts val="200"/>
              </a:spcAft>
            </a:pPr>
            <a:r>
              <a:rPr sz="1200" b="0">
                <a:solidFill>
                  <a:srgbClr val="FFFFFF"/>
                </a:solidFill>
                <a:latin typeface="Arial"/>
                <a:ea typeface="Microsoft YaHei"/>
              </a:rPr>
              <a:t>yours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have communicated clear.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have communicated clearly.</a:t>
            </a:r>
          </a:p>
          <a:p>
            <a:pPr algn="l">
              <a:spcAft>
                <a:spcPts val="200"/>
              </a:spcAft>
            </a:pPr>
            <a:r>
              <a:rPr sz="1200" b="0">
                <a:solidFill>
                  <a:srgbClr val="FFFFFF"/>
                </a:solidFill>
                <a:latin typeface="Arial"/>
                <a:ea typeface="Microsoft YaHei"/>
              </a:rPr>
              <a:t>副词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Practise the forms: misunderstand (verb), misunderstanding (noun), misunderstood (past), and clearly (adverb).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High-context vs low-context. Many Asian cultures are “high-context”: meaning is in the situation. UK/US business English is more “low-context”: say it directly, then soften.</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Understatement. British “not bad” = good; “quite interesting” = maybe not; “I’ll bear it in mind” = probably no.</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Say it twice. Say the key point in speech and confirm it in writing.</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0">
                <a:solidFill>
                  <a:srgbClr val="1F2A44"/>
                </a:solidFill>
                <a:latin typeface="Arial"/>
                <a:ea typeface="Microsoft YaHei"/>
              </a:rPr>
              <a:t>Apologise lightly. “Sorry, I wasn’t clear” is a professional way to reset.</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three causes of miscommunication.</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repair a misunderstanding with What I meant was… and at cross purposes.</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clarify expectations and confirm in writing.</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misunderstand / misunderstanding / misunderstood correctly.</a:t>
            </a:r>
          </a:p>
        </p:txBody>
      </p:sp>
      <p:sp>
        <p:nvSpPr>
          <p:cNvPr id="24" name="TextBox 23"/>
          <p:cNvSpPr txBox="1"/>
          <p:nvPr/>
        </p:nvSpPr>
        <p:spPr>
          <a:xfrm>
            <a:off x="9539935" y="36057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19 How miscommunication happens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Tell your misunderstanding story in 60 seconds. Then role-play the repair conversation. Record both.</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misunderstand forms, clearly vs clear, past tense in stories.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 · Lesson 20 Managing a phone call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Managing a phone call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处理电话</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handle business phone calls confidently: answer, ask who is calling, take messages, transfer calls, deal with problems and leave voicemail.</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often do you use the phone at work? Do you like it?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hardest part of phone calls in English?</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phone calls or messages? Why?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have a difficult phone call? What happened?</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information should you give when you leave a voicemail?</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题讲过去的事,用过去式。“on the phone” 指正在通话;“by phone” 指通过电话方式。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Leave a 30-second voicemail for a client about a meeting change.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greeting and name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reason</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request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number</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Hello, this is… from…   💬 I’m calling about…   💬 Could you call me back on…?   💬 Thank you. Goodbye.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“I’m calling about…” 说明来电目的;“call me back on + 号码” 介词用 on。号码要慢读:每组数字后停顿。</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The thirty-second voicemail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Greg used to dislike leaving voicemails. He rambled, forgot his number and often ended up saying, “Um, just call me.” Then his assistant gave him a template. First, say who you are and which company you’re from. Second, say why you’re calling in one sentence. Third, say what you need and by when. Finally, repeat your number slowly and say thank you. A voicemail should be shorter than thirty seconds. The first time he tried it, Greg felt as if he was reading from a script. But replies came faster, and one client told him: “I always call back when I know exactly what you want.” Greg now writes down two key points before he dials, so he never loses track. He says his calls have become shorter and more useful, and he no longer worries when he hears the beep.</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problems did Greg have with voicemails?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rambled, forgot his number and was unclear.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the four parts of the template?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Who you are, why you call, what you need and by when, your number and thanks.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was the result?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Replies came faster and clients knew what he wanted.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Opening and identifying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接听与自我介绍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Hello, this is … speaking.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您好,我是…</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morning, this is Anna Wu speaking.”</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Who’s calling, please?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请问哪位?</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“Who’s calling, please?”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calling about…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我来电是关于…</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calling about your invoice.”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I speak to…?</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请找…</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I speak to Mr Brown, please?”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hold the line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请稍等(不要挂电话)</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hold the line, please? I’ll put you through.”</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Chunk 2: Transferring and taking messages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转接与留言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put (someone) through</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转接电话</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put you through to Sales.”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message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记录留言</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I take a message?”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back to you</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回复您</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get back to you this afternoon.”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call (someone) back</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回电话</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call me back after three?”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leave a voicemail</a:t>
            </a:r>
          </a:p>
          <a:p>
            <a:pPr algn="l">
              <a:lnSpc>
                <a:spcPct val="115000"/>
              </a:lnSpc>
              <a:spcAft>
                <a:spcPts val="800"/>
              </a:spcAft>
            </a:pPr>
            <a:r>
              <a:rPr sz="1300" b="0">
                <a:solidFill>
                  <a:srgbClr val="5F677A"/>
                </a:solidFill>
                <a:latin typeface="Arial"/>
                <a:ea typeface="Microsoft YaHei"/>
              </a:rPr>
              <a:t>verb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留语音留言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leave a voicemail and I’ll call you back.”</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3: Problems and checking details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问题与确认</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You’re breaking up.</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信号断断续续</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you’re breaking up. Could you repeat that?”</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spell that, please?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请拼写一下</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spell your surname, please?”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read that back to you.</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我复述一遍给您确认</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read that back to you to make sure it’s right.”</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follow up in writing.</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我会书面跟进</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follow up in writing with a summary.”</a:t>
            </a:r>
          </a:p>
        </p:txBody>
      </p:sp>
      <p:sp>
        <p:nvSpPr>
          <p:cNvPr id="29" name="Rounded Rectangle 28"/>
          <p:cNvSpPr/>
          <p:nvPr/>
        </p:nvSpPr>
        <p:spPr>
          <a:xfrm>
            <a:off x="548640" y="51460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cut off</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51917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通话被切断</a:t>
            </a:r>
          </a:p>
        </p:txBody>
      </p:sp>
      <p:sp>
        <p:nvSpPr>
          <p:cNvPr id="33" name="TextBox 32"/>
          <p:cNvSpPr txBox="1"/>
          <p:nvPr/>
        </p:nvSpPr>
        <p:spPr>
          <a:xfrm>
            <a:off x="6675120" y="51917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we got cut off. I’ll call you back.”</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转接电话</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(someone) through</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请问哪位?</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Who’s calling, please?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回电话</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call (someone) back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请找…</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I speak to…?</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我会书面跟进</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follow up in writing.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请稍等(不要挂电话)</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hold the line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您好,我是…</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Hello, this is … speaking.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记录留言</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message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speaking</a:t>
            </a:r>
          </a:p>
        </p:txBody>
      </p:sp>
      <p:sp>
        <p:nvSpPr>
          <p:cNvPr id="10" name="Rounded Rectangle 9"/>
          <p:cNvSpPr/>
          <p:nvPr/>
        </p:nvSpPr>
        <p:spPr>
          <a:xfrm>
            <a:off x="334670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through</a:t>
            </a:r>
          </a:p>
        </p:txBody>
      </p:sp>
      <p:sp>
        <p:nvSpPr>
          <p:cNvPr id="11" name="Rounded Rectangle 10"/>
          <p:cNvSpPr/>
          <p:nvPr/>
        </p:nvSpPr>
        <p:spPr>
          <a:xfrm>
            <a:off x="457200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message</a:t>
            </a:r>
          </a:p>
        </p:txBody>
      </p:sp>
      <p:sp>
        <p:nvSpPr>
          <p:cNvPr id="12" name="Rounded Rectangle 11"/>
          <p:cNvSpPr/>
          <p:nvPr/>
        </p:nvSpPr>
        <p:spPr>
          <a:xfrm>
            <a:off x="5797296"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spell</a:t>
            </a:r>
          </a:p>
        </p:txBody>
      </p:sp>
      <p:sp>
        <p:nvSpPr>
          <p:cNvPr id="13" name="Rounded Rectangle 12"/>
          <p:cNvSpPr/>
          <p:nvPr/>
        </p:nvSpPr>
        <p:spPr>
          <a:xfrm>
            <a:off x="6803136"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a:t>
            </a:r>
          </a:p>
        </p:txBody>
      </p:sp>
      <p:sp>
        <p:nvSpPr>
          <p:cNvPr id="14" name="Rounded Rectangle 13"/>
          <p:cNvSpPr/>
          <p:nvPr/>
        </p:nvSpPr>
        <p:spPr>
          <a:xfrm>
            <a:off x="7699248"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Good morning, Anna Wu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speaking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I’ll put you _______ to Sales.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through</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Can I take a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message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Could you _______ your surname, please?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spell</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Let me read that _______ to you to make sure it’s right.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Sorry, we got _______ off. I’ll call you back.</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(介词与拼写) on the phone, by phone, call someone back. Spelling: surname, voicemail, through.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Answering and transferring a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接听并转接电话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answer a call, ask who is calling and put the caller through.</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Anna Wu, receptionist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Blake, caller</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Answering and transferring a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Bright Logistics, Anna Wu speaking. How can I help you?</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Blake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Could I speak to Ms Chen in Sales, please?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 I ask who’s calling?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it’s Tom Blake from Delta Foods.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Mr Blake. Could you hold the line, please? I’ll put you through… I’m afraid Ms Chen is on another call. Would you like to hold, or can I take a message?</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Answering and transferring a call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leave a message, please. Could you ask her to call me back?</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Could you spell your surname, please? And your number?</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B-L-A-K-E. My number is 0 2 1, 5 5 5, 0 1 9 8.</a:t>
            </a:r>
          </a:p>
        </p:txBody>
      </p:sp>
      <p:sp>
        <p:nvSpPr>
          <p:cNvPr id="17" name="Rounded Rectangle 16"/>
          <p:cNvSpPr/>
          <p:nvPr/>
        </p:nvSpPr>
        <p:spPr>
          <a:xfrm>
            <a:off x="548640" y="307238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07238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read that back to you: Blake, 021 555 0198. I’ll pass this on right away.</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Answering and transferring a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answer and handle a call for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Receptionist. Your company: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who wants a colleague who is not available.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speaking · May I ask who’s calling? · hold the line · put you through · take a message · read that back</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Answer, identify the caller, transfer or take a message, and confirm the details.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line is bad: “Sorry, you’re breaking up. Could you say that again?”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caller is annoyed: “I understand, Mr Blake. I’ll make sure Ms Chen calls you today.”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down name, company, number and reason in 30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Calling about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为问题打电话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supplier about a late delivery and agree on a solution.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Wei Zhang, buyer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Reid, supplier</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Calling about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Mr Reid. It’s Wei Zhang from Orion Foods. I’m calling about order 4471.</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Reid</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Wei. How can I help?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due on Monday, but it still hasn’t arrived. Do you know what happened?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about that. Let me check. Could you hold on a moment? … It looks like it was held up at customs.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When can we expect it?</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Calling about a problem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get back to you this afternoon with a firm date.</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helpful. We have a customer waiting, so it’s quite urgent.</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I’ll follow up in writing as well.</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Let me read that back: you’ll call me by three and confirm the date in writing.</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Calling about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call a supplier about a delay.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Your order: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calling about… · it still hasn’t arrived · When can we expect it? · get back to you · I’ll follow up in writing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State the problem, get a date, and confirm the next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Stay calm even if you’re annoyed: “I understand it’s out of your control, but I need a solution today.”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Escalate politely: “Could I speak to someone who can authorise a refund?”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recap: “To confirm,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phone calls or emails for business?</a:t>
            </a:r>
          </a:p>
          <a:p>
            <a:pPr algn="l">
              <a:lnSpc>
                <a:spcPct val="115000"/>
              </a:lnSpc>
              <a:spcAft>
                <a:spcPts val="800"/>
              </a:spcAft>
            </a:pPr>
            <a:r>
              <a:rPr sz="1400" b="0">
                <a:solidFill>
                  <a:srgbClr val="5F677A"/>
                </a:solidFill>
                <a:latin typeface="Arial"/>
                <a:ea typeface="Microsoft YaHei"/>
              </a:rPr>
              <a:t>💬 “For complex topics, I prefer…” / “Emails are better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sound confident on the phone?</a:t>
            </a:r>
          </a:p>
          <a:p>
            <a:pPr algn="l">
              <a:lnSpc>
                <a:spcPct val="115000"/>
              </a:lnSpc>
              <a:spcAft>
                <a:spcPts val="800"/>
              </a:spcAft>
            </a:pPr>
            <a:r>
              <a:rPr sz="1400" b="0">
                <a:solidFill>
                  <a:srgbClr val="5F677A"/>
                </a:solidFill>
                <a:latin typeface="Arial"/>
                <a:ea typeface="Microsoft YaHei"/>
              </a:rPr>
              <a:t>💬 “I speak more slowly…” / “I smile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most difficult part of a phone call in English?</a:t>
            </a:r>
          </a:p>
          <a:p>
            <a:pPr algn="l">
              <a:lnSpc>
                <a:spcPct val="115000"/>
              </a:lnSpc>
              <a:spcAft>
                <a:spcPts val="800"/>
              </a:spcAft>
            </a:pPr>
            <a:r>
              <a:rPr sz="1400" b="0">
                <a:solidFill>
                  <a:srgbClr val="5F677A"/>
                </a:solidFill>
                <a:latin typeface="Arial"/>
                <a:ea typeface="Microsoft YaHei"/>
              </a:rPr>
              <a:t>💬 “For me it’s…” / “I struggle with…”</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you handle an angry caller?</a:t>
            </a:r>
          </a:p>
          <a:p>
            <a:pPr algn="l">
              <a:lnSpc>
                <a:spcPct val="115000"/>
              </a:lnSpc>
              <a:spcAft>
                <a:spcPts val="800"/>
              </a:spcAft>
            </a:pPr>
            <a:r>
              <a:rPr sz="1400" b="0">
                <a:solidFill>
                  <a:srgbClr val="5F677A"/>
                </a:solidFill>
                <a:latin typeface="Arial"/>
                <a:ea typeface="Microsoft YaHei"/>
              </a:rPr>
              <a:t>💬 “I’d stay calm and…” / “First, I’d listen and…”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voicemail still useful?</a:t>
            </a:r>
          </a:p>
          <a:p>
            <a:pPr algn="l">
              <a:lnSpc>
                <a:spcPct val="115000"/>
              </a:lnSpc>
              <a:spcAft>
                <a:spcPts val="800"/>
              </a:spcAft>
            </a:pPr>
            <a:r>
              <a:rPr sz="1400" b="0">
                <a:solidFill>
                  <a:srgbClr val="5F677A"/>
                </a:solidFill>
                <a:latin typeface="Arial"/>
                <a:ea typeface="Microsoft YaHei"/>
              </a:rPr>
              <a:t>💬 “Yes, it’s useful when…” / “No,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stay calm and let the caller explain without interrupting. Then I’d summarise the problem:”So you’ve been waiting two weeks for a refund, is that right?” That shows I’ve listened. Next, I’d apologise for the inconvenience and say exactly what I’m going to do and by when. I’d avoid making promises I can’t keep. If I can’t solve it myself, I’d say who can.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“stay calm” = 保持冷静;“make / keep a promise” = 许下 / 遵守承诺;“exactly what… and by when” = 明确说明做什么、何时完成。</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Telephone English: polite formulas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电话英语礼貌用语</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Too direct</a:t>
                      </a:r>
                    </a:p>
                  </a:txBody>
                  <a:tcPr anchor="ctr">
                    <a:solidFill>
                      <a:srgbClr val="3CC49A"/>
                    </a:solidFill>
                  </a:tcPr>
                </a:tc>
                <a:tc>
                  <a:txBody>
                    <a:bodyPr wrap="square"/>
                    <a:lstStyle/>
                    <a:p>
                      <a:r>
                        <a:rPr sz="1600" b="1">
                          <a:solidFill>
                            <a:srgbClr val="FFFFFF"/>
                          </a:solidFill>
                          <a:latin typeface="Arial"/>
                          <a:ea typeface="Microsoft YaHei"/>
                        </a:rPr>
                        <a:t>Polite</a:t>
                      </a:r>
                    </a:p>
                  </a:txBody>
                  <a:tcPr anchor="ctr">
                    <a:solidFill>
                      <a:srgbClr val="3CC49A"/>
                    </a:solidFill>
                  </a:tcPr>
                </a:tc>
              </a:tr>
              <a:tr h="408432">
                <a:tc>
                  <a:txBody>
                    <a:bodyPr wrap="square"/>
                    <a:lstStyle/>
                    <a:p>
                      <a:r>
                        <a:rPr sz="1600" b="1">
                          <a:solidFill>
                            <a:srgbClr val="1F2A44"/>
                          </a:solidFill>
                          <a:latin typeface="Arial"/>
                          <a:ea typeface="Microsoft YaHei"/>
                        </a:rPr>
                        <a:t>Who are you?</a:t>
                      </a:r>
                    </a:p>
                  </a:txBody>
                  <a:tcPr anchor="ctr">
                    <a:solidFill>
                      <a:srgbClr val="FFFFFF"/>
                    </a:solidFill>
                  </a:tcPr>
                </a:tc>
                <a:tc>
                  <a:txBody>
                    <a:bodyPr wrap="square"/>
                    <a:lstStyle/>
                    <a:p>
                      <a:r>
                        <a:rPr sz="1600" b="0">
                          <a:solidFill>
                            <a:srgbClr val="1F2A44"/>
                          </a:solidFill>
                          <a:latin typeface="Arial"/>
                          <a:ea typeface="Microsoft YaHei"/>
                        </a:rPr>
                        <a:t>May I ask who’s calling?</a:t>
                      </a:r>
                    </a:p>
                  </a:txBody>
                  <a:tcPr anchor="ctr">
                    <a:solidFill>
                      <a:srgbClr val="FFFFFF"/>
                    </a:solidFill>
                  </a:tcPr>
                </a:tc>
              </a:tr>
              <a:tr h="652272">
                <a:tc>
                  <a:txBody>
                    <a:bodyPr wrap="square"/>
                    <a:lstStyle/>
                    <a:p>
                      <a:r>
                        <a:rPr sz="1600" b="1">
                          <a:solidFill>
                            <a:srgbClr val="1F2A44"/>
                          </a:solidFill>
                          <a:latin typeface="Arial"/>
                          <a:ea typeface="Microsoft YaHei"/>
                        </a:rPr>
                        <a:t>He’s not here.</a:t>
                      </a:r>
                    </a:p>
                  </a:txBody>
                  <a:tcPr anchor="ctr">
                    <a:solidFill>
                      <a:srgbClr val="FFEFD9"/>
                    </a:solidFill>
                  </a:tcPr>
                </a:tc>
                <a:tc>
                  <a:txBody>
                    <a:bodyPr wrap="square"/>
                    <a:lstStyle/>
                    <a:p>
                      <a:r>
                        <a:rPr sz="1600" b="0">
                          <a:solidFill>
                            <a:srgbClr val="1F2A44"/>
                          </a:solidFill>
                          <a:latin typeface="Arial"/>
                          <a:ea typeface="Microsoft YaHei"/>
                        </a:rPr>
                        <a:t>I’m afraid he’s not available at the moment. Can I take a message?</a:t>
                      </a:r>
                    </a:p>
                  </a:txBody>
                  <a:tcPr anchor="ctr">
                    <a:solidFill>
                      <a:srgbClr val="FFEFD9"/>
                    </a:solidFill>
                  </a:tcPr>
                </a:tc>
              </a:tr>
              <a:tr h="408432">
                <a:tc>
                  <a:txBody>
                    <a:bodyPr wrap="square"/>
                    <a:lstStyle/>
                    <a:p>
                      <a:r>
                        <a:rPr sz="1600" b="1">
                          <a:solidFill>
                            <a:srgbClr val="1F2A44"/>
                          </a:solidFill>
                          <a:latin typeface="Arial"/>
                          <a:ea typeface="Microsoft YaHei"/>
                        </a:rPr>
                        <a:t>Wait.</a:t>
                      </a:r>
                    </a:p>
                  </a:txBody>
                  <a:tcPr anchor="ctr">
                    <a:solidFill>
                      <a:srgbClr val="FFFFFF"/>
                    </a:solidFill>
                  </a:tcPr>
                </a:tc>
                <a:tc>
                  <a:txBody>
                    <a:bodyPr wrap="square"/>
                    <a:lstStyle/>
                    <a:p>
                      <a:r>
                        <a:rPr sz="1600" b="0">
                          <a:solidFill>
                            <a:srgbClr val="1F2A44"/>
                          </a:solidFill>
                          <a:latin typeface="Arial"/>
                          <a:ea typeface="Microsoft YaHei"/>
                        </a:rPr>
                        <a:t>Could you hold the line, please?</a:t>
                      </a:r>
                    </a:p>
                  </a:txBody>
                  <a:tcPr anchor="ctr">
                    <a:solidFill>
                      <a:srgbClr val="FFFFFF"/>
                    </a:solidFill>
                  </a:tcPr>
                </a:tc>
              </a:tr>
              <a:tr h="408432">
                <a:tc>
                  <a:txBody>
                    <a:bodyPr wrap="square"/>
                    <a:lstStyle/>
                    <a:p>
                      <a:r>
                        <a:rPr sz="1600" b="1">
                          <a:solidFill>
                            <a:srgbClr val="1F2A44"/>
                          </a:solidFill>
                          <a:latin typeface="Arial"/>
                          <a:ea typeface="Microsoft YaHei"/>
                        </a:rPr>
                        <a:t>Speak again.</a:t>
                      </a:r>
                    </a:p>
                  </a:txBody>
                  <a:tcPr anchor="ctr">
                    <a:solidFill>
                      <a:srgbClr val="FFEFD9"/>
                    </a:solidFill>
                  </a:tcPr>
                </a:tc>
                <a:tc>
                  <a:txBody>
                    <a:bodyPr wrap="square"/>
                    <a:lstStyle/>
                    <a:p>
                      <a:r>
                        <a:rPr sz="1600" b="0">
                          <a:solidFill>
                            <a:srgbClr val="1F2A44"/>
                          </a:solidFill>
                          <a:latin typeface="Arial"/>
                          <a:ea typeface="Microsoft YaHei"/>
                        </a:rPr>
                        <a:t>Sorry, could you say that again, please?</a:t>
                      </a:r>
                    </a:p>
                  </a:txBody>
                  <a:tcPr anchor="ctr">
                    <a:solidFill>
                      <a:srgbClr val="FFEFD9"/>
                    </a:solidFill>
                  </a:tcPr>
                </a:tc>
              </a:tr>
            </a:tbl>
          </a:graphicData>
        </a:graphic>
      </p:graphicFrame>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Telephone English: polite formulas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电话英语礼貌用语</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Say numbers one by one, with a pause after each group: “oh two one — five five five — oh one nine eight”. US speakers say “zero”.</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Who are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May I ask who’s calling?</a:t>
            </a:r>
          </a:p>
          <a:p>
            <a:pPr algn="l">
              <a:spcAft>
                <a:spcPts val="200"/>
              </a:spcAft>
            </a:pPr>
            <a:r>
              <a:rPr sz="1200" b="0">
                <a:solidFill>
                  <a:srgbClr val="FFFFFF"/>
                </a:solidFill>
                <a:latin typeface="Arial"/>
                <a:ea typeface="Microsoft YaHei"/>
              </a:rPr>
              <a:t>礼貌说法</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Wei Zhang. (on the phone)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is Wei Zhang.</a:t>
            </a:r>
          </a:p>
          <a:p>
            <a:pPr algn="l">
              <a:spcAft>
                <a:spcPts val="200"/>
              </a:spcAft>
            </a:pPr>
            <a:r>
              <a:rPr sz="1200" b="0">
                <a:solidFill>
                  <a:srgbClr val="FFFFFF"/>
                </a:solidFill>
                <a:latin typeface="Arial"/>
                <a:ea typeface="Microsoft YaHei"/>
              </a:rPr>
              <a:t>电话中用 This is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call you about the order.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calling about the order.</a:t>
            </a:r>
          </a:p>
          <a:p>
            <a:pPr algn="l">
              <a:spcAft>
                <a:spcPts val="200"/>
              </a:spcAft>
            </a:pPr>
            <a:r>
              <a:rPr sz="1200" b="0">
                <a:solidFill>
                  <a:srgbClr val="FFFFFF"/>
                </a:solidFill>
                <a:latin typeface="Arial"/>
                <a:ea typeface="Microsoft YaHei"/>
              </a:rPr>
              <a:t>现在进行时,表示现在打电话</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wait a moment, I will pass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hold. I’ll put you through.</a:t>
            </a:r>
          </a:p>
          <a:p>
            <a:pPr algn="l">
              <a:spcAft>
                <a:spcPts val="200"/>
              </a:spcAft>
            </a:pPr>
            <a:r>
              <a:rPr sz="1200" b="0">
                <a:solidFill>
                  <a:srgbClr val="FFFFFF"/>
                </a:solidFill>
                <a:latin typeface="Arial"/>
                <a:ea typeface="Microsoft YaHei"/>
              </a:rPr>
              <a:t>put through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not in the seat.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He’s not at his desk.</a:t>
            </a:r>
          </a:p>
          <a:p>
            <a:pPr algn="l">
              <a:spcAft>
                <a:spcPts val="200"/>
              </a:spcAft>
            </a:pPr>
            <a:r>
              <a:rPr sz="1200" b="0">
                <a:solidFill>
                  <a:srgbClr val="FFFFFF"/>
                </a:solidFill>
                <a:latin typeface="Arial"/>
                <a:ea typeface="Microsoft YaHei"/>
              </a:rPr>
              <a:t>不说 in the seat</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leave a message for her to call back me.</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leave a message asking her to call me back.</a:t>
            </a:r>
          </a:p>
          <a:p>
            <a:pPr algn="l">
              <a:spcAft>
                <a:spcPts val="200"/>
              </a:spcAft>
            </a:pPr>
            <a:r>
              <a:rPr sz="1200" b="0">
                <a:solidFill>
                  <a:srgbClr val="FFFFFF"/>
                </a:solidFill>
                <a:latin typeface="Arial"/>
                <a:ea typeface="Microsoft YaHei"/>
              </a:rPr>
              <a:t>call me back</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 the phone, say This is… (not “I am”), I’m calling about…, and put you through.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Smile when you speak. Listeners can hear a smile. It makes your voice warmer.</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Name and company first. UK/US callers expect you to say who you are straight away.</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Say numbers slowly. In the UK, “double five” is used for 55; US speakers say “five five”.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End properly. Finish with “Thank you. Have a good day. Goodbye.” Don’t hang up abruptly.</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answer a call and ask who is calling politely.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put a call through or take a message accurately.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handle problems on the phone (I’m calling about…, get back to you).</a:t>
            </a:r>
          </a:p>
        </p:txBody>
      </p:sp>
      <p:sp>
        <p:nvSpPr>
          <p:cNvPr id="20" name="TextBox 19"/>
          <p:cNvSpPr txBox="1"/>
          <p:nvPr/>
        </p:nvSpPr>
        <p:spPr>
          <a:xfrm>
            <a:off x="9539935" y="27035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This is…, I’m calling about…, put through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 · Lesson 20 Managing a phone call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three short calls: an incoming call, a message-taking call and a voicemail. Check numbers and spelling.</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This is…, I’m calling about…, put through, clear numbers.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事后联系</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follow up</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我会书面跟进</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I’ll follow up in writing.</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spell it out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Let me spell it out: we need it by 5 p.m.</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表现出真诚的兴趣</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show genuine interest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Let me jump in here.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Let me jump in here. I think we’re missing something.</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My name is Tariq, I work in logistics.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Tariq, and I work in logistics.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“旅途怎么样?”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 was your journey / flight?</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“想法一致”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on the same page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“请拼写一下”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spell that, please?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You are agree?</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 you agree?</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Please wait a moment, I will pass you.</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hold. I’ll put you through.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4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