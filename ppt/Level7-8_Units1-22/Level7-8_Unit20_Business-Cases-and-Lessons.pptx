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Business English – Intermediate Level 7–8</a:t>
            </a:r>
          </a:p>
          <a:p>
            <a:r>
              <a:t>Unit 20: Business Cases and Lessons — Self-Study Workbook (Lessons 89–91)</a:t>
            </a:r>
          </a:p>
          <a:p/>
          <a:p>
            <a:r>
              <a:t>开场：简单介绍本单元的主题和要完成的 3 个 Lesson，说明全程会以小组积分赛的形式进行。</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把学员分成 2–4 组。热身发言、答题、角色扮演表现好都可以加分，最后一页评出冠军组。</a:t>
            </a:r>
          </a:p>
          <a:p>
            <a:r>
              <a:t>可以直接在 Score 框里打字记分，或在白板上记录。</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点击任意 Lesson 可直接跳转；每页右下角的 🗺 Map 按钮可以随时回到这里。</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89 · Why companies fail 公司为什么失败</a:t>
            </a:r>
          </a:p>
          <a:p>
            <a:r>
              <a:t>Goal: analyse common reasons why companies fail and discuss prevention using case-study language.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“collapse” 倒闭;“go bankrupt” 破产;“fail to adapt” 未能适应。第 1 题请只谈公开的、你确知的事实。</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Explain why companies fail, using one example in general terms.</a:t>
            </a:r>
          </a:p>
          <a:p>
            <a:r>
              <a:t>Say: context → cause → warning signs → lesson.</a:t>
            </a:r>
          </a:p>
          <a:p>
            <a:r>
              <a:t>Useful starters: “The main reason was…” / “They failed to…” / “In hindsight, they should have…” / “The lesson is…”</a:t>
            </a:r>
          </a:p>
          <a:p>
            <a:r>
              <a:t>“fail to + 动词原形” 未能…;“The lesson is that…” 总结教训。</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Business historians often identify a handful of patterns behind company failure. The first is complacency: a successful firm assumes that yesterday’s strategy will work tomorrow. The second is failing to respond to changing customer needs or new technology, sometimes because leaders are protecting an existing profitable product. The third is financial: too much debt, poor cash management or growth that outruns income. The fourth is internal, such as weak leadership, conflict, or a culture that discourages bad news. The fifth is external shocks, such as new regulations or economic downturns, which expose weaknesses. Rarely does one factor act alone. The warning signs are often visible well in advance: falling customer satisfaction, rising costs, and employees who stop speaking up. Companies that survive tend to listen early and act before it is too late.</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is complacency?</a:t>
            </a:r>
          </a:p>
          <a:p>
            <a:r>
              <a:t>A: Assuming yesterday’s strategy will work tomorrow.</a:t>
            </a:r>
          </a:p>
          <a:p>
            <a:r>
              <a:t>Q2. Name two financial reasons for failure.</a:t>
            </a:r>
          </a:p>
          <a:p>
            <a:r>
              <a:t>A: Too much debt, poor cash management, growth outrunning income.</a:t>
            </a:r>
          </a:p>
          <a:p>
            <a:r>
              <a:t>Q3. What are warning signs?</a:t>
            </a:r>
          </a:p>
          <a:p>
            <a:r>
              <a:t>A: Falling customer satisfaction, rising costs, employees who stop speaking up.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Causes 原因</a:t>
            </a:r>
          </a:p>
          <a:p>
            <a:r>
              <a:t>领读 → 学员跟读 → 请学员用表达造一个和自己工作相关的句子。</a:t>
            </a:r>
          </a:p>
          <a:p>
            <a:r>
              <a:t>complacency (noun) 自满 — “Complacency killed the company.”</a:t>
            </a:r>
          </a:p>
          <a:p>
            <a:r>
              <a:t>fail to adapt (collocation) 未能适应 — “They failed to adapt to change.”</a:t>
            </a:r>
          </a:p>
          <a:p>
            <a:r>
              <a:t>go bankrupt / go under (verb) 破产 — “The firm went bankrupt.”</a:t>
            </a:r>
          </a:p>
          <a:p>
            <a:r>
              <a:t>★ be disrupted (passive) 被颠覆 — “The industry was disrupted.”</a:t>
            </a:r>
          </a:p>
          <a:p>
            <a:r>
              <a:t>★ be out of touch (idiom) 与现实脱节 — “Leaders were out of touch.”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Finance 财务</a:t>
            </a:r>
          </a:p>
          <a:p>
            <a:r>
              <a:t>领读 → 学员跟读 → 请学员用表达造一个和自己工作相关的句子。</a:t>
            </a:r>
          </a:p>
          <a:p>
            <a:r>
              <a:t>cash flow problems (noun) 现金流问题 — “Cash flow problems sank the firm.”</a:t>
            </a:r>
          </a:p>
          <a:p>
            <a:r>
              <a:t>debt (noun) 债务 — “Heavy debt is risky.”</a:t>
            </a:r>
          </a:p>
          <a:p>
            <a:r>
              <a:t>overexpand (verb) 过度扩张 — “The chain overexpanded.”</a:t>
            </a:r>
          </a:p>
          <a:p>
            <a:r>
              <a:t>★ burn through cash (phrase) 快速烧光现金 — “They burned through cash.”</a:t>
            </a:r>
          </a:p>
          <a:p>
            <a:r>
              <a:t>★ insolvent (adjective) 资不抵债的 — “The firm became insolvent.”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Lessons 教训</a:t>
            </a:r>
          </a:p>
          <a:p>
            <a:r>
              <a:t>领读 → 学员跟读 → 请学员用表达造一个和自己工作相关的句子。</a:t>
            </a:r>
          </a:p>
          <a:p>
            <a:r>
              <a:t>warning signs (noun) 警示信号 — “Ignore warning signs and you pay.”</a:t>
            </a:r>
          </a:p>
          <a:p>
            <a:r>
              <a:t>listen to customers (collocation) 倾听客户 — “Listen to customers.”</a:t>
            </a:r>
          </a:p>
          <a:p>
            <a:r>
              <a:t>stay ahead of the curve (idiom) 保持领先 — “Stay ahead of the curve.”</a:t>
            </a:r>
          </a:p>
          <a:p>
            <a:r>
              <a:t>★ resist change (collocation) 抗拒变革 — “They resisted change.”</a:t>
            </a:r>
          </a:p>
          <a:p>
            <a:r>
              <a:t>★ the writing was on the wall (idiom) 早有征兆 — “The writing was on the wall.”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complacency / adapt / bankrupt / debt / warning / curve</a:t>
            </a:r>
          </a:p>
          <a:p>
            <a:r>
              <a:t>1. _______ is dangerous after success. → Complacency</a:t>
            </a:r>
          </a:p>
          <a:p>
            <a:r>
              <a:t>2. Many firms fail to _______ to new technology. → adapt</a:t>
            </a:r>
          </a:p>
          <a:p>
            <a:r>
              <a:t>3. The company went _______ last year. → bankrupt</a:t>
            </a:r>
          </a:p>
          <a:p>
            <a:r>
              <a:t>4. Heavy _______ made the firm fragile. → debt</a:t>
            </a:r>
          </a:p>
          <a:p>
            <a:r>
              <a:t>5. Ignoring _______ signs is risky. → warning</a:t>
            </a:r>
          </a:p>
          <a:p>
            <a:r>
              <a:t>6. Stay ahead of the _______. → curve</a:t>
            </a:r>
          </a:p>
          <a:p>
            <a:r>
              <a:t>Mistake Watch: (搭配) go bankrupt,fail TO adapt,adapt TO change;bankruptcy(名词)。</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Analysing a failure case 分析失败案例</a:t>
            </a:r>
          </a:p>
          <a:p>
            <a:r>
              <a:t>情景：Two colleagues discuss a business school case.</a:t>
            </a:r>
          </a:p>
          <a:p>
            <a:r>
              <a:t>Role A: Colleague 1 Role B: Colleague 2</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Why did the company in this case collapse?</a:t>
            </a:r>
          </a:p>
          <a:p>
            <a:r>
              <a:t>B: The main reason was that it failed to adapt when customers moved online.</a:t>
            </a:r>
          </a:p>
          <a:p>
            <a:r>
              <a:t>A: Were there warning signs?</a:t>
            </a:r>
          </a:p>
          <a:p>
            <a:r>
              <a:t>B: Yes. Sales had been falling for years, but leaders ignored them.</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What should they have done?</a:t>
            </a:r>
          </a:p>
          <a:p>
            <a:r>
              <a:t>B: They should have listened to customers and invested in digital earlier.</a:t>
            </a:r>
          </a:p>
          <a:p>
            <a:r>
              <a:t>A: So complacency was the root cause.</a:t>
            </a:r>
          </a:p>
          <a:p>
            <a:r>
              <a:t>B: Exactly. Success made them comfortable.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1 | </a:t>
            </a:r>
          </a:p>
          <a:p>
            <a:r>
              <a:t>Situation | You analyse a failure case.</a:t>
            </a:r>
          </a:p>
          <a:p>
            <a:r>
              <a:t>Your role (A) | Analyst.</a:t>
            </a:r>
          </a:p>
          <a:p>
            <a:r>
              <a:t>Partner’s role (B) | Analyst. Case: ______________</a:t>
            </a:r>
          </a:p>
          <a:p>
            <a:r>
              <a:t>Must use (3 or more) | main reason · failed to adapt · warning signs · should have · root cause</a:t>
            </a:r>
          </a:p>
          <a:p>
            <a:r>
              <a:t>Goal | Give causes, signs and lessons.</a:t>
            </a:r>
          </a:p>
          <a:p>
            <a:r>
              <a:t>My notes | ____________________________________________</a:t>
            </a:r>
          </a:p>
          <a:p>
            <a:r>
              <a:t>Compare with a success case.</a:t>
            </a:r>
          </a:p>
          <a:p>
            <a:r>
              <a:t>Discuss leadership.</a:t>
            </a:r>
          </a:p>
          <a:p>
            <a:r>
              <a:t>Estimate what could have been done.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Preventing failure 预防失败</a:t>
            </a:r>
          </a:p>
          <a:p>
            <a:r>
              <a:t>情景：A board member asks questions.</a:t>
            </a:r>
          </a:p>
          <a:p>
            <a:r>
              <a:t>Role A: Board member Role B: CEO</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What are our biggest risks?</a:t>
            </a:r>
          </a:p>
          <a:p>
            <a:r>
              <a:t>B: Cash flow, and a customer base that’s ageing.</a:t>
            </a:r>
          </a:p>
          <a:p>
            <a:r>
              <a:t>A: How are we responding?</a:t>
            </a:r>
          </a:p>
          <a:p>
            <a:r>
              <a:t>B: We’ve reduced debt and launched a product for younger customers.</a:t>
            </a:r>
          </a:p>
          <a:p>
            <a:r>
              <a:t>A: What early warning signs are you monitoring?</a:t>
            </a:r>
          </a:p>
          <a:p>
            <a:r>
              <a:t>B: Customer satisfaction, cash balance and staff turnover.</a:t>
            </a:r>
          </a:p>
          <a:p>
            <a:r>
              <a:t>A: Good. Update us monthly.</a:t>
            </a:r>
          </a:p>
          <a:p>
            <a:r>
              <a:t>B: Will do.</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2 | </a:t>
            </a:r>
          </a:p>
          <a:p>
            <a:r>
              <a:t>Situation | You report risks.</a:t>
            </a:r>
          </a:p>
          <a:p>
            <a:r>
              <a:t>Your role (A) | Board member.</a:t>
            </a:r>
          </a:p>
          <a:p>
            <a:r>
              <a:t>Partner’s role (B) | CEO. Business: ______________</a:t>
            </a:r>
          </a:p>
          <a:p>
            <a:r>
              <a:t>Must use (3 or more) | biggest risks · responding · early warning signs · monitoring · update</a:t>
            </a:r>
          </a:p>
          <a:p>
            <a:r>
              <a:t>Goal | Report risks, actions and indicators.</a:t>
            </a:r>
          </a:p>
          <a:p>
            <a:r>
              <a:t>My notes | ____________________________________________</a:t>
            </a:r>
          </a:p>
          <a:p>
            <a:r>
              <a:t>Add a worst-case scenario.</a:t>
            </a:r>
          </a:p>
          <a:p>
            <a:r>
              <a:t>Mention external risks.</a:t>
            </a:r>
          </a:p>
          <a:p>
            <a:r>
              <a:t>Suggest an annual review.</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What is the most common reason companies fail? | “I think it’s…”</a:t>
            </a:r>
          </a:p>
          <a:p>
            <a:r>
              <a:t>2. Can failure be predicted? | “To some extent, …”</a:t>
            </a:r>
          </a:p>
          <a:p>
            <a:r>
              <a:t>3. Do big companies fail more slowly? | “Often, since…”</a:t>
            </a:r>
          </a:p>
          <a:p>
            <a:r>
              <a:t>4. Should failed founders get a second chance? | “I believe so, because…”</a:t>
            </a:r>
          </a:p>
          <a:p>
            <a:r>
              <a:t>5. What lesson from failure applies to your company? | “We could learn…”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 think the most common reason is failing to adapt. Markets and customers change, but successful companies get comfortable and keep doing what worked before. Sometimes they even ignore customers who tell them things are changing. The companies that survive stay curious and are ready to challenge their own success.”</a:t>
            </a:r>
          </a:p>
          <a:p>
            <a:r>
              <a:t>“challenge their own success” 质疑自己的成功经验。</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Analysing causes 分析原因</a:t>
            </a:r>
          </a:p>
          <a:p>
            <a:r>
              <a:t>Structure | Example</a:t>
            </a:r>
          </a:p>
          <a:p>
            <a:r>
              <a:t>The main reason was… | The main reason was complacency.</a:t>
            </a:r>
          </a:p>
          <a:p>
            <a:r>
              <a:t>…led to… | Weak leadership led to poor decisions.</a:t>
            </a:r>
          </a:p>
          <a:p>
            <a:r>
              <a:t>…failed to… | They failed to adapt.</a:t>
            </a:r>
          </a:p>
          <a:p>
            <a:r>
              <a:t>They should have + p.p. | They should have listened.</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Analysing causes 分析原因</a:t>
            </a:r>
          </a:p>
          <a:p>
            <a:r>
              <a:t>Use past simple for the case and should have for lessons; present simple for general truths: Success breeds complacency.</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The company was failed.  →  ✓ The company failed.  (fail 不及物)</a:t>
            </a:r>
          </a:p>
          <a:p>
            <a:r>
              <a:t>✗ They didn’t adapted.  →  ✓ They didn’t adapt.  (didn’t + 原形)</a:t>
            </a:r>
          </a:p>
          <a:p>
            <a:r>
              <a:t>✗ The reason is because they ignored customers.  →  ✓ The reason was that they ignored customers.  (reason… that)</a:t>
            </a:r>
          </a:p>
          <a:p>
            <a:r>
              <a:t>Mistake Watch: Check fail (intransitive), didn’t + base, the reason was that, warning signs.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The company went to bankrupt.  →  ✓ The company went bankrupt.  (go bankrupt)</a:t>
            </a:r>
          </a:p>
          <a:p>
            <a:r>
              <a:t>✗ Last year they should listen to customers.  →  ✓ Last year they should have listened to customers.  (过去的遗憾用 should have + p.p.)</a:t>
            </a:r>
          </a:p>
          <a:p>
            <a:r>
              <a:t>✗ There were many warnings signs.  →  ✓ There were many warning signs.  (名词修饰用单数)</a:t>
            </a:r>
          </a:p>
          <a:p>
            <a:r>
              <a:t>Mistake Watch: Check fail (intransitive), didn’t + base, the reason was that, warning signs.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Case studies are common in business schools; practise structured analysis.</a:t>
            </a:r>
          </a:p>
          <a:p>
            <a:r>
              <a:t>Avoid blame in discussion. Focus on decisions and systems.</a:t>
            </a:r>
          </a:p>
          <a:p>
            <a:r>
              <a:t>Learn from failure openly. Many founders write about their failures.</a:t>
            </a:r>
          </a:p>
          <a:p>
            <a:r>
              <a:t>Use accurate facts. If unsure, say “As far as I know…”.</a:t>
            </a:r>
          </a:p>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explain common reasons for company failure.</a:t>
            </a:r>
          </a:p>
          <a:p>
            <a:r>
              <a:t>I can analyse a case with the main reason was…</a:t>
            </a:r>
          </a:p>
          <a:p>
            <a:r>
              <a:t>I can suggest lessons with should have.</a:t>
            </a:r>
          </a:p>
          <a:p>
            <a:r>
              <a:t>I use fail (intransitive), go bankrupt and warning signs correctly.</a:t>
            </a:r>
          </a:p>
          <a:p>
            <a:r>
              <a:t>I can use at least three ★ expressions from this lesson in my own sentences.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Analyse a business failure in 90 seconds.</a:t>
            </a:r>
          </a:p>
          <a:p>
            <a:r>
              <a:t>8–10 | Listen to your recording. Check: fail intransitive, the reason was that, warning signs.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90 · Business lessons from prison 来自监狱的商业启示</a:t>
            </a:r>
          </a:p>
          <a:p>
            <a:r>
              <a:t>Goal: discuss what business can learn from people who have served prison sentences (second chances, discipline, teamwork) and talk about fair hiring of people with records.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本课讨论”第二次机会”与再就业,语气要尊重。“ex-offender” 前科人员;“reintegration” 重返社会。</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Discuss whether and how companies should give second chances.</a:t>
            </a:r>
          </a:p>
          <a:p>
            <a:r>
              <a:t>Say: the issue → benefits → concerns → how to do it well.</a:t>
            </a:r>
          </a:p>
          <a:p>
            <a:r>
              <a:t>Useful starters: “Many people who have served sentences…” / “Employers worry that…” / “Evidence suggests…” / “A fair approach would be to…”</a:t>
            </a:r>
          </a:p>
          <a:p>
            <a:r>
              <a:t>“serve a sentence” 服刑;“Evidence suggests that…” 证据表明。</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Every year, many people leave prison and look for work. Employment is one of the strongest factors in staying out of trouble, yet a criminal record can make it very hard to be hired. Some employers worry about risk, but others have found that people who have served sentences can be loyal, hardworking employees, especially when they are given structure and support. Some programmes teach prisoners business and technical skills before release, while mentors help with the transition. Many ex-prisoners say they learned discipline, teamwork and resilience, and that they value an opportunity to prove themselves. Companies can adopt “fair chance” hiring by delaying questions about records until later in the process and by assessing each case individually. This does not mean ignoring safety. It means looking at the role, the offence and the person’s progress.</a:t>
            </a:r>
          </a:p>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Why is employment important after prison?</a:t>
            </a:r>
          </a:p>
          <a:p>
            <a:r>
              <a:t>A: It is one of the strongest factors in staying out of trouble.</a:t>
            </a:r>
          </a:p>
          <a:p>
            <a:r>
              <a:t>Q2. What skills do some ex-prisoners say they gained?</a:t>
            </a:r>
          </a:p>
          <a:p>
            <a:r>
              <a:t>A: Discipline, teamwork and resilience.</a:t>
            </a:r>
          </a:p>
          <a:p>
            <a:r>
              <a:t>Q3. What is “fair chance” hiring?</a:t>
            </a:r>
          </a:p>
          <a:p>
            <a:r>
              <a:t>A: Delaying questions about records and assessing each case individually.</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Records and reintegration 前科与回归社会</a:t>
            </a:r>
          </a:p>
          <a:p>
            <a:r>
              <a:t>领读 → 学员跟读 → 请学员用表达造一个和自己工作相关的句子。</a:t>
            </a:r>
          </a:p>
          <a:p>
            <a:r>
              <a:t>criminal record (noun) 犯罪记录 — “He has a criminal record.”</a:t>
            </a:r>
          </a:p>
          <a:p>
            <a:r>
              <a:t>serve a sentence (collocation) 服刑 — “She served her sentence.”</a:t>
            </a:r>
          </a:p>
          <a:p>
            <a:r>
              <a:t>reintegrate / reintegration (verb/noun) 重返社会 — “Work helps reintegration.”</a:t>
            </a:r>
          </a:p>
          <a:p>
            <a:r>
              <a:t>★ ex-offender (noun) 刑满释放人员 — “Ex-offenders face barriers.”</a:t>
            </a:r>
          </a:p>
          <a:p>
            <a:r>
              <a:t>★ ban the box (phrase) 取消简历上的前科勾选项 — “Many cities ban the box.”</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Second chances 第二次机会</a:t>
            </a:r>
          </a:p>
          <a:p>
            <a:r>
              <a:t>领读 → 学员跟读 → 请学员用表达造一个和自己工作相关的句子。</a:t>
            </a:r>
          </a:p>
          <a:p>
            <a:r>
              <a:t>give someone a second chance (collocation) 给人第二次机会 — “Give people a second chance.”</a:t>
            </a:r>
          </a:p>
          <a:p>
            <a:r>
              <a:t>turn your life around (idiom) 重新做人 — “He turned his life around.”</a:t>
            </a:r>
          </a:p>
          <a:p>
            <a:r>
              <a:t>rehabilitation (noun) 改造/康复 — “Rehabilitation takes support.”</a:t>
            </a:r>
          </a:p>
          <a:p>
            <a:r>
              <a:t>★ prove yourself (collocation) 证明自己 — “He wanted to prove himself.”</a:t>
            </a:r>
          </a:p>
          <a:p>
            <a:r>
              <a:t>★ a clean slate (idiom) 重新开始 — “She wanted a clean slate.”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Concerns and fairness 顾虑与公平</a:t>
            </a:r>
          </a:p>
          <a:p>
            <a:r>
              <a:t>领读 → 学员跟读 → 请学员用表达造一个和自己工作相关的句子。</a:t>
            </a:r>
          </a:p>
          <a:p>
            <a:r>
              <a:t>assess risk (collocation) 评估风险 — “Assess risk case by case.”</a:t>
            </a:r>
          </a:p>
          <a:p>
            <a:r>
              <a:t>background check (noun) 背景调查 — “We run background checks.”</a:t>
            </a:r>
          </a:p>
          <a:p>
            <a:r>
              <a:t>stigma (noun) 污名 — “Stigma blocks employment.”</a:t>
            </a:r>
          </a:p>
          <a:p>
            <a:r>
              <a:t>★ case by case (adverb) 逐案 — “Decide case by case.”</a:t>
            </a:r>
          </a:p>
          <a:p>
            <a:r>
              <a:t>★ do the right thing (idiom) 做正确的事 — “Do the right thing.”</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record / sentence / reintegration / second / stigma / slate</a:t>
            </a:r>
          </a:p>
          <a:p>
            <a:r>
              <a:t>1. He has a criminal _______. → record</a:t>
            </a:r>
          </a:p>
          <a:p>
            <a:r>
              <a:t>2. She served her _______ and wants to work. → sentence</a:t>
            </a:r>
          </a:p>
          <a:p>
            <a:r>
              <a:t>3. Work helps _______ into society. → reintegration</a:t>
            </a:r>
          </a:p>
          <a:p>
            <a:r>
              <a:t>4. Everyone deserves a _______ chance. → second</a:t>
            </a:r>
          </a:p>
          <a:p>
            <a:r>
              <a:t>5. _______ blocks employment. → Stigma</a:t>
            </a:r>
          </a:p>
          <a:p>
            <a:r>
              <a:t>6. She wanted a clean _______. → slate</a:t>
            </a:r>
          </a:p>
          <a:p>
            <a:r>
              <a:t>Mistake Watch: (搭配) serve a sentence,have a criminal record,give sb a second chance;stigma 名词。</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Discussing a hiring decision 讨论招聘决定</a:t>
            </a:r>
          </a:p>
          <a:p>
            <a:r>
              <a:t>情景：A hiring panel talks.</a:t>
            </a:r>
          </a:p>
          <a:p>
            <a:r>
              <a:t>Role A: Hiring manager Role B: HR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One candidate has a criminal record from ten years ago.</a:t>
            </a:r>
          </a:p>
          <a:p>
            <a:r>
              <a:t>B: What was it for, and is it relevant to the role?</a:t>
            </a:r>
          </a:p>
          <a:p>
            <a:r>
              <a:t>A: A non-violent offence, unrelated to this job.</a:t>
            </a:r>
          </a:p>
          <a:p>
            <a:r>
              <a:t>B: Then I’d assess it case by case. How did he perform in the interview?</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Very well. He’s been working steadily since his release.</a:t>
            </a:r>
          </a:p>
          <a:p>
            <a:r>
              <a:t>B: That’s a good sign. We could give him a chance with a probation period.</a:t>
            </a:r>
          </a:p>
          <a:p>
            <a:r>
              <a:t>A: Agreed. It’s fair and sensible.</a:t>
            </a:r>
          </a:p>
          <a:p>
            <a:r>
              <a:t>B: Let me check our policy.</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3 | </a:t>
            </a:r>
          </a:p>
          <a:p>
            <a:r>
              <a:t>Situation | You discuss a fair chance.</a:t>
            </a:r>
          </a:p>
          <a:p>
            <a:r>
              <a:t>Your role (A) | Hiring manager.</a:t>
            </a:r>
          </a:p>
          <a:p>
            <a:r>
              <a:t>Partner’s role (B) | HR. Candidate: ______________</a:t>
            </a:r>
          </a:p>
          <a:p>
            <a:r>
              <a:t>Must use (3 or more) | criminal record · relevant to the role · case by case · steadily · probation</a:t>
            </a:r>
          </a:p>
          <a:p>
            <a:r>
              <a:t>Goal | Discuss risk and fairness and reach a decision.</a:t>
            </a:r>
          </a:p>
          <a:p>
            <a:r>
              <a:t>My notes | ____________________________________________</a:t>
            </a:r>
          </a:p>
          <a:p>
            <a:r>
              <a:t>Raise a concern respectfully.</a:t>
            </a:r>
          </a:p>
          <a:p>
            <a:r>
              <a:t>Mention references.</a:t>
            </a:r>
          </a:p>
          <a:p>
            <a:r>
              <a:t>Explain legal requirements.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with a mentor 与导师交谈</a:t>
            </a:r>
          </a:p>
          <a:p>
            <a:r>
              <a:t>情景：A person who has left prison seeks advice.</a:t>
            </a:r>
          </a:p>
          <a:p>
            <a:r>
              <a:t>Role A: Mentee Role B: Mentor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I’m nervous about interviews. I don’t know how to explain my record.</a:t>
            </a:r>
          </a:p>
          <a:p>
            <a:r>
              <a:t>B: Be honest and brief. Say what happened, what you learned and what you’re doing now.</a:t>
            </a:r>
          </a:p>
          <a:p>
            <a:r>
              <a:t>A: Will employers accept that?</a:t>
            </a:r>
          </a:p>
          <a:p>
            <a:r>
              <a:t>B: Many will, especially if you show progress. Some won’t, and that’s hard.</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How do I stay positive?</a:t>
            </a:r>
          </a:p>
          <a:p>
            <a:r>
              <a:t>B: Focus on what you can control. Keep building skills and references.</a:t>
            </a:r>
          </a:p>
          <a:p>
            <a:r>
              <a:t>A: Thank you for believing in me.</a:t>
            </a:r>
          </a:p>
          <a:p>
            <a:r>
              <a:t>B: You’re doing well. Take it one step at a time.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4 | </a:t>
            </a:r>
          </a:p>
          <a:p>
            <a:r>
              <a:t>Situation | You advise on explaining a record.</a:t>
            </a:r>
          </a:p>
          <a:p>
            <a:r>
              <a:t>Your role (A) | Mentee.</a:t>
            </a:r>
          </a:p>
          <a:p>
            <a:r>
              <a:t>Partner’s role (B) | Mentor. Situation: ______________</a:t>
            </a:r>
          </a:p>
          <a:p>
            <a:r>
              <a:t>Must use (3 or more) | be honest and brief · what you learned · show progress · what you can control · references</a:t>
            </a:r>
          </a:p>
          <a:p>
            <a:r>
              <a:t>Goal | Give practical, respectful advice.</a:t>
            </a:r>
          </a:p>
          <a:p>
            <a:r>
              <a:t>My notes | ____________________________________________</a:t>
            </a:r>
          </a:p>
          <a:p>
            <a:r>
              <a:t>Practise an answer.</a:t>
            </a:r>
          </a:p>
          <a:p>
            <a:r>
              <a:t>Plan skills training.</a:t>
            </a:r>
          </a:p>
          <a:p>
            <a:r>
              <a:t>Set a small goal.</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Should employers ask about criminal records? | “Only if…”</a:t>
            </a:r>
          </a:p>
          <a:p>
            <a:r>
              <a:t>2. What jobs might be unsuitable? | “Those involving…”</a:t>
            </a:r>
          </a:p>
          <a:p>
            <a:r>
              <a:t>3. How can ex-prisoners prove themselves? | “By…”</a:t>
            </a:r>
          </a:p>
          <a:p>
            <a:r>
              <a:t>4. Do second chances benefit society? | “I think so, because…”</a:t>
            </a:r>
          </a:p>
          <a:p>
            <a:r>
              <a:t>5. What can businesses learn from people who overcame hardship? | “They can learn…”</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 think they benefit society because stable employment reduces the chance of reoffending, and it brings skills and taxes. They also show people that change is possible. The employer’s role is to be careful and fair: look at the job, the offence and the person’s progress, rather than rejecting everyone automatically.”</a:t>
            </a:r>
          </a:p>
          <a:p>
            <a:r>
              <a:t>“reoffending” 再犯;“rejecting automatically” 自动拒绝。</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Evidence and fairness language 证据与公平措辞</a:t>
            </a:r>
          </a:p>
          <a:p>
            <a:r>
              <a:t>Structure | Example</a:t>
            </a:r>
          </a:p>
          <a:p>
            <a:r>
              <a:t>Evidence suggests that… | Evidence suggests that work reduces reoffending.</a:t>
            </a:r>
          </a:p>
          <a:p>
            <a:r>
              <a:t>It depends on… | It depends on the role.</a:t>
            </a:r>
          </a:p>
          <a:p>
            <a:r>
              <a:t>A fair approach would be to… | A fair approach would be to assess each case.</a:t>
            </a:r>
          </a:p>
          <a:p>
            <a:r>
              <a:t>on the one hand… on the other… | On the one hand, safety matters; on the other, people change.</a:t>
            </a:r>
          </a:p>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Evidence and fairness language 证据与公平措辞</a:t>
            </a:r>
          </a:p>
          <a:p>
            <a:r>
              <a:t>Use evidence, conditionals and balanced contrast for sensitive topics.</a:t>
            </a:r>
          </a:p>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He was in the prison.  →  ✓ He was in prison.  (无冠词)</a:t>
            </a:r>
          </a:p>
          <a:p>
            <a:r>
              <a:t>✗ He is a ex-prisoner.  →  ✓ He is an ex-prisoner.  (an)</a:t>
            </a:r>
          </a:p>
          <a:p>
            <a:r>
              <a:t>✗ He has got released last year.  →  ✓ He was released last year.  (过去时+被动)</a:t>
            </a:r>
          </a:p>
          <a:p>
            <a:r>
              <a:t>Mistake Watch: Check in prison (no article), an ex-…, was released, avoid labels.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He is a criminal, so we won’t hire him.  →  ✓ He has a criminal record; we’ll assess it case by case.  (避免给人贴标签)</a:t>
            </a:r>
          </a:p>
          <a:p>
            <a:r>
              <a:t>✗ The company should accept him because he is poor.  →  ✓ …because he deserves a second chance.  (理由)</a:t>
            </a:r>
          </a:p>
          <a:p>
            <a:r>
              <a:t>✗ He changed his life.  →  ✓ He turned his life around.  (习语)</a:t>
            </a:r>
          </a:p>
          <a:p>
            <a:r>
              <a:t>Mistake Watch: Check in prison (no article), an ex-…, was released, avoid labels.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Use person-first language. “A person who has served a sentence” rather than “a criminal”.</a:t>
            </a:r>
          </a:p>
          <a:p>
            <a:r>
              <a:t>Laws differ. Rules about asking for records vary by country.</a:t>
            </a:r>
          </a:p>
          <a:p>
            <a:r>
              <a:t>Show progress. Employers value evidence of change.</a:t>
            </a:r>
          </a:p>
          <a:p>
            <a:r>
              <a:t>Respect privacy. Don’t share someone’s record.</a:t>
            </a:r>
          </a:p>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discuss second-chance hiring respectfully.</a:t>
            </a:r>
          </a:p>
          <a:p>
            <a:r>
              <a:t>I can use evidence and balanced contrast.</a:t>
            </a:r>
          </a:p>
          <a:p>
            <a:r>
              <a:t>I can give honest, practical advice.</a:t>
            </a:r>
          </a:p>
          <a:p>
            <a:r>
              <a:t>I use in prison, was released and person-first language correctly.</a:t>
            </a:r>
          </a:p>
          <a:p>
            <a:r>
              <a:t>I can use at least three ★ expressions from this lesson in my own sentences.</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Argue for a fair-chance approach in 90 seconds.</a:t>
            </a:r>
          </a:p>
          <a:p>
            <a:r>
              <a:t>8–10 | Listen to your recording. Check: in prison, was released, an ex-.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91 · Tycoons invest in metaverse 大亨投资元宇宙</a:t>
            </a:r>
          </a:p>
          <a:p>
            <a:r>
              <a:t>Goal: discuss big-business investment in new technology (the metaverse), speculate about its future and weigh risk against opportunity.</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“metaverse” 元宇宙:持续的、共享的虚拟空间。“tycoon” 商业大亨。本课不对任何公司作事实断言,请做原则性讨论。</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Discuss whether investing in the metaverse is a smart bet.</a:t>
            </a:r>
          </a:p>
          <a:p>
            <a:r>
              <a:t>Say: what it is → why invest → risks → your view.</a:t>
            </a:r>
          </a:p>
          <a:p>
            <a:r>
              <a:t>Useful starters: “The metaverse refers to…” / “Investors hope that…” / “The risk is that…” / “It remains to be seen whether…”</a:t>
            </a:r>
          </a:p>
          <a:p>
            <a:r>
              <a:t>“remain to be seen” = 还有待观察。</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The metaverse is a term for shared virtual spaces where people can work, play, shop and meet using avatars, often through virtual reality or three-dimensional screens. Large technology firms and wealthy investors have put money into it, hoping to shape the next platform after the smartphone. Supporters imagine virtual offices, training simulations, digital fashion and new forms of entertainment. Sceptics point out that headsets are expensive, content is limited and many users find the experience uncomfortable. Past technology bubbles also show that excitement can run ahead of demand. For companies, a sensible strategy is to experiment on a small scale, learn what customers actually want and avoid betting everything on a single prediction. Whether the metaverse becomes mainstream or fades remains to be seen.</a:t>
            </a:r>
          </a:p>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is the metaverse?</a:t>
            </a:r>
          </a:p>
          <a:p>
            <a:r>
              <a:t>A: Shared virtual spaces where people work, play, shop and meet via avatars.</a:t>
            </a:r>
          </a:p>
          <a:p>
            <a:r>
              <a:t>Q2. Name two sceptical points.</a:t>
            </a:r>
          </a:p>
          <a:p>
            <a:r>
              <a:t>A: Headsets are expensive; limited content; uncomfortable experience; excitement may run ahead of demand.</a:t>
            </a:r>
          </a:p>
          <a:p>
            <a:r>
              <a:t>Q3. What strategy does the passage recommend?</a:t>
            </a:r>
          </a:p>
          <a:p>
            <a:r>
              <a:t>A: Experiment on a small scale and avoid betting everything on one prediction.</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The metaverse 元宇宙</a:t>
            </a:r>
          </a:p>
          <a:p>
            <a:r>
              <a:t>领读 → 学员跟读 → 请学员用表达造一个和自己工作相关的句子。</a:t>
            </a:r>
          </a:p>
          <a:p>
            <a:r>
              <a:t>metaverse (noun) 元宇宙 — “Companies are exploring the metaverse.”</a:t>
            </a:r>
          </a:p>
          <a:p>
            <a:r>
              <a:t>virtual reality (VR) (noun) 虚拟现实 — “VR headsets are improving.”</a:t>
            </a:r>
          </a:p>
          <a:p>
            <a:r>
              <a:t>avatar (noun) 虚拟形象 — “My avatar attended the meeting.”</a:t>
            </a:r>
          </a:p>
          <a:p>
            <a:r>
              <a:t>★ immersive (adjective) 沉浸式的 — “An immersive experience.”</a:t>
            </a:r>
          </a:p>
          <a:p>
            <a:r>
              <a:t>★ digital twin (noun) 数字孪生 — “A digital twin of the factory.”</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Investment 投资</a:t>
            </a:r>
          </a:p>
          <a:p>
            <a:r>
              <a:t>领读 → 学员跟读 → 请学员用表达造一个和自己工作相关的句子。</a:t>
            </a:r>
          </a:p>
          <a:p>
            <a:r>
              <a:t>invest in (verb phrase) 投资 — “They invested in VR.”</a:t>
            </a:r>
          </a:p>
          <a:p>
            <a:r>
              <a:t>a bet / place a bet on (noun) 押注 — “It’s a big bet.”</a:t>
            </a:r>
          </a:p>
          <a:p>
            <a:r>
              <a:t>tycoon (noun) 商业大亨 — “A tech tycoon.”</a:t>
            </a:r>
          </a:p>
          <a:p>
            <a:r>
              <a:t>★ hype (noun) 炒作 — “There’s a lot of hype.”</a:t>
            </a:r>
          </a:p>
          <a:p>
            <a:r>
              <a:t>★ bubble (noun) 泡沫 — “It could be a bubble.”</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Risk and outlook 风险与前景</a:t>
            </a:r>
          </a:p>
          <a:p>
            <a:r>
              <a:t>领读 → 学员跟读 → 请学员用表达造一个和自己工作相关的句子。</a:t>
            </a:r>
          </a:p>
          <a:p>
            <a:r>
              <a:t>early adopter (noun) 早期采用者 — “Early adopters tried it first.”</a:t>
            </a:r>
          </a:p>
          <a:p>
            <a:r>
              <a:t>mainstream adoption (noun) 大规模普及 — “Mainstream adoption is slow.”</a:t>
            </a:r>
          </a:p>
          <a:p>
            <a:r>
              <a:t>proof of concept (noun) 概念验证 — “We built a proof of concept.”</a:t>
            </a:r>
          </a:p>
          <a:p>
            <a:r>
              <a:t>★ remain to be seen (phrase) 有待观察 — “It remains to be seen.”</a:t>
            </a:r>
          </a:p>
          <a:p>
            <a:r>
              <a:t>★ ahead of its time (idiom) 超前 — “The idea was ahead of its time.”</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metaverse / avatar / invest / bet / hype / adoption</a:t>
            </a:r>
          </a:p>
          <a:p>
            <a:r>
              <a:t>1. Some firms want to build the _______. → metaverse</a:t>
            </a:r>
          </a:p>
          <a:p>
            <a:r>
              <a:t>2. My _______ attended the virtual meeting. → avatar</a:t>
            </a:r>
          </a:p>
          <a:p>
            <a:r>
              <a:t>3. They plan to _______ in virtual reality. → invest</a:t>
            </a:r>
          </a:p>
          <a:p>
            <a:r>
              <a:t>4. It’s a big _______ on the future. → bet</a:t>
            </a:r>
          </a:p>
          <a:p>
            <a:r>
              <a:t>5. There is a lot of _______ around it. → hype</a:t>
            </a:r>
          </a:p>
          <a:p>
            <a:r>
              <a:t>6. Mainstream _______ is still slow. → adoption</a:t>
            </a:r>
          </a:p>
          <a:p>
            <a:r>
              <a:t>Mistake Watch: (搭配) invest IN,place a bet ON,early adopter;metaverse 首字母小写。</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Evaluating an investment 评估一项投资</a:t>
            </a:r>
          </a:p>
          <a:p>
            <a:r>
              <a:t>情景：A meeting on emerging technology.</a:t>
            </a:r>
          </a:p>
          <a:p>
            <a:r>
              <a:t>Role A: Manager Role B: Strategy lead</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Should we invest in a virtual showroom?</a:t>
            </a:r>
          </a:p>
          <a:p>
            <a:r>
              <a:t>B: It could attract early adopters, but there’s a lot of hype.</a:t>
            </a:r>
          </a:p>
          <a:p>
            <a:r>
              <a:t>A: What’s the downside?</a:t>
            </a:r>
          </a:p>
          <a:p>
            <a:r>
              <a:t>B: Costs are high, and we don’t know if customers will use it.</a:t>
            </a:r>
          </a:p>
          <a:p>
            <a:r>
              <a:t>A: So what do you suggest?</a:t>
            </a:r>
          </a:p>
          <a:p>
            <a:r>
              <a:t>B: A small proof of concept, then review the results.</a:t>
            </a:r>
          </a:p>
          <a:p>
            <a:r>
              <a:t>A: That’s sensible. It limits our risk.</a:t>
            </a:r>
          </a:p>
          <a:p>
            <a:r>
              <a:t>B: Whether it becomes mainstream remains to be seen.</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5 | </a:t>
            </a:r>
          </a:p>
          <a:p>
            <a:r>
              <a:t>Situation | You evaluate a tech bet.</a:t>
            </a:r>
          </a:p>
          <a:p>
            <a:r>
              <a:t>Your role (A) | Manager. Technology: ______________</a:t>
            </a:r>
          </a:p>
          <a:p>
            <a:r>
              <a:t>Partner’s role (B) | Strategy lead.</a:t>
            </a:r>
          </a:p>
          <a:p>
            <a:r>
              <a:t>Must use (3 or more) | early adopters · hype · downside · proof of concept · remains to be seen</a:t>
            </a:r>
          </a:p>
          <a:p>
            <a:r>
              <a:t>Goal | Weigh opportunity and risk and propose a limited test.</a:t>
            </a:r>
          </a:p>
          <a:p>
            <a:r>
              <a:t>My notes | ____________________________________________</a:t>
            </a:r>
          </a:p>
          <a:p>
            <a:r>
              <a:t>Set a budget cap.</a:t>
            </a:r>
          </a:p>
          <a:p>
            <a:r>
              <a:t>Define success measures.</a:t>
            </a:r>
          </a:p>
          <a:p>
            <a:r>
              <a:t>Compare with another idea.</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Explaining the metaverse to a friend 向朋友解释元宇宙</a:t>
            </a:r>
          </a:p>
          <a:p>
            <a:r>
              <a:t>情景：A casual chat.</a:t>
            </a:r>
          </a:p>
          <a:p>
            <a:r>
              <a:t>Role A: Friend Role B: You</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 keep hearing about the metaverse. What is it?</a:t>
            </a:r>
          </a:p>
          <a:p>
            <a:r>
              <a:t>B: It’s a shared virtual space where people meet as avatars, usually using VR.</a:t>
            </a:r>
          </a:p>
          <a:p>
            <a:r>
              <a:t>A: What can you do there?</a:t>
            </a:r>
          </a:p>
          <a:p>
            <a:r>
              <a:t>B: Meetings, training, games, even shopping.</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Would you use it?</a:t>
            </a:r>
          </a:p>
          <a:p>
            <a:r>
              <a:t>B: Maybe for training. I find headsets uncomfortable.</a:t>
            </a:r>
          </a:p>
          <a:p>
            <a:r>
              <a:t>A: Do you think it will take off?</a:t>
            </a:r>
          </a:p>
          <a:p>
            <a:r>
              <a:t>B: It’s hard to say. It might, or it might fade like past trends.</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6 | </a:t>
            </a:r>
          </a:p>
          <a:p>
            <a:r>
              <a:t>Situation | You explain a new technology.</a:t>
            </a:r>
          </a:p>
          <a:p>
            <a:r>
              <a:t>Your role (A) | Friend.</a:t>
            </a:r>
          </a:p>
          <a:p>
            <a:r>
              <a:t>Partner’s role (B) | Explainer. Technology: ______________</a:t>
            </a:r>
          </a:p>
          <a:p>
            <a:r>
              <a:t>Must use (3 or more) | shared virtual space · avatars · uncomfortable · take off · hard to say</a:t>
            </a:r>
          </a:p>
          <a:p>
            <a:r>
              <a:t>Goal | Explain simply and give a cautious prediction.</a:t>
            </a:r>
          </a:p>
          <a:p>
            <a:r>
              <a:t>My notes | ____________________________________________</a:t>
            </a:r>
          </a:p>
          <a:p>
            <a:r>
              <a:t>Give an example of use.</a:t>
            </a:r>
          </a:p>
          <a:p>
            <a:r>
              <a:t>Mention privacy.</a:t>
            </a:r>
          </a:p>
          <a:p>
            <a:r>
              <a:t>Compare to smartphones.</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Is the metaverse a good investment? | “It’s risky because…”</a:t>
            </a:r>
          </a:p>
          <a:p>
            <a:r>
              <a:t>2. Would you attend a virtual meeting as an avatar? | “I might, if…”</a:t>
            </a:r>
          </a:p>
          <a:p>
            <a:r>
              <a:t>3. What problems might the metaverse solve? | “It could…”</a:t>
            </a:r>
          </a:p>
          <a:p>
            <a:r>
              <a:t>4. What risks does it bring? | “One risk is…”</a:t>
            </a:r>
          </a:p>
          <a:p>
            <a:r>
              <a:t>5. How can companies avoid following hype? | “By…”</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“Companies can avoid hype by starting small and asking customers what they actually need. They should test an idea cheaply, measure results, and be ready to stop if it doesn’t work. They should also compare the technology with existing solutions. If the new option isn’t clearly better, it may not be worth the cost.”</a:t>
            </a:r>
          </a:p>
          <a:p>
            <a:r>
              <a:t>“be ready to stop” 准备好随时叫停;“worth the cost” 值得成本。</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Speculating about the future 对未来作推测</a:t>
            </a:r>
          </a:p>
          <a:p>
            <a:r>
              <a:t>Structure | Example</a:t>
            </a:r>
          </a:p>
          <a:p>
            <a:r>
              <a:t>might / could / may | It might become mainstream.</a:t>
            </a:r>
          </a:p>
          <a:p>
            <a:r>
              <a:t>is likely/unlikely to | It is likely to grow.</a:t>
            </a:r>
          </a:p>
          <a:p>
            <a:r>
              <a:t>It remains to be seen whether… | It remains to be seen whether people will use it.</a:t>
            </a:r>
          </a:p>
          <a:p>
            <a:r>
              <a:t>I wouldn’t be surprised if… | I wouldn’t be surprised if it faded.</a:t>
            </a:r>
          </a:p>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Speculating about the future 对未来作推测</a:t>
            </a:r>
          </a:p>
          <a:p>
            <a:r>
              <a:t>Use if + present and would-based phrases to speculate with caution.</a:t>
            </a:r>
          </a:p>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Metaverse will be a big business surely.  →  ✓ The metaverse will probably be a big business.  (语气)</a:t>
            </a:r>
          </a:p>
          <a:p>
            <a:r>
              <a:t>✗ It will maybe fail.  →  ✓ It might fail. / Maybe it will fail.  (maybe 位置)</a:t>
            </a:r>
          </a:p>
          <a:p>
            <a:r>
              <a:t>✗ I wouldn’t be surprised if it will fail.  →  ✓ I wouldn’t be surprised if it failed.  (if 从句)</a:t>
            </a:r>
          </a:p>
          <a:p>
            <a:r>
              <a:t>Mistake Watch: Check probably/maybe position, invest in, uncountable hype, remains to be seen.</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They invest on VR.  →  ✓ They invest in VR.  (invest in)</a:t>
            </a:r>
          </a:p>
          <a:p>
            <a:r>
              <a:t>✗ The hypes are big.  →  ✓ There’s a lot of hype.  (hype 不可数)</a:t>
            </a:r>
          </a:p>
          <a:p>
            <a:r>
              <a:t>✗ It remains to see.  →  ✓ It remains to be seen.  (被动)</a:t>
            </a:r>
          </a:p>
          <a:p>
            <a:r>
              <a:t>Mistake Watch: Check probably/maybe position, invest in, uncountable hype, remains to be seen.</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Hedge predictions. Technology predictions are often wrong.</a:t>
            </a:r>
          </a:p>
          <a:p>
            <a:r>
              <a:t>Avoid hype language like “revolutionary” in serious business writing.</a:t>
            </a:r>
          </a:p>
          <a:p>
            <a:r>
              <a:t>Mention risk. Show you’ve considered downsides.</a:t>
            </a:r>
          </a:p>
          <a:p>
            <a:r>
              <a:t>Metaphors. “Bet”, “bubble” and “wave” are common in tech talk.</a:t>
            </a:r>
          </a:p>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explain the metaverse in simple terms.</a:t>
            </a:r>
          </a:p>
          <a:p>
            <a:r>
              <a:t>I can weigh opportunity against risk.</a:t>
            </a:r>
          </a:p>
          <a:p>
            <a:r>
              <a:t>I can speculate with might / likely to / remains to be seen.</a:t>
            </a:r>
          </a:p>
          <a:p>
            <a:r>
              <a:t>I use invest in, hype (uncountable) and probably/maybe correctly.</a:t>
            </a:r>
          </a:p>
          <a:p>
            <a:r>
              <a:t>I can use at least three ★ expressions from this lesson in my own sentences.</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Give a cautious prediction about a new technology in 60 seconds.</a:t>
            </a:r>
          </a:p>
          <a:p>
            <a:r>
              <a:t>8–10 | Listen to your recording. Check: invest in, hype uncountable, probably/maybe, remains to be seen.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单元复习游戏：各组轮流选数字，点击进入挑战页，完成挑战得分；盒子里有奖励、炸弹和偷分卡。</a:t>
            </a:r>
          </a:p>
          <a:p>
            <a:r>
              <a:t>挑战页右下角 ↩ Back 返回本页。挑战页为隐藏幻灯片，正常翻页不会出现。</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单元终极挑战：每题限时 10 秒抢答，答对 +1。点一次出题，再点一次出答案。</a:t>
            </a:r>
          </a:p>
          <a:p>
            <a:r>
              <a:t>“超前” in English? → ahead of its time</a:t>
            </a:r>
          </a:p>
          <a:p>
            <a:r>
              <a:t>“重新开始” in English? → a clean slate</a:t>
            </a:r>
          </a:p>
          <a:p>
            <a:r>
              <a:t>“逐案” in English? → case by case</a:t>
            </a:r>
          </a:p>
          <a:p>
            <a:r>
              <a:t>Fix it: I wouldn’t be surprised if it will fail. → I wouldn’t be surprised if it failed.</a:t>
            </a:r>
          </a:p>
          <a:p>
            <a:r>
              <a:t>Fix it: He was in the prison. → He was in prison.</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统计各组得分，宣布冠军组，全班鼓掌！</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结束：提醒学员完成每日 10 分钟练习，下节课开头抽查。</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slide" Target="slide4.xml"/><Relationship Id="rId4" Type="http://schemas.openxmlformats.org/officeDocument/2006/relationships/slide" Target="slide30.xml"/><Relationship Id="rId5" Type="http://schemas.openxmlformats.org/officeDocument/2006/relationships/slide" Target="slide5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3.xml"/><Relationship Id="rId4" Type="http://schemas.openxmlformats.org/officeDocument/2006/relationships/slide" Target="slide84.xml"/><Relationship Id="rId5" Type="http://schemas.openxmlformats.org/officeDocument/2006/relationships/slide" Target="slide85.xml"/><Relationship Id="rId6" Type="http://schemas.openxmlformats.org/officeDocument/2006/relationships/slide" Target="slide86.xml"/><Relationship Id="rId7" Type="http://schemas.openxmlformats.org/officeDocument/2006/relationships/slide" Target="slide87.xml"/><Relationship Id="rId8" Type="http://schemas.openxmlformats.org/officeDocument/2006/relationships/slide" Target="slide88.xml"/><Relationship Id="rId9" Type="http://schemas.openxmlformats.org/officeDocument/2006/relationships/slide" Target="slide89.xml"/><Relationship Id="rId10" Type="http://schemas.openxmlformats.org/officeDocument/2006/relationships/slide" Target="slide90.xml"/><Relationship Id="rId11" Type="http://schemas.openxmlformats.org/officeDocument/2006/relationships/slide" Target="slide91.xml"/><Relationship Id="rId12" Type="http://schemas.openxmlformats.org/officeDocument/2006/relationships/slide" Target="slide9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8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8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8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8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8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8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8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8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8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4.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5.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20</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a:t>
            </a:r>
          </a:p>
        </p:txBody>
      </p:sp>
      <p:sp>
        <p:nvSpPr>
          <p:cNvPr id="4" name="Oval 3"/>
          <p:cNvSpPr/>
          <p:nvPr/>
        </p:nvSpPr>
        <p:spPr>
          <a:xfrm>
            <a:off x="9692640" y="457200"/>
            <a:ext cx="2011680" cy="20116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698480" y="2286000"/>
            <a:ext cx="1097280" cy="109728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052560" y="4480560"/>
            <a:ext cx="1463040" cy="14630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92640" y="457200"/>
            <a:ext cx="2011680" cy="2011680"/>
          </a:xfrm>
          <a:prstGeom prst="rect">
            <a:avLst/>
          </a:prstGeom>
          <a:noFill/>
        </p:spPr>
        <p:txBody>
          <a:bodyPr wrap="square" anchor="ctr">
            <a:spAutoFit/>
          </a:bodyPr>
          <a:lstStyle/>
          <a:p>
            <a:pPr algn="ctr">
              <a:lnSpc>
                <a:spcPct val="115000"/>
              </a:lnSpc>
              <a:spcAft>
                <a:spcPts val="800"/>
              </a:spcAft>
            </a:pPr>
            <a:r>
              <a:rPr sz="8000" b="0">
                <a:solidFill>
                  <a:srgbClr val="1F2A44"/>
                </a:solidFill>
                <a:latin typeface="Arial"/>
                <a:ea typeface="Microsoft YaHei"/>
              </a:rPr>
              <a:t>💼</a:t>
            </a:r>
          </a:p>
        </p:txBody>
      </p:sp>
      <p:sp>
        <p:nvSpPr>
          <p:cNvPr id="8" name="TextBox 7"/>
          <p:cNvSpPr txBox="1"/>
          <p:nvPr/>
        </p:nvSpPr>
        <p:spPr>
          <a:xfrm>
            <a:off x="822960" y="1188720"/>
            <a:ext cx="8229600" cy="457200"/>
          </a:xfrm>
          <a:prstGeom prst="rect">
            <a:avLst/>
          </a:prstGeom>
          <a:noFill/>
        </p:spPr>
        <p:txBody>
          <a:bodyPr wrap="square" anchor="t">
            <a:spAutoFit/>
          </a:bodyPr>
          <a:lstStyle/>
          <a:p>
            <a:pPr algn="l">
              <a:lnSpc>
                <a:spcPct val="115000"/>
              </a:lnSpc>
              <a:spcAft>
                <a:spcPts val="800"/>
              </a:spcAft>
            </a:pPr>
            <a:r>
              <a:rPr sz="2000" b="1">
                <a:solidFill>
                  <a:srgbClr val="FFC857"/>
                </a:solidFill>
                <a:latin typeface="Arial"/>
                <a:ea typeface="Microsoft YaHei"/>
              </a:rPr>
              <a:t>BUSINESS ENGLISH · LEVEL 7–8 · UNIT 20</a:t>
            </a:r>
          </a:p>
        </p:txBody>
      </p:sp>
      <p:sp>
        <p:nvSpPr>
          <p:cNvPr id="9" name="TextBox 8"/>
          <p:cNvSpPr txBox="1"/>
          <p:nvPr/>
        </p:nvSpPr>
        <p:spPr>
          <a:xfrm>
            <a:off x="822960" y="1691640"/>
            <a:ext cx="8046720" cy="1737360"/>
          </a:xfrm>
          <a:prstGeom prst="rect">
            <a:avLst/>
          </a:prstGeom>
          <a:noFill/>
        </p:spPr>
        <p:txBody>
          <a:bodyPr wrap="square" anchor="ctr">
            <a:spAutoFit/>
          </a:bodyPr>
          <a:lstStyle/>
          <a:p>
            <a:pPr algn="l">
              <a:lnSpc>
                <a:spcPct val="115000"/>
              </a:lnSpc>
              <a:spcAft>
                <a:spcPts val="800"/>
              </a:spcAft>
            </a:pPr>
            <a:r>
              <a:rPr sz="5200" b="1">
                <a:solidFill>
                  <a:srgbClr val="FFFFFF"/>
                </a:solidFill>
                <a:latin typeface="Arial"/>
                <a:ea typeface="Microsoft YaHei"/>
              </a:rPr>
              <a:t>Business Cases and Lessons</a:t>
            </a:r>
          </a:p>
        </p:txBody>
      </p:sp>
      <p:sp>
        <p:nvSpPr>
          <p:cNvPr id="10" name="Rounded Rectangle 9"/>
          <p:cNvSpPr/>
          <p:nvPr/>
        </p:nvSpPr>
        <p:spPr>
          <a:xfrm>
            <a:off x="822960" y="3657600"/>
            <a:ext cx="1645920" cy="50292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CEFR B1→B2</a:t>
            </a:r>
          </a:p>
        </p:txBody>
      </p:sp>
      <p:sp>
        <p:nvSpPr>
          <p:cNvPr id="11" name="Rounded Rectangle 10"/>
          <p:cNvSpPr/>
          <p:nvPr/>
        </p:nvSpPr>
        <p:spPr>
          <a:xfrm>
            <a:off x="2606040" y="3657600"/>
            <a:ext cx="1527048" cy="50292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3 Lessons</a:t>
            </a:r>
          </a:p>
        </p:txBody>
      </p:sp>
      <p:sp>
        <p:nvSpPr>
          <p:cNvPr id="12" name="Rounded Rectangle 11"/>
          <p:cNvSpPr/>
          <p:nvPr/>
        </p:nvSpPr>
        <p:spPr>
          <a:xfrm>
            <a:off x="4270248" y="3657600"/>
            <a:ext cx="1408176" cy="50292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同桌英语</a:t>
            </a:r>
          </a:p>
        </p:txBody>
      </p:sp>
      <p:sp>
        <p:nvSpPr>
          <p:cNvPr id="13" name="TextBox 12"/>
          <p:cNvSpPr txBox="1"/>
          <p:nvPr/>
        </p:nvSpPr>
        <p:spPr>
          <a:xfrm>
            <a:off x="822960" y="4434840"/>
            <a:ext cx="8229600" cy="1463040"/>
          </a:xfrm>
          <a:prstGeom prst="rect">
            <a:avLst/>
          </a:prstGeom>
          <a:noFill/>
        </p:spPr>
        <p:txBody>
          <a:bodyPr wrap="square" anchor="t">
            <a:spAutoFit/>
          </a:bodyPr>
          <a:lstStyle/>
          <a:p>
            <a:pPr algn="l">
              <a:lnSpc>
                <a:spcPct val="115000"/>
              </a:lnSpc>
              <a:spcAft>
                <a:spcPts val="800"/>
              </a:spcAft>
            </a:pPr>
            <a:r>
              <a:rPr sz="1600" b="0">
                <a:solidFill>
                  <a:srgbClr val="FFFFFF"/>
                </a:solidFill>
                <a:latin typeface="Arial"/>
                <a:ea typeface="Microsoft YaHei"/>
              </a:rPr>
              <a:t>L89 Why companies fail · L90 Business lessons from prison · L91 Tycoons invest in metaverse</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Team Challenge 小组积分赛</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 rules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20</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a:t>
            </a:r>
          </a:p>
        </p:txBody>
      </p:sp>
      <p:sp>
        <p:nvSpPr>
          <p:cNvPr id="7" name="TextBox 6"/>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Speak up, answer fast, role-play well — every point counts.  积极发言、快速答题、精彩演绎都能得分</a:t>
            </a:r>
          </a:p>
        </p:txBody>
      </p:sp>
      <p:sp>
        <p:nvSpPr>
          <p:cNvPr id="8" name="Rounded Rectangle 7"/>
          <p:cNvSpPr/>
          <p:nvPr/>
        </p:nvSpPr>
        <p:spPr>
          <a:xfrm>
            <a:off x="548640" y="1691640"/>
            <a:ext cx="2606040" cy="2834640"/>
          </a:xfrm>
          <a:prstGeom prst="roundRect">
            <a:avLst>
              <a:gd name="adj" fmla="val 6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1691640"/>
            <a:ext cx="2606040" cy="777240"/>
          </a:xfrm>
          <a:prstGeom prst="roundRect">
            <a:avLst>
              <a:gd name="adj" fmla="val 15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Alpha</a:t>
            </a:r>
          </a:p>
        </p:txBody>
      </p:sp>
      <p:sp>
        <p:nvSpPr>
          <p:cNvPr id="10" name="TextBox 9"/>
          <p:cNvSpPr txBox="1"/>
          <p:nvPr/>
        </p:nvSpPr>
        <p:spPr>
          <a:xfrm>
            <a:off x="54864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1" name="TextBox 10"/>
          <p:cNvSpPr txBox="1"/>
          <p:nvPr/>
        </p:nvSpPr>
        <p:spPr>
          <a:xfrm>
            <a:off x="54864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12" name="Rounded Rectangle 11"/>
          <p:cNvSpPr/>
          <p:nvPr/>
        </p:nvSpPr>
        <p:spPr>
          <a:xfrm>
            <a:off x="3383280" y="1691640"/>
            <a:ext cx="2606040" cy="2834640"/>
          </a:xfrm>
          <a:prstGeom prst="roundRect">
            <a:avLst>
              <a:gd name="adj" fmla="val 6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83280" y="1691640"/>
            <a:ext cx="2606040" cy="777240"/>
          </a:xfrm>
          <a:prstGeom prst="roundRect">
            <a:avLst>
              <a:gd name="adj" fmla="val 15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Bravo</a:t>
            </a:r>
          </a:p>
        </p:txBody>
      </p:sp>
      <p:sp>
        <p:nvSpPr>
          <p:cNvPr id="14" name="TextBox 13"/>
          <p:cNvSpPr txBox="1"/>
          <p:nvPr/>
        </p:nvSpPr>
        <p:spPr>
          <a:xfrm>
            <a:off x="338328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5" name="TextBox 14"/>
          <p:cNvSpPr txBox="1"/>
          <p:nvPr/>
        </p:nvSpPr>
        <p:spPr>
          <a:xfrm>
            <a:off x="338328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16" name="Rounded Rectangle 15"/>
          <p:cNvSpPr/>
          <p:nvPr/>
        </p:nvSpPr>
        <p:spPr>
          <a:xfrm>
            <a:off x="6217920" y="1691640"/>
            <a:ext cx="2606040" cy="2834640"/>
          </a:xfrm>
          <a:prstGeom prst="roundRect">
            <a:avLst>
              <a:gd name="adj" fmla="val 6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17920" y="1691640"/>
            <a:ext cx="2606040" cy="777240"/>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Charlie</a:t>
            </a:r>
          </a:p>
        </p:txBody>
      </p:sp>
      <p:sp>
        <p:nvSpPr>
          <p:cNvPr id="18" name="TextBox 17"/>
          <p:cNvSpPr txBox="1"/>
          <p:nvPr/>
        </p:nvSpPr>
        <p:spPr>
          <a:xfrm>
            <a:off x="621792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9" name="TextBox 18"/>
          <p:cNvSpPr txBox="1"/>
          <p:nvPr/>
        </p:nvSpPr>
        <p:spPr>
          <a:xfrm>
            <a:off x="621792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20" name="Rounded Rectangle 19"/>
          <p:cNvSpPr/>
          <p:nvPr/>
        </p:nvSpPr>
        <p:spPr>
          <a:xfrm>
            <a:off x="9052560" y="1691640"/>
            <a:ext cx="2606040" cy="2834640"/>
          </a:xfrm>
          <a:prstGeom prst="roundRect">
            <a:avLst>
              <a:gd name="adj" fmla="val 6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052560" y="1691640"/>
            <a:ext cx="2606040" cy="777240"/>
          </a:xfrm>
          <a:prstGeom prst="roundRect">
            <a:avLst>
              <a:gd name="adj" fmla="val 15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Delta</a:t>
            </a:r>
          </a:p>
        </p:txBody>
      </p:sp>
      <p:sp>
        <p:nvSpPr>
          <p:cNvPr id="22" name="TextBox 21"/>
          <p:cNvSpPr txBox="1"/>
          <p:nvPr/>
        </p:nvSpPr>
        <p:spPr>
          <a:xfrm>
            <a:off x="905256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23" name="TextBox 22"/>
          <p:cNvSpPr txBox="1"/>
          <p:nvPr/>
        </p:nvSpPr>
        <p:spPr>
          <a:xfrm>
            <a:off x="905256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24" name="Rounded Rectangle 23"/>
          <p:cNvSpPr/>
          <p:nvPr/>
        </p:nvSpPr>
        <p:spPr>
          <a:xfrm>
            <a:off x="54864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Speak in English  +1</a:t>
            </a:r>
          </a:p>
        </p:txBody>
      </p:sp>
      <p:sp>
        <p:nvSpPr>
          <p:cNvPr id="25" name="Rounded Rectangle 24"/>
          <p:cNvSpPr/>
          <p:nvPr/>
        </p:nvSpPr>
        <p:spPr>
          <a:xfrm>
            <a:off x="338328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Fastest correct answer  +1</a:t>
            </a:r>
          </a:p>
        </p:txBody>
      </p:sp>
      <p:sp>
        <p:nvSpPr>
          <p:cNvPr id="26" name="Rounded Rectangle 25"/>
          <p:cNvSpPr/>
          <p:nvPr/>
        </p:nvSpPr>
        <p:spPr>
          <a:xfrm>
            <a:off x="621792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Best role play  +2</a:t>
            </a:r>
          </a:p>
        </p:txBody>
      </p:sp>
      <p:sp>
        <p:nvSpPr>
          <p:cNvPr id="27" name="Rounded Rectangle 26"/>
          <p:cNvSpPr/>
          <p:nvPr/>
        </p:nvSpPr>
        <p:spPr>
          <a:xfrm>
            <a:off x="905256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Lucky Box  ?</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Unit Roadmap 单元路线图</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Click a lesson</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20</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a:t>
            </a:r>
          </a:p>
        </p:txBody>
      </p:sp>
      <p:sp>
        <p:nvSpPr>
          <p:cNvPr id="7" name="Rounded Rectangle 6">
            <a:hlinkClick action="ppaction://hlinksldjump" r:id="rId3"/>
          </p:cNvPr>
          <p:cNvSpPr/>
          <p:nvPr/>
        </p:nvSpPr>
        <p:spPr>
          <a:xfrm>
            <a:off x="548640" y="1554480"/>
            <a:ext cx="3576218" cy="1234440"/>
          </a:xfrm>
          <a:prstGeom prst="roundRect">
            <a:avLst>
              <a:gd name="adj" fmla="val 12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851660"/>
            <a:ext cx="868680" cy="640080"/>
          </a:xfrm>
          <a:prstGeom prst="roundRect">
            <a:avLst>
              <a:gd name="adj" fmla="val 3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89</a:t>
            </a:r>
          </a:p>
        </p:txBody>
      </p:sp>
      <p:sp>
        <p:nvSpPr>
          <p:cNvPr id="9" name="TextBox 8"/>
          <p:cNvSpPr txBox="1"/>
          <p:nvPr/>
        </p:nvSpPr>
        <p:spPr>
          <a:xfrm>
            <a:off x="1645920"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Why companies fail</a:t>
            </a:r>
          </a:p>
          <a:p>
            <a:pPr algn="l">
              <a:lnSpc>
                <a:spcPct val="100000"/>
              </a:lnSpc>
              <a:spcAft>
                <a:spcPts val="800"/>
              </a:spcAft>
            </a:pPr>
            <a:r>
              <a:rPr sz="1400" b="0">
                <a:solidFill>
                  <a:srgbClr val="5F677A"/>
                </a:solidFill>
                <a:latin typeface="Arial"/>
                <a:ea typeface="Microsoft YaHei"/>
              </a:rPr>
              <a:t>公司为什么失败</a:t>
            </a:r>
          </a:p>
        </p:txBody>
      </p:sp>
      <p:sp>
        <p:nvSpPr>
          <p:cNvPr id="10" name="Rounded Rectangle 9">
            <a:hlinkClick action="ppaction://hlinksldjump" r:id="rId4"/>
          </p:cNvPr>
          <p:cNvSpPr/>
          <p:nvPr/>
        </p:nvSpPr>
        <p:spPr>
          <a:xfrm>
            <a:off x="4307738" y="1554480"/>
            <a:ext cx="3576218" cy="1234440"/>
          </a:xfrm>
          <a:prstGeom prst="roundRect">
            <a:avLst>
              <a:gd name="adj" fmla="val 12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417466" y="1851660"/>
            <a:ext cx="868680" cy="640080"/>
          </a:xfrm>
          <a:prstGeom prst="roundRect">
            <a:avLst>
              <a:gd name="adj" fmla="val 3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90</a:t>
            </a:r>
          </a:p>
        </p:txBody>
      </p:sp>
      <p:sp>
        <p:nvSpPr>
          <p:cNvPr id="12" name="TextBox 11"/>
          <p:cNvSpPr txBox="1"/>
          <p:nvPr/>
        </p:nvSpPr>
        <p:spPr>
          <a:xfrm>
            <a:off x="5405018"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Business lessons from prison</a:t>
            </a:r>
          </a:p>
          <a:p>
            <a:pPr algn="l">
              <a:lnSpc>
                <a:spcPct val="100000"/>
              </a:lnSpc>
              <a:spcAft>
                <a:spcPts val="800"/>
              </a:spcAft>
            </a:pPr>
            <a:r>
              <a:rPr sz="1400" b="0">
                <a:solidFill>
                  <a:srgbClr val="5F677A"/>
                </a:solidFill>
                <a:latin typeface="Arial"/>
                <a:ea typeface="Microsoft YaHei"/>
              </a:rPr>
              <a:t>来自监狱的商业启示</a:t>
            </a:r>
          </a:p>
        </p:txBody>
      </p:sp>
      <p:sp>
        <p:nvSpPr>
          <p:cNvPr id="13" name="Rounded Rectangle 12">
            <a:hlinkClick action="ppaction://hlinksldjump" r:id="rId5"/>
          </p:cNvPr>
          <p:cNvSpPr/>
          <p:nvPr/>
        </p:nvSpPr>
        <p:spPr>
          <a:xfrm>
            <a:off x="8066836" y="1554480"/>
            <a:ext cx="3576218" cy="1234440"/>
          </a:xfrm>
          <a:prstGeom prst="roundRect">
            <a:avLst>
              <a:gd name="adj" fmla="val 12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176564" y="1851660"/>
            <a:ext cx="868680" cy="640080"/>
          </a:xfrm>
          <a:prstGeom prst="roundRect">
            <a:avLst>
              <a:gd name="adj" fmla="val 3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91</a:t>
            </a:r>
          </a:p>
        </p:txBody>
      </p:sp>
      <p:sp>
        <p:nvSpPr>
          <p:cNvPr id="15" name="TextBox 14"/>
          <p:cNvSpPr txBox="1"/>
          <p:nvPr/>
        </p:nvSpPr>
        <p:spPr>
          <a:xfrm>
            <a:off x="9164116"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Tycoons invest in metaverse</a:t>
            </a:r>
          </a:p>
          <a:p>
            <a:pPr algn="l">
              <a:lnSpc>
                <a:spcPct val="100000"/>
              </a:lnSpc>
              <a:spcAft>
                <a:spcPts val="800"/>
              </a:spcAft>
            </a:pPr>
            <a:r>
              <a:rPr sz="1400" b="0">
                <a:solidFill>
                  <a:srgbClr val="5F677A"/>
                </a:solidFill>
                <a:latin typeface="Arial"/>
                <a:ea typeface="Microsoft YaHei"/>
              </a:rPr>
              <a:t>大亨投资元宇宙</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20 · Lesson 89 Why companies fail</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4</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89</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Why companies fail</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公司为什么失败</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analyse common reasons why companies fail and discuss prevention using case-study language.</a:t>
            </a:r>
          </a:p>
        </p:txBody>
      </p:sp>
      <p:sp>
        <p:nvSpPr>
          <p:cNvPr id="10" name="Rounded Rectangle 9"/>
          <p:cNvSpPr/>
          <p:nvPr/>
        </p:nvSpPr>
        <p:spPr>
          <a:xfrm>
            <a:off x="822960"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20 · Lesson 89 Why companies fail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Can you think of a famous company that failed?</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Why do established companies sometimes fail?</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warning signs can you see before a collapse?</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Is failure always the leaders’ fault?</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can companies learn from failures?</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“collapse” 倒闭;“go bankrupt” 破产;“fail to adapt” 未能适应。第 1 题请只谈公开的、你确知的事实。</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20 · Lesson 89 Why companies fail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Explain why companies fail, using one example in general terms.</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context</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cause</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warning signs</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lesson</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The main reason was…   💬 They failed to…   💬 In hindsight, they should have…   💬 The lesson is…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“fail to + 动词原形” 未能…;“The lesson is that…” 总结教训。</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Five ways to fail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133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20 · Lesson 89 Why companies fail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100" b="0">
                <a:solidFill>
                  <a:srgbClr val="1F2A44"/>
                </a:solidFill>
                <a:latin typeface="Arial"/>
                <a:ea typeface="Microsoft YaHei"/>
              </a:rPr>
              <a:t>Business historians often identify a handful of patterns behind company failure. The first is complacency: a successful firm assumes that yesterday’s strategy will work tomorrow. The second is failing to respond to changing customer needs or new technology, sometimes because leaders are protecting an existing profitable product. The third is financial: too much debt, poor cash management or growth that outruns income. The fourth is internal, such as weak leadership, conflict, or a culture that discourages bad news. The fifth is external shocks, such as new regulations or economic downturns, which expose weaknesses. Rarely does one factor act alone. The warning signs are often visible well in advance: falling customer satisfaction, rising costs, and employees who stop speaking up. Companies that survive tend to listen early and act before it is too late.</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20 · Lesson 89 Why companies fail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is complacency?</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Assuming yesterday’s strategy will work tomorrow.</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Name two financial reasons for failure.</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Too much debt, poor cash management, growth outrunning income.</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are warning signs?</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Falling customer satisfaction, rising costs, employees who stop speaking up.</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Causes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20 · Lesson 89 Why companies fail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原因</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complacency</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自满</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“Complacency killed the company.”</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fail to adapt</a:t>
            </a:r>
          </a:p>
          <a:p>
            <a:pPr algn="l">
              <a:lnSpc>
                <a:spcPct val="115000"/>
              </a:lnSpc>
              <a:spcAft>
                <a:spcPts val="800"/>
              </a:spcAft>
            </a:pPr>
            <a:r>
              <a:rPr sz="1300" b="0">
                <a:solidFill>
                  <a:srgbClr val="5F677A"/>
                </a:solidFill>
                <a:latin typeface="Arial"/>
                <a:ea typeface="Microsoft YaHei"/>
              </a:rPr>
              <a:t>collocation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未能适应</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“They failed to adapt to change.”</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go bankrupt / go under</a:t>
            </a:r>
          </a:p>
          <a:p>
            <a:pPr algn="l">
              <a:lnSpc>
                <a:spcPct val="115000"/>
              </a:lnSpc>
              <a:spcAft>
                <a:spcPts val="800"/>
              </a:spcAft>
            </a:pPr>
            <a:r>
              <a:rPr sz="1300" b="0">
                <a:solidFill>
                  <a:srgbClr val="5F677A"/>
                </a:solidFill>
                <a:latin typeface="Arial"/>
                <a:ea typeface="Microsoft YaHei"/>
              </a:rPr>
              <a:t>verb</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破产</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firm went bankrupt.”</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be disrupted</a:t>
            </a:r>
          </a:p>
          <a:p>
            <a:pPr algn="l">
              <a:lnSpc>
                <a:spcPct val="115000"/>
              </a:lnSpc>
              <a:spcAft>
                <a:spcPts val="800"/>
              </a:spcAft>
            </a:pPr>
            <a:r>
              <a:rPr sz="1300" b="0">
                <a:solidFill>
                  <a:srgbClr val="5F677A"/>
                </a:solidFill>
                <a:latin typeface="Arial"/>
                <a:ea typeface="Microsoft YaHei"/>
              </a:rPr>
              <a:t>passive</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被颠覆</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industry was disrupted.”</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be out of touch</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与现实脱节</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“Leaders were out of touch.”</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Finance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20 · Lesson 89 Why companies fail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财务</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cash flow problems</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现金流问题</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“Cash flow problems sank the firm.”</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debt</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债务</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“Heavy debt is risky.”</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overexpand</a:t>
            </a:r>
          </a:p>
          <a:p>
            <a:pPr algn="l">
              <a:lnSpc>
                <a:spcPct val="115000"/>
              </a:lnSpc>
              <a:spcAft>
                <a:spcPts val="800"/>
              </a:spcAft>
            </a:pPr>
            <a:r>
              <a:rPr sz="1300" b="0">
                <a:solidFill>
                  <a:srgbClr val="5F677A"/>
                </a:solidFill>
                <a:latin typeface="Arial"/>
                <a:ea typeface="Microsoft YaHei"/>
              </a:rPr>
              <a:t>verb</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过度扩张</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chain overexpanded.”</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burn through cash</a:t>
            </a:r>
          </a:p>
          <a:p>
            <a:pPr algn="l">
              <a:lnSpc>
                <a:spcPct val="115000"/>
              </a:lnSpc>
              <a:spcAft>
                <a:spcPts val="800"/>
              </a:spcAft>
            </a:pPr>
            <a:r>
              <a:rPr sz="1300" b="0">
                <a:solidFill>
                  <a:srgbClr val="5F677A"/>
                </a:solidFill>
                <a:latin typeface="Arial"/>
                <a:ea typeface="Microsoft YaHei"/>
              </a:rPr>
              <a:t>phrase</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快速烧光现金</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“They burned through cash.”</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insolvent</a:t>
            </a:r>
          </a:p>
          <a:p>
            <a:pPr algn="l">
              <a:lnSpc>
                <a:spcPct val="115000"/>
              </a:lnSpc>
              <a:spcAft>
                <a:spcPts val="800"/>
              </a:spcAft>
            </a:pPr>
            <a:r>
              <a:rPr sz="1300" b="0">
                <a:solidFill>
                  <a:srgbClr val="5F677A"/>
                </a:solidFill>
                <a:latin typeface="Arial"/>
                <a:ea typeface="Microsoft YaHei"/>
              </a:rPr>
              <a:t>adjective</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资不抵债的</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firm became insolvent.”</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Lessons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20 · Lesson 89 Why companies fail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教训</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warning signs</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警示信号</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“Ignore warning signs and you pay.”</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listen to customers</a:t>
            </a:r>
          </a:p>
          <a:p>
            <a:pPr algn="l">
              <a:lnSpc>
                <a:spcPct val="115000"/>
              </a:lnSpc>
              <a:spcAft>
                <a:spcPts val="800"/>
              </a:spcAft>
            </a:pPr>
            <a:r>
              <a:rPr sz="1300" b="0">
                <a:solidFill>
                  <a:srgbClr val="5F677A"/>
                </a:solidFill>
                <a:latin typeface="Arial"/>
                <a:ea typeface="Microsoft YaHei"/>
              </a:rPr>
              <a:t>collocation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倾听客户</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“Listen to customers.”</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stay ahead of the curve</a:t>
            </a:r>
          </a:p>
          <a:p>
            <a:pPr algn="l">
              <a:lnSpc>
                <a:spcPct val="115000"/>
              </a:lnSpc>
              <a:spcAft>
                <a:spcPts val="800"/>
              </a:spcAft>
            </a:pPr>
            <a:r>
              <a:rPr sz="1300" b="0">
                <a:solidFill>
                  <a:srgbClr val="5F677A"/>
                </a:solidFill>
                <a:latin typeface="Arial"/>
                <a:ea typeface="Microsoft YaHei"/>
              </a:rPr>
              <a:t>idiom</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保持领先</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“Stay ahead of the curve.”</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resist change</a:t>
            </a:r>
          </a:p>
          <a:p>
            <a:pPr algn="l">
              <a:lnSpc>
                <a:spcPct val="115000"/>
              </a:lnSpc>
              <a:spcAft>
                <a:spcPts val="800"/>
              </a:spcAft>
            </a:pPr>
            <a:r>
              <a:rPr sz="1300" b="0">
                <a:solidFill>
                  <a:srgbClr val="5F677A"/>
                </a:solidFill>
                <a:latin typeface="Arial"/>
                <a:ea typeface="Microsoft YaHei"/>
              </a:rPr>
              <a:t>collocation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抗拒变革</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“They resisted change.”</a:t>
            </a:r>
          </a:p>
        </p:txBody>
      </p:sp>
      <p:sp>
        <p:nvSpPr>
          <p:cNvPr id="29" name="Rounded Rectangle 28"/>
          <p:cNvSpPr/>
          <p:nvPr/>
        </p:nvSpPr>
        <p:spPr>
          <a:xfrm>
            <a:off x="548640" y="42316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the writing was on the wall</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2773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早有征兆</a:t>
            </a:r>
          </a:p>
        </p:txBody>
      </p:sp>
      <p:sp>
        <p:nvSpPr>
          <p:cNvPr id="33" name="TextBox 32"/>
          <p:cNvSpPr txBox="1"/>
          <p:nvPr/>
        </p:nvSpPr>
        <p:spPr>
          <a:xfrm>
            <a:off x="6675120" y="42773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writing was on the wall.”</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20 · Lesson 89 Why companies fail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未能适应</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fail to adapt</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过度扩张</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overexpand</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破产</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go bankrupt / go under</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早有征兆</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the writing was on the wall</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被颠覆</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be disrupted</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与现实脱节</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be out of touch</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快速烧光现金</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burn through cash</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资不抵债的</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insolvent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20 · Lesson 89 Why companies fail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572767"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complacency</a:t>
            </a:r>
          </a:p>
        </p:txBody>
      </p:sp>
      <p:sp>
        <p:nvSpPr>
          <p:cNvPr id="10" name="Rounded Rectangle 9"/>
          <p:cNvSpPr/>
          <p:nvPr/>
        </p:nvSpPr>
        <p:spPr>
          <a:xfrm>
            <a:off x="3675887" y="987552"/>
            <a:ext cx="914400"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adapt</a:t>
            </a:r>
          </a:p>
        </p:txBody>
      </p:sp>
      <p:sp>
        <p:nvSpPr>
          <p:cNvPr id="11" name="Rounded Rectangle 10"/>
          <p:cNvSpPr/>
          <p:nvPr/>
        </p:nvSpPr>
        <p:spPr>
          <a:xfrm>
            <a:off x="4681727" y="987552"/>
            <a:ext cx="1243584"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bankrupt</a:t>
            </a:r>
          </a:p>
        </p:txBody>
      </p:sp>
      <p:sp>
        <p:nvSpPr>
          <p:cNvPr id="12" name="Rounded Rectangle 11"/>
          <p:cNvSpPr/>
          <p:nvPr/>
        </p:nvSpPr>
        <p:spPr>
          <a:xfrm>
            <a:off x="6016751" y="987552"/>
            <a:ext cx="804672"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debt</a:t>
            </a:r>
          </a:p>
        </p:txBody>
      </p:sp>
      <p:sp>
        <p:nvSpPr>
          <p:cNvPr id="13" name="Rounded Rectangle 12"/>
          <p:cNvSpPr/>
          <p:nvPr/>
        </p:nvSpPr>
        <p:spPr>
          <a:xfrm>
            <a:off x="6912863" y="987552"/>
            <a:ext cx="1133856"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warning</a:t>
            </a:r>
          </a:p>
        </p:txBody>
      </p:sp>
      <p:sp>
        <p:nvSpPr>
          <p:cNvPr id="14" name="Rounded Rectangle 13"/>
          <p:cNvSpPr/>
          <p:nvPr/>
        </p:nvSpPr>
        <p:spPr>
          <a:xfrm>
            <a:off x="8138159" y="987552"/>
            <a:ext cx="914400"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curve</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_______ is dangerous after success.</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Complacency</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Many firms fail to _______ to new technology.</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adapt</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The company went _______ last year.</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bankrupt</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Heavy _______ made the firm fragile.</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debt</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Ignoring _______ signs is risky.</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warning</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Stay ahead of the _______.</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curve</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(搭配) go bankrupt,fail TO adapt,adapt TO change;bankruptcy(名词)。</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Role Play · Analysing a failure case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20 · Lesson 89 Why companies fail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分析失败案例</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Two colleagues discuss a business school case.</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Colleague 1</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Colleague 2</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700" b="1">
                <a:solidFill>
                  <a:srgbClr val="1F2A44"/>
                </a:solidFill>
                <a:latin typeface="Arial"/>
                <a:ea typeface="Microsoft YaHei"/>
              </a:rPr>
              <a:t>🎭 Model Dialogue · Analysing a failure case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20 · Lesson 89 Why companies fail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Why did the company in this case collapse?</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 main reason was that it failed to adapt when customers moved online.</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Were there warning signs?</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Sales had been falling for years, but leaders ignored them.</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Model Dialogue · Analysing a failure case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20 · Lesson 89 Why companies fail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should they have done?</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They should have listened to customers and invested in digital earlier.</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So complacency was the root cause.</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Exactly. Success made them comfortable.</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Your Turn · Analysing a failure case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20 · Lesson 89 Why companies fail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analyse a failure case.</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Analyst.</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Analyst. Case: ______________</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main reason · failed to adapt · warning signs · should have · root cause</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Give causes, signs and lessons.</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Compare with a success case.</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Discuss leadership.</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Estimate what could have been done.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Role Play · Preventing failure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20 · Lesson 89 Why companies fail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预防失败</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board member asks questions.</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Board member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CEO</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100" b="1">
                <a:solidFill>
                  <a:srgbClr val="1F2A44"/>
                </a:solidFill>
                <a:latin typeface="Arial"/>
                <a:ea typeface="Microsoft YaHei"/>
              </a:rPr>
              <a:t>🎭 Model Dialogue · Preventing failure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1/1</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20 · Lesson 89 Why companies fail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are our biggest risks?</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Cash flow, and a customer base that’s ageing.</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How are we responding?</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We’ve reduced debt and launched a product for younger customers.</a:t>
            </a:r>
          </a:p>
        </p:txBody>
      </p:sp>
      <p:sp>
        <p:nvSpPr>
          <p:cNvPr id="20" name="Rounded Rectangle 19"/>
          <p:cNvSpPr/>
          <p:nvPr/>
        </p:nvSpPr>
        <p:spPr>
          <a:xfrm>
            <a:off x="548640" y="365455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09346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65455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early warning signs are you monitoring?</a:t>
            </a:r>
          </a:p>
        </p:txBody>
      </p:sp>
      <p:sp>
        <p:nvSpPr>
          <p:cNvPr id="23" name="Rounded Rectangle 22"/>
          <p:cNvSpPr/>
          <p:nvPr/>
        </p:nvSpPr>
        <p:spPr>
          <a:xfrm>
            <a:off x="10911535" y="423672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467563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23672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Customer satisfaction, cash balance and staff turnover.</a:t>
            </a:r>
          </a:p>
        </p:txBody>
      </p:sp>
      <p:sp>
        <p:nvSpPr>
          <p:cNvPr id="26" name="Rounded Rectangle 25"/>
          <p:cNvSpPr/>
          <p:nvPr/>
        </p:nvSpPr>
        <p:spPr>
          <a:xfrm>
            <a:off x="548640" y="481888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7" name="TextBox 26"/>
          <p:cNvSpPr txBox="1"/>
          <p:nvPr/>
        </p:nvSpPr>
        <p:spPr>
          <a:xfrm>
            <a:off x="274320" y="525780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8" name="Rounded Rectangle 27"/>
          <p:cNvSpPr/>
          <p:nvPr/>
        </p:nvSpPr>
        <p:spPr>
          <a:xfrm>
            <a:off x="1463040" y="4818888"/>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Update us monthly.</a:t>
            </a:r>
          </a:p>
        </p:txBody>
      </p:sp>
      <p:sp>
        <p:nvSpPr>
          <p:cNvPr id="29" name="Rounded Rectangle 28"/>
          <p:cNvSpPr/>
          <p:nvPr/>
        </p:nvSpPr>
        <p:spPr>
          <a:xfrm>
            <a:off x="10911535" y="540105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30" name="TextBox 29"/>
          <p:cNvSpPr txBox="1"/>
          <p:nvPr/>
        </p:nvSpPr>
        <p:spPr>
          <a:xfrm>
            <a:off x="10637215" y="583996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31" name="Rounded Rectangle 30"/>
          <p:cNvSpPr/>
          <p:nvPr/>
        </p:nvSpPr>
        <p:spPr>
          <a:xfrm>
            <a:off x="2133295" y="540105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Will do.</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Your Turn · Preventing failure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20 · Lesson 89 Why companies fail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report risks.</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Board member.</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CEO. Business: ______________</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biggest risks · responding · early warning signs · monitoring · update</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Report risks, actions and indicators.</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Add a worst-case scenario.</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Mention external risks.</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Suggest an annual review.</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20 · Lesson 89 Why companies fail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is the most common reason companies fail?</a:t>
            </a:r>
          </a:p>
          <a:p>
            <a:pPr algn="l">
              <a:lnSpc>
                <a:spcPct val="115000"/>
              </a:lnSpc>
              <a:spcAft>
                <a:spcPts val="800"/>
              </a:spcAft>
            </a:pPr>
            <a:r>
              <a:rPr sz="1400" b="0">
                <a:solidFill>
                  <a:srgbClr val="5F677A"/>
                </a:solidFill>
                <a:latin typeface="Arial"/>
                <a:ea typeface="Microsoft YaHei"/>
              </a:rPr>
              <a:t>💬 “I think it’s…”</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Can failure be predicted?</a:t>
            </a:r>
          </a:p>
          <a:p>
            <a:pPr algn="l">
              <a:lnSpc>
                <a:spcPct val="115000"/>
              </a:lnSpc>
              <a:spcAft>
                <a:spcPts val="800"/>
              </a:spcAft>
            </a:pPr>
            <a:r>
              <a:rPr sz="1400" b="0">
                <a:solidFill>
                  <a:srgbClr val="5F677A"/>
                </a:solidFill>
                <a:latin typeface="Arial"/>
                <a:ea typeface="Microsoft YaHei"/>
              </a:rPr>
              <a:t>💬 “To some extent, …”</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Do big companies fail more slowly?</a:t>
            </a:r>
          </a:p>
          <a:p>
            <a:pPr algn="l">
              <a:lnSpc>
                <a:spcPct val="115000"/>
              </a:lnSpc>
              <a:spcAft>
                <a:spcPts val="800"/>
              </a:spcAft>
            </a:pPr>
            <a:r>
              <a:rPr sz="1400" b="0">
                <a:solidFill>
                  <a:srgbClr val="5F677A"/>
                </a:solidFill>
                <a:latin typeface="Arial"/>
                <a:ea typeface="Microsoft YaHei"/>
              </a:rPr>
              <a:t>💬 “Often, since…”</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failed founders get a second chance?</a:t>
            </a:r>
          </a:p>
          <a:p>
            <a:pPr algn="l">
              <a:lnSpc>
                <a:spcPct val="115000"/>
              </a:lnSpc>
              <a:spcAft>
                <a:spcPts val="800"/>
              </a:spcAft>
            </a:pPr>
            <a:r>
              <a:rPr sz="1400" b="0">
                <a:solidFill>
                  <a:srgbClr val="5F677A"/>
                </a:solidFill>
                <a:latin typeface="Arial"/>
                <a:ea typeface="Microsoft YaHei"/>
              </a:rPr>
              <a:t>💬 “I believe so, because…”</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lesson from failure applies to your company?</a:t>
            </a:r>
          </a:p>
          <a:p>
            <a:pPr algn="l">
              <a:lnSpc>
                <a:spcPct val="115000"/>
              </a:lnSpc>
              <a:spcAft>
                <a:spcPts val="800"/>
              </a:spcAft>
            </a:pPr>
            <a:r>
              <a:rPr sz="1400" b="0">
                <a:solidFill>
                  <a:srgbClr val="5F677A"/>
                </a:solidFill>
                <a:latin typeface="Arial"/>
                <a:ea typeface="Microsoft YaHei"/>
              </a:rPr>
              <a:t>💬 “We could learn…”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20 · Lesson 89 Why companies fail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1)</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 think the most common reason is failing to adapt. Markets and customers change, but successful companies get comfortable and keep doing what worked before. Sometimes they even ignore customers who tell them things are changing. The companies that survive stay curious and are ready to challenge their own success.</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“challenge their own success” 质疑自己的成功经验。</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Analysing causes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20 · Lesson 89 Why companies fail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分析原因</a:t>
            </a:r>
          </a:p>
        </p:txBody>
      </p:sp>
      <p:graphicFrame>
        <p:nvGraphicFramePr>
          <p:cNvPr id="9" name="Table 8"/>
          <p:cNvGraphicFramePr>
            <a:graphicFrameLocks noGrp="1"/>
          </p:cNvGraphicFramePr>
          <p:nvPr/>
        </p:nvGraphicFramePr>
        <p:xfrm>
          <a:off x="548640" y="1417320"/>
          <a:ext cx="11094415" cy="204216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Structure</a:t>
                      </a:r>
                    </a:p>
                  </a:txBody>
                  <a:tcPr anchor="ctr">
                    <a:solidFill>
                      <a:srgbClr val="3CC49A"/>
                    </a:solidFill>
                  </a:tcPr>
                </a:tc>
                <a:tc>
                  <a:txBody>
                    <a:bodyPr wrap="square"/>
                    <a:lstStyle/>
                    <a:p>
                      <a:r>
                        <a:rPr sz="1600" b="1">
                          <a:solidFill>
                            <a:srgbClr val="FFFFFF"/>
                          </a:solidFill>
                          <a:latin typeface="Arial"/>
                          <a:ea typeface="Microsoft YaHei"/>
                        </a:rPr>
                        <a:t>Example</a:t>
                      </a:r>
                    </a:p>
                  </a:txBody>
                  <a:tcPr anchor="ctr">
                    <a:solidFill>
                      <a:srgbClr val="3CC49A"/>
                    </a:solidFill>
                  </a:tcPr>
                </a:tc>
              </a:tr>
              <a:tr h="408432">
                <a:tc>
                  <a:txBody>
                    <a:bodyPr wrap="square"/>
                    <a:lstStyle/>
                    <a:p>
                      <a:r>
                        <a:rPr sz="1600" b="1">
                          <a:solidFill>
                            <a:srgbClr val="1F2A44"/>
                          </a:solidFill>
                          <a:latin typeface="Arial"/>
                          <a:ea typeface="Microsoft YaHei"/>
                        </a:rPr>
                        <a:t>The main reason was…</a:t>
                      </a:r>
                    </a:p>
                  </a:txBody>
                  <a:tcPr anchor="ctr">
                    <a:solidFill>
                      <a:srgbClr val="FFFFFF"/>
                    </a:solidFill>
                  </a:tcPr>
                </a:tc>
                <a:tc>
                  <a:txBody>
                    <a:bodyPr wrap="square"/>
                    <a:lstStyle/>
                    <a:p>
                      <a:r>
                        <a:rPr sz="1600" b="0">
                          <a:solidFill>
                            <a:srgbClr val="1F2A44"/>
                          </a:solidFill>
                          <a:latin typeface="Arial"/>
                          <a:ea typeface="Microsoft YaHei"/>
                        </a:rPr>
                        <a:t>The main reason was complacency.</a:t>
                      </a:r>
                    </a:p>
                  </a:txBody>
                  <a:tcPr anchor="ctr">
                    <a:solidFill>
                      <a:srgbClr val="FFFFFF"/>
                    </a:solidFill>
                  </a:tcPr>
                </a:tc>
              </a:tr>
              <a:tr h="408432">
                <a:tc>
                  <a:txBody>
                    <a:bodyPr wrap="square"/>
                    <a:lstStyle/>
                    <a:p>
                      <a:r>
                        <a:rPr sz="1600" b="1">
                          <a:solidFill>
                            <a:srgbClr val="1F2A44"/>
                          </a:solidFill>
                          <a:latin typeface="Arial"/>
                          <a:ea typeface="Microsoft YaHei"/>
                        </a:rPr>
                        <a:t>…led to…</a:t>
                      </a:r>
                    </a:p>
                  </a:txBody>
                  <a:tcPr anchor="ctr">
                    <a:solidFill>
                      <a:srgbClr val="FFEFD9"/>
                    </a:solidFill>
                  </a:tcPr>
                </a:tc>
                <a:tc>
                  <a:txBody>
                    <a:bodyPr wrap="square"/>
                    <a:lstStyle/>
                    <a:p>
                      <a:r>
                        <a:rPr sz="1600" b="0">
                          <a:solidFill>
                            <a:srgbClr val="1F2A44"/>
                          </a:solidFill>
                          <a:latin typeface="Arial"/>
                          <a:ea typeface="Microsoft YaHei"/>
                        </a:rPr>
                        <a:t>Weak leadership led to poor decisions.</a:t>
                      </a:r>
                    </a:p>
                  </a:txBody>
                  <a:tcPr anchor="ctr">
                    <a:solidFill>
                      <a:srgbClr val="FFEFD9"/>
                    </a:solidFill>
                  </a:tcPr>
                </a:tc>
              </a:tr>
              <a:tr h="408432">
                <a:tc>
                  <a:txBody>
                    <a:bodyPr wrap="square"/>
                    <a:lstStyle/>
                    <a:p>
                      <a:r>
                        <a:rPr sz="1600" b="1">
                          <a:solidFill>
                            <a:srgbClr val="1F2A44"/>
                          </a:solidFill>
                          <a:latin typeface="Arial"/>
                          <a:ea typeface="Microsoft YaHei"/>
                        </a:rPr>
                        <a:t>…failed to…</a:t>
                      </a:r>
                    </a:p>
                  </a:txBody>
                  <a:tcPr anchor="ctr">
                    <a:solidFill>
                      <a:srgbClr val="FFFFFF"/>
                    </a:solidFill>
                  </a:tcPr>
                </a:tc>
                <a:tc>
                  <a:txBody>
                    <a:bodyPr wrap="square"/>
                    <a:lstStyle/>
                    <a:p>
                      <a:r>
                        <a:rPr sz="1600" b="0">
                          <a:solidFill>
                            <a:srgbClr val="1F2A44"/>
                          </a:solidFill>
                          <a:latin typeface="Arial"/>
                          <a:ea typeface="Microsoft YaHei"/>
                        </a:rPr>
                        <a:t>They failed to adapt.</a:t>
                      </a:r>
                    </a:p>
                  </a:txBody>
                  <a:tcPr anchor="ctr">
                    <a:solidFill>
                      <a:srgbClr val="FFFFFF"/>
                    </a:solidFill>
                  </a:tcPr>
                </a:tc>
              </a:tr>
              <a:tr h="408432">
                <a:tc>
                  <a:txBody>
                    <a:bodyPr wrap="square"/>
                    <a:lstStyle/>
                    <a:p>
                      <a:r>
                        <a:rPr sz="1600" b="1">
                          <a:solidFill>
                            <a:srgbClr val="1F2A44"/>
                          </a:solidFill>
                          <a:latin typeface="Arial"/>
                          <a:ea typeface="Microsoft YaHei"/>
                        </a:rPr>
                        <a:t>They should have + p.p.</a:t>
                      </a:r>
                    </a:p>
                  </a:txBody>
                  <a:tcPr anchor="ctr">
                    <a:solidFill>
                      <a:srgbClr val="FFEFD9"/>
                    </a:solidFill>
                  </a:tcPr>
                </a:tc>
                <a:tc>
                  <a:txBody>
                    <a:bodyPr wrap="square"/>
                    <a:lstStyle/>
                    <a:p>
                      <a:r>
                        <a:rPr sz="1600" b="0">
                          <a:solidFill>
                            <a:srgbClr val="1F2A44"/>
                          </a:solidFill>
                          <a:latin typeface="Arial"/>
                          <a:ea typeface="Microsoft YaHei"/>
                        </a:rPr>
                        <a:t>They should have listened.</a:t>
                      </a:r>
                    </a:p>
                  </a:txBody>
                  <a:tcPr anchor="ctr">
                    <a:solidFill>
                      <a:srgbClr val="FFEFD9"/>
                    </a:solidFill>
                  </a:tcPr>
                </a:tc>
              </a:tr>
            </a:tbl>
          </a:graphicData>
        </a:graphic>
      </p:graphicFrame>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Analysing causes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20 · Lesson 89 Why companies fail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分析原因</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0">
                <a:solidFill>
                  <a:srgbClr val="1F2A44"/>
                </a:solidFill>
                <a:latin typeface="Arial"/>
                <a:ea typeface="Microsoft YaHei"/>
              </a:rPr>
              <a:t>Use past simple for the case and should have for lessons; present simple for general truths: Success breeds complacency.</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20 · Lesson 89 Why companies fail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company was failed.</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company failed.</a:t>
            </a:r>
          </a:p>
          <a:p>
            <a:pPr algn="l">
              <a:spcAft>
                <a:spcPts val="200"/>
              </a:spcAft>
            </a:pPr>
            <a:r>
              <a:rPr sz="1200" b="0">
                <a:solidFill>
                  <a:srgbClr val="FFFFFF"/>
                </a:solidFill>
                <a:latin typeface="Arial"/>
                <a:ea typeface="Microsoft YaHei"/>
              </a:rPr>
              <a:t>fail 不及物</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They didn’t adapted.</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They didn’t adapt.</a:t>
            </a:r>
          </a:p>
          <a:p>
            <a:pPr algn="l">
              <a:spcAft>
                <a:spcPts val="200"/>
              </a:spcAft>
            </a:pPr>
            <a:r>
              <a:rPr sz="1200" b="0">
                <a:solidFill>
                  <a:srgbClr val="FFFFFF"/>
                </a:solidFill>
                <a:latin typeface="Arial"/>
                <a:ea typeface="Microsoft YaHei"/>
              </a:rPr>
              <a:t>didn’t + 原形</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reason is because they ignored customers.</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reason was that they ignored customers.</a:t>
            </a:r>
          </a:p>
          <a:p>
            <a:pPr algn="l">
              <a:spcAft>
                <a:spcPts val="200"/>
              </a:spcAft>
            </a:pPr>
            <a:r>
              <a:rPr sz="1200" b="0">
                <a:solidFill>
                  <a:srgbClr val="FFFFFF"/>
                </a:solidFill>
                <a:latin typeface="Arial"/>
                <a:ea typeface="Microsoft YaHei"/>
              </a:rPr>
              <a:t>reason… that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20 · Lesson 89 Why companies fail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company went to bankrupt.</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company went bankrupt.</a:t>
            </a:r>
          </a:p>
          <a:p>
            <a:pPr algn="l">
              <a:spcAft>
                <a:spcPts val="200"/>
              </a:spcAft>
            </a:pPr>
            <a:r>
              <a:rPr sz="1200" b="0">
                <a:solidFill>
                  <a:srgbClr val="FFFFFF"/>
                </a:solidFill>
                <a:latin typeface="Arial"/>
                <a:ea typeface="Microsoft YaHei"/>
              </a:rPr>
              <a:t>go bankrupt</a:t>
            </a:r>
          </a:p>
        </p:txBody>
      </p:sp>
      <p:sp>
        <p:nvSpPr>
          <p:cNvPr id="11" name="Rounded Rectangle 10"/>
          <p:cNvSpPr/>
          <p:nvPr/>
        </p:nvSpPr>
        <p:spPr>
          <a:xfrm>
            <a:off x="548640" y="2164079"/>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Last year they should listen to customers.</a:t>
            </a:r>
          </a:p>
        </p:txBody>
      </p:sp>
      <p:sp>
        <p:nvSpPr>
          <p:cNvPr id="12" name="Rounded Rectangle 11"/>
          <p:cNvSpPr/>
          <p:nvPr/>
        </p:nvSpPr>
        <p:spPr>
          <a:xfrm>
            <a:off x="6187287" y="2164079"/>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Last year they should have listened to customers.</a:t>
            </a:r>
          </a:p>
          <a:p>
            <a:pPr algn="l">
              <a:spcAft>
                <a:spcPts val="200"/>
              </a:spcAft>
            </a:pPr>
            <a:r>
              <a:rPr sz="1200" b="0">
                <a:solidFill>
                  <a:srgbClr val="FFFFFF"/>
                </a:solidFill>
                <a:latin typeface="Arial"/>
                <a:ea typeface="Microsoft YaHei"/>
              </a:rPr>
              <a:t>过去的遗憾用 should have + p.p.</a:t>
            </a:r>
          </a:p>
        </p:txBody>
      </p:sp>
      <p:sp>
        <p:nvSpPr>
          <p:cNvPr id="13" name="Rounded Rectangle 12"/>
          <p:cNvSpPr/>
          <p:nvPr/>
        </p:nvSpPr>
        <p:spPr>
          <a:xfrm>
            <a:off x="548640" y="310895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There were many warnings signs.</a:t>
            </a:r>
          </a:p>
        </p:txBody>
      </p:sp>
      <p:sp>
        <p:nvSpPr>
          <p:cNvPr id="14" name="Rounded Rectangle 13"/>
          <p:cNvSpPr/>
          <p:nvPr/>
        </p:nvSpPr>
        <p:spPr>
          <a:xfrm>
            <a:off x="6187287" y="310895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There were many warning signs.</a:t>
            </a:r>
          </a:p>
          <a:p>
            <a:pPr algn="l">
              <a:spcAft>
                <a:spcPts val="200"/>
              </a:spcAft>
            </a:pPr>
            <a:r>
              <a:rPr sz="1200" b="0">
                <a:solidFill>
                  <a:srgbClr val="FFFFFF"/>
                </a:solidFill>
                <a:latin typeface="Arial"/>
                <a:ea typeface="Microsoft YaHei"/>
              </a:rPr>
              <a:t>名词修饰用单数</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fail (intransitive), didn’t + base, the reason was that, warning signs.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20 · Lesson 89 Why companies fail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Case studies are common in business schools; practise structured analysis.</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0">
                <a:solidFill>
                  <a:srgbClr val="1F2A44"/>
                </a:solidFill>
                <a:latin typeface="Arial"/>
                <a:ea typeface="Microsoft YaHei"/>
              </a:rPr>
              <a:t>Avoid blame in discussion. Focus on decisions and systems.</a:t>
            </a:r>
          </a:p>
        </p:txBody>
      </p:sp>
      <p:sp>
        <p:nvSpPr>
          <p:cNvPr id="15" name="Rounded Rectangle 14"/>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441959"/>
          </a:xfrm>
          <a:prstGeom prst="rect">
            <a:avLst/>
          </a:prstGeom>
          <a:noFill/>
        </p:spPr>
        <p:txBody>
          <a:bodyPr wrap="square" anchor="ctr">
            <a:spAutoFit/>
          </a:bodyPr>
          <a:lstStyle/>
          <a:p>
            <a:r>
              <a:rPr sz="1700" b="0">
                <a:solidFill>
                  <a:srgbClr val="1F2A44"/>
                </a:solidFill>
                <a:latin typeface="Arial"/>
                <a:ea typeface="Microsoft YaHei"/>
              </a:rPr>
              <a:t>Learn from failure openly. Many founders write about their failures.</a:t>
            </a:r>
          </a:p>
        </p:txBody>
      </p:sp>
      <p:sp>
        <p:nvSpPr>
          <p:cNvPr id="18" name="Rounded Rectangle 17"/>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017517"/>
            <a:ext cx="10728655" cy="441959"/>
          </a:xfrm>
          <a:prstGeom prst="rect">
            <a:avLst/>
          </a:prstGeom>
          <a:noFill/>
        </p:spPr>
        <p:txBody>
          <a:bodyPr wrap="square" anchor="ctr">
            <a:spAutoFit/>
          </a:bodyPr>
          <a:lstStyle/>
          <a:p>
            <a:r>
              <a:rPr sz="1700" b="0">
                <a:solidFill>
                  <a:srgbClr val="1F2A44"/>
                </a:solidFill>
                <a:latin typeface="Arial"/>
                <a:ea typeface="Microsoft YaHei"/>
              </a:rPr>
              <a:t>Use accurate facts. If unsure, say “As far as I know…”.</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89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20 · Lesson 89 Why companies fail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explain common reasons for company failure.</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analyse a case with the main reason was…</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suggest lessons with should have.</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use fail (intransitive), go bankrupt and warning signs correctly.</a:t>
            </a:r>
          </a:p>
        </p:txBody>
      </p:sp>
      <p:sp>
        <p:nvSpPr>
          <p:cNvPr id="24" name="TextBox 23"/>
          <p:cNvSpPr txBox="1"/>
          <p:nvPr/>
        </p:nvSpPr>
        <p:spPr>
          <a:xfrm>
            <a:off x="9539935" y="3300984"/>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2031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2031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2031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from this lesson in my own sentences.</a:t>
            </a:r>
          </a:p>
        </p:txBody>
      </p:sp>
      <p:sp>
        <p:nvSpPr>
          <p:cNvPr id="28" name="TextBox 27"/>
          <p:cNvSpPr txBox="1"/>
          <p:nvPr/>
        </p:nvSpPr>
        <p:spPr>
          <a:xfrm>
            <a:off x="9539935" y="42031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20 · Lesson 89 Why companies fail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Analyse a business failure in 90 seconds.</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fail intransitive, the reason was that, warning signs.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20 · Lesson 90 Business lessons from prison</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30</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90</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300" b="1">
                <a:solidFill>
                  <a:srgbClr val="FFFFFF"/>
                </a:solidFill>
                <a:latin typeface="Arial"/>
                <a:ea typeface="Microsoft YaHei"/>
              </a:rPr>
              <a:t>Business lessons from prison</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来自监狱的商业启示</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1900" b="0">
                <a:solidFill>
                  <a:srgbClr val="FFC857"/>
                </a:solidFill>
                <a:latin typeface="Arial"/>
                <a:ea typeface="Microsoft YaHei"/>
              </a:rPr>
              <a:t>🎯 discuss what business can learn from people who have served prison sentences (second chances, discipline, teamwork) and talk about fair hiring of people with records.</a:t>
            </a:r>
          </a:p>
        </p:txBody>
      </p:sp>
      <p:sp>
        <p:nvSpPr>
          <p:cNvPr id="10" name="Rounded Rectangle 9"/>
          <p:cNvSpPr/>
          <p:nvPr/>
        </p:nvSpPr>
        <p:spPr>
          <a:xfrm>
            <a:off x="822960"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20 · Lesson 90 Business lessons from prison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78307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96011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96011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Should people with criminal records get a second chance in employment?</a:t>
            </a:r>
          </a:p>
        </p:txBody>
      </p:sp>
      <p:sp>
        <p:nvSpPr>
          <p:cNvPr id="12" name="Oval 11"/>
          <p:cNvSpPr/>
          <p:nvPr/>
        </p:nvSpPr>
        <p:spPr>
          <a:xfrm>
            <a:off x="548640" y="267004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62432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62432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skills might someone develop in prison?</a:t>
            </a:r>
          </a:p>
        </p:txBody>
      </p:sp>
      <p:sp>
        <p:nvSpPr>
          <p:cNvPr id="15" name="Oval 14"/>
          <p:cNvSpPr/>
          <p:nvPr/>
        </p:nvSpPr>
        <p:spPr>
          <a:xfrm>
            <a:off x="548640" y="337413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32841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32841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Would you hire someone with a record?</a:t>
            </a:r>
          </a:p>
        </p:txBody>
      </p:sp>
      <p:sp>
        <p:nvSpPr>
          <p:cNvPr id="18" name="Oval 17"/>
          <p:cNvSpPr/>
          <p:nvPr/>
        </p:nvSpPr>
        <p:spPr>
          <a:xfrm>
            <a:off x="548640" y="407822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403250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403250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can businesses support reintegration?</a:t>
            </a:r>
          </a:p>
        </p:txBody>
      </p:sp>
      <p:sp>
        <p:nvSpPr>
          <p:cNvPr id="21" name="Oval 20"/>
          <p:cNvSpPr/>
          <p:nvPr/>
        </p:nvSpPr>
        <p:spPr>
          <a:xfrm>
            <a:off x="548640" y="478230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73658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73658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lessons about resilience can we learn?</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本课讨论”第二次机会”与再就业,语气要尊重。“ex-offender” 前科人员;“reintegration” 重返社会。</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20 · Lesson 90 Business lessons from prison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Discuss whether and how companies should give second chances.</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the issue</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benefits</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concerns</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how to do it well</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Many people who have served sentences…   💬 Employers worry that…   💬 Evidence suggests…   💬 A fair approach would be to…</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“serve a sentence” 服刑;“Evidence suggests that…” 证据表明。</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A second chance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136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20 · Lesson 90 Business lessons from prison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100" b="0">
                <a:solidFill>
                  <a:srgbClr val="1F2A44"/>
                </a:solidFill>
                <a:latin typeface="Arial"/>
                <a:ea typeface="Microsoft YaHei"/>
              </a:rPr>
              <a:t>Every year, many people leave prison and look for work. Employment is one of the strongest factors in staying out of trouble, yet a criminal record can make it very hard to be hired. Some employers worry about risk, but others have found that people who have served sentences can be loyal, hardworking employees, especially when they are given structure and support. Some programmes teach prisoners business and technical skills before release, while mentors help with the transition. Many ex-prisoners say they learned discipline, teamwork and resilience, and that they value an opportunity to prove themselves. Companies can adopt “fair chance” hiring by delaying questions about records until later in the process and by assessing each case individually. This does not mean ignoring safety. It means looking at the role, the offence and the person’s progress.</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20 · Lesson 90 Business lessons from prison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Why is employment important after prison?</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It is one of the strongest factors in staying out of trouble.</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skills do some ex-prisoners say they gained?</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Discipline, teamwork and resilience.</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is “fair chance” hiring?</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Delaying questions about records and assessing each case individually.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Records and reintegration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20 · Lesson 90 Business lessons from prison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前科与回归社会</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criminal record</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犯罪记录</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 has a criminal record.”</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serve a sentence</a:t>
            </a:r>
          </a:p>
          <a:p>
            <a:pPr algn="l">
              <a:lnSpc>
                <a:spcPct val="115000"/>
              </a:lnSpc>
              <a:spcAft>
                <a:spcPts val="800"/>
              </a:spcAft>
            </a:pPr>
            <a:r>
              <a:rPr sz="1300" b="0">
                <a:solidFill>
                  <a:srgbClr val="5F677A"/>
                </a:solidFill>
                <a:latin typeface="Arial"/>
                <a:ea typeface="Microsoft YaHei"/>
              </a:rPr>
              <a:t>collocation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服刑</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served her sentence.”</a:t>
            </a:r>
          </a:p>
        </p:txBody>
      </p:sp>
      <p:sp>
        <p:nvSpPr>
          <p:cNvPr id="19" name="Rounded Rectangle 18"/>
          <p:cNvSpPr/>
          <p:nvPr/>
        </p:nvSpPr>
        <p:spPr>
          <a:xfrm>
            <a:off x="548640" y="28244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9352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reintegrate / reintegration</a:t>
            </a:r>
          </a:p>
          <a:p>
            <a:pPr algn="l">
              <a:lnSpc>
                <a:spcPct val="115000"/>
              </a:lnSpc>
              <a:spcAft>
                <a:spcPts val="800"/>
              </a:spcAft>
            </a:pPr>
            <a:r>
              <a:rPr sz="1300" b="0">
                <a:solidFill>
                  <a:srgbClr val="5F677A"/>
                </a:solidFill>
                <a:latin typeface="Arial"/>
                <a:ea typeface="Microsoft YaHei"/>
              </a:rPr>
              <a:t>verb/noun</a:t>
            </a:r>
          </a:p>
        </p:txBody>
      </p:sp>
      <p:sp>
        <p:nvSpPr>
          <p:cNvPr id="22" name="TextBox 21"/>
          <p:cNvSpPr txBox="1"/>
          <p:nvPr/>
        </p:nvSpPr>
        <p:spPr>
          <a:xfrm>
            <a:off x="4206240" y="28702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重返社会</a:t>
            </a:r>
          </a:p>
        </p:txBody>
      </p:sp>
      <p:sp>
        <p:nvSpPr>
          <p:cNvPr id="23" name="TextBox 22"/>
          <p:cNvSpPr txBox="1"/>
          <p:nvPr/>
        </p:nvSpPr>
        <p:spPr>
          <a:xfrm>
            <a:off x="6675120" y="28702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“Work helps reintegration.”</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ex-offender</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刑满释放人员</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“Ex-offenders face barriers.”</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ban the box</a:t>
            </a:r>
          </a:p>
          <a:p>
            <a:pPr algn="l">
              <a:lnSpc>
                <a:spcPct val="115000"/>
              </a:lnSpc>
              <a:spcAft>
                <a:spcPts val="800"/>
              </a:spcAft>
            </a:pPr>
            <a:r>
              <a:rPr sz="1300" b="0">
                <a:solidFill>
                  <a:srgbClr val="5F677A"/>
                </a:solidFill>
                <a:latin typeface="Arial"/>
                <a:ea typeface="Microsoft YaHei"/>
              </a:rPr>
              <a:t>phrase</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取消简历上的前科勾选项</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“Many cities ban the box.”</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Second chances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20 · Lesson 90 Business lessons from prison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第二次机会</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give someone a second chance</a:t>
            </a:r>
          </a:p>
          <a:p>
            <a:pPr algn="l">
              <a:lnSpc>
                <a:spcPct val="115000"/>
              </a:lnSpc>
              <a:spcAft>
                <a:spcPts val="800"/>
              </a:spcAft>
            </a:pPr>
            <a:r>
              <a:rPr sz="1300" b="0">
                <a:solidFill>
                  <a:srgbClr val="5F677A"/>
                </a:solidFill>
                <a:latin typeface="Arial"/>
                <a:ea typeface="Microsoft YaHei"/>
              </a:rPr>
              <a:t>collocation</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给人第二次机会</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“Give people a second chance.”</a:t>
            </a:r>
          </a:p>
        </p:txBody>
      </p:sp>
      <p:sp>
        <p:nvSpPr>
          <p:cNvPr id="14" name="Rounded Rectangle 13"/>
          <p:cNvSpPr/>
          <p:nvPr/>
        </p:nvSpPr>
        <p:spPr>
          <a:xfrm>
            <a:off x="548640" y="24257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turn your life around</a:t>
            </a:r>
          </a:p>
          <a:p>
            <a:pPr algn="l">
              <a:lnSpc>
                <a:spcPct val="115000"/>
              </a:lnSpc>
              <a:spcAft>
                <a:spcPts val="800"/>
              </a:spcAft>
            </a:pPr>
            <a:r>
              <a:rPr sz="1300" b="0">
                <a:solidFill>
                  <a:srgbClr val="5F677A"/>
                </a:solidFill>
                <a:latin typeface="Arial"/>
                <a:ea typeface="Microsoft YaHei"/>
              </a:rPr>
              <a:t>idiom</a:t>
            </a:r>
          </a:p>
        </p:txBody>
      </p:sp>
      <p:sp>
        <p:nvSpPr>
          <p:cNvPr id="17" name="TextBox 16"/>
          <p:cNvSpPr txBox="1"/>
          <p:nvPr/>
        </p:nvSpPr>
        <p:spPr>
          <a:xfrm>
            <a:off x="4206240" y="24714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重新做人</a:t>
            </a:r>
          </a:p>
        </p:txBody>
      </p:sp>
      <p:sp>
        <p:nvSpPr>
          <p:cNvPr id="18" name="TextBox 17"/>
          <p:cNvSpPr txBox="1"/>
          <p:nvPr/>
        </p:nvSpPr>
        <p:spPr>
          <a:xfrm>
            <a:off x="6675120" y="24714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 turned his life around.”</a:t>
            </a:r>
          </a:p>
        </p:txBody>
      </p:sp>
      <p:sp>
        <p:nvSpPr>
          <p:cNvPr id="19" name="Rounded Rectangle 18"/>
          <p:cNvSpPr/>
          <p:nvPr/>
        </p:nvSpPr>
        <p:spPr>
          <a:xfrm>
            <a:off x="548640" y="31292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rehabilitation</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31750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改造/康复</a:t>
            </a:r>
          </a:p>
        </p:txBody>
      </p:sp>
      <p:sp>
        <p:nvSpPr>
          <p:cNvPr id="23" name="TextBox 22"/>
          <p:cNvSpPr txBox="1"/>
          <p:nvPr/>
        </p:nvSpPr>
        <p:spPr>
          <a:xfrm>
            <a:off x="6675120" y="31750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“Rehabilitation takes support.”</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prove yourself</a:t>
            </a:r>
          </a:p>
          <a:p>
            <a:pPr algn="l">
              <a:lnSpc>
                <a:spcPct val="115000"/>
              </a:lnSpc>
              <a:spcAft>
                <a:spcPts val="800"/>
              </a:spcAft>
            </a:pPr>
            <a:r>
              <a:rPr sz="1300" b="0">
                <a:solidFill>
                  <a:srgbClr val="5F677A"/>
                </a:solidFill>
                <a:latin typeface="Arial"/>
                <a:ea typeface="Microsoft YaHei"/>
              </a:rPr>
              <a:t>collocation</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证明自己</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 wanted to prove himself.”</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 clean slate</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重新开始</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wanted a clean slate.”</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Concerns and fairness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20 · Lesson 90 Business lessons from prison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顾虑与公平</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assess risk</a:t>
            </a:r>
          </a:p>
          <a:p>
            <a:pPr algn="l">
              <a:lnSpc>
                <a:spcPct val="115000"/>
              </a:lnSpc>
              <a:spcAft>
                <a:spcPts val="800"/>
              </a:spcAft>
            </a:pPr>
            <a:r>
              <a:rPr sz="1300" b="0">
                <a:solidFill>
                  <a:srgbClr val="5F677A"/>
                </a:solidFill>
                <a:latin typeface="Arial"/>
                <a:ea typeface="Microsoft YaHei"/>
              </a:rPr>
              <a:t>collocation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评估风险</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“Assess risk case by case.”</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background check</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背景调查</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run background checks.”</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stigma</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污名</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“Stigma blocks employment.”</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case by case</a:t>
            </a:r>
          </a:p>
          <a:p>
            <a:pPr algn="l">
              <a:lnSpc>
                <a:spcPct val="115000"/>
              </a:lnSpc>
              <a:spcAft>
                <a:spcPts val="800"/>
              </a:spcAft>
            </a:pPr>
            <a:r>
              <a:rPr sz="1300" b="0">
                <a:solidFill>
                  <a:srgbClr val="5F677A"/>
                </a:solidFill>
                <a:latin typeface="Arial"/>
                <a:ea typeface="Microsoft YaHei"/>
              </a:rPr>
              <a:t>adverb</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逐案</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“Decide case by case.”</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do the right thing</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做正确的事</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“Do the right thing.”</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20 · Lesson 90 Business lessons from prison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给人第二次机会</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give someone a second chance</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评估风险</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assess risk</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证明自己</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prove yourself</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取消简历上的前科勾选项</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ban the box</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重新做人</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turn your life around</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重新开始</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 clean slate</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重返社会</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reintegrate / reintegration</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犯罪记录</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criminal record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20 · Lesson 90 Business lessons from prison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024128"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record</a:t>
            </a:r>
          </a:p>
        </p:txBody>
      </p:sp>
      <p:sp>
        <p:nvSpPr>
          <p:cNvPr id="10" name="Rounded Rectangle 9"/>
          <p:cNvSpPr/>
          <p:nvPr/>
        </p:nvSpPr>
        <p:spPr>
          <a:xfrm>
            <a:off x="3127248" y="987552"/>
            <a:ext cx="1243584"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sentence</a:t>
            </a:r>
          </a:p>
        </p:txBody>
      </p:sp>
      <p:sp>
        <p:nvSpPr>
          <p:cNvPr id="11" name="Rounded Rectangle 10"/>
          <p:cNvSpPr/>
          <p:nvPr/>
        </p:nvSpPr>
        <p:spPr>
          <a:xfrm>
            <a:off x="4462272" y="987552"/>
            <a:ext cx="1792224"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reintegration</a:t>
            </a:r>
          </a:p>
        </p:txBody>
      </p:sp>
      <p:sp>
        <p:nvSpPr>
          <p:cNvPr id="12" name="Rounded Rectangle 11"/>
          <p:cNvSpPr/>
          <p:nvPr/>
        </p:nvSpPr>
        <p:spPr>
          <a:xfrm>
            <a:off x="6345936" y="987552"/>
            <a:ext cx="1024128"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second</a:t>
            </a:r>
          </a:p>
        </p:txBody>
      </p:sp>
      <p:sp>
        <p:nvSpPr>
          <p:cNvPr id="13" name="Rounded Rectangle 12"/>
          <p:cNvSpPr/>
          <p:nvPr/>
        </p:nvSpPr>
        <p:spPr>
          <a:xfrm>
            <a:off x="7461504" y="987552"/>
            <a:ext cx="1024128"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stigma</a:t>
            </a:r>
          </a:p>
        </p:txBody>
      </p:sp>
      <p:sp>
        <p:nvSpPr>
          <p:cNvPr id="14" name="Rounded Rectangle 13"/>
          <p:cNvSpPr/>
          <p:nvPr/>
        </p:nvSpPr>
        <p:spPr>
          <a:xfrm>
            <a:off x="8577072" y="987552"/>
            <a:ext cx="914400"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slate</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He has a criminal _______.</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record</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She served her _______ and wants to work.</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sentence</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Work helps _______ into society.</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reintegration</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Everyone deserves a _______ chance.</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second</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_______ blocks employment.</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Stigma</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She wanted a clean _______.</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slate</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(搭配) serve a sentence,have a criminal record,give sb a second chance;stigma 名词。</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Role Play · Discussing a hiring decision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20 · Lesson 90 Business lessons from prison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讨论招聘决定</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hiring panel talks.</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Hiring manager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HR</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Model Dialogue · Discussing a hiring decision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20 · Lesson 90 Business lessons from prison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One candidate has a criminal record from ten years ago.</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was it for, and is it relevant to the role?</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 non-violent offence, unrelated to this job.</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Then I’d assess it case by case. How did he perform in the interview?</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Discussing a hiring decision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20 · Lesson 90 Business lessons from prison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Very well. He’s been working steadily since his release.</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a good sign. We could give him a chance with a probation period.</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Agreed. It’s fair and sensible.</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Let me check our policy.</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Your Turn · Discussing a hiring decision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20 · Lesson 90 Business lessons from prison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discuss a fair chance.</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Hiring manager.</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HR. Candidate: ______________</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criminal record · relevant to the role · case by case · steadily · probation</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Discuss risk and fairness and reach a decision.</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Raise a concern respectfully.</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Mention references.</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Explain legal requirements.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Role Play · Talking with a mentor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20 · Lesson 90 Business lessons from prison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与导师交谈</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person who has left prison seeks advice.</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Mentee</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Mentor</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900" b="1">
                <a:solidFill>
                  <a:srgbClr val="1F2A44"/>
                </a:solidFill>
                <a:latin typeface="Arial"/>
                <a:ea typeface="Microsoft YaHei"/>
              </a:rPr>
              <a:t>🎭 Model Dialogue · Talking with a mentor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20 · Lesson 90 Business lessons from prison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I’m nervous about interviews. I don’t know how to explain my record.</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Be honest and brief. Say what happened, what you learned and what you’re doing now.</a:t>
            </a:r>
          </a:p>
        </p:txBody>
      </p:sp>
      <p:sp>
        <p:nvSpPr>
          <p:cNvPr id="14" name="Rounded Rectangle 13"/>
          <p:cNvSpPr/>
          <p:nvPr/>
        </p:nvSpPr>
        <p:spPr>
          <a:xfrm>
            <a:off x="548640" y="306933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50824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306933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Will employers accept that?</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Many will, especially if you show progress. Some won’t, and that’s hard.</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Model Dialogue · Talking with a mentor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20 · Lesson 90 Business lessons from prison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How do I stay positive?</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Focus on what you can control. Keep building skills and references.</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for believing in me.</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You’re doing well. Take it one step at a time.</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Your Turn · Talking with a mentor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20 · Lesson 90 Business lessons from prison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advise on explaining a record.</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Mentee.</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Mentor. Situation: ______________</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be honest and brief · what you learned · show progress · what you can control · references</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Give practical, respectful advice.</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Practise an answer.</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Plan skills training.</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Set a small goal.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20 · Lesson 90 Business lessons from prison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employers ask about criminal records?</a:t>
            </a:r>
          </a:p>
          <a:p>
            <a:pPr algn="l">
              <a:lnSpc>
                <a:spcPct val="115000"/>
              </a:lnSpc>
              <a:spcAft>
                <a:spcPts val="800"/>
              </a:spcAft>
            </a:pPr>
            <a:r>
              <a:rPr sz="1400" b="0">
                <a:solidFill>
                  <a:srgbClr val="5F677A"/>
                </a:solidFill>
                <a:latin typeface="Arial"/>
                <a:ea typeface="Microsoft YaHei"/>
              </a:rPr>
              <a:t>💬 “Only if…”</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jobs might be unsuitable?</a:t>
            </a:r>
          </a:p>
          <a:p>
            <a:pPr algn="l">
              <a:lnSpc>
                <a:spcPct val="115000"/>
              </a:lnSpc>
              <a:spcAft>
                <a:spcPts val="800"/>
              </a:spcAft>
            </a:pPr>
            <a:r>
              <a:rPr sz="1400" b="0">
                <a:solidFill>
                  <a:srgbClr val="5F677A"/>
                </a:solidFill>
                <a:latin typeface="Arial"/>
                <a:ea typeface="Microsoft YaHei"/>
              </a:rPr>
              <a:t>💬 “Those involving…”</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can ex-prisoners prove themselves?</a:t>
            </a:r>
          </a:p>
          <a:p>
            <a:pPr algn="l">
              <a:lnSpc>
                <a:spcPct val="115000"/>
              </a:lnSpc>
              <a:spcAft>
                <a:spcPts val="800"/>
              </a:spcAft>
            </a:pPr>
            <a:r>
              <a:rPr sz="1400" b="0">
                <a:solidFill>
                  <a:srgbClr val="5F677A"/>
                </a:solidFill>
                <a:latin typeface="Arial"/>
                <a:ea typeface="Microsoft YaHei"/>
              </a:rPr>
              <a:t>💬 “By…”</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Do second chances benefit society?</a:t>
            </a:r>
          </a:p>
          <a:p>
            <a:pPr algn="l">
              <a:lnSpc>
                <a:spcPct val="115000"/>
              </a:lnSpc>
              <a:spcAft>
                <a:spcPts val="800"/>
              </a:spcAft>
            </a:pPr>
            <a:r>
              <a:rPr sz="1400" b="0">
                <a:solidFill>
                  <a:srgbClr val="5F677A"/>
                </a:solidFill>
                <a:latin typeface="Arial"/>
                <a:ea typeface="Microsoft YaHei"/>
              </a:rPr>
              <a:t>💬 “I think so, because…”</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can businesses learn from people who overcame hardship?</a:t>
            </a:r>
          </a:p>
          <a:p>
            <a:pPr algn="l">
              <a:lnSpc>
                <a:spcPct val="115000"/>
              </a:lnSpc>
              <a:spcAft>
                <a:spcPts val="800"/>
              </a:spcAft>
            </a:pPr>
            <a:r>
              <a:rPr sz="1400" b="0">
                <a:solidFill>
                  <a:srgbClr val="5F677A"/>
                </a:solidFill>
                <a:latin typeface="Arial"/>
                <a:ea typeface="Microsoft YaHei"/>
              </a:rPr>
              <a:t>💬 “They can learn…”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20 · Lesson 90 Business lessons from prison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4)</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 think they benefit society because stable employment reduces the chance of reoffending, and it brings skills and taxes. They also show people that change is possible. The employer’s role is to be careful and fair: look at the job, the offence and the person’s progress, rather than rejecting everyone automatically.</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“reoffending” 再犯;“rejecting automatically” 自动拒绝。</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Evidence and fairness language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20 · Lesson 90 Business lessons from prison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证据与公平措辞</a:t>
            </a:r>
          </a:p>
        </p:txBody>
      </p:sp>
      <p:graphicFrame>
        <p:nvGraphicFramePr>
          <p:cNvPr id="9" name="Table 8"/>
          <p:cNvGraphicFramePr>
            <a:graphicFrameLocks noGrp="1"/>
          </p:cNvGraphicFramePr>
          <p:nvPr/>
        </p:nvGraphicFramePr>
        <p:xfrm>
          <a:off x="548640" y="1417320"/>
          <a:ext cx="11094415" cy="228600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Structure</a:t>
                      </a:r>
                    </a:p>
                  </a:txBody>
                  <a:tcPr anchor="ctr">
                    <a:solidFill>
                      <a:srgbClr val="3CC49A"/>
                    </a:solidFill>
                  </a:tcPr>
                </a:tc>
                <a:tc>
                  <a:txBody>
                    <a:bodyPr wrap="square"/>
                    <a:lstStyle/>
                    <a:p>
                      <a:r>
                        <a:rPr sz="1600" b="1">
                          <a:solidFill>
                            <a:srgbClr val="FFFFFF"/>
                          </a:solidFill>
                          <a:latin typeface="Arial"/>
                          <a:ea typeface="Microsoft YaHei"/>
                        </a:rPr>
                        <a:t>Example</a:t>
                      </a:r>
                    </a:p>
                  </a:txBody>
                  <a:tcPr anchor="ctr">
                    <a:solidFill>
                      <a:srgbClr val="3CC49A"/>
                    </a:solidFill>
                  </a:tcPr>
                </a:tc>
              </a:tr>
              <a:tr h="408432">
                <a:tc>
                  <a:txBody>
                    <a:bodyPr wrap="square"/>
                    <a:lstStyle/>
                    <a:p>
                      <a:r>
                        <a:rPr sz="1600" b="1">
                          <a:solidFill>
                            <a:srgbClr val="1F2A44"/>
                          </a:solidFill>
                          <a:latin typeface="Arial"/>
                          <a:ea typeface="Microsoft YaHei"/>
                        </a:rPr>
                        <a:t>Evidence suggests that…</a:t>
                      </a:r>
                    </a:p>
                  </a:txBody>
                  <a:tcPr anchor="ctr">
                    <a:solidFill>
                      <a:srgbClr val="FFFFFF"/>
                    </a:solidFill>
                  </a:tcPr>
                </a:tc>
                <a:tc>
                  <a:txBody>
                    <a:bodyPr wrap="square"/>
                    <a:lstStyle/>
                    <a:p>
                      <a:r>
                        <a:rPr sz="1600" b="0">
                          <a:solidFill>
                            <a:srgbClr val="1F2A44"/>
                          </a:solidFill>
                          <a:latin typeface="Arial"/>
                          <a:ea typeface="Microsoft YaHei"/>
                        </a:rPr>
                        <a:t>Evidence suggests that work reduces reoffending.</a:t>
                      </a:r>
                    </a:p>
                  </a:txBody>
                  <a:tcPr anchor="ctr">
                    <a:solidFill>
                      <a:srgbClr val="FFFFFF"/>
                    </a:solidFill>
                  </a:tcPr>
                </a:tc>
              </a:tr>
              <a:tr h="408432">
                <a:tc>
                  <a:txBody>
                    <a:bodyPr wrap="square"/>
                    <a:lstStyle/>
                    <a:p>
                      <a:r>
                        <a:rPr sz="1600" b="1">
                          <a:solidFill>
                            <a:srgbClr val="1F2A44"/>
                          </a:solidFill>
                          <a:latin typeface="Arial"/>
                          <a:ea typeface="Microsoft YaHei"/>
                        </a:rPr>
                        <a:t>It depends on…</a:t>
                      </a:r>
                    </a:p>
                  </a:txBody>
                  <a:tcPr anchor="ctr">
                    <a:solidFill>
                      <a:srgbClr val="FFEFD9"/>
                    </a:solidFill>
                  </a:tcPr>
                </a:tc>
                <a:tc>
                  <a:txBody>
                    <a:bodyPr wrap="square"/>
                    <a:lstStyle/>
                    <a:p>
                      <a:r>
                        <a:rPr sz="1600" b="0">
                          <a:solidFill>
                            <a:srgbClr val="1F2A44"/>
                          </a:solidFill>
                          <a:latin typeface="Arial"/>
                          <a:ea typeface="Microsoft YaHei"/>
                        </a:rPr>
                        <a:t>It depends on the role.</a:t>
                      </a:r>
                    </a:p>
                  </a:txBody>
                  <a:tcPr anchor="ctr">
                    <a:solidFill>
                      <a:srgbClr val="FFEFD9"/>
                    </a:solidFill>
                  </a:tcPr>
                </a:tc>
              </a:tr>
              <a:tr h="408432">
                <a:tc>
                  <a:txBody>
                    <a:bodyPr wrap="square"/>
                    <a:lstStyle/>
                    <a:p>
                      <a:r>
                        <a:rPr sz="1600" b="1">
                          <a:solidFill>
                            <a:srgbClr val="1F2A44"/>
                          </a:solidFill>
                          <a:latin typeface="Arial"/>
                          <a:ea typeface="Microsoft YaHei"/>
                        </a:rPr>
                        <a:t>A fair approach would be to…</a:t>
                      </a:r>
                    </a:p>
                  </a:txBody>
                  <a:tcPr anchor="ctr">
                    <a:solidFill>
                      <a:srgbClr val="FFFFFF"/>
                    </a:solidFill>
                  </a:tcPr>
                </a:tc>
                <a:tc>
                  <a:txBody>
                    <a:bodyPr wrap="square"/>
                    <a:lstStyle/>
                    <a:p>
                      <a:r>
                        <a:rPr sz="1600" b="0">
                          <a:solidFill>
                            <a:srgbClr val="1F2A44"/>
                          </a:solidFill>
                          <a:latin typeface="Arial"/>
                          <a:ea typeface="Microsoft YaHei"/>
                        </a:rPr>
                        <a:t>A fair approach would be to assess each case.</a:t>
                      </a:r>
                    </a:p>
                  </a:txBody>
                  <a:tcPr anchor="ctr">
                    <a:solidFill>
                      <a:srgbClr val="FFFFFF"/>
                    </a:solidFill>
                  </a:tcPr>
                </a:tc>
              </a:tr>
              <a:tr h="652272">
                <a:tc>
                  <a:txBody>
                    <a:bodyPr wrap="square"/>
                    <a:lstStyle/>
                    <a:p>
                      <a:r>
                        <a:rPr sz="1600" b="1">
                          <a:solidFill>
                            <a:srgbClr val="1F2A44"/>
                          </a:solidFill>
                          <a:latin typeface="Arial"/>
                          <a:ea typeface="Microsoft YaHei"/>
                        </a:rPr>
                        <a:t>on the one hand… on the other…</a:t>
                      </a:r>
                    </a:p>
                  </a:txBody>
                  <a:tcPr anchor="ctr">
                    <a:solidFill>
                      <a:srgbClr val="FFEFD9"/>
                    </a:solidFill>
                  </a:tcPr>
                </a:tc>
                <a:tc>
                  <a:txBody>
                    <a:bodyPr wrap="square"/>
                    <a:lstStyle/>
                    <a:p>
                      <a:r>
                        <a:rPr sz="1600" b="0">
                          <a:solidFill>
                            <a:srgbClr val="1F2A44"/>
                          </a:solidFill>
                          <a:latin typeface="Arial"/>
                          <a:ea typeface="Microsoft YaHei"/>
                        </a:rPr>
                        <a:t>On the one hand, safety matters; on the other, people change.</a:t>
                      </a:r>
                    </a:p>
                  </a:txBody>
                  <a:tcPr anchor="ctr">
                    <a:solidFill>
                      <a:srgbClr val="FFEFD9"/>
                    </a:solidFill>
                  </a:tcPr>
                </a:tc>
              </a:tr>
            </a:tbl>
          </a:graphicData>
        </a:graphic>
      </p:graphicFrame>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Evidence and fairness language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20 · Lesson 90 Business lessons from prison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证据与公平措辞</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Use evidence, conditionals and balanced contrast for sensitive topics.</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20 · Lesson 90 Business lessons from prison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He was in the prison.</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He was in prison.</a:t>
            </a:r>
          </a:p>
          <a:p>
            <a:pPr algn="l">
              <a:spcAft>
                <a:spcPts val="200"/>
              </a:spcAft>
            </a:pPr>
            <a:r>
              <a:rPr sz="1200" b="0">
                <a:solidFill>
                  <a:srgbClr val="FFFFFF"/>
                </a:solidFill>
                <a:latin typeface="Arial"/>
                <a:ea typeface="Microsoft YaHei"/>
              </a:rPr>
              <a:t>无冠词</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He is a ex-prisoner.</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He is an ex-prisoner.</a:t>
            </a:r>
          </a:p>
          <a:p>
            <a:pPr algn="l">
              <a:spcAft>
                <a:spcPts val="200"/>
              </a:spcAft>
            </a:pPr>
            <a:r>
              <a:rPr sz="1200" b="0">
                <a:solidFill>
                  <a:srgbClr val="FFFFFF"/>
                </a:solidFill>
                <a:latin typeface="Arial"/>
                <a:ea typeface="Microsoft YaHei"/>
              </a:rPr>
              <a:t>an</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He has got released last year.</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He was released last year.</a:t>
            </a:r>
          </a:p>
          <a:p>
            <a:pPr algn="l">
              <a:spcAft>
                <a:spcPts val="200"/>
              </a:spcAft>
            </a:pPr>
            <a:r>
              <a:rPr sz="1200" b="0">
                <a:solidFill>
                  <a:srgbClr val="FFFFFF"/>
                </a:solidFill>
                <a:latin typeface="Arial"/>
                <a:ea typeface="Microsoft YaHei"/>
              </a:rPr>
              <a:t>过去时+被动</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20 · Lesson 90 Business lessons from prison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He is a criminal, so we won’t hire him.</a:t>
            </a:r>
          </a:p>
        </p:txBody>
      </p:sp>
      <p:sp>
        <p:nvSpPr>
          <p:cNvPr id="10" name="Rounded Rectangle 9"/>
          <p:cNvSpPr/>
          <p:nvPr/>
        </p:nvSpPr>
        <p:spPr>
          <a:xfrm>
            <a:off x="6187287" y="1463040"/>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He has a criminal record; we’ll assess it case by case.</a:t>
            </a:r>
          </a:p>
          <a:p>
            <a:pPr algn="l">
              <a:spcAft>
                <a:spcPts val="200"/>
              </a:spcAft>
            </a:pPr>
            <a:r>
              <a:rPr sz="1200" b="0">
                <a:solidFill>
                  <a:srgbClr val="FFFFFF"/>
                </a:solidFill>
                <a:latin typeface="Arial"/>
                <a:ea typeface="Microsoft YaHei"/>
              </a:rPr>
              <a:t>避免给人贴标签</a:t>
            </a:r>
          </a:p>
        </p:txBody>
      </p:sp>
      <p:sp>
        <p:nvSpPr>
          <p:cNvPr id="11" name="Rounded Rectangle 10"/>
          <p:cNvSpPr/>
          <p:nvPr/>
        </p:nvSpPr>
        <p:spPr>
          <a:xfrm>
            <a:off x="548640" y="2407919"/>
            <a:ext cx="5455767" cy="670560"/>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company should accept him because he is poor.</a:t>
            </a:r>
          </a:p>
        </p:txBody>
      </p:sp>
      <p:sp>
        <p:nvSpPr>
          <p:cNvPr id="12" name="Rounded Rectangle 11"/>
          <p:cNvSpPr/>
          <p:nvPr/>
        </p:nvSpPr>
        <p:spPr>
          <a:xfrm>
            <a:off x="6187287" y="2407919"/>
            <a:ext cx="5455767" cy="670560"/>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…because he deserves a second chance.</a:t>
            </a:r>
          </a:p>
          <a:p>
            <a:pPr algn="l">
              <a:spcAft>
                <a:spcPts val="200"/>
              </a:spcAft>
            </a:pPr>
            <a:r>
              <a:rPr sz="1200" b="0">
                <a:solidFill>
                  <a:srgbClr val="FFFFFF"/>
                </a:solidFill>
                <a:latin typeface="Arial"/>
                <a:ea typeface="Microsoft YaHei"/>
              </a:rPr>
              <a:t>理由</a:t>
            </a:r>
          </a:p>
        </p:txBody>
      </p:sp>
      <p:sp>
        <p:nvSpPr>
          <p:cNvPr id="13" name="Rounded Rectangle 12"/>
          <p:cNvSpPr/>
          <p:nvPr/>
        </p:nvSpPr>
        <p:spPr>
          <a:xfrm>
            <a:off x="548640" y="316991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He changed his life.</a:t>
            </a:r>
          </a:p>
        </p:txBody>
      </p:sp>
      <p:sp>
        <p:nvSpPr>
          <p:cNvPr id="14" name="Rounded Rectangle 13"/>
          <p:cNvSpPr/>
          <p:nvPr/>
        </p:nvSpPr>
        <p:spPr>
          <a:xfrm>
            <a:off x="6187287" y="316991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He turned his life around.</a:t>
            </a:r>
          </a:p>
          <a:p>
            <a:pPr algn="l">
              <a:spcAft>
                <a:spcPts val="200"/>
              </a:spcAft>
            </a:pPr>
            <a:r>
              <a:rPr sz="1200" b="0">
                <a:solidFill>
                  <a:srgbClr val="FFFFFF"/>
                </a:solidFill>
                <a:latin typeface="Arial"/>
                <a:ea typeface="Microsoft YaHei"/>
              </a:rPr>
              <a:t>习语</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in prison (no article), an ex-…, was released, avoid labels.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20 · Lesson 90 Business lessons from prison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Use person-first language. “A person who has served a sentence” rather than “a criminal”.</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0">
                <a:solidFill>
                  <a:srgbClr val="1F2A44"/>
                </a:solidFill>
                <a:latin typeface="Arial"/>
                <a:ea typeface="Microsoft YaHei"/>
              </a:rPr>
              <a:t>Laws differ. Rules about asking for records vary by country.</a:t>
            </a:r>
          </a:p>
        </p:txBody>
      </p:sp>
      <p:sp>
        <p:nvSpPr>
          <p:cNvPr id="15" name="Rounded Rectangle 14"/>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441959"/>
          </a:xfrm>
          <a:prstGeom prst="rect">
            <a:avLst/>
          </a:prstGeom>
          <a:noFill/>
        </p:spPr>
        <p:txBody>
          <a:bodyPr wrap="square" anchor="ctr">
            <a:spAutoFit/>
          </a:bodyPr>
          <a:lstStyle/>
          <a:p>
            <a:r>
              <a:rPr sz="1700" b="0">
                <a:solidFill>
                  <a:srgbClr val="1F2A44"/>
                </a:solidFill>
                <a:latin typeface="Arial"/>
                <a:ea typeface="Microsoft YaHei"/>
              </a:rPr>
              <a:t>Show progress. Employers value evidence of change.</a:t>
            </a:r>
          </a:p>
        </p:txBody>
      </p:sp>
      <p:sp>
        <p:nvSpPr>
          <p:cNvPr id="18" name="Rounded Rectangle 17"/>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017517"/>
            <a:ext cx="10728655" cy="441959"/>
          </a:xfrm>
          <a:prstGeom prst="rect">
            <a:avLst/>
          </a:prstGeom>
          <a:noFill/>
        </p:spPr>
        <p:txBody>
          <a:bodyPr wrap="square" anchor="ctr">
            <a:spAutoFit/>
          </a:bodyPr>
          <a:lstStyle/>
          <a:p>
            <a:r>
              <a:rPr sz="1700" b="0">
                <a:solidFill>
                  <a:srgbClr val="1F2A44"/>
                </a:solidFill>
                <a:latin typeface="Arial"/>
                <a:ea typeface="Microsoft YaHei"/>
              </a:rPr>
              <a:t>Respect privacy. Don’t share someone’s record.</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90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20 · Lesson 90 Business lessons from prison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discuss second-chance hiring respectfully.</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evidence and balanced contrast.</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give honest, practical advice.</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use in prison, was released and person-first language correctly.</a:t>
            </a:r>
          </a:p>
        </p:txBody>
      </p:sp>
      <p:sp>
        <p:nvSpPr>
          <p:cNvPr id="24" name="TextBox 23"/>
          <p:cNvSpPr txBox="1"/>
          <p:nvPr/>
        </p:nvSpPr>
        <p:spPr>
          <a:xfrm>
            <a:off x="9539935" y="3300984"/>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2031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2031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2031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from this lesson in my own sentences.</a:t>
            </a:r>
          </a:p>
        </p:txBody>
      </p:sp>
      <p:sp>
        <p:nvSpPr>
          <p:cNvPr id="28" name="TextBox 27"/>
          <p:cNvSpPr txBox="1"/>
          <p:nvPr/>
        </p:nvSpPr>
        <p:spPr>
          <a:xfrm>
            <a:off x="9539935" y="42031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20 · Lesson 90 Business lessons from prison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Argue for a fair-chance approach in 90 seconds.</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in prison, was released, an ex-.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20 · Lesson 91 Tycoons invest in metaverse</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57</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91</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Tycoons invest in metaverse</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大亨投资元宇宙</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discuss big-business investment in new technology (the metaverse), speculate about its future and weigh risk against opportunity.</a:t>
            </a:r>
          </a:p>
        </p:txBody>
      </p:sp>
      <p:sp>
        <p:nvSpPr>
          <p:cNvPr id="10" name="Rounded Rectangle 9"/>
          <p:cNvSpPr/>
          <p:nvPr/>
        </p:nvSpPr>
        <p:spPr>
          <a:xfrm>
            <a:off x="822960"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20 · Lesson 91 Tycoons invest in metaverse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do you think the metaverse is?</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Have you tried virtual reality or virtual meetings?</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Why do big companies invest in unproven technologies?</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Would you buy virtual property or goods?</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Is the metaverse a trend or the future?</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“metaverse” 元宇宙:持续的、共享的虚拟空间。“tycoon” 商业大亨。本课不对任何公司作事实断言,请做原则性讨论。</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20 · Lesson 91 Tycoons invest in metaverse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Discuss whether investing in the metaverse is a smart bet.</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what it is</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why invest</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risks</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your view</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The metaverse refers to…   💬 Investors hope that…   💬 The risk is that…   💬 It remains to be seen whether…</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“remain to be seen” = 还有待观察。</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Reading · A smart bet or an expensive dream?</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124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20 · Lesson 91 Tycoons invest in metaverse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100" b="0">
                <a:solidFill>
                  <a:srgbClr val="1F2A44"/>
                </a:solidFill>
                <a:latin typeface="Arial"/>
                <a:ea typeface="Microsoft YaHei"/>
              </a:rPr>
              <a:t>The metaverse is a term for shared virtual spaces where people can work, play, shop and meet using avatars, often through virtual reality or three-dimensional screens. Large technology firms and wealthy investors have put money into it, hoping to shape the next platform after the smartphone. Supporters imagine virtual offices, training simulations, digital fashion and new forms of entertainment. Sceptics point out that headsets are expensive, content is limited and many users find the experience uncomfortable. Past technology bubbles also show that excitement can run ahead of demand. For companies, a sensible strategy is to experiment on a small scale, learn what customers actually want and avoid betting everything on a single prediction. Whether the metaverse becomes mainstream or fades remains to be seen.</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20 · Lesson 91 Tycoons invest in metaverse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is the metaverse?</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Shared virtual spaces where people work, play, shop and meet via avatars.</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Name two sceptical points.</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Headsets are expensive; limited content; uncomfortable experience; excitement may run ahead of demand.</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strategy does the passage recommend?</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Experiment on a small scale and avoid betting everything on one prediction.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The metaverse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20 · Lesson 91 Tycoons invest in metaverse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元宇宙</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metaverse</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元宇宙</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“Companies are exploring the metaverse.”</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virtual reality (VR)</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虚拟现实</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“VR headsets are improving.”</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avatar</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虚拟形象</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“My avatar attended the meeting.”</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immersive</a:t>
            </a:r>
          </a:p>
          <a:p>
            <a:pPr algn="l">
              <a:lnSpc>
                <a:spcPct val="115000"/>
              </a:lnSpc>
              <a:spcAft>
                <a:spcPts val="800"/>
              </a:spcAft>
            </a:pPr>
            <a:r>
              <a:rPr sz="1300" b="0">
                <a:solidFill>
                  <a:srgbClr val="5F677A"/>
                </a:solidFill>
                <a:latin typeface="Arial"/>
                <a:ea typeface="Microsoft YaHei"/>
              </a:rPr>
              <a:t>adjective</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沉浸式的</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“An immersive experience.”</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digital twin</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数字孪生</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 digital twin of the factory.”</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Investment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20 · Lesson 91 Tycoons invest in metaverse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投资</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invest in</a:t>
            </a:r>
          </a:p>
          <a:p>
            <a:pPr algn="l">
              <a:lnSpc>
                <a:spcPct val="115000"/>
              </a:lnSpc>
              <a:spcAft>
                <a:spcPts val="800"/>
              </a:spcAft>
            </a:pPr>
            <a:r>
              <a:rPr sz="1300" b="0">
                <a:solidFill>
                  <a:srgbClr val="5F677A"/>
                </a:solidFill>
                <a:latin typeface="Arial"/>
                <a:ea typeface="Microsoft YaHei"/>
              </a:rPr>
              <a:t>verb phrase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投资</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“They invested in VR.”</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 bet / place a bet on</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押注</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“It’s a big bet.”</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tycoon</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商业大亨</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 tech tycoon.”</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hype</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炒作</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“There’s a lot of hype.”</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bubble</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泡沫</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 could be a bubble.”</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Risk and outlook</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20 · Lesson 91 Tycoons invest in metaverse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风险与前景</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early adopter</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早期采用者</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“Early adopters tried it first.”</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mainstream adoption</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大规模普及</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“Mainstream adoption is slow.”</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proof of concept</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概念验证</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built a proof of concept.”</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remain to be seen</a:t>
            </a:r>
          </a:p>
          <a:p>
            <a:pPr algn="l">
              <a:lnSpc>
                <a:spcPct val="115000"/>
              </a:lnSpc>
              <a:spcAft>
                <a:spcPts val="800"/>
              </a:spcAft>
            </a:pPr>
            <a:r>
              <a:rPr sz="1300" b="0">
                <a:solidFill>
                  <a:srgbClr val="5F677A"/>
                </a:solidFill>
                <a:latin typeface="Arial"/>
                <a:ea typeface="Microsoft YaHei"/>
              </a:rPr>
              <a:t>phrase</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有待观察</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 remains to be seen.”</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ahead of its time</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超前</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idea was ahead of its time.”</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20 · Lesson 91 Tycoons invest in metaverse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投资</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invest in</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数字孪生</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digital twin</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有待观察</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remain to be seen</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超前</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ahead of its time</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概念验证</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proof of concept</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虚拟现实</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virtual reality (VR)</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商业大亨</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tycoon</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押注</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 bet / place a bet 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20 · Lesson 91 Tycoons invest in metaverse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353312"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metaverse</a:t>
            </a:r>
          </a:p>
        </p:txBody>
      </p:sp>
      <p:sp>
        <p:nvSpPr>
          <p:cNvPr id="10" name="Rounded Rectangle 9"/>
          <p:cNvSpPr/>
          <p:nvPr/>
        </p:nvSpPr>
        <p:spPr>
          <a:xfrm>
            <a:off x="3456432" y="987552"/>
            <a:ext cx="1024128"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avatar</a:t>
            </a:r>
          </a:p>
        </p:txBody>
      </p:sp>
      <p:sp>
        <p:nvSpPr>
          <p:cNvPr id="11" name="Rounded Rectangle 10"/>
          <p:cNvSpPr/>
          <p:nvPr/>
        </p:nvSpPr>
        <p:spPr>
          <a:xfrm>
            <a:off x="4572000" y="987552"/>
            <a:ext cx="1024128"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invest</a:t>
            </a:r>
          </a:p>
        </p:txBody>
      </p:sp>
      <p:sp>
        <p:nvSpPr>
          <p:cNvPr id="12" name="Rounded Rectangle 11"/>
          <p:cNvSpPr/>
          <p:nvPr/>
        </p:nvSpPr>
        <p:spPr>
          <a:xfrm>
            <a:off x="5687568" y="987552"/>
            <a:ext cx="694944"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bet</a:t>
            </a:r>
          </a:p>
        </p:txBody>
      </p:sp>
      <p:sp>
        <p:nvSpPr>
          <p:cNvPr id="13" name="Rounded Rectangle 12"/>
          <p:cNvSpPr/>
          <p:nvPr/>
        </p:nvSpPr>
        <p:spPr>
          <a:xfrm>
            <a:off x="6473952" y="987552"/>
            <a:ext cx="804672"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hype</a:t>
            </a:r>
          </a:p>
        </p:txBody>
      </p:sp>
      <p:sp>
        <p:nvSpPr>
          <p:cNvPr id="14" name="Rounded Rectangle 13"/>
          <p:cNvSpPr/>
          <p:nvPr/>
        </p:nvSpPr>
        <p:spPr>
          <a:xfrm>
            <a:off x="7370064" y="987552"/>
            <a:ext cx="1243584"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adoption</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Some firms want to build the _______.</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metaverse</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My _______ attended the virtual meeting.</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avatar</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They plan to _______ in virtual reality.</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invest</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It’s a big _______ on the future.</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bet</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There is a lot of _______ around it.</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hype</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Mainstream _______ is still slow.</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adoption</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(搭配) invest IN,place a bet ON,early adopter;metaverse 首字母小写。</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Role Play · Evaluating an investment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20 · Lesson 91 Tycoons invest in metaverse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评估一项投资</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meeting on emerging technology.</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Manager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Strategy lead</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700" b="1">
                <a:solidFill>
                  <a:srgbClr val="1F2A44"/>
                </a:solidFill>
                <a:latin typeface="Arial"/>
                <a:ea typeface="Microsoft YaHei"/>
              </a:rPr>
              <a:t>🎭 Model Dialogue · Evaluating an investment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1/1</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20 · Lesson 91 Tycoons invest in metaverse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Should we invest in a virtual showroom?</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 could attract early adopters, but there’s a lot of hype.</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What’s the downside?</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Costs are high, and we don’t know if customers will use it.</a:t>
            </a:r>
          </a:p>
        </p:txBody>
      </p:sp>
      <p:sp>
        <p:nvSpPr>
          <p:cNvPr id="20" name="Rounded Rectangle 19"/>
          <p:cNvSpPr/>
          <p:nvPr/>
        </p:nvSpPr>
        <p:spPr>
          <a:xfrm>
            <a:off x="548640" y="365455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09346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65455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So what do you suggest?</a:t>
            </a:r>
          </a:p>
        </p:txBody>
      </p:sp>
      <p:sp>
        <p:nvSpPr>
          <p:cNvPr id="23" name="Rounded Rectangle 22"/>
          <p:cNvSpPr/>
          <p:nvPr/>
        </p:nvSpPr>
        <p:spPr>
          <a:xfrm>
            <a:off x="10911535" y="423672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467563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23672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 small proof of concept, then review the results.</a:t>
            </a:r>
          </a:p>
        </p:txBody>
      </p:sp>
      <p:sp>
        <p:nvSpPr>
          <p:cNvPr id="26" name="Rounded Rectangle 25"/>
          <p:cNvSpPr/>
          <p:nvPr/>
        </p:nvSpPr>
        <p:spPr>
          <a:xfrm>
            <a:off x="548640" y="481888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7" name="TextBox 26"/>
          <p:cNvSpPr txBox="1"/>
          <p:nvPr/>
        </p:nvSpPr>
        <p:spPr>
          <a:xfrm>
            <a:off x="274320" y="525780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8" name="Rounded Rectangle 27"/>
          <p:cNvSpPr/>
          <p:nvPr/>
        </p:nvSpPr>
        <p:spPr>
          <a:xfrm>
            <a:off x="1463040" y="4818888"/>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sensible. It limits our risk.</a:t>
            </a:r>
          </a:p>
        </p:txBody>
      </p:sp>
      <p:sp>
        <p:nvSpPr>
          <p:cNvPr id="29" name="Rounded Rectangle 28"/>
          <p:cNvSpPr/>
          <p:nvPr/>
        </p:nvSpPr>
        <p:spPr>
          <a:xfrm>
            <a:off x="10911535" y="540105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30" name="TextBox 29"/>
          <p:cNvSpPr txBox="1"/>
          <p:nvPr/>
        </p:nvSpPr>
        <p:spPr>
          <a:xfrm>
            <a:off x="10637215" y="583996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31" name="Rounded Rectangle 30"/>
          <p:cNvSpPr/>
          <p:nvPr/>
        </p:nvSpPr>
        <p:spPr>
          <a:xfrm>
            <a:off x="2133295" y="540105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Whether it becomes mainstream remains to be seen.</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Your Turn · Evaluating an investment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20 · Lesson 91 Tycoons invest in metaverse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evaluate a tech bet.</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Manager. Technology: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Strategy lead.</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early adopters · hype · downside · proof of concept · remains to be seen</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Weigh opportunity and risk and propose a limited test.</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Set a budget cap.</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Define success measures.</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Compare with another idea.</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Role Play · Explaining the metaverse to a friend</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20 · Lesson 91 Tycoons invest in metaverse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向朋友解释元宇宙</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casual chat.</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Friend</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You</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Explaining the metaverse to a friend</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20 · Lesson 91 Tycoons invest in metaverse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keep hearing about the metaverse. What is it?</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It’s a shared virtual space where people meet as avatars, usually using VR.</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can you do there?</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Meetings, training, games, even shopping.</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Explaining the metaverse to a friend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20 · Lesson 91 Tycoons invest in metaverse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Would you use it?</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Maybe for training. I find headsets uncomfortable.</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Do you think it will take off?</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It’s hard to say. It might, or it might fade like past trends.</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Your Turn · Explaining the metaverse to a friend</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20 · Lesson 91 Tycoons invest in metaverse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explain a new technology.</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Friend.</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Explainer. Technology: ______________</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shared virtual space · avatars · uncomfortable · take off · hard to say</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Explain simply and give a cautious prediction.</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Give an example of use.</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Mention privacy.</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Compare to smartphones.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20 · Lesson 91 Tycoons invest in metaverse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the metaverse a good investment?</a:t>
            </a:r>
          </a:p>
          <a:p>
            <a:pPr algn="l">
              <a:lnSpc>
                <a:spcPct val="115000"/>
              </a:lnSpc>
              <a:spcAft>
                <a:spcPts val="800"/>
              </a:spcAft>
            </a:pPr>
            <a:r>
              <a:rPr sz="1400" b="0">
                <a:solidFill>
                  <a:srgbClr val="5F677A"/>
                </a:solidFill>
                <a:latin typeface="Arial"/>
                <a:ea typeface="Microsoft YaHei"/>
              </a:rPr>
              <a:t>💬 “It’s risky because…”</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Would you attend a virtual meeting as an avatar?</a:t>
            </a:r>
          </a:p>
          <a:p>
            <a:pPr algn="l">
              <a:lnSpc>
                <a:spcPct val="115000"/>
              </a:lnSpc>
              <a:spcAft>
                <a:spcPts val="800"/>
              </a:spcAft>
            </a:pPr>
            <a:r>
              <a:rPr sz="1400" b="0">
                <a:solidFill>
                  <a:srgbClr val="5F677A"/>
                </a:solidFill>
                <a:latin typeface="Arial"/>
                <a:ea typeface="Microsoft YaHei"/>
              </a:rPr>
              <a:t>💬 “I might, if…”</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problems might the metaverse solve?</a:t>
            </a:r>
          </a:p>
          <a:p>
            <a:pPr algn="l">
              <a:lnSpc>
                <a:spcPct val="115000"/>
              </a:lnSpc>
              <a:spcAft>
                <a:spcPts val="800"/>
              </a:spcAft>
            </a:pPr>
            <a:r>
              <a:rPr sz="1400" b="0">
                <a:solidFill>
                  <a:srgbClr val="5F677A"/>
                </a:solidFill>
                <a:latin typeface="Arial"/>
                <a:ea typeface="Microsoft YaHei"/>
              </a:rPr>
              <a:t>💬 “It could…”</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risks does it bring?</a:t>
            </a:r>
          </a:p>
          <a:p>
            <a:pPr algn="l">
              <a:lnSpc>
                <a:spcPct val="115000"/>
              </a:lnSpc>
              <a:spcAft>
                <a:spcPts val="800"/>
              </a:spcAft>
            </a:pPr>
            <a:r>
              <a:rPr sz="1400" b="0">
                <a:solidFill>
                  <a:srgbClr val="5F677A"/>
                </a:solidFill>
                <a:latin typeface="Arial"/>
                <a:ea typeface="Microsoft YaHei"/>
              </a:rPr>
              <a:t>💬 “One risk is…”</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can companies avoid following hype?</a:t>
            </a:r>
          </a:p>
          <a:p>
            <a:pPr algn="l">
              <a:lnSpc>
                <a:spcPct val="115000"/>
              </a:lnSpc>
              <a:spcAft>
                <a:spcPts val="800"/>
              </a:spcAft>
            </a:pPr>
            <a:r>
              <a:rPr sz="1400" b="0">
                <a:solidFill>
                  <a:srgbClr val="5F677A"/>
                </a:solidFill>
                <a:latin typeface="Arial"/>
                <a:ea typeface="Microsoft YaHei"/>
              </a:rPr>
              <a:t>💬 “By…”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20 · Lesson 91 Tycoons invest in metaverse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5)</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Companies can avoid hype by starting small and asking customers what they actually need. They should test an idea cheaply, measure results, and be ready to stop if it doesn’t work. They should also compare the technology with existing solutions. If the new option isn’t clearly better, it may not be worth the cost.</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“be ready to stop” 准备好随时叫停;“worth the cost” 值得成本。</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Speculating about the future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20 · Lesson 91 Tycoons invest in metaverse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对未来作推测</a:t>
            </a:r>
          </a:p>
        </p:txBody>
      </p:sp>
      <p:graphicFrame>
        <p:nvGraphicFramePr>
          <p:cNvPr id="9" name="Table 8"/>
          <p:cNvGraphicFramePr>
            <a:graphicFrameLocks noGrp="1"/>
          </p:cNvGraphicFramePr>
          <p:nvPr/>
        </p:nvGraphicFramePr>
        <p:xfrm>
          <a:off x="548640" y="1417320"/>
          <a:ext cx="11094415" cy="204216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Structure</a:t>
                      </a:r>
                    </a:p>
                  </a:txBody>
                  <a:tcPr anchor="ctr">
                    <a:solidFill>
                      <a:srgbClr val="3CC49A"/>
                    </a:solidFill>
                  </a:tcPr>
                </a:tc>
                <a:tc>
                  <a:txBody>
                    <a:bodyPr wrap="square"/>
                    <a:lstStyle/>
                    <a:p>
                      <a:r>
                        <a:rPr sz="1600" b="1">
                          <a:solidFill>
                            <a:srgbClr val="FFFFFF"/>
                          </a:solidFill>
                          <a:latin typeface="Arial"/>
                          <a:ea typeface="Microsoft YaHei"/>
                        </a:rPr>
                        <a:t>Example</a:t>
                      </a:r>
                    </a:p>
                  </a:txBody>
                  <a:tcPr anchor="ctr">
                    <a:solidFill>
                      <a:srgbClr val="3CC49A"/>
                    </a:solidFill>
                  </a:tcPr>
                </a:tc>
              </a:tr>
              <a:tr h="408432">
                <a:tc>
                  <a:txBody>
                    <a:bodyPr wrap="square"/>
                    <a:lstStyle/>
                    <a:p>
                      <a:r>
                        <a:rPr sz="1600" b="1">
                          <a:solidFill>
                            <a:srgbClr val="1F2A44"/>
                          </a:solidFill>
                          <a:latin typeface="Arial"/>
                          <a:ea typeface="Microsoft YaHei"/>
                        </a:rPr>
                        <a:t>might / could / may</a:t>
                      </a:r>
                    </a:p>
                  </a:txBody>
                  <a:tcPr anchor="ctr">
                    <a:solidFill>
                      <a:srgbClr val="FFFFFF"/>
                    </a:solidFill>
                  </a:tcPr>
                </a:tc>
                <a:tc>
                  <a:txBody>
                    <a:bodyPr wrap="square"/>
                    <a:lstStyle/>
                    <a:p>
                      <a:r>
                        <a:rPr sz="1600" b="0">
                          <a:solidFill>
                            <a:srgbClr val="1F2A44"/>
                          </a:solidFill>
                          <a:latin typeface="Arial"/>
                          <a:ea typeface="Microsoft YaHei"/>
                        </a:rPr>
                        <a:t>It might become mainstream.</a:t>
                      </a:r>
                    </a:p>
                  </a:txBody>
                  <a:tcPr anchor="ctr">
                    <a:solidFill>
                      <a:srgbClr val="FFFFFF"/>
                    </a:solidFill>
                  </a:tcPr>
                </a:tc>
              </a:tr>
              <a:tr h="408432">
                <a:tc>
                  <a:txBody>
                    <a:bodyPr wrap="square"/>
                    <a:lstStyle/>
                    <a:p>
                      <a:r>
                        <a:rPr sz="1600" b="1">
                          <a:solidFill>
                            <a:srgbClr val="1F2A44"/>
                          </a:solidFill>
                          <a:latin typeface="Arial"/>
                          <a:ea typeface="Microsoft YaHei"/>
                        </a:rPr>
                        <a:t>is likely/unlikely to</a:t>
                      </a:r>
                    </a:p>
                  </a:txBody>
                  <a:tcPr anchor="ctr">
                    <a:solidFill>
                      <a:srgbClr val="FFEFD9"/>
                    </a:solidFill>
                  </a:tcPr>
                </a:tc>
                <a:tc>
                  <a:txBody>
                    <a:bodyPr wrap="square"/>
                    <a:lstStyle/>
                    <a:p>
                      <a:r>
                        <a:rPr sz="1600" b="0">
                          <a:solidFill>
                            <a:srgbClr val="1F2A44"/>
                          </a:solidFill>
                          <a:latin typeface="Arial"/>
                          <a:ea typeface="Microsoft YaHei"/>
                        </a:rPr>
                        <a:t>It is likely to grow.</a:t>
                      </a:r>
                    </a:p>
                  </a:txBody>
                  <a:tcPr anchor="ctr">
                    <a:solidFill>
                      <a:srgbClr val="FFEFD9"/>
                    </a:solidFill>
                  </a:tcPr>
                </a:tc>
              </a:tr>
              <a:tr h="408432">
                <a:tc>
                  <a:txBody>
                    <a:bodyPr wrap="square"/>
                    <a:lstStyle/>
                    <a:p>
                      <a:r>
                        <a:rPr sz="1600" b="1">
                          <a:solidFill>
                            <a:srgbClr val="1F2A44"/>
                          </a:solidFill>
                          <a:latin typeface="Arial"/>
                          <a:ea typeface="Microsoft YaHei"/>
                        </a:rPr>
                        <a:t>It remains to be seen whether…</a:t>
                      </a:r>
                    </a:p>
                  </a:txBody>
                  <a:tcPr anchor="ctr">
                    <a:solidFill>
                      <a:srgbClr val="FFFFFF"/>
                    </a:solidFill>
                  </a:tcPr>
                </a:tc>
                <a:tc>
                  <a:txBody>
                    <a:bodyPr wrap="square"/>
                    <a:lstStyle/>
                    <a:p>
                      <a:r>
                        <a:rPr sz="1600" b="0">
                          <a:solidFill>
                            <a:srgbClr val="1F2A44"/>
                          </a:solidFill>
                          <a:latin typeface="Arial"/>
                          <a:ea typeface="Microsoft YaHei"/>
                        </a:rPr>
                        <a:t>It remains to be seen whether people will use it.</a:t>
                      </a:r>
                    </a:p>
                  </a:txBody>
                  <a:tcPr anchor="ctr">
                    <a:solidFill>
                      <a:srgbClr val="FFFFFF"/>
                    </a:solidFill>
                  </a:tcPr>
                </a:tc>
              </a:tr>
              <a:tr h="408432">
                <a:tc>
                  <a:txBody>
                    <a:bodyPr wrap="square"/>
                    <a:lstStyle/>
                    <a:p>
                      <a:r>
                        <a:rPr sz="1600" b="1">
                          <a:solidFill>
                            <a:srgbClr val="1F2A44"/>
                          </a:solidFill>
                          <a:latin typeface="Arial"/>
                          <a:ea typeface="Microsoft YaHei"/>
                        </a:rPr>
                        <a:t>I wouldn’t be surprised if…</a:t>
                      </a:r>
                    </a:p>
                  </a:txBody>
                  <a:tcPr anchor="ctr">
                    <a:solidFill>
                      <a:srgbClr val="FFEFD9"/>
                    </a:solidFill>
                  </a:tcPr>
                </a:tc>
                <a:tc>
                  <a:txBody>
                    <a:bodyPr wrap="square"/>
                    <a:lstStyle/>
                    <a:p>
                      <a:r>
                        <a:rPr sz="1600" b="0">
                          <a:solidFill>
                            <a:srgbClr val="1F2A44"/>
                          </a:solidFill>
                          <a:latin typeface="Arial"/>
                          <a:ea typeface="Microsoft YaHei"/>
                        </a:rPr>
                        <a:t>I wouldn’t be surprised if it faded.</a:t>
                      </a:r>
                    </a:p>
                  </a:txBody>
                  <a:tcPr anchor="ctr">
                    <a:solidFill>
                      <a:srgbClr val="FFEFD9"/>
                    </a:solidFill>
                  </a:tcPr>
                </a:tc>
              </a:tr>
            </a:tbl>
          </a:graphicData>
        </a:graphic>
      </p:graphicFrame>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Speculating about the future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20 · Lesson 91 Tycoons invest in metaverse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对未来作推测</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Use if + present and would-based phrases to speculate with caution.</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20 · Lesson 91 Tycoons invest in metaverse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Metaverse will be a big business surely.</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metaverse will probably be a big business.</a:t>
            </a:r>
          </a:p>
          <a:p>
            <a:pPr algn="l">
              <a:spcAft>
                <a:spcPts val="200"/>
              </a:spcAft>
            </a:pPr>
            <a:r>
              <a:rPr sz="1200" b="0">
                <a:solidFill>
                  <a:srgbClr val="FFFFFF"/>
                </a:solidFill>
                <a:latin typeface="Arial"/>
                <a:ea typeface="Microsoft YaHei"/>
              </a:rPr>
              <a:t>语气</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It will maybe fail.</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It might fail. / Maybe it will fail.</a:t>
            </a:r>
          </a:p>
          <a:p>
            <a:pPr algn="l">
              <a:spcAft>
                <a:spcPts val="200"/>
              </a:spcAft>
            </a:pPr>
            <a:r>
              <a:rPr sz="1200" b="0">
                <a:solidFill>
                  <a:srgbClr val="FFFFFF"/>
                </a:solidFill>
                <a:latin typeface="Arial"/>
                <a:ea typeface="Microsoft YaHei"/>
              </a:rPr>
              <a:t>maybe 位置</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wouldn’t be surprised if it will fail.</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wouldn’t be surprised if it failed.</a:t>
            </a:r>
          </a:p>
          <a:p>
            <a:pPr algn="l">
              <a:spcAft>
                <a:spcPts val="200"/>
              </a:spcAft>
            </a:pPr>
            <a:r>
              <a:rPr sz="1200" b="0">
                <a:solidFill>
                  <a:srgbClr val="FFFFFF"/>
                </a:solidFill>
                <a:latin typeface="Arial"/>
                <a:ea typeface="Microsoft YaHei"/>
              </a:rPr>
              <a:t>if 从句</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20 · Lesson 91 Tycoons invest in metaverse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They invest on VR.</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They invest in VR.</a:t>
            </a:r>
          </a:p>
          <a:p>
            <a:pPr algn="l">
              <a:spcAft>
                <a:spcPts val="200"/>
              </a:spcAft>
            </a:pPr>
            <a:r>
              <a:rPr sz="1200" b="0">
                <a:solidFill>
                  <a:srgbClr val="FFFFFF"/>
                </a:solidFill>
                <a:latin typeface="Arial"/>
                <a:ea typeface="Microsoft YaHei"/>
              </a:rPr>
              <a:t>invest in</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hypes are big.</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There’s a lot of hype.</a:t>
            </a:r>
          </a:p>
          <a:p>
            <a:pPr algn="l">
              <a:spcAft>
                <a:spcPts val="200"/>
              </a:spcAft>
            </a:pPr>
            <a:r>
              <a:rPr sz="1200" b="0">
                <a:solidFill>
                  <a:srgbClr val="FFFFFF"/>
                </a:solidFill>
                <a:latin typeface="Arial"/>
                <a:ea typeface="Microsoft YaHei"/>
              </a:rPr>
              <a:t>hype 不可数</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It remains to see.</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It remains to be seen.</a:t>
            </a:r>
          </a:p>
          <a:p>
            <a:pPr algn="l">
              <a:spcAft>
                <a:spcPts val="200"/>
              </a:spcAft>
            </a:pPr>
            <a:r>
              <a:rPr sz="1200" b="0">
                <a:solidFill>
                  <a:srgbClr val="FFFFFF"/>
                </a:solidFill>
                <a:latin typeface="Arial"/>
                <a:ea typeface="Microsoft YaHei"/>
              </a:rPr>
              <a:t>被动</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probably/maybe position, invest in, uncountable hype, remains to be seen.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20 · Lesson 91 Tycoons invest in metaverse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Hedge predictions. Technology predictions are often wrong.</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0">
                <a:solidFill>
                  <a:srgbClr val="1F2A44"/>
                </a:solidFill>
                <a:latin typeface="Arial"/>
                <a:ea typeface="Microsoft YaHei"/>
              </a:rPr>
              <a:t>Avoid hype language like “revolutionary” in serious business writing.</a:t>
            </a:r>
          </a:p>
        </p:txBody>
      </p:sp>
      <p:sp>
        <p:nvSpPr>
          <p:cNvPr id="15" name="Rounded Rectangle 14"/>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441959"/>
          </a:xfrm>
          <a:prstGeom prst="rect">
            <a:avLst/>
          </a:prstGeom>
          <a:noFill/>
        </p:spPr>
        <p:txBody>
          <a:bodyPr wrap="square" anchor="ctr">
            <a:spAutoFit/>
          </a:bodyPr>
          <a:lstStyle/>
          <a:p>
            <a:r>
              <a:rPr sz="1700" b="0">
                <a:solidFill>
                  <a:srgbClr val="1F2A44"/>
                </a:solidFill>
                <a:latin typeface="Arial"/>
                <a:ea typeface="Microsoft YaHei"/>
              </a:rPr>
              <a:t>Mention risk. Show you’ve considered downsides.</a:t>
            </a:r>
          </a:p>
        </p:txBody>
      </p:sp>
      <p:sp>
        <p:nvSpPr>
          <p:cNvPr id="18" name="Rounded Rectangle 17"/>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017517"/>
            <a:ext cx="10728655" cy="441959"/>
          </a:xfrm>
          <a:prstGeom prst="rect">
            <a:avLst/>
          </a:prstGeom>
          <a:noFill/>
        </p:spPr>
        <p:txBody>
          <a:bodyPr wrap="square" anchor="ctr">
            <a:spAutoFit/>
          </a:bodyPr>
          <a:lstStyle/>
          <a:p>
            <a:r>
              <a:rPr sz="1700" b="0">
                <a:solidFill>
                  <a:srgbClr val="1F2A44"/>
                </a:solidFill>
                <a:latin typeface="Arial"/>
                <a:ea typeface="Microsoft YaHei"/>
              </a:rPr>
              <a:t>Metaphors. “Bet”, “bubble” and “wave” are common in tech talk.</a:t>
            </a:r>
          </a:p>
        </p:txBody>
      </p:sp>
    </p:spTree>
  </p:cSld>
  <p:clrMapOvr>
    <a:masterClrMapping/>
  </p:clrMapOvr>
  <p:transition spd="med">
    <p:fade/>
  </p:transition>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91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20 · Lesson 91 Tycoons invest in metaverse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explain the metaverse in simple terms.</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weigh opportunity against risk.</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speculate with might / likely to / remains to be seen.</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use invest in, hype (uncountable) and probably/maybe correctly.</a:t>
            </a:r>
          </a:p>
        </p:txBody>
      </p:sp>
      <p:sp>
        <p:nvSpPr>
          <p:cNvPr id="24" name="TextBox 23"/>
          <p:cNvSpPr txBox="1"/>
          <p:nvPr/>
        </p:nvSpPr>
        <p:spPr>
          <a:xfrm>
            <a:off x="9539935" y="3300984"/>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2031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2031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2031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from this lesson in my own sentences.</a:t>
            </a:r>
          </a:p>
        </p:txBody>
      </p:sp>
      <p:sp>
        <p:nvSpPr>
          <p:cNvPr id="28" name="TextBox 27"/>
          <p:cNvSpPr txBox="1"/>
          <p:nvPr/>
        </p:nvSpPr>
        <p:spPr>
          <a:xfrm>
            <a:off x="9539935" y="42031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20 · Lesson 91 Tycoons invest in metaverse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Give a cautious prediction about a new technology in 60 seconds.</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invest in, hype uncountable, probably/maybe, remains to be seen.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Lucky Boxes 幸运盒子</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Unit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20</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Pick a number, take the challenge!  选一个数字，接受挑战</a:t>
            </a:r>
          </a:p>
        </p:txBody>
      </p:sp>
      <p:sp>
        <p:nvSpPr>
          <p:cNvPr id="9" name="Rounded Rectangle 8">
            <a:hlinkClick action="ppaction://hlinksldjump" r:id="rId4"/>
          </p:cNvPr>
          <p:cNvSpPr/>
          <p:nvPr/>
        </p:nvSpPr>
        <p:spPr>
          <a:xfrm>
            <a:off x="1691640" y="1508760"/>
            <a:ext cx="2773680" cy="1371600"/>
          </a:xfrm>
          <a:prstGeom prst="roundRect">
            <a:avLst>
              <a:gd name="adj" fmla="val 18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1</a:t>
            </a:r>
          </a:p>
        </p:txBody>
      </p:sp>
      <p:sp>
        <p:nvSpPr>
          <p:cNvPr id="10" name="Rounded Rectangle 9">
            <a:hlinkClick action="ppaction://hlinksldjump" r:id="rId5"/>
          </p:cNvPr>
          <p:cNvSpPr/>
          <p:nvPr/>
        </p:nvSpPr>
        <p:spPr>
          <a:xfrm>
            <a:off x="4693920" y="1508760"/>
            <a:ext cx="2773680" cy="1371600"/>
          </a:xfrm>
          <a:prstGeom prst="roundRect">
            <a:avLst>
              <a:gd name="adj" fmla="val 18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2</a:t>
            </a:r>
          </a:p>
        </p:txBody>
      </p:sp>
      <p:sp>
        <p:nvSpPr>
          <p:cNvPr id="11" name="Rounded Rectangle 10">
            <a:hlinkClick action="ppaction://hlinksldjump" r:id="rId6"/>
          </p:cNvPr>
          <p:cNvSpPr/>
          <p:nvPr/>
        </p:nvSpPr>
        <p:spPr>
          <a:xfrm>
            <a:off x="7696200" y="1508760"/>
            <a:ext cx="2773680" cy="1371600"/>
          </a:xfrm>
          <a:prstGeom prst="roundRect">
            <a:avLst>
              <a:gd name="adj" fmla="val 18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3</a:t>
            </a:r>
          </a:p>
        </p:txBody>
      </p:sp>
      <p:sp>
        <p:nvSpPr>
          <p:cNvPr id="12" name="Rounded Rectangle 11">
            <a:hlinkClick action="ppaction://hlinksldjump" r:id="rId7"/>
          </p:cNvPr>
          <p:cNvSpPr/>
          <p:nvPr/>
        </p:nvSpPr>
        <p:spPr>
          <a:xfrm>
            <a:off x="1691640" y="3108960"/>
            <a:ext cx="2773680" cy="1371600"/>
          </a:xfrm>
          <a:prstGeom prst="roundRect">
            <a:avLst>
              <a:gd name="adj" fmla="val 18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4</a:t>
            </a:r>
          </a:p>
        </p:txBody>
      </p:sp>
      <p:sp>
        <p:nvSpPr>
          <p:cNvPr id="13" name="Rounded Rectangle 12">
            <a:hlinkClick action="ppaction://hlinksldjump" r:id="rId8"/>
          </p:cNvPr>
          <p:cNvSpPr/>
          <p:nvPr/>
        </p:nvSpPr>
        <p:spPr>
          <a:xfrm>
            <a:off x="4693920" y="3108960"/>
            <a:ext cx="2773680" cy="1371600"/>
          </a:xfrm>
          <a:prstGeom prst="roundRect">
            <a:avLst>
              <a:gd name="adj" fmla="val 18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5</a:t>
            </a:r>
          </a:p>
        </p:txBody>
      </p:sp>
      <p:sp>
        <p:nvSpPr>
          <p:cNvPr id="14" name="Rounded Rectangle 13">
            <a:hlinkClick action="ppaction://hlinksldjump" r:id="rId9"/>
          </p:cNvPr>
          <p:cNvSpPr/>
          <p:nvPr/>
        </p:nvSpPr>
        <p:spPr>
          <a:xfrm>
            <a:off x="7696200" y="3108960"/>
            <a:ext cx="2773680" cy="1371600"/>
          </a:xfrm>
          <a:prstGeom prst="roundRect">
            <a:avLst>
              <a:gd name="adj" fmla="val 18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6</a:t>
            </a:r>
          </a:p>
        </p:txBody>
      </p:sp>
      <p:sp>
        <p:nvSpPr>
          <p:cNvPr id="15" name="Rounded Rectangle 14">
            <a:hlinkClick action="ppaction://hlinksldjump" r:id="rId10"/>
          </p:cNvPr>
          <p:cNvSpPr/>
          <p:nvPr/>
        </p:nvSpPr>
        <p:spPr>
          <a:xfrm>
            <a:off x="1691640" y="4709160"/>
            <a:ext cx="2773680" cy="1371600"/>
          </a:xfrm>
          <a:prstGeom prst="roundRect">
            <a:avLst>
              <a:gd name="adj" fmla="val 18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7</a:t>
            </a:r>
          </a:p>
        </p:txBody>
      </p:sp>
      <p:sp>
        <p:nvSpPr>
          <p:cNvPr id="16" name="Rounded Rectangle 15">
            <a:hlinkClick action="ppaction://hlinksldjump" r:id="rId11"/>
          </p:cNvPr>
          <p:cNvSpPr/>
          <p:nvPr/>
        </p:nvSpPr>
        <p:spPr>
          <a:xfrm>
            <a:off x="4693920" y="4709160"/>
            <a:ext cx="2773680" cy="1371600"/>
          </a:xfrm>
          <a:prstGeom prst="roundRect">
            <a:avLst>
              <a:gd name="adj" fmla="val 18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8</a:t>
            </a:r>
          </a:p>
        </p:txBody>
      </p:sp>
      <p:sp>
        <p:nvSpPr>
          <p:cNvPr id="17" name="Rounded Rectangle 16">
            <a:hlinkClick action="ppaction://hlinksldjump" r:id="rId12"/>
          </p:cNvPr>
          <p:cNvSpPr/>
          <p:nvPr/>
        </p:nvSpPr>
        <p:spPr>
          <a:xfrm>
            <a:off x="7696200" y="4709160"/>
            <a:ext cx="2773680" cy="1371600"/>
          </a:xfrm>
          <a:prstGeom prst="roundRect">
            <a:avLst>
              <a:gd name="adj" fmla="val 18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9</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1</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20</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84</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Use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用这个表达说一句和你工作相关的话</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tycoon</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A tech tycoon.</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2</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20</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85</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逐案</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case by case</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3</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20</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86</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Fix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找出并改正错误</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He changed his life.</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He turned his life around.</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4</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20</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87</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押注</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a bet / place a bet on</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5</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20</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88</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Bomb!</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本轮不得分，换下一组</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89.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6</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20</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89</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Bonus!</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本组直接 +2 ⭐</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90.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7</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20</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90</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Steal!</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从任意一组偷走 1 ⭐</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91.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8</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20</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91</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虚拟现实</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virtual reality (VR)</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9</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20</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92</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Use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用这个表达说一句和你工作相关的话</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background check</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We run background checks.</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Boss Challenge 终极挑战</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Unit review</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20</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10 seconds per question. Beat the boss!  每题限时 10 秒，打败大魔王</a:t>
            </a:r>
          </a:p>
        </p:txBody>
      </p:sp>
      <p:sp>
        <p:nvSpPr>
          <p:cNvPr id="9" name="TextBox 8"/>
          <p:cNvSpPr txBox="1"/>
          <p:nvPr/>
        </p:nvSpPr>
        <p:spPr>
          <a:xfrm>
            <a:off x="9966960" y="1463040"/>
            <a:ext cx="1737360" cy="1463040"/>
          </a:xfrm>
          <a:prstGeom prst="rect">
            <a:avLst/>
          </a:prstGeom>
          <a:noFill/>
        </p:spPr>
        <p:txBody>
          <a:bodyPr wrap="square" anchor="t">
            <a:spAutoFit/>
          </a:bodyPr>
          <a:lstStyle/>
          <a:p>
            <a:pPr algn="ctr">
              <a:lnSpc>
                <a:spcPct val="115000"/>
              </a:lnSpc>
              <a:spcAft>
                <a:spcPts val="800"/>
              </a:spcAft>
            </a:pPr>
            <a:r>
              <a:rPr sz="8000" b="0">
                <a:solidFill>
                  <a:srgbClr val="1F2A44"/>
                </a:solidFill>
                <a:latin typeface="Arial"/>
                <a:ea typeface="Microsoft YaHei"/>
              </a:rPr>
              <a:t>👾</a:t>
            </a:r>
          </a:p>
        </p:txBody>
      </p:sp>
      <p:sp>
        <p:nvSpPr>
          <p:cNvPr id="10" name="Rounded Rectangle 9"/>
          <p:cNvSpPr/>
          <p:nvPr/>
        </p:nvSpPr>
        <p:spPr>
          <a:xfrm>
            <a:off x="548640" y="1508760"/>
            <a:ext cx="5577840" cy="850392"/>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Q1. “超前” in English?</a:t>
            </a:r>
          </a:p>
        </p:txBody>
      </p:sp>
      <p:sp>
        <p:nvSpPr>
          <p:cNvPr id="11" name="Rounded Rectangle 10"/>
          <p:cNvSpPr/>
          <p:nvPr/>
        </p:nvSpPr>
        <p:spPr>
          <a:xfrm>
            <a:off x="6263640" y="150876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ahead of its time</a:t>
            </a:r>
          </a:p>
        </p:txBody>
      </p:sp>
      <p:sp>
        <p:nvSpPr>
          <p:cNvPr id="12" name="Rounded Rectangle 11"/>
          <p:cNvSpPr/>
          <p:nvPr/>
        </p:nvSpPr>
        <p:spPr>
          <a:xfrm>
            <a:off x="548640" y="2468880"/>
            <a:ext cx="5577840" cy="850392"/>
          </a:xfrm>
          <a:prstGeom prst="roundRect">
            <a:avLst>
              <a:gd name="adj" fmla="val 15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Q2. “重新开始” in English?</a:t>
            </a:r>
          </a:p>
        </p:txBody>
      </p:sp>
      <p:sp>
        <p:nvSpPr>
          <p:cNvPr id="13" name="Rounded Rectangle 12"/>
          <p:cNvSpPr/>
          <p:nvPr/>
        </p:nvSpPr>
        <p:spPr>
          <a:xfrm>
            <a:off x="6263640" y="246888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 clean slate</a:t>
            </a:r>
          </a:p>
        </p:txBody>
      </p:sp>
      <p:sp>
        <p:nvSpPr>
          <p:cNvPr id="14" name="Rounded Rectangle 13"/>
          <p:cNvSpPr/>
          <p:nvPr/>
        </p:nvSpPr>
        <p:spPr>
          <a:xfrm>
            <a:off x="548640" y="3429000"/>
            <a:ext cx="5577840" cy="850392"/>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Q3. “逐案” in English?</a:t>
            </a:r>
          </a:p>
        </p:txBody>
      </p:sp>
      <p:sp>
        <p:nvSpPr>
          <p:cNvPr id="15" name="Rounded Rectangle 14"/>
          <p:cNvSpPr/>
          <p:nvPr/>
        </p:nvSpPr>
        <p:spPr>
          <a:xfrm>
            <a:off x="6263640" y="342900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case by case</a:t>
            </a:r>
          </a:p>
        </p:txBody>
      </p:sp>
      <p:sp>
        <p:nvSpPr>
          <p:cNvPr id="16" name="Rounded Rectangle 15"/>
          <p:cNvSpPr/>
          <p:nvPr/>
        </p:nvSpPr>
        <p:spPr>
          <a:xfrm>
            <a:off x="548640" y="4389120"/>
            <a:ext cx="5577840" cy="850392"/>
          </a:xfrm>
          <a:prstGeom prst="roundRect">
            <a:avLst>
              <a:gd name="adj" fmla="val 15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Q4. Fix it: I wouldn’t be surprised if it will fail.</a:t>
            </a:r>
          </a:p>
        </p:txBody>
      </p:sp>
      <p:sp>
        <p:nvSpPr>
          <p:cNvPr id="17" name="Rounded Rectangle 16"/>
          <p:cNvSpPr/>
          <p:nvPr/>
        </p:nvSpPr>
        <p:spPr>
          <a:xfrm>
            <a:off x="6263640" y="438912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 wouldn’t be surprised if it failed.</a:t>
            </a:r>
          </a:p>
        </p:txBody>
      </p:sp>
      <p:sp>
        <p:nvSpPr>
          <p:cNvPr id="18" name="Rounded Rectangle 17"/>
          <p:cNvSpPr/>
          <p:nvPr/>
        </p:nvSpPr>
        <p:spPr>
          <a:xfrm>
            <a:off x="548640" y="5349240"/>
            <a:ext cx="5577840" cy="850392"/>
          </a:xfrm>
          <a:prstGeom prst="roundRect">
            <a:avLst>
              <a:gd name="adj" fmla="val 15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Q5. Fix it: He was in the prison.</a:t>
            </a:r>
          </a:p>
        </p:txBody>
      </p:sp>
      <p:sp>
        <p:nvSpPr>
          <p:cNvPr id="19" name="Rounded Rectangle 18"/>
          <p:cNvSpPr/>
          <p:nvPr/>
        </p:nvSpPr>
        <p:spPr>
          <a:xfrm>
            <a:off x="6263640" y="534924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He was in prison.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1"/>
                                        </p:tgtEl>
                                        <p:attrNameLst>
                                          <p:attrName>style.visibility</p:attrName>
                                        </p:attrNameLst>
                                      </p:cBhvr>
                                      <p:to>
                                        <p:strVal val="visible"/>
                                      </p:to>
                                    </p:set>
                                    <p:animEffect transition="in" filter="fade">
                                      <p:cBhvr>
                                        <p:cTn id="9" dur="4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400"/>
                                        <p:tgtEl>
                                          <p:spTgt spid="12"/>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400"/>
                                        <p:tgtEl>
                                          <p:spTgt spid="14"/>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400"/>
                                        <p:tgtEl>
                                          <p:spTgt spid="15"/>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400"/>
                                        <p:tgtEl>
                                          <p:spTgt spid="16"/>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400"/>
                                        <p:tgtEl>
                                          <p:spTgt spid="17"/>
                                        </p:tgtEl>
                                      </p:cBhvr>
                                    </p:animEffect>
                                  </p:childTnLst>
                                </p:cTn>
                              </p:par>
                            </p:childTnLst>
                          </p:cTn>
                        </p:par>
                      </p:childTnLst>
                    </p:cTn>
                  </p:par>
                  <p:par>
                    <p:cTn id="46" fill="hold">
                      <p:stCondLst>
                        <p:cond delay="indefinite"/>
                      </p:stCondLst>
                      <p:childTnLst>
                        <p:par>
                          <p:cTn id="47" fill="hold">
                            <p:stCondLst>
                              <p:cond delay="0"/>
                            </p:stCondLst>
                            <p:childTnLst>
                              <p:par>
                                <p:cTn id="45" presetID="10" presetClass="entr" presetSubtype="0" fill="hold" nodeType="click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00"/>
                                        <p:tgtEl>
                                          <p:spTgt spid="18"/>
                                        </p:tgtEl>
                                      </p:cBhvr>
                                    </p:animEffect>
                                  </p:childTnLst>
                                </p:cTn>
                              </p:par>
                            </p:childTnLst>
                          </p:cTn>
                        </p:par>
                      </p:childTnLst>
                    </p:cTn>
                  </p:par>
                  <p:par>
                    <p:cTn id="51" fill="hold">
                      <p:stCondLst>
                        <p:cond delay="indefinite"/>
                      </p:stCondLst>
                      <p:childTnLst>
                        <p:par>
                          <p:cTn id="52" fill="hold">
                            <p:stCondLst>
                              <p:cond delay="0"/>
                            </p:stCondLst>
                            <p:childTnLst>
                              <p:par>
                                <p:cTn id="50" presetID="10" presetClass="entr" presetSubtype="0" fill="hold" nodeType="click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20</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94</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TextBox 4"/>
          <p:cNvSpPr txBox="1"/>
          <p:nvPr/>
        </p:nvSpPr>
        <p:spPr>
          <a:xfrm>
            <a:off x="0" y="822960"/>
            <a:ext cx="12191695" cy="1463040"/>
          </a:xfrm>
          <a:prstGeom prst="rect">
            <a:avLst/>
          </a:prstGeom>
          <a:noFill/>
        </p:spPr>
        <p:txBody>
          <a:bodyPr wrap="square" anchor="t">
            <a:spAutoFit/>
          </a:bodyPr>
          <a:lstStyle/>
          <a:p>
            <a:pPr algn="ctr">
              <a:lnSpc>
                <a:spcPct val="115000"/>
              </a:lnSpc>
              <a:spcAft>
                <a:spcPts val="800"/>
              </a:spcAft>
            </a:pPr>
            <a:r>
              <a:rPr sz="10000" b="0">
                <a:solidFill>
                  <a:srgbClr val="1F2A44"/>
                </a:solidFill>
                <a:latin typeface="Arial"/>
                <a:ea typeface="Microsoft YaHei"/>
              </a:rPr>
              <a:t>🏆</a:t>
            </a:r>
          </a:p>
        </p:txBody>
      </p:sp>
      <p:sp>
        <p:nvSpPr>
          <p:cNvPr id="6" name="TextBox 5"/>
          <p:cNvSpPr txBox="1"/>
          <p:nvPr/>
        </p:nvSpPr>
        <p:spPr>
          <a:xfrm>
            <a:off x="0" y="2560320"/>
            <a:ext cx="12191695" cy="914400"/>
          </a:xfrm>
          <a:prstGeom prst="rect">
            <a:avLst/>
          </a:prstGeom>
          <a:noFill/>
        </p:spPr>
        <p:txBody>
          <a:bodyPr wrap="square" anchor="t">
            <a:spAutoFit/>
          </a:bodyPr>
          <a:lstStyle/>
          <a:p>
            <a:pPr algn="ctr">
              <a:lnSpc>
                <a:spcPct val="115000"/>
              </a:lnSpc>
              <a:spcAft>
                <a:spcPts val="800"/>
              </a:spcAft>
            </a:pPr>
            <a:r>
              <a:rPr sz="4600" b="1">
                <a:solidFill>
                  <a:srgbClr val="FFFFFF"/>
                </a:solidFill>
                <a:latin typeface="Arial"/>
                <a:ea typeface="Microsoft YaHei"/>
              </a:rPr>
              <a:t>And the winning team is…</a:t>
            </a:r>
          </a:p>
        </p:txBody>
      </p:sp>
      <p:sp>
        <p:nvSpPr>
          <p:cNvPr id="7" name="TextBox 6"/>
          <p:cNvSpPr txBox="1"/>
          <p:nvPr/>
        </p:nvSpPr>
        <p:spPr>
          <a:xfrm>
            <a:off x="0" y="3520440"/>
            <a:ext cx="12191695" cy="640080"/>
          </a:xfrm>
          <a:prstGeom prst="rect">
            <a:avLst/>
          </a:prstGeom>
          <a:noFill/>
        </p:spPr>
        <p:txBody>
          <a:bodyPr wrap="square" anchor="t">
            <a:spAutoFit/>
          </a:bodyPr>
          <a:lstStyle/>
          <a:p>
            <a:pPr algn="ctr">
              <a:lnSpc>
                <a:spcPct val="115000"/>
              </a:lnSpc>
              <a:spcAft>
                <a:spcPts val="800"/>
              </a:spcAft>
            </a:pPr>
            <a:r>
              <a:rPr sz="2200" b="0">
                <a:solidFill>
                  <a:srgbClr val="FFC857"/>
                </a:solidFill>
                <a:latin typeface="Arial"/>
                <a:ea typeface="Microsoft YaHei"/>
              </a:rPr>
              <a:t>统计积分，看看今天的冠军是哪一组！</a:t>
            </a:r>
          </a:p>
        </p:txBody>
      </p:sp>
      <p:sp>
        <p:nvSpPr>
          <p:cNvPr id="8" name="Rounded Rectangle 7"/>
          <p:cNvSpPr/>
          <p:nvPr/>
        </p:nvSpPr>
        <p:spPr>
          <a:xfrm>
            <a:off x="822960" y="4480560"/>
            <a:ext cx="2468880" cy="822960"/>
          </a:xfrm>
          <a:prstGeom prst="roundRect">
            <a:avLst>
              <a:gd name="adj" fmla="val 4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Alpha: ____</a:t>
            </a:r>
          </a:p>
        </p:txBody>
      </p:sp>
      <p:sp>
        <p:nvSpPr>
          <p:cNvPr id="9" name="Rounded Rectangle 8"/>
          <p:cNvSpPr/>
          <p:nvPr/>
        </p:nvSpPr>
        <p:spPr>
          <a:xfrm>
            <a:off x="3520440" y="4480560"/>
            <a:ext cx="2468880" cy="822960"/>
          </a:xfrm>
          <a:prstGeom prst="roundRect">
            <a:avLst>
              <a:gd name="adj" fmla="val 4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Bravo: ____</a:t>
            </a:r>
          </a:p>
        </p:txBody>
      </p:sp>
      <p:sp>
        <p:nvSpPr>
          <p:cNvPr id="10" name="Rounded Rectangle 9"/>
          <p:cNvSpPr/>
          <p:nvPr/>
        </p:nvSpPr>
        <p:spPr>
          <a:xfrm>
            <a:off x="6217920" y="4480560"/>
            <a:ext cx="2468880" cy="822960"/>
          </a:xfrm>
          <a:prstGeom prst="roundRect">
            <a:avLst>
              <a:gd name="adj" fmla="val 4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Charlie: ____</a:t>
            </a:r>
          </a:p>
        </p:txBody>
      </p:sp>
      <p:sp>
        <p:nvSpPr>
          <p:cNvPr id="11" name="Rounded Rectangle 10"/>
          <p:cNvSpPr/>
          <p:nvPr/>
        </p:nvSpPr>
        <p:spPr>
          <a:xfrm>
            <a:off x="8915400" y="4480560"/>
            <a:ext cx="2468880" cy="822960"/>
          </a:xfrm>
          <a:prstGeom prst="roundRect">
            <a:avLst>
              <a:gd name="adj" fmla="val 4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Delta: ____</a:t>
            </a:r>
          </a:p>
        </p:txBody>
      </p:sp>
    </p:spTree>
  </p:cSld>
  <p:clrMapOvr>
    <a:masterClrMapping/>
  </p:clrMapOvr>
  <p:transition spd="med">
    <p:fade/>
  </p:transition>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20</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95</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Oval 4"/>
          <p:cNvSpPr/>
          <p:nvPr/>
        </p:nvSpPr>
        <p:spPr>
          <a:xfrm>
            <a:off x="640080" y="548640"/>
            <a:ext cx="1280160" cy="12801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332720" y="4754880"/>
            <a:ext cx="1371600" cy="137160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881360" y="822960"/>
            <a:ext cx="731520" cy="7315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0" y="1645920"/>
            <a:ext cx="12191695" cy="1097280"/>
          </a:xfrm>
          <a:prstGeom prst="rect">
            <a:avLst/>
          </a:prstGeom>
          <a:noFill/>
        </p:spPr>
        <p:txBody>
          <a:bodyPr wrap="square" anchor="t">
            <a:spAutoFit/>
          </a:bodyPr>
          <a:lstStyle/>
          <a:p>
            <a:pPr algn="ctr">
              <a:lnSpc>
                <a:spcPct val="115000"/>
              </a:lnSpc>
              <a:spcAft>
                <a:spcPts val="800"/>
              </a:spcAft>
            </a:pPr>
            <a:r>
              <a:rPr sz="6400" b="0">
                <a:solidFill>
                  <a:srgbClr val="1F2A44"/>
                </a:solidFill>
                <a:latin typeface="Arial"/>
                <a:ea typeface="Microsoft YaHei"/>
              </a:rPr>
              <a:t>🎉</a:t>
            </a:r>
          </a:p>
        </p:txBody>
      </p:sp>
      <p:sp>
        <p:nvSpPr>
          <p:cNvPr id="9" name="TextBox 8"/>
          <p:cNvSpPr txBox="1"/>
          <p:nvPr/>
        </p:nvSpPr>
        <p:spPr>
          <a:xfrm>
            <a:off x="0" y="2743200"/>
            <a:ext cx="12191695" cy="1097280"/>
          </a:xfrm>
          <a:prstGeom prst="rect">
            <a:avLst/>
          </a:prstGeom>
          <a:noFill/>
        </p:spPr>
        <p:txBody>
          <a:bodyPr wrap="square" anchor="t">
            <a:spAutoFit/>
          </a:bodyPr>
          <a:lstStyle/>
          <a:p>
            <a:pPr algn="ctr">
              <a:lnSpc>
                <a:spcPct val="115000"/>
              </a:lnSpc>
              <a:spcAft>
                <a:spcPts val="800"/>
              </a:spcAft>
            </a:pPr>
            <a:r>
              <a:rPr sz="5600" b="1">
                <a:solidFill>
                  <a:srgbClr val="FFFFFF"/>
                </a:solidFill>
                <a:latin typeface="Arial"/>
                <a:ea typeface="Microsoft YaHei"/>
              </a:rPr>
              <a:t>Unit 20 Complete!</a:t>
            </a:r>
          </a:p>
        </p:txBody>
      </p:sp>
      <p:sp>
        <p:nvSpPr>
          <p:cNvPr id="10" name="TextBox 9"/>
          <p:cNvSpPr txBox="1"/>
          <p:nvPr/>
        </p:nvSpPr>
        <p:spPr>
          <a:xfrm>
            <a:off x="0" y="3931920"/>
            <a:ext cx="12191695" cy="731520"/>
          </a:xfrm>
          <a:prstGeom prst="rect">
            <a:avLst/>
          </a:prstGeom>
          <a:noFill/>
        </p:spPr>
        <p:txBody>
          <a:bodyPr wrap="square" anchor="t">
            <a:spAutoFit/>
          </a:bodyPr>
          <a:lstStyle/>
          <a:p>
            <a:pPr algn="ctr">
              <a:lnSpc>
                <a:spcPct val="115000"/>
              </a:lnSpc>
              <a:spcAft>
                <a:spcPts val="800"/>
              </a:spcAft>
            </a:pPr>
            <a:r>
              <a:rPr sz="2200" b="0">
                <a:solidFill>
                  <a:srgbClr val="FFC857"/>
                </a:solidFill>
                <a:latin typeface="Arial"/>
                <a:ea typeface="Microsoft YaHei"/>
              </a:rPr>
              <a:t>Great work today! Keep practising 10 minutes a day.  每天 10 分钟，坚持就是进步！</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