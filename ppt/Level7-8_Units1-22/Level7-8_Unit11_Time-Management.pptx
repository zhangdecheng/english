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11: Time Management — Self-Study Workbook (Lessons 49–52)</a:t>
            </a:r>
          </a:p>
          <a:p/>
          <a:p>
            <a:r>
              <a:t>开场：简单介绍本单元的主题和要完成的 4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49 · Managing free time 管理空闲时间</a:t>
            </a:r>
          </a:p>
          <a:p>
            <a:r>
              <a:t>Goal: talk about how you spend and plan your free time, and discuss why rest and hobbies matter for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“free time” 与 “spare time” 同义;“leisure” 较正式。“feel guilty” 感到愧疚。第 4 题 “How much” 问不可数名词。</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 spend your free time and why it matters.</a:t>
            </a:r>
          </a:p>
          <a:p>
            <a:r>
              <a:t>Say: what you do → how often → why you enjoy it → how it helps your work.</a:t>
            </a:r>
          </a:p>
          <a:p>
            <a:r>
              <a:t>Useful starters: “In my spare time, I…” / “I make a point of…” / “It helps me to…” / “Without it, I’d feel…”</a:t>
            </a:r>
          </a:p>
          <a:p>
            <a:r>
              <a:t>“make a point of + -ing” 特意去做;“in my spare time” = 业余时间。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professionals treat free time as whatever is left after work, so it disappears when the day is busy. Researchers who study well-being suggest the opposite: plan it first. Put exercise, hobbies, and time with friends in your calendar, just like meetings. Quality matters as much as quantity. An hour spent on a hobby you enjoy refreshes you more than three hours scrolling on your phone. It also helps to have at least one activity that is unconnected with work, so your mind can switch off. People who rest properly often return with new ideas and fewer mistakes. If you feel guilty about relaxing, remember that rest is part of productivity, not the opposite of it. A good athlete trains hard, and then recovers.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do researchers suggest about planning free time?</a:t>
            </a:r>
          </a:p>
          <a:p>
            <a:r>
              <a:t>A: Plan it first, putting it in the calendar like meetings.</a:t>
            </a:r>
          </a:p>
          <a:p>
            <a:r>
              <a:t>Q2. What matters as much as quantity?</a:t>
            </a:r>
          </a:p>
          <a:p>
            <a:r>
              <a:t>A: Quality.</a:t>
            </a:r>
          </a:p>
          <a:p>
            <a:r>
              <a:t>Q3. Why does the writer compare rest to an athlete?</a:t>
            </a:r>
          </a:p>
          <a:p>
            <a:r>
              <a:t>A: Because recovery is part of performance, as rest is part of productivity.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Free time 空闲时间</a:t>
            </a:r>
          </a:p>
          <a:p>
            <a:r>
              <a:t>领读 → 学员跟读 → 请学员用表达造一个和自己工作相关的句子。</a:t>
            </a:r>
          </a:p>
          <a:p>
            <a:r>
              <a:t>spare time / free time (noun) 业余时间 — “What do you do in your spare time?”</a:t>
            </a:r>
          </a:p>
          <a:p>
            <a:r>
              <a:t>hobby / pastime (noun) 爱好 — “Cooking is my pastime.”</a:t>
            </a:r>
          </a:p>
          <a:p>
            <a:r>
              <a:t>switch off (phrasal verb) 放松/不再想工作 — “I can’t switch off after work.”</a:t>
            </a:r>
          </a:p>
          <a:p>
            <a:r>
              <a:t>★ unwind (verb) 放松 — “I unwind with a walk.”</a:t>
            </a:r>
          </a:p>
          <a:p>
            <a:r>
              <a:t>★ recharge your batteries (idiom) 恢复精力 — “I need to recharge my batteries.”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Planning 安排</a:t>
            </a:r>
          </a:p>
          <a:p>
            <a:r>
              <a:t>领读 → 学员跟读 → 请学员用表达造一个和自己工作相关的句子。</a:t>
            </a:r>
          </a:p>
          <a:p>
            <a:r>
              <a:t>schedule / block out (verb) 安排/预留 — “I block out Sunday for family.”</a:t>
            </a:r>
          </a:p>
          <a:p>
            <a:r>
              <a:t>make time for (collocation) 抽出时间做 — “Make time for exercise.”</a:t>
            </a:r>
          </a:p>
          <a:p>
            <a:r>
              <a:t>set boundaries (collocation) 设定界限 — “Set boundaries between work and home.”</a:t>
            </a:r>
          </a:p>
          <a:p>
            <a:r>
              <a:t>★ fit (something) in (phrasal verb) 挤出时间做 — “I fit in a run before work.”</a:t>
            </a:r>
          </a:p>
          <a:p>
            <a:r>
              <a:t>★ prioritise rest (collocation) 把休息放第一 — “Prioritise rest.”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Balance 平衡</a:t>
            </a:r>
          </a:p>
          <a:p>
            <a:r>
              <a:t>领读 → 学员跟读 → 请学员用表达造一个和自己工作相关的句子。</a:t>
            </a:r>
          </a:p>
          <a:p>
            <a:r>
              <a:t>work-life balance (noun) 工作生活平衡 — “I value work-life balance.”</a:t>
            </a:r>
          </a:p>
          <a:p>
            <a:r>
              <a:t>leisure activity (noun) 休闲活动 — “Reading is a leisure activity.”</a:t>
            </a:r>
          </a:p>
          <a:p>
            <a:r>
              <a:t>take up (a hobby) (phrasal verb) 开始(爱好) — “I took up painting.”</a:t>
            </a:r>
          </a:p>
          <a:p>
            <a:r>
              <a:t>★ burn the candle at both ends (idiom) 过度操劳 — “He’s burning the candle at both ends.”</a:t>
            </a:r>
          </a:p>
          <a:p>
            <a:r>
              <a:t>★ down time (noun) 休息时间 — “Down time helps creativity.”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spare / switch / unwind / boundaries / fit / balance</a:t>
            </a:r>
          </a:p>
          <a:p>
            <a:r>
              <a:t>1. What do you do in your _______ time? → spare</a:t>
            </a:r>
          </a:p>
          <a:p>
            <a:r>
              <a:t>2. I can’t _______ off after work. → switch</a:t>
            </a:r>
          </a:p>
          <a:p>
            <a:r>
              <a:t>3. I _______ with a walk after dinner. → unwind</a:t>
            </a:r>
          </a:p>
          <a:p>
            <a:r>
              <a:t>4. You need to set _______ between work and home. → boundaries</a:t>
            </a:r>
          </a:p>
          <a:p>
            <a:r>
              <a:t>5. I try to _______ in a run before work. → fit</a:t>
            </a:r>
          </a:p>
          <a:p>
            <a:r>
              <a:t>6. I value work-life _______. → balance</a:t>
            </a:r>
          </a:p>
          <a:p>
            <a:r>
              <a:t>Mistake Watch: (搭配) in your spare time, make time FOR, take up a hobby;free time 不可数 (a lot of free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weekends 聊周末</a:t>
            </a:r>
          </a:p>
          <a:p>
            <a:r>
              <a:t>情景：Colleagues chat on Monday.</a:t>
            </a:r>
          </a:p>
          <a:p>
            <a:r>
              <a:t>Role A: Colleague 1 Role B: Colleague 2</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Did you do anything nice at the weekend?</a:t>
            </a:r>
          </a:p>
          <a:p>
            <a:r>
              <a:t>B: I took up pottery. I wanted something totally unconnected with work.</a:t>
            </a:r>
          </a:p>
          <a:p>
            <a:r>
              <a:t>A: Is it relaxing?</a:t>
            </a:r>
          </a:p>
          <a:p>
            <a:r>
              <a:t>B: Very. I can finally switch off. What about you?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don’t plan much, to be honest. I usually just end up working.</a:t>
            </a:r>
          </a:p>
          <a:p>
            <a:r>
              <a:t>B: You should block out some time for yourself.</a:t>
            </a:r>
          </a:p>
          <a:p>
            <a:r>
              <a:t>A: You’re right. I’ve been burning the candle at both ends.</a:t>
            </a:r>
          </a:p>
          <a:p>
            <a:r>
              <a:t>B: Come to pottery with me next Saturday.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chat about free time.</a:t>
            </a:r>
          </a:p>
          <a:p>
            <a:r>
              <a:t>Your role (A) | Colleague.</a:t>
            </a:r>
          </a:p>
          <a:p>
            <a:r>
              <a:t>Partner’s role (B) | Colleague. Hobby: ______________</a:t>
            </a:r>
          </a:p>
          <a:p>
            <a:r>
              <a:t>Must use (3 or more) | switch off · take up · block out · unconnected with work · I’ve been…</a:t>
            </a:r>
          </a:p>
          <a:p>
            <a:r>
              <a:t>Goal | Share what you do and suggest something kindly.</a:t>
            </a:r>
          </a:p>
          <a:p>
            <a:r>
              <a:t>My notes | ____________________________________________</a:t>
            </a:r>
          </a:p>
          <a:p>
            <a:r>
              <a:t>Say why you feel guilty.</a:t>
            </a:r>
          </a:p>
          <a:p>
            <a:r>
              <a:t>Recommend an activity.</a:t>
            </a:r>
          </a:p>
          <a:p>
            <a:r>
              <a:t>Agree to try something new.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 boundaries 设定工作界限</a:t>
            </a:r>
          </a:p>
          <a:p>
            <a:r>
              <a:t>情景：Your manager emails you at night.</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Can I talk about after-hours messages? I’ve noticed a few arrive late in the evening.</a:t>
            </a:r>
          </a:p>
          <a:p>
            <a:r>
              <a:t>B: I tend to work late, and I send them when I think of them.</a:t>
            </a:r>
          </a:p>
          <a:p>
            <a:r>
              <a:t>A: I understand, but I find it hard to switch off if I see them.</a:t>
            </a:r>
          </a:p>
          <a:p>
            <a:r>
              <a:t>B: I didn’t realise. What would help?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you schedule them for the morning?</a:t>
            </a:r>
          </a:p>
          <a:p>
            <a:r>
              <a:t>B: Of course. I’ll do that.</a:t>
            </a:r>
          </a:p>
          <a:p>
            <a:r>
              <a:t>A: Thanks. It will help me recharge in the evenings.</a:t>
            </a:r>
          </a:p>
          <a:p>
            <a:r>
              <a:t>B: No problem.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set a polite boundary.</a:t>
            </a:r>
          </a:p>
          <a:p>
            <a:r>
              <a:t>Your role (A) | Employee.</a:t>
            </a:r>
          </a:p>
          <a:p>
            <a:r>
              <a:t>Partner’s role (B) | Manager. Issue: ______________</a:t>
            </a:r>
          </a:p>
          <a:p>
            <a:r>
              <a:t>Must use (3 or more) | after-hours · find it hard to · switch off · Could you…? · recharge</a:t>
            </a:r>
          </a:p>
          <a:p>
            <a:r>
              <a:t>Goal | Explain the issue without blaming and suggest a fix.</a:t>
            </a:r>
          </a:p>
          <a:p>
            <a:r>
              <a:t>My notes | ____________________________________________</a:t>
            </a:r>
          </a:p>
          <a:p>
            <a:r>
              <a:t>Offer an exception for emergencies.</a:t>
            </a:r>
          </a:p>
          <a:p>
            <a:r>
              <a:t>Respond to “I just need it done”.</a:t>
            </a:r>
          </a:p>
          <a:p>
            <a:r>
              <a:t>Agree on how to contact you.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much free time do you need to feel rested? | “I need about… because…”</a:t>
            </a:r>
          </a:p>
          <a:p>
            <a:r>
              <a:t>2. Should companies encourage hobbies? | “They could, because…”</a:t>
            </a:r>
          </a:p>
          <a:p>
            <a:r>
              <a:t>3. Is it OK to check email in your free time? | “Only in emergencies, since…”</a:t>
            </a:r>
          </a:p>
          <a:p>
            <a:r>
              <a:t>4. What is the best way to relax after a stressful day? | “I find that… works well.”</a:t>
            </a:r>
          </a:p>
          <a:p>
            <a:r>
              <a:t>5. Do you plan your free time? | “I try to… / I prefer to…”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it’s fine in a real emergency, but not as a habit. If I check email every evening, my brain never stops working and I sleep worse. I’ve started a rule: no email after 8 p.m. unless it’s urgent. It has made me calmer and, surprisingly, more productive in the morning.”</a:t>
            </a:r>
          </a:p>
          <a:p>
            <a:r>
              <a:t>“as a habit” 作为习惯;“never stops working” 否定+现在进行/一般现在。</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perfect for habits and change 现在完成时用于变化</a:t>
            </a:r>
          </a:p>
          <a:p>
            <a:r>
              <a:t>Structure | Example</a:t>
            </a:r>
          </a:p>
          <a:p>
            <a:r>
              <a:t>have + p.p. (change) | I’ve started a no-email rule.</a:t>
            </a:r>
          </a:p>
          <a:p>
            <a:r>
              <a:t>have been + -ing | I’ve been working too late recently.</a:t>
            </a:r>
          </a:p>
          <a:p>
            <a:r>
              <a:t>tend to / usually | I tend to work late.</a:t>
            </a:r>
          </a:p>
          <a:p>
            <a:r>
              <a:t>I used to… but now… | I used to check email, but now I don’t.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perfect for habits and change 现在完成时用于变化</a:t>
            </a:r>
          </a:p>
          <a:p>
            <a:r>
              <a:t>Use present perfect for results connected to now: It has made me calmer.</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much free time.  →  ✓ I have a lot of free time.  (much 常用于否定/疑问)</a:t>
            </a:r>
          </a:p>
          <a:p>
            <a:r>
              <a:t>✗ I am boring in my free time.  →  ✓ I am bored in my free time.  (bored)</a:t>
            </a:r>
          </a:p>
          <a:p>
            <a:r>
              <a:t>✗ I spent my weekend to read.  →  ✓ I spent my weekend reading.  (spend + -ing)</a:t>
            </a:r>
          </a:p>
          <a:p>
            <a:r>
              <a:t>Mistake Watch: Check a lot of, bored / boring, spend + -ing, at/on the weekend.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like play badminton.  →  ✓ I like playing badminton. / to play  (like + -ing)</a:t>
            </a:r>
          </a:p>
          <a:p>
            <a:r>
              <a:t>✗ I’m interested to cooking.  →  ✓ I’m interested in cooking.  (interested in)</a:t>
            </a:r>
          </a:p>
          <a:p>
            <a:r>
              <a:t>✗ I rest at home in the weekend.  →  ✓ I rest at home at the weekend. (UK) / on the weekend (US)  (介词)</a:t>
            </a:r>
          </a:p>
          <a:p>
            <a:r>
              <a:t>Mistake Watch: Check a lot of, bored / boring, spend + -ing, at/on the weekend.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Small talk about weekends. A normal Monday opener in English workplaces; keep it light.</a:t>
            </a:r>
          </a:p>
          <a:p>
            <a:r>
              <a:t>Hobbies are discussed freely. Interviewers sometimes ask about them.</a:t>
            </a:r>
          </a:p>
          <a:p>
            <a:r>
              <a:t>Respect boundaries. Messages outside hours are increasingly discouraged.</a:t>
            </a:r>
          </a:p>
          <a:p>
            <a:r>
              <a:t>Holiday time. Taking your full annual leave is expected in many countries.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talk about my free time with natural phrases.</a:t>
            </a:r>
          </a:p>
          <a:p>
            <a:r>
              <a:t>I can set a polite boundary at work.</a:t>
            </a:r>
          </a:p>
          <a:p>
            <a:r>
              <a:t>I can explain why rest matters.</a:t>
            </a:r>
          </a:p>
          <a:p>
            <a:r>
              <a:t>I use a lot of, bored / boring and spend + -ing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Tell a colleague about your weekend and one boundary you’d like.</a:t>
            </a:r>
          </a:p>
          <a:p>
            <a:r>
              <a:t>8–10 | Listen to your recording. Check: a lot of, bored/boring, spend + -ing, interested in.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50 · A four-day workweek 四天工作制</a:t>
            </a:r>
          </a:p>
          <a:p>
            <a:r>
              <a:t>Goal: present the pros and cons of a four-day workweek and give a reasoned opinion.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“four-day workweek” 美式拼写;英式 “four-day week”。第 3 题 “Would you accept” 假设。</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Present the pros and cons of a four-day week and give your opinion.</a:t>
            </a:r>
          </a:p>
          <a:p>
            <a:r>
              <a:t>Say: the idea → benefits → drawbacks → your view.</a:t>
            </a:r>
          </a:p>
          <a:p>
            <a:r>
              <a:t>Useful starters: “The idea is that…” / “The main benefit is…” / “A potential drawback is…” / “On balance, I think…”</a:t>
            </a:r>
          </a:p>
          <a:p>
            <a:r>
              <a:t>“potential drawback” = 潜在缺点;“on balance” = 总的来说。</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four-day week means working four days instead of five, usually with the same pay. Several trials in different countries have reported that many employees feel less stressed, take fewer sick days and are happier in their jobs. Some companies also saw similar or better output, because people focused more and held shorter meetings. However, the model does not suit every business. Hospitals, shops and customer service teams may need cover on all days, so they might need more staff or complicated rotas. In some firms, employees compress the same hours into four longer days, which can be tiring. Supporters say the real change is about measuring results rather than hours. Critics warn that trial participants may be companies that were already well organised.</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two benefits reported by trials?</a:t>
            </a:r>
          </a:p>
          <a:p>
            <a:r>
              <a:t>A: Less stress, fewer sick days, happier staff, similar or better output.</a:t>
            </a:r>
          </a:p>
          <a:p>
            <a:r>
              <a:t>Q2. Why might hospitals find it difficult?</a:t>
            </a:r>
          </a:p>
          <a:p>
            <a:r>
              <a:t>A: They need cover on all days, so more staff or complicated rotas.</a:t>
            </a:r>
          </a:p>
          <a:p>
            <a:r>
              <a:t>Q3. What is the critics’ warning?</a:t>
            </a:r>
          </a:p>
          <a:p>
            <a:r>
              <a:t>A: Trial participants may be companies that were already well organised.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The idea 概念</a:t>
            </a:r>
          </a:p>
          <a:p>
            <a:r>
              <a:t>领读 → 学员跟读 → 请学员用表达造一个和自己工作相关的句子。</a:t>
            </a:r>
          </a:p>
          <a:p>
            <a:r>
              <a:t>four-day week (noun) 四天工作周 — “We trialled a four-day week.”</a:t>
            </a:r>
          </a:p>
          <a:p>
            <a:r>
              <a:t>compressed hours (noun) 压缩工时 — “We work compressed hours.”</a:t>
            </a:r>
          </a:p>
          <a:p>
            <a:r>
              <a:t>trial / pilot (noun) 试行 — “The pilot lasted six months.”</a:t>
            </a:r>
          </a:p>
          <a:p>
            <a:r>
              <a:t>★ 100-80-100 model (noun) 100%薪酬-80%时间-100%产出 — “The 100-80-100 model keeps pay the same.”</a:t>
            </a:r>
          </a:p>
          <a:p>
            <a:r>
              <a:t>★ four-day-week movement (noun) 四天工作制运动 — “The movement is growing.”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Benefits 好处</a:t>
            </a:r>
          </a:p>
          <a:p>
            <a:r>
              <a:t>领读 → 学员跟读 → 请学员用表达造一个和自己工作相关的句子。</a:t>
            </a:r>
          </a:p>
          <a:p>
            <a:r>
              <a:t>boost productivity (collocation) 提高生产率 — “A shorter week can boost productivity.”</a:t>
            </a:r>
          </a:p>
          <a:p>
            <a:r>
              <a:t>improve well-being (collocation) 改善福祉 — “It improves well-being.”</a:t>
            </a:r>
          </a:p>
          <a:p>
            <a:r>
              <a:t>reduce burnout (collocation) 减少倦怠 — “It may reduce burnout.”</a:t>
            </a:r>
          </a:p>
          <a:p>
            <a:r>
              <a:t>★ attract and retain talent (collocation) 吸引并留住人才 — “It helps attract and retain talent.”</a:t>
            </a:r>
          </a:p>
          <a:p>
            <a:r>
              <a:t>★ cut down on sick days (collocation) 减少病假 — “We cut down on sick days.”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Drawbacks 缺点</a:t>
            </a:r>
          </a:p>
          <a:p>
            <a:r>
              <a:t>领读 → 学员跟读 → 请学员用表达造一个和自己工作相关的句子。</a:t>
            </a:r>
          </a:p>
          <a:p>
            <a:r>
              <a:t>cover (noun) 替班/覆盖 — “We need cover on Fridays.”</a:t>
            </a:r>
          </a:p>
          <a:p>
            <a:r>
              <a:t>rota / shift pattern (noun) 轮班表 — “The rota is complicated.”</a:t>
            </a:r>
          </a:p>
          <a:p>
            <a:r>
              <a:t>workload (noun) 工作量 — “The workload didn’t shrink.”</a:t>
            </a:r>
          </a:p>
          <a:p>
            <a:r>
              <a:t>★ a one-size-fits-all solution (idiom) 一刀切方案 — “It’s not a one-size-fits-all solution.”</a:t>
            </a:r>
          </a:p>
          <a:p>
            <a:r>
              <a:t>★ intensify (verb) 加剧/强化 — “Work can intensify on fewer days.”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trial / productivity / well-being / cover / rota / workload</a:t>
            </a:r>
          </a:p>
          <a:p>
            <a:r>
              <a:t>1. We ran a six-month _______. → trial</a:t>
            </a:r>
          </a:p>
          <a:p>
            <a:r>
              <a:t>2. A shorter week can boost _______. → productivity</a:t>
            </a:r>
          </a:p>
          <a:p>
            <a:r>
              <a:t>3. It may improve staff _______. → well-being</a:t>
            </a:r>
          </a:p>
          <a:p>
            <a:r>
              <a:t>4. We need _______ on Fridays. → cover</a:t>
            </a:r>
          </a:p>
          <a:p>
            <a:r>
              <a:t>5. The _______ is complicated in hospitals. → rota</a:t>
            </a:r>
          </a:p>
          <a:p>
            <a:r>
              <a:t>6. The _______ didn’t shrink, only the days. → workload</a:t>
            </a:r>
          </a:p>
          <a:p>
            <a:r>
              <a:t>Mistake Watch: (搭配) boost productivity, reduce stress, improve well-being;rota(英)/ schedule(美)。</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Pitching the idea to a manager 向上司提议</a:t>
            </a:r>
          </a:p>
          <a:p>
            <a:r>
              <a:t>情景：You suggest a trial.</a:t>
            </a:r>
          </a:p>
          <a:p>
            <a:r>
              <a:t>Role A: Employee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suggest a four-day week trial for our team.</a:t>
            </a:r>
          </a:p>
          <a:p>
            <a:r>
              <a:t>B: Interesting. What’s the idea?</a:t>
            </a:r>
          </a:p>
          <a:p>
            <a:r>
              <a:t>A: We’d work four days with the same pay. Other companies have reported higher productivity and less stress.</a:t>
            </a:r>
          </a:p>
          <a:p>
            <a:r>
              <a:t>B: What about customers? We need cover on Fridays.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 could use a rota, so someone is always available.</a:t>
            </a:r>
          </a:p>
          <a:p>
            <a:r>
              <a:t>B: And the risks?</a:t>
            </a:r>
          </a:p>
          <a:p>
            <a:r>
              <a:t>A: The main drawback is longer days. But we can run a three-month pilot and measure results.</a:t>
            </a:r>
          </a:p>
          <a:p>
            <a:r>
              <a:t>B: That seems reasonable. Write a short proposal.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propose a trial.</a:t>
            </a:r>
          </a:p>
          <a:p>
            <a:r>
              <a:t>Your role (A) | Employee. Team: ______________</a:t>
            </a:r>
          </a:p>
          <a:p>
            <a:r>
              <a:t>Partner’s role (B) | Manager.</a:t>
            </a:r>
          </a:p>
          <a:p>
            <a:r>
              <a:t>Must use (3 or more) | the idea is · boost productivity · cover · rota · pilot</a:t>
            </a:r>
          </a:p>
          <a:p>
            <a:r>
              <a:t>Goal | Explain the benefits, address one concern and propose a pilot.</a:t>
            </a:r>
          </a:p>
          <a:p>
            <a:r>
              <a:t>My notes | ____________________________________________</a:t>
            </a:r>
          </a:p>
          <a:p>
            <a:r>
              <a:t>Add a measurable target.</a:t>
            </a:r>
          </a:p>
          <a:p>
            <a:r>
              <a:t>Handle a “no”.</a:t>
            </a:r>
          </a:p>
          <a:p>
            <a:r>
              <a:t>Suggest alternatives, like flexible hours.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balanced discussion 平衡讨论</a:t>
            </a:r>
          </a:p>
          <a:p>
            <a:r>
              <a:t>情景：A panel discusses the policy.</a:t>
            </a:r>
          </a:p>
          <a:p>
            <a:r>
              <a:t>Role A: Supporter Role B: Sceptic</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For me, the main benefit is better well-being. People return on Monday more energised.</a:t>
            </a:r>
          </a:p>
          <a:p>
            <a:r>
              <a:t>B: I agree that’s valuable, but it may not suit every sector.</a:t>
            </a:r>
          </a:p>
          <a:p>
            <a:r>
              <a:t>A: True. Shops and hospitals need cover.</a:t>
            </a:r>
          </a:p>
          <a:p>
            <a:r>
              <a:t>B: And in some firms, work just gets compressed into four longer days.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That’s a fair point. The aim should be fewer hours, not the same hours squeezed in.</a:t>
            </a:r>
          </a:p>
          <a:p>
            <a:r>
              <a:t>B: Exactly. So results should be measured, not hours.</a:t>
            </a:r>
          </a:p>
          <a:p>
            <a:r>
              <a:t>A: On balance, I’d support pilots in suitable industries.</a:t>
            </a:r>
          </a:p>
          <a:p>
            <a:r>
              <a:t>B: I can accept that.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debate the four-day week.</a:t>
            </a:r>
          </a:p>
          <a:p>
            <a:r>
              <a:t>Your role (A) | Supporter.</a:t>
            </a:r>
          </a:p>
          <a:p>
            <a:r>
              <a:t>Partner’s role (B) | Sceptic. Industry: ______________</a:t>
            </a:r>
          </a:p>
          <a:p>
            <a:r>
              <a:t>Must use (3 or more) | the main benefit · it may not suit · compressed · results, not hours · on balance</a:t>
            </a:r>
          </a:p>
          <a:p>
            <a:r>
              <a:t>Goal | Present both sides politely and find a middle ground.</a:t>
            </a:r>
          </a:p>
          <a:p>
            <a:r>
              <a:t>My notes | ____________________________________________</a:t>
            </a:r>
          </a:p>
          <a:p>
            <a:r>
              <a:t>Use concession: “I take your point, but…”</a:t>
            </a:r>
          </a:p>
          <a:p>
            <a:r>
              <a:t>Quote an example.</a:t>
            </a:r>
          </a:p>
          <a:p>
            <a:r>
              <a:t>Summarise agreement.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a four-day week work in your company? | “It could work if… / It might be difficult because…”</a:t>
            </a:r>
          </a:p>
          <a:p>
            <a:r>
              <a:t>2. Who benefits most from a shorter week? | “Parents and… might benefit most.”</a:t>
            </a:r>
          </a:p>
          <a:p>
            <a:r>
              <a:t>3. Is it fair if some jobs can’t have it? | “It’s a concern, but…”</a:t>
            </a:r>
          </a:p>
          <a:p>
            <a:r>
              <a:t>4. What would you do with an extra day? | “I’d probably…”</a:t>
            </a:r>
          </a:p>
          <a:p>
            <a:r>
              <a:t>5. Should productivity be measured by hours or results? | “I think results, since…”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believe results are a better measure than hours. Someone can sit at a desk for ten hours and achieve little, while another person can solve a problem in two. Measuring results also gives people more freedom and motivation. Of course, some jobs need presence, like nursing, so hours matter there.”</a:t>
            </a:r>
          </a:p>
          <a:p>
            <a:r>
              <a:t>“presence” = 在岗;“Of course, …” 让步。</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Presenting pros and cons 阐述利弊</a:t>
            </a:r>
          </a:p>
          <a:p>
            <a:r>
              <a:t>Function | Example</a:t>
            </a:r>
          </a:p>
          <a:p>
            <a:r>
              <a:t>Benefit | The main benefit is less stress.</a:t>
            </a:r>
          </a:p>
          <a:p>
            <a:r>
              <a:t>Drawback | A potential drawback is longer days.</a:t>
            </a:r>
          </a:p>
          <a:p>
            <a:r>
              <a:t>Concession | I take your point, but…</a:t>
            </a:r>
          </a:p>
          <a:p>
            <a:r>
              <a:t>Conclusion | On balance, I’d support a pilot.</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Presenting pros and cons 阐述利弊</a:t>
            </a:r>
          </a:p>
          <a:p>
            <a:r>
              <a:t>Use might / could / may to talk about possible effects: It could reduce burnout.</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four day week is good.  →  ✓ The four-day week is good.  (连字符)</a:t>
            </a:r>
          </a:p>
          <a:p>
            <a:r>
              <a:t>✗ A week of four days.  →  ✓ A four-day week.  (复合形容词用单数)</a:t>
            </a:r>
          </a:p>
          <a:p>
            <a:r>
              <a:t>✗ We work 4 days in a week.  →  ✓ We work four days a week.  (a week)</a:t>
            </a:r>
          </a:p>
          <a:p>
            <a:r>
              <a:t>Mistake Watch: Check four-day week (hyphen, singular), a week, in favour of.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brings us many benefit.  →  ✓ It brings us many benefits.  (benefits)</a:t>
            </a:r>
          </a:p>
          <a:p>
            <a:r>
              <a:t>✗ The company reduces hours but keep pay.  →  ✓ …but keeps pay.  (动词一致)</a:t>
            </a:r>
          </a:p>
          <a:p>
            <a:r>
              <a:t>✗ I’m in favour to it.  →  ✓ I’m in favour of it.  (in favour of)</a:t>
            </a:r>
          </a:p>
          <a:p>
            <a:r>
              <a:t>Mistake Watch: Check four-day week (hyphen, singular), a week, in favour of.</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Policy debates are common. Share balanced views, not only emotions.</a:t>
            </a:r>
          </a:p>
          <a:p>
            <a:r>
              <a:t>Use evidence. Cite trials and numbers: “Reports suggest…”.</a:t>
            </a:r>
          </a:p>
          <a:p>
            <a:r>
              <a:t>Four-day trials. Some trials are run by research groups with companies.</a:t>
            </a:r>
          </a:p>
          <a:p>
            <a:r>
              <a:t>Not all cultures work the same hours. Respect local norms when comparing.</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present pros and cons with the main benefit / a drawback.</a:t>
            </a:r>
          </a:p>
          <a:p>
            <a:r>
              <a:t>I can give a reasoned opinion using on balance.</a:t>
            </a:r>
          </a:p>
          <a:p>
            <a:r>
              <a:t>I can pitch a trial to a manager.</a:t>
            </a:r>
          </a:p>
          <a:p>
            <a:r>
              <a:t>I use four-day week and a week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Argue for or against a four-day week in 90 seconds.</a:t>
            </a:r>
          </a:p>
          <a:p>
            <a:r>
              <a:t>8–10 | Listen to your recording. Check: hyphenated adjectives, a week, in favour of.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51 · Working unpaid hours 无偿工作时间</a:t>
            </a:r>
          </a:p>
          <a:p>
            <a:r>
              <a:t>Goal: talk about unpaid overtime, expectations and rights, and refuse or negotiate extra work politely.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“overtime” 加班;“unpaid overtime” 无偿加班;“contracted hours” 合同工时。</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time you worked extra hours and how you felt.</a:t>
            </a:r>
          </a:p>
          <a:p>
            <a:r>
              <a:t>Say: what happened → why → how you felt → what you’d do now.</a:t>
            </a:r>
          </a:p>
          <a:p>
            <a:r>
              <a:t>Useful starters: “I ended up working…” / “I felt I had no choice…” / “In hindsight…” / “I’d now say…”</a:t>
            </a:r>
          </a:p>
          <a:p>
            <a:r>
              <a:t>“have no choice” 别无选择;“end up + -ing” 最后落得。</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Studies in several countries suggest that many employees work hours that are never recorded or paid, from answering messages in the evening to finishing reports at weekends. Some do it out of ambition or loyalty. Others fear being seen as less committed than colleagues. In certain cultures, leaving on time can seem unusual. The cost, however, is real: tiredness, mistakes and a gradual drop in motivation. Managers also lose clear information about workload, because the extra hours hide the fact that the team has too much to do. Some countries have laws on working time and overtime pay. Employees can protect themselves by tracking their hours, agreeing priorities with their manager, and learning to say, “I can do this, but something else will have to wait.”</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do people work unpaid hours?</a:t>
            </a:r>
          </a:p>
          <a:p>
            <a:r>
              <a:t>A: Ambition, loyalty, or fear of seeming less committed.</a:t>
            </a:r>
          </a:p>
          <a:p>
            <a:r>
              <a:t>Q2. How does unpaid overtime affect managers’ information?</a:t>
            </a:r>
          </a:p>
          <a:p>
            <a:r>
              <a:t>A: The extra hours hide the fact that the team has too much to do.</a:t>
            </a:r>
          </a:p>
          <a:p>
            <a:r>
              <a:t>Q3. What phrase does the writer recommend?</a:t>
            </a:r>
          </a:p>
          <a:p>
            <a:r>
              <a:t>A: “I can do this, but something else will have to wait.”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Hours and pay 工时与报酬</a:t>
            </a:r>
          </a:p>
          <a:p>
            <a:r>
              <a:t>领读 → 学员跟读 → 请学员用表达造一个和自己工作相关的句子。</a:t>
            </a:r>
          </a:p>
          <a:p>
            <a:r>
              <a:t>contracted hours (noun) 合同工时 — “My contracted hours are 9 to 5.”</a:t>
            </a:r>
          </a:p>
          <a:p>
            <a:r>
              <a:t>unpaid overtime (noun) 无偿加班 — “We do a lot of unpaid overtime.”</a:t>
            </a:r>
          </a:p>
          <a:p>
            <a:r>
              <a:t>overtime pay (noun) 加班费 — “Overtime pay is time and a half.”</a:t>
            </a:r>
          </a:p>
          <a:p>
            <a:r>
              <a:t>★ off the clock (idiom) 下班后(不计酬) — “Working off the clock is common.”</a:t>
            </a:r>
          </a:p>
          <a:p>
            <a:r>
              <a:t>★ time in lieu (noun) 调休 — “I took time in lieu.”</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Pressure 压力</a:t>
            </a:r>
          </a:p>
          <a:p>
            <a:r>
              <a:t>领读 → 学员跟读 → 请学员用表达造一个和自己工作相关的句子。</a:t>
            </a:r>
          </a:p>
          <a:p>
            <a:r>
              <a:t>expected to (phrase) 被期待 — “We’re expected to stay late.”</a:t>
            </a:r>
          </a:p>
          <a:p>
            <a:r>
              <a:t>feel obliged to (phrase) 觉得有义务 — “I feel obliged to reply.”</a:t>
            </a:r>
          </a:p>
          <a:p>
            <a:r>
              <a:t>go the extra mile (idiom) 额外努力 — “She always goes the extra mile.”</a:t>
            </a:r>
          </a:p>
          <a:p>
            <a:r>
              <a:t>★ presenteeism (noun) 带病/超时出勤 — “Presenteeism harms productivity.”</a:t>
            </a:r>
          </a:p>
          <a:p>
            <a:r>
              <a:t>★ work-life blur (noun) 工作生活界线模糊 — “Remote work causes work-life blur.”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Saying no 拒绝</a:t>
            </a:r>
          </a:p>
          <a:p>
            <a:r>
              <a:t>领读 → 学员跟读 → 请学员用表达造一个和自己工作相关的句子。</a:t>
            </a:r>
          </a:p>
          <a:p>
            <a:r>
              <a:t>I’m afraid I can’t (phrase) 恐怕我不行 — “I’m afraid I can’t stay tonight.”</a:t>
            </a:r>
          </a:p>
          <a:p>
            <a:r>
              <a:t>I’d rather not (phrase) 我宁愿不 — “I’d rather not work this weekend.”</a:t>
            </a:r>
          </a:p>
          <a:p>
            <a:r>
              <a:t>push back (phrasal verb) 回绝/提出异议 — “You can push back politely.”</a:t>
            </a:r>
          </a:p>
          <a:p>
            <a:r>
              <a:t>★ take on too much (phrasal verb) 揽太多活 — “She took on too much.”</a:t>
            </a:r>
          </a:p>
          <a:p>
            <a:r>
              <a:t>★ draw the line (idiom) 划清界限 — “I draw the line at weekends.”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contracted / overtime / expected / obliged / rather / line</a:t>
            </a:r>
          </a:p>
          <a:p>
            <a:r>
              <a:t>1. My _______ hours are 9 to 5. → contracted</a:t>
            </a:r>
          </a:p>
          <a:p>
            <a:r>
              <a:t>2. We do a lot of unpaid _______. → overtime</a:t>
            </a:r>
          </a:p>
          <a:p>
            <a:r>
              <a:t>3. We’re _______ to stay late at the end of the month. → expected</a:t>
            </a:r>
          </a:p>
          <a:p>
            <a:r>
              <a:t>4. I feel _______ to reply to messages. → obliged</a:t>
            </a:r>
          </a:p>
          <a:p>
            <a:r>
              <a:t>5. I’d _______ not work this weekend. → rather</a:t>
            </a:r>
          </a:p>
          <a:p>
            <a:r>
              <a:t>6. I draw the _______ at weekends. → line</a:t>
            </a:r>
          </a:p>
          <a:p>
            <a:r>
              <a:t>Mistake Watch: (搭配) work overtime, do overtime, be paid overtime;overtime 不可数。</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Declining extra work politely 礼貌拒绝额外工作</a:t>
            </a:r>
          </a:p>
          <a:p>
            <a:r>
              <a:t>情景：Your manager asks for weekend work.</a:t>
            </a:r>
          </a:p>
          <a:p>
            <a:r>
              <a:t>Role A: Manager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you come in on Saturday? We have a deadline.</a:t>
            </a:r>
          </a:p>
          <a:p>
            <a:r>
              <a:t>B: I’m afraid I can’t this weekend. I have family plans.</a:t>
            </a:r>
          </a:p>
          <a:p>
            <a:r>
              <a:t>A: It’s only for a few hours.</a:t>
            </a:r>
          </a:p>
          <a:p>
            <a:r>
              <a:t>B: I understand, but I’d rather not give up my weekend. Could I finish part of it tonight instead?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would help. How long would it take?</a:t>
            </a:r>
          </a:p>
          <a:p>
            <a:r>
              <a:t>B: About two hours. And I’d like to take time in lieu next week.</a:t>
            </a:r>
          </a:p>
          <a:p>
            <a:r>
              <a:t>A: That sounds fair.</a:t>
            </a:r>
          </a:p>
          <a:p>
            <a:r>
              <a:t>B: Thanks for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decline and negotiate.</a:t>
            </a:r>
          </a:p>
          <a:p>
            <a:r>
              <a:t>Your role (A) | Manager. Request: ______________</a:t>
            </a:r>
          </a:p>
          <a:p>
            <a:r>
              <a:t>Partner’s role (B) | Employee.</a:t>
            </a:r>
          </a:p>
          <a:p>
            <a:r>
              <a:t>Must use (3 or more) | I’m afraid I can’t · I’d rather not · Could I… instead? · time in lieu · fair</a:t>
            </a:r>
          </a:p>
          <a:p>
            <a:r>
              <a:t>Goal | Say no politely, offer an alternative and agree compensation.</a:t>
            </a:r>
          </a:p>
          <a:p>
            <a:r>
              <a:t>My notes | ____________________________________________</a:t>
            </a:r>
          </a:p>
          <a:p>
            <a:r>
              <a:t>Mention a legal limit.</a:t>
            </a:r>
          </a:p>
          <a:p>
            <a:r>
              <a:t>Offer a one-time exception.</a:t>
            </a:r>
          </a:p>
          <a:p>
            <a:r>
              <a:t>Discuss workload with data.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Raising workload concerns 提出工作量问题</a:t>
            </a:r>
          </a:p>
          <a:p>
            <a:r>
              <a:t>情景：You discuss priorities with your manager.</a:t>
            </a:r>
          </a:p>
          <a:p>
            <a:r>
              <a:t>Role A: You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I’ve been working late most evenings to keep up.</a:t>
            </a:r>
          </a:p>
          <a:p>
            <a:r>
              <a:t>B: I didn’t realise. Is the workload too heavy?</a:t>
            </a:r>
          </a:p>
          <a:p>
            <a:r>
              <a:t>A: Yes. I’ve taken on too much, and the extra hours aren’t sustainable.</a:t>
            </a:r>
          </a:p>
          <a:p>
            <a:r>
              <a:t>B: What would you like to change?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Let’s agree priorities. If I do these three tasks, something else will have to wait.</a:t>
            </a:r>
          </a:p>
          <a:p>
            <a:r>
              <a:t>B: That’s reasonable. Which one can wait?</a:t>
            </a:r>
          </a:p>
          <a:p>
            <a:r>
              <a:t>A: The monthly report. It could move to next week.</a:t>
            </a:r>
          </a:p>
          <a:p>
            <a:r>
              <a:t>B: OK. Let’s review in two weeks.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raise workload concerns.</a:t>
            </a:r>
          </a:p>
          <a:p>
            <a:r>
              <a:t>Your role (A) | Employee.</a:t>
            </a:r>
          </a:p>
          <a:p>
            <a:r>
              <a:t>Partner’s role (B) | Manager. Tasks: ______________</a:t>
            </a:r>
          </a:p>
          <a:p>
            <a:r>
              <a:t>Must use (3 or more) | working late · too heavy · sustainable · something else will have to wait · priorities</a:t>
            </a:r>
          </a:p>
          <a:p>
            <a:r>
              <a:t>Goal | Present facts, ask for priorities and agree a review.</a:t>
            </a:r>
          </a:p>
          <a:p>
            <a:r>
              <a:t>My notes | ____________________________________________</a:t>
            </a:r>
          </a:p>
          <a:p>
            <a:r>
              <a:t>Quantify your hours.</a:t>
            </a:r>
          </a:p>
          <a:p>
            <a:r>
              <a:t>Offer a solution, not a complaint.</a:t>
            </a:r>
          </a:p>
          <a:p>
            <a:r>
              <a:t>Ask for support.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unpaid overtime acceptable in some situations? | “Occasionally, if…”</a:t>
            </a:r>
          </a:p>
          <a:p>
            <a:r>
              <a:t>2. Why is it hard to leave on time in some workplaces? | “Because people feel… / It’s seen as…”</a:t>
            </a:r>
          </a:p>
          <a:p>
            <a:r>
              <a:t>3. Should overtime be regulated by law? | “I think so, because…”</a:t>
            </a:r>
          </a:p>
          <a:p>
            <a:r>
              <a:t>4. How can employees protect their time? | “They can… / It helps to…”</a:t>
            </a:r>
          </a:p>
          <a:p>
            <a:r>
              <a:t>5. What would you say if your boss expected weekend work? | “I’d say… / I’d explain that…”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 should be regulated, because otherwise the people with less power are asked to give more. Laws on maximum hours and overtime pay protect health and ensure fairness. Employers could still ask for extra work, but they must pay or give time off. That way, extra effort is recognised and not just expected.”</a:t>
            </a:r>
          </a:p>
          <a:p>
            <a:r>
              <a:t>“otherwise” 否则;“recognised and not just expected” 被认可而非被默认。</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requests and refusals 请求与拒绝</a:t>
            </a:r>
          </a:p>
          <a:p>
            <a:r>
              <a:t>Function | Example</a:t>
            </a:r>
          </a:p>
          <a:p>
            <a:r>
              <a:t>Request | Could you come in on Saturday?</a:t>
            </a:r>
          </a:p>
          <a:p>
            <a:r>
              <a:t>Polite refusal | I’m afraid I can’t.</a:t>
            </a:r>
          </a:p>
          <a:p>
            <a:r>
              <a:t>Alternative | Could I do it tonight instead?</a:t>
            </a:r>
          </a:p>
          <a:p>
            <a:r>
              <a:t>Compensation | I’d like time in lieu.</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Making requests and refusals 请求与拒绝</a:t>
            </a:r>
          </a:p>
          <a:p>
            <a:r>
              <a:t>After I’d rather, use the base verb: I’d rather not work. After I’d prefer, use to + verb: I’d prefer not to work.</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work overtimes every week.  →  ✓ I work overtime every week.  (overtime 不可数)</a:t>
            </a:r>
          </a:p>
          <a:p>
            <a:r>
              <a:t>✗ I’m not paid for the overtime.  →  ✓ I’m not paid for overtime.  (无 the)</a:t>
            </a:r>
          </a:p>
          <a:p>
            <a:r>
              <a:t>✗ I’d rather to stay at home.  →  ✓ I’d rather stay at home.  (would rather + 原形)</a:t>
            </a:r>
          </a:p>
          <a:p>
            <a:r>
              <a:t>Mistake Watch: Check uncountable overtime, would rather + base, ask someone to.</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can’t to come.  →  ✓ I can’t come.  (can’t + 原形)</a:t>
            </a:r>
          </a:p>
          <a:p>
            <a:r>
              <a:t>✗ I don’t want, I’m sorry.  →  ✓ I’d rather not, I’m afraid.  (太直接)</a:t>
            </a:r>
          </a:p>
          <a:p>
            <a:r>
              <a:t>✗ We were asked work extra hours.  →  ✓ We were asked to work extra hours.  (ask sb to)</a:t>
            </a:r>
          </a:p>
          <a:p>
            <a:r>
              <a:t>Mistake Watch: Check uncountable overtime, would rather + base, ask someone to.</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Rules vary by country. In the EU, working-time rules limit weekly hours; in the US, many salaried staff are “exempt” from overtime pay.</a:t>
            </a:r>
          </a:p>
          <a:p>
            <a:r>
              <a:t>“No” with a reason. A reason and an alternative sound cooperative.</a:t>
            </a:r>
          </a:p>
          <a:p>
            <a:r>
              <a:t>Track your time. Keep notes if you ever need to discuss pay.</a:t>
            </a:r>
          </a:p>
          <a:p>
            <a:r>
              <a:t>Be careful about complaints. Frame them as workload issues, not blame.</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talk about overtime and expectations.</a:t>
            </a:r>
          </a:p>
          <a:p>
            <a:r>
              <a:t>I can say no politely and offer alternatives.</a:t>
            </a:r>
          </a:p>
          <a:p>
            <a:r>
              <a:t>I can discuss workload with a manager.</a:t>
            </a:r>
          </a:p>
          <a:p>
            <a:r>
              <a:t>I use overtime (uncountable) and would rather + base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Role-play declining a weekend request. Record yourself.</a:t>
            </a:r>
          </a:p>
          <a:p>
            <a:r>
              <a:t>8–10 | Listen to your recording. Check: overtime uncountable, would rather, ask sb to.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52 · Time poverty 时间贫困</a:t>
            </a:r>
          </a:p>
          <a:p>
            <a:r>
              <a:t>Goal: explain “time poverty”, discuss its causes and effects, and suggest practical solutions.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“time poverty” = 时间贫困,指时间不够用。第 3 题比较 “more valuable than”。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what time poverty is and how to deal with it.</a:t>
            </a:r>
          </a:p>
          <a:p>
            <a:r>
              <a:t>Say: definition → causes → effects → solutions.</a:t>
            </a:r>
          </a:p>
          <a:p>
            <a:r>
              <a:t>Useful starters: “Time poverty is when…” / “It’s caused by…” / “As a result, …” / “One solution is to…”</a:t>
            </a:r>
          </a:p>
          <a:p>
            <a:r>
              <a:t>“It’s caused by…” 被动;“As a result” = 结果。</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Time poverty describes the feeling of having too much to do and too little time to do it. It is not only about long working hours; commuting, childcare, housework and constant digital messages all take up the day. Studies suggest that people who feel short of time report more stress, eat less healthily and exercise less. Interestingly, time poverty is not limited to people with low incomes. Some well-paid professionals suffer from it too, because their jobs demand constant availability. Individuals can respond by paying for time-saving services, such as grocery delivery, when they can afford to. Employers can help by offering flexible hours, remote work and realistic deadlines. Perhaps the most important step is to stop treating busyness as a sign of success.</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contributes to time poverty besides working hours?</a:t>
            </a:r>
          </a:p>
          <a:p>
            <a:r>
              <a:t>A: Commuting, childcare, housework and constant digital messages.</a:t>
            </a:r>
          </a:p>
          <a:p>
            <a:r>
              <a:t>Q2. Who can suffer from time poverty?</a:t>
            </a:r>
          </a:p>
          <a:p>
            <a:r>
              <a:t>A: Not only low-income people; well-paid professionals as well.</a:t>
            </a:r>
          </a:p>
          <a:p>
            <a:r>
              <a:t>Q3. What is the writer’s final suggestion?</a:t>
            </a:r>
          </a:p>
          <a:p>
            <a:r>
              <a:t>A: Stop treating busyness as a sign of success.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Time shortage 时间不足</a:t>
            </a:r>
          </a:p>
          <a:p>
            <a:r>
              <a:t>领读 → 学员跟读 → 请学员用表达造一个和自己工作相关的句子。</a:t>
            </a:r>
          </a:p>
          <a:p>
            <a:r>
              <a:t>time poverty (noun) 时间贫困 — “Time poverty affects parents most.”</a:t>
            </a:r>
          </a:p>
          <a:p>
            <a:r>
              <a:t>be pressed for time (idiom) 时间紧迫 — “I’m pressed for time today.”</a:t>
            </a:r>
          </a:p>
          <a:p>
            <a:r>
              <a:t>stretched thin (idiom) 分身乏术 — “We’re all stretched thin.”</a:t>
            </a:r>
          </a:p>
          <a:p>
            <a:r>
              <a:t>★ be swamped / snowed under (idiom) 忙得不可开交 — “I’m snowed under with work.”</a:t>
            </a:r>
          </a:p>
          <a:p>
            <a:r>
              <a:t>★ a never-ending to-do list (noun) 永远做不完的清单 — “I have a never-ending to-do list.”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Causes 原因</a:t>
            </a:r>
          </a:p>
          <a:p>
            <a:r>
              <a:t>领读 → 学员跟读 → 请学员用表达造一个和自己工作相关的句子。</a:t>
            </a:r>
          </a:p>
          <a:p>
            <a:r>
              <a:t>commute (noun/verb) 通勤 — “My commute takes an hour.”</a:t>
            </a:r>
          </a:p>
          <a:p>
            <a:r>
              <a:t>juggle (verb) 同时应付 — “She juggles work and childcare.”</a:t>
            </a:r>
          </a:p>
          <a:p>
            <a:r>
              <a:t>constant connectivity (noun) 持续在线 — “Constant connectivity is exhausting.”</a:t>
            </a:r>
          </a:p>
          <a:p>
            <a:r>
              <a:t>★ always-on culture (noun) 全天候在线文化 — “The always-on culture is a problem.”</a:t>
            </a:r>
          </a:p>
          <a:p>
            <a:r>
              <a:t>★ fall behind (phrasal verb) 落后 — “I’m falling behind on my reports.”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Solutions 对策</a:t>
            </a:r>
          </a:p>
          <a:p>
            <a:r>
              <a:t>领读 → 学员跟读 → 请学员用表达造一个和自己工作相关的句子。</a:t>
            </a:r>
          </a:p>
          <a:p>
            <a:r>
              <a:t>outsource (verb) 外包 — “I outsource cleaning.”</a:t>
            </a:r>
          </a:p>
          <a:p>
            <a:r>
              <a:t>save time (collocation) 节省时间 — “This app saves time.”</a:t>
            </a:r>
          </a:p>
          <a:p>
            <a:r>
              <a:t>simplify (verb) 简化 — “Simplify your schedule.”</a:t>
            </a:r>
          </a:p>
          <a:p>
            <a:r>
              <a:t>★ declutter your schedule (collocation) 清理日程 — “Declutter your schedule weekly.”</a:t>
            </a:r>
          </a:p>
          <a:p>
            <a:r>
              <a:t>★ buy back time (collocation) 买回时间 — “Pay to buy back time.”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poverty / pressed / juggles / commute / outsource / simplify</a:t>
            </a:r>
          </a:p>
          <a:p>
            <a:r>
              <a:t>1. Time _______ affects busy parents most. → poverty</a:t>
            </a:r>
          </a:p>
          <a:p>
            <a:r>
              <a:t>2. I’m _______ for time today. → pressed</a:t>
            </a:r>
          </a:p>
          <a:p>
            <a:r>
              <a:t>3. She _______ work and childcare. → juggles</a:t>
            </a:r>
          </a:p>
          <a:p>
            <a:r>
              <a:t>4. My _______ takes an hour each way. → commute</a:t>
            </a:r>
          </a:p>
          <a:p>
            <a:r>
              <a:t>5. Some people _______ housework to save time. → outsource</a:t>
            </a:r>
          </a:p>
          <a:p>
            <a:r>
              <a:t>6. Try to _______ your schedule. → simplify</a:t>
            </a:r>
          </a:p>
          <a:p>
            <a:r>
              <a:t>Mistake Watch: (搭配) be pressed for time, save time, spend time on/doing;commute 动词无需 to。</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Telling a colleague you’re stretched 告诉同事你分身乏术</a:t>
            </a:r>
          </a:p>
          <a:p>
            <a:r>
              <a:t>情景：A casual chat.</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 look tired. Is everything OK?</a:t>
            </a:r>
          </a:p>
          <a:p>
            <a:r>
              <a:t>B: I’m stretched thin at the moment. I’m juggling this project and a long commute.</a:t>
            </a:r>
          </a:p>
          <a:p>
            <a:r>
              <a:t>A: How long is your commute?</a:t>
            </a:r>
          </a:p>
          <a:p>
            <a:r>
              <a:t>B: Almost two hours a day. I fall behind on other tasks.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you work from home one day a week?</a:t>
            </a:r>
          </a:p>
          <a:p>
            <a:r>
              <a:t>B: I’ll ask. It would save me time.</a:t>
            </a:r>
          </a:p>
          <a:p>
            <a:r>
              <a:t>A: Also, maybe outsource something at home.</a:t>
            </a:r>
          </a:p>
          <a:p>
            <a:r>
              <a:t>B: Good idea. I’m always pressed for time.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describe time poverty.</a:t>
            </a:r>
          </a:p>
          <a:p>
            <a:r>
              <a:t>Your role (A) | Colleague.</a:t>
            </a:r>
          </a:p>
          <a:p>
            <a:r>
              <a:t>Partner’s role (B) | Stretched person. Causes: ______________</a:t>
            </a:r>
          </a:p>
          <a:p>
            <a:r>
              <a:t>Must use (3 or more) | stretched thin · juggling · commute · fall behind · save time</a:t>
            </a:r>
          </a:p>
          <a:p>
            <a:r>
              <a:t>Goal | Describe causes and suggest solutions.</a:t>
            </a:r>
          </a:p>
          <a:p>
            <a:r>
              <a:t>My notes | ____________________________________________</a:t>
            </a:r>
          </a:p>
          <a:p>
            <a:r>
              <a:t>Ask about priorities.</a:t>
            </a:r>
          </a:p>
          <a:p>
            <a:r>
              <a:t>Suggest one change today.</a:t>
            </a:r>
          </a:p>
          <a:p>
            <a:r>
              <a:t>Offer to help.</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Suggesting company support 建议公司支持</a:t>
            </a:r>
          </a:p>
          <a:p>
            <a:r>
              <a:t>情景：You propose a policy to HR.</a:t>
            </a:r>
          </a:p>
          <a:p>
            <a:r>
              <a:t>Role A: Employee Role B: HR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Several colleagues feel pressed for time. I’d like to suggest some changes.</a:t>
            </a:r>
          </a:p>
          <a:p>
            <a:r>
              <a:t>B: What do you have in mind?</a:t>
            </a:r>
          </a:p>
          <a:p>
            <a:r>
              <a:t>A: Flexible hours so people can avoid rush hour, and one remote day a week.</a:t>
            </a:r>
          </a:p>
          <a:p>
            <a:r>
              <a:t>B: Would that really help?</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It would cut commuting, which is the biggest time drain for many of us.</a:t>
            </a:r>
          </a:p>
          <a:p>
            <a:r>
              <a:t>B: And productivity?</a:t>
            </a:r>
          </a:p>
          <a:p>
            <a:r>
              <a:t>A: It should improve, because people would be less stressed.</a:t>
            </a:r>
          </a:p>
          <a:p>
            <a:r>
              <a:t>B: Let’s propose a pilot.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You propose time-saving policies.</a:t>
            </a:r>
          </a:p>
          <a:p>
            <a:r>
              <a:t>Your role (A) | Employee.</a:t>
            </a:r>
          </a:p>
          <a:p>
            <a:r>
              <a:t>Partner’s role (B) | HR. Problem: ______________</a:t>
            </a:r>
          </a:p>
          <a:p>
            <a:r>
              <a:t>Must use (3 or more) | pressed for time · flexible hours · time drain · pilot · less stressed</a:t>
            </a:r>
          </a:p>
          <a:p>
            <a:r>
              <a:t>Goal | Present problem, solutions and a pilot idea.</a:t>
            </a:r>
          </a:p>
          <a:p>
            <a:r>
              <a:t>My notes | ____________________________________________</a:t>
            </a:r>
          </a:p>
          <a:p>
            <a:r>
              <a:t>Use numbers (hours saved).</a:t>
            </a:r>
          </a:p>
          <a:p>
            <a:r>
              <a:t>Answer a cost objection.</a:t>
            </a:r>
          </a:p>
          <a:p>
            <a:r>
              <a:t>Propose how to measure results.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time poverty a modern problem? | “I think it has become worse because…”</a:t>
            </a:r>
          </a:p>
          <a:p>
            <a:r>
              <a:t>2. Can technology save time or does it create more work? | “Both: it can… but it can also…”</a:t>
            </a:r>
          </a:p>
          <a:p>
            <a:r>
              <a:t>3. Who is more time-poor, rich or poor people? | “Different groups, because…”</a:t>
            </a:r>
          </a:p>
          <a:p>
            <a:r>
              <a:t>4. What would you do with two extra hours a day? | “I’d probably…”</a:t>
            </a:r>
          </a:p>
          <a:p>
            <a:r>
              <a:t>5. How can companies reduce time poverty? | “By… / They could…”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“Technology does both. It saves time by automating tasks and making communication faster, but it also creates expectations of instant replies. I can write a report in half the time with a good tool, but I get more messages. The solution is not less technology, but clearer rules about when we use it.”</a:t>
            </a:r>
          </a:p>
          <a:p>
            <a:r>
              <a:t>“automating” 自动化;“expectations of instant replies” 对即时回复的期待。</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effect and solutions 因果与对策</a:t>
            </a:r>
          </a:p>
          <a:p>
            <a:r>
              <a:t>Structure | Example</a:t>
            </a:r>
          </a:p>
          <a:p>
            <a:r>
              <a:t>because of + noun | Because of my commute, I fall behind.</a:t>
            </a:r>
          </a:p>
          <a:p>
            <a:r>
              <a:t>as a result | As a result, I’m exhausted.</a:t>
            </a:r>
          </a:p>
          <a:p>
            <a:r>
              <a:t>so that / in order to | I outsource cleaning so that I have more time.</a:t>
            </a:r>
          </a:p>
          <a:p>
            <a:r>
              <a:t>One solution is to… | One solution is to work from home.</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effect and solutions 因果与对策</a:t>
            </a:r>
          </a:p>
          <a:p>
            <a:r>
              <a:t>In order to and to + base verb for purpose; so that + clause: so that I can rest.</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no enough time.  →  ✓ I don’t have enough time.  (don’t have enough)</a:t>
            </a:r>
          </a:p>
          <a:p>
            <a:r>
              <a:t>✗ I am busy to do the report.  →  ✓ I am busy doing the report.  (busy + -ing)</a:t>
            </a:r>
          </a:p>
          <a:p>
            <a:r>
              <a:t>✗ The time is not enough.  →  ✓ I don’t have enough time.  (自然表达)</a:t>
            </a:r>
          </a:p>
          <a:p>
            <a:r>
              <a:t>Mistake Watch: Check enough position, busy doing, two hours, waste time doing.</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takes me two hour.  →  ✓ It takes me two hours.  (hours)</a:t>
            </a:r>
          </a:p>
          <a:p>
            <a:r>
              <a:t>✗ I waste my time for waiting.  →  ✓ I waste my time waiting.  (waste + -ing)</a:t>
            </a:r>
          </a:p>
          <a:p>
            <a:r>
              <a:t>✗ I go to work by foot.  →  ✓ I walk to work. / I go to work on foot.  (on foot)</a:t>
            </a:r>
          </a:p>
          <a:p>
            <a:r>
              <a:t>Mistake Watch: Check enough position, busy doing, two hours, waste time doing.</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“Busy” is not a compliment. In many offices, people prefer “I’m slammed, but fine” over complaining.</a:t>
            </a:r>
          </a:p>
          <a:p>
            <a:r>
              <a:t>Be specific. “I can’t take that on this week, but next week works” is better.</a:t>
            </a:r>
          </a:p>
          <a:p>
            <a:r>
              <a:t>Offering solutions. Employers value employees who bring ideas.</a:t>
            </a:r>
          </a:p>
          <a:p>
            <a:r>
              <a:t>Talk about well-being. Mental health conversations are more open in many workplaces.</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time poverty and its causes.</a:t>
            </a:r>
          </a:p>
          <a:p>
            <a:r>
              <a:t>I can suggest solutions using so that / in order to.</a:t>
            </a:r>
          </a:p>
          <a:p>
            <a:r>
              <a:t>I can say I’m busy without sounding negative.</a:t>
            </a:r>
          </a:p>
          <a:p>
            <a:r>
              <a:t>I use enough, busy + -ing, two hours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time poverty and three solutions in 90 seconds.</a:t>
            </a:r>
          </a:p>
          <a:p>
            <a:r>
              <a:t>8–10 | Listen to your recording. Check: enough, busy + -ing, hours, waste time doing.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“落后” in English? → fall behind</a:t>
            </a:r>
          </a:p>
          <a:p>
            <a:r>
              <a:t>“节省时间” in English? → save time</a:t>
            </a:r>
          </a:p>
          <a:p>
            <a:r>
              <a:t>“恢复精力” in English? → recharge your batteries</a:t>
            </a:r>
          </a:p>
          <a:p>
            <a:r>
              <a:t>Fix it: I go to work by foot. → I walk to work. / I go to work on foot.</a:t>
            </a:r>
          </a:p>
          <a:p>
            <a:r>
              <a:t>Fix it: A week of four days. → A four-day week.</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 Id="rId6" Type="http://schemas.openxmlformats.org/officeDocument/2006/relationships/slide" Target="slide8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 Id="rId4" Type="http://schemas.openxmlformats.org/officeDocument/2006/relationships/slide" Target="slide113.xml"/><Relationship Id="rId5" Type="http://schemas.openxmlformats.org/officeDocument/2006/relationships/slide" Target="slide114.xml"/><Relationship Id="rId6" Type="http://schemas.openxmlformats.org/officeDocument/2006/relationships/slide" Target="slide115.xml"/><Relationship Id="rId7" Type="http://schemas.openxmlformats.org/officeDocument/2006/relationships/slide" Target="slide116.xml"/><Relationship Id="rId8" Type="http://schemas.openxmlformats.org/officeDocument/2006/relationships/slide" Target="slide117.xml"/><Relationship Id="rId9" Type="http://schemas.openxmlformats.org/officeDocument/2006/relationships/slide" Target="slide118.xml"/><Relationship Id="rId10" Type="http://schemas.openxmlformats.org/officeDocument/2006/relationships/slide" Target="slide119.xml"/><Relationship Id="rId11" Type="http://schemas.openxmlformats.org/officeDocument/2006/relationships/slide" Target="slide120.xml"/><Relationship Id="rId12" Type="http://schemas.openxmlformats.org/officeDocument/2006/relationships/slide" Target="slide12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11</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Time Management</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4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L49 Managing free time · L50 A four-day workweek · L51 Working unpaid hours · L52 Time poverty</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49</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Managing free time</a:t>
            </a:r>
          </a:p>
          <a:p>
            <a:pPr algn="l">
              <a:lnSpc>
                <a:spcPct val="100000"/>
              </a:lnSpc>
              <a:spcAft>
                <a:spcPts val="800"/>
              </a:spcAft>
            </a:pPr>
            <a:r>
              <a:rPr sz="1400" b="0">
                <a:solidFill>
                  <a:srgbClr val="5F677A"/>
                </a:solidFill>
                <a:latin typeface="Arial"/>
                <a:ea typeface="Microsoft YaHei"/>
              </a:rPr>
              <a:t>管理空闲时间</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50</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 four-day workweek</a:t>
            </a:r>
          </a:p>
          <a:p>
            <a:pPr algn="l">
              <a:lnSpc>
                <a:spcPct val="100000"/>
              </a:lnSpc>
              <a:spcAft>
                <a:spcPts val="800"/>
              </a:spcAft>
            </a:pPr>
            <a:r>
              <a:rPr sz="1400" b="0">
                <a:solidFill>
                  <a:srgbClr val="5F677A"/>
                </a:solidFill>
                <a:latin typeface="Arial"/>
                <a:ea typeface="Microsoft YaHei"/>
              </a:rPr>
              <a:t>四天工作制</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51</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Working unpaid hours</a:t>
            </a:r>
          </a:p>
          <a:p>
            <a:pPr algn="l">
              <a:lnSpc>
                <a:spcPct val="100000"/>
              </a:lnSpc>
              <a:spcAft>
                <a:spcPts val="800"/>
              </a:spcAft>
            </a:pPr>
            <a:r>
              <a:rPr sz="1400" b="0">
                <a:solidFill>
                  <a:srgbClr val="5F677A"/>
                </a:solidFill>
                <a:latin typeface="Arial"/>
                <a:ea typeface="Microsoft YaHei"/>
              </a:rPr>
              <a:t>无偿工作时间</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52</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Time poverty</a:t>
            </a:r>
          </a:p>
          <a:p>
            <a:pPr algn="l">
              <a:lnSpc>
                <a:spcPct val="100000"/>
              </a:lnSpc>
              <a:spcAft>
                <a:spcPts val="800"/>
              </a:spcAft>
            </a:pPr>
            <a:r>
              <a:rPr sz="1400" b="0">
                <a:solidFill>
                  <a:srgbClr val="5F677A"/>
                </a:solidFill>
                <a:latin typeface="Arial"/>
                <a:ea typeface="Microsoft YaHei"/>
              </a:rPr>
              <a:t>时间贫困</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11 · Lesson 49 Managing free time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Managing free time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管理空闲时间</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how you spend and plan your free time, and discuss why rest and hobbies matter for work.</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usually spend your free time?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plan your free time or let it happen?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feel guilty when you are not being productive?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much free time do you have on weekdays?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your free time affect your work?</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“free time” 与 “spare time” 同义;“leisure” 较正式。“feel guilty” 感到愧疚。第 4 题 “How much” 问不可数名词。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 spend your free time and why it matters.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you do</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how often</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why you enjoy it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it helps your work</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my spare time, I…   💬 I make a point of…   💬 It helps me to…   💬 Without it, I’d feel…</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“make a point of + -ing” 特意去做;“in my spare time” = 业余时间。</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Reading · Free time is not wasted time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professionals treat free time as whatever is left after work, so it disappears when the day is busy. Researchers who study well-being suggest the opposite: plan it first. Put exercise, hobbies, and time with friends in your calendar, just like meetings. Quality matters as much as quantity. An hour spent on a hobby you enjoy refreshes you more than three hours scrolling on your phone. It also helps to have at least one activity that is unconnected with work, so your mind can switch off. People who rest properly often return with new ideas and fewer mistakes. If you feel guilty about relaxing, remember that rest is part of productivity, not the opposite of it. A good athlete trains hard, and then recovers.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do researchers suggest about planning free time?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Plan it first, putting it in the calendar like meetings.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matters as much as quantity?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Quality.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does the writer compare rest to an athlete?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Because recovery is part of performance, as rest is part of productivity.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Free time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空闲时间</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spare time / free time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业余时间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do you do in your spare time?”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hobby / pastime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爱好</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“Cooking is my pastime.”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switch off</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放松/不再想工作</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can’t switch off after work.”</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unwind</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放松</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unwind with a walk.”</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recharge your batteries</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恢复精力</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need to recharge my batteries.”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Planning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安排</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schedule / block out</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安排/预留</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block out Sunday for family.”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make time for</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抽出时间做</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“Make time for exercise.”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boundaries</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设定界限</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“Set boundaries between work and home.”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fit (something) in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挤出时间做</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fit in a run before work.”</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prioritise rest</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把休息放第一</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“Prioritise rest.”</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Balance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平衡</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work-life balance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工作生活平衡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value work-life balance.”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leisure activity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休闲活动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“Reading is a leisure activity.”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up (a hobby)</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开始(爱好)</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took up painting.”</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the candle at both ends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过度操劳</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“He’s burning the candle at both ends.”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down time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休息时间</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“Down time helps creativity.”</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设定界限</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boundaries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恢复精力</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recharge your batteries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放松/不再想工作</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switch off</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安排/预留</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schedule / block out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抽出时间做</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time for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休闲活动</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leisure activity</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挤出时间做</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fit (something) in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放松</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unwind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spare</a:t>
            </a:r>
          </a:p>
        </p:txBody>
      </p:sp>
      <p:sp>
        <p:nvSpPr>
          <p:cNvPr id="10" name="Rounded Rectangle 9"/>
          <p:cNvSpPr/>
          <p:nvPr/>
        </p:nvSpPr>
        <p:spPr>
          <a:xfrm>
            <a:off x="3017520"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switch</a:t>
            </a:r>
          </a:p>
        </p:txBody>
      </p:sp>
      <p:sp>
        <p:nvSpPr>
          <p:cNvPr id="11" name="Rounded Rectangle 10"/>
          <p:cNvSpPr/>
          <p:nvPr/>
        </p:nvSpPr>
        <p:spPr>
          <a:xfrm>
            <a:off x="4133088"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unwind</a:t>
            </a:r>
          </a:p>
        </p:txBody>
      </p:sp>
      <p:sp>
        <p:nvSpPr>
          <p:cNvPr id="12" name="Rounded Rectangle 11"/>
          <p:cNvSpPr/>
          <p:nvPr/>
        </p:nvSpPr>
        <p:spPr>
          <a:xfrm>
            <a:off x="5248656"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boundaries</a:t>
            </a:r>
          </a:p>
        </p:txBody>
      </p:sp>
      <p:sp>
        <p:nvSpPr>
          <p:cNvPr id="13" name="Rounded Rectangle 12"/>
          <p:cNvSpPr/>
          <p:nvPr/>
        </p:nvSpPr>
        <p:spPr>
          <a:xfrm>
            <a:off x="6803136" y="987552"/>
            <a:ext cx="69494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fit</a:t>
            </a:r>
          </a:p>
        </p:txBody>
      </p:sp>
      <p:sp>
        <p:nvSpPr>
          <p:cNvPr id="14" name="Rounded Rectangle 13"/>
          <p:cNvSpPr/>
          <p:nvPr/>
        </p:nvSpPr>
        <p:spPr>
          <a:xfrm>
            <a:off x="758952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balance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What do you do in your _______ time?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spare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can’t _______ off after work.</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switch</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_______ with a walk after dinner.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unwind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You need to set _______ between work and home.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boundaries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 try to _______ in a run before work.</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value work-life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balance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in your spare time, make time FOR, take up a hobby;free time 不可数 (a lot of free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Talking about weekends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聊周末</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Colleagues chat on Monday.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 1</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Colleague 2</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Talking about weekends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Did you do anything nice at the weekend?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took up pottery. I wanted something totally unconnected with work.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it relaxing?</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Very. I can finally switch off. What about you?</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Talking about weekends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plan much, to be honest. I usually just end up working.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should block out some time for yourself.</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I’ve been burning the candle at both ends.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Come to pottery with me next Saturday.</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Talking about weekends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chat about free time.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Hobby: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switch off · take up · block out · unconnected with work · I’ve been…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Share what you do and suggest something kindly.</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why you feel guilty.</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Recommend an activity.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to try something new.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Setting boundaries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设定工作界限</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manager emails you at night.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Model Dialogue · Setting boundaries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I talk about after-hours messages? I’ve noticed a few arrive late in the evening.</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tend to work late, and I send them when I think of them.</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but I find it hard to switch off if I see them.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didn’t realise. What would help?</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Setting boundaries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schedule them for the morning?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do that.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It will help me recharge in the evenings.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Setting boundaries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set a polite boundary.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Issue: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after-hours · find it hard to · switch off · Could you…? · recharge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issue without blaming and suggest a fix.</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an exception for emergencies.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“I just need it done”.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Agree on how to contact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much free time do you need to feel rested?</a:t>
            </a:r>
          </a:p>
          <a:p>
            <a:pPr algn="l">
              <a:lnSpc>
                <a:spcPct val="115000"/>
              </a:lnSpc>
              <a:spcAft>
                <a:spcPts val="800"/>
              </a:spcAft>
            </a:pPr>
            <a:r>
              <a:rPr sz="1400" b="0">
                <a:solidFill>
                  <a:srgbClr val="5F677A"/>
                </a:solidFill>
                <a:latin typeface="Arial"/>
                <a:ea typeface="Microsoft YaHei"/>
              </a:rPr>
              <a:t>💬 “I need about…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companies encourage hobbies?</a:t>
            </a:r>
          </a:p>
          <a:p>
            <a:pPr algn="l">
              <a:lnSpc>
                <a:spcPct val="115000"/>
              </a:lnSpc>
              <a:spcAft>
                <a:spcPts val="800"/>
              </a:spcAft>
            </a:pPr>
            <a:r>
              <a:rPr sz="1400" b="0">
                <a:solidFill>
                  <a:srgbClr val="5F677A"/>
                </a:solidFill>
                <a:latin typeface="Arial"/>
                <a:ea typeface="Microsoft YaHei"/>
              </a:rPr>
              <a:t>💬 “They could,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check email in your free time?</a:t>
            </a:r>
          </a:p>
          <a:p>
            <a:pPr algn="l">
              <a:lnSpc>
                <a:spcPct val="115000"/>
              </a:lnSpc>
              <a:spcAft>
                <a:spcPts val="800"/>
              </a:spcAft>
            </a:pPr>
            <a:r>
              <a:rPr sz="1400" b="0">
                <a:solidFill>
                  <a:srgbClr val="5F677A"/>
                </a:solidFill>
                <a:latin typeface="Arial"/>
                <a:ea typeface="Microsoft YaHei"/>
              </a:rPr>
              <a:t>💬 “Only in emergencies, since…”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best way to relax after a stressful day?</a:t>
            </a:r>
          </a:p>
          <a:p>
            <a:pPr algn="l">
              <a:lnSpc>
                <a:spcPct val="115000"/>
              </a:lnSpc>
              <a:spcAft>
                <a:spcPts val="800"/>
              </a:spcAft>
            </a:pPr>
            <a:r>
              <a:rPr sz="1400" b="0">
                <a:solidFill>
                  <a:srgbClr val="5F677A"/>
                </a:solidFill>
                <a:latin typeface="Arial"/>
                <a:ea typeface="Microsoft YaHei"/>
              </a:rPr>
              <a:t>💬 “I find that… works well.”</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plan your free time?</a:t>
            </a:r>
          </a:p>
          <a:p>
            <a:pPr algn="l">
              <a:lnSpc>
                <a:spcPct val="115000"/>
              </a:lnSpc>
              <a:spcAft>
                <a:spcPts val="800"/>
              </a:spcAft>
            </a:pPr>
            <a:r>
              <a:rPr sz="1400" b="0">
                <a:solidFill>
                  <a:srgbClr val="5F677A"/>
                </a:solidFill>
                <a:latin typeface="Arial"/>
                <a:ea typeface="Microsoft YaHei"/>
              </a:rPr>
              <a:t>💬 “I try to… / I prefer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it’s fine in a real emergency, but not as a habit. If I check email every evening, my brain never stops working and I sleep worse. I’ve started a rule: no email after 8 p.m. unless it’s urgent. It has made me calmer and, surprisingly, more productive in the morning.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“as a habit” 作为习惯;“never stops working” 否定+现在进行/一般现在。</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Present perfect for habits and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现在完成时用于变化</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have + p.p. (change)</a:t>
                      </a:r>
                    </a:p>
                  </a:txBody>
                  <a:tcPr anchor="ctr">
                    <a:solidFill>
                      <a:srgbClr val="FFFFFF"/>
                    </a:solidFill>
                  </a:tcPr>
                </a:tc>
                <a:tc>
                  <a:txBody>
                    <a:bodyPr wrap="square"/>
                    <a:lstStyle/>
                    <a:p>
                      <a:r>
                        <a:rPr sz="1600" b="0">
                          <a:solidFill>
                            <a:srgbClr val="1F2A44"/>
                          </a:solidFill>
                          <a:latin typeface="Arial"/>
                          <a:ea typeface="Microsoft YaHei"/>
                        </a:rPr>
                        <a:t>I’ve started a no-email rule.</a:t>
                      </a:r>
                    </a:p>
                  </a:txBody>
                  <a:tcPr anchor="ctr">
                    <a:solidFill>
                      <a:srgbClr val="FFFFFF"/>
                    </a:solidFill>
                  </a:tcPr>
                </a:tc>
              </a:tr>
              <a:tr h="408432">
                <a:tc>
                  <a:txBody>
                    <a:bodyPr wrap="square"/>
                    <a:lstStyle/>
                    <a:p>
                      <a:r>
                        <a:rPr sz="1600" b="1">
                          <a:solidFill>
                            <a:srgbClr val="1F2A44"/>
                          </a:solidFill>
                          <a:latin typeface="Arial"/>
                          <a:ea typeface="Microsoft YaHei"/>
                        </a:rPr>
                        <a:t>have been + -ing</a:t>
                      </a:r>
                    </a:p>
                  </a:txBody>
                  <a:tcPr anchor="ctr">
                    <a:solidFill>
                      <a:srgbClr val="FFEFD9"/>
                    </a:solidFill>
                  </a:tcPr>
                </a:tc>
                <a:tc>
                  <a:txBody>
                    <a:bodyPr wrap="square"/>
                    <a:lstStyle/>
                    <a:p>
                      <a:r>
                        <a:rPr sz="1600" b="0">
                          <a:solidFill>
                            <a:srgbClr val="1F2A44"/>
                          </a:solidFill>
                          <a:latin typeface="Arial"/>
                          <a:ea typeface="Microsoft YaHei"/>
                        </a:rPr>
                        <a:t>I’ve been working too late recently.</a:t>
                      </a:r>
                    </a:p>
                  </a:txBody>
                  <a:tcPr anchor="ctr">
                    <a:solidFill>
                      <a:srgbClr val="FFEFD9"/>
                    </a:solidFill>
                  </a:tcPr>
                </a:tc>
              </a:tr>
              <a:tr h="408432">
                <a:tc>
                  <a:txBody>
                    <a:bodyPr wrap="square"/>
                    <a:lstStyle/>
                    <a:p>
                      <a:r>
                        <a:rPr sz="1600" b="1">
                          <a:solidFill>
                            <a:srgbClr val="1F2A44"/>
                          </a:solidFill>
                          <a:latin typeface="Arial"/>
                          <a:ea typeface="Microsoft YaHei"/>
                        </a:rPr>
                        <a:t>tend to / usually</a:t>
                      </a:r>
                    </a:p>
                  </a:txBody>
                  <a:tcPr anchor="ctr">
                    <a:solidFill>
                      <a:srgbClr val="FFFFFF"/>
                    </a:solidFill>
                  </a:tcPr>
                </a:tc>
                <a:tc>
                  <a:txBody>
                    <a:bodyPr wrap="square"/>
                    <a:lstStyle/>
                    <a:p>
                      <a:r>
                        <a:rPr sz="1600" b="0">
                          <a:solidFill>
                            <a:srgbClr val="1F2A44"/>
                          </a:solidFill>
                          <a:latin typeface="Arial"/>
                          <a:ea typeface="Microsoft YaHei"/>
                        </a:rPr>
                        <a:t>I tend to work late.</a:t>
                      </a:r>
                    </a:p>
                  </a:txBody>
                  <a:tcPr anchor="ctr">
                    <a:solidFill>
                      <a:srgbClr val="FFFFFF"/>
                    </a:solidFill>
                  </a:tcPr>
                </a:tc>
              </a:tr>
              <a:tr h="408432">
                <a:tc>
                  <a:txBody>
                    <a:bodyPr wrap="square"/>
                    <a:lstStyle/>
                    <a:p>
                      <a:r>
                        <a:rPr sz="1600" b="1">
                          <a:solidFill>
                            <a:srgbClr val="1F2A44"/>
                          </a:solidFill>
                          <a:latin typeface="Arial"/>
                          <a:ea typeface="Microsoft YaHei"/>
                        </a:rPr>
                        <a:t>I used to… but now…</a:t>
                      </a:r>
                    </a:p>
                  </a:txBody>
                  <a:tcPr anchor="ctr">
                    <a:solidFill>
                      <a:srgbClr val="FFEFD9"/>
                    </a:solidFill>
                  </a:tcPr>
                </a:tc>
                <a:tc>
                  <a:txBody>
                    <a:bodyPr wrap="square"/>
                    <a:lstStyle/>
                    <a:p>
                      <a:r>
                        <a:rPr sz="1600" b="0">
                          <a:solidFill>
                            <a:srgbClr val="1F2A44"/>
                          </a:solidFill>
                          <a:latin typeface="Arial"/>
                          <a:ea typeface="Microsoft YaHei"/>
                        </a:rPr>
                        <a:t>I used to check email, but now I don’t.</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Present perfect for habits and change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现在完成时用于变化</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present perfect for results connected to now: </a:t>
            </a:r>
            <a:r>
              <a:rPr sz="1700" b="0">
                <a:solidFill>
                  <a:srgbClr val="1F2A44"/>
                </a:solidFill>
                <a:latin typeface="Arial"/>
                <a:ea typeface="Microsoft YaHei"/>
              </a:rPr>
              <a:t>It has made me calmer.</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much free time.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a lot of free time.</a:t>
            </a:r>
          </a:p>
          <a:p>
            <a:pPr algn="l">
              <a:spcAft>
                <a:spcPts val="200"/>
              </a:spcAft>
            </a:pPr>
            <a:r>
              <a:rPr sz="1200" b="0">
                <a:solidFill>
                  <a:srgbClr val="FFFFFF"/>
                </a:solidFill>
                <a:latin typeface="Arial"/>
                <a:ea typeface="Microsoft YaHei"/>
              </a:rPr>
              <a:t>much 常用于否定/疑问</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boring in my free time.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bored in my free time.</a:t>
            </a:r>
          </a:p>
          <a:p>
            <a:pPr algn="l">
              <a:spcAft>
                <a:spcPts val="200"/>
              </a:spcAft>
            </a:pPr>
            <a:r>
              <a:rPr sz="1200" b="0">
                <a:solidFill>
                  <a:srgbClr val="FFFFFF"/>
                </a:solidFill>
                <a:latin typeface="Arial"/>
                <a:ea typeface="Microsoft YaHei"/>
              </a:rPr>
              <a:t>bored</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spent my weekend to read.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spent my weekend reading.</a:t>
            </a:r>
          </a:p>
          <a:p>
            <a:pPr algn="l">
              <a:spcAft>
                <a:spcPts val="200"/>
              </a:spcAft>
            </a:pPr>
            <a:r>
              <a:rPr sz="1200" b="0">
                <a:solidFill>
                  <a:srgbClr val="FFFFFF"/>
                </a:solidFill>
                <a:latin typeface="Arial"/>
                <a:ea typeface="Microsoft YaHei"/>
              </a:rPr>
              <a:t>spend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like play badminton.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like playing badminton. / to play</a:t>
            </a:r>
          </a:p>
          <a:p>
            <a:pPr algn="l">
              <a:spcAft>
                <a:spcPts val="200"/>
              </a:spcAft>
            </a:pPr>
            <a:r>
              <a:rPr sz="1200" b="0">
                <a:solidFill>
                  <a:srgbClr val="FFFFFF"/>
                </a:solidFill>
                <a:latin typeface="Arial"/>
                <a:ea typeface="Microsoft YaHei"/>
              </a:rPr>
              <a:t>like +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interested to cooking.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interested in cooking.</a:t>
            </a:r>
          </a:p>
          <a:p>
            <a:pPr algn="l">
              <a:spcAft>
                <a:spcPts val="200"/>
              </a:spcAft>
            </a:pPr>
            <a:r>
              <a:rPr sz="1200" b="0">
                <a:solidFill>
                  <a:srgbClr val="FFFFFF"/>
                </a:solidFill>
                <a:latin typeface="Arial"/>
                <a:ea typeface="Microsoft YaHei"/>
              </a:rPr>
              <a:t>interested in</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rest at home in the weekend.</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rest at home at the weekend. (UK) / on the weekend (US)</a:t>
            </a:r>
          </a:p>
          <a:p>
            <a:pPr algn="l">
              <a:spcAft>
                <a:spcPts val="200"/>
              </a:spcAft>
            </a:pPr>
            <a:r>
              <a:rPr sz="1200" b="0">
                <a:solidFill>
                  <a:srgbClr val="FFFFFF"/>
                </a:solidFill>
                <a:latin typeface="Arial"/>
                <a:ea typeface="Microsoft YaHei"/>
              </a:rPr>
              <a:t>介词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 lot of, bored / boring, spend + -ing, at/on the weekend.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Small talk about weekends. A normal Monday opener in English workplaces; keep it light.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Hobbies are discussed freely. Interviewers sometimes ask about them.</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Respect boundaries. Messages outside hours are increasingly discouraged.</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Holiday time. Taking your full annual leave is expected in many countries.</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my free time with natural phrases.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set a polite boundary at work.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why rest matters.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 lot of, bored / boring and spend + -ing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49 Managing free time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Tell a colleague about your weekend and one boundary you’d like.</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 lot of, bored/boring, spend + -ing, interested in.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11 · Lesson 50 A four-day workweek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 four-day workweek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四天工作制</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present the pros and cons of a four-day workweek and give a reasoned opinion.</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like a four-day week? Why?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jobs could not work with a four-day week?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accept longer days for a three-day weekend?</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would you use a free day?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think productivity would go up or down?</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“four-day workweek” 美式拼写;英式 “four-day week”。第 3 题 “Would you accept” 假设。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Present the pros and cons of a four-day week and give your opinion.</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idea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drawbacks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idea is that…   💬 The main benefit is…   💬 A potential drawback is…   💬 On balance, I think…</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“potential drawback” = 潜在缺点;“on balance” = 总的来说。</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Four days, same results?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four-day week means working four days instead of five, usually with the same pay. Several trials in different countries have reported that many employees feel less stressed, take fewer sick days and are happier in their jobs. Some companies also saw similar or better output, because people focused more and held shorter meetings. However, the model does not suit every business. Hospitals, shops and customer service teams may need cover on all days, so they might need more staff or complicated rotas. In some firms, employees compress the same hours into four longer days, which can be tiring. Supporters say the real change is about measuring results rather than hours. Critics warn that trial participants may be companies that were already well organised.</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two benefits reported by trials?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Less stress, fewer sick days, happier staff, similar or better output.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might hospitals find it difficult?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need cover on all days, so more staff or complicated rotas.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critics’ warning?</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Trial participants may be companies that were already well organised.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The idea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概念</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four-day week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四天工作周</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trialled a four-day week.”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compressed hours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压缩工时</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compressed hours.”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trial / pilot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试行</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pilot lasted six months.”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100-80-100 model</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100%薪酬-80%时间-100%产出</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100-80-100 model keeps pay the same.”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four-day-week movement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四天工作制运动</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movement is growing.”</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Benefits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好处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boost productivity</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提高生产率</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shorter week can boost productivity.”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improve well-being</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改善福祉</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improves well-being.”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reduce burnout</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减少倦怠</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may reduce burnout.”</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attract and retain talent</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吸引并留住人才</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helps attract and retain talent.”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down on sick days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减少病假</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cut down on sick days.”</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Drawbacks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缺点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cover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替班/覆盖</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cover on Fridays.”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rota / shift pattern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轮班表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rota is complicated.”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workload</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workload didn’t shrink.”</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one-size-fits-all solution</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一刀切方案</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not a one-size-fits-all solution.”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intensify</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加剧/强化</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 can intensify on fewer days.”</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压缩工时</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compressed hours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四天工作制运动</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four-day-week movement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提高生产率</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boost productivity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减少倦怠</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reduce burnout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四天工作周</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four-day week</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替班/覆盖</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轮班表</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rota / shift pattern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工作量</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workload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trial</a:t>
            </a:r>
          </a:p>
        </p:txBody>
      </p:sp>
      <p:sp>
        <p:nvSpPr>
          <p:cNvPr id="10" name="Rounded Rectangle 9"/>
          <p:cNvSpPr/>
          <p:nvPr/>
        </p:nvSpPr>
        <p:spPr>
          <a:xfrm>
            <a:off x="3017520" y="987552"/>
            <a:ext cx="1682495"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productivity</a:t>
            </a:r>
          </a:p>
        </p:txBody>
      </p:sp>
      <p:sp>
        <p:nvSpPr>
          <p:cNvPr id="11" name="Rounded Rectangle 10"/>
          <p:cNvSpPr/>
          <p:nvPr/>
        </p:nvSpPr>
        <p:spPr>
          <a:xfrm>
            <a:off x="4791455"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well-being</a:t>
            </a:r>
          </a:p>
        </p:txBody>
      </p:sp>
      <p:sp>
        <p:nvSpPr>
          <p:cNvPr id="12" name="Rounded Rectangle 11"/>
          <p:cNvSpPr/>
          <p:nvPr/>
        </p:nvSpPr>
        <p:spPr>
          <a:xfrm>
            <a:off x="6345935"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cover</a:t>
            </a:r>
          </a:p>
        </p:txBody>
      </p:sp>
      <p:sp>
        <p:nvSpPr>
          <p:cNvPr id="13" name="Rounded Rectangle 12"/>
          <p:cNvSpPr/>
          <p:nvPr/>
        </p:nvSpPr>
        <p:spPr>
          <a:xfrm>
            <a:off x="7351775"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rota</a:t>
            </a:r>
          </a:p>
        </p:txBody>
      </p:sp>
      <p:sp>
        <p:nvSpPr>
          <p:cNvPr id="14" name="Rounded Rectangle 13"/>
          <p:cNvSpPr/>
          <p:nvPr/>
        </p:nvSpPr>
        <p:spPr>
          <a:xfrm>
            <a:off x="8247887"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workload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ran a six-month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trial</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shorter week can boost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productivity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It may improve staff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well-being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We need _______ on Fridays.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_______ is complicated in hospitals.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rota</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_______ didn’t shrink, only the days.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workload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boost productivity, reduce stress, improve well-being;rota(英)/ schedule(美)。</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Pitching the idea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向上司提议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suggest a trial.</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Pitching the idea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suggest a four-day week trial for our team.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What’s the idea?</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We’d work four days with the same pay. Other companies have reported higher productivity and less stress.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customers? We need cover on Fridays.</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Pitching the idea to a manager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could use a rota, so someone is always available.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risks?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main drawback is longer days. But we can run a three-month pilot and measure results.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seems reasonable. Write a short proposal.</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Pitching the idea to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a trial.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Team: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idea is · boost productivity · cover · rota · pilot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the benefits, address one concern and propose a pilot.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measurable target.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Handle a “no”.</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alternatives, like flexible hours.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A balanced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平衡讨论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panel discusses the policy.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Supporter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Sceptic</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Model Dialogue · A balanced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For me, the main benefit is better well-being. People return on Monday more energised.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agree that’s valuable, but it may not suit every sector.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Shops and hospitals need cover.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in some firms, work just gets compressed into four longer days.</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 balanced discussion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The aim should be fewer hours, not the same hours squeezed in.</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So results should be measured, not hours.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 balance, I’d support pilots in suitable industries.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 accept that.</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A balanced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debate the four-day week.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Supporter.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Sceptic. Industry: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main benefit · it may not suit · compressed · results, not hours · on balance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both sides politely and find a middle ground.</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concession: “I take your point, but…”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Quote an example.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agreement.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a four-day week work in your company?</a:t>
            </a:r>
          </a:p>
          <a:p>
            <a:pPr algn="l">
              <a:lnSpc>
                <a:spcPct val="115000"/>
              </a:lnSpc>
              <a:spcAft>
                <a:spcPts val="800"/>
              </a:spcAft>
            </a:pPr>
            <a:r>
              <a:rPr sz="1400" b="0">
                <a:solidFill>
                  <a:srgbClr val="5F677A"/>
                </a:solidFill>
                <a:latin typeface="Arial"/>
                <a:ea typeface="Microsoft YaHei"/>
              </a:rPr>
              <a:t>💬 “It could work if… / It might be difficult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benefits most from a shorter week?</a:t>
            </a:r>
          </a:p>
          <a:p>
            <a:pPr algn="l">
              <a:lnSpc>
                <a:spcPct val="115000"/>
              </a:lnSpc>
              <a:spcAft>
                <a:spcPts val="800"/>
              </a:spcAft>
            </a:pPr>
            <a:r>
              <a:rPr sz="1400" b="0">
                <a:solidFill>
                  <a:srgbClr val="5F677A"/>
                </a:solidFill>
                <a:latin typeface="Arial"/>
                <a:ea typeface="Microsoft YaHei"/>
              </a:rPr>
              <a:t>💬 “Parents and… might benefit most.”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fair if some jobs can’t have it?</a:t>
            </a:r>
          </a:p>
          <a:p>
            <a:pPr algn="l">
              <a:lnSpc>
                <a:spcPct val="115000"/>
              </a:lnSpc>
              <a:spcAft>
                <a:spcPts val="800"/>
              </a:spcAft>
            </a:pPr>
            <a:r>
              <a:rPr sz="1400" b="0">
                <a:solidFill>
                  <a:srgbClr val="5F677A"/>
                </a:solidFill>
                <a:latin typeface="Arial"/>
                <a:ea typeface="Microsoft YaHei"/>
              </a:rPr>
              <a:t>💬 “It’s a concern,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with an extra day?</a:t>
            </a:r>
          </a:p>
          <a:p>
            <a:pPr algn="l">
              <a:lnSpc>
                <a:spcPct val="115000"/>
              </a:lnSpc>
              <a:spcAft>
                <a:spcPts val="800"/>
              </a:spcAft>
            </a:pPr>
            <a:r>
              <a:rPr sz="1400" b="0">
                <a:solidFill>
                  <a:srgbClr val="5F677A"/>
                </a:solidFill>
                <a:latin typeface="Arial"/>
                <a:ea typeface="Microsoft YaHei"/>
              </a:rPr>
              <a:t>💬 “I’d probably…”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productivity be measured by hours or results?</a:t>
            </a:r>
          </a:p>
          <a:p>
            <a:pPr algn="l">
              <a:lnSpc>
                <a:spcPct val="115000"/>
              </a:lnSpc>
              <a:spcAft>
                <a:spcPts val="800"/>
              </a:spcAft>
            </a:pPr>
            <a:r>
              <a:rPr sz="1400" b="0">
                <a:solidFill>
                  <a:srgbClr val="5F677A"/>
                </a:solidFill>
                <a:latin typeface="Arial"/>
                <a:ea typeface="Microsoft YaHei"/>
              </a:rPr>
              <a:t>💬 “I think results, since…”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believe results are a better measure than hours. Someone can sit at a desk for ten hours and achieve little, while another person can solve a problem in two. Measuring results also gives people more freedom and motivation. Of course, some jobs need presence, like nursing, so hours matter there.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“presence” = 在岗;“Of course, …” 让步。</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Presenting pros and cons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阐述利弊</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Benefit</a:t>
                      </a:r>
                    </a:p>
                  </a:txBody>
                  <a:tcPr anchor="ctr">
                    <a:solidFill>
                      <a:srgbClr val="FFFFFF"/>
                    </a:solidFill>
                  </a:tcPr>
                </a:tc>
                <a:tc>
                  <a:txBody>
                    <a:bodyPr wrap="square"/>
                    <a:lstStyle/>
                    <a:p>
                      <a:r>
                        <a:rPr sz="1600" b="0">
                          <a:solidFill>
                            <a:srgbClr val="1F2A44"/>
                          </a:solidFill>
                          <a:latin typeface="Arial"/>
                          <a:ea typeface="Microsoft YaHei"/>
                        </a:rPr>
                        <a:t>The main benefit is less stress.</a:t>
                      </a:r>
                    </a:p>
                  </a:txBody>
                  <a:tcPr anchor="ctr">
                    <a:solidFill>
                      <a:srgbClr val="FFFFFF"/>
                    </a:solidFill>
                  </a:tcPr>
                </a:tc>
              </a:tr>
              <a:tr h="408432">
                <a:tc>
                  <a:txBody>
                    <a:bodyPr wrap="square"/>
                    <a:lstStyle/>
                    <a:p>
                      <a:r>
                        <a:rPr sz="1600" b="1">
                          <a:solidFill>
                            <a:srgbClr val="1F2A44"/>
                          </a:solidFill>
                          <a:latin typeface="Arial"/>
                          <a:ea typeface="Microsoft YaHei"/>
                        </a:rPr>
                        <a:t>Drawback</a:t>
                      </a:r>
                    </a:p>
                  </a:txBody>
                  <a:tcPr anchor="ctr">
                    <a:solidFill>
                      <a:srgbClr val="FFEFD9"/>
                    </a:solidFill>
                  </a:tcPr>
                </a:tc>
                <a:tc>
                  <a:txBody>
                    <a:bodyPr wrap="square"/>
                    <a:lstStyle/>
                    <a:p>
                      <a:r>
                        <a:rPr sz="1600" b="0">
                          <a:solidFill>
                            <a:srgbClr val="1F2A44"/>
                          </a:solidFill>
                          <a:latin typeface="Arial"/>
                          <a:ea typeface="Microsoft YaHei"/>
                        </a:rPr>
                        <a:t>A potential drawback is longer days.</a:t>
                      </a:r>
                    </a:p>
                  </a:txBody>
                  <a:tcPr anchor="ctr">
                    <a:solidFill>
                      <a:srgbClr val="FFEFD9"/>
                    </a:solidFill>
                  </a:tcPr>
                </a:tc>
              </a:tr>
              <a:tr h="408432">
                <a:tc>
                  <a:txBody>
                    <a:bodyPr wrap="square"/>
                    <a:lstStyle/>
                    <a:p>
                      <a:r>
                        <a:rPr sz="1600" b="1">
                          <a:solidFill>
                            <a:srgbClr val="1F2A44"/>
                          </a:solidFill>
                          <a:latin typeface="Arial"/>
                          <a:ea typeface="Microsoft YaHei"/>
                        </a:rPr>
                        <a:t>Concession</a:t>
                      </a:r>
                    </a:p>
                  </a:txBody>
                  <a:tcPr anchor="ctr">
                    <a:solidFill>
                      <a:srgbClr val="FFFFFF"/>
                    </a:solidFill>
                  </a:tcPr>
                </a:tc>
                <a:tc>
                  <a:txBody>
                    <a:bodyPr wrap="square"/>
                    <a:lstStyle/>
                    <a:p>
                      <a:r>
                        <a:rPr sz="1600" b="0">
                          <a:solidFill>
                            <a:srgbClr val="1F2A44"/>
                          </a:solidFill>
                          <a:latin typeface="Arial"/>
                          <a:ea typeface="Microsoft YaHei"/>
                        </a:rPr>
                        <a:t>I take your point, but…</a:t>
                      </a:r>
                    </a:p>
                  </a:txBody>
                  <a:tcPr anchor="ctr">
                    <a:solidFill>
                      <a:srgbClr val="FFFFFF"/>
                    </a:solidFill>
                  </a:tcPr>
                </a:tc>
              </a:tr>
              <a:tr h="408432">
                <a:tc>
                  <a:txBody>
                    <a:bodyPr wrap="square"/>
                    <a:lstStyle/>
                    <a:p>
                      <a:r>
                        <a:rPr sz="1600" b="1">
                          <a:solidFill>
                            <a:srgbClr val="1F2A44"/>
                          </a:solidFill>
                          <a:latin typeface="Arial"/>
                          <a:ea typeface="Microsoft YaHei"/>
                        </a:rPr>
                        <a:t>Conclusion</a:t>
                      </a:r>
                    </a:p>
                  </a:txBody>
                  <a:tcPr anchor="ctr">
                    <a:solidFill>
                      <a:srgbClr val="FFEFD9"/>
                    </a:solidFill>
                  </a:tcPr>
                </a:tc>
                <a:tc>
                  <a:txBody>
                    <a:bodyPr wrap="square"/>
                    <a:lstStyle/>
                    <a:p>
                      <a:r>
                        <a:rPr sz="1600" b="0">
                          <a:solidFill>
                            <a:srgbClr val="1F2A44"/>
                          </a:solidFill>
                          <a:latin typeface="Arial"/>
                          <a:ea typeface="Microsoft YaHei"/>
                        </a:rPr>
                        <a:t>On balance, I’d support a pilot.</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Presenting pros and cons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阐述利弊</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might / could / may to talk about possible effects: It could reduce burnout.</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four day week is good.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four-day week is good.</a:t>
            </a:r>
          </a:p>
          <a:p>
            <a:pPr algn="l">
              <a:spcAft>
                <a:spcPts val="200"/>
              </a:spcAft>
            </a:pPr>
            <a:r>
              <a:rPr sz="1200" b="0">
                <a:solidFill>
                  <a:srgbClr val="FFFFFF"/>
                </a:solidFill>
                <a:latin typeface="Arial"/>
                <a:ea typeface="Microsoft YaHei"/>
              </a:rPr>
              <a:t>连字符</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week of four days.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four-day week.</a:t>
            </a:r>
          </a:p>
          <a:p>
            <a:pPr algn="l">
              <a:spcAft>
                <a:spcPts val="200"/>
              </a:spcAft>
            </a:pPr>
            <a:r>
              <a:rPr sz="1200" b="0">
                <a:solidFill>
                  <a:srgbClr val="FFFFFF"/>
                </a:solidFill>
                <a:latin typeface="Arial"/>
                <a:ea typeface="Microsoft YaHei"/>
              </a:rPr>
              <a:t>复合形容词用单数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work 4 days in a week.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work four days a week.</a:t>
            </a:r>
          </a:p>
          <a:p>
            <a:pPr algn="l">
              <a:spcAft>
                <a:spcPts val="200"/>
              </a:spcAft>
            </a:pPr>
            <a:r>
              <a:rPr sz="1200" b="0">
                <a:solidFill>
                  <a:srgbClr val="FFFFFF"/>
                </a:solidFill>
                <a:latin typeface="Arial"/>
                <a:ea typeface="Microsoft YaHei"/>
              </a:rPr>
              <a:t>a week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brings us many benefit.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brings us many benefits.</a:t>
            </a:r>
          </a:p>
          <a:p>
            <a:pPr algn="l">
              <a:spcAft>
                <a:spcPts val="200"/>
              </a:spcAft>
            </a:pPr>
            <a:r>
              <a:rPr sz="1200" b="0">
                <a:solidFill>
                  <a:srgbClr val="FFFFFF"/>
                </a:solidFill>
                <a:latin typeface="Arial"/>
                <a:ea typeface="Microsoft YaHei"/>
              </a:rPr>
              <a:t>benefits</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reduces hours but keep pay.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…but keeps pay.</a:t>
            </a:r>
          </a:p>
          <a:p>
            <a:pPr algn="l">
              <a:spcAft>
                <a:spcPts val="200"/>
              </a:spcAft>
            </a:pPr>
            <a:r>
              <a:rPr sz="1200" b="0">
                <a:solidFill>
                  <a:srgbClr val="FFFFFF"/>
                </a:solidFill>
                <a:latin typeface="Arial"/>
                <a:ea typeface="Microsoft YaHei"/>
              </a:rPr>
              <a:t>动词一致</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in favour to it.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in favour of it.</a:t>
            </a:r>
          </a:p>
          <a:p>
            <a:pPr algn="l">
              <a:spcAft>
                <a:spcPts val="200"/>
              </a:spcAft>
            </a:pPr>
            <a:r>
              <a:rPr sz="1200" b="0">
                <a:solidFill>
                  <a:srgbClr val="FFFFFF"/>
                </a:solidFill>
                <a:latin typeface="Arial"/>
                <a:ea typeface="Microsoft YaHei"/>
              </a:rPr>
              <a:t>in favour of</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four-day week (hyphen, singular), a week, in favour of.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Policy debates are common. Share balanced views, not only emotions.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Use evidence. Cite trials and numbers: </a:t>
            </a:r>
            <a:r>
              <a:rPr sz="1700" b="0">
                <a:solidFill>
                  <a:srgbClr val="1F2A44"/>
                </a:solidFill>
                <a:latin typeface="Arial"/>
                <a:ea typeface="Microsoft YaHei"/>
              </a:rPr>
              <a:t>“Reports suggest…”.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Four-day trials. Some trials are run by research groups with companies.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Not all cultures work the same hours. Respect local norms when comparing.</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present pros and cons with the main benefit / a drawback.</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 reasoned opinion using on balance.</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pitch a trial to a manager.</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four-day week and a week correctly.</a:t>
            </a:r>
          </a:p>
        </p:txBody>
      </p:sp>
      <p:sp>
        <p:nvSpPr>
          <p:cNvPr id="24" name="TextBox 23"/>
          <p:cNvSpPr txBox="1"/>
          <p:nvPr/>
        </p:nvSpPr>
        <p:spPr>
          <a:xfrm>
            <a:off x="9539935" y="36057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50 A four-day workweek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Argue for or against a four-day week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hyphenated adjectives, a week, in favour of.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11 · Lesson 51 Working unpaid hours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Working unpaid hours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无偿工作时间</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unpaid overtime, expectations and rights, and refuse or negotiate extra work politely.</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ever work outside your contracted hours?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normal to work unpaid overtime in your industry?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people agree to extra work?</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say no to your boss politely?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companies do about unpaid overtime?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“overtime” 加班;“unpaid overtime” 无偿加班;“contracted hours” 合同工时。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time you worked extra hours and how you felt.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happened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why</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how you felt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you’d do now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ended up working…   💬 I felt I had no choice…   💬 In hindsight…   💬 I’d now say…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“have no choice” 别无选择;“end up + -ing” 最后落得。</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invisible workday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Studies in several countries suggest that many employees work hours that are never recorded or paid, from answering messages in the evening to finishing reports at weekends. Some do it out of ambition or loyalty. Others fear being seen as less committed than colleagues. In certain cultures, leaving on time can seem unusual. The cost, however, is real: tiredness, mistakes and a gradual drop in motivation. Managers also lose clear information about workload, because the extra hours hide the fact that the team has too much to do. Some countries have laws on working time and overtime pay. Employees can protect themselves by tracking their hours, agreeing priorities with their manager, and learning to say, “I can do this, but something else will have to wait.”</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do people work unpaid hours?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Ambition, loyalty, or fear of seeming less committed.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does unpaid overtime affect managers’ information?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extra hours hide the fact that the team has too much to do.</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phrase does the writer recommend?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 can do this, but something else will have to wait.”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Hours and pay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工时与报酬</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contracted hours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合同工时</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contracted hours are 9 to 5.”</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unpaid overtime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无偿加班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do a lot of unpaid overtime.”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overtime pay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加班费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“Overtime pay is time and a half.”</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off the clock</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下班后(不计酬)</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“Working off the clock is common.”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time in lieu</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调休</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took time in lieu.”</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Pressure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压力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expected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被期待</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expected to stay late.”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feel obliged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觉得有义务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feel obliged to reply.”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 the extra mile</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额外努力</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always goes the extra mile.”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presenteeism</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带病/超时出勤</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“Presenteeism harms productivity.”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work-life blur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工作生活界线模糊</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“Remote work causes work-life blur.”</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Saying no</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拒绝</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afraid I can’t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恐怕我不行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I can’t stay tonight.”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I’d rather not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我宁愿不</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rather not work this weekend.”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push back</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回绝/提出异议</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can push back politely.”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on too much</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揽太多活</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took on too much.”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draw the line</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划清界限</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draw the line at weekends.”</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合同工时</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contracted hours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揽太多活</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on too much</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划清界限</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draw the line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下班后(不计酬)</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off the clock</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额外努力</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go the extra mile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带病/超时出勤</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presenteeism</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我宁愿不</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rather not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无偿加班</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unpaid overtime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contracted</a:t>
            </a:r>
          </a:p>
        </p:txBody>
      </p:sp>
      <p:sp>
        <p:nvSpPr>
          <p:cNvPr id="10" name="Rounded Rectangle 9"/>
          <p:cNvSpPr/>
          <p:nvPr/>
        </p:nvSpPr>
        <p:spPr>
          <a:xfrm>
            <a:off x="3566160"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overtime</a:t>
            </a:r>
          </a:p>
        </p:txBody>
      </p:sp>
      <p:sp>
        <p:nvSpPr>
          <p:cNvPr id="11" name="Rounded Rectangle 10"/>
          <p:cNvSpPr/>
          <p:nvPr/>
        </p:nvSpPr>
        <p:spPr>
          <a:xfrm>
            <a:off x="4901184" y="987552"/>
            <a:ext cx="124358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expected</a:t>
            </a:r>
          </a:p>
        </p:txBody>
      </p:sp>
      <p:sp>
        <p:nvSpPr>
          <p:cNvPr id="12" name="Rounded Rectangle 11"/>
          <p:cNvSpPr/>
          <p:nvPr/>
        </p:nvSpPr>
        <p:spPr>
          <a:xfrm>
            <a:off x="6236208"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obliged</a:t>
            </a:r>
          </a:p>
        </p:txBody>
      </p:sp>
      <p:sp>
        <p:nvSpPr>
          <p:cNvPr id="13" name="Rounded Rectangle 12"/>
          <p:cNvSpPr/>
          <p:nvPr/>
        </p:nvSpPr>
        <p:spPr>
          <a:xfrm>
            <a:off x="7461504"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rather</a:t>
            </a:r>
          </a:p>
        </p:txBody>
      </p:sp>
      <p:sp>
        <p:nvSpPr>
          <p:cNvPr id="14" name="Rounded Rectangle 13"/>
          <p:cNvSpPr/>
          <p:nvPr/>
        </p:nvSpPr>
        <p:spPr>
          <a:xfrm>
            <a:off x="8577072"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line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My _______ hours are 9 to 5.</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contracted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do a lot of unpaid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overtime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We’re _______ to stay late at the end of the month.</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expected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feel _______ to reply to messages.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obliged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I’d _______ not work this weekend.</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rather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draw the _______ at weekends.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line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work overtime, do overtime, be paid overtime;overtime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Declining extra work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礼貌拒绝额外工作</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manager asks for weekend work.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Declining extra work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come in on Saturday? We have a deadline.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I can’t this weekend. I have family plans.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only for a few hours.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but I’d rather not give up my weekend. Could I finish part of it tonight instead?</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Declining extra work politely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 How long would it take?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two hours. And I’d like to take time in lieu next week.</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fair.</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for understanding.</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Declining extra work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decline and negotiate.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Request: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afraid I can’t · I’d rather not · Could I… instead? · time in lieu · fair</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Say no politely, offer an alternative and agree compensation.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legal limit.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one-time exception.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workload with data.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Raising workload concerns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提出工作量问题</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discuss priorities with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Raising workload concerns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I’ve been working late most evenings to keep up.</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didn’t realise. Is the workload too heavy?</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I’ve taken on too much, and the extra hours aren’t sustainable.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you like to change?</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Raising workload concerns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agree priorities. If I do these three tasks, something else will have to wait.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reasonable. Which one can wait?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monthly report. It could move to next week.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Let’s review in two weeks.</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Raising workload concerns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raise workload concerns.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Tasks: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working late · too heavy · sustainable · something else will have to wait · priorities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facts, ask for priorities and agree a review.</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Quantify your hours.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a solution, not a complaint.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support.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unpaid overtime acceptable in some situations?</a:t>
            </a:r>
          </a:p>
          <a:p>
            <a:pPr algn="l">
              <a:lnSpc>
                <a:spcPct val="115000"/>
              </a:lnSpc>
              <a:spcAft>
                <a:spcPts val="800"/>
              </a:spcAft>
            </a:pPr>
            <a:r>
              <a:rPr sz="1400" b="0">
                <a:solidFill>
                  <a:srgbClr val="5F677A"/>
                </a:solidFill>
                <a:latin typeface="Arial"/>
                <a:ea typeface="Microsoft YaHei"/>
              </a:rPr>
              <a:t>💬 “Occasionally, if…”</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is it hard to leave on time in some workplaces?</a:t>
            </a:r>
          </a:p>
          <a:p>
            <a:pPr algn="l">
              <a:lnSpc>
                <a:spcPct val="115000"/>
              </a:lnSpc>
              <a:spcAft>
                <a:spcPts val="800"/>
              </a:spcAft>
            </a:pPr>
            <a:r>
              <a:rPr sz="1400" b="0">
                <a:solidFill>
                  <a:srgbClr val="5F677A"/>
                </a:solidFill>
                <a:latin typeface="Arial"/>
                <a:ea typeface="Microsoft YaHei"/>
              </a:rPr>
              <a:t>💬 “Because people feel… / It’s seen as…”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overtime be regulated by law?</a:t>
            </a:r>
          </a:p>
          <a:p>
            <a:pPr algn="l">
              <a:lnSpc>
                <a:spcPct val="115000"/>
              </a:lnSpc>
              <a:spcAft>
                <a:spcPts val="800"/>
              </a:spcAft>
            </a:pPr>
            <a:r>
              <a:rPr sz="1400" b="0">
                <a:solidFill>
                  <a:srgbClr val="5F677A"/>
                </a:solidFill>
                <a:latin typeface="Arial"/>
                <a:ea typeface="Microsoft YaHei"/>
              </a:rPr>
              <a:t>💬 “I think so,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employees protect their time?</a:t>
            </a:r>
          </a:p>
          <a:p>
            <a:pPr algn="l">
              <a:lnSpc>
                <a:spcPct val="115000"/>
              </a:lnSpc>
              <a:spcAft>
                <a:spcPts val="800"/>
              </a:spcAft>
            </a:pPr>
            <a:r>
              <a:rPr sz="1400" b="0">
                <a:solidFill>
                  <a:srgbClr val="5F677A"/>
                </a:solidFill>
                <a:latin typeface="Arial"/>
                <a:ea typeface="Microsoft YaHei"/>
              </a:rPr>
              <a:t>💬 “They can… / It helps to…”</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say if your boss expected weekend work?</a:t>
            </a:r>
          </a:p>
          <a:p>
            <a:pPr algn="l">
              <a:lnSpc>
                <a:spcPct val="115000"/>
              </a:lnSpc>
              <a:spcAft>
                <a:spcPts val="800"/>
              </a:spcAft>
            </a:pPr>
            <a:r>
              <a:rPr sz="1400" b="0">
                <a:solidFill>
                  <a:srgbClr val="5F677A"/>
                </a:solidFill>
                <a:latin typeface="Arial"/>
                <a:ea typeface="Microsoft YaHei"/>
              </a:rPr>
              <a:t>💬 “I’d say… / I’d explain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 should be regulated, because otherwise the people with less power are asked to give more. Laws on maximum hours and overtime pay protect health and ensure fairness. Employers could still ask for extra work, but they must pay or give time off. That way, extra effort is recognised and not just expected.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“otherwise” 否则;“recognised and not just expected” 被认可而非被默认。</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Making requests and refusals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请求与拒绝</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Request</a:t>
                      </a:r>
                    </a:p>
                  </a:txBody>
                  <a:tcPr anchor="ctr">
                    <a:solidFill>
                      <a:srgbClr val="FFFFFF"/>
                    </a:solidFill>
                  </a:tcPr>
                </a:tc>
                <a:tc>
                  <a:txBody>
                    <a:bodyPr wrap="square"/>
                    <a:lstStyle/>
                    <a:p>
                      <a:r>
                        <a:rPr sz="1600" b="0">
                          <a:solidFill>
                            <a:srgbClr val="1F2A44"/>
                          </a:solidFill>
                          <a:latin typeface="Arial"/>
                          <a:ea typeface="Microsoft YaHei"/>
                        </a:rPr>
                        <a:t>Could you come in on Saturday?</a:t>
                      </a:r>
                    </a:p>
                  </a:txBody>
                  <a:tcPr anchor="ctr">
                    <a:solidFill>
                      <a:srgbClr val="FFFFFF"/>
                    </a:solidFill>
                  </a:tcPr>
                </a:tc>
              </a:tr>
              <a:tr h="408432">
                <a:tc>
                  <a:txBody>
                    <a:bodyPr wrap="square"/>
                    <a:lstStyle/>
                    <a:p>
                      <a:r>
                        <a:rPr sz="1600" b="1">
                          <a:solidFill>
                            <a:srgbClr val="1F2A44"/>
                          </a:solidFill>
                          <a:latin typeface="Arial"/>
                          <a:ea typeface="Microsoft YaHei"/>
                        </a:rPr>
                        <a:t>Polite refusal</a:t>
                      </a:r>
                    </a:p>
                  </a:txBody>
                  <a:tcPr anchor="ctr">
                    <a:solidFill>
                      <a:srgbClr val="FFEFD9"/>
                    </a:solidFill>
                  </a:tcPr>
                </a:tc>
                <a:tc>
                  <a:txBody>
                    <a:bodyPr wrap="square"/>
                    <a:lstStyle/>
                    <a:p>
                      <a:r>
                        <a:rPr sz="1600" b="0">
                          <a:solidFill>
                            <a:srgbClr val="1F2A44"/>
                          </a:solidFill>
                          <a:latin typeface="Arial"/>
                          <a:ea typeface="Microsoft YaHei"/>
                        </a:rPr>
                        <a:t>I’m afraid I can’t.</a:t>
                      </a:r>
                    </a:p>
                  </a:txBody>
                  <a:tcPr anchor="ctr">
                    <a:solidFill>
                      <a:srgbClr val="FFEFD9"/>
                    </a:solidFill>
                  </a:tcPr>
                </a:tc>
              </a:tr>
              <a:tr h="408432">
                <a:tc>
                  <a:txBody>
                    <a:bodyPr wrap="square"/>
                    <a:lstStyle/>
                    <a:p>
                      <a:r>
                        <a:rPr sz="1600" b="1">
                          <a:solidFill>
                            <a:srgbClr val="1F2A44"/>
                          </a:solidFill>
                          <a:latin typeface="Arial"/>
                          <a:ea typeface="Microsoft YaHei"/>
                        </a:rPr>
                        <a:t>Alternative</a:t>
                      </a:r>
                    </a:p>
                  </a:txBody>
                  <a:tcPr anchor="ctr">
                    <a:solidFill>
                      <a:srgbClr val="FFFFFF"/>
                    </a:solidFill>
                  </a:tcPr>
                </a:tc>
                <a:tc>
                  <a:txBody>
                    <a:bodyPr wrap="square"/>
                    <a:lstStyle/>
                    <a:p>
                      <a:r>
                        <a:rPr sz="1600" b="0">
                          <a:solidFill>
                            <a:srgbClr val="1F2A44"/>
                          </a:solidFill>
                          <a:latin typeface="Arial"/>
                          <a:ea typeface="Microsoft YaHei"/>
                        </a:rPr>
                        <a:t>Could I do it tonight instead?</a:t>
                      </a:r>
                    </a:p>
                  </a:txBody>
                  <a:tcPr anchor="ctr">
                    <a:solidFill>
                      <a:srgbClr val="FFFFFF"/>
                    </a:solidFill>
                  </a:tcPr>
                </a:tc>
              </a:tr>
              <a:tr h="408432">
                <a:tc>
                  <a:txBody>
                    <a:bodyPr wrap="square"/>
                    <a:lstStyle/>
                    <a:p>
                      <a:r>
                        <a:rPr sz="1600" b="1">
                          <a:solidFill>
                            <a:srgbClr val="1F2A44"/>
                          </a:solidFill>
                          <a:latin typeface="Arial"/>
                          <a:ea typeface="Microsoft YaHei"/>
                        </a:rPr>
                        <a:t>Compensation</a:t>
                      </a:r>
                    </a:p>
                  </a:txBody>
                  <a:tcPr anchor="ctr">
                    <a:solidFill>
                      <a:srgbClr val="FFEFD9"/>
                    </a:solidFill>
                  </a:tcPr>
                </a:tc>
                <a:tc>
                  <a:txBody>
                    <a:bodyPr wrap="square"/>
                    <a:lstStyle/>
                    <a:p>
                      <a:r>
                        <a:rPr sz="1600" b="0">
                          <a:solidFill>
                            <a:srgbClr val="1F2A44"/>
                          </a:solidFill>
                          <a:latin typeface="Arial"/>
                          <a:ea typeface="Microsoft YaHei"/>
                        </a:rPr>
                        <a:t>I’d like time in lieu.</a:t>
                      </a:r>
                    </a:p>
                  </a:txBody>
                  <a:tcPr anchor="ctr">
                    <a:solidFill>
                      <a:srgbClr val="FFEFD9"/>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Making requests and refusals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请求与拒绝</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After I’d rather, use the base verb: </a:t>
            </a:r>
            <a:r>
              <a:rPr sz="1700" b="0">
                <a:solidFill>
                  <a:srgbClr val="1F2A44"/>
                </a:solidFill>
                <a:latin typeface="Arial"/>
                <a:ea typeface="Microsoft YaHei"/>
              </a:rPr>
              <a:t>I’d rather not work. After I’d prefer, use to + verb: I’d prefer not to work.</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work overtimes every week.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work overtime every week.</a:t>
            </a:r>
          </a:p>
          <a:p>
            <a:pPr algn="l">
              <a:spcAft>
                <a:spcPts val="200"/>
              </a:spcAft>
            </a:pPr>
            <a:r>
              <a:rPr sz="1200" b="0">
                <a:solidFill>
                  <a:srgbClr val="FFFFFF"/>
                </a:solidFill>
                <a:latin typeface="Arial"/>
                <a:ea typeface="Microsoft YaHei"/>
              </a:rPr>
              <a:t>overtime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not paid for the overtime.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paid for overtime.</a:t>
            </a:r>
          </a:p>
          <a:p>
            <a:pPr algn="l">
              <a:spcAft>
                <a:spcPts val="200"/>
              </a:spcAft>
            </a:pPr>
            <a:r>
              <a:rPr sz="1200" b="0">
                <a:solidFill>
                  <a:srgbClr val="FFFFFF"/>
                </a:solidFill>
                <a:latin typeface="Arial"/>
                <a:ea typeface="Microsoft YaHei"/>
              </a:rPr>
              <a:t>无 the</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I’d rather to stay at home.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rather stay at home.</a:t>
            </a:r>
          </a:p>
          <a:p>
            <a:pPr algn="l">
              <a:spcAft>
                <a:spcPts val="200"/>
              </a:spcAft>
            </a:pPr>
            <a:r>
              <a:rPr sz="1200" b="0">
                <a:solidFill>
                  <a:srgbClr val="FFFFFF"/>
                </a:solidFill>
                <a:latin typeface="Arial"/>
                <a:ea typeface="Microsoft YaHei"/>
              </a:rPr>
              <a:t>would rather + 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to come.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come.</a:t>
            </a:r>
          </a:p>
          <a:p>
            <a:pPr algn="l">
              <a:spcAft>
                <a:spcPts val="200"/>
              </a:spcAft>
            </a:pPr>
            <a:r>
              <a:rPr sz="1200" b="0">
                <a:solidFill>
                  <a:srgbClr val="FFFFFF"/>
                </a:solidFill>
                <a:latin typeface="Arial"/>
                <a:ea typeface="Microsoft YaHei"/>
              </a:rPr>
              <a:t>can’t + 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don’t want, I’m sorry.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rather not, I’m afraid.</a:t>
            </a:r>
          </a:p>
          <a:p>
            <a:pPr algn="l">
              <a:spcAft>
                <a:spcPts val="200"/>
              </a:spcAft>
            </a:pPr>
            <a:r>
              <a:rPr sz="1200" b="0">
                <a:solidFill>
                  <a:srgbClr val="FFFFFF"/>
                </a:solidFill>
                <a:latin typeface="Arial"/>
                <a:ea typeface="Microsoft YaHei"/>
              </a:rPr>
              <a:t>太直接</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were asked work extra hours.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were asked to work extra hours.</a:t>
            </a:r>
          </a:p>
          <a:p>
            <a:pPr algn="l">
              <a:spcAft>
                <a:spcPts val="200"/>
              </a:spcAft>
            </a:pPr>
            <a:r>
              <a:rPr sz="1200" b="0">
                <a:solidFill>
                  <a:srgbClr val="FFFFFF"/>
                </a:solidFill>
                <a:latin typeface="Arial"/>
                <a:ea typeface="Microsoft YaHei"/>
              </a:rPr>
              <a:t>ask sb to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overtime, would rather + base, ask someone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Rules vary by country. In the EU, working-time rules limit weekly hours; in the US, many salaried staff are “exempt” from overtime pay.</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“No” with a reason. A reason and an alternative sound cooperative.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Track your time. Keep notes if you ever need to discuss pay.</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Be careful about complaints. Frame them as workload issues, not blame.</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overtime and expectations.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no politely and offer alternatives.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workload with a manager.</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overtime (uncountable) and would rather + base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51 Working unpaid hours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Role-play declining a weekend request.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overtime uncountable, would rather, ask sb to.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11 · Lesson 52 Time poverty</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52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Time poverty</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时间贫困</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“time poverty”, discuss its causes and effects, and suggest practical solutions.</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often feel you don’t have enough time?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takes up most of your time?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time more valuable than money?</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pay for services to save time?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lack of time affect your health?</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“time poverty” = 时间贫困,指时间不够用。第 3 题比较 “more valuable than”。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what time poverty is and how to deal with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definition</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causes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effects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solutions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Time poverty is when…   💬 It’s caused by…   💬 As a result, …   💬 One solution is to…</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“It’s caused by…” 被动;“As a result” = 结果。</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The shortage you cannot buy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Time poverty describes the feeling of having too much to do and too little time to do it. It is not only about long working hours; commuting, childcare, housework and constant digital messages all take up the day. Studies suggest that people who feel short of time report more stress, eat less healthily and exercise less. Interestingly, time poverty is not limited to people with low incomes. Some well-paid professionals suffer from it too, because their jobs demand constant availability. Individuals can respond by paying for time-saving services, such as grocery delivery, when they can afford to. Employers can help by offering flexible hours, remote work and realistic deadlines. Perhaps the most important step is to stop treating busyness as a sign of success.</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contributes to time poverty besides working hours?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Commuting, childcare, housework and constant digital messages.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Who can suffer from time poverty?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Not only low-income people; well-paid professionals as well.</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the writer’s final suggestion?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Stop treating busyness as a sign of success.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Time shortage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时间不足</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 poverty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时间贫困</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“Time poverty affects parents most.”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pressed for time</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时间紧迫</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pressed for time today.”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stretched thin</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分身乏术</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all stretched thin.”</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swamped / snowed under</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忙得不可开交</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snowed under with work.”</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never-ending to-do list</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永远做不完的清单</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a never-ending to-do list.”</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Causes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原因</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commute</a:t>
            </a:r>
          </a:p>
          <a:p>
            <a:pPr algn="l">
              <a:lnSpc>
                <a:spcPct val="115000"/>
              </a:lnSpc>
              <a:spcAft>
                <a:spcPts val="800"/>
              </a:spcAft>
            </a:pPr>
            <a:r>
              <a:rPr sz="1300" b="0">
                <a:solidFill>
                  <a:srgbClr val="5F677A"/>
                </a:solidFill>
                <a:latin typeface="Arial"/>
                <a:ea typeface="Microsoft YaHei"/>
              </a:rPr>
              <a:t>noun/verb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通勤</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commute takes an hour.”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juggle</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同时应付</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juggles work and childcare.”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constant connectivity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持续在线</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“Constant connectivity is exhausting.”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always-on culture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全天候在线文化</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always-on culture is a problem.”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fall behind</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落后</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falling behind on my reports.”</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Solutions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对策</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outsource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外包</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outsource cleaning.”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save time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节省时间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app saves time.”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simplify</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简化</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“Simplify your schedule.”</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declutter your schedule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清理日程</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“Declutter your schedule weekly.”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buy back time</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买回时间</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“Pay to buy back time.”</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永远做不完的清单</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never-ending to-do list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外包</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outsource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全天候在线文化</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always-on culture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节省时间</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save time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落后</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behind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同时应付</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juggle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清理日程</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declutter your schedule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时间贫困</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poverty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poverty</a:t>
            </a:r>
          </a:p>
        </p:txBody>
      </p:sp>
      <p:sp>
        <p:nvSpPr>
          <p:cNvPr id="10" name="Rounded Rectangle 9"/>
          <p:cNvSpPr/>
          <p:nvPr/>
        </p:nvSpPr>
        <p:spPr>
          <a:xfrm>
            <a:off x="3236976"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pressed</a:t>
            </a:r>
          </a:p>
        </p:txBody>
      </p:sp>
      <p:sp>
        <p:nvSpPr>
          <p:cNvPr id="11" name="Rounded Rectangle 10"/>
          <p:cNvSpPr/>
          <p:nvPr/>
        </p:nvSpPr>
        <p:spPr>
          <a:xfrm>
            <a:off x="4462272"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juggles</a:t>
            </a:r>
          </a:p>
        </p:txBody>
      </p:sp>
      <p:sp>
        <p:nvSpPr>
          <p:cNvPr id="12" name="Rounded Rectangle 11"/>
          <p:cNvSpPr/>
          <p:nvPr/>
        </p:nvSpPr>
        <p:spPr>
          <a:xfrm>
            <a:off x="5687568"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commute</a:t>
            </a:r>
          </a:p>
        </p:txBody>
      </p:sp>
      <p:sp>
        <p:nvSpPr>
          <p:cNvPr id="13" name="Rounded Rectangle 12"/>
          <p:cNvSpPr/>
          <p:nvPr/>
        </p:nvSpPr>
        <p:spPr>
          <a:xfrm>
            <a:off x="6912864"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outsource</a:t>
            </a:r>
          </a:p>
        </p:txBody>
      </p:sp>
      <p:sp>
        <p:nvSpPr>
          <p:cNvPr id="14" name="Rounded Rectangle 13"/>
          <p:cNvSpPr/>
          <p:nvPr/>
        </p:nvSpPr>
        <p:spPr>
          <a:xfrm>
            <a:off x="8357616"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simplify</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Time _______ affects busy parents most.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poverty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I’m _______ for time today.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pressed</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She _______ work and childcare.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juggles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My _______ takes an hour each way.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commute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Some people _______ housework to save time.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outsource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Try to _______ your schedule.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simplify</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be pressed for time, save time, spend time on/doing;commute 动词无需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Telling a colleague you’re stretched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告诉同事你分身乏术</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casual chat.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a colleague you’re stretched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look tired. Is everything OK?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stretched thin at the moment. I’m juggling this project and a long commute.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long is your commute?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Almost two hours a day. I fall behind on other tasks.</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Telling a colleague you’re stretched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you work from home one day a week?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ask. It would save me time.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Also, maybe outsource something at home.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I’m always pressed for time.</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Telling a colleague you’re stretched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time poverty.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Stretched person. Causes: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stretched thin · juggling · commute · fall behind · save time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causes and suggest solutions.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priorities.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one change today.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Offer to help.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Suggesting company support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建议公司支持</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propose a policy to HR.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HR</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Suggesting company support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Several colleagues feel pressed for time. I’d like to suggest some changes.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have in mind?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Flexible hours so people can avoid rush hour, and one remote day a week.</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that really help?</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Suggesting company support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would cut commuting, which is the biggest time drain for many of us.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productivity?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should improve, because people would be less stressed.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propose a pilot.</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Suggesting company support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propose time-saving policies.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 Problem: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pressed for time · flexible hours · time drain · pilot · less stressed</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problem, solutions and a pilot idea.</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numbers (hours saved).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Answer a cost objection.</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Propose how to measure results.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time poverty a modern problem?</a:t>
            </a:r>
          </a:p>
          <a:p>
            <a:pPr algn="l">
              <a:lnSpc>
                <a:spcPct val="115000"/>
              </a:lnSpc>
              <a:spcAft>
                <a:spcPts val="800"/>
              </a:spcAft>
            </a:pPr>
            <a:r>
              <a:rPr sz="1400" b="0">
                <a:solidFill>
                  <a:srgbClr val="5F677A"/>
                </a:solidFill>
                <a:latin typeface="Arial"/>
                <a:ea typeface="Microsoft YaHei"/>
              </a:rPr>
              <a:t>💬 “I think it has become worse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technology save time or does it create more work?</a:t>
            </a:r>
          </a:p>
          <a:p>
            <a:pPr algn="l">
              <a:lnSpc>
                <a:spcPct val="115000"/>
              </a:lnSpc>
              <a:spcAft>
                <a:spcPts val="800"/>
              </a:spcAft>
            </a:pPr>
            <a:r>
              <a:rPr sz="1400" b="0">
                <a:solidFill>
                  <a:srgbClr val="5F677A"/>
                </a:solidFill>
                <a:latin typeface="Arial"/>
                <a:ea typeface="Microsoft YaHei"/>
              </a:rPr>
              <a:t>💬 “Both: it can… but it can also…”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is more time-poor, rich or poor people?</a:t>
            </a:r>
          </a:p>
          <a:p>
            <a:pPr algn="l">
              <a:lnSpc>
                <a:spcPct val="115000"/>
              </a:lnSpc>
              <a:spcAft>
                <a:spcPts val="800"/>
              </a:spcAft>
            </a:pPr>
            <a:r>
              <a:rPr sz="1400" b="0">
                <a:solidFill>
                  <a:srgbClr val="5F677A"/>
                </a:solidFill>
                <a:latin typeface="Arial"/>
                <a:ea typeface="Microsoft YaHei"/>
              </a:rPr>
              <a:t>💬 “Different groups,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with two extra hours a day?</a:t>
            </a:r>
          </a:p>
          <a:p>
            <a:pPr algn="l">
              <a:lnSpc>
                <a:spcPct val="115000"/>
              </a:lnSpc>
              <a:spcAft>
                <a:spcPts val="800"/>
              </a:spcAft>
            </a:pPr>
            <a:r>
              <a:rPr sz="1400" b="0">
                <a:solidFill>
                  <a:srgbClr val="5F677A"/>
                </a:solidFill>
                <a:latin typeface="Arial"/>
                <a:ea typeface="Microsoft YaHei"/>
              </a:rPr>
              <a:t>💬 “I’d probably…”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companies reduce time poverty?</a:t>
            </a:r>
          </a:p>
          <a:p>
            <a:pPr algn="l">
              <a:lnSpc>
                <a:spcPct val="115000"/>
              </a:lnSpc>
              <a:spcAft>
                <a:spcPts val="800"/>
              </a:spcAft>
            </a:pPr>
            <a:r>
              <a:rPr sz="1400" b="0">
                <a:solidFill>
                  <a:srgbClr val="5F677A"/>
                </a:solidFill>
                <a:latin typeface="Arial"/>
                <a:ea typeface="Microsoft YaHei"/>
              </a:rPr>
              <a:t>💬 “By… / They could…”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Technology does both. It saves time by automating tasks and making communication faster, but it also creates expectations of instant replies. I can write a report in half the time with a good tool, but I get more messages. The solution is not less technology, but clearer rules about when we use it.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“automating” 自动化;“expectations of instant replies” 对即时回复的期待。</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Cause, effect and solutions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因果与对策</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because of + noun</a:t>
                      </a:r>
                    </a:p>
                  </a:txBody>
                  <a:tcPr anchor="ctr">
                    <a:solidFill>
                      <a:srgbClr val="FFFFFF"/>
                    </a:solidFill>
                  </a:tcPr>
                </a:tc>
                <a:tc>
                  <a:txBody>
                    <a:bodyPr wrap="square"/>
                    <a:lstStyle/>
                    <a:p>
                      <a:r>
                        <a:rPr sz="1600" b="0">
                          <a:solidFill>
                            <a:srgbClr val="1F2A44"/>
                          </a:solidFill>
                          <a:latin typeface="Arial"/>
                          <a:ea typeface="Microsoft YaHei"/>
                        </a:rPr>
                        <a:t>Because of my commute, I fall behind.</a:t>
                      </a:r>
                    </a:p>
                  </a:txBody>
                  <a:tcPr anchor="ctr">
                    <a:solidFill>
                      <a:srgbClr val="FFFFFF"/>
                    </a:solidFill>
                  </a:tcPr>
                </a:tc>
              </a:tr>
              <a:tr h="408432">
                <a:tc>
                  <a:txBody>
                    <a:bodyPr wrap="square"/>
                    <a:lstStyle/>
                    <a:p>
                      <a:r>
                        <a:rPr sz="1600" b="1">
                          <a:solidFill>
                            <a:srgbClr val="1F2A44"/>
                          </a:solidFill>
                          <a:latin typeface="Arial"/>
                          <a:ea typeface="Microsoft YaHei"/>
                        </a:rPr>
                        <a:t>as a result</a:t>
                      </a:r>
                    </a:p>
                  </a:txBody>
                  <a:tcPr anchor="ctr">
                    <a:solidFill>
                      <a:srgbClr val="FFEFD9"/>
                    </a:solidFill>
                  </a:tcPr>
                </a:tc>
                <a:tc>
                  <a:txBody>
                    <a:bodyPr wrap="square"/>
                    <a:lstStyle/>
                    <a:p>
                      <a:r>
                        <a:rPr sz="1600" b="0">
                          <a:solidFill>
                            <a:srgbClr val="1F2A44"/>
                          </a:solidFill>
                          <a:latin typeface="Arial"/>
                          <a:ea typeface="Microsoft YaHei"/>
                        </a:rPr>
                        <a:t>As a result, I’m exhausted.</a:t>
                      </a:r>
                    </a:p>
                  </a:txBody>
                  <a:tcPr anchor="ctr">
                    <a:solidFill>
                      <a:srgbClr val="FFEFD9"/>
                    </a:solidFill>
                  </a:tcPr>
                </a:tc>
              </a:tr>
              <a:tr h="408432">
                <a:tc>
                  <a:txBody>
                    <a:bodyPr wrap="square"/>
                    <a:lstStyle/>
                    <a:p>
                      <a:r>
                        <a:rPr sz="1600" b="1">
                          <a:solidFill>
                            <a:srgbClr val="1F2A44"/>
                          </a:solidFill>
                          <a:latin typeface="Arial"/>
                          <a:ea typeface="Microsoft YaHei"/>
                        </a:rPr>
                        <a:t>so that / in order to</a:t>
                      </a:r>
                    </a:p>
                  </a:txBody>
                  <a:tcPr anchor="ctr">
                    <a:solidFill>
                      <a:srgbClr val="FFFFFF"/>
                    </a:solidFill>
                  </a:tcPr>
                </a:tc>
                <a:tc>
                  <a:txBody>
                    <a:bodyPr wrap="square"/>
                    <a:lstStyle/>
                    <a:p>
                      <a:r>
                        <a:rPr sz="1600" b="0">
                          <a:solidFill>
                            <a:srgbClr val="1F2A44"/>
                          </a:solidFill>
                          <a:latin typeface="Arial"/>
                          <a:ea typeface="Microsoft YaHei"/>
                        </a:rPr>
                        <a:t>I outsource cleaning so that I have more time.</a:t>
                      </a:r>
                    </a:p>
                  </a:txBody>
                  <a:tcPr anchor="ctr">
                    <a:solidFill>
                      <a:srgbClr val="FFFFFF"/>
                    </a:solidFill>
                  </a:tcPr>
                </a:tc>
              </a:tr>
              <a:tr h="408432">
                <a:tc>
                  <a:txBody>
                    <a:bodyPr wrap="square"/>
                    <a:lstStyle/>
                    <a:p>
                      <a:r>
                        <a:rPr sz="1600" b="1">
                          <a:solidFill>
                            <a:srgbClr val="1F2A44"/>
                          </a:solidFill>
                          <a:latin typeface="Arial"/>
                          <a:ea typeface="Microsoft YaHei"/>
                        </a:rPr>
                        <a:t>One solution is to…</a:t>
                      </a:r>
                    </a:p>
                  </a:txBody>
                  <a:tcPr anchor="ctr">
                    <a:solidFill>
                      <a:srgbClr val="FFEFD9"/>
                    </a:solidFill>
                  </a:tcPr>
                </a:tc>
                <a:tc>
                  <a:txBody>
                    <a:bodyPr wrap="square"/>
                    <a:lstStyle/>
                    <a:p>
                      <a:r>
                        <a:rPr sz="1600" b="0">
                          <a:solidFill>
                            <a:srgbClr val="1F2A44"/>
                          </a:solidFill>
                          <a:latin typeface="Arial"/>
                          <a:ea typeface="Microsoft YaHei"/>
                        </a:rPr>
                        <a:t>One solution is to work from home.</a:t>
                      </a:r>
                    </a:p>
                  </a:txBody>
                  <a:tcPr anchor="ctr">
                    <a:solidFill>
                      <a:srgbClr val="FFEFD9"/>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Cause, effect and solutions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因果与对策</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In order to and to + base verb for purpose; so that + clause: so that I can rest.</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no enough time.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have enough time.</a:t>
            </a:r>
          </a:p>
          <a:p>
            <a:pPr algn="l">
              <a:spcAft>
                <a:spcPts val="200"/>
              </a:spcAft>
            </a:pPr>
            <a:r>
              <a:rPr sz="1200" b="0">
                <a:solidFill>
                  <a:srgbClr val="FFFFFF"/>
                </a:solidFill>
                <a:latin typeface="Arial"/>
                <a:ea typeface="Microsoft YaHei"/>
              </a:rPr>
              <a:t>don’t have enough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busy to do the report.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am busy doing the report.</a:t>
            </a:r>
          </a:p>
          <a:p>
            <a:pPr algn="l">
              <a:spcAft>
                <a:spcPts val="200"/>
              </a:spcAft>
            </a:pPr>
            <a:r>
              <a:rPr sz="1200" b="0">
                <a:solidFill>
                  <a:srgbClr val="FFFFFF"/>
                </a:solidFill>
                <a:latin typeface="Arial"/>
                <a:ea typeface="Microsoft YaHei"/>
              </a:rPr>
              <a:t>busy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time is not enough.</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don’t have enough time.</a:t>
            </a:r>
          </a:p>
          <a:p>
            <a:pPr algn="l">
              <a:spcAft>
                <a:spcPts val="200"/>
              </a:spcAft>
            </a:pPr>
            <a:r>
              <a:rPr sz="1200" b="0">
                <a:solidFill>
                  <a:srgbClr val="FFFFFF"/>
                </a:solidFill>
                <a:latin typeface="Arial"/>
                <a:ea typeface="Microsoft YaHei"/>
              </a:rPr>
              <a:t>自然表达</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takes me two hour.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takes me two hours.</a:t>
            </a:r>
          </a:p>
          <a:p>
            <a:pPr algn="l">
              <a:spcAft>
                <a:spcPts val="200"/>
              </a:spcAft>
            </a:pPr>
            <a:r>
              <a:rPr sz="1200" b="0">
                <a:solidFill>
                  <a:srgbClr val="FFFFFF"/>
                </a:solidFill>
                <a:latin typeface="Arial"/>
                <a:ea typeface="Microsoft YaHei"/>
              </a:rPr>
              <a:t>hours</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waste my time for waiting.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waste my time waiting.</a:t>
            </a:r>
          </a:p>
          <a:p>
            <a:pPr algn="l">
              <a:spcAft>
                <a:spcPts val="200"/>
              </a:spcAft>
            </a:pPr>
            <a:r>
              <a:rPr sz="1200" b="0">
                <a:solidFill>
                  <a:srgbClr val="FFFFFF"/>
                </a:solidFill>
                <a:latin typeface="Arial"/>
                <a:ea typeface="Microsoft YaHei"/>
              </a:rPr>
              <a:t>waste + -ing</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go to work by foot.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walk to work. / I go to work on foot.</a:t>
            </a:r>
          </a:p>
          <a:p>
            <a:pPr algn="l">
              <a:spcAft>
                <a:spcPts val="200"/>
              </a:spcAft>
            </a:pPr>
            <a:r>
              <a:rPr sz="1200" b="0">
                <a:solidFill>
                  <a:srgbClr val="FFFFFF"/>
                </a:solidFill>
                <a:latin typeface="Arial"/>
                <a:ea typeface="Microsoft YaHei"/>
              </a:rPr>
              <a:t>on foot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enough position, busy doing, two hours, waste time doing.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“Busy” is not a compliment. In many offices, people prefer “I’m slammed, but fine” over complaining.</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Be specific. “I can’t take that on this week, but next week works” is better.</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Offering solutions. Employers value employees who bring ideas.</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0">
                <a:solidFill>
                  <a:srgbClr val="1F2A44"/>
                </a:solidFill>
                <a:latin typeface="Arial"/>
                <a:ea typeface="Microsoft YaHei"/>
              </a:rPr>
              <a:t>Talk about well-being. Mental health conversations are more open in many workplaces.</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52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time poverty and its causes.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solutions using so that / in order to.</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say I’m busy without sounding negative.</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enough, busy + -ing, two hours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 · Lesson 52 Time poverty</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time poverty and three solutions in 90 seconds.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enough, busy + -ing, hours, waste time doing.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I’m afraid I can’t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afraid I can’t stay tonight.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buy back time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Pay to buy back time.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我宁愿不</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I’d rather not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放松</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unwind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被期待</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expected to</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I’m interested to cooking.</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interested in cooking.</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11</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“落后”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behind</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“节省时间”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save time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“恢复精力”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recharge your batteries</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 go to work by foot.</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walk to work. / I go to work on foot.</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A week of four days.</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four-day week.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11</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11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