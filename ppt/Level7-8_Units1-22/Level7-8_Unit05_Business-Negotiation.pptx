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5: Business Negotiation — Self-Study Workbook (Lessons 21–23)</a:t>
            </a:r>
          </a:p>
          <a:p/>
          <a:p>
            <a:r>
              <a:t>开场：简单介绍本单元的主题和要完成的 3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21 · Negotiating deals 谈判交易</a:t>
            </a:r>
          </a:p>
          <a:p>
            <a:r>
              <a:t>Goal: negotiate a business deal: state your position, make and respond to offers with conditionals, make concessions and close the agreement.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题讲过去的事,用过去式(negotiated, agreed)。“bottom line” 指你能接受的最低条件。</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negotiation you were in and what happened.</a:t>
            </a:r>
          </a:p>
          <a:p>
            <a:r>
              <a:t>Say: what you wanted → what the other side wanted → how you reached agreement.</a:t>
            </a:r>
          </a:p>
          <a:p>
            <a:r>
              <a:t>Useful starters: “I wanted… but they wanted…” / “In the end, we agreed on…” / “I gave way on… in return for…”</a:t>
            </a:r>
          </a:p>
          <a:p>
            <a:r>
              <a:t>“in return for” = 作为交换。give way / make a concession on = 在…上让步。</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Jana was buying packaging for her company and wanted a lower price. The supplier, Mr Ortiz, refused to cut it. Instead of arguing, Jana asked questions. She learned that his real concern was cash flow: he needed fast payment. So she changed her offer: “If we pay within ten days instead of thirty, could you offer a five per cent discount?” Mr Ortiz paused. “Ten days, and a minimum order of 5,000 units,” he said. They shook hands. Jana got a lower price, and the supplier got his cash early. “I started by thinking about price,” she said later. “I ended up trading time for money.” Jana’s tip: before you say what you want, find out what the other side needs. A good deal gives both sides something.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was the supplier’s real concern?</a:t>
            </a:r>
          </a:p>
          <a:p>
            <a:r>
              <a:t>A: Cash flow; he needed to be paid quickly.</a:t>
            </a:r>
          </a:p>
          <a:p>
            <a:r>
              <a:t>Q2. What did Jana offer in exchange for the discount?</a:t>
            </a:r>
          </a:p>
          <a:p>
            <a:r>
              <a:t>A: Payment within ten days instead of thirty.</a:t>
            </a:r>
          </a:p>
          <a:p>
            <a:r>
              <a:t>Q3. What is Jana’s tip?</a:t>
            </a:r>
          </a:p>
          <a:p>
            <a:r>
              <a:t>A: Find out what the other side needs before you say what you want.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Positions and proposals 立场与提议</a:t>
            </a:r>
          </a:p>
          <a:p>
            <a:r>
              <a:t>领读 → 学员跟读 → 请学员用表达造一个和自己工作相关的句子。</a:t>
            </a:r>
          </a:p>
          <a:p>
            <a:r>
              <a:t>negotiate a deal (collocation) 谈成交易 — “We negotiated a deal worth two million.”</a:t>
            </a:r>
          </a:p>
          <a:p>
            <a:r>
              <a:t>offer / counter-offer (noun) 报价 / 还价 — “They made a counter-offer of 90,000.”</a:t>
            </a:r>
          </a:p>
          <a:p>
            <a:r>
              <a:t>terms and conditions (noun) 条款与条件 — “Let’s go through the terms and conditions.”</a:t>
            </a:r>
          </a:p>
          <a:p>
            <a:r>
              <a:t>★ ballpark figure (noun) 大致数字 — “Can you give me a ballpark figure?”</a:t>
            </a:r>
          </a:p>
          <a:p>
            <a:r>
              <a:t>★ our bottom line (noun phrase) 我们的底线 — “Our bottom line is 60 days’ payment.”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Conditionals and concessions 条件与让步</a:t>
            </a:r>
          </a:p>
          <a:p>
            <a:r>
              <a:t>领读 → 学员跟读 → 请学员用表达造一个和自己工作相关的句子。</a:t>
            </a:r>
          </a:p>
          <a:p>
            <a:r>
              <a:t>If you…, we could… (phrase) 如果您…,我们可以… — “If you order 500, we could offer a 5% discount.”</a:t>
            </a:r>
          </a:p>
          <a:p>
            <a:r>
              <a:t>We’d be prepared to… (phrase) 我们愿意… — “We’d be prepared to extend the contract.”</a:t>
            </a:r>
          </a:p>
          <a:p>
            <a:r>
              <a:t>★ meet (someone) halfway (idiom) 各让一步 — “Let’s meet halfway at 95,000.”</a:t>
            </a:r>
          </a:p>
          <a:p>
            <a:r>
              <a:t>★ in return for (phrase) 作为交换 — “We’ll give you a longer contract in return for a lower price.”</a:t>
            </a:r>
          </a:p>
          <a:p>
            <a:r>
              <a:t>★ give a little (collocation) 做出让步 — “Both sides will have to give a little.”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Closing the deal 达成协议</a:t>
            </a:r>
          </a:p>
          <a:p>
            <a:r>
              <a:t>领读 → 学员跟读 → 请学员用表达造一个和自己工作相关的句子。</a:t>
            </a:r>
          </a:p>
          <a:p>
            <a:r>
              <a:t>We have a deal. (phrase) 成交 — “Then we have a deal.”</a:t>
            </a:r>
          </a:p>
          <a:p>
            <a:r>
              <a:t>★ seal the deal (idiom) 敲定交易 — “A small gift won’t seal the deal; the terms will.”</a:t>
            </a:r>
          </a:p>
          <a:p>
            <a:r>
              <a:t>★ iron out the details (phrasal verb) 敲定细节 — “We’ll iron out the details tomorrow.”</a:t>
            </a:r>
          </a:p>
          <a:p>
            <a:r>
              <a:t>★ I’m afraid we can’t go that far. (phrase) 恐怕我们做不到那一步 — “I’m afraid we can’t go that far on price.”</a:t>
            </a:r>
          </a:p>
          <a:p>
            <a:r>
              <a:t>draft an agreement (collocation) 起草协议 — “Our lawyers will draft an agreement.”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counter-offer / terms / halfway / return / iron / deal</a:t>
            </a:r>
          </a:p>
          <a:p>
            <a:r>
              <a:t>1. They made a _______ of 90,000. → counter-offer</a:t>
            </a:r>
          </a:p>
          <a:p>
            <a:r>
              <a:t>2. Let’s go through the _______ and conditions. → terms</a:t>
            </a:r>
          </a:p>
          <a:p>
            <a:r>
              <a:t>3. Let’s meet _______ at 95,000. → halfway</a:t>
            </a:r>
          </a:p>
          <a:p>
            <a:r>
              <a:t>4. We’ll give you a longer contract in _______ for a lower price. → return</a:t>
            </a:r>
          </a:p>
          <a:p>
            <a:r>
              <a:t>5. We’ll _______ out the details tomorrow. → iron</a:t>
            </a:r>
          </a:p>
          <a:p>
            <a:r>
              <a:t>6. Then we have a _______. → deal</a:t>
            </a:r>
          </a:p>
          <a:p>
            <a:r>
              <a:t>Mistake Watch: (搭配) negotiate a deal / negotiate WITH someone ABOUT price (not “negotiate about the deal with”); make a concession; spelling: negotiate, negotiation, concession.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price negotiation 价格谈判</a:t>
            </a:r>
          </a:p>
          <a:p>
            <a:r>
              <a:t>情景：You negotiate price and payment terms with a supplier.</a:t>
            </a:r>
          </a:p>
          <a:p>
            <a:r>
              <a:t>Role A: Jana Novak, buyer Role B: Mr Ortiz, supplier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(Jana): Mr Ortiz, thanks for your quote. Frankly, the price is higher than we budgeted.</a:t>
            </a:r>
          </a:p>
          <a:p>
            <a:r>
              <a:t>B (Mr Ortiz): I understand, but the price is already competitive.</a:t>
            </a:r>
          </a:p>
          <a:p>
            <a:r>
              <a:t>A: I see. If we increased the order to 5,000 units, could you offer a five per cent discount?</a:t>
            </a:r>
          </a:p>
          <a:p>
            <a:r>
              <a:t>B: I’m afraid we can’t go that far. Maybe three per cent.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if we paid within ten days instead of thirty?</a:t>
            </a:r>
          </a:p>
          <a:p>
            <a:r>
              <a:t>B: Hmm. That would help our cash flow. We’d be prepared to offer five per cent for ten-day payment and 5,000 units.</a:t>
            </a:r>
          </a:p>
          <a:p>
            <a:r>
              <a:t>A: That works for us. Shall we say 5,000 units, five per cent, payment in ten days?</a:t>
            </a:r>
          </a:p>
          <a:p>
            <a:r>
              <a:t>B: Agreed. We have a deal.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negotiate price and terms with a supplier.</a:t>
            </a:r>
          </a:p>
          <a:p>
            <a:r>
              <a:t>Your role (A) | Buyer. Your product: ______________</a:t>
            </a:r>
          </a:p>
          <a:p>
            <a:r>
              <a:t>Partner’s role (B) | Supplier who resists lowering the price.</a:t>
            </a:r>
          </a:p>
          <a:p>
            <a:r>
              <a:t>Must use (4 or more) | If you…, could you…? · I’m afraid we can’t… · in return for · We’d be prepared to… · We have a deal</a:t>
            </a:r>
          </a:p>
          <a:p>
            <a:r>
              <a:t>Goal | Make two proposals, accept one compromise and summarise the agreement.</a:t>
            </a:r>
          </a:p>
          <a:p>
            <a:r>
              <a:t>My notes | ____________________________________________</a:t>
            </a:r>
          </a:p>
          <a:p>
            <a:r>
              <a:t>Open with a ballpark: “What sort of range are we looking at?”</a:t>
            </a:r>
          </a:p>
          <a:p>
            <a:r>
              <a:t>Reject a bad offer politely: “That’s a little higher than we expected.”</a:t>
            </a:r>
          </a:p>
          <a:p>
            <a:r>
              <a:t>Close with a recap: “So, to confirm,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terms and a deadlock 最终条款与僵局</a:t>
            </a:r>
          </a:p>
          <a:p>
            <a:r>
              <a:t>情景：You and a client are close to a deal but still disagree on delivery time.</a:t>
            </a:r>
          </a:p>
          <a:p>
            <a:r>
              <a:t>Role A: Sam Wu, sales manager Role B: Ms Evans,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(Sam): We’re close. The only issue left is delivery. We can deliver in eight weeks.</a:t>
            </a:r>
          </a:p>
          <a:p>
            <a:r>
              <a:t>B (Ms Evans): That’s too long. We need it in six.</a:t>
            </a:r>
          </a:p>
          <a:p>
            <a:r>
              <a:t>A: Six weeks is difficult. We’d struggle to guarantee it.</a:t>
            </a:r>
          </a:p>
          <a:p>
            <a:r>
              <a:t>B: What if we paid a ten per cent deposit now?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might help. If you pay a deposit on signing, we could prioritise your order and deliver in seven weeks.</a:t>
            </a:r>
          </a:p>
          <a:p>
            <a:r>
              <a:t>B: Let’s meet halfway: seven weeks, with a penalty if you’re late.</a:t>
            </a:r>
          </a:p>
          <a:p>
            <a:r>
              <a:t>A: A small penalty is acceptable, say one per cent a week.</a:t>
            </a:r>
          </a:p>
          <a:p>
            <a:r>
              <a:t>B: Fine. We’ll iron out the details tomorrow.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close a deal after a final disagreement.</a:t>
            </a:r>
          </a:p>
          <a:p>
            <a:r>
              <a:t>Your role (A) | Sales manager. Your product: ______________</a:t>
            </a:r>
          </a:p>
          <a:p>
            <a:r>
              <a:t>Partner’s role (B) | Client who needs a faster delivery.</a:t>
            </a:r>
          </a:p>
          <a:p>
            <a:r>
              <a:t>Must use (3 or more) | Six weeks is difficult · What if…? · meet halfway · deposit · iron out the details</a:t>
            </a:r>
          </a:p>
          <a:p>
            <a:r>
              <a:t>Goal | Compromise on one point and confirm next steps.</a:t>
            </a:r>
          </a:p>
          <a:p>
            <a:r>
              <a:t>My notes | ____________________________________________</a:t>
            </a:r>
          </a:p>
          <a:p>
            <a:r>
              <a:t>Take a short break: “Could we take ten minutes to consider this?”</a:t>
            </a:r>
          </a:p>
          <a:p>
            <a:r>
              <a:t>Check authority: “Is that something you can agree to today?”</a:t>
            </a:r>
          </a:p>
          <a:p>
            <a:r>
              <a:t>Confirm in writing.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good deal? | “A good deal is one where…” / “Both sides should…”</a:t>
            </a:r>
          </a:p>
          <a:p>
            <a:r>
              <a:t>2. How do you prepare for a negotiation? | “I start by…” / “I decide my bottom line and…”</a:t>
            </a:r>
          </a:p>
          <a:p>
            <a:r>
              <a:t>3. Is it better to make the first offer or wait? | “The advantage of going first is…” / “If I wait, I can…”</a:t>
            </a:r>
          </a:p>
          <a:p>
            <a:r>
              <a:t>4. How do you say no politely? | “I’d say something like…” / “I’d offer an alternative.”</a:t>
            </a:r>
          </a:p>
          <a:p>
            <a:r>
              <a:t>5. How are negotiations different in your culture? | “In China, people often…” / “In the UK/US,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start by finding out what the other side needs, not just what they say they want. Then I decide my bottom line and the things I can give, like faster payment or a longer contract. In the meeting, I ask questions and listen. I only make a concession in return for something, so the deal stays balanced. This way both sides feel they have won something.”</a:t>
            </a:r>
          </a:p>
          <a:p>
            <a:r>
              <a:t>“bottom line” = 底线;“in return for” = 作为交换;“This way, …” = 这样一来。</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Conditionals for bargaining 谈判中的条件句</a:t>
            </a:r>
          </a:p>
          <a:p>
            <a:r>
              <a:t>Type | Example</a:t>
            </a:r>
          </a:p>
          <a:p>
            <a:r>
              <a:t>First conditional (real possibility) | If you order 500, we will give you 5%.</a:t>
            </a:r>
          </a:p>
          <a:p>
            <a:r>
              <a:t>Softer: could / would | If you ordered 500, we could offer 5%.</a:t>
            </a:r>
          </a:p>
          <a:p>
            <a:r>
              <a:t>Question form | What if we paid in ten days?</a:t>
            </a:r>
          </a:p>
          <a:p>
            <a:r>
              <a:t>Refusing | I’m afraid we couldn’t go that low.</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Conditionals for bargaining 谈判中的条件句</a:t>
            </a:r>
          </a:p>
          <a:p>
            <a:r>
              <a:t>In if clauses, use present simple (not will): If you pay now, we’ll deliver Monday. (not “if you will pay”)</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If you will order 500, we give you a discount.  →  ✓ If you order 500, we’ll give you a discount.  (if 从句不用 will)</a:t>
            </a:r>
          </a:p>
          <a:p>
            <a:r>
              <a:t>✗ We negotiate about the price with you.  →  ✓ We’re negotiating the price with you.  (negotiate 是及物动词)</a:t>
            </a:r>
          </a:p>
          <a:p>
            <a:r>
              <a:t>✗ I disagree your offer.  →  ✓ I disagree with your offer.  (disagree with)</a:t>
            </a:r>
          </a:p>
          <a:p>
            <a:r>
              <a:t>Mistake Watch: Check the if clause: no will after if. Check negotiate and discuss have no about.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Can you make the price more cheap?  →  ✓ Can you lower the price?  (不说 more cheap)</a:t>
            </a:r>
          </a:p>
          <a:p>
            <a:r>
              <a:t>✗ That price is impossible.  →  ✓ I’m afraid that’s a little higher than we expected.  (委婉拒绝,不要太生硬)</a:t>
            </a:r>
          </a:p>
          <a:p>
            <a:r>
              <a:t>✗ We discuss about the terms.  →  ✓ We’re discussing the terms.  (discuss 后不加 about)</a:t>
            </a:r>
          </a:p>
          <a:p>
            <a:r>
              <a:t>Mistake Watch: Check the if clause: no will after if. Check negotiate and discuss have no about.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direct, but polite. UK/US negotiators expect you to say what you want and give reasons.</a:t>
            </a:r>
          </a:p>
          <a:p>
            <a:r>
              <a:t>“Let me think about it” is a polite way to pause. It does not mean yes.</a:t>
            </a:r>
          </a:p>
          <a:p>
            <a:r>
              <a:t>Don’t over-concede. Offering a big discount at once makes people ask for more.</a:t>
            </a:r>
          </a:p>
          <a:p>
            <a:r>
              <a:t>Put it in writing. After a verbal deal, send a summary email: “Just to confirm what we agreed…”</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state my position and ask about the other side’s needs.</a:t>
            </a:r>
          </a:p>
          <a:p>
            <a:r>
              <a:t>I can make and respond to offers with If you…, we could…</a:t>
            </a:r>
          </a:p>
          <a:p>
            <a:r>
              <a:t>I can refuse politely (I’m afraid we can’t go that far).</a:t>
            </a:r>
          </a:p>
          <a:p>
            <a:r>
              <a:t>I can summarise and close a deal.</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Role-play a 2-minute price negotiation. Say each offer with a conditional. Record it.</a:t>
            </a:r>
          </a:p>
          <a:p>
            <a:r>
              <a:t>8–10 | Listen to your recording. Check: if + present, no “about” after negotiate/discuss, disagree with.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22 · The 6 most important negotiation skills 6 大谈判技巧</a:t>
            </a:r>
          </a:p>
          <a:p>
            <a:r>
              <a:t>Goal: use six core negotiation skills: preparation, listening, questioning, patience, creative problem-solving and confident but flexible behaviour.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题讲过去的事,用过去式(asked, changed)。“stay calm” = 保持冷静。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one negotiation skill and give an example from your experience.</a:t>
            </a:r>
          </a:p>
          <a:p>
            <a:r>
              <a:t>Say: the skill → why it matters → your example → the result.</a:t>
            </a:r>
          </a:p>
          <a:p>
            <a:r>
              <a:t>Useful starters: “The skill I’d pick is…” / “It matters because…” / “For example, last year…”</a:t>
            </a:r>
          </a:p>
          <a:p>
            <a:r>
              <a:t>“The skill I’d pick is…” 表示”我会选…“。because 引导原因;注意”matter” 是不及物动词:It matters。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trainer asked experienced negotiators what they do differently. Six habits came up again and again. First, they prepare: they know their goals, their limits and their alternatives. Second, they listen more than they talk. Third, they ask open questions such as “What matters most to you in this deal?” Fourth, they are patient and use silence; after making an offer, they wait. Fifth, they look for creative options, such as adding services or changing the timing, instead of fighting over one number. Finally, they stay calm and confident without being aggressive. One negotiator said, “The person who talks first after a silence often gives something away.” Beginners focus on winning. Experts focus on understanding. Interestingly, many say their best deals came after they said, “Let me think about that.”</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experienced negotiators do before the meeting?</a:t>
            </a:r>
          </a:p>
          <a:p>
            <a:r>
              <a:t>A: They know their goals, limits and alternatives.</a:t>
            </a:r>
          </a:p>
          <a:p>
            <a:r>
              <a:t>Q2. Why is silence useful, according to the negotiator?</a:t>
            </a:r>
          </a:p>
          <a:p>
            <a:r>
              <a:t>A: The person who speaks first after a silence often gives something away.</a:t>
            </a:r>
          </a:p>
          <a:p>
            <a:r>
              <a:t>Q3. How do experts differ from beginners?</a:t>
            </a:r>
          </a:p>
          <a:p>
            <a:r>
              <a:t>A: Experts focus on understanding; beginners focus on winning.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Preparation and listening 准备与倾听</a:t>
            </a:r>
          </a:p>
          <a:p>
            <a:r>
              <a:t>领读 → 学员跟读 → 请学员用表达造一个和自己工作相关的句子。</a:t>
            </a:r>
          </a:p>
          <a:p>
            <a:r>
              <a:t>do your homework (idiom) 做好功课 — “Do your homework on the supplier before you meet.”</a:t>
            </a:r>
          </a:p>
          <a:p>
            <a:r>
              <a:t>know your limits (collocation) 清楚自己的底线 — “Know your limits before you start.”</a:t>
            </a:r>
          </a:p>
          <a:p>
            <a:r>
              <a:t>★ have a fallback (option) (collocation) 有备选方案 — “We have a fallback if this supplier refuses.”</a:t>
            </a:r>
          </a:p>
          <a:p>
            <a:r>
              <a:t>active listening (noun) 积极倾听 — “Active listening helps you find common interests.”</a:t>
            </a:r>
          </a:p>
          <a:p>
            <a:r>
              <a:t>★ read the other side (collocation) 判断对方心理 — “He’s good at reading the other side.”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Questions and patience 提问与耐心</a:t>
            </a:r>
          </a:p>
          <a:p>
            <a:r>
              <a:t>领读 → 学员跟读 → 请学员用表达造一个和自己工作相关的句子。</a:t>
            </a:r>
          </a:p>
          <a:p>
            <a:r>
              <a:t>open question (noun) 开放式问题 — “An open question starts with what, how or why.”</a:t>
            </a:r>
          </a:p>
          <a:p>
            <a:r>
              <a:t>What matters most to you? (phrase) 你最看重什么? — “What matters most to you in this contract?”</a:t>
            </a:r>
          </a:p>
          <a:p>
            <a:r>
              <a:t>★ probe (verb) 深入探询 — “Probe gently to find out their real concern.”</a:t>
            </a:r>
          </a:p>
          <a:p>
            <a:r>
              <a:t>★ use silence (collocation) 利用沉默 — “Use silence after your offer. Don’t rush to fill it.”</a:t>
            </a:r>
          </a:p>
          <a:p>
            <a:r>
              <a:t>take your time (phrase) 不要着急 — “Take your time. There’s no rush.”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Creating value 创造价值</a:t>
            </a:r>
          </a:p>
          <a:p>
            <a:r>
              <a:t>领读 → 学员跟读 → 请学员用表达造一个和自己工作相关的句子。</a:t>
            </a:r>
          </a:p>
          <a:p>
            <a:r>
              <a:t>win-win (adjective) 双赢的 — “We want a win-win solution.”</a:t>
            </a:r>
          </a:p>
          <a:p>
            <a:r>
              <a:t>★ widen the pie (idiom) 做大蛋糕 — “Add services to widen the pie.”</a:t>
            </a:r>
          </a:p>
          <a:p>
            <a:r>
              <a:t>★ trade-off (noun) 取舍 — “There is a trade-off between speed and cost.”</a:t>
            </a:r>
          </a:p>
          <a:p>
            <a:r>
              <a:t>★ stand your ground (idiom) 坚持立场 — “Stay polite, but stand your ground on safety.”</a:t>
            </a:r>
          </a:p>
          <a:p>
            <a:r>
              <a:t>★ walk away (phrasal verb) 退出谈判 — “Be ready to walk away if the terms are bad.”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homework / fallback / probe / silence / trade-off / walk</a:t>
            </a:r>
          </a:p>
          <a:p>
            <a:r>
              <a:t>1. Do your _______ on the supplier before you meet. → homework</a:t>
            </a:r>
          </a:p>
          <a:p>
            <a:r>
              <a:t>2. We have a _______ if this supplier refuses. → fallback</a:t>
            </a:r>
          </a:p>
          <a:p>
            <a:r>
              <a:t>3. _______ gently to find out their real concern. → Probe</a:t>
            </a:r>
          </a:p>
          <a:p>
            <a:r>
              <a:t>4. Use _______ after your offer. → silence</a:t>
            </a:r>
          </a:p>
          <a:p>
            <a:r>
              <a:t>5. There is a _______ between speed and cost. → trade-off</a:t>
            </a:r>
          </a:p>
          <a:p>
            <a:r>
              <a:t>6. Be ready to _______ away if the terms are bad. → walk</a:t>
            </a:r>
          </a:p>
          <a:p>
            <a:r>
              <a:t>Mistake Watch: (搭配与拼写) a trade-off BETWEEN A AND B; do homework (uncountable: not “do homeworks”); spelling: negotiation, patient/patience,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Preparing with a colleague 与同事一起备战</a:t>
            </a:r>
          </a:p>
          <a:p>
            <a:r>
              <a:t>情景：You plan a negotiation with a colleague before meeting a client.</a:t>
            </a:r>
          </a:p>
          <a:p>
            <a:r>
              <a:t>Role A: Ravi Shah, you Role B: Tina Gao,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(Ravi): Tina, let’s go over our plan for tomorrow. What’s our main goal?</a:t>
            </a:r>
          </a:p>
          <a:p>
            <a:r>
              <a:t>B (Tina): To renew the contract at the same price. But we can accept up to a three per cent increase.</a:t>
            </a:r>
          </a:p>
          <a:p>
            <a:r>
              <a:t>A: And our fallback if they say no?</a:t>
            </a:r>
          </a:p>
          <a:p>
            <a:r>
              <a:t>B: We talk to the other supplier. I did my homework: they’re about ten per cent more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Good. What questions should we ask?</a:t>
            </a:r>
          </a:p>
          <a:p>
            <a:r>
              <a:t>B: What matters most to them: price, speed or quality?</a:t>
            </a:r>
          </a:p>
          <a:p>
            <a:r>
              <a:t>A: And if they push hard on price?</a:t>
            </a:r>
          </a:p>
          <a:p>
            <a:r>
              <a:t>B: We use silence and offer a longer contract in return.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prepare a negotiation with a colleague.</a:t>
            </a:r>
          </a:p>
          <a:p>
            <a:r>
              <a:t>Your role (A) | You. The deal: ______________</a:t>
            </a:r>
          </a:p>
          <a:p>
            <a:r>
              <a:t>Partner’s role (B) | Colleague who knows the market.</a:t>
            </a:r>
          </a:p>
          <a:p>
            <a:r>
              <a:t>Must use (3 or more) | main goal · fallback · do your homework · What matters most to…? · in return</a:t>
            </a:r>
          </a:p>
          <a:p>
            <a:r>
              <a:t>Goal | Agree goal, limit, fallback and three questions in 90 seconds.</a:t>
            </a:r>
          </a:p>
          <a:p>
            <a:r>
              <a:t>My notes | ____________________________________________</a:t>
            </a:r>
          </a:p>
          <a:p>
            <a:r>
              <a:t>List three things you can give and three you want.</a:t>
            </a:r>
          </a:p>
          <a:p>
            <a:r>
              <a:t>Decide who speaks first.</a:t>
            </a:r>
          </a:p>
          <a:p>
            <a:r>
              <a:t>Practise saying no politely.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questions and silence 使用提问与沉默</a:t>
            </a:r>
          </a:p>
          <a:p>
            <a:r>
              <a:t>情景：In the meeting, you use open questions and silence to move the other side.</a:t>
            </a:r>
          </a:p>
          <a:p>
            <a:r>
              <a:t>Role A: Ravi Shah, you Role B: Mr Lang,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(Ravi): Thanks for meeting us. Before we talk about price, could you tell us what matters most to you in this contract?</a:t>
            </a:r>
          </a:p>
          <a:p>
            <a:r>
              <a:t>B (Mr Lang): Reliability, mainly. Last year we had two late deliveries.</a:t>
            </a:r>
          </a:p>
          <a:p>
            <a:r>
              <a:t>A: I see. That sounds frustrating. What happened exactly?</a:t>
            </a:r>
          </a:p>
          <a:p>
            <a:r>
              <a:t>B: A port strike. But it cost us a lot.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 could guarantee delivery times in writing. In return, we’d ask for a two-year contract.</a:t>
            </a:r>
          </a:p>
          <a:p>
            <a:r>
              <a:t>B: Hmm. (silence)</a:t>
            </a:r>
          </a:p>
          <a:p>
            <a:r>
              <a:t>A: …</a:t>
            </a:r>
          </a:p>
          <a:p>
            <a:r>
              <a:t>B: Two years is a long time. But if you give us a penalty clause, I could agree to that.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use questions and silence in a negotiation.</a:t>
            </a:r>
          </a:p>
          <a:p>
            <a:r>
              <a:t>Your role (A) | You. Your offer: ______________</a:t>
            </a:r>
          </a:p>
          <a:p>
            <a:r>
              <a:t>Partner’s role (B) | Client who values reliability.</a:t>
            </a:r>
          </a:p>
          <a:p>
            <a:r>
              <a:t>Must use (3 or more) | What matters most to you? · probe · use silence · in return · penalty clause</a:t>
            </a:r>
          </a:p>
          <a:p>
            <a:r>
              <a:t>Goal | Ask two open questions and wait 5 seconds after your offer.</a:t>
            </a:r>
          </a:p>
          <a:p>
            <a:r>
              <a:t>My notes | ____________________________________________</a:t>
            </a:r>
          </a:p>
          <a:p>
            <a:r>
              <a:t>Count to five silently after your offer.</a:t>
            </a:r>
          </a:p>
          <a:p>
            <a:r>
              <a:t>Summarise their concern: “So reliability is the main issue.”</a:t>
            </a:r>
          </a:p>
          <a:p>
            <a:r>
              <a:t>Ask: “What would make this work for you?”</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of the six skills is hardest for you? | “For me, it’s…” / “I struggle with…”</a:t>
            </a:r>
          </a:p>
          <a:p>
            <a:r>
              <a:t>2. Is silence powerful or awkward? | “In some cultures, silence…” / “It depends…”</a:t>
            </a:r>
          </a:p>
          <a:p>
            <a:r>
              <a:t>3. Should you ever walk away from a deal? | “Yes, if…” / “Only when…”</a:t>
            </a:r>
          </a:p>
          <a:p>
            <a:r>
              <a:t>4. Do negotiators need to be tough? | “I’d say they need to be…” / “Tough doesn’t mean…”</a:t>
            </a:r>
          </a:p>
          <a:p>
            <a:r>
              <a:t>5. How do you deal with an aggressive negotiator? | “I stay calm and…” / “I take a short break.”</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find silence very powerful but also uncomfortable. In my culture, we usually fill pauses quickly. But in a negotiation, a pause after an offer gives the other side time to think, and they often improve their position. I try to count to five in my head. It feels long, but it works. After a pause, the other person often says something useful.”</a:t>
            </a:r>
          </a:p>
          <a:p>
            <a:r>
              <a:t>“I find + 宾语 + 形容词” = 我觉得…;“count to five” 数到五;“improve their position” 改进(他们的)条件。</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and language 技巧与用语</a:t>
            </a:r>
          </a:p>
          <a:p>
            <a:r>
              <a:t>Skill | Useful language</a:t>
            </a:r>
          </a:p>
          <a:p>
            <a:r>
              <a:t>Preparation | Our goal is… / Our fallback is…</a:t>
            </a:r>
          </a:p>
          <a:p>
            <a:r>
              <a:t>Listening | So what you’re saying is…</a:t>
            </a:r>
          </a:p>
          <a:p>
            <a:r>
              <a:t>Questioning | What matters most to you? / Can you tell me more about…?</a:t>
            </a:r>
          </a:p>
          <a:p>
            <a:r>
              <a:t>Patience | Let me think about that. / Take your time.</a:t>
            </a:r>
          </a:p>
          <a:p>
            <a:r>
              <a:t>Creativity | What if we…? / Another option would be…</a:t>
            </a:r>
          </a:p>
          <a:p>
            <a:r>
              <a:t>Confidence | We can do that if… / I’m afraid we can’t, because…</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and language 技巧与用语</a:t>
            </a:r>
          </a:p>
          <a:p>
            <a:r>
              <a:t>Firm but polite: “That’s not something we can do, but here’s what we can do.”</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did my homeworks.  →  ✓ I did my homework.  (homework 不可数)</a:t>
            </a:r>
          </a:p>
          <a:p>
            <a:r>
              <a:t>✗ There is a trade-off among price and speed.  →  ✓ There is a trade-off between price and speed.  (between A and B)</a:t>
            </a:r>
          </a:p>
          <a:p>
            <a:r>
              <a:t>✗ I’m patient to wait.  →  ✓ I’m patient enough to wait. / I can wait patiently.  (副词/enough)</a:t>
            </a:r>
          </a:p>
          <a:p>
            <a:r>
              <a:t>Mistake Watch: Check uncountable nouns (homework, advice, information), between … and, and -ing after prepositions.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should prepare for the negotiation careful.  →  ✓ We should prepare carefully for the negotiation.  (副词 carefully)</a:t>
            </a:r>
          </a:p>
          <a:p>
            <a:r>
              <a:t>✗ He is good at listen.  →  ✓ He is good at listening.  (介词后 -ing)</a:t>
            </a:r>
          </a:p>
          <a:p>
            <a:r>
              <a:t>✗ Win-win means both win.  →  ✓ Win-win means both sides benefit.  (更自然)</a:t>
            </a:r>
          </a:p>
          <a:p>
            <a:r>
              <a:t>Mistake Watch: Check uncountable nouns (homework, advice, information), between … and, and -ing after prepositions.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Silence. In many Asian cultures, silence shows respect; in the US, it can feel awkward. Know which style you are facing.</a:t>
            </a:r>
          </a:p>
          <a:p>
            <a:r>
              <a:t>Relationship vs deal. In China, relationship-building often comes first; US negotiators may move faster to terms. Adapt, but be explicit.</a:t>
            </a:r>
          </a:p>
          <a:p>
            <a:r>
              <a:t>Time pressure. Deadlines are tools. Don’t reveal yours too early.</a:t>
            </a:r>
          </a:p>
          <a:p>
            <a:r>
              <a:t>Don’t take it personally. “No” is part of the process, not an insult.</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name the six skills and give an example of each.</a:t>
            </a:r>
          </a:p>
          <a:p>
            <a:r>
              <a:t>I can prepare goals, limits and a fallback.</a:t>
            </a:r>
          </a:p>
          <a:p>
            <a:r>
              <a:t>I can ask open questions and use silence.</a:t>
            </a:r>
          </a:p>
          <a:p>
            <a:r>
              <a:t>I can say no firmly and politely.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two skills with examples in 60 seconds. Then record the question-and-silence role play.</a:t>
            </a:r>
          </a:p>
          <a:p>
            <a:r>
              <a:t>8–10 | Listen to your recording. Check: uncountable nouns, between…and, -ing after prepositions.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23 · How to ask for a raise 如何要求加薪(谈判用语)</a:t>
            </a:r>
          </a:p>
          <a:p>
            <a:r>
              <a:t>Goal: prepare and make a confident, polite request for a raise or promotion, and respond to “no” or “not now” professionally.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题用现在完成时问经历。“raise”(美)= “pay rise”(英),都是”加薪”。</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Make your case for a pay rise in 60 seconds.</a:t>
            </a:r>
          </a:p>
          <a:p>
            <a:r>
              <a:t>Say: thank → achievements → market value → your request.</a:t>
            </a:r>
          </a:p>
          <a:p>
            <a:r>
              <a:t>Useful starters: “I’d like to discuss my salary.” / “Over the past year, I’ve…” / “Based on this, I’d like to ask for…”</a:t>
            </a:r>
          </a:p>
          <a:p>
            <a:r>
              <a:t>“I’d like to discuss…” 比 “I want…” 更礼貌。Over the past year, I’ve + 过去分词:现在完成时强调成果延续到现在。</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Wei had worked at his company for three years without a raise. He was nervous. His mentor told him: “Don’t ask because you need more money. Ask because you deserve it, and show why.” Wei prepared a one-page summary. It listed his achievements: he had trained four new colleagues, reduced errors by 20 per cent, and led a project that saved £30,000. He also checked the market rate for his role. In the meeting, he said, “I’d like to discuss my salary. Over the past year, I’ve taken on extra responsibilities, and based on market data, I believe a ten per cent increase would be fair.” His manager asked for a week. Wei got seven per cent now and a promised review in six months. “Seven isn’t ten,” Wei said, “but I’m happy I asked. The worst answer would have been silence.”</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long had Wei waited for a raise?</a:t>
            </a:r>
          </a:p>
          <a:p>
            <a:r>
              <a:t>A: Three years.</a:t>
            </a:r>
          </a:p>
          <a:p>
            <a:r>
              <a:t>Q2. What evidence did he bring?</a:t>
            </a:r>
          </a:p>
          <a:p>
            <a:r>
              <a:t>A: A one-page summary of achievements and market data.</a:t>
            </a:r>
          </a:p>
          <a:p>
            <a:r>
              <a:t>Q3. What was the result?</a:t>
            </a:r>
          </a:p>
          <a:p>
            <a:r>
              <a:t>A: He got a 7 per cent raise and a review in six months.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Preparing 做准备</a:t>
            </a:r>
          </a:p>
          <a:p>
            <a:r>
              <a:t>领读 → 学员跟读 → 请学员用表达造一个和自己工作相关的句子。</a:t>
            </a:r>
          </a:p>
          <a:p>
            <a:r>
              <a:t>pay rise (UK) / raise (US) (noun) 加薪 — “I’d like to ask for a pay rise.”</a:t>
            </a:r>
          </a:p>
          <a:p>
            <a:r>
              <a:t>promotion (noun) 晋升 — “She got a promotion after two years.”</a:t>
            </a:r>
          </a:p>
          <a:p>
            <a:r>
              <a:t>market rate (noun) 市场薪酬水平 — “Check the market rate for your role.”</a:t>
            </a:r>
          </a:p>
          <a:p>
            <a:r>
              <a:t>★ make a case for (collocation) 为…陈述理由 — “She made a strong case for a promotion.”</a:t>
            </a:r>
          </a:p>
          <a:p>
            <a:r>
              <a:t>★ take on extra responsibilities (collocation) 承担更多职责 — “I’ve taken on extra responsibilities this year.”</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Asking 提出请求</a:t>
            </a:r>
          </a:p>
          <a:p>
            <a:r>
              <a:t>领读 → 学员跟读 → 请学员用表达造一个和自己工作相关的句子。</a:t>
            </a:r>
          </a:p>
          <a:p>
            <a:r>
              <a:t>I’d like to discuss my salary. (phrase) 我想谈谈我的薪水 — “Do you have time? I’d like to discuss my salary.”</a:t>
            </a:r>
          </a:p>
          <a:p>
            <a:r>
              <a:t>Over the past year, I’ve… (phrase) 过去一年里,我… — “Over the past year, I’ve led three projects.”</a:t>
            </a:r>
          </a:p>
          <a:p>
            <a:r>
              <a:t>★ in line with (phrase) 与…相符 — “I’d like a salary in line with the market.”</a:t>
            </a:r>
          </a:p>
          <a:p>
            <a:r>
              <a:t>★ I believe it’s reasonable to ask for… (phrase) 我认为要求…是合理的 — “I believe it’s reasonable to ask for 8 per cent.”</a:t>
            </a:r>
          </a:p>
          <a:p>
            <a:r>
              <a:t>★ add value (collocation) 创造价值 — “I think I add value to the team.”</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Responding to “no” 应对拒绝</a:t>
            </a:r>
          </a:p>
          <a:p>
            <a:r>
              <a:t>领读 → 学员跟读 → 请学员用表达造一个和自己工作相关的句子。</a:t>
            </a:r>
          </a:p>
          <a:p>
            <a:r>
              <a:t>budget constraints (noun) 预算限制 — “I understand there are budget constraints.”</a:t>
            </a:r>
          </a:p>
          <a:p>
            <a:r>
              <a:t>★ revisit (the topic) (verb) 重新讨论 — “Could we revisit this in six months?”</a:t>
            </a:r>
          </a:p>
          <a:p>
            <a:r>
              <a:t>★ perks / benefits (noun) 福利 — “Could we look at other benefits, such as extra leave?”</a:t>
            </a:r>
          </a:p>
          <a:p>
            <a:r>
              <a:t>What would I need to do to…? (phrase) 我需要做什么才能…? — “What would I need to do to reach the next level?”</a:t>
            </a:r>
          </a:p>
          <a:p>
            <a:r>
              <a:t>★ a compromise (noun) 折中方案 — “Let’s find a compromise: five per cent now.”</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rise / rate / case / line / revisit / compromise</a:t>
            </a:r>
          </a:p>
          <a:p>
            <a:r>
              <a:t>1. I’d like to ask for a pay _______. → rise</a:t>
            </a:r>
          </a:p>
          <a:p>
            <a:r>
              <a:t>2. Check the market _______ for your role. → rate</a:t>
            </a:r>
          </a:p>
          <a:p>
            <a:r>
              <a:t>3. She made a strong _______ for a promotion. → case</a:t>
            </a:r>
          </a:p>
          <a:p>
            <a:r>
              <a:t>4. I’d like a salary in _______ with the market. → line</a:t>
            </a:r>
          </a:p>
          <a:p>
            <a:r>
              <a:t>5. Could we _______ this in six months? → revisit</a:t>
            </a:r>
          </a:p>
          <a:p>
            <a:r>
              <a:t>6. Let’s find a _______: five per cent now. → compromise</a:t>
            </a:r>
          </a:p>
          <a:p>
            <a:r>
              <a:t>Mistake Watch: (英美差异) pay rise (UK) = raise (US); salary (月薪/年薪) vs wage (时薪); spelling: responsibilities, promotion.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Making the request 提出加薪请求</a:t>
            </a:r>
          </a:p>
          <a:p>
            <a:r>
              <a:t>情景：You ask your manager for a raise, with evidence.</a:t>
            </a:r>
          </a:p>
          <a:p>
            <a:r>
              <a:t>Role A: Wei Chen, employee Role B: Ms Parker,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(Wei): Thanks for seeing me, Ms Parker. I’d like to discuss my salary.</a:t>
            </a:r>
          </a:p>
          <a:p>
            <a:r>
              <a:t>B (Ms Parker): Of course. What’s on your mind?</a:t>
            </a:r>
          </a:p>
          <a:p>
            <a:r>
              <a:t>A: Over the past year, I’ve trained four new colleagues and led a project that saved 30,000. I’ve also taken on extra responsibilities.</a:t>
            </a:r>
          </a:p>
          <a:p>
            <a:r>
              <a:t>B: I’ve noticed. And what are you proposing?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Based on the market rate, I believe it’s reasonable to ask for a ten per cent increase.</a:t>
            </a:r>
          </a:p>
          <a:p>
            <a:r>
              <a:t>B: That’s significant. I’ll need to check the budget.</a:t>
            </a:r>
          </a:p>
          <a:p>
            <a:r>
              <a:t>A: I understand. Could we meet again next week to discuss it?</a:t>
            </a:r>
          </a:p>
          <a:p>
            <a:r>
              <a:t>B: Yes, let’s do that. Send me your summary.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ask your manager for a pay rise.</a:t>
            </a:r>
          </a:p>
          <a:p>
            <a:r>
              <a:t>Your role (A) | Employee. Your achievements: ______________</a:t>
            </a:r>
          </a:p>
          <a:p>
            <a:r>
              <a:t>Partner’s role (B) | Manager who is open but cautious.</a:t>
            </a:r>
          </a:p>
          <a:p>
            <a:r>
              <a:t>Must use (4 or more) | I’d like to discuss my salary · Over the past year, I’ve… · market rate · reasonable to ask for… · add value</a:t>
            </a:r>
          </a:p>
          <a:p>
            <a:r>
              <a:t>Goal | Make your case in 60 seconds and ask for a clear number.</a:t>
            </a:r>
          </a:p>
          <a:p>
            <a:r>
              <a:t>My notes | ____________________________________________</a:t>
            </a:r>
          </a:p>
          <a:p>
            <a:r>
              <a:t>Stay calm if the manager says “That’s a lot.”</a:t>
            </a:r>
          </a:p>
          <a:p>
            <a:r>
              <a:t>Ask for time: “When can I expect an answer?”</a:t>
            </a:r>
          </a:p>
          <a:p>
            <a:r>
              <a:t>Thank them for listening.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answer is “not now” 对方说”现在不行”</a:t>
            </a:r>
          </a:p>
          <a:p>
            <a:r>
              <a:t>情景：Your manager says there is no budget. You explore alternatives.</a:t>
            </a:r>
          </a:p>
          <a:p>
            <a:r>
              <a:t>Role A: Wei Chen, employee Role B: Ms Parker,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(Ms Parker): Wei, I appreciate your work, but there are budget constraints this year. I can’t offer ten per cent.</a:t>
            </a:r>
          </a:p>
          <a:p>
            <a:r>
              <a:t>A (Wei): I understand. Is there anything you could do now?</a:t>
            </a:r>
          </a:p>
          <a:p>
            <a:r>
              <a:t>B: Perhaps five per cent, and a review in six months.</a:t>
            </a:r>
          </a:p>
          <a:p>
            <a:r>
              <a:t>A: Could we look at other options too, such as extra leave or training?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 could probably offer two extra days of leave.</a:t>
            </a:r>
          </a:p>
          <a:p>
            <a:r>
              <a:t>A: That’s helpful. Could we agree to revisit the salary in six months, with clear targets?</a:t>
            </a:r>
          </a:p>
          <a:p>
            <a:r>
              <a:t>B: Yes. Let’s define them together.</a:t>
            </a:r>
          </a:p>
          <a:p>
            <a:r>
              <a:t>A: Thank you. What would I need to do to reach the next level?</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Your manager says no budget; you look for an alternative.</a:t>
            </a:r>
          </a:p>
          <a:p>
            <a:r>
              <a:t>Your role (A) | Employee.</a:t>
            </a:r>
          </a:p>
          <a:p>
            <a:r>
              <a:t>Partner’s role (B) | Manager with budget limits.</a:t>
            </a:r>
          </a:p>
          <a:p>
            <a:r>
              <a:t>Must use (3 or more) | I understand · Is there anything you could do now? · other options · revisit · What would I need to do to…?</a:t>
            </a:r>
          </a:p>
          <a:p>
            <a:r>
              <a:t>Goal | Negotiate a compromise and next steps.</a:t>
            </a:r>
          </a:p>
          <a:p>
            <a:r>
              <a:t>My notes | ____________________________________________</a:t>
            </a:r>
          </a:p>
          <a:p>
            <a:r>
              <a:t>Ask for it in writing: “Could you confirm that by email?”</a:t>
            </a:r>
          </a:p>
          <a:p>
            <a:r>
              <a:t>Avoid ultimatums such as “Raise my pay or I’ll quit.”</a:t>
            </a:r>
          </a:p>
          <a:p>
            <a:r>
              <a:t>End positively: “I’m committed to the team.”</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When is a good time to ask for a raise? | “After…” / “During the annual review…”</a:t>
            </a:r>
          </a:p>
          <a:p>
            <a:r>
              <a:t>2. What evidence should you bring? | “Concrete results such as…” / “Market data…”</a:t>
            </a:r>
          </a:p>
          <a:p>
            <a:r>
              <a:t>3. Is it OK to mention another job offer? | “It can work if… but it’s risky because…”</a:t>
            </a:r>
          </a:p>
          <a:p>
            <a:r>
              <a:t>4. What are alternatives to more money? | “Other options include…” / “I’d value…”</a:t>
            </a:r>
          </a:p>
          <a:p>
            <a:r>
              <a:t>5. Should salaries be transparent? | “Yes, because… / No, because…”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“The best time is after a success, such as finishing a big project, or during the annual review. You should avoid asking when the company is struggling or when your manager is stressed. I’d also give notice:”Could we find time to discuss my role?” That gives my manager time to prepare, and it shows I’m serious.”</a:t>
            </a:r>
          </a:p>
          <a:p>
            <a:r>
              <a:t>“such as” = 例如;“give notice” 这里指”提前告知”;“show I’m serious” = 表明我是认真的。</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Polite but confident language 礼貌而自信的表达</a:t>
            </a:r>
          </a:p>
          <a:p>
            <a:r>
              <a:t>Too weak | Too strong | Just right</a:t>
            </a:r>
          </a:p>
          <a:p>
            <a:r>
              <a:t>Sorry, could I maybe ask about money? | Give me a raise. | I’d like to discuss my salary.</a:t>
            </a:r>
          </a:p>
          <a:p>
            <a:r>
              <a:t>I think I’m OK with whatever. | I deserve 20%. | Based on my results, I’d like to ask for 8%.</a:t>
            </a:r>
          </a:p>
          <a:p>
            <a:r>
              <a:t>It’s only a little bit. | You owe me. | I believe it’s reasonable to ask for…</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Polite but confident language 礼貌而自信的表达</a:t>
            </a:r>
          </a:p>
          <a:p>
            <a:r>
              <a:t>Use numbers, not adjectives: “I reduced errors by 20 per cent” beats “I work very hard”.</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add my salary.  →  ✓ I’d like to ask for a pay rise.  (不说 add salary)</a:t>
            </a:r>
          </a:p>
          <a:p>
            <a:r>
              <a:t>✗ I ask for rise from 5000 to 6000.  →  ✓ I’m asking for a rise from 5,000 to 6,000.  (现在进行时)</a:t>
            </a:r>
          </a:p>
          <a:p>
            <a:r>
              <a:t>✗ I have worked here since three years.  →  ✓ I’ve worked here for three years.  (for + 时间段)</a:t>
            </a:r>
          </a:p>
          <a:p>
            <a:r>
              <a:t>Mistake Watch: Check for / since, agree to, uncountable effort, and salary (not “payment”).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My boss doesn’t agree my request.  →  ✓ My boss didn’t agree to my request.  (agree to)</a:t>
            </a:r>
          </a:p>
          <a:p>
            <a:r>
              <a:t>✗ I did a lot of efforts.  →  ✓ I made a lot of effort.  (effort 不可数)</a:t>
            </a:r>
          </a:p>
          <a:p>
            <a:r>
              <a:t>✗ I deserve to get a higher payment.  →  ✓ I deserve a higher salary.  (工资用 salary)</a:t>
            </a:r>
          </a:p>
          <a:p>
            <a:r>
              <a:t>Mistake Watch: Check for / since, agree to, uncountable effort, and salary (not “payment”).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Asking is normal. In the UK and US, asking for a raise is seen as professional if you give evidence.</a:t>
            </a:r>
          </a:p>
          <a:p>
            <a:r>
              <a:t>Never threaten. Don’t use ultimatums unless you really are ready to leave.</a:t>
            </a:r>
          </a:p>
          <a:p>
            <a:r>
              <a:t>Timing. Avoid asking during layoffs or just before holidays. Book a meeting in advance.</a:t>
            </a:r>
          </a:p>
          <a:p>
            <a:r>
              <a:t>Salary is private. Don’t compare salaries with colleagues in public; use market data instead.</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make a short, evidence-based case for a raise.</a:t>
            </a:r>
          </a:p>
          <a:p>
            <a:r>
              <a:t>I can ask for a specific number politely.</a:t>
            </a:r>
          </a:p>
          <a:p>
            <a:r>
              <a:t>I can respond to “no” or “not now” professionally.</a:t>
            </a:r>
          </a:p>
          <a:p>
            <a:r>
              <a:t>I can name alternatives to a raise.</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Record your 60-second case for a raise. Then record the “not now” conversation.</a:t>
            </a:r>
          </a:p>
          <a:p>
            <a:r>
              <a:t>8–10 | Listen to your recording. Check: for/since, agree to, uncountable effort, salary vs payment.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“不要着急” in English? → take your time</a:t>
            </a:r>
          </a:p>
          <a:p>
            <a:r>
              <a:t>“敲定交易” in English? → seal the deal</a:t>
            </a:r>
          </a:p>
          <a:p>
            <a:r>
              <a:t>“取舍” in English? → trade-off</a:t>
            </a:r>
          </a:p>
          <a:p>
            <a:r>
              <a:t>Fix it: If you will order 500, we give you a discount. → If you order 500, we’ll give you a discount.</a:t>
            </a:r>
          </a:p>
          <a:p>
            <a:r>
              <a:t>Fix it: My boss doesn’t agree my request. → My boss didn’t agree to my request.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 Id="rId4" Type="http://schemas.openxmlformats.org/officeDocument/2006/relationships/slide" Target="slide86.xml"/><Relationship Id="rId5" Type="http://schemas.openxmlformats.org/officeDocument/2006/relationships/slide" Target="slide87.xml"/><Relationship Id="rId6" Type="http://schemas.openxmlformats.org/officeDocument/2006/relationships/slide" Target="slide88.xml"/><Relationship Id="rId7" Type="http://schemas.openxmlformats.org/officeDocument/2006/relationships/slide" Target="slide89.xml"/><Relationship Id="rId8" Type="http://schemas.openxmlformats.org/officeDocument/2006/relationships/slide" Target="slide90.xml"/><Relationship Id="rId9" Type="http://schemas.openxmlformats.org/officeDocument/2006/relationships/slide" Target="slide91.xml"/><Relationship Id="rId10" Type="http://schemas.openxmlformats.org/officeDocument/2006/relationships/slide" Target="slide92.xml"/><Relationship Id="rId11" Type="http://schemas.openxmlformats.org/officeDocument/2006/relationships/slide" Target="slide93.xml"/><Relationship Id="rId12" Type="http://schemas.openxmlformats.org/officeDocument/2006/relationships/slide" Target="slide9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5</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700" b="1">
                <a:solidFill>
                  <a:srgbClr val="FFFFFF"/>
                </a:solidFill>
                <a:latin typeface="Arial"/>
                <a:ea typeface="Microsoft YaHei"/>
              </a:rPr>
              <a:t>Business Negotiation</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3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L21 Negotiating deals · L22 The 6 most important negotiation skills 6 · L23 How to ask for a raise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21</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Negotiating deals</a:t>
            </a:r>
          </a:p>
          <a:p>
            <a:pPr algn="l">
              <a:lnSpc>
                <a:spcPct val="100000"/>
              </a:lnSpc>
              <a:spcAft>
                <a:spcPts val="800"/>
              </a:spcAft>
            </a:pPr>
            <a:r>
              <a:rPr sz="1400" b="0">
                <a:solidFill>
                  <a:srgbClr val="5F677A"/>
                </a:solidFill>
                <a:latin typeface="Arial"/>
                <a:ea typeface="Microsoft YaHei"/>
              </a:rPr>
              <a:t>谈判交易</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22</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6 most important negotiation skills 6</a:t>
            </a:r>
          </a:p>
          <a:p>
            <a:pPr algn="l">
              <a:lnSpc>
                <a:spcPct val="100000"/>
              </a:lnSpc>
              <a:spcAft>
                <a:spcPts val="800"/>
              </a:spcAft>
            </a:pPr>
            <a:r>
              <a:rPr sz="1400" b="0">
                <a:solidFill>
                  <a:srgbClr val="5F677A"/>
                </a:solidFill>
                <a:latin typeface="Arial"/>
                <a:ea typeface="Microsoft YaHei"/>
              </a:rPr>
              <a:t>大谈判技巧</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23</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How to ask for a raise</a:t>
            </a:r>
          </a:p>
          <a:p>
            <a:pPr algn="l">
              <a:lnSpc>
                <a:spcPct val="100000"/>
              </a:lnSpc>
              <a:spcAft>
                <a:spcPts val="800"/>
              </a:spcAft>
            </a:pPr>
            <a:r>
              <a:rPr sz="1400" b="0">
                <a:solidFill>
                  <a:srgbClr val="5F677A"/>
                </a:solidFill>
                <a:latin typeface="Arial"/>
                <a:ea typeface="Microsoft YaHei"/>
              </a:rPr>
              <a:t>如何要求加薪(谈判用语)</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5 · Lesson 21 Negotiating deals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Negotiating deals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谈判交易</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negotiate a business deal: state your position, make and respond to offers with conditionals, make concessions and close the agreement.</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enjoy negotiating? Why (not)?</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was the last thing you negotiated, at work or in your private life?</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easy for you to say “no” in a negotiation? Why (not)?</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decide your bottom line before you negotiate?</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is a better negotiator: a talker or a listener?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 题讲过去的事,用过去式(negotiated, agreed)。“bottom line” 指你能接受的最低条件。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negotiation you were in and what happened.</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you wanted</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the other side wanted</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reached agreement</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wanted… but they wanted…   💬 In the end, we agreed on…   💬 I gave way on… in return for…</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 return for” = 作为交换。give way / make a concession on = 在…上让步。</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The five per cent question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Jana was buying packaging for her company and wanted a lower price. The supplier, Mr Ortiz, refused to cut it. Instead of arguing, Jana asked questions. She learned that his real concern was cash flow: he needed fast payment. So she changed her offer: “If we pay within ten days instead of thirty, could you offer a five per cent discount?” Mr Ortiz paused. “Ten days, and a minimum order of 5,000 units,” he said. They shook hands. Jana got a lower price, and the supplier got his cash early. “I started by thinking about price,” she said later. “I ended up trading time for money.” Jana’s tip: before you say what you want, find out what the other side needs. A good deal gives both sides something.</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was the supplier’s real concern?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Cash flow; he needed to be paid quickly.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did Jana offer in exchange for the discount?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Payment within ten days instead of thirty.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Jana’s tip?</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Find out what the other side needs before you say what you want.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Positions and proposals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立场与提议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negotiate a deal</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谈成交易</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negotiated a deal worth two million.”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offer / counter-offer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报价 / 还价</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made a counter-offer of 90,000.”</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terms and conditions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条款与条件</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go through the terms and conditions.”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ballpark figure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大致数字</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give me a ballpark figure?”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our bottom line</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我们的底线</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bottom line is 60 days’ payment.”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Conditionals and concessions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条件与让步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If you…, we could…</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如果您…,我们可以…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you order 500, we could offer a 5% discount.”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We’d be prepared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我们愿意…</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“We’d be prepared to extend the contract.”</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meet (someone) halfway</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各让一步</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meet halfway at 95,000.”</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return for</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作为交换</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give you a longer contract in return for a lower price.”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give a little</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做出让步</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“Both sides will have to give a little.”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Closing the deal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达成协议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have a deal.</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成交</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“Then we have a deal.”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seal the deal</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敲定交易</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small gift won’t seal the deal; the terms will.”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iron out the details</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敲定细节</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iron out the details tomorrow.”</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afraid we can’t go that far.</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恐怕我们做不到那一步</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we can’t go that far on price.”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draft an agreement</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起草协议</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lawyers will draft an agreement.”</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做出让步</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give a little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报价 / 还价</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offer / counter-offer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恐怕我们做不到那一步</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afraid we can’t go that far.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敲定细节</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iron out the details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大致数字</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ballpark figure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各让一步</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meet (someone) halfway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敲定交易</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seal the deal</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我们愿意…</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We’d be prepared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counter-offer</a:t>
            </a:r>
          </a:p>
        </p:txBody>
      </p:sp>
      <p:sp>
        <p:nvSpPr>
          <p:cNvPr id="10" name="Rounded Rectangle 9"/>
          <p:cNvSpPr/>
          <p:nvPr/>
        </p:nvSpPr>
        <p:spPr>
          <a:xfrm>
            <a:off x="3895344"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terms</a:t>
            </a:r>
          </a:p>
        </p:txBody>
      </p:sp>
      <p:sp>
        <p:nvSpPr>
          <p:cNvPr id="11" name="Rounded Rectangle 10"/>
          <p:cNvSpPr/>
          <p:nvPr/>
        </p:nvSpPr>
        <p:spPr>
          <a:xfrm>
            <a:off x="4901184"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halfway</a:t>
            </a:r>
          </a:p>
        </p:txBody>
      </p:sp>
      <p:sp>
        <p:nvSpPr>
          <p:cNvPr id="12" name="Rounded Rectangle 11"/>
          <p:cNvSpPr/>
          <p:nvPr/>
        </p:nvSpPr>
        <p:spPr>
          <a:xfrm>
            <a:off x="6126480"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return</a:t>
            </a:r>
          </a:p>
        </p:txBody>
      </p:sp>
      <p:sp>
        <p:nvSpPr>
          <p:cNvPr id="13" name="Rounded Rectangle 12"/>
          <p:cNvSpPr/>
          <p:nvPr/>
        </p:nvSpPr>
        <p:spPr>
          <a:xfrm>
            <a:off x="7242048"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iron</a:t>
            </a:r>
          </a:p>
        </p:txBody>
      </p:sp>
      <p:sp>
        <p:nvSpPr>
          <p:cNvPr id="14" name="Rounded Rectangle 13"/>
          <p:cNvSpPr/>
          <p:nvPr/>
        </p:nvSpPr>
        <p:spPr>
          <a:xfrm>
            <a:off x="813816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deal</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They made a _______ of 90,000.</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counter-offer</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Let’s go through the _______ and conditions.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terms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Let’s meet _______ at 95,000.</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halfway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We’ll give you a longer contract in _______ for a lower price.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We’ll _______ out the details tomorrow.</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iron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Then we have a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deal</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 negotiate a deal / negotiate WITH someone ABOUT price (not “negotiate about the deal with”); make a concession; spelling: negotiate, negotiation, concession.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 price negotiation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价格谈判</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negotiate price and payment terms with a supplier.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Jana Novak, buyer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Ortiz, supplier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A price negotiation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Ortiz, thanks for your quote. Frankly, the price is higher than we budgeted.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Ortiz</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but the price is already competitive.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If we increased the order to 5,000 units, could you offer a five per cent discount?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we can’t go that far. Maybe three per cent.</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 price negotiation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we paid within ten days instead of thirty?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That would help our cash flow. We’d be prepared to offer five per cent for ten-day payment and 5,000 units.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works for us. Shall we say 5,000 units, five per cent, payment in ten days?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We have a deal.</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 price negotiation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negotiate price and terms with a supplier.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Buyer. Your product: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Supplier who resists lowering the price.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If you…, could you…? · I’m afraid we can’t… · in return for · We’d be prepared to… · We have a deal</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Make two proposals, accept one compromise and summarise the agreement.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Open with a ballpark: “What sort of range are we looking at?”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Reject a bad offer politely: “That’s a little higher than we expected.”</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Close with a recap: “So, to confirm,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Final terms and a deadlock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最终条款与僵局</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and a client are close to a deal but still disagree on delivery time.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Sam Wu, sales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Evans, client</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Final terms and a deadlock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Sam</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close. The only issue left is delivery. We can deliver in eight weeks.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Evans</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too long. We need it in six.</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Six weeks is difficult. We’d struggle to guarantee it.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we paid a ten per cent deposit now?</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Final terms and a deadlock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might help. If you pay a deposit on signing, we could prioritise your order and deliver in seven weeks.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meet halfway: seven weeks, with a penalty if you’re late.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small penalty is acceptable, say one per cent a week.</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We’ll iron out the details tomorrow.</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Final terms and a deadlock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close a deal after a final disagreement.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Sales manager. Your product: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who needs a faster delivery.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Six weeks is difficult · What if…? · meet halfway · deposit · iron out the details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Compromise on one point and confirm next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Take a short break: “Could we take ten minutes to consider this?”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Check authority: “Is that something you can agree to today?”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Confirm in writing.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good deal?</a:t>
            </a:r>
          </a:p>
          <a:p>
            <a:pPr algn="l">
              <a:lnSpc>
                <a:spcPct val="115000"/>
              </a:lnSpc>
              <a:spcAft>
                <a:spcPts val="800"/>
              </a:spcAft>
            </a:pPr>
            <a:r>
              <a:rPr sz="1400" b="0">
                <a:solidFill>
                  <a:srgbClr val="5F677A"/>
                </a:solidFill>
                <a:latin typeface="Arial"/>
                <a:ea typeface="Microsoft YaHei"/>
              </a:rPr>
              <a:t>💬 “A good deal is one where…” / “Both sides should…”</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prepare for a negotiation?</a:t>
            </a:r>
          </a:p>
          <a:p>
            <a:pPr algn="l">
              <a:lnSpc>
                <a:spcPct val="115000"/>
              </a:lnSpc>
              <a:spcAft>
                <a:spcPts val="800"/>
              </a:spcAft>
            </a:pPr>
            <a:r>
              <a:rPr sz="1400" b="0">
                <a:solidFill>
                  <a:srgbClr val="5F677A"/>
                </a:solidFill>
                <a:latin typeface="Arial"/>
                <a:ea typeface="Microsoft YaHei"/>
              </a:rPr>
              <a:t>💬 “I start by…” / “I decide my bottom line and…”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make the first offer or wait?</a:t>
            </a:r>
          </a:p>
          <a:p>
            <a:pPr algn="l">
              <a:lnSpc>
                <a:spcPct val="115000"/>
              </a:lnSpc>
              <a:spcAft>
                <a:spcPts val="800"/>
              </a:spcAft>
            </a:pPr>
            <a:r>
              <a:rPr sz="1400" b="0">
                <a:solidFill>
                  <a:srgbClr val="5F677A"/>
                </a:solidFill>
                <a:latin typeface="Arial"/>
                <a:ea typeface="Microsoft YaHei"/>
              </a:rPr>
              <a:t>💬 “The advantage of going first is…” / “If I wait, I can…”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say no politely?</a:t>
            </a:r>
          </a:p>
          <a:p>
            <a:pPr algn="l">
              <a:lnSpc>
                <a:spcPct val="115000"/>
              </a:lnSpc>
              <a:spcAft>
                <a:spcPts val="800"/>
              </a:spcAft>
            </a:pPr>
            <a:r>
              <a:rPr sz="1400" b="0">
                <a:solidFill>
                  <a:srgbClr val="5F677A"/>
                </a:solidFill>
                <a:latin typeface="Arial"/>
                <a:ea typeface="Microsoft YaHei"/>
              </a:rPr>
              <a:t>💬 “I’d say something like…” / “I’d offer an alternative.”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are negotiations different in your culture?</a:t>
            </a:r>
          </a:p>
          <a:p>
            <a:pPr algn="l">
              <a:lnSpc>
                <a:spcPct val="115000"/>
              </a:lnSpc>
              <a:spcAft>
                <a:spcPts val="800"/>
              </a:spcAft>
            </a:pPr>
            <a:r>
              <a:rPr sz="1400" b="0">
                <a:solidFill>
                  <a:srgbClr val="5F677A"/>
                </a:solidFill>
                <a:latin typeface="Arial"/>
                <a:ea typeface="Microsoft YaHei"/>
              </a:rPr>
              <a:t>💬 “In China, people often…” / “In the UK/US,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start by finding out what the other side needs, not just what they say they want. Then I decide my bottom line and the things I can give, like faster payment or a longer contract. In the meeting, I ask questions and listen. I only make a concession in return for something, so the deal stays balanced. This way both sides feel they have won something.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“bottom line” = 底线;“in return for” = 作为交换;“This way, …” = 这样一来。</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Conditionals for bargaining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谈判中的条件句</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Type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First conditional (real possibility)</a:t>
                      </a:r>
                    </a:p>
                  </a:txBody>
                  <a:tcPr anchor="ctr">
                    <a:solidFill>
                      <a:srgbClr val="FFFFFF"/>
                    </a:solidFill>
                  </a:tcPr>
                </a:tc>
                <a:tc>
                  <a:txBody>
                    <a:bodyPr wrap="square"/>
                    <a:lstStyle/>
                    <a:p>
                      <a:r>
                        <a:rPr sz="1600" b="0">
                          <a:solidFill>
                            <a:srgbClr val="1F2A44"/>
                          </a:solidFill>
                          <a:latin typeface="Arial"/>
                          <a:ea typeface="Microsoft YaHei"/>
                        </a:rPr>
                        <a:t>If you order 500, we will give you 5%.</a:t>
                      </a:r>
                    </a:p>
                  </a:txBody>
                  <a:tcPr anchor="ctr">
                    <a:solidFill>
                      <a:srgbClr val="FFFFFF"/>
                    </a:solidFill>
                  </a:tcPr>
                </a:tc>
              </a:tr>
              <a:tr h="408432">
                <a:tc>
                  <a:txBody>
                    <a:bodyPr wrap="square"/>
                    <a:lstStyle/>
                    <a:p>
                      <a:r>
                        <a:rPr sz="1600" b="1">
                          <a:solidFill>
                            <a:srgbClr val="1F2A44"/>
                          </a:solidFill>
                          <a:latin typeface="Arial"/>
                          <a:ea typeface="Microsoft YaHei"/>
                        </a:rPr>
                        <a:t>Softer: could / would</a:t>
                      </a:r>
                    </a:p>
                  </a:txBody>
                  <a:tcPr anchor="ctr">
                    <a:solidFill>
                      <a:srgbClr val="FFEFD9"/>
                    </a:solidFill>
                  </a:tcPr>
                </a:tc>
                <a:tc>
                  <a:txBody>
                    <a:bodyPr wrap="square"/>
                    <a:lstStyle/>
                    <a:p>
                      <a:r>
                        <a:rPr sz="1600" b="0">
                          <a:solidFill>
                            <a:srgbClr val="1F2A44"/>
                          </a:solidFill>
                          <a:latin typeface="Arial"/>
                          <a:ea typeface="Microsoft YaHei"/>
                        </a:rPr>
                        <a:t>If you ordered 500, we could offer 5%.</a:t>
                      </a:r>
                    </a:p>
                  </a:txBody>
                  <a:tcPr anchor="ctr">
                    <a:solidFill>
                      <a:srgbClr val="FFEFD9"/>
                    </a:solidFill>
                  </a:tcPr>
                </a:tc>
              </a:tr>
              <a:tr h="408432">
                <a:tc>
                  <a:txBody>
                    <a:bodyPr wrap="square"/>
                    <a:lstStyle/>
                    <a:p>
                      <a:r>
                        <a:rPr sz="1600" b="1">
                          <a:solidFill>
                            <a:srgbClr val="1F2A44"/>
                          </a:solidFill>
                          <a:latin typeface="Arial"/>
                          <a:ea typeface="Microsoft YaHei"/>
                        </a:rPr>
                        <a:t>Question form</a:t>
                      </a:r>
                    </a:p>
                  </a:txBody>
                  <a:tcPr anchor="ctr">
                    <a:solidFill>
                      <a:srgbClr val="FFFFFF"/>
                    </a:solidFill>
                  </a:tcPr>
                </a:tc>
                <a:tc>
                  <a:txBody>
                    <a:bodyPr wrap="square"/>
                    <a:lstStyle/>
                    <a:p>
                      <a:r>
                        <a:rPr sz="1600" b="0">
                          <a:solidFill>
                            <a:srgbClr val="1F2A44"/>
                          </a:solidFill>
                          <a:latin typeface="Arial"/>
                          <a:ea typeface="Microsoft YaHei"/>
                        </a:rPr>
                        <a:t>What if we paid in ten days?</a:t>
                      </a:r>
                    </a:p>
                  </a:txBody>
                  <a:tcPr anchor="ctr">
                    <a:solidFill>
                      <a:srgbClr val="FFFFFF"/>
                    </a:solidFill>
                  </a:tcPr>
                </a:tc>
              </a:tr>
              <a:tr h="408432">
                <a:tc>
                  <a:txBody>
                    <a:bodyPr wrap="square"/>
                    <a:lstStyle/>
                    <a:p>
                      <a:r>
                        <a:rPr sz="1600" b="1">
                          <a:solidFill>
                            <a:srgbClr val="1F2A44"/>
                          </a:solidFill>
                          <a:latin typeface="Arial"/>
                          <a:ea typeface="Microsoft YaHei"/>
                        </a:rPr>
                        <a:t>Refusing</a:t>
                      </a:r>
                    </a:p>
                  </a:txBody>
                  <a:tcPr anchor="ctr">
                    <a:solidFill>
                      <a:srgbClr val="FFEFD9"/>
                    </a:solidFill>
                  </a:tcPr>
                </a:tc>
                <a:tc>
                  <a:txBody>
                    <a:bodyPr wrap="square"/>
                    <a:lstStyle/>
                    <a:p>
                      <a:r>
                        <a:rPr sz="1600" b="0">
                          <a:solidFill>
                            <a:srgbClr val="1F2A44"/>
                          </a:solidFill>
                          <a:latin typeface="Arial"/>
                          <a:ea typeface="Microsoft YaHei"/>
                        </a:rPr>
                        <a:t>I’m afraid we couldn’t go that low.</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Conditionals for bargaining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谈判中的条件句</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In if clauses, use present simple (not will): </a:t>
            </a:r>
            <a:r>
              <a:rPr sz="1700" b="0">
                <a:solidFill>
                  <a:srgbClr val="1F2A44"/>
                </a:solidFill>
                <a:latin typeface="Arial"/>
                <a:ea typeface="Microsoft YaHei"/>
              </a:rPr>
              <a:t>If you pay now, we’ll deliver Monday. (not “if you will pay”)</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you will order 500, we give you a discount.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you order 500, we’ll give you a discount.</a:t>
            </a:r>
          </a:p>
          <a:p>
            <a:pPr algn="l">
              <a:spcAft>
                <a:spcPts val="200"/>
              </a:spcAft>
            </a:pPr>
            <a:r>
              <a:rPr sz="1200" b="0">
                <a:solidFill>
                  <a:srgbClr val="FFFFFF"/>
                </a:solidFill>
                <a:latin typeface="Arial"/>
                <a:ea typeface="Microsoft YaHei"/>
              </a:rPr>
              <a:t>if 从句不用 will</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negotiate about the price with you.</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We’re negotiating the price with you.</a:t>
            </a:r>
          </a:p>
          <a:p>
            <a:pPr algn="l">
              <a:spcAft>
                <a:spcPts val="200"/>
              </a:spcAft>
            </a:pPr>
            <a:r>
              <a:rPr sz="1200" b="0">
                <a:solidFill>
                  <a:srgbClr val="FFFFFF"/>
                </a:solidFill>
                <a:latin typeface="Arial"/>
                <a:ea typeface="Microsoft YaHei"/>
              </a:rPr>
              <a:t>negotiate 是及物动词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disagree your offer.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disagree with your offer.</a:t>
            </a:r>
          </a:p>
          <a:p>
            <a:pPr algn="l">
              <a:spcAft>
                <a:spcPts val="200"/>
              </a:spcAft>
            </a:pPr>
            <a:r>
              <a:rPr sz="1200" b="0">
                <a:solidFill>
                  <a:srgbClr val="FFFFFF"/>
                </a:solidFill>
                <a:latin typeface="Arial"/>
                <a:ea typeface="Microsoft YaHei"/>
              </a:rPr>
              <a:t>disagree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make the price more cheap?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you lower the price?</a:t>
            </a:r>
          </a:p>
          <a:p>
            <a:pPr algn="l">
              <a:spcAft>
                <a:spcPts val="200"/>
              </a:spcAft>
            </a:pPr>
            <a:r>
              <a:rPr sz="1200" b="0">
                <a:solidFill>
                  <a:srgbClr val="FFFFFF"/>
                </a:solidFill>
                <a:latin typeface="Arial"/>
                <a:ea typeface="Microsoft YaHei"/>
              </a:rPr>
              <a:t>不说 more cheap</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That price is impossible.</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that’s a little higher than we expected.</a:t>
            </a:r>
          </a:p>
          <a:p>
            <a:pPr algn="l">
              <a:spcAft>
                <a:spcPts val="200"/>
              </a:spcAft>
            </a:pPr>
            <a:r>
              <a:rPr sz="1200" b="0">
                <a:solidFill>
                  <a:srgbClr val="FFFFFF"/>
                </a:solidFill>
                <a:latin typeface="Arial"/>
                <a:ea typeface="Microsoft YaHei"/>
              </a:rPr>
              <a:t>委婉拒绝,不要太生硬</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discuss about the terms.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We’re discussing the terms.</a:t>
            </a:r>
          </a:p>
          <a:p>
            <a:pPr algn="l">
              <a:spcAft>
                <a:spcPts val="200"/>
              </a:spcAft>
            </a:pPr>
            <a:r>
              <a:rPr sz="1200" b="0">
                <a:solidFill>
                  <a:srgbClr val="FFFFFF"/>
                </a:solidFill>
                <a:latin typeface="Arial"/>
                <a:ea typeface="Microsoft YaHei"/>
              </a:rPr>
              <a:t>discuss 后不加 about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the if clause: no will after if. Check negotiate and discuss have no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Be direct, but polite. UK/US negotiators expect you to say what you want and give reasons.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“Let me think about it” is a polite way to pause. It does not mean yes.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Don’t over-concede. Offering a big discount at once makes people ask for more.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Put it in writing. After a verbal deal, send a summary email: “Just to confirm what we agreed…”</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state my position and ask about the other side’s needs.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and respond to offers with If you…, we could…</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refuse politely (I’m afraid we can’t go that far).</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summarise and close a deal.</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21 Negotiating deals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Role-play a 2-minute price negotiation. Say each offer with a conditional. Record it.</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if + present, no “about” after negotiate/discuss, disagree with.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5 · Lesson 22 The 6 most important negotiation skills 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3700" b="1">
                <a:solidFill>
                  <a:srgbClr val="FFFFFF"/>
                </a:solidFill>
                <a:latin typeface="Arial"/>
                <a:ea typeface="Microsoft YaHei"/>
              </a:rPr>
              <a:t>The 6 most important negotiation skills 6</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大谈判技巧</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use six core negotiation skills: preparation, listening, questioning, patience, creative problem-solving and confident but flexible behaviour.</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skill is most important in a negotiation? Why?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prepare before an important conversation?</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you comfortable with silence? Why (not)?</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ask a question that changed the other person’s mind?</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stay calm when the other side is aggressive?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题讲过去的事,用过去式(asked, changed)。“stay calm” = 保持冷静。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one negotiation skill and give an example from your experience.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skill</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it matters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your example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the result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skill I’d pick is…   💬 It matters because…   💬 For example, last year…</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skill I’d pick is…” 表示”我会选…“。because 引导原因;注意”matter” 是不及物动词:It matters。</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Six habits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trainer asked experienced negotiators what they do differently. Six habits came up again and again. First, they prepare: they know their goals, their limits and their alternatives. Second, they listen more than they talk. Third, they ask open questions such as “What matters most to you in this deal?” Fourth, they are patient and use silence; after making an offer, they wait. Fifth, they look for creative options, such as adding services or changing the timing, instead of fighting over one number. Finally, they stay calm and confident without being aggressive. One negotiator said, “The person who talks first after a silence often gives something away.” Beginners focus on winning. Experts focus on understanding. Interestingly, many say their best deals came after they said, “Let me think about that.”</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experienced negotiators do before the meeting?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know their goals, limits and alternatives.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is silence useful, according to the negotiator?</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person who speaks first after a silence often gives something away.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do experts differ from beginners?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Experts focus on understanding; beginners focus on winning.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Preparation and listening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准备与倾听</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 your homework</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做好功课</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your homework on the supplier before you meet.”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know your limits</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清楚自己的底线</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“Know your limits before you start.”</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have a fallback (option)</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有备选方案</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fallback if this supplier refuses.”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active listening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积极倾听</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“Active listening helps you find common interests.”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read the other side</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判断对方心理</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good at reading the other side.”</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Questions and patience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提问与耐心</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open question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开放式问题</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 open question starts with what, how or why.”</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matters most to you?</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你最看重什么?</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matters most to you in this contract?”</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probe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深入探询</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“Probe gently to find out their real concern.”</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use silence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利用沉默</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“Use silence after your offer. Don’t rush to fill it.”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your time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不要着急</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your time. There’s no rush.”</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Creating value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创造价值</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win-win</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双赢的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a win-win solution.”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widen the pie</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做大蛋糕</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“Add services to widen the pie.”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trade-off</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取舍</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is a trade-off between speed and cost.”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stand your ground</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坚持立场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“Stay polite, but stand your ground on safety.”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walk away</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退出谈判</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 ready to walk away if the terms are bad.”</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有备选方案</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have a fallback (option)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不要着急</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your time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清楚自己的底线</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know your limits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退出谈判</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walk away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做大蛋糕</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widen the pie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判断对方心理</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read the other side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深入探询</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probe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开放式问题</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open question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homework</a:t>
            </a:r>
          </a:p>
        </p:txBody>
      </p:sp>
      <p:sp>
        <p:nvSpPr>
          <p:cNvPr id="10" name="Rounded Rectangle 9"/>
          <p:cNvSpPr/>
          <p:nvPr/>
        </p:nvSpPr>
        <p:spPr>
          <a:xfrm>
            <a:off x="3346704"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fallback</a:t>
            </a:r>
          </a:p>
        </p:txBody>
      </p:sp>
      <p:sp>
        <p:nvSpPr>
          <p:cNvPr id="11" name="Rounded Rectangle 10"/>
          <p:cNvSpPr/>
          <p:nvPr/>
        </p:nvSpPr>
        <p:spPr>
          <a:xfrm>
            <a:off x="4681728"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probe</a:t>
            </a:r>
          </a:p>
        </p:txBody>
      </p:sp>
      <p:sp>
        <p:nvSpPr>
          <p:cNvPr id="12" name="Rounded Rectangle 11"/>
          <p:cNvSpPr/>
          <p:nvPr/>
        </p:nvSpPr>
        <p:spPr>
          <a:xfrm>
            <a:off x="5687568"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silence</a:t>
            </a:r>
          </a:p>
        </p:txBody>
      </p:sp>
      <p:sp>
        <p:nvSpPr>
          <p:cNvPr id="13" name="Rounded Rectangle 12"/>
          <p:cNvSpPr/>
          <p:nvPr/>
        </p:nvSpPr>
        <p:spPr>
          <a:xfrm>
            <a:off x="6912864"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trade-off</a:t>
            </a:r>
          </a:p>
        </p:txBody>
      </p:sp>
      <p:sp>
        <p:nvSpPr>
          <p:cNvPr id="14" name="Rounded Rectangle 13"/>
          <p:cNvSpPr/>
          <p:nvPr/>
        </p:nvSpPr>
        <p:spPr>
          <a:xfrm>
            <a:off x="8357616"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walk</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Do your _______ on the supplier before you meet.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homework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have a _______ if this supplier refuses.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fallback</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gently to find out their real concern.</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Probe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Use _______ after your offer.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silence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There is a _______ between speed and cost.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trade-off</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Be ready to _______ away if the terms are bad.</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walk</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(搭配与拼写) a trade-off BETWEEN A AND B; do homework (uncountable: not “do homeworks”); spelling: negotiation, patient/patience, alternative.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Preparing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与同事一起备战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plan a negotiation with a colleague before meeting a client.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Ravi Shah,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Tina Gao, colleague</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Preparing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Ravi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Tina, let’s go over our plan for tomorrow. What’s our main goal?</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Tina</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renew the contract at the same price. But we can accept up to a three per cent increase.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our fallback if they say no?</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talk to the other supplier. I did my homework: they’re about ten per cent more expensive.</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Preparing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What questions should we ask?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matters most to them: price, speed or quality?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if they push hard on price?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use silence and offer a longer contract in return.</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Preparing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prepare a negotiation with a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The deal: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knows the market.</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main goal · fallback · do your homework · What matters most to…? · in return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goal, limit, fallback and three questions in 90 seconds.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List three things you can give and three you want.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Decide who speaks first.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Practise saying no politely.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Using questions and silence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使用提问与沉默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In the meeting, you use open questions and silence to move the other side.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Ravi Shah,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Lang, client</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Using questions and silence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Ravi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meeting us. Before we talk about price, could you tell us what matters most to you in this contract?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Lang</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Reliability, mainly. Last year we had two late deliveries.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That sounds frustrating. What happened exactly?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port strike. But it cost us a lot.</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Using questions and silence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could guarantee delivery times in writing. In return, we’d ask for a two-year contract.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(silence)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Two years is a long time. But if you give us a penalty clause, I could agree to that.</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Using questions and silence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use questions and silence in a negotiation.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Your offer: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who values reliability.</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matters most to you? · probe · use silence · in return · penalty clause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two open questions and wait 5 seconds after your offer.</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Count to five silently after your offer.</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Summarise their concern: “So reliability is the main issue.”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would make this work for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of the six skills is hardest for you?</a:t>
            </a:r>
          </a:p>
          <a:p>
            <a:pPr algn="l">
              <a:lnSpc>
                <a:spcPct val="115000"/>
              </a:lnSpc>
              <a:spcAft>
                <a:spcPts val="800"/>
              </a:spcAft>
            </a:pPr>
            <a:r>
              <a:rPr sz="1400" b="0">
                <a:solidFill>
                  <a:srgbClr val="5F677A"/>
                </a:solidFill>
                <a:latin typeface="Arial"/>
                <a:ea typeface="Microsoft YaHei"/>
              </a:rPr>
              <a:t>💬 “For me, it’s…” / “I struggle with…”</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silence powerful or awkward?</a:t>
            </a:r>
          </a:p>
          <a:p>
            <a:pPr algn="l">
              <a:lnSpc>
                <a:spcPct val="115000"/>
              </a:lnSpc>
              <a:spcAft>
                <a:spcPts val="800"/>
              </a:spcAft>
            </a:pPr>
            <a:r>
              <a:rPr sz="1400" b="0">
                <a:solidFill>
                  <a:srgbClr val="5F677A"/>
                </a:solidFill>
                <a:latin typeface="Arial"/>
                <a:ea typeface="Microsoft YaHei"/>
              </a:rPr>
              <a:t>💬 “In some cultures, silence…” / “It depends…”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ever walk away from a deal?</a:t>
            </a:r>
          </a:p>
          <a:p>
            <a:pPr algn="l">
              <a:lnSpc>
                <a:spcPct val="115000"/>
              </a:lnSpc>
              <a:spcAft>
                <a:spcPts val="800"/>
              </a:spcAft>
            </a:pPr>
            <a:r>
              <a:rPr sz="1400" b="0">
                <a:solidFill>
                  <a:srgbClr val="5F677A"/>
                </a:solidFill>
                <a:latin typeface="Arial"/>
                <a:ea typeface="Microsoft YaHei"/>
              </a:rPr>
              <a:t>💬 “Yes, if…” / “Only when…”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negotiators need to be tough?</a:t>
            </a:r>
          </a:p>
          <a:p>
            <a:pPr algn="l">
              <a:lnSpc>
                <a:spcPct val="115000"/>
              </a:lnSpc>
              <a:spcAft>
                <a:spcPts val="800"/>
              </a:spcAft>
            </a:pPr>
            <a:r>
              <a:rPr sz="1400" b="0">
                <a:solidFill>
                  <a:srgbClr val="5F677A"/>
                </a:solidFill>
                <a:latin typeface="Arial"/>
                <a:ea typeface="Microsoft YaHei"/>
              </a:rPr>
              <a:t>💬 “I’d say they need to be…” / “Tough doesn’t mean…”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deal with an aggressive negotiator?</a:t>
            </a:r>
          </a:p>
          <a:p>
            <a:pPr algn="l">
              <a:lnSpc>
                <a:spcPct val="115000"/>
              </a:lnSpc>
              <a:spcAft>
                <a:spcPts val="800"/>
              </a:spcAft>
            </a:pPr>
            <a:r>
              <a:rPr sz="1400" b="0">
                <a:solidFill>
                  <a:srgbClr val="5F677A"/>
                </a:solidFill>
                <a:latin typeface="Arial"/>
                <a:ea typeface="Microsoft YaHei"/>
              </a:rPr>
              <a:t>💬 “I stay calm and…” / “I take a short break.”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find silence very powerful but also uncomfortable. In my culture, we usually fill pauses quickly. But in a negotiation, a pause after an offer gives the other side time to think, and they often improve their position. I try to count to five in my head. It feels long, but it works. After a pause, the other person often says something useful.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 find + 宾语 + 形容词” = 我觉得…;“count to five” 数到五;“improve their position” 改进(他们的)条件。</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Skills and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技巧与用语</a:t>
            </a:r>
          </a:p>
        </p:txBody>
      </p:sp>
      <p:graphicFrame>
        <p:nvGraphicFramePr>
          <p:cNvPr id="9" name="Table 8"/>
          <p:cNvGraphicFramePr>
            <a:graphicFrameLocks noGrp="1"/>
          </p:cNvGraphicFramePr>
          <p:nvPr/>
        </p:nvGraphicFramePr>
        <p:xfrm>
          <a:off x="548640" y="1417320"/>
          <a:ext cx="11094415" cy="310286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Skill</a:t>
                      </a:r>
                    </a:p>
                  </a:txBody>
                  <a:tcPr anchor="ctr">
                    <a:solidFill>
                      <a:srgbClr val="3CC49A"/>
                    </a:solidFill>
                  </a:tcPr>
                </a:tc>
                <a:tc>
                  <a:txBody>
                    <a:bodyPr wrap="square"/>
                    <a:lstStyle/>
                    <a:p>
                      <a:r>
                        <a:rPr sz="1600" b="1">
                          <a:solidFill>
                            <a:srgbClr val="FFFFFF"/>
                          </a:solidFill>
                          <a:latin typeface="Arial"/>
                          <a:ea typeface="Microsoft YaHei"/>
                        </a:rPr>
                        <a:t>Useful language</a:t>
                      </a:r>
                    </a:p>
                  </a:txBody>
                  <a:tcPr anchor="ctr">
                    <a:solidFill>
                      <a:srgbClr val="3CC49A"/>
                    </a:solidFill>
                  </a:tcPr>
                </a:tc>
              </a:tr>
              <a:tr h="408432">
                <a:tc>
                  <a:txBody>
                    <a:bodyPr wrap="square"/>
                    <a:lstStyle/>
                    <a:p>
                      <a:r>
                        <a:rPr sz="1600" b="1">
                          <a:solidFill>
                            <a:srgbClr val="1F2A44"/>
                          </a:solidFill>
                          <a:latin typeface="Arial"/>
                          <a:ea typeface="Microsoft YaHei"/>
                        </a:rPr>
                        <a:t>Preparation</a:t>
                      </a:r>
                    </a:p>
                  </a:txBody>
                  <a:tcPr anchor="ctr">
                    <a:solidFill>
                      <a:srgbClr val="FFFFFF"/>
                    </a:solidFill>
                  </a:tcPr>
                </a:tc>
                <a:tc>
                  <a:txBody>
                    <a:bodyPr wrap="square"/>
                    <a:lstStyle/>
                    <a:p>
                      <a:r>
                        <a:rPr sz="1600" b="0">
                          <a:solidFill>
                            <a:srgbClr val="1F2A44"/>
                          </a:solidFill>
                          <a:latin typeface="Arial"/>
                          <a:ea typeface="Microsoft YaHei"/>
                        </a:rPr>
                        <a:t>Our goal is… / Our fallback is…</a:t>
                      </a:r>
                    </a:p>
                  </a:txBody>
                  <a:tcPr anchor="ctr">
                    <a:solidFill>
                      <a:srgbClr val="FFFFFF"/>
                    </a:solidFill>
                  </a:tcPr>
                </a:tc>
              </a:tr>
              <a:tr h="408432">
                <a:tc>
                  <a:txBody>
                    <a:bodyPr wrap="square"/>
                    <a:lstStyle/>
                    <a:p>
                      <a:r>
                        <a:rPr sz="1600" b="1">
                          <a:solidFill>
                            <a:srgbClr val="1F2A44"/>
                          </a:solidFill>
                          <a:latin typeface="Arial"/>
                          <a:ea typeface="Microsoft YaHei"/>
                        </a:rPr>
                        <a:t>Listening</a:t>
                      </a:r>
                    </a:p>
                  </a:txBody>
                  <a:tcPr anchor="ctr">
                    <a:solidFill>
                      <a:srgbClr val="FFEFD9"/>
                    </a:solidFill>
                  </a:tcPr>
                </a:tc>
                <a:tc>
                  <a:txBody>
                    <a:bodyPr wrap="square"/>
                    <a:lstStyle/>
                    <a:p>
                      <a:r>
                        <a:rPr sz="1600" b="0">
                          <a:solidFill>
                            <a:srgbClr val="1F2A44"/>
                          </a:solidFill>
                          <a:latin typeface="Arial"/>
                          <a:ea typeface="Microsoft YaHei"/>
                        </a:rPr>
                        <a:t>So what you’re saying is…</a:t>
                      </a:r>
                    </a:p>
                  </a:txBody>
                  <a:tcPr anchor="ctr">
                    <a:solidFill>
                      <a:srgbClr val="FFEFD9"/>
                    </a:solidFill>
                  </a:tcPr>
                </a:tc>
              </a:tr>
              <a:tr h="652272">
                <a:tc>
                  <a:txBody>
                    <a:bodyPr wrap="square"/>
                    <a:lstStyle/>
                    <a:p>
                      <a:r>
                        <a:rPr sz="1600" b="1">
                          <a:solidFill>
                            <a:srgbClr val="1F2A44"/>
                          </a:solidFill>
                          <a:latin typeface="Arial"/>
                          <a:ea typeface="Microsoft YaHei"/>
                        </a:rPr>
                        <a:t>Questioning</a:t>
                      </a:r>
                    </a:p>
                  </a:txBody>
                  <a:tcPr anchor="ctr">
                    <a:solidFill>
                      <a:srgbClr val="FFFFFF"/>
                    </a:solidFill>
                  </a:tcPr>
                </a:tc>
                <a:tc>
                  <a:txBody>
                    <a:bodyPr wrap="square"/>
                    <a:lstStyle/>
                    <a:p>
                      <a:r>
                        <a:rPr sz="1600" b="0">
                          <a:solidFill>
                            <a:srgbClr val="1F2A44"/>
                          </a:solidFill>
                          <a:latin typeface="Arial"/>
                          <a:ea typeface="Microsoft YaHei"/>
                        </a:rPr>
                        <a:t>What matters most to you? / Can you tell me more about…?</a:t>
                      </a:r>
                    </a:p>
                  </a:txBody>
                  <a:tcPr anchor="ctr">
                    <a:solidFill>
                      <a:srgbClr val="FFFFFF"/>
                    </a:solidFill>
                  </a:tcPr>
                </a:tc>
              </a:tr>
              <a:tr h="408432">
                <a:tc>
                  <a:txBody>
                    <a:bodyPr wrap="square"/>
                    <a:lstStyle/>
                    <a:p>
                      <a:r>
                        <a:rPr sz="1600" b="1">
                          <a:solidFill>
                            <a:srgbClr val="1F2A44"/>
                          </a:solidFill>
                          <a:latin typeface="Arial"/>
                          <a:ea typeface="Microsoft YaHei"/>
                        </a:rPr>
                        <a:t>Patience</a:t>
                      </a:r>
                    </a:p>
                  </a:txBody>
                  <a:tcPr anchor="ctr">
                    <a:solidFill>
                      <a:srgbClr val="FFEFD9"/>
                    </a:solidFill>
                  </a:tcPr>
                </a:tc>
                <a:tc>
                  <a:txBody>
                    <a:bodyPr wrap="square"/>
                    <a:lstStyle/>
                    <a:p>
                      <a:r>
                        <a:rPr sz="1600" b="0">
                          <a:solidFill>
                            <a:srgbClr val="1F2A44"/>
                          </a:solidFill>
                          <a:latin typeface="Arial"/>
                          <a:ea typeface="Microsoft YaHei"/>
                        </a:rPr>
                        <a:t>Let me think about that. / Take your time.</a:t>
                      </a:r>
                    </a:p>
                  </a:txBody>
                  <a:tcPr anchor="ctr">
                    <a:solidFill>
                      <a:srgbClr val="FFEFD9"/>
                    </a:solidFill>
                  </a:tcPr>
                </a:tc>
              </a:tr>
              <a:tr h="408432">
                <a:tc>
                  <a:txBody>
                    <a:bodyPr wrap="square"/>
                    <a:lstStyle/>
                    <a:p>
                      <a:r>
                        <a:rPr sz="1600" b="1">
                          <a:solidFill>
                            <a:srgbClr val="1F2A44"/>
                          </a:solidFill>
                          <a:latin typeface="Arial"/>
                          <a:ea typeface="Microsoft YaHei"/>
                        </a:rPr>
                        <a:t>Creativity</a:t>
                      </a:r>
                    </a:p>
                  </a:txBody>
                  <a:tcPr anchor="ctr">
                    <a:solidFill>
                      <a:srgbClr val="FFFFFF"/>
                    </a:solidFill>
                  </a:tcPr>
                </a:tc>
                <a:tc>
                  <a:txBody>
                    <a:bodyPr wrap="square"/>
                    <a:lstStyle/>
                    <a:p>
                      <a:r>
                        <a:rPr sz="1600" b="0">
                          <a:solidFill>
                            <a:srgbClr val="1F2A44"/>
                          </a:solidFill>
                          <a:latin typeface="Arial"/>
                          <a:ea typeface="Microsoft YaHei"/>
                        </a:rPr>
                        <a:t>What if we…? / Another option would be…</a:t>
                      </a:r>
                    </a:p>
                  </a:txBody>
                  <a:tcPr anchor="ctr">
                    <a:solidFill>
                      <a:srgbClr val="FFFFFF"/>
                    </a:solidFill>
                  </a:tcPr>
                </a:tc>
              </a:tr>
              <a:tr h="408432">
                <a:tc>
                  <a:txBody>
                    <a:bodyPr wrap="square"/>
                    <a:lstStyle/>
                    <a:p>
                      <a:r>
                        <a:rPr sz="1600" b="1">
                          <a:solidFill>
                            <a:srgbClr val="1F2A44"/>
                          </a:solidFill>
                          <a:latin typeface="Arial"/>
                          <a:ea typeface="Microsoft YaHei"/>
                        </a:rPr>
                        <a:t>Confidence</a:t>
                      </a:r>
                    </a:p>
                  </a:txBody>
                  <a:tcPr anchor="ctr">
                    <a:solidFill>
                      <a:srgbClr val="FFEFD9"/>
                    </a:solidFill>
                  </a:tcPr>
                </a:tc>
                <a:tc>
                  <a:txBody>
                    <a:bodyPr wrap="square"/>
                    <a:lstStyle/>
                    <a:p>
                      <a:r>
                        <a:rPr sz="1600" b="0">
                          <a:solidFill>
                            <a:srgbClr val="1F2A44"/>
                          </a:solidFill>
                          <a:latin typeface="Arial"/>
                          <a:ea typeface="Microsoft YaHei"/>
                        </a:rPr>
                        <a:t>We can do that if… / I’m afraid we can’t, because…</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Skills and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技巧与用语</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Firm but polite: </a:t>
            </a:r>
            <a:r>
              <a:rPr sz="1700" b="0">
                <a:solidFill>
                  <a:srgbClr val="1F2A44"/>
                </a:solidFill>
                <a:latin typeface="Arial"/>
                <a:ea typeface="Microsoft YaHei"/>
              </a:rPr>
              <a:t>“That’s not something we can do, but here’s what we can do.”</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did my homeworks.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did my homework.</a:t>
            </a:r>
          </a:p>
          <a:p>
            <a:pPr algn="l">
              <a:spcAft>
                <a:spcPts val="200"/>
              </a:spcAft>
            </a:pPr>
            <a:r>
              <a:rPr sz="1200" b="0">
                <a:solidFill>
                  <a:srgbClr val="FFFFFF"/>
                </a:solidFill>
                <a:latin typeface="Arial"/>
                <a:ea typeface="Microsoft YaHei"/>
              </a:rPr>
              <a:t>homework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is a trade-off among price and speed.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is a trade-off between price and speed.</a:t>
            </a:r>
          </a:p>
          <a:p>
            <a:pPr algn="l">
              <a:spcAft>
                <a:spcPts val="200"/>
              </a:spcAft>
            </a:pPr>
            <a:r>
              <a:rPr sz="1200" b="0">
                <a:solidFill>
                  <a:srgbClr val="FFFFFF"/>
                </a:solidFill>
                <a:latin typeface="Arial"/>
                <a:ea typeface="Microsoft YaHei"/>
              </a:rPr>
              <a:t>between A and B</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patient to wait.</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patient enough to wait. / I can wait patiently.</a:t>
            </a:r>
          </a:p>
          <a:p>
            <a:pPr algn="l">
              <a:spcAft>
                <a:spcPts val="200"/>
              </a:spcAft>
            </a:pPr>
            <a:r>
              <a:rPr sz="1200" b="0">
                <a:solidFill>
                  <a:srgbClr val="FFFFFF"/>
                </a:solidFill>
                <a:latin typeface="Arial"/>
                <a:ea typeface="Microsoft YaHei"/>
              </a:rPr>
              <a:t>副词/enough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prepare for the negotiation careful.</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prepare carefully for the negotiation.</a:t>
            </a:r>
          </a:p>
          <a:p>
            <a:pPr algn="l">
              <a:spcAft>
                <a:spcPts val="200"/>
              </a:spcAft>
            </a:pPr>
            <a:r>
              <a:rPr sz="1200" b="0">
                <a:solidFill>
                  <a:srgbClr val="FFFFFF"/>
                </a:solidFill>
                <a:latin typeface="Arial"/>
                <a:ea typeface="Microsoft YaHei"/>
              </a:rPr>
              <a:t>副词 carefully</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good at listen.</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good at listening.</a:t>
            </a:r>
          </a:p>
          <a:p>
            <a:pPr algn="l">
              <a:spcAft>
                <a:spcPts val="200"/>
              </a:spcAft>
            </a:pPr>
            <a:r>
              <a:rPr sz="1200" b="0">
                <a:solidFill>
                  <a:srgbClr val="FFFFFF"/>
                </a:solidFill>
                <a:latin typeface="Arial"/>
                <a:ea typeface="Microsoft YaHei"/>
              </a:rPr>
              <a:t>介词后 -ing</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Win-win means both win.</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Win-win means both sides benefit.</a:t>
            </a:r>
          </a:p>
          <a:p>
            <a:pPr algn="l">
              <a:spcAft>
                <a:spcPts val="200"/>
              </a:spcAft>
            </a:pPr>
            <a:r>
              <a:rPr sz="1200" b="0">
                <a:solidFill>
                  <a:srgbClr val="FFFFFF"/>
                </a:solidFill>
                <a:latin typeface="Arial"/>
                <a:ea typeface="Microsoft YaHei"/>
              </a:rPr>
              <a:t>更自然</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nouns (homework, advice, information), between … and, and -ing after prepositions.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Silence. In many Asian cultures, silence shows respect; in the US, it can feel awkward. Know which style you are facing.</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Relationship vs deal. In China, relationship-building often comes first; US negotiators may move faster to terms. Adapt, but be explicit.</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Time pressure. Deadlines are tools. Don’t reveal yours too early.</a:t>
            </a:r>
          </a:p>
        </p:txBody>
      </p:sp>
      <p:sp>
        <p:nvSpPr>
          <p:cNvPr id="18" name="Rounded Rectangle 17"/>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441959"/>
          </a:xfrm>
          <a:prstGeom prst="rect">
            <a:avLst/>
          </a:prstGeom>
          <a:noFill/>
        </p:spPr>
        <p:txBody>
          <a:bodyPr wrap="square" anchor="ctr">
            <a:spAutoFit/>
          </a:bodyPr>
          <a:lstStyle/>
          <a:p>
            <a:r>
              <a:rPr sz="1700" b="0">
                <a:solidFill>
                  <a:srgbClr val="1F2A44"/>
                </a:solidFill>
                <a:latin typeface="Arial"/>
                <a:ea typeface="Microsoft YaHei"/>
              </a:rPr>
              <a:t>Don’t take it personally. “No” is part of the process, not an insult.</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the six skills and give an example of each.</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prepare goals, limits and a fallback.</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open questions and use silence.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no firmly and politely.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22 The 6 most important negotiation skills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two skills with examples in 60 seconds. Then record the question-and-silence role play.</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uncountable nouns, between…and, -ing after prepositions.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5 · Lesson 23 How to ask for a raise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How to ask for a raise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如何要求加薪(谈判用语)</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prepare and make a confident, polite request for a raise or promotion, and respond to “no” or “not now” professionally.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asked for a raise? What happened?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many people find it hard to ask for more money?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evidence would you bring to support your request?</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is a good time to ask? When is a bad time?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alternatives to a pay rise?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题用现在完成时问经历。“raise”(美)= “pay rise”(英),都是”加薪”。</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Make your case for a pay rise in 60 seconds.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thank</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achievements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market value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request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to discuss my salary.   💬 Over the past year, I’ve…   💬 Based on this, I’d like to ask for…</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“I’d like to discuss…” 比 “I want…” 更礼貌。Over the past year, I’ve + 过去分词:现在完成时强调成果延续到现在。</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Facts, not feelings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Wei had worked at his company for three years without a raise. He was nervous. His mentor told him: “Don’t ask because you need more money. Ask because you deserve it, and show why.” Wei prepared a one-page summary. It listed his achievements: he had trained four new colleagues, reduced errors by 20 per cent, and led a project that saved £30,000. He also checked the market rate for his role. In the meeting, he said, “I’d like to discuss my salary. Over the past year, I’ve taken on extra responsibilities, and based on market data, I believe a ten per cent increase would be fair.” His manager asked for a week. Wei got seven per cent now and a promised review in six months. “Seven isn’t ten,” Wei said, “but I’m happy I asked. The worst answer would have been silence.”</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long had Wei waited for a raise?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Three years.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evidence did he bring?</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one-page summary of achievements and market data.</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was the result?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 got a 7 per cent raise and a review in six months.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Preparing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做准备</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pay rise (UK) / raise (US)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加薪</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ask for a pay rise.”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promotion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晋升</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got a promotion after two years.”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market rate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市场薪酬水平</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“Check the market rate for your role.”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a case for</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为…陈述理由</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made a strong case for a promotion.”</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on extra responsibilities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承担更多职责</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taken on extra responsibilities this year.”</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Asking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提出请求</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like to discuss my salary.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我想谈谈我的薪水</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you have time? I’d like to discuss my salary.”</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 the past year, I’ve…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过去一年里,我…</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“Over the past year, I’ve led three projects.”</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line with</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与…相符</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a salary in line with the market.”</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believe it’s reasonable to ask for…</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我认为要求…是合理的</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believe it’s reasonable to ask for 8 per cent.”</a:t>
            </a:r>
          </a:p>
        </p:txBody>
      </p:sp>
      <p:sp>
        <p:nvSpPr>
          <p:cNvPr id="29" name="Rounded Rectangle 28"/>
          <p:cNvSpPr/>
          <p:nvPr/>
        </p:nvSpPr>
        <p:spPr>
          <a:xfrm>
            <a:off x="548640" y="51460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add value</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51917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创造价值</a:t>
            </a:r>
          </a:p>
        </p:txBody>
      </p:sp>
      <p:sp>
        <p:nvSpPr>
          <p:cNvPr id="33" name="TextBox 32"/>
          <p:cNvSpPr txBox="1"/>
          <p:nvPr/>
        </p:nvSpPr>
        <p:spPr>
          <a:xfrm>
            <a:off x="6675120" y="51917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think I add value to the team.”</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Responding to “no”</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应对拒绝</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budget constraints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预算限制</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understand there are budget constraints.”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revisit (the topic)</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重新讨论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revisit this in six months?”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perks / benefits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福利</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look at other benefits, such as extra leave?”</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would I need to do to…?</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我需要做什么才能…?</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would I need to do to reach the next level?”</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compromise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折中方案</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find a compromise: five per cent now.”</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预算限制</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budget constraints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加薪</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 rise (UK) / raise (US)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我认为要求…是合理的</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 believe it’s reasonable to ask for…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市场薪酬水平</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market rate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与…相符</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 line with</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创造价值</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add value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福利</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perks / benefits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我需要做什么才能…?</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What would I need to do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rise</a:t>
            </a:r>
          </a:p>
        </p:txBody>
      </p:sp>
      <p:sp>
        <p:nvSpPr>
          <p:cNvPr id="10" name="Rounded Rectangle 9"/>
          <p:cNvSpPr/>
          <p:nvPr/>
        </p:nvSpPr>
        <p:spPr>
          <a:xfrm>
            <a:off x="2907792"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rate</a:t>
            </a:r>
          </a:p>
        </p:txBody>
      </p:sp>
      <p:sp>
        <p:nvSpPr>
          <p:cNvPr id="11" name="Rounded Rectangle 10"/>
          <p:cNvSpPr/>
          <p:nvPr/>
        </p:nvSpPr>
        <p:spPr>
          <a:xfrm>
            <a:off x="3803904"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case</a:t>
            </a:r>
          </a:p>
        </p:txBody>
      </p:sp>
      <p:sp>
        <p:nvSpPr>
          <p:cNvPr id="12" name="Rounded Rectangle 11"/>
          <p:cNvSpPr/>
          <p:nvPr/>
        </p:nvSpPr>
        <p:spPr>
          <a:xfrm>
            <a:off x="4700016"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line</a:t>
            </a:r>
          </a:p>
        </p:txBody>
      </p:sp>
      <p:sp>
        <p:nvSpPr>
          <p:cNvPr id="13" name="Rounded Rectangle 12"/>
          <p:cNvSpPr/>
          <p:nvPr/>
        </p:nvSpPr>
        <p:spPr>
          <a:xfrm>
            <a:off x="5596128"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revisit</a:t>
            </a:r>
          </a:p>
        </p:txBody>
      </p:sp>
      <p:sp>
        <p:nvSpPr>
          <p:cNvPr id="14" name="Rounded Rectangle 13"/>
          <p:cNvSpPr/>
          <p:nvPr/>
        </p:nvSpPr>
        <p:spPr>
          <a:xfrm>
            <a:off x="6821424"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compromise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I’d like to ask for a pay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rise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Check the market _______ for your role.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rate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She made a strong _______ for a promotion.</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case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I’d like a salary in _______ with the market.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line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Could we _______ this in six months?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revisit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find a _______: five per cent now.</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compromise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(英美差异) pay rise (UK) = raise (US); salary (月薪/年薪) vs wage (时薪); spelling: responsibilities, promotion.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Making the request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提出加薪请求</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ask your manager for a raise, with evidence.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Wei Chen, 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Parker, manager</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Model Dialogue · Making the request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seeing me, Ms Parker. I’d like to discuss my salary.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Parker</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What’s on your mind?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Over the past year, I’ve trained four new colleagues and led a project that saved 30,000. I’ve also taken on extra responsibilities.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noticed. And what are you proposing?</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Making the request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Based on the market rate, I believe it’s reasonable to ask for a ten per cent increase.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significant. I’ll need to check the budget.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Could we meet again next week to discuss it?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let’s do that. Send me your summary.</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Making the request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ask your manager for a pay rise.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Your achievements: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who is open but cautious.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to discuss my salary · Over the past year, I’ve… · market rate · reasonable to ask for… · add value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Make your case in 60 seconds and ask for a clear number.</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Stay calm if the manager says “That’s a lot.”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time: “When can I expect an answer?”</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Thank them for listening.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When the answer is “not now”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对方说”现在不行”</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manager says there is no budget. You explore alternatives.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Wei Chen, 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Parker, manager</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When the answer is “not now”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Parker</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Wei, I appreciate your work, but there are budget constraints this year. I can’t offer ten per cent.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Wei</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Is there anything you could do now?</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Perhaps five per cent, and a review in six months.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we look at other options too, such as extra leave or training?</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When the answer is “not now”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could probably offer two extra days of leave.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helpful. Could we agree to revisit the salary in six months, with clear targets?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Let’s define them together.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What would I need to do to reach the next level?</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When the answer is “not now”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Your manager says no budget; you look for an alternative.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with budget limits.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understand · Is there anything you could do now? · other options · revisit · What would I need to do to…?</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Negotiate a compromise and next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it in writing: “Could you confirm that by email?”</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ultimatums such as “Raise my pay or I’ll quit.”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positively: “I’m committed to the team.”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is a good time to ask for a raise?</a:t>
            </a:r>
          </a:p>
          <a:p>
            <a:pPr algn="l">
              <a:lnSpc>
                <a:spcPct val="115000"/>
              </a:lnSpc>
              <a:spcAft>
                <a:spcPts val="800"/>
              </a:spcAft>
            </a:pPr>
            <a:r>
              <a:rPr sz="1400" b="0">
                <a:solidFill>
                  <a:srgbClr val="5F677A"/>
                </a:solidFill>
                <a:latin typeface="Arial"/>
                <a:ea typeface="Microsoft YaHei"/>
              </a:rPr>
              <a:t>💬 “After…” / “During the annual review…”</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evidence should you bring?</a:t>
            </a:r>
          </a:p>
          <a:p>
            <a:pPr algn="l">
              <a:lnSpc>
                <a:spcPct val="115000"/>
              </a:lnSpc>
              <a:spcAft>
                <a:spcPts val="800"/>
              </a:spcAft>
            </a:pPr>
            <a:r>
              <a:rPr sz="1400" b="0">
                <a:solidFill>
                  <a:srgbClr val="5F677A"/>
                </a:solidFill>
                <a:latin typeface="Arial"/>
                <a:ea typeface="Microsoft YaHei"/>
              </a:rPr>
              <a:t>💬 “Concrete results such as…” / “Market data…”</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mention another job offer?</a:t>
            </a:r>
          </a:p>
          <a:p>
            <a:pPr algn="l">
              <a:lnSpc>
                <a:spcPct val="115000"/>
              </a:lnSpc>
              <a:spcAft>
                <a:spcPts val="800"/>
              </a:spcAft>
            </a:pPr>
            <a:r>
              <a:rPr sz="1400" b="0">
                <a:solidFill>
                  <a:srgbClr val="5F677A"/>
                </a:solidFill>
                <a:latin typeface="Arial"/>
                <a:ea typeface="Microsoft YaHei"/>
              </a:rPr>
              <a:t>💬 “It can work if… but it’s risky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alternatives to more money?</a:t>
            </a:r>
          </a:p>
          <a:p>
            <a:pPr algn="l">
              <a:lnSpc>
                <a:spcPct val="115000"/>
              </a:lnSpc>
              <a:spcAft>
                <a:spcPts val="800"/>
              </a:spcAft>
            </a:pPr>
            <a:r>
              <a:rPr sz="1400" b="0">
                <a:solidFill>
                  <a:srgbClr val="5F677A"/>
                </a:solidFill>
                <a:latin typeface="Arial"/>
                <a:ea typeface="Microsoft YaHei"/>
              </a:rPr>
              <a:t>💬 “Other options include…” / “I’d value…”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salaries be transparent?</a:t>
            </a:r>
          </a:p>
          <a:p>
            <a:pPr algn="l">
              <a:lnSpc>
                <a:spcPct val="115000"/>
              </a:lnSpc>
              <a:spcAft>
                <a:spcPts val="800"/>
              </a:spcAft>
            </a:pPr>
            <a:r>
              <a:rPr sz="1400" b="0">
                <a:solidFill>
                  <a:srgbClr val="5F677A"/>
                </a:solidFill>
                <a:latin typeface="Arial"/>
                <a:ea typeface="Microsoft YaHei"/>
              </a:rPr>
              <a:t>💬 “Yes, because… / No,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The best time is after a success, such as finishing a big project, or during the annual review. You should avoid asking when the company is struggling or when your manager is stressed. I’d also give notice:”Could we find time to discuss my role?” That gives my manager time to prepare, and it shows I’m serious.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“such as” = 例如;“give notice” 这里指”提前告知”;“show I’m serious” = 表明我是认真的。</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Polite but confident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礼貌而自信的表达</a:t>
            </a:r>
          </a:p>
        </p:txBody>
      </p:sp>
      <p:graphicFrame>
        <p:nvGraphicFramePr>
          <p:cNvPr id="9" name="Table 8"/>
          <p:cNvGraphicFramePr>
            <a:graphicFrameLocks noGrp="1"/>
          </p:cNvGraphicFramePr>
          <p:nvPr/>
        </p:nvGraphicFramePr>
        <p:xfrm>
          <a:off x="548640" y="1417320"/>
          <a:ext cx="11094415" cy="2365248"/>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Too weak</a:t>
                      </a:r>
                    </a:p>
                  </a:txBody>
                  <a:tcPr anchor="ctr">
                    <a:solidFill>
                      <a:srgbClr val="3CC49A"/>
                    </a:solidFill>
                  </a:tcPr>
                </a:tc>
                <a:tc>
                  <a:txBody>
                    <a:bodyPr wrap="square"/>
                    <a:lstStyle/>
                    <a:p>
                      <a:r>
                        <a:rPr sz="1600" b="1">
                          <a:solidFill>
                            <a:srgbClr val="FFFFFF"/>
                          </a:solidFill>
                          <a:latin typeface="Arial"/>
                          <a:ea typeface="Microsoft YaHei"/>
                        </a:rPr>
                        <a:t>Too strong</a:t>
                      </a:r>
                    </a:p>
                  </a:txBody>
                  <a:tcPr anchor="ctr">
                    <a:solidFill>
                      <a:srgbClr val="3CC49A"/>
                    </a:solidFill>
                  </a:tcPr>
                </a:tc>
                <a:tc>
                  <a:txBody>
                    <a:bodyPr wrap="square"/>
                    <a:lstStyle/>
                    <a:p>
                      <a:r>
                        <a:rPr sz="1600" b="1">
                          <a:solidFill>
                            <a:srgbClr val="FFFFFF"/>
                          </a:solidFill>
                          <a:latin typeface="Arial"/>
                          <a:ea typeface="Microsoft YaHei"/>
                        </a:rPr>
                        <a:t>Just right</a:t>
                      </a:r>
                    </a:p>
                  </a:txBody>
                  <a:tcPr anchor="ctr">
                    <a:solidFill>
                      <a:srgbClr val="3CC49A"/>
                    </a:solidFill>
                  </a:tcPr>
                </a:tc>
              </a:tr>
              <a:tr h="652272">
                <a:tc>
                  <a:txBody>
                    <a:bodyPr wrap="square"/>
                    <a:lstStyle/>
                    <a:p>
                      <a:r>
                        <a:rPr sz="1600" b="1">
                          <a:solidFill>
                            <a:srgbClr val="1F2A44"/>
                          </a:solidFill>
                          <a:latin typeface="Arial"/>
                          <a:ea typeface="Microsoft YaHei"/>
                        </a:rPr>
                        <a:t>Sorry, could I maybe ask about money?</a:t>
                      </a:r>
                    </a:p>
                  </a:txBody>
                  <a:tcPr anchor="ctr">
                    <a:solidFill>
                      <a:srgbClr val="FFFFFF"/>
                    </a:solidFill>
                  </a:tcPr>
                </a:tc>
                <a:tc>
                  <a:txBody>
                    <a:bodyPr wrap="square"/>
                    <a:lstStyle/>
                    <a:p>
                      <a:r>
                        <a:rPr sz="1600" b="0">
                          <a:solidFill>
                            <a:srgbClr val="1F2A44"/>
                          </a:solidFill>
                          <a:latin typeface="Arial"/>
                          <a:ea typeface="Microsoft YaHei"/>
                        </a:rPr>
                        <a:t>Give me a raise.</a:t>
                      </a:r>
                    </a:p>
                  </a:txBody>
                  <a:tcPr anchor="ctr">
                    <a:solidFill>
                      <a:srgbClr val="FFFFFF"/>
                    </a:solidFill>
                  </a:tcPr>
                </a:tc>
                <a:tc>
                  <a:txBody>
                    <a:bodyPr wrap="square"/>
                    <a:lstStyle/>
                    <a:p>
                      <a:r>
                        <a:rPr sz="1600" b="0">
                          <a:solidFill>
                            <a:srgbClr val="1F2A44"/>
                          </a:solidFill>
                          <a:latin typeface="Arial"/>
                          <a:ea typeface="Microsoft YaHei"/>
                        </a:rPr>
                        <a:t>I’d like to discuss my salary.</a:t>
                      </a:r>
                    </a:p>
                  </a:txBody>
                  <a:tcPr anchor="ctr">
                    <a:solidFill>
                      <a:srgbClr val="FFFFFF"/>
                    </a:solidFill>
                  </a:tcPr>
                </a:tc>
              </a:tr>
              <a:tr h="652272">
                <a:tc>
                  <a:txBody>
                    <a:bodyPr wrap="square"/>
                    <a:lstStyle/>
                    <a:p>
                      <a:r>
                        <a:rPr sz="1600" b="1">
                          <a:solidFill>
                            <a:srgbClr val="1F2A44"/>
                          </a:solidFill>
                          <a:latin typeface="Arial"/>
                          <a:ea typeface="Microsoft YaHei"/>
                        </a:rPr>
                        <a:t>I think I’m OK with whatever.</a:t>
                      </a:r>
                    </a:p>
                  </a:txBody>
                  <a:tcPr anchor="ctr">
                    <a:solidFill>
                      <a:srgbClr val="FFEFD9"/>
                    </a:solidFill>
                  </a:tcPr>
                </a:tc>
                <a:tc>
                  <a:txBody>
                    <a:bodyPr wrap="square"/>
                    <a:lstStyle/>
                    <a:p>
                      <a:r>
                        <a:rPr sz="1600" b="0">
                          <a:solidFill>
                            <a:srgbClr val="1F2A44"/>
                          </a:solidFill>
                          <a:latin typeface="Arial"/>
                          <a:ea typeface="Microsoft YaHei"/>
                        </a:rPr>
                        <a:t>I deserve 20%.</a:t>
                      </a:r>
                    </a:p>
                  </a:txBody>
                  <a:tcPr anchor="ctr">
                    <a:solidFill>
                      <a:srgbClr val="FFEFD9"/>
                    </a:solidFill>
                  </a:tcPr>
                </a:tc>
                <a:tc>
                  <a:txBody>
                    <a:bodyPr wrap="square"/>
                    <a:lstStyle/>
                    <a:p>
                      <a:r>
                        <a:rPr sz="1600" b="0">
                          <a:solidFill>
                            <a:srgbClr val="1F2A44"/>
                          </a:solidFill>
                          <a:latin typeface="Arial"/>
                          <a:ea typeface="Microsoft YaHei"/>
                        </a:rPr>
                        <a:t>Based on my results, I’d like to ask for 8%.</a:t>
                      </a:r>
                    </a:p>
                  </a:txBody>
                  <a:tcPr anchor="ctr">
                    <a:solidFill>
                      <a:srgbClr val="FFEFD9"/>
                    </a:solidFill>
                  </a:tcPr>
                </a:tc>
              </a:tr>
              <a:tr h="652272">
                <a:tc>
                  <a:txBody>
                    <a:bodyPr wrap="square"/>
                    <a:lstStyle/>
                    <a:p>
                      <a:r>
                        <a:rPr sz="1600" b="1">
                          <a:solidFill>
                            <a:srgbClr val="1F2A44"/>
                          </a:solidFill>
                          <a:latin typeface="Arial"/>
                          <a:ea typeface="Microsoft YaHei"/>
                        </a:rPr>
                        <a:t>It’s only a little bit.</a:t>
                      </a:r>
                    </a:p>
                  </a:txBody>
                  <a:tcPr anchor="ctr">
                    <a:solidFill>
                      <a:srgbClr val="FFFFFF"/>
                    </a:solidFill>
                  </a:tcPr>
                </a:tc>
                <a:tc>
                  <a:txBody>
                    <a:bodyPr wrap="square"/>
                    <a:lstStyle/>
                    <a:p>
                      <a:r>
                        <a:rPr sz="1600" b="0">
                          <a:solidFill>
                            <a:srgbClr val="1F2A44"/>
                          </a:solidFill>
                          <a:latin typeface="Arial"/>
                          <a:ea typeface="Microsoft YaHei"/>
                        </a:rPr>
                        <a:t>You owe me.</a:t>
                      </a:r>
                    </a:p>
                  </a:txBody>
                  <a:tcPr anchor="ctr">
                    <a:solidFill>
                      <a:srgbClr val="FFFFFF"/>
                    </a:solidFill>
                  </a:tcPr>
                </a:tc>
                <a:tc>
                  <a:txBody>
                    <a:bodyPr wrap="square"/>
                    <a:lstStyle/>
                    <a:p>
                      <a:r>
                        <a:rPr sz="1600" b="0">
                          <a:solidFill>
                            <a:srgbClr val="1F2A44"/>
                          </a:solidFill>
                          <a:latin typeface="Arial"/>
                          <a:ea typeface="Microsoft YaHei"/>
                        </a:rPr>
                        <a:t>I believe it’s reasonable to ask for…</a:t>
                      </a:r>
                    </a:p>
                  </a:txBody>
                  <a:tcPr anchor="ctr">
                    <a:solidFill>
                      <a:srgbClr val="FFFFFF"/>
                    </a:solidFill>
                  </a:tcPr>
                </a:tc>
              </a:tr>
            </a:tbl>
          </a:graphicData>
        </a:graphic>
      </p:graphicFrame>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Polite but confident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礼貌而自信的表达</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numbers, not adjectives: </a:t>
            </a:r>
            <a:r>
              <a:rPr sz="1700" b="0">
                <a:solidFill>
                  <a:srgbClr val="1F2A44"/>
                </a:solidFill>
                <a:latin typeface="Arial"/>
                <a:ea typeface="Microsoft YaHei"/>
              </a:rPr>
              <a:t>“I reduced errors by 20 per cent” beats “I work very hard”.</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add my salary.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ask for a pay rise.</a:t>
            </a:r>
          </a:p>
          <a:p>
            <a:pPr algn="l">
              <a:spcAft>
                <a:spcPts val="200"/>
              </a:spcAft>
            </a:pPr>
            <a:r>
              <a:rPr sz="1200" b="0">
                <a:solidFill>
                  <a:srgbClr val="FFFFFF"/>
                </a:solidFill>
                <a:latin typeface="Arial"/>
                <a:ea typeface="Microsoft YaHei"/>
              </a:rPr>
              <a:t>不说 add salary</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ask for rise from 5000 to 6000.</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asking for a rise from 5,000 to 6,000.</a:t>
            </a:r>
          </a:p>
          <a:p>
            <a:pPr algn="l">
              <a:spcAft>
                <a:spcPts val="200"/>
              </a:spcAft>
            </a:pPr>
            <a:r>
              <a:rPr sz="1200" b="0">
                <a:solidFill>
                  <a:srgbClr val="FFFFFF"/>
                </a:solidFill>
                <a:latin typeface="Arial"/>
                <a:ea typeface="Microsoft YaHei"/>
              </a:rPr>
              <a:t>现在进行时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worked here since three years.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worked here for three years.</a:t>
            </a:r>
          </a:p>
          <a:p>
            <a:pPr algn="l">
              <a:spcAft>
                <a:spcPts val="200"/>
              </a:spcAft>
            </a:pPr>
            <a:r>
              <a:rPr sz="1200" b="0">
                <a:solidFill>
                  <a:srgbClr val="FFFFFF"/>
                </a:solidFill>
                <a:latin typeface="Arial"/>
                <a:ea typeface="Microsoft YaHei"/>
              </a:rPr>
              <a:t>for + 时间段</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boss doesn’t agree my request.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boss didn’t agree to my request.</a:t>
            </a:r>
          </a:p>
          <a:p>
            <a:pPr algn="l">
              <a:spcAft>
                <a:spcPts val="200"/>
              </a:spcAft>
            </a:pPr>
            <a:r>
              <a:rPr sz="1200" b="0">
                <a:solidFill>
                  <a:srgbClr val="FFFFFF"/>
                </a:solidFill>
                <a:latin typeface="Arial"/>
                <a:ea typeface="Microsoft YaHei"/>
              </a:rPr>
              <a:t>agree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did a lot of efforts.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made a lot of effort.</a:t>
            </a:r>
          </a:p>
          <a:p>
            <a:pPr algn="l">
              <a:spcAft>
                <a:spcPts val="200"/>
              </a:spcAft>
            </a:pPr>
            <a:r>
              <a:rPr sz="1200" b="0">
                <a:solidFill>
                  <a:srgbClr val="FFFFFF"/>
                </a:solidFill>
                <a:latin typeface="Arial"/>
                <a:ea typeface="Microsoft YaHei"/>
              </a:rPr>
              <a:t>effort 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deserve to get a higher payment.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deserve a higher salary.</a:t>
            </a:r>
          </a:p>
          <a:p>
            <a:pPr algn="l">
              <a:spcAft>
                <a:spcPts val="200"/>
              </a:spcAft>
            </a:pPr>
            <a:r>
              <a:rPr sz="1200" b="0">
                <a:solidFill>
                  <a:srgbClr val="FFFFFF"/>
                </a:solidFill>
                <a:latin typeface="Arial"/>
                <a:ea typeface="Microsoft YaHei"/>
              </a:rPr>
              <a:t>工资用 salary</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for / since, agree to, uncountable effort, and salary (not “payment”).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Asking is normal. In the UK and US, asking for a raise is seen as professional if you give evidence.</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Never threaten. Don’t use ultimatums unless you really are ready to leave.</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Timing. Avoid asking during layoffs or just before holidays. Book a meeting in advance.</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Salary is private. Don’t compare salaries with colleagues in public; use market data instead.</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a short, evidence-based case for a raise.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a specific number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“no” or “not now” professionally.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alternatives to a raise.</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 · Lesson 23 How to ask for a raise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Record your 60-second case for a raise. Then record the “not now” conversation.</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for/since, agree to, uncountable effort, salary vs payment.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use silence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Use silence after your offer. Don’t rush to fill it.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我认为要求…是合理的</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believe it’s reasonable to ask for…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敲定细节</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iron out the details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福利</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perks / benefits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We’d be prepared to…</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We’d be prepared to extend the contract.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That price is impossible.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afraid that’s a little higher than we expected.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“不要着急”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your time</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“敲定交易”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seal the deal</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“取舍”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trade-off</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If you will order 500, we give you a discount.</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If you order 500, we’ll give you a discount.</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My boss doesn’t agree my request.</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My boss didn’t agree to my request.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5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