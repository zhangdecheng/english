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7–8</a:t>
            </a:r>
          </a:p>
          <a:p>
            <a:r>
              <a:t>Unit 1: Business Meetings — Self-Study Workbook (Lessons 01–05)</a:t>
            </a:r>
          </a:p>
          <a:p/>
          <a:p>
            <a:r>
              <a:t>开场：简单介绍本单元的主题和要完成的 5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01 · Online meetings 线上会议</a:t>
            </a:r>
          </a:p>
          <a:p>
            <a:r>
              <a:t>Goal: run and join online meetings smoothly: solve audio and video problems, take turns politely, keep the call on track, and wrap up with a clear recap.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题讲过去的事,请用过去式(froze, dropped, couldn’t hear)。第 5 题可以用 “I’d… / We could…” 提建议。</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the best and the worst online meeting you have been in.</a:t>
            </a:r>
          </a:p>
          <a:p>
            <a:r>
              <a:t>Say: what the meeting was about → what went well or badly → what you would change.</a:t>
            </a:r>
          </a:p>
          <a:p>
            <a:r>
              <a:t>Useful starters: “The worst one was…” / “It would have been better if we’d…” / “What I’d do differently is…”</a:t>
            </a:r>
          </a:p>
          <a:p>
            <a:r>
              <a:t>“It would have been better if we’d + 过去分词” 是第三类条件句,用来谈过去的遗憾。例:It would have been better if we’d sent an agenda.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When Leila’s team went fully online, nobody agreed on one simple question: should cameras be on or off? Her manager, Tom, wanted faces on the screen. “It helps me see how people react,” he said. Others felt differently. Priya said that staring at her own face for an hour left her drained, and Marco often joined from a noisy flat with a weak connection, so video made the call freeze. After a month of frustration, the team agreed on a compromise. Cameras are on for the first five minutes, so everyone can say hello, and again for important decisions. Otherwise, people choose. They also introduced a chat rule: questions go in the chat, and the chair checks it every ten minutes. Six weeks later, meetings were shorter and calmer. Tom admitted he had pushed too hard. “I wanted to feel connected,” he said, “but connection doesn’t depend on a camera. It depends on whether people feel heard.”</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did Priya and Marco find video difficult?</a:t>
            </a:r>
          </a:p>
          <a:p>
            <a:r>
              <a:t>A: Priya felt drained by staring at her own face; Marco had a weak connection, so video made the call freeze.</a:t>
            </a:r>
          </a:p>
          <a:p>
            <a:r>
              <a:t>Q2. What is the team’s compromise about cameras?</a:t>
            </a:r>
          </a:p>
          <a:p>
            <a:r>
              <a:t>A: Cameras are on at the start and for important decisions; otherwise it is the person’s choice.</a:t>
            </a:r>
          </a:p>
          <a:p>
            <a:r>
              <a:t>Q3. What did Tom learn?</a:t>
            </a:r>
          </a:p>
          <a:p>
            <a:r>
              <a:t>A: Feeling connected depends on people feeling heard, not on cameras.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Joining and technical set-up 加入会议与技术准备</a:t>
            </a:r>
          </a:p>
          <a:p>
            <a:r>
              <a:t>领读 → 学员跟读 → 请学员用表达造一个和自己工作相关的句子。</a:t>
            </a:r>
          </a:p>
          <a:p>
            <a:r>
              <a:t>join the call (verb phrase) 加入通话 — “Sorry I’m late. I couldn’t join the call until the link worked.”</a:t>
            </a:r>
          </a:p>
          <a:p>
            <a:r>
              <a:t>share my screen (verb phrase) 共享我的屏幕 — “Let me share my screen so you can see the figures.”</a:t>
            </a:r>
          </a:p>
          <a:p>
            <a:r>
              <a:t>You’re on mute. (phrase) 你静音了 — “Anna, you’re on mute. We can’t hear you.”</a:t>
            </a:r>
          </a:p>
          <a:p>
            <a:r>
              <a:t>★ You’re breaking up. (phrase) 你的声音断断续续 — “Sorry, you’re breaking up. Could you turn your camera off for a moment?”</a:t>
            </a:r>
          </a:p>
          <a:p>
            <a:r>
              <a:t>Can everyone hear me OK? (phrase) 大家都能听到我吗? — “Can everyone hear me OK before I start?”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Running the meeting 主持会议</a:t>
            </a:r>
          </a:p>
          <a:p>
            <a:r>
              <a:t>领读 → 学员跟读 → 请学员用表达造一个和自己工作相关的句子。</a:t>
            </a:r>
          </a:p>
          <a:p>
            <a:r>
              <a:t>chair a meeting (collocation) 主持会议 — “Dan will chair today’s meeting.”</a:t>
            </a:r>
          </a:p>
          <a:p>
            <a:r>
              <a:t>agenda (noun) 议程 — “Let’s go through the agenda first.”</a:t>
            </a:r>
          </a:p>
          <a:p>
            <a:r>
              <a:t>★ get the ball rolling (idiom) 开始行动,启动 — “It’s ten o’clock, so let’s get the ball rolling.”</a:t>
            </a:r>
          </a:p>
          <a:p>
            <a:r>
              <a:t>★ take it offline (phrase) 会后单独讨论 — “That’s a big topic. Let’s take it offline.”</a:t>
            </a:r>
          </a:p>
          <a:p>
            <a:r>
              <a:t>raise your hand / use the chat (phrase) 举手 / 用聊天框 — “If you have a question, raise your hand or use the chat.”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Taking part and wrapping up 参与与收尾</a:t>
            </a:r>
          </a:p>
          <a:p>
            <a:r>
              <a:t>领读 → 学员跟读 → 请学员用表达造一个和自己工作相关的句子。</a:t>
            </a:r>
          </a:p>
          <a:p>
            <a:r>
              <a:t>★ Sorry to jump in, but… (phrase) 抱歉插一句… — “Sorry to jump in, but could you go back to the previous slide?”</a:t>
            </a:r>
          </a:p>
          <a:p>
            <a:r>
              <a:t>I didn’t catch that. (phrase) 我没听清 — “Sorry, I didn’t catch that. Could you say it again?”</a:t>
            </a:r>
          </a:p>
          <a:p>
            <a:r>
              <a:t>★ Let me recap. (phrase) 我来总结一下 — “Let me recap: Ben will update the budget by Friday.”</a:t>
            </a:r>
          </a:p>
          <a:p>
            <a:r>
              <a:t>action item (noun) 待办事项 — “We have three action items from today’s call.”</a:t>
            </a:r>
          </a:p>
          <a:p>
            <a:r>
              <a:t>★ drop off (phrasal verb) 中途退出通话 — “I have to drop off at eleven, but Lin will cover the rest.”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mute / chair / agenda / recap / offline / catch</a:t>
            </a:r>
          </a:p>
          <a:p>
            <a:r>
              <a:t>1. Anna, you’re on _______. We can’t hear you. → mute</a:t>
            </a:r>
          </a:p>
          <a:p>
            <a:r>
              <a:t>2. Dan will _______ today’s meeting. → chair</a:t>
            </a:r>
          </a:p>
          <a:p>
            <a:r>
              <a:t>3. Let’s go through the _______ first. → agenda</a:t>
            </a:r>
          </a:p>
          <a:p>
            <a:r>
              <a:t>4. That’s a big topic. Let’s take it _______. → offline</a:t>
            </a:r>
          </a:p>
          <a:p>
            <a:r>
              <a:t>5. Sorry, I didn’t _______ that. Could you say it again? → catch</a:t>
            </a:r>
          </a:p>
          <a:p>
            <a:r>
              <a:t>6. Let me _______: Ben will update the budget by Friday. → recap</a:t>
            </a:r>
          </a:p>
          <a:p>
            <a:r>
              <a:t>Mistake Watch: (搭配与拼写) attend a meeting but join a call (no “to”); have / hold a meeting (not “do a meeting”). Spelling: agenda, schedule, separate.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a team call with a technical problem 开场与技术问题</a:t>
            </a:r>
          </a:p>
          <a:p>
            <a:r>
              <a:t>情景：You chair a weekly team call. One colleague joins late and has sound problems.</a:t>
            </a:r>
          </a:p>
          <a:p>
            <a:r>
              <a:t>Role A: Mia Chen, team lead (chair) Role B: Karl Weber, team member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(Mia): Good morning, everyone. It’s ten o’clock, so let’s get the ball rolling. First, can everyone hear me OK?</a:t>
            </a:r>
          </a:p>
          <a:p>
            <a:r>
              <a:t>B (Karl): Hi, Mia. Sorry I’m late. I had trouble joining the call. Can you hear me?</a:t>
            </a:r>
          </a:p>
          <a:p>
            <a:r>
              <a:t>A: Not yet, Karl. You’re on mute.</a:t>
            </a:r>
          </a:p>
          <a:p>
            <a:r>
              <a:t>B: Sorry about that. Is that better?</a:t>
            </a:r>
          </a:p>
          <a:p>
            <a:r>
              <a:t>A: Much better, thanks. We have three items on the agenda. Karl, could you share your screen and take us through the launch plan?</a:t>
            </a:r>
          </a:p>
          <a:p>
            <a:r>
              <a:t>B: Sure. Give me a second… Can you see the timeline?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Yes, we can.</a:t>
            </a:r>
          </a:p>
          <a:p>
            <a:r>
              <a:t>B: The launch is set for 14 October, but the supplier is a week behind.</a:t>
            </a:r>
          </a:p>
          <a:p>
            <a:r>
              <a:t>A: Sorry to jump in, Karl, but you’re breaking up a little. Could you turn your camera off?</a:t>
            </a:r>
          </a:p>
          <a:p>
            <a:r>
              <a:t>B: Of course. Is that any better?</a:t>
            </a:r>
          </a:p>
          <a:p>
            <a:r>
              <a:t>A: Yes, that’s fine. Let’s take the supplier delay offline, and I’ll set up a short call after this meeting.</a:t>
            </a:r>
          </a:p>
          <a:p>
            <a:r>
              <a:t>B: Sounds good. I’ll send you the numbers.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 | </a:t>
            </a:r>
          </a:p>
          <a:p>
            <a:r>
              <a:t>Situation | You chair a short team video call and a colleague has audio problems.</a:t>
            </a:r>
          </a:p>
          <a:p>
            <a:r>
              <a:t>Your role (A) | Chair. The meeting topic: ______________</a:t>
            </a:r>
          </a:p>
          <a:p>
            <a:r>
              <a:t>Partner’s role (B) | Team member who joins late with a technical problem.</a:t>
            </a:r>
          </a:p>
          <a:p>
            <a:r>
              <a:t>Must use (4 or more) | Can everyone hear me OK? · You’re on mute. · Let’s get the ball rolling. · Sorry to jump in, but… · Let’s take it offline.</a:t>
            </a:r>
          </a:p>
          <a:p>
            <a:r>
              <a:t>Goal | Open the call, fix one technical problem, and cover two agenda items in about 90 seconds.</a:t>
            </a:r>
          </a:p>
          <a:p>
            <a:r>
              <a:t>My notes | ____________________________________________</a:t>
            </a:r>
          </a:p>
          <a:p>
            <a:r>
              <a:t>Two people speak at once. Manage it politely: “Let’s take it one at a time. Karl, go ahead.”</a:t>
            </a:r>
          </a:p>
          <a:p>
            <a:r>
              <a:t>Someone goes off topic. Park the point: “That’s a good point, but it’s outside today’s agenda. Let’s take it offline.”</a:t>
            </a:r>
          </a:p>
          <a:p>
            <a:r>
              <a:t>Your own connection is poor. Say so and offer a fix: “I’m having connection problems. I’ll turn my camera off, and I’ll type in the chat if I drop out.”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Wrapping up a client call 与客户收尾</a:t>
            </a:r>
          </a:p>
          <a:p>
            <a:r>
              <a:t>情景：You end a client video call: recap the decisions, give action items and fix the next meeting.</a:t>
            </a:r>
          </a:p>
          <a:p>
            <a:r>
              <a:t>Role A: Li Wei, account manager (chair) Role B: Sophie Taylor, client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We’re almost out of time, so let me recap. We agreed to move the delivery to 20 November.</a:t>
            </a:r>
          </a:p>
          <a:p>
            <a:r>
              <a:t>B (Sophie): Right. And you’ll send the updated quote?</a:t>
            </a:r>
          </a:p>
          <a:p>
            <a:r>
              <a:t>A: Yes, I’ll send it by Wednesday. That’s the first action item. Sophie, could you confirm the delivery address?</a:t>
            </a:r>
          </a:p>
          <a:p>
            <a:r>
              <a:t>B: I’ll check with our warehouse and get back to you by Thursday.</a:t>
            </a:r>
          </a:p>
          <a:p>
            <a:r>
              <a:t>A: Great. I’ll circulate the minutes this afternoon, so we have everything in writing.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Perfect. Sorry, I have to drop off in two minutes. Is there anything else?</a:t>
            </a:r>
          </a:p>
          <a:p>
            <a:r>
              <a:t>A: Just the next meeting. Does the same time next Tuesday work for you?</a:t>
            </a:r>
          </a:p>
          <a:p>
            <a:r>
              <a:t>B: Tuesday’s fine. Could you send a calendar invite?</a:t>
            </a:r>
          </a:p>
          <a:p>
            <a:r>
              <a:t>A: Will do. Thanks for your time, Sophie. Have a good rest of your day.</a:t>
            </a:r>
          </a:p>
          <a:p>
            <a:r>
              <a:t>B: Thank you. Speak next week. Bye!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 | </a:t>
            </a:r>
          </a:p>
          <a:p>
            <a:r>
              <a:t>Situation | The end of a client video call.</a:t>
            </a:r>
          </a:p>
          <a:p>
            <a:r>
              <a:t>Your role (A) | Chair. Your company and client: ______________</a:t>
            </a:r>
          </a:p>
          <a:p>
            <a:r>
              <a:t>Partner’s role (B) | Client who has to leave early.</a:t>
            </a:r>
          </a:p>
          <a:p>
            <a:r>
              <a:t>Must use (3 or more) | Let me recap · action item · I’ll send… by… · Does… work for you? · drop off</a:t>
            </a:r>
          </a:p>
          <a:p>
            <a:r>
              <a:t>Goal | Recap three points, give two action items with deadlines, agree the next meeting.</a:t>
            </a:r>
          </a:p>
          <a:p>
            <a:r>
              <a:t>My notes | ____________________________________________</a:t>
            </a:r>
          </a:p>
          <a:p>
            <a:r>
              <a:t>The client disagrees with your recap. Correct it politely: “Sorry, I may have misunderstood. I had the 20th, not the 18th. Let me check my notes.”</a:t>
            </a:r>
          </a:p>
          <a:p>
            <a:r>
              <a:t>Keep by (deadline) and in (after a period) apart: “by Friday” / “in two days”.</a:t>
            </a:r>
          </a:p>
          <a:p>
            <a:r>
              <a:t>Do the whole recap in under 45 seconds.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How can a chair keep an online meeting short and focused? | “One thing that works is…” / “I’d suggest sending…” / “If people go off topic, I…”</a:t>
            </a:r>
          </a:p>
          <a:p>
            <a:r>
              <a:t>2. Should cameras always be on in a video meeting? | “On the one hand… On the other hand…” / “I’d say it depends on…”</a:t>
            </a:r>
          </a:p>
          <a:p>
            <a:r>
              <a:t>3. What is the most polite way to interrupt online? | “I’d raise my hand or say…” / “It feels less awkward if…”</a:t>
            </a:r>
          </a:p>
          <a:p>
            <a:r>
              <a:t>4. Is an online meeting ever better than a face-to-face one? | “For quick updates, online is…” / “What you lose online is…”</a:t>
            </a:r>
          </a:p>
          <a:p>
            <a:r>
              <a:t>5. What do you do when you can’t follow the discussion? | “I’d ask…” / “Rather than stay silent, 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“One thing that works is sending a clear agenda the day before, with a time limit for each item. At the start, I say how long the meeting will take, and I stick to it. If someone goes off topic, I park the point and suggest taking it offline. At the end I recap the action items, so nobody leaves wondering what happens next. That way, a 60-minute meeting often shrinks to 30.”</a:t>
            </a:r>
          </a:p>
          <a:p>
            <a:r>
              <a:t>“stick to” 意为”坚持遵守”,后接名词。“That way, …” 表示”这样一来,…“,连接结果。”go off topic” = 跑题。</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Polite interruptions and hedging 礼貌打断与委婉表达</a:t>
            </a:r>
          </a:p>
          <a:p>
            <a:r>
              <a:t>Function | Direct (too blunt) | More natural and polite</a:t>
            </a:r>
          </a:p>
          <a:p>
            <a:r>
              <a:t>Interrupting | Stop. Wait. | Sorry to jump in, but… / Can I just add something?</a:t>
            </a:r>
          </a:p>
          <a:p>
            <a:r>
              <a:t>Not hearing | I can’t hear you. | I’m having trouble hearing you. I think you’re on mute.</a:t>
            </a:r>
          </a:p>
          <a:p>
            <a:r>
              <a:t>Disagreeing | You’re wrong. | I see it a bit differently. / I’m not sure that’s quite right.</a:t>
            </a:r>
          </a:p>
          <a:p>
            <a:r>
              <a:t>Ending a topic | Stop talking about that. | Let’s park that for now and come back to it.</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Collocations and prepositions 搭配与介词</a:t>
            </a:r>
          </a:p>
          <a:p>
            <a:r>
              <a:t>attend / hold / have / chair / cancel / postpone a meeting; join a call (no “to”); dial in to the call (with “to”).</a:t>
            </a:r>
          </a:p>
          <a:p>
            <a:r>
              <a:t>on the agenda, on mute, on Teams / on Zoom, at 10 a.m., by Friday (deadline), in two days (after a period).</a:t>
            </a:r>
          </a:p>
          <a:p>
            <a:r>
              <a:t>discuss + object (no preposition): “We’ll discuss the budget.” Not “discuss about”.</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will discuss about the budget.  →  ✓ We will discuss the budget.  (discuss 是及物动词,后面不加 about)</a:t>
            </a:r>
          </a:p>
          <a:p>
            <a:r>
              <a:t>✗ Let’s do a meeting tomorrow.  →  ✓ Let’s have (or hold) a meeting tomorrow.  (搭配:have / hold a meeting)</a:t>
            </a:r>
          </a:p>
          <a:p>
            <a:r>
              <a:t>✗ I will join to the call.  →  ✓ I’ll join the call.  (join 后不加 to)</a:t>
            </a:r>
          </a:p>
          <a:p>
            <a:r>
              <a:t>✗ Sorry, I can’t hear you clear.  →  ✓ Sorry, I can’t hear you clearly.  (修饰动词用副词)</a:t>
            </a:r>
          </a:p>
          <a:p>
            <a:r>
              <a:t>✗ The meeting was postponed to the next week.  →  ✓ The meeting was postponed until next week.  (postpone … until;next week 前不加 the)</a:t>
            </a:r>
          </a:p>
          <a:p>
            <a:r>
              <a:t>Mistake Watch: Check three small words in every sentence you record: on (mute / the agenda), until (postponed until), and no about after discuss.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You can’t hear me? I’m in mute.  →  ✓ You can’t hear me? I’m on mute.  (on mute)</a:t>
            </a:r>
          </a:p>
          <a:p>
            <a:r>
              <a:t>✗ We have an agenda for three items.  →  ✓ We have three items on the agenda.  (on the agenda)</a:t>
            </a:r>
          </a:p>
          <a:p>
            <a:r>
              <a:t>✗ Please send me the minute.  →  ✓ Please send me the minutes.  (会议纪要用复数 minutes)</a:t>
            </a:r>
          </a:p>
          <a:p>
            <a:r>
              <a:t>✗ Everyone are here.  →  ✓ Everyone is here.  (everyone 当单数)</a:t>
            </a:r>
          </a:p>
          <a:p>
            <a:r>
              <a:t>Mistake Watch: Check three small words in every sentence you record: on (mute / the agenda), until (postponed until), and no about after discuss.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Punctuality: join one or two minutes early. If you are late, join quietly and type “Sorry, running late” in the chat. Do not interrupt to apologise.</a:t>
            </a:r>
          </a:p>
          <a:p>
            <a:r>
              <a:t>Mute and unmute: mute when you are not speaking. Say your name when you speak if people cannot see you.</a:t>
            </a:r>
          </a:p>
          <a:p>
            <a:r>
              <a:t>Small talk first: one or two minutes of chat before the start is normal and builds trust.</a:t>
            </a:r>
          </a:p>
          <a:p>
            <a:r>
              <a:t>Camera: respect each person’s choice. If your camera is off, a short reason helps: “My connection is weak today, so I’ll keep my camera off.”</a:t>
            </a:r>
          </a:p>
          <a:p>
            <a:r>
              <a:t>Minutes and action items: the chair usually sends a short summary with an owner and a date for each task.</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open an online meeting and check that everyone can hear me.</a:t>
            </a:r>
          </a:p>
          <a:p>
            <a:r>
              <a:t>I can interrupt politely and ask someone to repeat something (Sorry to jump in, but…, I didn’t catch that).</a:t>
            </a:r>
          </a:p>
          <a:p>
            <a:r>
              <a:t>I can keep a meeting on track with stick to the agenda, take it offline and let me recap.</a:t>
            </a:r>
          </a:p>
          <a:p>
            <a:r>
              <a:t>I can use at least three ★ expressions in my own sentences.</a:t>
            </a:r>
          </a:p>
          <a:p>
            <a:r>
              <a:t>I use attend / join / hold and on mute / on the agenda correctly.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Chair a 90-second mock meeting out loud: open the call, fix a technical problem, cover two agenda items, recap. Record it.</a:t>
            </a:r>
          </a:p>
          <a:p>
            <a:r>
              <a:t>8–10 | Listen to your recording. Check: polite interruptions, prepositions (on the agenda / on mute), no “about” after discuss.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02 · Bad meetings 无效会议</a:t>
            </a:r>
          </a:p>
          <a:p>
            <a:r>
              <a:t>Goal: explain why a meeting is not working, suggest improvements without offending anyone, and agree a better format.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 “could have been an email”(本可以发一封邮件解决)是很常见的说法。第 4 题讲过去的事,请用过去式。</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a bad meeting and explain how you would fix it.</a:t>
            </a:r>
          </a:p>
          <a:p>
            <a:r>
              <a:t>Say: what went wrong → why it mattered → two fixes.</a:t>
            </a:r>
          </a:p>
          <a:p>
            <a:r>
              <a:t>Useful starters: “The main problem was…” / “As a result, we…” / “Next time, I’d…”</a:t>
            </a:r>
          </a:p>
          <a:p>
            <a:r>
              <a:t>“As a result, …” 用来引出结果;“Next time, I’d + 动词原形” 用来提建议。注意 result 前面要用 a:as a result。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Every Monday at eleven, the sales team of a small software firm met for “a quick update”. In theory, it took thirty minutes. In practice, it often ran to ninety. The agenda was vague, two senior managers dominated the discussion, and half the participants checked their phones. Nobody dared to say that the meeting was pointless. Then a new team leader, Grace, did something simple. She asked everyone to send one question or decision in advance. If an item needed no discussion, she moved it to an email. She also set a timer for each topic and ended the meeting the moment the list was finished, even if that was after only twelve minutes. At first people were suspicious. By the third week, they were arriving prepared. The meeting shrank to twenty-five minutes and, more importantly, three real decisions were made. “We didn’t need fewer meetings,” Grace said. “We needed better ones.”</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did the Monday meeting run so long?</a:t>
            </a:r>
          </a:p>
          <a:p>
            <a:r>
              <a:t>A: The agenda was vague, two managers dominated, and people were distracted.</a:t>
            </a:r>
          </a:p>
          <a:p>
            <a:r>
              <a:t>Q2. Name two things Grace changed.</a:t>
            </a:r>
          </a:p>
          <a:p>
            <a:r>
              <a:t>A: Any two of: sending questions in advance, moving no-discussion items to email, timing each topic, ending as soon as the list was finished.</a:t>
            </a:r>
          </a:p>
          <a:p>
            <a:r>
              <a:t>Q3. What was the result after three weeks?</a:t>
            </a:r>
          </a:p>
          <a:p>
            <a:r>
              <a:t>A: The meeting shrank to about 25 minutes and real decisions were made.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Describing the problem 描述问题</a:t>
            </a:r>
          </a:p>
          <a:p>
            <a:r>
              <a:t>领读 → 学员跟读 → 请学员用表达造一个和自己工作相关的句子。</a:t>
            </a:r>
          </a:p>
          <a:p>
            <a:r>
              <a:t>waste of time (noun phrase) 浪费时间 — “Honestly, that meeting was a waste of time.”</a:t>
            </a:r>
          </a:p>
          <a:p>
            <a:r>
              <a:t>★ run over (phrasal verb) 超时 — “The meeting ran over by twenty minutes again.”</a:t>
            </a:r>
          </a:p>
          <a:p>
            <a:r>
              <a:t>★ go off on a tangent (idiom) 跑题,扯远 — “We kept going off on a tangent and never reached a decision.”</a:t>
            </a:r>
          </a:p>
          <a:p>
            <a:r>
              <a:t>★ dominate the discussion (collocation) 主导讨论,一言堂 — “Two people dominated the discussion, so the rest stayed silent.”</a:t>
            </a:r>
          </a:p>
          <a:p>
            <a:r>
              <a:t>vague (adjective) 含糊的,不明确的 — “The agenda was too vague to be useful.”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Making suggestions 提出改进建议</a:t>
            </a:r>
          </a:p>
          <a:p>
            <a:r>
              <a:t>领读 → 学员跟读 → 请学员用表达造一个和自己工作相关的句子。</a:t>
            </a:r>
          </a:p>
          <a:p>
            <a:r>
              <a:t>stick to the agenda (collocation) 按议程进行 — “Let’s stick to the agenda and finish by noon.”</a:t>
            </a:r>
          </a:p>
          <a:p>
            <a:r>
              <a:t>set a time limit (collocation) 设定时间限制 — “We should set a time limit of five minutes for each item.”</a:t>
            </a:r>
          </a:p>
          <a:p>
            <a:r>
              <a:t>★ Could this have been an email? (phrase) 这个本可以发邮件解决吧? — “Be honest: could this have been an email?”</a:t>
            </a:r>
          </a:p>
          <a:p>
            <a:r>
              <a:t>attendee (noun) 与会者 — “Only invite attendees who can make a decision.”</a:t>
            </a:r>
          </a:p>
          <a:p>
            <a:r>
              <a:t>★ cut down on (phrasal verb) 减少 — “We need to cut down on status meetings.”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Getting results 取得成果</a:t>
            </a:r>
          </a:p>
          <a:p>
            <a:r>
              <a:t>领读 → 学员跟读 → 请学员用表达造一个和自己工作相关的句子。</a:t>
            </a:r>
          </a:p>
          <a:p>
            <a:r>
              <a:t>reach a decision (collocation) 做出决定,达成决定 — “We spent an hour, but we didn’t reach a decision.”</a:t>
            </a:r>
          </a:p>
          <a:p>
            <a:r>
              <a:t>★ hold people accountable (collocation) 让人承担责任 — “Name an owner for each task so you can hold people accountable.”</a:t>
            </a:r>
          </a:p>
          <a:p>
            <a:r>
              <a:t>follow-up (noun) 后续跟进 — “There was no follow-up, so nothing changed.”</a:t>
            </a:r>
          </a:p>
          <a:p>
            <a:r>
              <a:t>★ be on the same page (idiom) 想法一致,达成共识 — “Let’s check we’re all on the same page before we move on.”</a:t>
            </a:r>
          </a:p>
          <a:p>
            <a:r>
              <a:t>productive (adjective) 高效的,有成效的 — “It was a short but productive meeting.”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stick / tangent / dominate / attendees / decision / page</a:t>
            </a:r>
          </a:p>
          <a:p>
            <a:r>
              <a:t>1. Let’s _______ to the agenda so we can finish on time. → stick</a:t>
            </a:r>
          </a:p>
          <a:p>
            <a:r>
              <a:t>2. We kept going off on a _______ and ran out of time. → tangent</a:t>
            </a:r>
          </a:p>
          <a:p>
            <a:r>
              <a:t>3. Two people tend to _______ the discussion, so the others stay quiet. → dominate</a:t>
            </a:r>
          </a:p>
          <a:p>
            <a:r>
              <a:t>4. We should only invite the _______ who need to be there. → attendees</a:t>
            </a:r>
          </a:p>
          <a:p>
            <a:r>
              <a:t>5. After an hour, we still hadn’t reached a _______. → decision</a:t>
            </a:r>
          </a:p>
          <a:p>
            <a:r>
              <a:t>6. Before we move on, let’s make sure we’re all on the same _______. → page</a:t>
            </a:r>
          </a:p>
          <a:p>
            <a:r>
              <a:t>Mistake Watch: (搭配与可数性) a waste of time (with “a”); a lot of meetings (meeting is countable: not “much meeting”); spelling: attendee, productive, tangent.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Giving honest feedback to your manager 向上司反馈</a:t>
            </a:r>
          </a:p>
          <a:p>
            <a:r>
              <a:t>情景：Your manager asks why the weekly meeting is not working. You give honest but polite feedback.</a:t>
            </a:r>
          </a:p>
          <a:p>
            <a:r>
              <a:t>Role A: Rachel Kim, department manager Role B: Ben Zhou, team member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(Rachel): Ben, you’ve been quiet in our Monday meetings lately. Is everything OK?</a:t>
            </a:r>
          </a:p>
          <a:p>
            <a:r>
              <a:t>B (Ben): Yes, but to be honest, I’m finding them a bit hard to follow.</a:t>
            </a:r>
          </a:p>
          <a:p>
            <a:r>
              <a:t>A: Really? In what way?</a:t>
            </a:r>
          </a:p>
          <a:p>
            <a:r>
              <a:t>B: Well, they often run over, and we go off on a tangent quite a lot. Last week we spent twenty minutes on the office printer.</a:t>
            </a:r>
          </a:p>
          <a:p>
            <a:r>
              <a:t>A: Hmm, I hadn’t realised. What would help, do you think?</a:t>
            </a:r>
          </a:p>
          <a:p>
            <a:r>
              <a:t>B: Perhaps we could send an agenda the day before and set a time limit for each item?</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That makes sense. Anything else?</a:t>
            </a:r>
          </a:p>
          <a:p>
            <a:r>
              <a:t>B: Maybe we could cut down on updates. Some of them could be an email, I think.</a:t>
            </a:r>
          </a:p>
          <a:p>
            <a:r>
              <a:t>A: Fair point. And what about decisions?</a:t>
            </a:r>
          </a:p>
          <a:p>
            <a:r>
              <a:t>B: At the moment we rarely reach one, and nobody follows up. If we named an owner for each action, people would know what to do.</a:t>
            </a:r>
          </a:p>
          <a:p>
            <a:r>
              <a:t>A: OK. Let’s try that for a month and see how it goes.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 | </a:t>
            </a:r>
          </a:p>
          <a:p>
            <a:r>
              <a:t>Situation | Your manager asks for your honest opinion about a meeting that does not work.</a:t>
            </a:r>
          </a:p>
          <a:p>
            <a:r>
              <a:t>Your role (B) | Team member. The meeting you talk about: ______________</a:t>
            </a:r>
          </a:p>
          <a:p>
            <a:r>
              <a:t>Partner’s role (A) | Manager, open to ideas but a little defensive.</a:t>
            </a:r>
          </a:p>
          <a:p>
            <a:r>
              <a:t>Must use (4 or more) | run over · go off on a tangent · stick to the agenda · Perhaps we could… · hold people accountable</a:t>
            </a:r>
          </a:p>
          <a:p>
            <a:r>
              <a:t>Goal | Describe two problems, suggest two solutions, and stay polite.</a:t>
            </a:r>
          </a:p>
          <a:p>
            <a:r>
              <a:t>My notes | ____________________________________________</a:t>
            </a:r>
          </a:p>
          <a:p>
            <a:r>
              <a:t>Soften your criticism with hedges: “To be honest, I’m finding…” / “It seems to me that…” / “I may be wrong, but…”</a:t>
            </a:r>
          </a:p>
          <a:p>
            <a:r>
              <a:t>The manager gets defensive: “I think the meetings are fine.” Stay calm: “I understand. I’m only suggesting we try it for a month.”</a:t>
            </a:r>
          </a:p>
          <a:p>
            <a:r>
              <a:t>Add one concrete example with a number: “Last Monday, we spent 25 minutes on one item.”</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Redesigning a weekly meeting 重新设计每周例会</a:t>
            </a:r>
          </a:p>
          <a:p>
            <a:r>
              <a:t>情景：Two colleagues plan to turn a 90-minute weekly meeting into a 30-minute one.</a:t>
            </a:r>
          </a:p>
          <a:p>
            <a:r>
              <a:t>Role A: Nina Gao, organiser Role B: Omar Said, sceptical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(Nina): Omar, thanks for staying behind. I want to rethink the weekly meeting. At the moment it’s 90 minutes.</a:t>
            </a:r>
          </a:p>
          <a:p>
            <a:r>
              <a:t>B (Omar): And it feels like three hours! What do you have in mind?</a:t>
            </a:r>
          </a:p>
          <a:p>
            <a:r>
              <a:t>A: Thirty minutes, maximum, with a strict agenda.</a:t>
            </a:r>
          </a:p>
          <a:p>
            <a:r>
              <a:t>B: Thirty is tight. What happens to the project updates?</a:t>
            </a:r>
          </a:p>
          <a:p>
            <a:r>
              <a:t>A: They’d go into a shared document, and people would read them beforehand.</a:t>
            </a:r>
          </a:p>
          <a:p>
            <a:r>
              <a:t>B: Would they, though? Some people never open anything.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Good point. We could start with two minutes of silent reading.</a:t>
            </a:r>
          </a:p>
          <a:p>
            <a:r>
              <a:t>B: Interesting. And who keeps us on track?</a:t>
            </a:r>
          </a:p>
          <a:p>
            <a:r>
              <a:t>A: A timekeeper. We could rotate the role each week.</a:t>
            </a:r>
          </a:p>
          <a:p>
            <a:r>
              <a:t>B: I like it. Let’s pilot it for four weeks, then ask everyone how it went.</a:t>
            </a:r>
          </a:p>
          <a:p>
            <a:r>
              <a:t>A: Agreed. I’ll draft a one-page agenda template.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 | </a:t>
            </a:r>
          </a:p>
          <a:p>
            <a:r>
              <a:t>Situation | You agree a new format for a long weekly meeting.</a:t>
            </a:r>
          </a:p>
          <a:p>
            <a:r>
              <a:t>Your role (A) | Organiser. The meeting you want to change: ______________</a:t>
            </a:r>
          </a:p>
          <a:p>
            <a:r>
              <a:t>Partner’s role (B) | Colleague who is a little sceptical.</a:t>
            </a:r>
          </a:p>
          <a:p>
            <a:r>
              <a:t>Must use (3 or more) | Let’s rethink… · a time limit · Would they, though? · We could rotate… · pilot</a:t>
            </a:r>
          </a:p>
          <a:p>
            <a:r>
              <a:t>Goal | Agree length, agenda, roles and a trial period.</a:t>
            </a:r>
          </a:p>
          <a:p>
            <a:r>
              <a:t>My notes | ____________________________________________</a:t>
            </a:r>
          </a:p>
          <a:p>
            <a:r>
              <a:t>The colleague says, “It won’t work.” Reply with evidence: “I take your point, but when we tried it last quarter…”</a:t>
            </a:r>
          </a:p>
          <a:p>
            <a:r>
              <a:t>Make your proposal in three sentences: the problem, the change, the benefit.</a:t>
            </a:r>
          </a:p>
          <a:p>
            <a:r>
              <a:t>End with a recap: “So, to recap, we’re going to…”</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makes a meeting a waste of time? | “For me, the biggest problem is…” / “It’s frustrating when…”</a:t>
            </a:r>
          </a:p>
          <a:p>
            <a:r>
              <a:t>2. How many people should attend a meeting? | “I’d say the ideal number is…” / “The more people there are, the…”</a:t>
            </a:r>
          </a:p>
          <a:p>
            <a:r>
              <a:t>3. Is it OK to leave a meeting that is not relevant to you? | “It depends on the culture…” / “If I’m not needed, I’d…”</a:t>
            </a:r>
          </a:p>
          <a:p>
            <a:r>
              <a:t>4. How can junior staff speak up when a senior manager dominates? | “One approach is to…” / “It helps to prepare…”</a:t>
            </a:r>
          </a:p>
          <a:p>
            <a:r>
              <a:t>5. What was the best meeting you have attended? Why? | “What made it great was…” / “It was productive because…”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“For me, the biggest problem is a meeting with no clear purpose. People turn up without preparing, so the discussion goes round in circles and nobody makes a decision. It’s even worse when two or three people dominate and the rest just wait for it to finish. I think a meeting is only worth having when there is a decision to make or a problem to solve. Otherwise, an email would do.”</a:t>
            </a:r>
          </a:p>
          <a:p>
            <a:r>
              <a:t>“go round in circles” = 原地打转;“It’s even worse when…” = 更糟的是…;“an email would do” = 一封邮件就够了。</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Softening criticism 委婉地提出批评</a:t>
            </a:r>
          </a:p>
          <a:p>
            <a:r>
              <a:t>Too direct | Softer and more natural</a:t>
            </a:r>
          </a:p>
          <a:p>
            <a:r>
              <a:t>This meeting is boring. | I find these meetings a bit hard to stay focused in.</a:t>
            </a:r>
          </a:p>
          <a:p>
            <a:r>
              <a:t>You talk too much. | I think we could give everyone a chance to speak.</a:t>
            </a:r>
          </a:p>
          <a:p>
            <a:r>
              <a:t>Your agenda is bad. | The agenda could be a little clearer, I think.</a:t>
            </a:r>
          </a:p>
          <a:p>
            <a:r>
              <a:t>That’s a stupid idea. | I’m not sure that would work, because…</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Softening criticism 委婉地提出批评</a:t>
            </a:r>
          </a:p>
          <a:p>
            <a:r>
              <a:t>Hedges: a bit, a little, rather, I tend to feel, it seems to me, perhaps, maybe. Note: British quite = “fairly”; American quite = “very”.</a:t>
            </a:r>
          </a:p>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Suggesting with modals and conditionals 提建议的句型</a:t>
            </a:r>
          </a:p>
          <a:p>
            <a:r>
              <a:t>We could… / Perhaps we should… / How about + -ing? / Why don’t we…?</a:t>
            </a:r>
          </a:p>
          <a:p>
            <a:r>
              <a:t>Second conditional: If we sent the agenda earlier, people would come prepared. (if + past simple, would + base verb)</a:t>
            </a:r>
          </a:p>
          <a:p>
            <a:r>
              <a:t>spend time + -ing: “We spent an hour discussing it.”</a:t>
            </a:r>
          </a:p>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feel boring in the meetings.  →  ✓ I feel bored in the meetings.  (bored 描述人的感受;boring 描述事物)</a:t>
            </a:r>
          </a:p>
          <a:p>
            <a:r>
              <a:t>✗ We spent two hours to discuss it.  →  ✓ We spent two hours discussing it.  (spend + 时间 + -ing)</a:t>
            </a:r>
          </a:p>
          <a:p>
            <a:r>
              <a:t>✗ If we would send the agenda, people come prepared.  →  ✓ If we sent the agenda, people would come prepared.  (第二类条件句)</a:t>
            </a:r>
          </a:p>
          <a:p>
            <a:r>
              <a:t>✗ Too much people attend the meeting.  →  ✓ Too many people attend the meeting.  (people 可数,用 many)</a:t>
            </a:r>
          </a:p>
          <a:p>
            <a:r>
              <a:t>Mistake Watch: Before you record, check three things: bored / boring, many / much, and the -ing form after spend and suggest.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meeting is waste of time.  →  ✓ The meeting is a waste of time.  (a waste of time)</a:t>
            </a:r>
          </a:p>
          <a:p>
            <a:r>
              <a:t>✗ I suggest to cut the meeting.  →  ✓ I suggest cutting the meeting. / I suggest we cut it.  (suggest + -ing)</a:t>
            </a:r>
          </a:p>
          <a:p>
            <a:r>
              <a:t>✗ We decided nothing, and no follow up.  →  ✓ We decided nothing, and there was no follow-up.  (完整句;名词 follow-up)</a:t>
            </a:r>
          </a:p>
          <a:p>
            <a:r>
              <a:t>✗ Every meeting have a problem.  →  ✓ Every meeting has a problem.  (every + 单数)</a:t>
            </a:r>
          </a:p>
          <a:p>
            <a:r>
              <a:t>Mistake Watch: Before you record, check three things: bored / boring, many / much, and the -ing form after spend and suggest.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Use “we”, not “you”. “We could shorten it” sounds like teamwork. “You make it too long” sounds like blame.</a:t>
            </a:r>
          </a:p>
          <a:p>
            <a:r>
              <a:t>Offer ideas, not just complaints. In UK/US teams, a polite suggestion is usually welcome, even from a junior person.</a:t>
            </a:r>
          </a:p>
          <a:p>
            <a:r>
              <a:t>Thank before you disagree. “That’s a fair point, but…” is standard and soft.</a:t>
            </a:r>
          </a:p>
          <a:p>
            <a:r>
              <a:t>Meeting-free days (for example, no meetings on Wednesdays) are a popular fix. You can propose a trial.</a:t>
            </a:r>
          </a:p>
          <a:p>
            <a:r>
              <a:t>Start and finish on time. Meetings that end early are a pleasant surprise: “Let’s give everyone five minutes back.”</a:t>
            </a:r>
          </a:p>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say clearly why a meeting is not working, using run over, go off on a tangent, dominate.</a:t>
            </a:r>
          </a:p>
          <a:p>
            <a:r>
              <a:t>I can criticise politely with hedges (I find…, it seems to me…, perhaps we could…).</a:t>
            </a:r>
          </a:p>
          <a:p>
            <a:r>
              <a:t>I can suggest changes with We could… and a second conditional.</a:t>
            </a:r>
          </a:p>
          <a:p>
            <a:r>
              <a:t>I can use at least three ★ expressions in my own sentences.</a:t>
            </a:r>
          </a:p>
          <a:p>
            <a:r>
              <a:t>I use bored / boring and a waste of time correctly.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Talk for 60 seconds about a bad meeting and two fixes. Then repeat it with softer language. Record both.</a:t>
            </a:r>
          </a:p>
          <a:p>
            <a:r>
              <a:t>8–10 | Listen to your recording. Check: bored / boring, hedges, second conditional, “a waste of time”.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03 · Outside the scope of this meeting 不在本次会议范围</a:t>
            </a:r>
          </a:p>
          <a:p>
            <a:r>
              <a:t>Goal: define a meeting’s purpose, say politely that a topic is outside its scope, and give the off-topic point a “home”.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题可以用 “The purpose was to + 动词原形”。第 2 题讲过去的事,用过去式(raised, belonged, did)。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how you stop a meeting from drifting off topic.</a:t>
            </a:r>
          </a:p>
          <a:p>
            <a:r>
              <a:t>Say: the problem → what you say → what happens to the off-topic point.</a:t>
            </a:r>
          </a:p>
          <a:p>
            <a:r>
              <a:t>Useful starters: “The trick is to…” / “I’d say something like…” / “I’d note it down and…”</a:t>
            </a:r>
          </a:p>
          <a:p>
            <a:r>
              <a:t>“The trick is to + 动词原形” 意为”诀窍是…“;”something like…” 让语气更柔和,不那么生硬。</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At a product review, Hannah noticed that the conversation had slipped away from the new app. Someone had started talking about the office parking spaces, and soon half the room had an opinion. Hannah waited for a pause. “This is clearly important to people,” she said, “but it’s outside the scope of today’s meeting. Can we park it and give it ten minutes on Thursday?” She wrote “Parking” on the whiteboard, under a heading called “Parking Lot”. Everybody relaxed. Nobody felt ignored, and the review went back on track. Afterwards, a colleague asked how she had stayed so calm. “I do three things,” Hannah said. “I recognise the point, I say why it doesn’t fit here, and I give it a home. If you only say no, people feel dismissed. If you say when and where, they let go.”</a:t>
            </a:r>
          </a:p>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went off topic in the review?</a:t>
            </a:r>
          </a:p>
          <a:p>
            <a:r>
              <a:t>A: A discussion about office parking.</a:t>
            </a:r>
          </a:p>
          <a:p>
            <a:r>
              <a:t>Q2. What exactly did Hannah do with the off-topic point?</a:t>
            </a:r>
          </a:p>
          <a:p>
            <a:r>
              <a:t>A: She said it was outside the scope, wrote it on the whiteboard under “Parking Lot”, and offered ten minutes on Thursday.</a:t>
            </a:r>
          </a:p>
          <a:p>
            <a:r>
              <a:t>Q3. What are her three steps?</a:t>
            </a:r>
          </a:p>
          <a:p>
            <a:r>
              <a:t>A: Recognise the point, say why it doesn’t fit, give it a home.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Defining scope 明确范围</a:t>
            </a:r>
          </a:p>
          <a:p>
            <a:r>
              <a:t>领读 → 学员跟读 → 请学员用表达造一个和自己工作相关的句子。</a:t>
            </a:r>
          </a:p>
          <a:p>
            <a:r>
              <a:t>scope (noun) 范围 — “The scope of today’s meeting is the Q4 budget only.”</a:t>
            </a:r>
          </a:p>
          <a:p>
            <a:r>
              <a:t>purpose (noun) 目的 — “The purpose of this meeting is to approve the new timeline.”</a:t>
            </a:r>
          </a:p>
          <a:p>
            <a:r>
              <a:t>★ outside the scope of… (collocation) 超出…的范围 — “Staffing is outside the scope of this meeting.”</a:t>
            </a:r>
          </a:p>
          <a:p>
            <a:r>
              <a:t>relevant (to) (adjective) 相关的 — “Is this relevant to what we’re deciding today?”</a:t>
            </a:r>
          </a:p>
          <a:p>
            <a:r>
              <a:t>★ stay on topic (collocation) 不跑题 — “Let’s stay on topic, or we’ll never finish.”</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Redirecting politely 礼貌地引回主题</a:t>
            </a:r>
          </a:p>
          <a:p>
            <a:r>
              <a:t>领读 → 学员跟读 → 请学员用表达造一个和自己工作相关的句子。</a:t>
            </a:r>
          </a:p>
          <a:p>
            <a:r>
              <a:t>★ park it / the parking lot (idiom) 先搁置 / 待议事项清单 — “Let’s put that in the parking lot and come back to it.”</a:t>
            </a:r>
          </a:p>
          <a:p>
            <a:r>
              <a:t>That’s a separate issue. (phrase) 那是另一个问题 — “That’s a separate issue. Let’s deal with it after this item.”</a:t>
            </a:r>
          </a:p>
          <a:p>
            <a:r>
              <a:t>★ derail (verb) 使偏离正轨 — “I don’t want to derail the meeting, but I have a quick question.”</a:t>
            </a:r>
          </a:p>
          <a:p>
            <a:r>
              <a:t>Let’s get back to… (phrase) 我们回到…上来 — “Let’s get back to the test results.”</a:t>
            </a:r>
          </a:p>
          <a:p>
            <a:r>
              <a:t>★ circle back (to) (phrasal verb) 回头再谈 — “We’ll circle back to pricing next week.”</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Handling the extra point 处理额外的议题</a:t>
            </a:r>
          </a:p>
          <a:p>
            <a:r>
              <a:t>领读 → 学员跟读 → 请学员用表达造一个和自己工作相关的句子。</a:t>
            </a:r>
          </a:p>
          <a:p>
            <a:r>
              <a:t>raise a concern (collocation) 提出担忧 — “Thanks for raising that concern. Let’s discuss it with HR separately.”</a:t>
            </a:r>
          </a:p>
          <a:p>
            <a:r>
              <a:t>★ scope creep (noun) 范围蔓延(需求越加越多) — “If we say yes to every request, we’ll get scope creep.”</a:t>
            </a:r>
          </a:p>
          <a:p>
            <a:r>
              <a:t>take ownership of (collocation) 负责,主动承担 — “Who can take ownership of the parking issue?”</a:t>
            </a:r>
          </a:p>
          <a:p>
            <a:r>
              <a:t>★ follow up on (phrasal verb) 跟进 — “I’ll follow up on that by email.”</a:t>
            </a:r>
          </a:p>
          <a:p>
            <a:r>
              <a:t>★ remit (noun) 职权范围 — “That decision isn’t within my remit.”</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scope / purpose / relevant / park / derail / circle</a:t>
            </a:r>
          </a:p>
          <a:p>
            <a:r>
              <a:t>1. The _______ of this meeting is to approve the new timeline. → purpose</a:t>
            </a:r>
          </a:p>
          <a:p>
            <a:r>
              <a:t>2. Staffing is outside the _______ of today’s discussion. → scope</a:t>
            </a:r>
          </a:p>
          <a:p>
            <a:r>
              <a:t>3. Is this _______ to what we’re deciding today? → relevant</a:t>
            </a:r>
          </a:p>
          <a:p>
            <a:r>
              <a:t>4. Let’s _______ that for now and come back to it on Thursday. → park</a:t>
            </a:r>
          </a:p>
          <a:p>
            <a:r>
              <a:t>5. I don’t want to _______ the meeting, but I have a quick question. → derail</a:t>
            </a:r>
          </a:p>
          <a:p>
            <a:r>
              <a:t>6. We’ll _______ back to pricing next week. → circle</a:t>
            </a:r>
          </a:p>
          <a:p>
            <a:r>
              <a:t>Mistake Watch: (介词与拼写) outside the scope OF, relevant TO, responsible FOR. Spelling: relevant (not “relavant”), scope, separate (not “seperate”).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Stopping an off-topic discussion 制止跑题</a:t>
            </a:r>
          </a:p>
          <a:p>
            <a:r>
              <a:t>情景：A colleague keeps raising an unrelated problem during a product review. You are the chair.</a:t>
            </a:r>
          </a:p>
          <a:p>
            <a:r>
              <a:t>Role A: Hannah Lee, chair Role B: Jake Morris, engineer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(Hannah): Okay, let’s get back to the app launch. We were looking at the test results.</a:t>
            </a:r>
          </a:p>
          <a:p>
            <a:r>
              <a:t>B (Jake): Sorry, Hannah, before we do, can I raise the parking issue again? The new rules are a mess.</a:t>
            </a:r>
          </a:p>
          <a:p>
            <a:r>
              <a:t>A: I hear you, Jake, and I know it matters to a lot of people. But it’s outside the scope of today’s meeting, which is the launch plan.</a:t>
            </a:r>
          </a:p>
          <a:p>
            <a:r>
              <a:t>B: It’ll only take two minutes.</a:t>
            </a:r>
          </a:p>
          <a:p>
            <a:r>
              <a:t>A: I’m sure it will, but I don’t want to derail the review. Let’s put it in the parking lot, and I’ll add it to Thursday’s team meeting.</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Fine. Will you actually put it on the agenda?</a:t>
            </a:r>
          </a:p>
          <a:p>
            <a:r>
              <a:t>A: Yes, I’ll do it right after this call. Is that OK?</a:t>
            </a:r>
          </a:p>
          <a:p>
            <a:r>
              <a:t>B: OK, thanks. Sorry for going off track.</a:t>
            </a:r>
          </a:p>
          <a:p>
            <a:r>
              <a:t>A: No need to apologise. Right, back to the test results. The login bug is still open.</a:t>
            </a:r>
          </a:p>
          <a:p>
            <a:r>
              <a:t>B: I can take ownership of that one. I’ll follow up with the developers today.</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 | </a:t>
            </a:r>
          </a:p>
          <a:p>
            <a:r>
              <a:t>Situation | You chair a meeting and a colleague raises an unrelated issue.</a:t>
            </a:r>
          </a:p>
          <a:p>
            <a:r>
              <a:t>Your role (A) | Chair. Meeting purpose: ______________</a:t>
            </a:r>
          </a:p>
          <a:p>
            <a:r>
              <a:t>Partner’s role (B) | Colleague with an unrelated, emotional topic.</a:t>
            </a:r>
          </a:p>
          <a:p>
            <a:r>
              <a:t>Must use (4 or more) | outside the scope · I hear you, but… · put it in the parking lot · Let’s get back to… · follow up</a:t>
            </a:r>
          </a:p>
          <a:p>
            <a:r>
              <a:t>Goal | Acknowledge, explain why it doesn’t fit, give the point a home, and return to the agenda in 4–5 sentences.</a:t>
            </a:r>
          </a:p>
          <a:p>
            <a:r>
              <a:t>My notes | ____________________________________________</a:t>
            </a:r>
          </a:p>
          <a:p>
            <a:r>
              <a:t>The person is your boss. Soften more: “That’s a really good point. Would it be OK if we looked at it once we’ve finished the main items?”</a:t>
            </a:r>
          </a:p>
          <a:p>
            <a:r>
              <a:t>The off-topic point is actually urgent. Change your mind gracefully: “You’re right, that can’t wait. Let’s give it five minutes now.”</a:t>
            </a:r>
          </a:p>
          <a:p>
            <a:r>
              <a:t>Open the next meeting with a one-sentence purpose: “By the end of this hour, we should have decided…”</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Keeping a client meeting in scope 控制客户需求范围</a:t>
            </a:r>
          </a:p>
          <a:p>
            <a:r>
              <a:t>情景：At the start of a client meeting, the client asks for an extra feature that is not in the contract.</a:t>
            </a:r>
          </a:p>
          <a:p>
            <a:r>
              <a:t>Role A: Daniel Park, project manager Role B: Ms Rossi, client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(Daniel): Thanks for joining, Ms Rossi. Just so we’re clear, the purpose today is to agree the design for phase one.</a:t>
            </a:r>
          </a:p>
          <a:p>
            <a:r>
              <a:t>B (Ms Rossi): Of course. By the way, we’d also like to add a mobile app.</a:t>
            </a:r>
          </a:p>
          <a:p>
            <a:r>
              <a:t>A: That’s a great idea. However, a mobile app is outside the scope of the current contract.</a:t>
            </a:r>
          </a:p>
          <a:p>
            <a:r>
              <a:t>B: Surely it can’t be that different from the website?</a:t>
            </a:r>
          </a:p>
          <a:p>
            <a:r>
              <a:t>A: It’s actually quite a different piece of work, I’m afraid. If we added it now, we’d risk scope creep and miss the deadline.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So what do you suggest?</a:t>
            </a:r>
          </a:p>
          <a:p>
            <a:r>
              <a:t>A: We could treat it as a separate phase. I’ll send you a proposal with timing and costs by next Friday.</a:t>
            </a:r>
          </a:p>
          <a:p>
            <a:r>
              <a:t>B: That works for me. Let’s stay on phase one today, then.</a:t>
            </a:r>
          </a:p>
          <a:p>
            <a:r>
              <a:t>A: Perfect. Shall we start with the homepage? I’ll circle back on the app after the meeting.</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 | </a:t>
            </a:r>
          </a:p>
          <a:p>
            <a:r>
              <a:t>Situation | A client asks for something outside the agreed project.</a:t>
            </a:r>
          </a:p>
          <a:p>
            <a:r>
              <a:t>Your role (A) | Project manager. Your project: ______________</a:t>
            </a:r>
          </a:p>
          <a:p>
            <a:r>
              <a:t>Partner’s role (B) | Client who keeps adding requests.</a:t>
            </a:r>
          </a:p>
          <a:p>
            <a:r>
              <a:t>Must use (3 or more) | purpose · outside the scope of… · scope creep · separate phase · circle back</a:t>
            </a:r>
          </a:p>
          <a:p>
            <a:r>
              <a:t>Goal | Decline the extra request without hurting the relationship. Offer an alternative and a deadline.</a:t>
            </a:r>
          </a:p>
          <a:p>
            <a:r>
              <a:t>My notes | ____________________________________________</a:t>
            </a:r>
          </a:p>
          <a:p>
            <a:r>
              <a:t>The client says, “But we’re a big customer.” Stay firm and friendly: “I really appreciate that, and that’s why I want to get it right.”</a:t>
            </a:r>
          </a:p>
          <a:p>
            <a:r>
              <a:t>Offer two options: “We could either add it now and move the deadline, or keep the date and add it later.”</a:t>
            </a:r>
          </a:p>
          <a:p>
            <a:r>
              <a:t>Confirm in writing: “To confirm what we agreed, I’ll send a short email after the meeting.”</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Why is it important to define a meeting’s purpose at the start? | “It helps everyone to…” / “Without a clear purpose, people…”</a:t>
            </a:r>
          </a:p>
          <a:p>
            <a:r>
              <a:t>2. How do you say no to a request that is outside your remit? | “I’d say something like…” / “I’d explain that…”</a:t>
            </a:r>
          </a:p>
          <a:p>
            <a:r>
              <a:t>3. Is it ever OK to go off topic in a meeting? | “A little chat is fine when…” / “It becomes a problem when…”</a:t>
            </a:r>
          </a:p>
          <a:p>
            <a:r>
              <a:t>4. What is scope creep? Have you experienced it? | “I once worked on a project where…” / “It started small, but…”</a:t>
            </a:r>
          </a:p>
          <a:p>
            <a:r>
              <a:t>5. How do you make sure parked items are not forgotten? | “I’d write them down and…” / “Someone needs to own…”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“I’d start by acknowledging the request, so the person doesn’t feel ignored. Then I’d explain why it doesn’t fit: for example,”That’s outside my remit, but I think Finance is the right team.” If I can, I’d suggest a next step, like introducing them to the right person. It’s a bit more work than a simple “no”, but it keeps the relationship in good shape.”</a:t>
            </a:r>
          </a:p>
          <a:p>
            <a:r>
              <a:t>“outside my remit” = 不在我的职责范围内;“keep … in good shape” = 让…保持良好状态。“I’d” = I would,用来委婉表达。</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Saying no politely: acknowledge – explain – offer 委婉拒绝三步法</a:t>
            </a:r>
          </a:p>
          <a:p>
            <a:r>
              <a:t>Step | Example</a:t>
            </a:r>
          </a:p>
          <a:p>
            <a:r>
              <a:t>1 Acknowledge | I hear you. / That’s a fair point. / I can see why that matters.</a:t>
            </a:r>
          </a:p>
          <a:p>
            <a:r>
              <a:t>2 Explain | …but it’s outside the scope of today’s meeting.</a:t>
            </a:r>
          </a:p>
          <a:p>
            <a:r>
              <a:t>3 Offer | Let’s put it on Thursday’s agenda. / I’ll follow up after the call.</a:t>
            </a:r>
          </a:p>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Saying no politely: acknowledge – explain – offer 委婉拒绝三步法</a:t>
            </a:r>
          </a:p>
          <a:p>
            <a:r>
              <a:t>Avoid a bare “No.” or “That’s not my job.” The first sounds cold, the second sounds rude.</a:t>
            </a:r>
          </a:p>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 forms and prepositions 词形与介词</a:t>
            </a:r>
          </a:p>
          <a:p>
            <a:r>
              <a:t>outside / beyond the scope of; relevant to (opposite: irrelevant, not “unrelevant”); responsible for; within / outside my remit.</a:t>
            </a:r>
          </a:p>
          <a:p>
            <a:r>
              <a:t>Information is uncountable: “some information”, not “informations”.</a:t>
            </a:r>
          </a:p>
          <a:p>
            <a:r>
              <a:t>Concentrate on, focus on, get back to, follow up on.</a:t>
            </a:r>
          </a:p>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This topic is not relative to our meeting.  →  ✓ This topic is not relevant to our meeting.  (relative = 相对的;relevant = 相关的)</a:t>
            </a:r>
          </a:p>
          <a:p>
            <a:r>
              <a:t>✗ It’s out of the scope of this meeting.  →  ✓ It’s outside the scope of this meeting.  (outside / beyond the scope of 更自然)</a:t>
            </a:r>
          </a:p>
          <a:p>
            <a:r>
              <a:t>✗ Let’s discuss it in another time.  →  ✓ Let’s discuss it at another time.  (at another time)</a:t>
            </a:r>
          </a:p>
          <a:p>
            <a:r>
              <a:t>✗ I’m not responsible of this.  →  ✓ I’m not responsible for this.  (responsible for)</a:t>
            </a:r>
          </a:p>
          <a:p>
            <a:r>
              <a:t>Mistake Watch: Watch the prepositions: outside the scope of, relevant to, responsible for, concentrate on. Write them on a card.</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should concentrate in the main topic.  →  ✓ We should concentrate on the main topic.  (concentrate on)</a:t>
            </a:r>
          </a:p>
          <a:p>
            <a:r>
              <a:t>✗ Can I ask something out of topic?  →  ✓ Can I ask something off topic?  (off topic)</a:t>
            </a:r>
          </a:p>
          <a:p>
            <a:r>
              <a:t>✗ He didn’t give me many informations.  →  ✓ He didn’t give me much information.  (information 不可数)</a:t>
            </a:r>
          </a:p>
          <a:p>
            <a:r>
              <a:t>✗ We’ll park it and talk later about it.  →  ✓ We’ll park it and talk about it later.  (语序:later 放在句末)</a:t>
            </a:r>
          </a:p>
          <a:p>
            <a:r>
              <a:t>Mistake Watch: Watch the prepositions: outside the scope of, relevant to, responsible for, concentrate on. Write them on a card.</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“Parking lot” is common in US and international teams. Many British speakers say “put it on the back burner” or “take it offline”.</a:t>
            </a:r>
          </a:p>
          <a:p>
            <a:r>
              <a:t>Do not say “That’s not important.” Say “That’s important, but not for today.” You protect the other person’s face.</a:t>
            </a:r>
          </a:p>
          <a:p>
            <a:r>
              <a:t>With seniors, ask permission: “Would it be OK if we…?” Do not simply order them to stop.</a:t>
            </a:r>
          </a:p>
          <a:p>
            <a:r>
              <a:t>Follow up in writing. Send the parked list after the meeting with an owner and a date.</a:t>
            </a:r>
          </a:p>
          <a:p>
            <a:r>
              <a:t>A clear scope protects you. In client work, “outside the scope” is a normal, professional phrase, not an insult.</a:t>
            </a:r>
          </a:p>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state the purpose and scope of a meeting in one sentence.</a:t>
            </a:r>
          </a:p>
          <a:p>
            <a:r>
              <a:t>I can say a topic is outside the scope without sounding rude (acknowledge – explain – offer).</a:t>
            </a:r>
          </a:p>
          <a:p>
            <a:r>
              <a:t>I can use park it, derail, circle back, follow up on in context.</a:t>
            </a:r>
          </a:p>
          <a:p>
            <a:r>
              <a:t>I can say no to a client’s extra request and offer an alternative.</a:t>
            </a:r>
          </a:p>
          <a:p>
            <a:r>
              <a:t>I use relevant to / responsible for / concentrate on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Role-play the “acknowledge – explain – offer” reply to three different off-topic requests. Record it.</a:t>
            </a:r>
          </a:p>
          <a:p>
            <a:r>
              <a:t>8–10 | Listen to your recording. Check: prepositions (scope of, relevant to, concentrate on), tone, uncountable “information”.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04 · Meeting mishaps 会议瑕疵</a:t>
            </a:r>
          </a:p>
          <a:p>
            <a:r>
              <a:t>Goal: recover calmly when things go wrong in a meeting: apologise briefly, correct mistakes, and use light humour where appropriate.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 “has happened” 用现在完成时(问经历);讲具体经过时改用过去式(it happened, I said…)。</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Tell a story about a meeting mishap (real or imagined).</a:t>
            </a:r>
          </a:p>
          <a:p>
            <a:r>
              <a:t>Say: what happened → how you felt → how you fixed it → what you learned.</a:t>
            </a:r>
          </a:p>
          <a:p>
            <a:r>
              <a:t>Useful starters: “I’ll never forget the time when…” / “I wanted the ground to swallow me up.” / “Looking back, it was actually quite funny.”</a:t>
            </a:r>
          </a:p>
          <a:p>
            <a:r>
              <a:t>“I wanted the ground to swallow me up” 是习语,意为”恨不得找个地缝钻进去”。“the time when…” 用来引出一次具体的经历。</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During a quarterly review with the board, Raj shared his screen to show the sales figures. What he forgot was that his personal messages were open in the corner of the screen. A message from his brother appeared: “Are you still coming for dinner? Mum is cooking that awful fish.” Everyone saw it. For a moment, nobody said anything. Raj turned red, then laughed. “Well,” he said, “I think we can all agree that’s off the record.” The chairman smiled, and the tension disappeared. Raj closed the chat, apologised briefly and carried on with the figures. Later, a board member told him, “It wasn’t the mistake I’ll remember. It was how calmly you handled it.” Since then, Raj closes everything before he shares his screen, and he always checks which window he is about to share.</a:t>
            </a:r>
          </a:p>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went wrong during Raj’s presentation?</a:t>
            </a:r>
          </a:p>
          <a:p>
            <a:r>
              <a:t>A: A private message from his brother appeared on the shared screen.</a:t>
            </a:r>
          </a:p>
          <a:p>
            <a:r>
              <a:t>Q2. How did Raj react?</a:t>
            </a:r>
          </a:p>
          <a:p>
            <a:r>
              <a:t>A: He laughed, made a joke, apologised briefly and carried on.</a:t>
            </a:r>
          </a:p>
          <a:p>
            <a:r>
              <a:t>Q3. What does he do differently now?</a:t>
            </a:r>
          </a:p>
          <a:p>
            <a:r>
              <a:t>A: He closes everything before sharing and checks which window he shares.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When things go wrong 出了问题</a:t>
            </a:r>
          </a:p>
          <a:p>
            <a:r>
              <a:t>领读 → 学员跟读 → 请学员用表达造一个和自己工作相关的句子。</a:t>
            </a:r>
          </a:p>
          <a:p>
            <a:r>
              <a:t>mishap (noun) 小意外,小差错 — “It was only a minor mishap, nothing serious.”</a:t>
            </a:r>
          </a:p>
          <a:p>
            <a:r>
              <a:t>glitch (noun) 小故障 — “There’s a glitch with the projector.”</a:t>
            </a:r>
          </a:p>
          <a:p>
            <a:r>
              <a:t>★ keep dropping (phrasal verb) 一直掉线 — “The connection keeps dropping, so I’ll dial in by phone.”</a:t>
            </a:r>
          </a:p>
          <a:p>
            <a:r>
              <a:t>★ freeze (froze, frozen) (verb) 卡住,冻结 — “Your screen has frozen.”</a:t>
            </a:r>
          </a:p>
          <a:p>
            <a:r>
              <a:t>★ talk over each other (phrasal verb) 抢话,同时说话 — “We keep talking over each other. Let’s go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Apologising and recovering 道歉与补救</a:t>
            </a:r>
          </a:p>
          <a:p>
            <a:r>
              <a:t>领读 → 学员跟读 → 请学员用表达造一个和自己工作相关的句子。</a:t>
            </a:r>
          </a:p>
          <a:p>
            <a:r>
              <a:t>Sorry about that. (phrase) 抱歉 — “Sorry about that. I’ll fix it right away.”</a:t>
            </a:r>
          </a:p>
          <a:p>
            <a:r>
              <a:t>★ I owe you an apology. (phrase) 我该向你道歉 — “I owe you an apology for the mix-up.”</a:t>
            </a:r>
          </a:p>
          <a:p>
            <a:r>
              <a:t>mix-up (noun) 弄混,搞错 — “There was a mix-up with the meeting time.”</a:t>
            </a:r>
          </a:p>
          <a:p>
            <a:r>
              <a:t>★ Let me rephrase that. (phrase) 我换个说法 — “Let me rephrase that. What I meant was…”</a:t>
            </a:r>
          </a:p>
          <a:p>
            <a:r>
              <a:t>★ laugh it off (phrasal verb) 一笑置之 — “He just laughed it off and carried on.”</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Preventing problems 防患于未然</a:t>
            </a:r>
          </a:p>
          <a:p>
            <a:r>
              <a:t>领读 → 学员跟读 → 请学员用表达造一个和自己工作相关的句子。</a:t>
            </a:r>
          </a:p>
          <a:p>
            <a:r>
              <a:t>double-check (verb) 再次核对 — “Always double-check the link before the meeting.”</a:t>
            </a:r>
          </a:p>
          <a:p>
            <a:r>
              <a:t>have a backup plan (collocation) 有备用方案 — “Have a backup plan in case the Wi-Fi fails.”</a:t>
            </a:r>
          </a:p>
          <a:p>
            <a:r>
              <a:t>★ run through (phrasal verb) 过一遍,预演 — “Let’s run through the slides before the call.”</a:t>
            </a:r>
          </a:p>
          <a:p>
            <a:r>
              <a:t>★ It slipped my mind. (idiom) 我忘了 — “I’m so sorry, it completely slipped my mind.”</a:t>
            </a:r>
          </a:p>
          <a:p>
            <a:r>
              <a:t>★ No harm done. (phrase) 没造成损害,没关系 — “Don’t worry about it. No harm done.”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glitch / mix-up / rephrase / double-check / slipped / harm</a:t>
            </a:r>
          </a:p>
          <a:p>
            <a:r>
              <a:t>1. There’s a small _______ with the projector. → glitch</a:t>
            </a:r>
          </a:p>
          <a:p>
            <a:r>
              <a:t>2. Sorry for the _______ with the meeting time. → mix-up</a:t>
            </a:r>
          </a:p>
          <a:p>
            <a:r>
              <a:t>3. Let me _______ that. What I meant was… → rephrase</a:t>
            </a:r>
          </a:p>
          <a:p>
            <a:r>
              <a:t>4. Always _______ the link before the call. → double-check</a:t>
            </a:r>
          </a:p>
          <a:p>
            <a:r>
              <a:t>5. I’m so sorry, it completely _______ my mind. → slipped</a:t>
            </a:r>
          </a:p>
          <a:p>
            <a:r>
              <a:t>6. Don’t worry about it. No _______ done. → harm</a:t>
            </a:r>
          </a:p>
          <a:p>
            <a:r>
              <a:t>Mistake Watch: (不规则动词与拼写) freeze – froze – frozen: “The screen froze / has frozen.” UK apologise, US apologize. a mix-up (noun) but to mix up (verb).</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mistake that delays a client meeting 失误导致客户会议延误</a:t>
            </a:r>
          </a:p>
          <a:p>
            <a:r>
              <a:t>情景：You sent the wrong link and the client has waited ten minutes.</a:t>
            </a:r>
          </a:p>
          <a:p>
            <a:r>
              <a:t>Role A: Ms Hart, client Role B: Tom Lin, account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(Ms Hart): Tom, we’ve been waiting for ten minutes. The link you sent doesn’t work.</a:t>
            </a:r>
          </a:p>
          <a:p>
            <a:r>
              <a:t>B (Tom): I’m so sorry, Ms Hart. I owe you an apology. There was a mix-up, and I sent last week’s link.</a:t>
            </a:r>
          </a:p>
          <a:p>
            <a:r>
              <a:t>A: These things happen. Do you have the right one?</a:t>
            </a:r>
          </a:p>
          <a:p>
            <a:r>
              <a:t>B: Yes, I’m sending it now. Sorry about that. Has it arrived?</a:t>
            </a:r>
          </a:p>
          <a:p>
            <a:r>
              <a:t>A: Got it. Right, we’re in.</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Thank you for your patience. To make up for the lost time, I’ve cut the presentation down to twenty minutes.</a:t>
            </a:r>
          </a:p>
          <a:p>
            <a:r>
              <a:t>A: I appreciate that, but I do need to leave at eleven.</a:t>
            </a:r>
          </a:p>
          <a:p>
            <a:r>
              <a:t>B: That’s no problem. We’ll run through the key figures first. And from now on, I’ll double-check every link before I send it.</a:t>
            </a:r>
          </a:p>
          <a:p>
            <a:r>
              <a:t>A: Good. No harm done. Shall we start?</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 | </a:t>
            </a:r>
          </a:p>
          <a:p>
            <a:r>
              <a:t>Situation | Your mistake has delayed a client meeting.</a:t>
            </a:r>
          </a:p>
          <a:p>
            <a:r>
              <a:t>Your role (B) | Account manager who made the mistake. Your company: ______________</a:t>
            </a:r>
          </a:p>
          <a:p>
            <a:r>
              <a:t>Partner’s role (A) | Client, a little annoyed but fair.</a:t>
            </a:r>
          </a:p>
          <a:p>
            <a:r>
              <a:t>Must use (4 or more) | I owe you an apology · mix-up · Thank you for your patience · double-check · No harm done</a:t>
            </a:r>
          </a:p>
          <a:p>
            <a:r>
              <a:t>Goal | Apologise sincerely in two sentences, explain briefly, fix it, and say how you will prevent it.</a:t>
            </a:r>
          </a:p>
          <a:p>
            <a:r>
              <a:t>My notes | ____________________________________________</a:t>
            </a:r>
          </a:p>
          <a:p>
            <a:r>
              <a:t>The client is angry: “This is the second time.” Reply: “You’re right, and I understand why you’re frustrated. Here’s what I’m doing about it.”</a:t>
            </a:r>
          </a:p>
          <a:p>
            <a:r>
              <a:t>Don’t over-apologise: one clear sorry, then action.</a:t>
            </a:r>
          </a:p>
          <a:p>
            <a:r>
              <a:t>Use humour only if the client smiles first.</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Correcting a mistake in your presentation 纠正演示中的错误</a:t>
            </a:r>
          </a:p>
          <a:p>
            <a:r>
              <a:t>情景：A director spots a wrong figure on your slide.</a:t>
            </a:r>
          </a:p>
          <a:p>
            <a:r>
              <a:t>Role A: Priya Nair, presenter Role B: Mr Collins, director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(Mr Collins): Priya, sorry to stop you, but this figure doesn’t look right. Last year’s revenue was 4.2 million, not 2.4.</a:t>
            </a:r>
          </a:p>
          <a:p>
            <a:r>
              <a:t>A (Priya): You’re absolutely right. Thank you for catching that. I’ve swapped the digits. The figure should be 4.2 million.</a:t>
            </a:r>
          </a:p>
          <a:p>
            <a:r>
              <a:t>B: So the growth rate must be different, too?</a:t>
            </a:r>
          </a:p>
          <a:p>
            <a:r>
              <a:t>A: Good question. Let me double-check. Yes, it’s 8 per cent, not 12. That changes the picture a little, but the main point still stands.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Which is?</a:t>
            </a:r>
          </a:p>
          <a:p>
            <a:r>
              <a:t>A: That we should keep investing in Asia. Let me rephrase that: growth is slower than I said, but it’s still positive.</a:t>
            </a:r>
          </a:p>
          <a:p>
            <a:r>
              <a:t>B: OK. Please send me the corrected slides after the meeting.</a:t>
            </a:r>
          </a:p>
          <a:p>
            <a:r>
              <a:t>A: Of course. I’ll send them within the hour, and I’ll run through every number again.</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 | </a:t>
            </a:r>
          </a:p>
          <a:p>
            <a:r>
              <a:t>Situation | You correct a mistake in front of senior people.</a:t>
            </a:r>
          </a:p>
          <a:p>
            <a:r>
              <a:t>Your role (A) | Presenter. Your topic: ______________</a:t>
            </a:r>
          </a:p>
          <a:p>
            <a:r>
              <a:t>Partner’s role (B) | Director who spots the mistake.</a:t>
            </a:r>
          </a:p>
          <a:p>
            <a:r>
              <a:t>Must use (3 or more) | Thank you for catching that · Let me double-check · Let me rephrase that · the main point still stands · I’ll send the corrected…</a:t>
            </a:r>
          </a:p>
          <a:p>
            <a:r>
              <a:t>Goal | Correct a mistake calmly, explain its effect and promise a follow-up in under a minute.</a:t>
            </a:r>
          </a:p>
          <a:p>
            <a:r>
              <a:t>My notes | ____________________________________________</a:t>
            </a:r>
          </a:p>
          <a:p>
            <a:r>
              <a:t>You can’t check the number now: “I don’t want to give you a wrong figure, so I’ll confirm it by email this afternoon.”</a:t>
            </a:r>
          </a:p>
          <a:p>
            <a:r>
              <a:t>Use light humour: “That’s what I get for presenting before my coffee.”</a:t>
            </a:r>
          </a:p>
          <a:p>
            <a:r>
              <a:t>The chair says, “Let’s move on.” Agree gracefully: “Of course. Thanks again.”</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How should you react when you make a mistake in front of senior people? | “I think the best thing is to…” / “I’d start by…”</a:t>
            </a:r>
          </a:p>
          <a:p>
            <a:r>
              <a:t>2. Is it OK to use humour after a mishap? | “A little humour can…” / “It depends on whether…”</a:t>
            </a:r>
          </a:p>
          <a:p>
            <a:r>
              <a:t>3. What do you do to prevent technical problems before an important meeting? | “I always…” / “It helps to have…”</a:t>
            </a:r>
          </a:p>
          <a:p>
            <a:r>
              <a:t>4. How much should you apologise? | “One clear apology is enough…” / “Over-apologising can make…”</a:t>
            </a:r>
          </a:p>
          <a:p>
            <a:r>
              <a:t>5. What can we learn from a mistake? | “One lesson I learned is…” / “Next time, I’d…”</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the best thing is to be calm and honest. First, I acknowledge the mistake with one short apology, without making excuses. Then I correct it straight away and explain what difference it makes. People usually respect that. What really damages your reputation isn’t the mistake. It’s trying to hide it or blaming someone else.”</a:t>
            </a:r>
          </a:p>
          <a:p>
            <a:r>
              <a:t>“make excuses” = 找借口;“straight away” = 立刻;“What really damages… isn’t…, it’s…” 是强调句型,用来突出重点。</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Apologising at different levels 不同程度的道歉</a:t>
            </a:r>
          </a:p>
          <a:p>
            <a:r>
              <a:t>Situation | Casual | More formal</a:t>
            </a:r>
          </a:p>
          <a:p>
            <a:r>
              <a:t>A tiny slip | Oops, sorry about that. | My mistake. I apologise.</a:t>
            </a:r>
          </a:p>
          <a:p>
            <a:r>
              <a:t>A delay | Sorry I’m late. | I apologise for keeping you waiting.</a:t>
            </a:r>
          </a:p>
          <a:p>
            <a:r>
              <a:t>A real mistake | Sorry, I got that wrong. | I owe you an apology. I should have checked.</a:t>
            </a:r>
          </a:p>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Apologising at different levels 不同程度的道歉</a:t>
            </a:r>
          </a:p>
          <a:p>
            <a:r>
              <a:t>A good apology has four parts: apology + short explanation + solution + prevention. Skip the long explanation.</a:t>
            </a:r>
          </a:p>
          <a:p>
            <a:r>
              <a:t>should have + past participle shows regret: “I should have double-checked the link.”</a:t>
            </a:r>
          </a:p>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structures 常用结构</a:t>
            </a:r>
          </a:p>
          <a:p>
            <a:r>
              <a:t>sorry for + -ing or sorry (that) + sentence: “Sorry for being late.” / “Sorry I’m late.”</a:t>
            </a:r>
          </a:p>
          <a:p>
            <a:r>
              <a:t>apologise to someone for something: “I apologise to the client for the delay.”</a:t>
            </a:r>
          </a:p>
          <a:p>
            <a:r>
              <a:t>make a mistake, make an apology (formal), accept responsibility.</a:t>
            </a:r>
          </a:p>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I’m sorry for I was late.  →  ✓ I’m sorry I was late. / I’m sorry for being late.  (sorry for + -ing)</a:t>
            </a:r>
          </a:p>
          <a:p>
            <a:r>
              <a:t>✗ I apologise you for the delay.  →  ✓ I apologise to you for the delay.  (apologise to sb for sth)</a:t>
            </a:r>
          </a:p>
          <a:p>
            <a:r>
              <a:t>✗ My computer is broke.  →  ✓ My computer is broken.  (broken 是形容词)</a:t>
            </a:r>
          </a:p>
          <a:p>
            <a:r>
              <a:t>✗ The screen freezed.  →  ✓ The screen froze.  (freeze 的过去式 froze)</a:t>
            </a:r>
          </a:p>
          <a:p>
            <a:r>
              <a:t>Mistake Watch: Check every past verb you say: froze, forgot, made, sent. Irregular verbs are the most common mistake in stories about the past.</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forgot bringing the file.  →  ✓ I forgot to bring the file.  (forget to do:忘记去做)</a:t>
            </a:r>
          </a:p>
          <a:p>
            <a:r>
              <a:t>✗ It’s my fault of sending the wrong file.  →  ✓ It’s my fault. I sent the wrong file.  (拆成两句更自然)</a:t>
            </a:r>
          </a:p>
          <a:p>
            <a:r>
              <a:t>✗ The meeting was cancel.  →  ✓ The meeting was cancelled.  (被动 was + 过去分词)</a:t>
            </a:r>
          </a:p>
          <a:p>
            <a:r>
              <a:t>✗ I have a mistake.  →  ✓ I made a mistake.  (make a mistake)</a:t>
            </a:r>
          </a:p>
          <a:p>
            <a:r>
              <a:t>Mistake Watch: Check every past verb you say: froze, forgot, made, sent. Irregular verbs are the most common mistake in stories about the past.</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Short and sincere. In the UK and the US, a brief apology plus action is expected. A very long apology feels awkward.</a:t>
            </a:r>
          </a:p>
          <a:p>
            <a:r>
              <a:t>“Sorry” as a politeness marker. British speakers often say sorry even when nothing is wrong: “Sorry, could you move your bag?” It does not always mean guilt.</a:t>
            </a:r>
          </a:p>
          <a:p>
            <a:r>
              <a:t>Self-deprecating humour is common and builds trust. Avoid it when the mistake involves money, safety, or a very serious client.</a:t>
            </a:r>
          </a:p>
          <a:p>
            <a:r>
              <a:t>Take responsibility. Don’t blame “the system” or another person. “I should have checked” is stronger than “The IT department sent the wrong link.”</a:t>
            </a:r>
          </a:p>
          <a:p>
            <a:r>
              <a:t>Correct privately when you can. If someone else makes a mistake in public, offer the correction gently: “Can I just check one number?”</a:t>
            </a:r>
          </a:p>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apologise briefly and professionally in a meeting.</a:t>
            </a:r>
          </a:p>
          <a:p>
            <a:r>
              <a:t>I can correct a mistake and explain its effect (Let me rephrase that, the main point still stands).</a:t>
            </a:r>
          </a:p>
          <a:p>
            <a:r>
              <a:t>I can describe technical problems with glitch, freeze, keep dropping.</a:t>
            </a:r>
          </a:p>
          <a:p>
            <a:r>
              <a:t>I can use at least three ★ expressions in my own sentences.</a:t>
            </a:r>
          </a:p>
          <a:p>
            <a:r>
              <a:t>I use irregular past verbs (froze, forgot, made) and apologise to… for… correctly.</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Tell the mishap story from the speaking prompt in 60 seconds, then repeat it in 40 seconds. Record both.</a:t>
            </a:r>
          </a:p>
          <a:p>
            <a:r>
              <a:t>8–10 | Listen to your recording. Check: irregular past verbs, apologise to/for, calm tone.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05 · Meeting reports 会议报告</a:t>
            </a:r>
          </a:p>
          <a:p>
            <a:r>
              <a:t>Goal: report the outcome of a meeting clearly, in speech and in writing: purpose, decisions, actions, owners and deadlines.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题可用被动语态:“The minutes are written by…”。第 3 题讲过去的事,用过去式(forgot, happened)。</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Give a one-minute oral report of a recent meeting to a colleague who could not attend.</a:t>
            </a:r>
          </a:p>
          <a:p>
            <a:r>
              <a:t>Say: purpose → key points → decisions → actions and deadlines.</a:t>
            </a:r>
          </a:p>
          <a:p>
            <a:r>
              <a:t>Useful starters: “The main purpose was to…” / “We agreed that…” / “It was decided that…” / “The action points are…”</a:t>
            </a:r>
          </a:p>
          <a:p>
            <a:r>
              <a:t>“It was decided that…” 是被动语态,常见于书面纪要;口语中更自然的说法是 “We decided to…”。</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Most minutes are long and boring, so nobody reads them. Mei, a project manager, changed that. After every meeting, she sends a message of no more than eight lines. The first line gives the decision in plain English: “We will launch on 14 March.” The next lines list the actions, each with a name and a date: “Ali: confirm the venue by Friday.” Anything that was only discussed goes at the bottom, under “Still open”. At first, her colleagues were surprised. Then they began to reply within the hour, and mistakes were corrected quickly. “People used to say they hadn’t seen it,” Mei said. “Now they can’t say that.” Her rule is simple: write what someone needs to know, not what everyone said. If readers want more detail, the recording is there.</a:t>
            </a:r>
          </a:p>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goes in the first line of Mei’s message?</a:t>
            </a:r>
          </a:p>
          <a:p>
            <a:r>
              <a:t>A: The decision, in plain English.</a:t>
            </a:r>
          </a:p>
          <a:p>
            <a:r>
              <a:t>Q2. How does she present the actions?</a:t>
            </a:r>
          </a:p>
          <a:p>
            <a:r>
              <a:t>A: Each action has a name and a date.</a:t>
            </a:r>
          </a:p>
          <a:p>
            <a:r>
              <a:t>Q3. What is her rule?</a:t>
            </a:r>
          </a:p>
          <a:p>
            <a:r>
              <a:t>A: Write what someone needs to know, not everything that was said.</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The structure of a report 报告的结构</a:t>
            </a:r>
          </a:p>
          <a:p>
            <a:r>
              <a:t>领读 → 学员跟读 → 请学员用表达造一个和自己工作相关的句子。</a:t>
            </a:r>
          </a:p>
          <a:p>
            <a:r>
              <a:t>minutes (noun (plural)) 会议纪要 — “Who’s taking the minutes today?”</a:t>
            </a:r>
          </a:p>
          <a:p>
            <a:r>
              <a:t>attendees / apologies (noun) 出席者 / 请假者 — “Apologies: Sam and Mei.”</a:t>
            </a:r>
          </a:p>
          <a:p>
            <a:r>
              <a:t>summary (noun) 摘要 — “I’ll send a short summary after the meeting.”</a:t>
            </a:r>
          </a:p>
          <a:p>
            <a:r>
              <a:t>★ key takeaway (noun phrase) 核心要点 — “The key takeaway is that we need more budget.”</a:t>
            </a:r>
          </a:p>
          <a:p>
            <a:r>
              <a:t>★ outcome (noun) 结果,结论 — “The outcome of the meeting was positive.”</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Reporting what happened 汇报会议内容</a:t>
            </a:r>
          </a:p>
          <a:p>
            <a:r>
              <a:t>领读 → 学员跟读 → 请学员用表达造一个和自己工作相关的句子。</a:t>
            </a:r>
          </a:p>
          <a:p>
            <a:r>
              <a:t>It was agreed that… (phrase (formal)) 会议同意… — “It was agreed that the launch will be delayed.”</a:t>
            </a:r>
          </a:p>
          <a:p>
            <a:r>
              <a:t>We decided to… (phrase) 我们决定… — “We decided to move the deadline to Friday.”</a:t>
            </a:r>
          </a:p>
          <a:p>
            <a:r>
              <a:t>★ sign off on (phrasal verb) 批准,签字同意 — “The director signed off on the budget.”</a:t>
            </a:r>
          </a:p>
          <a:p>
            <a:r>
              <a:t>★ put forward (phrasal verb) 提出(方案) — “Lena put forward a proposal to delay the launch.”</a:t>
            </a:r>
          </a:p>
          <a:p>
            <a:r>
              <a:t>★ object to (verb phrase) 反对 — “Two members objected to the new schedule.”</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Actions and follow-up 行动与跟进</a:t>
            </a:r>
          </a:p>
          <a:p>
            <a:r>
              <a:t>领读 → 学员跟读 → 请学员用表达造一个和自己工作相关的句子。</a:t>
            </a:r>
          </a:p>
          <a:p>
            <a:r>
              <a:t>action point (noun) 行动事项 — “The action points are listed at the end.”</a:t>
            </a:r>
          </a:p>
          <a:p>
            <a:r>
              <a:t>deadline (noun) 截止日期 — “The deadline is the end of the month.”</a:t>
            </a:r>
          </a:p>
          <a:p>
            <a:r>
              <a:t>★ take the lead on (collocation) 牵头负责 — “Ana will take the lead on the client survey.”</a:t>
            </a:r>
          </a:p>
          <a:p>
            <a:r>
              <a:t>★ circulate (verb) 分发,传阅 — “I’ll circulate the minutes by tomorrow.”</a:t>
            </a:r>
          </a:p>
          <a:p>
            <a:r>
              <a:t>★ still open (adjective phrase) 尚未解决的 — “The budget is still open. We’ll decide next week.”</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minutes / attendees / agreed / signed / circulate / deadline</a:t>
            </a:r>
          </a:p>
          <a:p>
            <a:r>
              <a:t>1. Who is taking the _______ today? → minutes</a:t>
            </a:r>
          </a:p>
          <a:p>
            <a:r>
              <a:t>2. Please check the list of _______ before you send it. → attendees</a:t>
            </a:r>
          </a:p>
          <a:p>
            <a:r>
              <a:t>3. It was _______ that the launch will be delayed. → agreed</a:t>
            </a:r>
          </a:p>
          <a:p>
            <a:r>
              <a:t>4. The director _______ off on the budget yesterday. → signed</a:t>
            </a:r>
          </a:p>
          <a:p>
            <a:r>
              <a:t>5. I’ll _______ the minutes by tomorrow morning. → circulate</a:t>
            </a:r>
          </a:p>
          <a:p>
            <a:r>
              <a:t>6. The _______ for this task is Friday. → deadline</a:t>
            </a:r>
          </a:p>
          <a:p>
            <a:r>
              <a:t>Mistake Watch: (拼写与单复数) minutes is always plural for meeting records (“The minutes are ready”). Spelling: attendee, deadline, circulate.</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Reporting to a manager who missed the meeting 向缺席的经理汇报</a:t>
            </a:r>
          </a:p>
          <a:p>
            <a:r>
              <a:t>情景：Your manager could not attend the meeting and asks for a quick summary.</a:t>
            </a:r>
          </a:p>
          <a:p>
            <a:r>
              <a:t>Role A: Karen Wu, manager Role B: Leo Zhang, team member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(Karen): Leo, sorry I couldn’t make the meeting. Can you give me a quick rundown?</a:t>
            </a:r>
          </a:p>
          <a:p>
            <a:r>
              <a:t>B (Leo): Sure. The main purpose was to decide the launch date.</a:t>
            </a:r>
          </a:p>
          <a:p>
            <a:r>
              <a:t>A: And did you?</a:t>
            </a:r>
          </a:p>
          <a:p>
            <a:r>
              <a:t>B: Yes. We agreed to launch on 14 March. The director signed off on the budget as well.</a:t>
            </a:r>
          </a:p>
          <a:p>
            <a:r>
              <a:t>A: Great. Did anyone object?</a:t>
            </a:r>
          </a:p>
          <a:p>
            <a:r>
              <a:t>B: Lena put forward a proposal for an extra week of testing, but in the end it was turned down.</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OK. What are the action points?</a:t>
            </a:r>
          </a:p>
          <a:p>
            <a:r>
              <a:t>B: Ali will confirm the venue by Friday, and I’ll take the lead on the press release. The deadline for the first draft is next Wednesday.</a:t>
            </a:r>
          </a:p>
          <a:p>
            <a:r>
              <a:t>A: Is anything still open?</a:t>
            </a:r>
          </a:p>
          <a:p>
            <a:r>
              <a:t>B: The advertising budget. We’ll decide that next week.</a:t>
            </a:r>
          </a:p>
          <a:p>
            <a:r>
              <a:t>A: Thanks, that’s very clear. Could you circulate the minutes today?</a:t>
            </a:r>
          </a:p>
          <a:p>
            <a:r>
              <a:t>B: Of course. I’ll send them this afternoon.</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9 | </a:t>
            </a:r>
          </a:p>
          <a:p>
            <a:r>
              <a:t>Situation | You report the result of a meeting to a manager.</a:t>
            </a:r>
          </a:p>
          <a:p>
            <a:r>
              <a:t>Your role (B) | Team member who attended. Meeting topic: ______________</a:t>
            </a:r>
          </a:p>
          <a:p>
            <a:r>
              <a:t>Partner’s role (A) | Manager who missed the meeting.</a:t>
            </a:r>
          </a:p>
          <a:p>
            <a:r>
              <a:t>Must use (4 or more) | The main purpose was… · We agreed to… · signed off on · take the lead on · still open · circulate</a:t>
            </a:r>
          </a:p>
          <a:p>
            <a:r>
              <a:t>Goal | Give a clear oral report in about 60 seconds: purpose, decision, actions, open points.</a:t>
            </a:r>
          </a:p>
          <a:p>
            <a:r>
              <a:t>My notes | ____________________________________________</a:t>
            </a:r>
          </a:p>
          <a:p>
            <a:r>
              <a:t>Do it in 30 seconds: only the decision and the actions.</a:t>
            </a:r>
          </a:p>
          <a:p>
            <a:r>
              <a:t>Use the formal passive: “It was agreed that… / It was decided to…”</a:t>
            </a:r>
          </a:p>
          <a:p>
            <a:r>
              <a:t>The manager asks something you don’t know: “I’m afraid I don’t have that detail. I’ll check with Ali and get back to you.”</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Checking the minutes with the chair 与主持人核对纪要</a:t>
            </a:r>
          </a:p>
          <a:p>
            <a:r>
              <a:t>情景：The minute-taker checks a draft with the chair before sending it.</a:t>
            </a:r>
          </a:p>
          <a:p>
            <a:r>
              <a:t>Role A: Nina Gao, minute-taker Role B: Oscar Said, chair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(Nina): Oscar, I’ve drafted the minutes. Can I check a few points with you?</a:t>
            </a:r>
          </a:p>
          <a:p>
            <a:r>
              <a:t>B (Oscar): Sure, go ahead.</a:t>
            </a:r>
          </a:p>
          <a:p>
            <a:r>
              <a:t>A: I’ve written, “It was agreed that the supplier will deliver by 5 May.” Is that correct?</a:t>
            </a:r>
          </a:p>
          <a:p>
            <a:r>
              <a:t>B: Not quite. We said the end of May, not the fifth. I think you may have misheard.</a:t>
            </a:r>
          </a:p>
          <a:p>
            <a:r>
              <a:t>A: Thanks for catching that. I’ll correct it. And I’ve put you down as the owner of the budget review. Is that right?</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Actually, it should be Marta. I’m just the sponsor.</a:t>
            </a:r>
          </a:p>
          <a:p>
            <a:r>
              <a:t>A: Understood. Should I include the discussion about the logo?</a:t>
            </a:r>
          </a:p>
          <a:p>
            <a:r>
              <a:t>B: No, leave that out. Just add it under “Still open”. We didn’t reach a conclusion.</a:t>
            </a:r>
          </a:p>
          <a:p>
            <a:r>
              <a:t>A: OK. I’ll circulate the final version by five o’clock.</a:t>
            </a:r>
          </a:p>
          <a:p>
            <a:r>
              <a:t>B: Perfect. Keep it short, please. Nobody reads more than one page.</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10 | </a:t>
            </a:r>
          </a:p>
          <a:p>
            <a:r>
              <a:t>Situation | You check a draft of the minutes with the person who chaired the meeting.</a:t>
            </a:r>
          </a:p>
          <a:p>
            <a:r>
              <a:t>Your role (A) | Minute-taker. Meeting topic: ______________</a:t>
            </a:r>
          </a:p>
          <a:p>
            <a:r>
              <a:t>Partner’s role (B) | Chair who corrects details.</a:t>
            </a:r>
          </a:p>
          <a:p>
            <a:r>
              <a:t>Must use (3 or more) | I’ve drafted the minutes · It was agreed that… · I’ve put you down as… · leave that out · circulate</a:t>
            </a:r>
          </a:p>
          <a:p>
            <a:r>
              <a:t>Goal | Check three points (decision, owner, deadline) and agree what to include.</a:t>
            </a:r>
          </a:p>
          <a:p>
            <a:r>
              <a:t>My notes | ____________________________________________</a:t>
            </a:r>
          </a:p>
          <a:p>
            <a:r>
              <a:t>Turn spoken language into formal written language: “We decided to delay” becomes “It was agreed to delay the launch.”</a:t>
            </a:r>
          </a:p>
          <a:p>
            <a:r>
              <a:t>Write a five-line summary: one decision, two actions, one open point, one date.</a:t>
            </a:r>
          </a:p>
          <a:p>
            <a:r>
              <a:t>A participant disagrees with your wording: “That’s not how I remember it. Could we check the recording?”</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makes meeting minutes useful? | “In my view, useful minutes are…” / “They should start with…”</a:t>
            </a:r>
          </a:p>
          <a:p>
            <a:r>
              <a:t>2. Should recordings replace written minutes? | “A recording is useful for…, but…” / “Nobody has time to…”</a:t>
            </a:r>
          </a:p>
          <a:p>
            <a:r>
              <a:t>3. How do you make sure people complete their action items? | “I’d follow up…” / “It helps to give every task an owner and a date.”</a:t>
            </a:r>
          </a:p>
          <a:p>
            <a:r>
              <a:t>4. Who should take the minutes? Should the role rotate? | “I think it should rotate because…” / “The advantage of rotating is…”</a:t>
            </a:r>
          </a:p>
          <a:p>
            <a:r>
              <a:t>5. How do you handle a disagreement about what was decided? | “I’d check the notes and…” / “I’d ask everyone to confirm…”</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“In my view, useful minutes are short, clear and easy to scan. They should start with the decisions, then list the actions with an owner and a deadline. I’d leave out who said what, unless it matters. If the minutes need more than one page, I think the meeting was probably too long. Above all, they should be sent the same day, while everyone still remembers the discussion.”</a:t>
            </a:r>
          </a:p>
          <a:p>
            <a:r>
              <a:t>“In my view” = 我认为;“easy to scan” = 便于快速浏览;“Above all” = 最重要的是;“leave out” = 省略。</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report vs written minutes 口头汇报与书面纪要</a:t>
            </a:r>
          </a:p>
          <a:p>
            <a:r>
              <a:t>Spoken (natural) | Written (minutes)</a:t>
            </a:r>
          </a:p>
          <a:p>
            <a:r>
              <a:t>We decided to move the deadline. | It was agreed to move the deadline.</a:t>
            </a:r>
          </a:p>
          <a:p>
            <a:r>
              <a:t>Ali will check the venue. | Action: Ali to confirm the venue by Friday.</a:t>
            </a:r>
          </a:p>
          <a:p>
            <a:r>
              <a:t>We talked about the budget. | The budget was discussed.</a:t>
            </a:r>
          </a:p>
          <a:p>
            <a:r>
              <a:t>Nobody liked the idea. | There was no support for the proposal.</a:t>
            </a:r>
          </a:p>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Reporting verbs and tenses 汇报动词与时态</a:t>
            </a:r>
          </a:p>
          <a:p>
            <a:r>
              <a:t>Past simple for what happened: “We agreed… / Lena objected…”</a:t>
            </a:r>
          </a:p>
          <a:p>
            <a:r>
              <a:t>Will / to + infinitive for actions: “Ali will confirm the venue.” / “Action: Ali to confirm…”</a:t>
            </a:r>
          </a:p>
          <a:p>
            <a:r>
              <a:t>Reported speech: the tense moves back. “She said she would send it.” (not “will”)</a:t>
            </a:r>
          </a:p>
          <a:p>
            <a:r>
              <a:t>say (no person) vs tell (person): “She said it was fine.” / “She told me it was fine.”</a:t>
            </a:r>
          </a:p>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minute is ready.  →  ✓ The minutes are ready.  (纪要用复数 minutes)</a:t>
            </a:r>
          </a:p>
          <a:p>
            <a:r>
              <a:t>✗ He said me that he would come.  →  ✓ He told me that he would come. / He said that he would come.  (say 后不直接跟人)</a:t>
            </a:r>
          </a:p>
          <a:p>
            <a:r>
              <a:t>✗ We agreed to finish until Friday.  →  ✓ We agreed to finish by Friday.  (截止时间用 by)</a:t>
            </a:r>
          </a:p>
          <a:p>
            <a:r>
              <a:t>✗ She suggested to postpone.  →  ✓ She suggested postponing. / She suggested that we postpone.  (suggest + -ing)</a:t>
            </a:r>
          </a:p>
          <a:p>
            <a:r>
              <a:t>Mistake Watch: Mark every by / until, say / tell and discuss in your draft. These three cause most errors in meeting reports.</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meeting discussed about three topics.  →  ✓ The meeting discussed three topics.  (discuss 不加 about)</a:t>
            </a:r>
          </a:p>
          <a:p>
            <a:r>
              <a:t>✗ There is three action points.  →  ✓ There are three action points.  (复数用 are)</a:t>
            </a:r>
          </a:p>
          <a:p>
            <a:r>
              <a:t>✗ I will report you the result.  →  ✓ I’ll report the result to you. / I’ll let you know the result.  (report sth to sb)</a:t>
            </a:r>
          </a:p>
          <a:p>
            <a:r>
              <a:t>✗ We have decided to not launch.  →  ✓ We have decided not to launch.  (not to + 动词原形)</a:t>
            </a:r>
          </a:p>
          <a:p>
            <a:r>
              <a:t>Mistake Watch: Mark every by / until, say / tell and discuss in your draft. These three cause most errors in meeting reports.</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Recap emails. UK and US teams often send a same-day message: “Hi all, thanks for today. Quick recap:”</a:t>
            </a:r>
          </a:p>
          <a:p>
            <a:r>
              <a:t>“Minutes” vs “notes”. Minutes are formal (boards, committees). Teams usually write notes or a summary.</a:t>
            </a:r>
          </a:p>
          <a:p>
            <a:r>
              <a:t>Owner + date. An action without a name and a date is not an action. Always write both.</a:t>
            </a:r>
          </a:p>
          <a:p>
            <a:r>
              <a:t>Invite corrections. End with: “Please let me know by Friday if I’ve missed anything.” Silence then counts as agreement.</a:t>
            </a:r>
          </a:p>
          <a:p>
            <a:r>
              <a:t>Neutral tone. Don’t write who said what unless it matters, and never put personal criticism in the minutes.</a:t>
            </a:r>
          </a:p>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give a one-minute oral report: purpose, decisions, actions, open points.</a:t>
            </a:r>
          </a:p>
          <a:p>
            <a:r>
              <a:t>I can write a five-line meeting summary with owners and deadlines.</a:t>
            </a:r>
          </a:p>
          <a:p>
            <a:r>
              <a:t>I can use It was agreed that…, sign off on, put forward, take the lead on.</a:t>
            </a:r>
          </a:p>
          <a:p>
            <a:r>
              <a:t>I can use at least three ★ expressions in my own sentences.</a:t>
            </a:r>
          </a:p>
          <a:p>
            <a:r>
              <a:t>I use minutes (plural), by / until, say / tell correctly.</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Give your oral report in 60 seconds, then write it as five lines. Record the oral version.</a:t>
            </a:r>
          </a:p>
          <a:p>
            <a:r>
              <a:t>8–10 | Listen to your recording. Check: by / until, say / tell, minutes (plural), no “about” after discuss.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“中途退出通话” in English? → drop off</a:t>
            </a:r>
          </a:p>
          <a:p>
            <a:r>
              <a:t>“抱歉插一句…” in English? → Sorry to jump in, but…</a:t>
            </a:r>
          </a:p>
          <a:p>
            <a:r>
              <a:t>“摘要” in English? → summary</a:t>
            </a:r>
          </a:p>
          <a:p>
            <a:r>
              <a:t>Fix it: It’s out of the scope of this meeting. → It’s outside the scope of this meeting.</a:t>
            </a:r>
          </a:p>
          <a:p>
            <a:r>
              <a:t>Fix it: We will discuss about the budget. → We will discuss the budget.</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31.xml"/><Relationship Id="rId5" Type="http://schemas.openxmlformats.org/officeDocument/2006/relationships/slide" Target="slide59.xml"/><Relationship Id="rId6" Type="http://schemas.openxmlformats.org/officeDocument/2006/relationships/slide" Target="slide87.xml"/><Relationship Id="rId7" Type="http://schemas.openxmlformats.org/officeDocument/2006/relationships/slide" Target="slide1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2.xml"/><Relationship Id="rId4" Type="http://schemas.openxmlformats.org/officeDocument/2006/relationships/slide" Target="slide143.xml"/><Relationship Id="rId5" Type="http://schemas.openxmlformats.org/officeDocument/2006/relationships/slide" Target="slide144.xml"/><Relationship Id="rId6" Type="http://schemas.openxmlformats.org/officeDocument/2006/relationships/slide" Target="slide145.xml"/><Relationship Id="rId7" Type="http://schemas.openxmlformats.org/officeDocument/2006/relationships/slide" Target="slide146.xml"/><Relationship Id="rId8" Type="http://schemas.openxmlformats.org/officeDocument/2006/relationships/slide" Target="slide147.xml"/><Relationship Id="rId9" Type="http://schemas.openxmlformats.org/officeDocument/2006/relationships/slide" Target="slide148.xml"/><Relationship Id="rId10" Type="http://schemas.openxmlformats.org/officeDocument/2006/relationships/slide" Target="slide149.xml"/><Relationship Id="rId11" Type="http://schemas.openxmlformats.org/officeDocument/2006/relationships/slide" Target="slide150.xml"/><Relationship Id="rId12" Type="http://schemas.openxmlformats.org/officeDocument/2006/relationships/slide" Target="slide15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4.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7–8 · UNIT 1</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6000" b="1">
                <a:solidFill>
                  <a:srgbClr val="FFFFFF"/>
                </a:solidFill>
                <a:latin typeface="Arial"/>
                <a:ea typeface="Microsoft YaHei"/>
              </a:rPr>
              <a:t>Business Meetings</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5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L01 Online meetings · L02 Bad meetings · L03 Outside the scope of this meeting · L04 Meeting mishaps · L05 Meeting reports</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01</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Online meetings</a:t>
            </a:r>
          </a:p>
          <a:p>
            <a:pPr algn="l">
              <a:lnSpc>
                <a:spcPct val="100000"/>
              </a:lnSpc>
              <a:spcAft>
                <a:spcPts val="800"/>
              </a:spcAft>
            </a:pPr>
            <a:r>
              <a:rPr sz="1400" b="0">
                <a:solidFill>
                  <a:srgbClr val="5F677A"/>
                </a:solidFill>
                <a:latin typeface="Arial"/>
                <a:ea typeface="Microsoft YaHei"/>
              </a:rPr>
              <a:t>线上会议</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02</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Bad meetings</a:t>
            </a:r>
          </a:p>
          <a:p>
            <a:pPr algn="l">
              <a:lnSpc>
                <a:spcPct val="100000"/>
              </a:lnSpc>
              <a:spcAft>
                <a:spcPts val="800"/>
              </a:spcAft>
            </a:pPr>
            <a:r>
              <a:rPr sz="1400" b="0">
                <a:solidFill>
                  <a:srgbClr val="5F677A"/>
                </a:solidFill>
                <a:latin typeface="Arial"/>
                <a:ea typeface="Microsoft YaHei"/>
              </a:rPr>
              <a:t>无效会议</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03</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Outside the scope of this meeting</a:t>
            </a:r>
          </a:p>
          <a:p>
            <a:pPr algn="l">
              <a:lnSpc>
                <a:spcPct val="100000"/>
              </a:lnSpc>
              <a:spcAft>
                <a:spcPts val="800"/>
              </a:spcAft>
            </a:pPr>
            <a:r>
              <a:rPr sz="1400" b="0">
                <a:solidFill>
                  <a:srgbClr val="5F677A"/>
                </a:solidFill>
                <a:latin typeface="Arial"/>
                <a:ea typeface="Microsoft YaHei"/>
              </a:rPr>
              <a:t>不在本次会议范围</a:t>
            </a:r>
          </a:p>
        </p:txBody>
      </p:sp>
      <p:sp>
        <p:nvSpPr>
          <p:cNvPr id="16" name="Rounded Rectangle 15">
            <a:hlinkClick action="ppaction://hlinksldjump" r:id="rId6"/>
          </p:cNvPr>
          <p:cNvSpPr/>
          <p:nvPr/>
        </p:nvSpPr>
        <p:spPr>
          <a:xfrm>
            <a:off x="548640" y="2971800"/>
            <a:ext cx="3576218"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8368" y="3268980"/>
            <a:ext cx="8686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04</a:t>
            </a:r>
          </a:p>
        </p:txBody>
      </p:sp>
      <p:sp>
        <p:nvSpPr>
          <p:cNvPr id="18" name="TextBox 17"/>
          <p:cNvSpPr txBox="1"/>
          <p:nvPr/>
        </p:nvSpPr>
        <p:spPr>
          <a:xfrm>
            <a:off x="1645920"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Meeting mishaps</a:t>
            </a:r>
          </a:p>
          <a:p>
            <a:pPr algn="l">
              <a:lnSpc>
                <a:spcPct val="100000"/>
              </a:lnSpc>
              <a:spcAft>
                <a:spcPts val="800"/>
              </a:spcAft>
            </a:pPr>
            <a:r>
              <a:rPr sz="1400" b="0">
                <a:solidFill>
                  <a:srgbClr val="5F677A"/>
                </a:solidFill>
                <a:latin typeface="Arial"/>
                <a:ea typeface="Microsoft YaHei"/>
              </a:rPr>
              <a:t>会议瑕疵</a:t>
            </a:r>
          </a:p>
        </p:txBody>
      </p:sp>
      <p:sp>
        <p:nvSpPr>
          <p:cNvPr id="19" name="Rounded Rectangle 18">
            <a:hlinkClick action="ppaction://hlinksldjump" r:id="rId7"/>
          </p:cNvPr>
          <p:cNvSpPr/>
          <p:nvPr/>
        </p:nvSpPr>
        <p:spPr>
          <a:xfrm>
            <a:off x="4307738" y="2971800"/>
            <a:ext cx="3576218" cy="12344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7466" y="3268980"/>
            <a:ext cx="8686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05</a:t>
            </a:r>
          </a:p>
        </p:txBody>
      </p:sp>
      <p:sp>
        <p:nvSpPr>
          <p:cNvPr id="21" name="TextBox 20"/>
          <p:cNvSpPr txBox="1"/>
          <p:nvPr/>
        </p:nvSpPr>
        <p:spPr>
          <a:xfrm>
            <a:off x="5405018"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Meeting reports</a:t>
            </a:r>
          </a:p>
          <a:p>
            <a:pPr algn="l">
              <a:lnSpc>
                <a:spcPct val="100000"/>
              </a:lnSpc>
              <a:spcAft>
                <a:spcPts val="800"/>
              </a:spcAft>
            </a:pPr>
            <a:r>
              <a:rPr sz="1400" b="0">
                <a:solidFill>
                  <a:srgbClr val="5F677A"/>
                </a:solidFill>
                <a:latin typeface="Arial"/>
                <a:ea typeface="Microsoft YaHei"/>
              </a:rPr>
              <a:t>会议报告</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 · Lesson 01 Online meetings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01</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Online meetings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线上会议</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run and join online meetings smoothly: solve audio and video problems, take turns politely, keep the call on track, and wrap up with a clear recap.</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01 Online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5260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many online meetings do you have in a typical week? Which ones are useful, and which are a waste of time?</a:t>
            </a:r>
          </a:p>
        </p:txBody>
      </p:sp>
      <p:sp>
        <p:nvSpPr>
          <p:cNvPr id="12" name="Oval 11"/>
          <p:cNvSpPr/>
          <p:nvPr/>
        </p:nvSpPr>
        <p:spPr>
          <a:xfrm>
            <a:off x="548640" y="259384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63368"/>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563368"/>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is the most annoying thing that can happen on a video call?</a:t>
            </a:r>
          </a:p>
        </p:txBody>
      </p:sp>
      <p:sp>
        <p:nvSpPr>
          <p:cNvPr id="15" name="Oval 14"/>
          <p:cNvSpPr/>
          <p:nvPr/>
        </p:nvSpPr>
        <p:spPr>
          <a:xfrm>
            <a:off x="548640" y="326745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236976"/>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236976"/>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Do you usually keep your camera on? Why (not)?</a:t>
            </a:r>
          </a:p>
        </p:txBody>
      </p:sp>
      <p:sp>
        <p:nvSpPr>
          <p:cNvPr id="18" name="Oval 17"/>
          <p:cNvSpPr/>
          <p:nvPr/>
        </p:nvSpPr>
        <p:spPr>
          <a:xfrm>
            <a:off x="548640" y="410870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10584"/>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10584"/>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When did a technical problem last spoil a meeting for you? What happened?</a:t>
            </a:r>
          </a:p>
        </p:txBody>
      </p:sp>
      <p:sp>
        <p:nvSpPr>
          <p:cNvPr id="21" name="Oval 20"/>
          <p:cNvSpPr/>
          <p:nvPr/>
        </p:nvSpPr>
        <p:spPr>
          <a:xfrm>
            <a:off x="548640" y="494995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91947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91947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would you change about the way your team runs video calls?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题讲过去的事,请用过去式(froze, dropped, couldn’t hear)。第 5 题可以用 “I’d… / We could…” 提建议。</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01 Online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the best and the worst online meeting you have been in.</a:t>
            </a:r>
          </a:p>
        </p:txBody>
      </p:sp>
      <p:sp>
        <p:nvSpPr>
          <p:cNvPr id="10" name="Rounded Rectangle 9"/>
          <p:cNvSpPr/>
          <p:nvPr/>
        </p:nvSpPr>
        <p:spPr>
          <a:xfrm>
            <a:off x="548640" y="3017520"/>
            <a:ext cx="326136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the meeting was about</a:t>
            </a:r>
          </a:p>
        </p:txBody>
      </p:sp>
      <p:sp>
        <p:nvSpPr>
          <p:cNvPr id="11" name="Rounded Rectangle 10"/>
          <p:cNvSpPr/>
          <p:nvPr/>
        </p:nvSpPr>
        <p:spPr>
          <a:xfrm>
            <a:off x="3947160" y="3017520"/>
            <a:ext cx="326136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what went well or badly</a:t>
            </a:r>
          </a:p>
        </p:txBody>
      </p:sp>
      <p:sp>
        <p:nvSpPr>
          <p:cNvPr id="12" name="Rounded Rectangle 11"/>
          <p:cNvSpPr/>
          <p:nvPr/>
        </p:nvSpPr>
        <p:spPr>
          <a:xfrm>
            <a:off x="7345680" y="3017520"/>
            <a:ext cx="326136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what you would change</a:t>
            </a:r>
          </a:p>
        </p:txBody>
      </p:sp>
      <p:sp>
        <p:nvSpPr>
          <p:cNvPr id="13" name="TextBox 12"/>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4" name="TextBox 13"/>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worst one was…   💬 It would have been better if we’d…   💬 What I’d do differently is…</a:t>
            </a:r>
          </a:p>
        </p:txBody>
      </p:sp>
      <p:sp>
        <p:nvSpPr>
          <p:cNvPr id="15" name="Rounded Rectangle 14"/>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“It would have been better if we’d + 过去分词” 是第三类条件句,用来谈过去的遗憾。例:It would have been better if we’d sent an agenda.</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Camera on, camera off</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157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01 Online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When Leila’s team went fully online, nobody agreed on one simple question: should cameras be on or off? Her manager, Tom, wanted faces on the screen. “It helps me see how people react,” he said. Others felt differently. Priya said that staring at her own face for an hour left her drained, and Marco often joined from a noisy flat with a weak connection, so video made the call freeze. After a month of frustration, the team agreed on a compromise. Cameras are on for the first five minutes, so everyone can say hello, and again for important decisions. Otherwise, people choose. They also introduced a chat rule: questions go in the chat, and the chair checks it every ten minutes. Six weeks later, meetings were shorter and calmer. Tom admitted he had pushed too hard. “I wanted to feel connected,” he said, “but connection doesn’t depend on a camera. It depends on whether people feel heard.”</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01 Online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did Priya and Marco find video difficult?</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Priya felt drained by staring at her own face; Marco had a weak connection, so video made the call freeze.</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the team’s compromise about cameras?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Cameras are on at the start and for important decisions; otherwise it is the person’s choice.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did Tom learn?</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Feeling connected depends on people feeling heard, not on cameras.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1: Joining and technical set-up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01 Online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加入会议与技术准备</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join the call</a:t>
            </a:r>
          </a:p>
          <a:p>
            <a:pPr algn="l">
              <a:lnSpc>
                <a:spcPct val="115000"/>
              </a:lnSpc>
              <a:spcAft>
                <a:spcPts val="800"/>
              </a:spcAft>
            </a:pPr>
            <a:r>
              <a:rPr sz="1300" b="0">
                <a:solidFill>
                  <a:srgbClr val="5F677A"/>
                </a:solidFill>
                <a:latin typeface="Arial"/>
                <a:ea typeface="Microsoft YaHei"/>
              </a:rPr>
              <a:t>verb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加入通话</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“Sorry I’m late. I couldn’t join the call until the link worked.”</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share my screen</a:t>
            </a:r>
          </a:p>
          <a:p>
            <a:pPr algn="l">
              <a:lnSpc>
                <a:spcPct val="115000"/>
              </a:lnSpc>
              <a:spcAft>
                <a:spcPts val="800"/>
              </a:spcAft>
            </a:pPr>
            <a:r>
              <a:rPr sz="1300" b="0">
                <a:solidFill>
                  <a:srgbClr val="5F677A"/>
                </a:solidFill>
                <a:latin typeface="Arial"/>
                <a:ea typeface="Microsoft YaHei"/>
              </a:rPr>
              <a:t>verb 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共享我的屏幕</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share my screen so you can see the figures.”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You’re on mute.</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你静音了</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“Anna, you’re on mute. We can’t hear you.”</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You’re breaking up.</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你的声音断断续续</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“Sorry, you’re breaking up. Could you turn your camera off for a moment?”</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Can everyone hear me OK?</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大家都能听到我吗?</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“Can everyone hear me OK before I start?”</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Running the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01 Online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主持会议</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chair a meeting</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主持会议</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“Dan will chair today’s meeting.”</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agenda</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议程</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go through the agenda first.”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get the ball rolling</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开始行动,启动</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ten o’clock, so let’s get the ball rolling.”</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it offline</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会后单独讨论</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“That’s a big topic. Let’s take it offline.”</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raise your hand / use the chat</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举手 / 用聊天框</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“If you have a question, raise your hand or use the chat.”</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3: Taking part and wrapping up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01 Online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参与与收尾</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Sorry to jump in, but…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抱歉插一句…</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“Sorry to jump in, but could you go back to the previous slide?”</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 didn’t catch that.</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我没听清</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“Sorry, I didn’t catch that. Could you say it again?”</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 me recap.</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我来总结一下</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recap: Ben will update the budget by Friday.”</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action item</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待办事项</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three action items from today’s call.”</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drop off</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中途退出通话</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have to drop off at eleven, but Lin will cover the rest.”</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01 Online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主持会议</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chair a meeting</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议程</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agenda</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你静音了</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You’re on mute.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会后单独讨论</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it offline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你的声音断断续续</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You’re breaking up.</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加入通话</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join the call</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抱歉插一句…</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Sorry to jump in, but…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大家都能听到我吗?</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Can everyone hear me OK?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01 Online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mute</a:t>
            </a:r>
          </a:p>
        </p:txBody>
      </p:sp>
      <p:sp>
        <p:nvSpPr>
          <p:cNvPr id="10" name="Rounded Rectangle 9"/>
          <p:cNvSpPr/>
          <p:nvPr/>
        </p:nvSpPr>
        <p:spPr>
          <a:xfrm>
            <a:off x="2907792" y="987552"/>
            <a:ext cx="91440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chair</a:t>
            </a:r>
          </a:p>
        </p:txBody>
      </p:sp>
      <p:sp>
        <p:nvSpPr>
          <p:cNvPr id="11" name="Rounded Rectangle 10"/>
          <p:cNvSpPr/>
          <p:nvPr/>
        </p:nvSpPr>
        <p:spPr>
          <a:xfrm>
            <a:off x="3913632" y="987552"/>
            <a:ext cx="102412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agenda</a:t>
            </a:r>
          </a:p>
        </p:txBody>
      </p:sp>
      <p:sp>
        <p:nvSpPr>
          <p:cNvPr id="12" name="Rounded Rectangle 11"/>
          <p:cNvSpPr/>
          <p:nvPr/>
        </p:nvSpPr>
        <p:spPr>
          <a:xfrm>
            <a:off x="5029200" y="987552"/>
            <a:ext cx="91440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recap</a:t>
            </a:r>
          </a:p>
        </p:txBody>
      </p:sp>
      <p:sp>
        <p:nvSpPr>
          <p:cNvPr id="13" name="Rounded Rectangle 12"/>
          <p:cNvSpPr/>
          <p:nvPr/>
        </p:nvSpPr>
        <p:spPr>
          <a:xfrm>
            <a:off x="6035040" y="987552"/>
            <a:ext cx="113385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offline</a:t>
            </a:r>
          </a:p>
        </p:txBody>
      </p:sp>
      <p:sp>
        <p:nvSpPr>
          <p:cNvPr id="14" name="Rounded Rectangle 13"/>
          <p:cNvSpPr/>
          <p:nvPr/>
        </p:nvSpPr>
        <p:spPr>
          <a:xfrm>
            <a:off x="7260336"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catch</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Anna, you’re on _______. We can’t hear you.</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mute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Dan will _______ today’s meeting.</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chair</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Let’s go through the _______ first.</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agenda</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That’s a big topic. Let’s take it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offline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Sorry, I didn’t _______ that. Could you say it again?</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catch</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Let me _______: Ben will update the budget by Friday.</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recap</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(搭配与拼写) attend a meeting but join a call (no “to”); have / hold a meeting (not “do a meeting”). Spelling: agenda, schedule, separate.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Opening a team call with a technical problem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01 Online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开场与技术问题</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chair a weekly team call. One colleague joins late and has sound problems.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Mia Chen, team lead (chair)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Karl Weber, team member</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Opening a team call with a technical problem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01 Online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Mia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morning, everyone. It’s ten o’clock, so let’s get the ball rolling. First, can everyone hear me OK?</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Karl</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 Mia. Sorry I’m late. I had trouble joining the call. Can you hear me?</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yet, Karl. You’re on mute.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Sorry about that. Is that better?</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Much better, thanks. We have three items on the agenda. Karl, could you share your screen and take us through the launch plan?</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Give me a second… Can you see the timeline?</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Opening a team call with a technical problem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01 Online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we can.</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launch is set for 14 October, but the supplier is a week behind.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Sorry to jump in, Karl, but you’re breaking up a little. Could you turn your camera off?</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Is that any better?</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that’s fine. Let’s take the supplier delay offline, and I’ll set up a short call after this meeting.</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Sounds good. I’ll send you the numbers.</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Opening a team call with a technical problem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01 Online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chair a short team video call and a colleague has audio problems.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Chair. The meeting topic: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 who joins late with a technical problem.</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Can everyone hear me OK? · You’re on mute. · Let’s get the ball rolling. · Sorry to jump in, but… · Let’s take it offline.</a:t>
            </a:r>
          </a:p>
        </p:txBody>
      </p:sp>
      <p:sp>
        <p:nvSpPr>
          <p:cNvPr id="16" name="Rounded Rectangle 15"/>
          <p:cNvSpPr/>
          <p:nvPr/>
        </p:nvSpPr>
        <p:spPr>
          <a:xfrm>
            <a:off x="548640" y="3496056"/>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Open the call, fix one technical problem, and cover two agenda items in about 90 seconds.</a:t>
            </a:r>
          </a:p>
        </p:txBody>
      </p:sp>
      <p:sp>
        <p:nvSpPr>
          <p:cNvPr id="18" name="Rounded Rectangle 17"/>
          <p:cNvSpPr/>
          <p:nvPr/>
        </p:nvSpPr>
        <p:spPr>
          <a:xfrm>
            <a:off x="548640" y="42214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42214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79450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5178552"/>
            <a:ext cx="3576218" cy="103936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Two people speak at once. Manage it politely: “Let’s take it one at a time. Karl, go ahead.”</a:t>
            </a:r>
          </a:p>
        </p:txBody>
      </p:sp>
      <p:sp>
        <p:nvSpPr>
          <p:cNvPr id="22" name="Rounded Rectangle 21"/>
          <p:cNvSpPr/>
          <p:nvPr/>
        </p:nvSpPr>
        <p:spPr>
          <a:xfrm>
            <a:off x="4307738" y="5178552"/>
            <a:ext cx="3576218" cy="103936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Someone goes off topic. Park the point: “That’s a good point, but it’s outside today’s agenda. Let’s take it offline.”</a:t>
            </a:r>
          </a:p>
        </p:txBody>
      </p:sp>
      <p:sp>
        <p:nvSpPr>
          <p:cNvPr id="23" name="Rounded Rectangle 22"/>
          <p:cNvSpPr/>
          <p:nvPr/>
        </p:nvSpPr>
        <p:spPr>
          <a:xfrm>
            <a:off x="8066836" y="5178552"/>
            <a:ext cx="3576218" cy="103936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Your own connection is poor. Say so and offer a fix: “I’m having connection problems. I’ll turn my camera off, and I’ll type in the chat if I drop out.”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Wrapping up a client call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01 Online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与客户收尾</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end a client video call: recap the decisions, give action items and fix the next meeting.</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account manager (chair)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Sophie Taylor, client</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Wrapping up a client call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01 Online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We’re almost out of time, so let me recap. We agreed to move the delivery to 20 November.</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Sophie</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Right. And you’ll send the updated quote?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I’ll send it by Wednesday. That’s the first action item. Sophie, could you confirm the delivery address?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check with our warehouse and get back to you by Thursday.</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I’ll circulate the minutes this afternoon, so we have everything in writing.</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Wrapping up a client call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01 Online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Perfect. Sorry, I have to drop off in two minutes. Is there anything else?</a:t>
            </a:r>
          </a:p>
        </p:txBody>
      </p:sp>
      <p:sp>
        <p:nvSpPr>
          <p:cNvPr id="11" name="Rounded Rectangle 10"/>
          <p:cNvSpPr/>
          <p:nvPr/>
        </p:nvSpPr>
        <p:spPr>
          <a:xfrm>
            <a:off x="548640" y="21976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219760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Just the next meeting. Does the same time next Tuesday work for you?</a:t>
            </a:r>
          </a:p>
        </p:txBody>
      </p:sp>
      <p:sp>
        <p:nvSpPr>
          <p:cNvPr id="14" name="Rounded Rectangle 13"/>
          <p:cNvSpPr/>
          <p:nvPr/>
        </p:nvSpPr>
        <p:spPr>
          <a:xfrm>
            <a:off x="10911535" y="306933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306933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Tuesday’s fine. Could you send a calendar invite?</a:t>
            </a:r>
          </a:p>
        </p:txBody>
      </p:sp>
      <p:sp>
        <p:nvSpPr>
          <p:cNvPr id="17" name="Rounded Rectangle 16"/>
          <p:cNvSpPr/>
          <p:nvPr/>
        </p:nvSpPr>
        <p:spPr>
          <a:xfrm>
            <a:off x="548640" y="365150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65150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Will do. Thanks for your time, Sophie. Have a good rest of your day.</a:t>
            </a:r>
          </a:p>
        </p:txBody>
      </p:sp>
      <p:sp>
        <p:nvSpPr>
          <p:cNvPr id="20" name="Rounded Rectangle 19"/>
          <p:cNvSpPr/>
          <p:nvPr/>
        </p:nvSpPr>
        <p:spPr>
          <a:xfrm>
            <a:off x="10911535" y="452323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52323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Speak next week. Bye!</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Wrapping up a client call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01 Online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The end of a client video call.</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Chair. Your company and client: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Client who has to leave early.</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Let me recap · action item · I’ll send… by… · Does… work for you? · drop off</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Recap three points, give two action items with deadlines, agree the next meeting.</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client disagrees with your recap. Correct it politely: “Sorry, I may have misunderstood. I had the 20th, not the 18th. Let me check my notes.”</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Keep by (deadline) and in (after a period) apart: “by Friday” / “in two days”.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Do the whole recap in under 45 seconds.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01 Online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a chair keep an online meeting short and focused?</a:t>
            </a:r>
          </a:p>
          <a:p>
            <a:pPr algn="l">
              <a:lnSpc>
                <a:spcPct val="115000"/>
              </a:lnSpc>
              <a:spcAft>
                <a:spcPts val="800"/>
              </a:spcAft>
            </a:pPr>
            <a:r>
              <a:rPr sz="1400" b="0">
                <a:solidFill>
                  <a:srgbClr val="5F677A"/>
                </a:solidFill>
                <a:latin typeface="Arial"/>
                <a:ea typeface="Microsoft YaHei"/>
              </a:rPr>
              <a:t>💬 “One thing that works is…” / “I’d suggest sending…” / “If people go off topic, I…”</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cameras always be on in a video meeting?</a:t>
            </a:r>
          </a:p>
          <a:p>
            <a:pPr algn="l">
              <a:lnSpc>
                <a:spcPct val="115000"/>
              </a:lnSpc>
              <a:spcAft>
                <a:spcPts val="800"/>
              </a:spcAft>
            </a:pPr>
            <a:r>
              <a:rPr sz="1400" b="0">
                <a:solidFill>
                  <a:srgbClr val="5F677A"/>
                </a:solidFill>
                <a:latin typeface="Arial"/>
                <a:ea typeface="Microsoft YaHei"/>
              </a:rPr>
              <a:t>💬 “On the one hand… On the other hand…” / “I’d say it depends on…”</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most polite way to interrupt online?</a:t>
            </a:r>
          </a:p>
          <a:p>
            <a:pPr algn="l">
              <a:lnSpc>
                <a:spcPct val="115000"/>
              </a:lnSpc>
              <a:spcAft>
                <a:spcPts val="800"/>
              </a:spcAft>
            </a:pPr>
            <a:r>
              <a:rPr sz="1400" b="0">
                <a:solidFill>
                  <a:srgbClr val="5F677A"/>
                </a:solidFill>
                <a:latin typeface="Arial"/>
                <a:ea typeface="Microsoft YaHei"/>
              </a:rPr>
              <a:t>💬 “I’d raise my hand or say…” / “It feels less awkward if…”</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an online meeting ever better than a face-to-face one?</a:t>
            </a:r>
          </a:p>
          <a:p>
            <a:pPr algn="l">
              <a:lnSpc>
                <a:spcPct val="115000"/>
              </a:lnSpc>
              <a:spcAft>
                <a:spcPts val="800"/>
              </a:spcAft>
            </a:pPr>
            <a:r>
              <a:rPr sz="1400" b="0">
                <a:solidFill>
                  <a:srgbClr val="5F677A"/>
                </a:solidFill>
                <a:latin typeface="Arial"/>
                <a:ea typeface="Microsoft YaHei"/>
              </a:rPr>
              <a:t>💬 “For quick updates, online is…” / “What you lose online is…”</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do you do when you can’t follow the discussion?</a:t>
            </a:r>
          </a:p>
          <a:p>
            <a:pPr algn="l">
              <a:lnSpc>
                <a:spcPct val="115000"/>
              </a:lnSpc>
              <a:spcAft>
                <a:spcPts val="800"/>
              </a:spcAft>
            </a:pPr>
            <a:r>
              <a:rPr sz="1400" b="0">
                <a:solidFill>
                  <a:srgbClr val="5F677A"/>
                </a:solidFill>
                <a:latin typeface="Arial"/>
                <a:ea typeface="Microsoft YaHei"/>
              </a:rPr>
              <a:t>💬 “I’d ask…” / “Rather than stay silent, 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01 Online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One thing that works is sending a clear agenda the day before, with a time limit for each item. At the start, I say how long the meeting will take, and I stick to it. If someone goes off topic, I park the point and suggest taking it offline. At the end I recap the action items, so nobody leaves wondering what happens next. That way, a 60-minute meeting often shrinks to 30.</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“stick to” 意为”坚持遵守”,后接名词。“That way, …” 表示”这样一来,…“,连接结果。”go off topic” = 跑题。</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Polite interruptions and hedging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01 Online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礼貌打断与委婉表达</a:t>
            </a:r>
          </a:p>
        </p:txBody>
      </p:sp>
      <p:graphicFrame>
        <p:nvGraphicFramePr>
          <p:cNvPr id="9" name="Table 8"/>
          <p:cNvGraphicFramePr>
            <a:graphicFrameLocks noGrp="1"/>
          </p:cNvGraphicFramePr>
          <p:nvPr/>
        </p:nvGraphicFramePr>
        <p:xfrm>
          <a:off x="548640" y="1417320"/>
          <a:ext cx="11094415" cy="3017520"/>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Direct (too blunt)</a:t>
                      </a:r>
                    </a:p>
                  </a:txBody>
                  <a:tcPr anchor="ctr">
                    <a:solidFill>
                      <a:srgbClr val="3CC49A"/>
                    </a:solidFill>
                  </a:tcPr>
                </a:tc>
                <a:tc>
                  <a:txBody>
                    <a:bodyPr wrap="square"/>
                    <a:lstStyle/>
                    <a:p>
                      <a:r>
                        <a:rPr sz="1600" b="1">
                          <a:solidFill>
                            <a:srgbClr val="FFFFFF"/>
                          </a:solidFill>
                          <a:latin typeface="Arial"/>
                          <a:ea typeface="Microsoft YaHei"/>
                        </a:rPr>
                        <a:t>More natural and polite</a:t>
                      </a:r>
                    </a:p>
                  </a:txBody>
                  <a:tcPr anchor="ctr">
                    <a:solidFill>
                      <a:srgbClr val="3CC49A"/>
                    </a:solidFill>
                  </a:tcPr>
                </a:tc>
              </a:tr>
              <a:tr h="652272">
                <a:tc>
                  <a:txBody>
                    <a:bodyPr wrap="square"/>
                    <a:lstStyle/>
                    <a:p>
                      <a:r>
                        <a:rPr sz="1600" b="1">
                          <a:solidFill>
                            <a:srgbClr val="1F2A44"/>
                          </a:solidFill>
                          <a:latin typeface="Arial"/>
                          <a:ea typeface="Microsoft YaHei"/>
                        </a:rPr>
                        <a:t>Interrupting</a:t>
                      </a:r>
                    </a:p>
                  </a:txBody>
                  <a:tcPr anchor="ctr">
                    <a:solidFill>
                      <a:srgbClr val="FFFFFF"/>
                    </a:solidFill>
                  </a:tcPr>
                </a:tc>
                <a:tc>
                  <a:txBody>
                    <a:bodyPr wrap="square"/>
                    <a:lstStyle/>
                    <a:p>
                      <a:r>
                        <a:rPr sz="1600" b="0">
                          <a:solidFill>
                            <a:srgbClr val="1F2A44"/>
                          </a:solidFill>
                          <a:latin typeface="Arial"/>
                          <a:ea typeface="Microsoft YaHei"/>
                        </a:rPr>
                        <a:t>Stop. Wait.</a:t>
                      </a:r>
                    </a:p>
                  </a:txBody>
                  <a:tcPr anchor="ctr">
                    <a:solidFill>
                      <a:srgbClr val="FFFFFF"/>
                    </a:solidFill>
                  </a:tcPr>
                </a:tc>
                <a:tc>
                  <a:txBody>
                    <a:bodyPr wrap="square"/>
                    <a:lstStyle/>
                    <a:p>
                      <a:r>
                        <a:rPr sz="1600" b="0">
                          <a:solidFill>
                            <a:srgbClr val="1F2A44"/>
                          </a:solidFill>
                          <a:latin typeface="Arial"/>
                          <a:ea typeface="Microsoft YaHei"/>
                        </a:rPr>
                        <a:t>Sorry to jump in, but… / Can I just add something?</a:t>
                      </a:r>
                    </a:p>
                  </a:txBody>
                  <a:tcPr anchor="ctr">
                    <a:solidFill>
                      <a:srgbClr val="FFFFFF"/>
                    </a:solidFill>
                  </a:tcPr>
                </a:tc>
              </a:tr>
              <a:tr h="652272">
                <a:tc>
                  <a:txBody>
                    <a:bodyPr wrap="square"/>
                    <a:lstStyle/>
                    <a:p>
                      <a:r>
                        <a:rPr sz="1600" b="1">
                          <a:solidFill>
                            <a:srgbClr val="1F2A44"/>
                          </a:solidFill>
                          <a:latin typeface="Arial"/>
                          <a:ea typeface="Microsoft YaHei"/>
                        </a:rPr>
                        <a:t>Not hearing</a:t>
                      </a:r>
                    </a:p>
                  </a:txBody>
                  <a:tcPr anchor="ctr">
                    <a:solidFill>
                      <a:srgbClr val="FFEFD9"/>
                    </a:solidFill>
                  </a:tcPr>
                </a:tc>
                <a:tc>
                  <a:txBody>
                    <a:bodyPr wrap="square"/>
                    <a:lstStyle/>
                    <a:p>
                      <a:r>
                        <a:rPr sz="1600" b="0">
                          <a:solidFill>
                            <a:srgbClr val="1F2A44"/>
                          </a:solidFill>
                          <a:latin typeface="Arial"/>
                          <a:ea typeface="Microsoft YaHei"/>
                        </a:rPr>
                        <a:t>I can’t hear you.</a:t>
                      </a:r>
                    </a:p>
                  </a:txBody>
                  <a:tcPr anchor="ctr">
                    <a:solidFill>
                      <a:srgbClr val="FFEFD9"/>
                    </a:solidFill>
                  </a:tcPr>
                </a:tc>
                <a:tc>
                  <a:txBody>
                    <a:bodyPr wrap="square"/>
                    <a:lstStyle/>
                    <a:p>
                      <a:r>
                        <a:rPr sz="1600" b="0">
                          <a:solidFill>
                            <a:srgbClr val="1F2A44"/>
                          </a:solidFill>
                          <a:latin typeface="Arial"/>
                          <a:ea typeface="Microsoft YaHei"/>
                        </a:rPr>
                        <a:t>I’m having trouble hearing you. I think you’re on mute.</a:t>
                      </a:r>
                    </a:p>
                  </a:txBody>
                  <a:tcPr anchor="ctr">
                    <a:solidFill>
                      <a:srgbClr val="FFEFD9"/>
                    </a:solidFill>
                  </a:tcPr>
                </a:tc>
              </a:tr>
              <a:tr h="652272">
                <a:tc>
                  <a:txBody>
                    <a:bodyPr wrap="square"/>
                    <a:lstStyle/>
                    <a:p>
                      <a:r>
                        <a:rPr sz="1600" b="1">
                          <a:solidFill>
                            <a:srgbClr val="1F2A44"/>
                          </a:solidFill>
                          <a:latin typeface="Arial"/>
                          <a:ea typeface="Microsoft YaHei"/>
                        </a:rPr>
                        <a:t>Disagreeing</a:t>
                      </a:r>
                    </a:p>
                  </a:txBody>
                  <a:tcPr anchor="ctr">
                    <a:solidFill>
                      <a:srgbClr val="FFFFFF"/>
                    </a:solidFill>
                  </a:tcPr>
                </a:tc>
                <a:tc>
                  <a:txBody>
                    <a:bodyPr wrap="square"/>
                    <a:lstStyle/>
                    <a:p>
                      <a:r>
                        <a:rPr sz="1600" b="0">
                          <a:solidFill>
                            <a:srgbClr val="1F2A44"/>
                          </a:solidFill>
                          <a:latin typeface="Arial"/>
                          <a:ea typeface="Microsoft YaHei"/>
                        </a:rPr>
                        <a:t>You’re wrong.</a:t>
                      </a:r>
                    </a:p>
                  </a:txBody>
                  <a:tcPr anchor="ctr">
                    <a:solidFill>
                      <a:srgbClr val="FFFFFF"/>
                    </a:solidFill>
                  </a:tcPr>
                </a:tc>
                <a:tc>
                  <a:txBody>
                    <a:bodyPr wrap="square"/>
                    <a:lstStyle/>
                    <a:p>
                      <a:r>
                        <a:rPr sz="1600" b="0">
                          <a:solidFill>
                            <a:srgbClr val="1F2A44"/>
                          </a:solidFill>
                          <a:latin typeface="Arial"/>
                          <a:ea typeface="Microsoft YaHei"/>
                        </a:rPr>
                        <a:t>I see it a bit differently. / I’m not sure that’s quite right.</a:t>
                      </a:r>
                    </a:p>
                  </a:txBody>
                  <a:tcPr anchor="ctr">
                    <a:solidFill>
                      <a:srgbClr val="FFFFFF"/>
                    </a:solidFill>
                  </a:tcPr>
                </a:tc>
              </a:tr>
              <a:tr h="652272">
                <a:tc>
                  <a:txBody>
                    <a:bodyPr wrap="square"/>
                    <a:lstStyle/>
                    <a:p>
                      <a:r>
                        <a:rPr sz="1600" b="1">
                          <a:solidFill>
                            <a:srgbClr val="1F2A44"/>
                          </a:solidFill>
                          <a:latin typeface="Arial"/>
                          <a:ea typeface="Microsoft YaHei"/>
                        </a:rPr>
                        <a:t>Ending a topic</a:t>
                      </a:r>
                    </a:p>
                  </a:txBody>
                  <a:tcPr anchor="ctr">
                    <a:solidFill>
                      <a:srgbClr val="FFEFD9"/>
                    </a:solidFill>
                  </a:tcPr>
                </a:tc>
                <a:tc>
                  <a:txBody>
                    <a:bodyPr wrap="square"/>
                    <a:lstStyle/>
                    <a:p>
                      <a:r>
                        <a:rPr sz="1600" b="0">
                          <a:solidFill>
                            <a:srgbClr val="1F2A44"/>
                          </a:solidFill>
                          <a:latin typeface="Arial"/>
                          <a:ea typeface="Microsoft YaHei"/>
                        </a:rPr>
                        <a:t>Stop talking about that.</a:t>
                      </a:r>
                    </a:p>
                  </a:txBody>
                  <a:tcPr anchor="ctr">
                    <a:solidFill>
                      <a:srgbClr val="FFEFD9"/>
                    </a:solidFill>
                  </a:tcPr>
                </a:tc>
                <a:tc>
                  <a:txBody>
                    <a:bodyPr wrap="square"/>
                    <a:lstStyle/>
                    <a:p>
                      <a:r>
                        <a:rPr sz="1600" b="0">
                          <a:solidFill>
                            <a:srgbClr val="1F2A44"/>
                          </a:solidFill>
                          <a:latin typeface="Arial"/>
                          <a:ea typeface="Microsoft YaHei"/>
                        </a:rPr>
                        <a:t>Let’s park that for now and come back to it.</a:t>
                      </a:r>
                    </a:p>
                  </a:txBody>
                  <a:tcPr anchor="ctr">
                    <a:solidFill>
                      <a:srgbClr val="FFEFD9"/>
                    </a:solidFill>
                  </a:tcPr>
                </a:tc>
              </a:tr>
            </a:tbl>
          </a:graphicData>
        </a:graphic>
      </p:graphicFrame>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Collocations and prepositions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01 Online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搭配与介词</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attend / hold / have / chair / cancel / postpone a meeting; join a call (no “to”); dial in to the call (with “to”).</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on the agenda, on mute, on Teams / on Zoom, at 10 a.m., by Friday (deadline), in two days (after a period).</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1">
                <a:solidFill>
                  <a:srgbClr val="3CC49A"/>
                </a:solidFill>
                <a:latin typeface="Arial"/>
                <a:ea typeface="Microsoft YaHei"/>
              </a:rPr>
              <a:t>discuss + object (no preposition): </a:t>
            </a:r>
            <a:r>
              <a:rPr sz="1700" b="0">
                <a:solidFill>
                  <a:srgbClr val="1F2A44"/>
                </a:solidFill>
                <a:latin typeface="Arial"/>
                <a:ea typeface="Microsoft YaHei"/>
              </a:rPr>
              <a:t>“We’ll discuss the budget.” Not “discuss about”.</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01 Online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will discuss about the budget.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will discuss the budget.</a:t>
            </a:r>
          </a:p>
          <a:p>
            <a:pPr algn="l">
              <a:spcAft>
                <a:spcPts val="200"/>
              </a:spcAft>
            </a:pPr>
            <a:r>
              <a:rPr sz="1200" b="0">
                <a:solidFill>
                  <a:srgbClr val="FFFFFF"/>
                </a:solidFill>
                <a:latin typeface="Arial"/>
                <a:ea typeface="Microsoft YaHei"/>
              </a:rPr>
              <a:t>discuss 是及物动词,后面不加 about</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Let’s do a meeting tomorrow.</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Let’s have (or hold) a meeting tomorrow.</a:t>
            </a:r>
          </a:p>
          <a:p>
            <a:pPr algn="l">
              <a:spcAft>
                <a:spcPts val="200"/>
              </a:spcAft>
            </a:pPr>
            <a:r>
              <a:rPr sz="1200" b="0">
                <a:solidFill>
                  <a:srgbClr val="FFFFFF"/>
                </a:solidFill>
                <a:latin typeface="Arial"/>
                <a:ea typeface="Microsoft YaHei"/>
              </a:rPr>
              <a:t>搭配:have / hold a meeting</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join to the call.</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join the call.</a:t>
            </a:r>
          </a:p>
          <a:p>
            <a:pPr algn="l">
              <a:spcAft>
                <a:spcPts val="200"/>
              </a:spcAft>
            </a:pPr>
            <a:r>
              <a:rPr sz="1200" b="0">
                <a:solidFill>
                  <a:srgbClr val="FFFFFF"/>
                </a:solidFill>
                <a:latin typeface="Arial"/>
                <a:ea typeface="Microsoft YaHei"/>
              </a:rPr>
              <a:t>join 后不加 to</a:t>
            </a:r>
          </a:p>
        </p:txBody>
      </p:sp>
      <p:sp>
        <p:nvSpPr>
          <p:cNvPr id="15" name="Rounded Rectangle 14"/>
          <p:cNvSpPr/>
          <p:nvPr/>
        </p:nvSpPr>
        <p:spPr>
          <a:xfrm>
            <a:off x="548640" y="356615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Sorry, I can’t hear you clear.</a:t>
            </a:r>
          </a:p>
        </p:txBody>
      </p:sp>
      <p:sp>
        <p:nvSpPr>
          <p:cNvPr id="16" name="Rounded Rectangle 15"/>
          <p:cNvSpPr/>
          <p:nvPr/>
        </p:nvSpPr>
        <p:spPr>
          <a:xfrm>
            <a:off x="6187287" y="356615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Sorry, I can’t hear you clearly.</a:t>
            </a:r>
          </a:p>
          <a:p>
            <a:pPr algn="l">
              <a:spcAft>
                <a:spcPts val="200"/>
              </a:spcAft>
            </a:pPr>
            <a:r>
              <a:rPr sz="1200" b="0">
                <a:solidFill>
                  <a:srgbClr val="FFFFFF"/>
                </a:solidFill>
                <a:latin typeface="Arial"/>
                <a:ea typeface="Microsoft YaHei"/>
              </a:rPr>
              <a:t>修饰动词用副词</a:t>
            </a:r>
          </a:p>
        </p:txBody>
      </p:sp>
      <p:sp>
        <p:nvSpPr>
          <p:cNvPr id="17" name="Rounded Rectangle 16"/>
          <p:cNvSpPr/>
          <p:nvPr/>
        </p:nvSpPr>
        <p:spPr>
          <a:xfrm>
            <a:off x="548640" y="426719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meeting was postponed to the next week.</a:t>
            </a:r>
          </a:p>
        </p:txBody>
      </p:sp>
      <p:sp>
        <p:nvSpPr>
          <p:cNvPr id="18" name="Rounded Rectangle 17"/>
          <p:cNvSpPr/>
          <p:nvPr/>
        </p:nvSpPr>
        <p:spPr>
          <a:xfrm>
            <a:off x="6187287" y="426719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meeting was postponed until next week.</a:t>
            </a:r>
          </a:p>
          <a:p>
            <a:pPr algn="l">
              <a:spcAft>
                <a:spcPts val="200"/>
              </a:spcAft>
            </a:pPr>
            <a:r>
              <a:rPr sz="1200" b="0">
                <a:solidFill>
                  <a:srgbClr val="FFFFFF"/>
                </a:solidFill>
                <a:latin typeface="Arial"/>
                <a:ea typeface="Microsoft YaHei"/>
              </a:rPr>
              <a:t>postpone … until;next week 前不加 the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01 Online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You can’t hear me? I’m in mute.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You can’t hear me? I’m on mute.</a:t>
            </a:r>
          </a:p>
          <a:p>
            <a:pPr algn="l">
              <a:spcAft>
                <a:spcPts val="200"/>
              </a:spcAft>
            </a:pPr>
            <a:r>
              <a:rPr sz="1200" b="0">
                <a:solidFill>
                  <a:srgbClr val="FFFFFF"/>
                </a:solidFill>
                <a:latin typeface="Arial"/>
                <a:ea typeface="Microsoft YaHei"/>
              </a:rPr>
              <a:t>on mute</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have an agenda for three items.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have three items on the agenda.</a:t>
            </a:r>
          </a:p>
          <a:p>
            <a:pPr algn="l">
              <a:spcAft>
                <a:spcPts val="200"/>
              </a:spcAft>
            </a:pPr>
            <a:r>
              <a:rPr sz="1200" b="0">
                <a:solidFill>
                  <a:srgbClr val="FFFFFF"/>
                </a:solidFill>
                <a:latin typeface="Arial"/>
                <a:ea typeface="Microsoft YaHei"/>
              </a:rPr>
              <a:t>on the agenda</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send me the minute.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send me the minutes.</a:t>
            </a:r>
          </a:p>
          <a:p>
            <a:pPr algn="l">
              <a:spcAft>
                <a:spcPts val="200"/>
              </a:spcAft>
            </a:pPr>
            <a:r>
              <a:rPr sz="1200" b="0">
                <a:solidFill>
                  <a:srgbClr val="FFFFFF"/>
                </a:solidFill>
                <a:latin typeface="Arial"/>
                <a:ea typeface="Microsoft YaHei"/>
              </a:rPr>
              <a:t>会议纪要用复数 minutes</a:t>
            </a:r>
          </a:p>
        </p:txBody>
      </p:sp>
      <p:sp>
        <p:nvSpPr>
          <p:cNvPr id="15" name="Rounded Rectangle 14"/>
          <p:cNvSpPr/>
          <p:nvPr/>
        </p:nvSpPr>
        <p:spPr>
          <a:xfrm>
            <a:off x="548640" y="356615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Everyone are here.</a:t>
            </a:r>
          </a:p>
        </p:txBody>
      </p:sp>
      <p:sp>
        <p:nvSpPr>
          <p:cNvPr id="16" name="Rounded Rectangle 15"/>
          <p:cNvSpPr/>
          <p:nvPr/>
        </p:nvSpPr>
        <p:spPr>
          <a:xfrm>
            <a:off x="6187287" y="356615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Everyone is here.</a:t>
            </a:r>
          </a:p>
          <a:p>
            <a:pPr algn="l">
              <a:spcAft>
                <a:spcPts val="200"/>
              </a:spcAft>
            </a:pPr>
            <a:r>
              <a:rPr sz="1200" b="0">
                <a:solidFill>
                  <a:srgbClr val="FFFFFF"/>
                </a:solidFill>
                <a:latin typeface="Arial"/>
                <a:ea typeface="Microsoft YaHei"/>
              </a:rPr>
              <a:t>everyone 当单数</a:t>
            </a:r>
          </a:p>
        </p:txBody>
      </p:sp>
      <p:sp>
        <p:nvSpPr>
          <p:cNvPr id="23" name="Rounded Rectangle 2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Check three small words in every sentence you record: on (mute / the agenda), until (postponed until), and no about after discuss.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01 Online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Punctuality: </a:t>
            </a:r>
            <a:r>
              <a:rPr sz="1700" b="0">
                <a:solidFill>
                  <a:srgbClr val="1F2A44"/>
                </a:solidFill>
                <a:latin typeface="Arial"/>
                <a:ea typeface="Microsoft YaHei"/>
              </a:rPr>
              <a:t>join one or two minutes early. If you are late, join quietly and type “Sorry, running late” in the chat. Do not interrupt to apologise.</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Mute and unmute: </a:t>
            </a:r>
            <a:r>
              <a:rPr sz="1700" b="0">
                <a:solidFill>
                  <a:srgbClr val="1F2A44"/>
                </a:solidFill>
                <a:latin typeface="Arial"/>
                <a:ea typeface="Microsoft YaHei"/>
              </a:rPr>
              <a:t>mute when you are not speaking. Say your name when you speak if people cannot see you.</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1">
                <a:solidFill>
                  <a:srgbClr val="3CC49A"/>
                </a:solidFill>
                <a:latin typeface="Arial"/>
                <a:ea typeface="Microsoft YaHei"/>
              </a:rPr>
              <a:t>Small talk first: </a:t>
            </a:r>
            <a:r>
              <a:rPr sz="1700" b="0">
                <a:solidFill>
                  <a:srgbClr val="1F2A44"/>
                </a:solidFill>
                <a:latin typeface="Arial"/>
                <a:ea typeface="Microsoft YaHei"/>
              </a:rPr>
              <a:t>one or two minutes of chat before the start is normal and builds trust.</a:t>
            </a:r>
          </a:p>
        </p:txBody>
      </p:sp>
      <p:sp>
        <p:nvSpPr>
          <p:cNvPr id="18" name="Rounded Rectangle 17"/>
          <p:cNvSpPr/>
          <p:nvPr/>
        </p:nvSpPr>
        <p:spPr>
          <a:xfrm>
            <a:off x="548640" y="353567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3567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35677"/>
            <a:ext cx="10728655" cy="701039"/>
          </a:xfrm>
          <a:prstGeom prst="rect">
            <a:avLst/>
          </a:prstGeom>
          <a:noFill/>
        </p:spPr>
        <p:txBody>
          <a:bodyPr wrap="square" anchor="ctr">
            <a:spAutoFit/>
          </a:bodyPr>
          <a:lstStyle/>
          <a:p>
            <a:r>
              <a:rPr sz="1700" b="1">
                <a:solidFill>
                  <a:srgbClr val="FFC857"/>
                </a:solidFill>
                <a:latin typeface="Arial"/>
                <a:ea typeface="Microsoft YaHei"/>
              </a:rPr>
              <a:t>Camera: </a:t>
            </a:r>
            <a:r>
              <a:rPr sz="1700" b="0">
                <a:solidFill>
                  <a:srgbClr val="1F2A44"/>
                </a:solidFill>
                <a:latin typeface="Arial"/>
                <a:ea typeface="Microsoft YaHei"/>
              </a:rPr>
              <a:t>respect each person’s choice. If your camera is off, a short reason helps: “My connection is weak today, so I’ll keep my camera off.”</a:t>
            </a:r>
          </a:p>
        </p:txBody>
      </p:sp>
      <p:sp>
        <p:nvSpPr>
          <p:cNvPr id="21" name="Rounded Rectangle 20"/>
          <p:cNvSpPr/>
          <p:nvPr/>
        </p:nvSpPr>
        <p:spPr>
          <a:xfrm>
            <a:off x="548640" y="432815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32815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328156"/>
            <a:ext cx="10728655" cy="701039"/>
          </a:xfrm>
          <a:prstGeom prst="rect">
            <a:avLst/>
          </a:prstGeom>
          <a:noFill/>
        </p:spPr>
        <p:txBody>
          <a:bodyPr wrap="square" anchor="ctr">
            <a:spAutoFit/>
          </a:bodyPr>
          <a:lstStyle/>
          <a:p>
            <a:r>
              <a:rPr sz="1700" b="1">
                <a:solidFill>
                  <a:srgbClr val="9B6BE0"/>
                </a:solidFill>
                <a:latin typeface="Arial"/>
                <a:ea typeface="Microsoft YaHei"/>
              </a:rPr>
              <a:t>Minutes and action items: </a:t>
            </a:r>
            <a:r>
              <a:rPr sz="1700" b="0">
                <a:solidFill>
                  <a:srgbClr val="1F2A44"/>
                </a:solidFill>
                <a:latin typeface="Arial"/>
                <a:ea typeface="Microsoft YaHei"/>
              </a:rPr>
              <a:t>the chair usually sends a short summary with an owner and a date for each task.</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01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01 Online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open an online meeting and check that everyone can hear me.</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interrupt politely and ask someone to repeat something (Sorry to jump in, but…, I didn’t catch that).</a:t>
            </a:r>
          </a:p>
        </p:txBody>
      </p:sp>
      <p:sp>
        <p:nvSpPr>
          <p:cNvPr id="16" name="TextBox 15"/>
          <p:cNvSpPr txBox="1"/>
          <p:nvPr/>
        </p:nvSpPr>
        <p:spPr>
          <a:xfrm>
            <a:off x="9539935" y="24109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313176"/>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313176"/>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313176"/>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keep a meeting on track with stick to the agenda, take it offline and let me recap.</a:t>
            </a:r>
          </a:p>
        </p:txBody>
      </p:sp>
      <p:sp>
        <p:nvSpPr>
          <p:cNvPr id="20" name="TextBox 19"/>
          <p:cNvSpPr txBox="1"/>
          <p:nvPr/>
        </p:nvSpPr>
        <p:spPr>
          <a:xfrm>
            <a:off x="9539935" y="3313176"/>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42153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2153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42153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in my own sentences.</a:t>
            </a:r>
          </a:p>
        </p:txBody>
      </p:sp>
      <p:sp>
        <p:nvSpPr>
          <p:cNvPr id="24" name="TextBox 23"/>
          <p:cNvSpPr txBox="1"/>
          <p:nvPr/>
        </p:nvSpPr>
        <p:spPr>
          <a:xfrm>
            <a:off x="9539935" y="42153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8127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8127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8127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attend / join / hold and on mute / on the agenda correctly.</a:t>
            </a:r>
          </a:p>
        </p:txBody>
      </p:sp>
      <p:sp>
        <p:nvSpPr>
          <p:cNvPr id="28" name="TextBox 27"/>
          <p:cNvSpPr txBox="1"/>
          <p:nvPr/>
        </p:nvSpPr>
        <p:spPr>
          <a:xfrm>
            <a:off x="9539935" y="48127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01 Online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Chair a 90-second mock meeting out loud: open the call, fix a technical problem, cover two agenda items, recap. Record it.</a:t>
            </a:r>
          </a:p>
        </p:txBody>
      </p:sp>
      <p:sp>
        <p:nvSpPr>
          <p:cNvPr id="14" name="Rounded Rectangle 13"/>
          <p:cNvSpPr/>
          <p:nvPr/>
        </p:nvSpPr>
        <p:spPr>
          <a:xfrm>
            <a:off x="548640" y="341071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41071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polite interruptions, prepositions (on the agenda / on mute), no “about” after discuss.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 · Lesson 02 Bad meetings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02</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Bad meetings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无效会议</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explain why a meeting is not working, suggest improvements without offending anyone, and agree a better format.</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02 Bad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8496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Think of a meeting that could have been an email. What was it about?</a:t>
            </a:r>
          </a:p>
        </p:txBody>
      </p:sp>
      <p:sp>
        <p:nvSpPr>
          <p:cNvPr id="12" name="Oval 11"/>
          <p:cNvSpPr/>
          <p:nvPr/>
        </p:nvSpPr>
        <p:spPr>
          <a:xfrm>
            <a:off x="548640" y="242620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28088"/>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28088"/>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much of your working week do you spend in meetings? Is that too much?</a:t>
            </a:r>
          </a:p>
        </p:txBody>
      </p:sp>
      <p:sp>
        <p:nvSpPr>
          <p:cNvPr id="15" name="Oval 14"/>
          <p:cNvSpPr/>
          <p:nvPr/>
        </p:nvSpPr>
        <p:spPr>
          <a:xfrm>
            <a:off x="548640" y="326745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236976"/>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236976"/>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Who usually talks most in your meetings? Who never says anything?</a:t>
            </a:r>
          </a:p>
        </p:txBody>
      </p:sp>
      <p:sp>
        <p:nvSpPr>
          <p:cNvPr id="18" name="Oval 17"/>
          <p:cNvSpPr/>
          <p:nvPr/>
        </p:nvSpPr>
        <p:spPr>
          <a:xfrm>
            <a:off x="548640" y="410870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10584"/>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10584"/>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When did a meeting last end without a clear decision? What happened next?</a:t>
            </a:r>
          </a:p>
        </p:txBody>
      </p:sp>
      <p:sp>
        <p:nvSpPr>
          <p:cNvPr id="21" name="Oval 20"/>
          <p:cNvSpPr/>
          <p:nvPr/>
        </p:nvSpPr>
        <p:spPr>
          <a:xfrm>
            <a:off x="548640" y="494995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91947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91947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If you could ban one meeting habit, what would it be?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 题 “could have been an email”(本可以发一封邮件解决)是很常见的说法。第 4 题讲过去的事,请用过去式。</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02 Bad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a bad meeting and explain how you would fix it.</a:t>
            </a:r>
          </a:p>
        </p:txBody>
      </p:sp>
      <p:sp>
        <p:nvSpPr>
          <p:cNvPr id="10" name="Rounded Rectangle 9"/>
          <p:cNvSpPr/>
          <p:nvPr/>
        </p:nvSpPr>
        <p:spPr>
          <a:xfrm>
            <a:off x="548640" y="3017520"/>
            <a:ext cx="326136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went wrong</a:t>
            </a:r>
          </a:p>
        </p:txBody>
      </p:sp>
      <p:sp>
        <p:nvSpPr>
          <p:cNvPr id="11" name="Rounded Rectangle 10"/>
          <p:cNvSpPr/>
          <p:nvPr/>
        </p:nvSpPr>
        <p:spPr>
          <a:xfrm>
            <a:off x="3947160" y="3017520"/>
            <a:ext cx="326136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why it mattered</a:t>
            </a:r>
          </a:p>
        </p:txBody>
      </p:sp>
      <p:sp>
        <p:nvSpPr>
          <p:cNvPr id="12" name="Rounded Rectangle 11"/>
          <p:cNvSpPr/>
          <p:nvPr/>
        </p:nvSpPr>
        <p:spPr>
          <a:xfrm>
            <a:off x="7345680" y="3017520"/>
            <a:ext cx="326136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two fixes</a:t>
            </a:r>
          </a:p>
        </p:txBody>
      </p:sp>
      <p:sp>
        <p:nvSpPr>
          <p:cNvPr id="13" name="TextBox 12"/>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4" name="TextBox 13"/>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main problem was…   💬 As a result, we…   💬 Next time, I’d…</a:t>
            </a:r>
          </a:p>
        </p:txBody>
      </p:sp>
      <p:sp>
        <p:nvSpPr>
          <p:cNvPr id="15" name="Rounded Rectangle 14"/>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“As a result, …” 用来引出结果;“Next time, I’d + 动词原形” 用来提建议。注意 result 前面要用 a:as a result。</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The Monday problem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152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02 Bad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Every Monday at eleven, the sales team of a small software firm met for “a quick update”. In theory, it took thirty minutes. In practice, it often ran to ninety. The agenda was vague, two senior managers dominated the discussion, and half the participants checked their phones. Nobody dared to say that the meeting was pointless. Then a new team leader, Grace, did something simple. She asked everyone to send one question or decision in advance. If an item needed no discussion, she moved it to an email. She also set a timer for each topic and ended the meeting the moment the list was finished, even if that was after only twelve minutes. At first people were suspicious. By the third week, they were arriving prepared. The meeting shrank to twenty-five minutes and, more importantly, three real decisions were made. “We didn’t need fewer meetings,” Grace said. “We needed better ones.”</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02 Bad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did the Monday meeting run so long?</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 agenda was vague, two managers dominated, and people were distracted.</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Name two things Grace changed.</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Any two of: sending questions in advance, moving no-discussion items to email, timing each topic, ending as soon as the list was finished.</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was the result after three weeks?</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 meeting shrank to about 25 minutes and real decisions were made.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Describing the problem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02 Bad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描述问题</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waste of time</a:t>
            </a:r>
          </a:p>
          <a:p>
            <a:pPr algn="l">
              <a:lnSpc>
                <a:spcPct val="115000"/>
              </a:lnSpc>
              <a:spcAft>
                <a:spcPts val="800"/>
              </a:spcAft>
            </a:pPr>
            <a:r>
              <a:rPr sz="1300" b="0">
                <a:solidFill>
                  <a:srgbClr val="5F677A"/>
                </a:solidFill>
                <a:latin typeface="Arial"/>
                <a:ea typeface="Microsoft YaHei"/>
              </a:rPr>
              <a:t>noun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浪费时间</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“Honestly, that meeting was a waste of time.”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run over</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超时</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meeting ran over by twenty minutes again.”</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go off on a tangent</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跑题,扯远</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kept going off on a tangent and never reached a decision.”</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dominate the discussion</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主导讨论,一言堂</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“Two people dominated the discussion, so the rest stayed silent.”</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vague</a:t>
            </a:r>
          </a:p>
          <a:p>
            <a:pPr algn="l">
              <a:lnSpc>
                <a:spcPct val="115000"/>
              </a:lnSpc>
              <a:spcAft>
                <a:spcPts val="800"/>
              </a:spcAft>
            </a:pPr>
            <a:r>
              <a:rPr sz="1300" b="0">
                <a:solidFill>
                  <a:srgbClr val="5F677A"/>
                </a:solidFill>
                <a:latin typeface="Arial"/>
                <a:ea typeface="Microsoft YaHei"/>
              </a:rPr>
              <a:t>adjective</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含糊的,不明确的</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agenda was too vague to be useful.”</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Making suggestions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02 Bad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提出改进建议</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stick to the agenda</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按议程进行</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stick to the agenda and finish by noon.”</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set a time limit</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设定时间限制</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should set a time limit of five minutes for each item.”</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Could this have been an email?</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这个本可以发邮件解决吧?</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“Be honest: could this have been an email?”</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attendee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与会者</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“Only invite attendees who can make a decision.”</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cut down on</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减少</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to cut down on status meetings.”</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Getting results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02 Bad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取得成果</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reach a decision</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做出决定,达成决定</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spent an hour, but we didn’t reach a decision.”</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hold people accountable</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让人承担责任</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“Name an owner for each task so you can hold people accountable.”</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follow-up</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后续跟进</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 was no follow-up, so nothing changed.”</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 on the same page</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想法一致,达成共识</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check we’re all on the same page before we move on.”</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productive</a:t>
            </a:r>
          </a:p>
          <a:p>
            <a:pPr algn="l">
              <a:lnSpc>
                <a:spcPct val="115000"/>
              </a:lnSpc>
              <a:spcAft>
                <a:spcPts val="800"/>
              </a:spcAft>
            </a:pPr>
            <a:r>
              <a:rPr sz="1300" b="0">
                <a:solidFill>
                  <a:srgbClr val="5F677A"/>
                </a:solidFill>
                <a:latin typeface="Arial"/>
                <a:ea typeface="Microsoft YaHei"/>
              </a:rPr>
              <a:t>adjective</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高效的,有成效的</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was a short but productive meeting.”</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02 Bad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主导讨论,一言堂</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dominate the discussion</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跑题,扯远</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go off on a tangent</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浪费时间</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waste of time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含糊的,不明确的</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vague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后续跟进</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follow-up</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高效的,有成效的</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productive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减少</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cut down on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按议程进行</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stick to the agenda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02 Bad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stick</a:t>
            </a:r>
          </a:p>
        </p:txBody>
      </p:sp>
      <p:sp>
        <p:nvSpPr>
          <p:cNvPr id="10" name="Rounded Rectangle 9"/>
          <p:cNvSpPr/>
          <p:nvPr/>
        </p:nvSpPr>
        <p:spPr>
          <a:xfrm>
            <a:off x="3017520"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tangent</a:t>
            </a:r>
          </a:p>
        </p:txBody>
      </p:sp>
      <p:sp>
        <p:nvSpPr>
          <p:cNvPr id="11" name="Rounded Rectangle 10"/>
          <p:cNvSpPr/>
          <p:nvPr/>
        </p:nvSpPr>
        <p:spPr>
          <a:xfrm>
            <a:off x="4242816" y="987552"/>
            <a:ext cx="124358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dominate</a:t>
            </a:r>
          </a:p>
        </p:txBody>
      </p:sp>
      <p:sp>
        <p:nvSpPr>
          <p:cNvPr id="12" name="Rounded Rectangle 11"/>
          <p:cNvSpPr/>
          <p:nvPr/>
        </p:nvSpPr>
        <p:spPr>
          <a:xfrm>
            <a:off x="5577840"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attendees</a:t>
            </a:r>
          </a:p>
        </p:txBody>
      </p:sp>
      <p:sp>
        <p:nvSpPr>
          <p:cNvPr id="13" name="Rounded Rectangle 12"/>
          <p:cNvSpPr/>
          <p:nvPr/>
        </p:nvSpPr>
        <p:spPr>
          <a:xfrm>
            <a:off x="7022592"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decision</a:t>
            </a:r>
          </a:p>
        </p:txBody>
      </p:sp>
      <p:sp>
        <p:nvSpPr>
          <p:cNvPr id="14" name="Rounded Rectangle 13"/>
          <p:cNvSpPr/>
          <p:nvPr/>
        </p:nvSpPr>
        <p:spPr>
          <a:xfrm>
            <a:off x="8357616"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page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1.  Let’s _______ to the agenda so we can finish on time.</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stick</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2.  We kept going off on a _______ and ran out of time.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tangent</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3.  Two people tend to _______ the discussion, so the others stay quiet.</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dominate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4.  We should only invite the _______ who need to be there.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attendees</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5.  After an hour, we still hadn’t reached a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decision</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6.  Before we move on, let’s make sure we’re all on the same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page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(搭配与可数性) a waste of time (with “a”); a lot of meetings (meeting is countable: not “much meeting”); spelling: attendee, productive, tangent.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Giving honest feedback to your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02 Bad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向上司反馈</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Your manager asks why the weekly meeting is not working. You give honest but polite feedback.</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Rachel Kim, department 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Ben Zhou, team member</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Giving honest feedback to your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02 Bad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Rachel</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Ben, you’ve been quiet in our Monday meetings lately. Is everything OK?</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Ben</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but to be honest, I’m finding them a bit hard to follow.</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Really? In what way?</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Well, they often run over, and we go off on a tangent quite a lot. Last week we spent twenty minutes on the office printer.</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Hmm, I hadn’t realised. What would help, do you think?</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Perhaps we could send an agenda the day before and set a time limit for each item?</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Giving honest feedback to your manager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02 Bad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makes sense. Anything else?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Maybe we could cut down on updates. Some of them could be an email, I think.</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Fair point. And what about decisions?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At the moment we rarely reach one, and nobody follows up. If we named an owner for each action, people would know what to do.</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Let’s try that for a month and see how it goes.</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Giving honest feedback to your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02 Bad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Your manager asks for your honest opinion about a meeting that does not work.</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(B)</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 The meeting you talk about: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(A)</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open to ideas but a little defensive.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run over · go off on a tangent · stick to the agenda · Perhaps we could… · hold people accountable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two problems, suggest two solutions, and stay polite.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FFFFFF"/>
                </a:solidFill>
                <a:latin typeface="Arial"/>
                <a:ea typeface="Microsoft YaHei"/>
              </a:rPr>
              <a:t>Soften your criticism with hedges: “To be honest, I’m finding…” / “It seems to me that…” / “I may be wrong, but…”</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FFFFFF"/>
                </a:solidFill>
                <a:latin typeface="Arial"/>
                <a:ea typeface="Microsoft YaHei"/>
              </a:rPr>
              <a:t>The manager gets defensive: “I think the meetings are fine.” Stay calm: “I understand. I’m only suggesting we try it for a month.”</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FFFFFF"/>
                </a:solidFill>
                <a:latin typeface="Arial"/>
                <a:ea typeface="Microsoft YaHei"/>
              </a:rPr>
              <a:t>Add one concrete example with a number: “Last Monday, we spent 25 minutes on one item.”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Redesigning a weekly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02 Bad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重新设计每周例会</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Two colleagues plan to turn a 90-minute weekly meeting into a 30-minute one.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Nina Gao, organiser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Omar Said, sceptical colleague</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Redesigning a weekly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02 Bad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Nina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Omar, thanks for staying behind. I want to rethink the weekly meeting. At the moment it’s 90 minutes.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Omar</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it feels like three hours! What do you have in mind?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Thirty minutes, maximum, with a strict agenda.</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Thirty is tight. What happens to the project updates?</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They’d go into a shared document, and people would read them beforehand.</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Would they, though? Some people never open anything.</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Redesigning a weekly meeting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02 Bad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point. We could start with two minutes of silent reading.</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Interesting. And who keeps us on track?</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timekeeper. We could rotate the role each week.</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like it. Let’s pilot it for four weeks, then ask everyone how it went.</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 I’ll draft a one-page agenda template.</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Redesigning a weekly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02 Bad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agree a new format for a long weekly meeting.</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Organiser. The meeting you want to change: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who is a little sceptical.</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Let’s rethink… · a time limit · Would they, though? · We could rotate… · pilot</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Agree length, agenda, roles and a trial period.</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colleague says, “It won’t work.” Reply with evidence: “I take your point, but when we tried it last quarter…”</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Make your proposal in three sentences: the problem, the change, the benefit.</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End with a recap: “So, to recap, we’re going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02 Bad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makes a meeting a waste of time?</a:t>
            </a:r>
          </a:p>
          <a:p>
            <a:pPr algn="l">
              <a:lnSpc>
                <a:spcPct val="115000"/>
              </a:lnSpc>
              <a:spcAft>
                <a:spcPts val="800"/>
              </a:spcAft>
            </a:pPr>
            <a:r>
              <a:rPr sz="1400" b="0">
                <a:solidFill>
                  <a:srgbClr val="5F677A"/>
                </a:solidFill>
                <a:latin typeface="Arial"/>
                <a:ea typeface="Microsoft YaHei"/>
              </a:rPr>
              <a:t>💬 “For me, the biggest problem is…” / “It’s frustrating when…”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many people should attend a meeting?</a:t>
            </a:r>
          </a:p>
          <a:p>
            <a:pPr algn="l">
              <a:lnSpc>
                <a:spcPct val="115000"/>
              </a:lnSpc>
              <a:spcAft>
                <a:spcPts val="800"/>
              </a:spcAft>
            </a:pPr>
            <a:r>
              <a:rPr sz="1400" b="0">
                <a:solidFill>
                  <a:srgbClr val="5F677A"/>
                </a:solidFill>
                <a:latin typeface="Arial"/>
                <a:ea typeface="Microsoft YaHei"/>
              </a:rPr>
              <a:t>💬 “I’d say the ideal number is…” / “The more people there are, the…”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OK to leave a meeting that is not relevant to you?</a:t>
            </a:r>
          </a:p>
          <a:p>
            <a:pPr algn="l">
              <a:lnSpc>
                <a:spcPct val="115000"/>
              </a:lnSpc>
              <a:spcAft>
                <a:spcPts val="800"/>
              </a:spcAft>
            </a:pPr>
            <a:r>
              <a:rPr sz="1400" b="0">
                <a:solidFill>
                  <a:srgbClr val="5F677A"/>
                </a:solidFill>
                <a:latin typeface="Arial"/>
                <a:ea typeface="Microsoft YaHei"/>
              </a:rPr>
              <a:t>💬 “It depends on the culture…” / “If I’m not needed, I’d…”</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junior staff speak up when a senior manager dominates?</a:t>
            </a:r>
          </a:p>
          <a:p>
            <a:pPr algn="l">
              <a:lnSpc>
                <a:spcPct val="115000"/>
              </a:lnSpc>
              <a:spcAft>
                <a:spcPts val="800"/>
              </a:spcAft>
            </a:pPr>
            <a:r>
              <a:rPr sz="1400" b="0">
                <a:solidFill>
                  <a:srgbClr val="5F677A"/>
                </a:solidFill>
                <a:latin typeface="Arial"/>
                <a:ea typeface="Microsoft YaHei"/>
              </a:rPr>
              <a:t>💬 “One approach is to…” / “It helps to prepare…”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was the best meeting you have attended? Why?</a:t>
            </a:r>
          </a:p>
          <a:p>
            <a:pPr algn="l">
              <a:lnSpc>
                <a:spcPct val="115000"/>
              </a:lnSpc>
              <a:spcAft>
                <a:spcPts val="800"/>
              </a:spcAft>
            </a:pPr>
            <a:r>
              <a:rPr sz="1400" b="0">
                <a:solidFill>
                  <a:srgbClr val="5F677A"/>
                </a:solidFill>
                <a:latin typeface="Arial"/>
                <a:ea typeface="Microsoft YaHei"/>
              </a:rPr>
              <a:t>💬 “What made it great was…” / “It was productive because…”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02 Bad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For me, the biggest problem is a meeting with no clear purpose. People turn up without preparing, so the discussion goes round in circles and nobody makes a decision. It’s even worse when two or three people dominate and the rest just wait for it to finish. I think a meeting is only worth having when there is a decision to make or a problem to solve. Otherwise, an email would do.</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“go round in circles” = 原地打转;“It’s even worse when…” = 更糟的是…;“an email would do” = 一封邮件就够了。</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Softening criticism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02 Bad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委婉地提出批评</a:t>
            </a:r>
          </a:p>
        </p:txBody>
      </p:sp>
      <p:graphicFrame>
        <p:nvGraphicFramePr>
          <p:cNvPr id="9" name="Table 8"/>
          <p:cNvGraphicFramePr>
            <a:graphicFrameLocks noGrp="1"/>
          </p:cNvGraphicFramePr>
          <p:nvPr/>
        </p:nvGraphicFramePr>
        <p:xfrm>
          <a:off x="548640" y="1417320"/>
          <a:ext cx="11094415" cy="228600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Too direct</a:t>
                      </a:r>
                    </a:p>
                  </a:txBody>
                  <a:tcPr anchor="ctr">
                    <a:solidFill>
                      <a:srgbClr val="3CC49A"/>
                    </a:solidFill>
                  </a:tcPr>
                </a:tc>
                <a:tc>
                  <a:txBody>
                    <a:bodyPr wrap="square"/>
                    <a:lstStyle/>
                    <a:p>
                      <a:r>
                        <a:rPr sz="1600" b="1">
                          <a:solidFill>
                            <a:srgbClr val="FFFFFF"/>
                          </a:solidFill>
                          <a:latin typeface="Arial"/>
                          <a:ea typeface="Microsoft YaHei"/>
                        </a:rPr>
                        <a:t>Softer and more natural</a:t>
                      </a:r>
                    </a:p>
                  </a:txBody>
                  <a:tcPr anchor="ctr">
                    <a:solidFill>
                      <a:srgbClr val="3CC49A"/>
                    </a:solidFill>
                  </a:tcPr>
                </a:tc>
              </a:tr>
              <a:tr h="652272">
                <a:tc>
                  <a:txBody>
                    <a:bodyPr wrap="square"/>
                    <a:lstStyle/>
                    <a:p>
                      <a:r>
                        <a:rPr sz="1600" b="1">
                          <a:solidFill>
                            <a:srgbClr val="1F2A44"/>
                          </a:solidFill>
                          <a:latin typeface="Arial"/>
                          <a:ea typeface="Microsoft YaHei"/>
                        </a:rPr>
                        <a:t>This meeting is boring.</a:t>
                      </a:r>
                    </a:p>
                  </a:txBody>
                  <a:tcPr anchor="ctr">
                    <a:solidFill>
                      <a:srgbClr val="FFFFFF"/>
                    </a:solidFill>
                  </a:tcPr>
                </a:tc>
                <a:tc>
                  <a:txBody>
                    <a:bodyPr wrap="square"/>
                    <a:lstStyle/>
                    <a:p>
                      <a:r>
                        <a:rPr sz="1600" b="0">
                          <a:solidFill>
                            <a:srgbClr val="1F2A44"/>
                          </a:solidFill>
                          <a:latin typeface="Arial"/>
                          <a:ea typeface="Microsoft YaHei"/>
                        </a:rPr>
                        <a:t>I find these meetings a bit hard to stay focused in.</a:t>
                      </a:r>
                    </a:p>
                  </a:txBody>
                  <a:tcPr anchor="ctr">
                    <a:solidFill>
                      <a:srgbClr val="FFFFFF"/>
                    </a:solidFill>
                  </a:tcPr>
                </a:tc>
              </a:tr>
              <a:tr h="408432">
                <a:tc>
                  <a:txBody>
                    <a:bodyPr wrap="square"/>
                    <a:lstStyle/>
                    <a:p>
                      <a:r>
                        <a:rPr sz="1600" b="1">
                          <a:solidFill>
                            <a:srgbClr val="1F2A44"/>
                          </a:solidFill>
                          <a:latin typeface="Arial"/>
                          <a:ea typeface="Microsoft YaHei"/>
                        </a:rPr>
                        <a:t>You talk too much.</a:t>
                      </a:r>
                    </a:p>
                  </a:txBody>
                  <a:tcPr anchor="ctr">
                    <a:solidFill>
                      <a:srgbClr val="FFEFD9"/>
                    </a:solidFill>
                  </a:tcPr>
                </a:tc>
                <a:tc>
                  <a:txBody>
                    <a:bodyPr wrap="square"/>
                    <a:lstStyle/>
                    <a:p>
                      <a:r>
                        <a:rPr sz="1600" b="0">
                          <a:solidFill>
                            <a:srgbClr val="1F2A44"/>
                          </a:solidFill>
                          <a:latin typeface="Arial"/>
                          <a:ea typeface="Microsoft YaHei"/>
                        </a:rPr>
                        <a:t>I think we could give everyone a chance to speak.</a:t>
                      </a:r>
                    </a:p>
                  </a:txBody>
                  <a:tcPr anchor="ctr">
                    <a:solidFill>
                      <a:srgbClr val="FFEFD9"/>
                    </a:solidFill>
                  </a:tcPr>
                </a:tc>
              </a:tr>
              <a:tr h="408432">
                <a:tc>
                  <a:txBody>
                    <a:bodyPr wrap="square"/>
                    <a:lstStyle/>
                    <a:p>
                      <a:r>
                        <a:rPr sz="1600" b="1">
                          <a:solidFill>
                            <a:srgbClr val="1F2A44"/>
                          </a:solidFill>
                          <a:latin typeface="Arial"/>
                          <a:ea typeface="Microsoft YaHei"/>
                        </a:rPr>
                        <a:t>Your agenda is bad.</a:t>
                      </a:r>
                    </a:p>
                  </a:txBody>
                  <a:tcPr anchor="ctr">
                    <a:solidFill>
                      <a:srgbClr val="FFFFFF"/>
                    </a:solidFill>
                  </a:tcPr>
                </a:tc>
                <a:tc>
                  <a:txBody>
                    <a:bodyPr wrap="square"/>
                    <a:lstStyle/>
                    <a:p>
                      <a:r>
                        <a:rPr sz="1600" b="0">
                          <a:solidFill>
                            <a:srgbClr val="1F2A44"/>
                          </a:solidFill>
                          <a:latin typeface="Arial"/>
                          <a:ea typeface="Microsoft YaHei"/>
                        </a:rPr>
                        <a:t>The agenda could be a little clearer, I think.</a:t>
                      </a:r>
                    </a:p>
                  </a:txBody>
                  <a:tcPr anchor="ctr">
                    <a:solidFill>
                      <a:srgbClr val="FFFFFF"/>
                    </a:solidFill>
                  </a:tcPr>
                </a:tc>
              </a:tr>
              <a:tr h="408432">
                <a:tc>
                  <a:txBody>
                    <a:bodyPr wrap="square"/>
                    <a:lstStyle/>
                    <a:p>
                      <a:r>
                        <a:rPr sz="1600" b="1">
                          <a:solidFill>
                            <a:srgbClr val="1F2A44"/>
                          </a:solidFill>
                          <a:latin typeface="Arial"/>
                          <a:ea typeface="Microsoft YaHei"/>
                        </a:rPr>
                        <a:t>That’s a stupid idea.</a:t>
                      </a:r>
                    </a:p>
                  </a:txBody>
                  <a:tcPr anchor="ctr">
                    <a:solidFill>
                      <a:srgbClr val="FFEFD9"/>
                    </a:solidFill>
                  </a:tcPr>
                </a:tc>
                <a:tc>
                  <a:txBody>
                    <a:bodyPr wrap="square"/>
                    <a:lstStyle/>
                    <a:p>
                      <a:r>
                        <a:rPr sz="1600" b="0">
                          <a:solidFill>
                            <a:srgbClr val="1F2A44"/>
                          </a:solidFill>
                          <a:latin typeface="Arial"/>
                          <a:ea typeface="Microsoft YaHei"/>
                        </a:rPr>
                        <a:t>I’m not sure that would work, because…</a:t>
                      </a:r>
                    </a:p>
                  </a:txBody>
                  <a:tcPr anchor="ctr">
                    <a:solidFill>
                      <a:srgbClr val="FFEFD9"/>
                    </a:solidFill>
                  </a:tcPr>
                </a:tc>
              </a:tr>
            </a:tbl>
          </a:graphicData>
        </a:graphic>
      </p:graphicFrame>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Softening criticism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02 Bad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委婉地提出批评</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Hedges: </a:t>
            </a:r>
            <a:r>
              <a:rPr sz="1700" b="0">
                <a:solidFill>
                  <a:srgbClr val="1F2A44"/>
                </a:solidFill>
                <a:latin typeface="Arial"/>
                <a:ea typeface="Microsoft YaHei"/>
              </a:rPr>
              <a:t>a bit, a little, rather, I tend to feel, it seems to me, perhaps, maybe. Note: British quite = “fairly”; American quite = “very”.</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Suggesting with modals and conditionals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02 Bad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提建议的句型</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We could… / Perhaps we should… / How about + -ing? / Why don’t we…?</a:t>
            </a:r>
          </a:p>
        </p:txBody>
      </p:sp>
      <p:sp>
        <p:nvSpPr>
          <p:cNvPr id="12" name="Rounded Rectangle 11"/>
          <p:cNvSpPr/>
          <p:nvPr/>
        </p:nvSpPr>
        <p:spPr>
          <a:xfrm>
            <a:off x="548640" y="195071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701039"/>
          </a:xfrm>
          <a:prstGeom prst="rect">
            <a:avLst/>
          </a:prstGeom>
          <a:noFill/>
        </p:spPr>
        <p:txBody>
          <a:bodyPr wrap="square" anchor="ctr">
            <a:spAutoFit/>
          </a:bodyPr>
          <a:lstStyle/>
          <a:p>
            <a:r>
              <a:rPr sz="1700" b="1">
                <a:solidFill>
                  <a:srgbClr val="4A90E2"/>
                </a:solidFill>
                <a:latin typeface="Arial"/>
                <a:ea typeface="Microsoft YaHei"/>
              </a:rPr>
              <a:t>Second conditional: </a:t>
            </a:r>
            <a:r>
              <a:rPr sz="1700" b="0">
                <a:solidFill>
                  <a:srgbClr val="1F2A44"/>
                </a:solidFill>
                <a:latin typeface="Arial"/>
                <a:ea typeface="Microsoft YaHei"/>
              </a:rPr>
              <a:t>If we sent the agenda earlier, people would come prepared. (if + past simple, would + base verb)</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spend time + -ing: </a:t>
            </a:r>
            <a:r>
              <a:rPr sz="1700" b="0">
                <a:solidFill>
                  <a:srgbClr val="1F2A44"/>
                </a:solidFill>
                <a:latin typeface="Arial"/>
                <a:ea typeface="Microsoft YaHei"/>
              </a:rPr>
              <a:t>“We spent an hour discussing it.”</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02 Bad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feel boring in the meetings.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feel bored in the meetings.</a:t>
            </a:r>
          </a:p>
          <a:p>
            <a:pPr algn="l">
              <a:spcAft>
                <a:spcPts val="200"/>
              </a:spcAft>
            </a:pPr>
            <a:r>
              <a:rPr sz="1200" b="0">
                <a:solidFill>
                  <a:srgbClr val="FFFFFF"/>
                </a:solidFill>
                <a:latin typeface="Arial"/>
                <a:ea typeface="Microsoft YaHei"/>
              </a:rPr>
              <a:t>bored 描述人的感受;boring 描述事物</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spent two hours to discuss it.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spent two hours discussing it.</a:t>
            </a:r>
          </a:p>
          <a:p>
            <a:pPr algn="l">
              <a:spcAft>
                <a:spcPts val="200"/>
              </a:spcAft>
            </a:pPr>
            <a:r>
              <a:rPr sz="1200" b="0">
                <a:solidFill>
                  <a:srgbClr val="FFFFFF"/>
                </a:solidFill>
                <a:latin typeface="Arial"/>
                <a:ea typeface="Microsoft YaHei"/>
              </a:rPr>
              <a:t>spend + 时间 + -ing</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If we would send the agenda, people come prepared.</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If we sent the agenda, people would come prepared.</a:t>
            </a:r>
          </a:p>
          <a:p>
            <a:pPr algn="l">
              <a:spcAft>
                <a:spcPts val="200"/>
              </a:spcAft>
            </a:pPr>
            <a:r>
              <a:rPr sz="1200" b="0">
                <a:solidFill>
                  <a:srgbClr val="FFFFFF"/>
                </a:solidFill>
                <a:latin typeface="Arial"/>
                <a:ea typeface="Microsoft YaHei"/>
              </a:rPr>
              <a:t>第二类条件句</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Too much people attend the meeting.</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Too many people attend the meeting.</a:t>
            </a:r>
          </a:p>
          <a:p>
            <a:pPr algn="l">
              <a:spcAft>
                <a:spcPts val="200"/>
              </a:spcAft>
            </a:pPr>
            <a:r>
              <a:rPr sz="1200" b="0">
                <a:solidFill>
                  <a:srgbClr val="FFFFFF"/>
                </a:solidFill>
                <a:latin typeface="Arial"/>
                <a:ea typeface="Microsoft YaHei"/>
              </a:rPr>
              <a:t>people 可数,用 many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02 Bad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meeting is waste of time.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meeting is a waste of time.</a:t>
            </a:r>
          </a:p>
          <a:p>
            <a:pPr algn="l">
              <a:spcAft>
                <a:spcPts val="200"/>
              </a:spcAft>
            </a:pPr>
            <a:r>
              <a:rPr sz="1200" b="0">
                <a:solidFill>
                  <a:srgbClr val="FFFFFF"/>
                </a:solidFill>
                <a:latin typeface="Arial"/>
                <a:ea typeface="Microsoft YaHei"/>
              </a:rPr>
              <a:t>a waste of time</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suggest to cut the meeting.</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suggest cutting the meeting. / I suggest we cut it.</a:t>
            </a:r>
          </a:p>
          <a:p>
            <a:pPr algn="l">
              <a:spcAft>
                <a:spcPts val="200"/>
              </a:spcAft>
            </a:pPr>
            <a:r>
              <a:rPr sz="1200" b="0">
                <a:solidFill>
                  <a:srgbClr val="FFFFFF"/>
                </a:solidFill>
                <a:latin typeface="Arial"/>
                <a:ea typeface="Microsoft YaHei"/>
              </a:rPr>
              <a:t>suggest + -ing</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decided nothing, and no follow up.</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decided nothing, and there was no follow-up.</a:t>
            </a:r>
          </a:p>
          <a:p>
            <a:pPr algn="l">
              <a:spcAft>
                <a:spcPts val="200"/>
              </a:spcAft>
            </a:pPr>
            <a:r>
              <a:rPr sz="1200" b="0">
                <a:solidFill>
                  <a:srgbClr val="FFFFFF"/>
                </a:solidFill>
                <a:latin typeface="Arial"/>
                <a:ea typeface="Microsoft YaHei"/>
              </a:rPr>
              <a:t>完整句;名词 follow-up</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Every meeting have a problem.</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Every meeting has a problem.</a:t>
            </a:r>
          </a:p>
          <a:p>
            <a:pPr algn="l">
              <a:spcAft>
                <a:spcPts val="200"/>
              </a:spcAft>
            </a:pPr>
            <a:r>
              <a:rPr sz="1200" b="0">
                <a:solidFill>
                  <a:srgbClr val="FFFFFF"/>
                </a:solidFill>
                <a:latin typeface="Arial"/>
                <a:ea typeface="Microsoft YaHei"/>
              </a:rPr>
              <a:t>every + 单数</a:t>
            </a:r>
          </a:p>
        </p:txBody>
      </p:sp>
      <p:sp>
        <p:nvSpPr>
          <p:cNvPr id="23" name="Rounded Rectangle 2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Before you record, check three things: bored / boring, many / much, and the -ing form after spend and suggest.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02 Bad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Use “we”, not “you”. “We could shorten it” sounds like teamwork. “You make it too long” sounds like blame.</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Offer ideas, not just complaints. In UK/US teams, a polite suggestion is usually welcome, even from a junior person.</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0">
                <a:solidFill>
                  <a:srgbClr val="1F2A44"/>
                </a:solidFill>
                <a:latin typeface="Arial"/>
                <a:ea typeface="Microsoft YaHei"/>
              </a:rPr>
              <a:t>Thank before you disagree. “That’s a fair point, but…” is standard and soft.</a:t>
            </a:r>
          </a:p>
        </p:txBody>
      </p:sp>
      <p:sp>
        <p:nvSpPr>
          <p:cNvPr id="18" name="Rounded Rectangle 17"/>
          <p:cNvSpPr/>
          <p:nvPr/>
        </p:nvSpPr>
        <p:spPr>
          <a:xfrm>
            <a:off x="548640" y="353567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3567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35677"/>
            <a:ext cx="10728655" cy="701039"/>
          </a:xfrm>
          <a:prstGeom prst="rect">
            <a:avLst/>
          </a:prstGeom>
          <a:noFill/>
        </p:spPr>
        <p:txBody>
          <a:bodyPr wrap="square" anchor="ctr">
            <a:spAutoFit/>
          </a:bodyPr>
          <a:lstStyle/>
          <a:p>
            <a:r>
              <a:rPr sz="1700" b="0">
                <a:solidFill>
                  <a:srgbClr val="1F2A44"/>
                </a:solidFill>
                <a:latin typeface="Arial"/>
                <a:ea typeface="Microsoft YaHei"/>
              </a:rPr>
              <a:t>Meeting-free days (for example, no meetings on Wednesdays) are a popular fix. You can propose a trial.</a:t>
            </a:r>
          </a:p>
        </p:txBody>
      </p:sp>
      <p:sp>
        <p:nvSpPr>
          <p:cNvPr id="21" name="Rounded Rectangle 20"/>
          <p:cNvSpPr/>
          <p:nvPr/>
        </p:nvSpPr>
        <p:spPr>
          <a:xfrm>
            <a:off x="548640" y="432815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32815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328156"/>
            <a:ext cx="10728655" cy="701039"/>
          </a:xfrm>
          <a:prstGeom prst="rect">
            <a:avLst/>
          </a:prstGeom>
          <a:noFill/>
        </p:spPr>
        <p:txBody>
          <a:bodyPr wrap="square" anchor="ctr">
            <a:spAutoFit/>
          </a:bodyPr>
          <a:lstStyle/>
          <a:p>
            <a:r>
              <a:rPr sz="1700" b="0">
                <a:solidFill>
                  <a:srgbClr val="1F2A44"/>
                </a:solidFill>
                <a:latin typeface="Arial"/>
                <a:ea typeface="Microsoft YaHei"/>
              </a:rPr>
              <a:t>Start and finish on time. Meetings that end early are a pleasant surprise: “Let’s give everyone five minutes back.”</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02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02 Bad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say clearly why a meeting is not working, using run over, go off on a tangent, dominate.</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criticise politely with hedges (I find…, it seems to me…, perhaps we could…).</a:t>
            </a:r>
          </a:p>
        </p:txBody>
      </p:sp>
      <p:sp>
        <p:nvSpPr>
          <p:cNvPr id="16" name="TextBox 15"/>
          <p:cNvSpPr txBox="1"/>
          <p:nvPr/>
        </p:nvSpPr>
        <p:spPr>
          <a:xfrm>
            <a:off x="9539935" y="24109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3131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3131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3131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suggest changes with We could… and a second conditional.</a:t>
            </a:r>
          </a:p>
        </p:txBody>
      </p:sp>
      <p:sp>
        <p:nvSpPr>
          <p:cNvPr id="20" name="TextBox 19"/>
          <p:cNvSpPr txBox="1"/>
          <p:nvPr/>
        </p:nvSpPr>
        <p:spPr>
          <a:xfrm>
            <a:off x="9539935" y="33131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9105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105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9105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in my own sentences.</a:t>
            </a:r>
          </a:p>
        </p:txBody>
      </p:sp>
      <p:sp>
        <p:nvSpPr>
          <p:cNvPr id="24" name="TextBox 23"/>
          <p:cNvSpPr txBox="1"/>
          <p:nvPr/>
        </p:nvSpPr>
        <p:spPr>
          <a:xfrm>
            <a:off x="9539935" y="39105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507992"/>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507992"/>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507992"/>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bored / boring and a waste of time correctly.</a:t>
            </a:r>
          </a:p>
        </p:txBody>
      </p:sp>
      <p:sp>
        <p:nvSpPr>
          <p:cNvPr id="28" name="TextBox 27"/>
          <p:cNvSpPr txBox="1"/>
          <p:nvPr/>
        </p:nvSpPr>
        <p:spPr>
          <a:xfrm>
            <a:off x="9539935" y="4507992"/>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02 Bad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Talk for 60 seconds about a bad meeting and two fixes. Then repeat it with softer language. Record both.</a:t>
            </a:r>
          </a:p>
        </p:txBody>
      </p:sp>
      <p:sp>
        <p:nvSpPr>
          <p:cNvPr id="14" name="Rounded Rectangle 13"/>
          <p:cNvSpPr/>
          <p:nvPr/>
        </p:nvSpPr>
        <p:spPr>
          <a:xfrm>
            <a:off x="548640" y="341071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41071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bored / boring, hedges, second conditional, “a waste of time”.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 · Lesson 03 Outside the scope of this meeting</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59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03</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4500" b="1">
                <a:solidFill>
                  <a:srgbClr val="FFFFFF"/>
                </a:solidFill>
                <a:latin typeface="Arial"/>
                <a:ea typeface="Microsoft YaHei"/>
              </a:rPr>
              <a:t>Outside the scope of this meeting</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不在本次会议范围</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define a meeting’s purpose, say politely that a topic is outside its scope, and give the off-topic point a “home”.</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03 Outside the scope of this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6972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334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334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What was the purpose of the last meeting you attended? Say it in one sentence.</a:t>
            </a:r>
          </a:p>
        </p:txBody>
      </p:sp>
      <p:sp>
        <p:nvSpPr>
          <p:cNvPr id="12" name="Oval 11"/>
          <p:cNvSpPr/>
          <p:nvPr/>
        </p:nvSpPr>
        <p:spPr>
          <a:xfrm>
            <a:off x="548640" y="236524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197608"/>
            <a:ext cx="10408615" cy="838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197608"/>
            <a:ext cx="10180015" cy="8382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When did someone last raise a topic that did not belong in a meeting? What did you do?</a:t>
            </a:r>
          </a:p>
        </p:txBody>
      </p:sp>
      <p:sp>
        <p:nvSpPr>
          <p:cNvPr id="15" name="Oval 14"/>
          <p:cNvSpPr/>
          <p:nvPr/>
        </p:nvSpPr>
        <p:spPr>
          <a:xfrm>
            <a:off x="548640" y="331317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145536"/>
            <a:ext cx="10408615" cy="838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45536"/>
            <a:ext cx="10180015" cy="8382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Is it difficult for you to say “that’s not for today” to a senior colleague? Why?</a:t>
            </a:r>
          </a:p>
        </p:txBody>
      </p:sp>
      <p:sp>
        <p:nvSpPr>
          <p:cNvPr id="18" name="Oval 17"/>
          <p:cNvSpPr/>
          <p:nvPr/>
        </p:nvSpPr>
        <p:spPr>
          <a:xfrm>
            <a:off x="548640" y="410870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93464"/>
            <a:ext cx="10408615" cy="5334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93464"/>
            <a:ext cx="10180015" cy="5334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Who should decide what goes on the agenda in your team?</a:t>
            </a:r>
          </a:p>
        </p:txBody>
      </p:sp>
      <p:sp>
        <p:nvSpPr>
          <p:cNvPr id="21" name="Oval 20"/>
          <p:cNvSpPr/>
          <p:nvPr/>
        </p:nvSpPr>
        <p:spPr>
          <a:xfrm>
            <a:off x="548640" y="475183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92"/>
            <a:ext cx="10408615" cy="5334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92"/>
            <a:ext cx="10180015" cy="5334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What happens to ideas that don’t fit the agenda in your company?</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 题可以用 “The purpose was to + 动词原形”。第 2 题讲过去的事,用过去式(raised, belonged, did)。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03 Outside the scope of this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how you stop a meeting from drifting off topic.</a:t>
            </a:r>
          </a:p>
        </p:txBody>
      </p:sp>
      <p:sp>
        <p:nvSpPr>
          <p:cNvPr id="10" name="Rounded Rectangle 9"/>
          <p:cNvSpPr/>
          <p:nvPr/>
        </p:nvSpPr>
        <p:spPr>
          <a:xfrm>
            <a:off x="548640" y="3017520"/>
            <a:ext cx="326136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problem</a:t>
            </a:r>
          </a:p>
        </p:txBody>
      </p:sp>
      <p:sp>
        <p:nvSpPr>
          <p:cNvPr id="11" name="Rounded Rectangle 10"/>
          <p:cNvSpPr/>
          <p:nvPr/>
        </p:nvSpPr>
        <p:spPr>
          <a:xfrm>
            <a:off x="3947160" y="3017520"/>
            <a:ext cx="326136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what you say</a:t>
            </a:r>
          </a:p>
        </p:txBody>
      </p:sp>
      <p:sp>
        <p:nvSpPr>
          <p:cNvPr id="12" name="Rounded Rectangle 11"/>
          <p:cNvSpPr/>
          <p:nvPr/>
        </p:nvSpPr>
        <p:spPr>
          <a:xfrm>
            <a:off x="7345680" y="3017520"/>
            <a:ext cx="326136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what happens to the off-topic point</a:t>
            </a:r>
          </a:p>
        </p:txBody>
      </p:sp>
      <p:sp>
        <p:nvSpPr>
          <p:cNvPr id="13" name="TextBox 12"/>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4" name="TextBox 13"/>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trick is to…   💬 I’d say something like…   💬 I’d note it down and…</a:t>
            </a:r>
          </a:p>
        </p:txBody>
      </p:sp>
      <p:sp>
        <p:nvSpPr>
          <p:cNvPr id="15" name="Rounded Rectangle 14"/>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“The trick is to + 动词原形” 意为”诀窍是…“;”something like…” 让语气更柔和,不那么生硬。</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The parking lot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139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03 Outside the scope of this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At a product review, Hannah noticed that the conversation had slipped away from the new app. Someone had started talking about the office parking spaces, and soon half the room had an opinion. Hannah waited for a pause. “This is clearly important to people,” she said, “but it’s outside the scope of today’s meeting. Can we park it and give it ten minutes on Thursday?” She wrote “Parking” on the whiteboard, under a heading called “Parking Lot”. Everybody relaxed. Nobody felt ignored, and the review went back on track. Afterwards, a colleague asked how she had stayed so calm. “I do three things,” Hannah said. “I recognise the point, I say why it doesn’t fit here, and I give it a home. If you only say no, people feel dismissed. If you say when and where, they let go.”</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03 Outside the scope of this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went off topic in the review?</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discussion about office parking.</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exactly did Hannah do with the off-topic point?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She said it was outside the scope, wrote it on the whiteboard under “Parking Lot”, and offered ten minutes on Thursday.</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are her three steps?</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Recognise the point, say why it doesn’t fit, give it a home.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Defining scope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03 Outside the scope of this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明确范围</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scope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范围</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scope of today’s meeting is the Q4 budget only.”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purpose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目的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purpose of this meeting is to approve the new timeline.”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outside the scope of…</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超出…的范围</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“Staffing is outside the scope of this meeting.”</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relevant (to)</a:t>
            </a:r>
          </a:p>
          <a:p>
            <a:pPr algn="l">
              <a:lnSpc>
                <a:spcPct val="115000"/>
              </a:lnSpc>
              <a:spcAft>
                <a:spcPts val="800"/>
              </a:spcAft>
            </a:pPr>
            <a:r>
              <a:rPr sz="1300" b="0">
                <a:solidFill>
                  <a:srgbClr val="5F677A"/>
                </a:solidFill>
                <a:latin typeface="Arial"/>
                <a:ea typeface="Microsoft YaHei"/>
              </a:rPr>
              <a:t>adjective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相关的</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“Is this relevant to what we’re deciding today?”</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stay on topic</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不跑题</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stay on topic, or we’ll never finish.”</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Redirecting politely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03 Outside the scope of this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礼貌地引回主题</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park it / the parking lot</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先搁置 / 待议事项清单</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put that in the parking lot and come back to it.”</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That’s a separate issue.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那是另一个问题</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“That’s a separate issue. Let’s deal with it after this item.”</a:t>
            </a:r>
          </a:p>
        </p:txBody>
      </p:sp>
      <p:sp>
        <p:nvSpPr>
          <p:cNvPr id="19" name="Rounded Rectangle 18"/>
          <p:cNvSpPr/>
          <p:nvPr/>
        </p:nvSpPr>
        <p:spPr>
          <a:xfrm>
            <a:off x="548640" y="34340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derail</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34798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使偏离正轨</a:t>
            </a:r>
          </a:p>
        </p:txBody>
      </p:sp>
      <p:sp>
        <p:nvSpPr>
          <p:cNvPr id="23" name="TextBox 22"/>
          <p:cNvSpPr txBox="1"/>
          <p:nvPr/>
        </p:nvSpPr>
        <p:spPr>
          <a:xfrm>
            <a:off x="6675120" y="34798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don’t want to derail the meeting, but I have a quick question.”</a:t>
            </a:r>
          </a:p>
        </p:txBody>
      </p:sp>
      <p:sp>
        <p:nvSpPr>
          <p:cNvPr id="24" name="Rounded Rectangle 23"/>
          <p:cNvSpPr/>
          <p:nvPr/>
        </p:nvSpPr>
        <p:spPr>
          <a:xfrm>
            <a:off x="548640" y="41376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Let’s get back to…</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我们回到…上来</a:t>
            </a:r>
          </a:p>
        </p:txBody>
      </p:sp>
      <p:sp>
        <p:nvSpPr>
          <p:cNvPr id="28" name="TextBox 27"/>
          <p:cNvSpPr txBox="1"/>
          <p:nvPr/>
        </p:nvSpPr>
        <p:spPr>
          <a:xfrm>
            <a:off x="6675120" y="41833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get back to the test results.”</a:t>
            </a:r>
          </a:p>
        </p:txBody>
      </p:sp>
      <p:sp>
        <p:nvSpPr>
          <p:cNvPr id="29" name="Rounded Rectangle 28"/>
          <p:cNvSpPr/>
          <p:nvPr/>
        </p:nvSpPr>
        <p:spPr>
          <a:xfrm>
            <a:off x="548640" y="48412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circle back (to)</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8869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回头再谈</a:t>
            </a:r>
          </a:p>
        </p:txBody>
      </p:sp>
      <p:sp>
        <p:nvSpPr>
          <p:cNvPr id="33" name="TextBox 32"/>
          <p:cNvSpPr txBox="1"/>
          <p:nvPr/>
        </p:nvSpPr>
        <p:spPr>
          <a:xfrm>
            <a:off x="6675120" y="48869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“We’ll circle back to pricing next week.”</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Handling the extra point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03 Outside the scope of this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处理额外的议题</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raise a concern</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提出担忧</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“Thanks for raising that concern. Let’s discuss it with HR separately.”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scope creep</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范围蔓延(需求越加越多)</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“If we say yes to every request, we’ll get scope creep.”</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 ownership of</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负责,主动承担</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“Who can take ownership of the parking issue?”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follow up on</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跟进</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follow up on that by email.”</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remit</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职权范围</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“That decision isn’t within my remit.”</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03 Outside the scope of this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相关的</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relevant (to)</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使偏离正轨</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derail</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目的</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purpose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那是另一个问题</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That’s a separate issue.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负责,主动承担</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ownership of</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范围蔓延(需求越加越多)</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scope creep</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提出担忧</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raise a concern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不跑题</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stay on topic</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03 Outside the scope of this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scope</a:t>
            </a:r>
          </a:p>
        </p:txBody>
      </p:sp>
      <p:sp>
        <p:nvSpPr>
          <p:cNvPr id="10" name="Rounded Rectangle 9"/>
          <p:cNvSpPr/>
          <p:nvPr/>
        </p:nvSpPr>
        <p:spPr>
          <a:xfrm>
            <a:off x="3017520"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purpose</a:t>
            </a:r>
          </a:p>
        </p:txBody>
      </p:sp>
      <p:sp>
        <p:nvSpPr>
          <p:cNvPr id="11" name="Rounded Rectangle 10"/>
          <p:cNvSpPr/>
          <p:nvPr/>
        </p:nvSpPr>
        <p:spPr>
          <a:xfrm>
            <a:off x="4242816" y="987552"/>
            <a:ext cx="124358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relevant</a:t>
            </a:r>
          </a:p>
        </p:txBody>
      </p:sp>
      <p:sp>
        <p:nvSpPr>
          <p:cNvPr id="12" name="Rounded Rectangle 11"/>
          <p:cNvSpPr/>
          <p:nvPr/>
        </p:nvSpPr>
        <p:spPr>
          <a:xfrm>
            <a:off x="5577840" y="987552"/>
            <a:ext cx="80467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park</a:t>
            </a:r>
          </a:p>
        </p:txBody>
      </p:sp>
      <p:sp>
        <p:nvSpPr>
          <p:cNvPr id="13" name="Rounded Rectangle 12"/>
          <p:cNvSpPr/>
          <p:nvPr/>
        </p:nvSpPr>
        <p:spPr>
          <a:xfrm>
            <a:off x="6473952" y="987552"/>
            <a:ext cx="1024128"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derail</a:t>
            </a:r>
          </a:p>
        </p:txBody>
      </p:sp>
      <p:sp>
        <p:nvSpPr>
          <p:cNvPr id="14" name="Rounded Rectangle 13"/>
          <p:cNvSpPr/>
          <p:nvPr/>
        </p:nvSpPr>
        <p:spPr>
          <a:xfrm>
            <a:off x="758952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circle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1.  The _______ of this meeting is to approve the new timeline.</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purpose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2.  Staffing is outside the _______ of today’s discussion.</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scope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3.  Is this _______ to what we’re deciding today?</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relevant</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4.  Let’s _______ that for now and come back to it on Thursday.</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park</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5.  I don’t want to _______ the meeting, but I have a quick question.</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derail</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6.  We’ll _______ back to pricing next week.</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circle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(介词与拼写) outside the scope OF, relevant TO, responsible FOR. Spelling: relevant (not “relavant”), scope, separate (not “seperate”).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Stopping an off-topic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03 Outside the scope of this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制止跑题</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colleague keeps raising an unrelated problem during a product review. You are the chair.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Hannah Lee, chair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Jake Morris, engineer</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Stopping an off-topic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03 Outside the scope of this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Hannah</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Okay, let’s get back to the app launch. We were looking at the test results.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Jake</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Sorry, Hannah, before we do, can I raise the parking issue again? The new rules are a mess.</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hear you, Jake, and I know it matters to a lot of people. But it’s outside the scope of today’s meeting, which is the launch plan.</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It’ll only take two minutes.</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sure it will, but I don’t want to derail the review. Let’s put it in the parking lot, and I’ll add it to Thursday’s team meeting.</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Stopping an off-topic discussion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03 Outside the scope of this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Fine. Will you actually put it on the agenda?</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I’ll do it right after this call. Is that OK?</a:t>
            </a:r>
          </a:p>
        </p:txBody>
      </p:sp>
      <p:sp>
        <p:nvSpPr>
          <p:cNvPr id="14" name="Rounded Rectangle 13"/>
          <p:cNvSpPr/>
          <p:nvPr/>
        </p:nvSpPr>
        <p:spPr>
          <a:xfrm>
            <a:off x="10911535" y="249021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49021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thanks. Sorry for going off track.</a:t>
            </a:r>
          </a:p>
        </p:txBody>
      </p:sp>
      <p:sp>
        <p:nvSpPr>
          <p:cNvPr id="17" name="Rounded Rectangle 16"/>
          <p:cNvSpPr/>
          <p:nvPr/>
        </p:nvSpPr>
        <p:spPr>
          <a:xfrm>
            <a:off x="548640" y="307238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07238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need to apologise. Right, back to the test results. The login bug is still open.</a:t>
            </a:r>
          </a:p>
        </p:txBody>
      </p:sp>
      <p:sp>
        <p:nvSpPr>
          <p:cNvPr id="20" name="Rounded Rectangle 19"/>
          <p:cNvSpPr/>
          <p:nvPr/>
        </p:nvSpPr>
        <p:spPr>
          <a:xfrm>
            <a:off x="10911535" y="394411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3944112"/>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can take ownership of that one. I’ll follow up with the developers today.</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Stopping an off-topic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03 Outside the scope of this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chair a meeting and a colleague raises an unrelated issue.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Chair. Meeting purpose: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with an unrelated, emotional topic.</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outside the scope · I hear you, but… · put it in the parking lot · Let’s get back to… · follow up</a:t>
            </a:r>
          </a:p>
        </p:txBody>
      </p:sp>
      <p:sp>
        <p:nvSpPr>
          <p:cNvPr id="16" name="Rounded Rectangle 15"/>
          <p:cNvSpPr/>
          <p:nvPr/>
        </p:nvSpPr>
        <p:spPr>
          <a:xfrm>
            <a:off x="548640" y="3496056"/>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Acknowledge, explain why it doesn’t fit, give the point a home, and return to the agenda in 4–5 sentences.</a:t>
            </a:r>
          </a:p>
        </p:txBody>
      </p:sp>
      <p:sp>
        <p:nvSpPr>
          <p:cNvPr id="18" name="Rounded Rectangle 17"/>
          <p:cNvSpPr/>
          <p:nvPr/>
        </p:nvSpPr>
        <p:spPr>
          <a:xfrm>
            <a:off x="548640" y="42214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42214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79450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5178552"/>
            <a:ext cx="3576218" cy="103936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The person is your boss. Soften more: “That’s a really good point. Would it be OK if we looked at it once we’ve finished the main items?”</a:t>
            </a:r>
          </a:p>
        </p:txBody>
      </p:sp>
      <p:sp>
        <p:nvSpPr>
          <p:cNvPr id="22" name="Rounded Rectangle 21"/>
          <p:cNvSpPr/>
          <p:nvPr/>
        </p:nvSpPr>
        <p:spPr>
          <a:xfrm>
            <a:off x="4307738" y="5178552"/>
            <a:ext cx="3576218" cy="103936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The off-topic point is actually urgent. Change your mind gracefully: “You’re right, that can’t wait. Let’s give it five minutes now.”</a:t>
            </a:r>
          </a:p>
        </p:txBody>
      </p:sp>
      <p:sp>
        <p:nvSpPr>
          <p:cNvPr id="23" name="Rounded Rectangle 22"/>
          <p:cNvSpPr/>
          <p:nvPr/>
        </p:nvSpPr>
        <p:spPr>
          <a:xfrm>
            <a:off x="8066836" y="5178552"/>
            <a:ext cx="3576218" cy="103936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Open the next meeting with a one-sentence purpose: “By the end of this hour, we should have decided…”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Keeping a client meeting in scope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03 Outside the scope of this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控制客户需求范围</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At the start of a client meeting, the client asks for an extra feature that is not in the contract.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Daniel Park, project 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Ms Rossi, client</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Keeping a client meeting in scope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03 Outside the scope of this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Daniel</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for joining, Ms Rossi. Just so we’re clear, the purpose today is to agree the design for phase one.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Ms Rossi</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By the way, we’d also like to add a mobile app.</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great idea. However, a mobile app is outside the scope of the current contract.</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Surely it can’t be that different from the website?</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actually quite a different piece of work, I’m afraid. If we added it now, we’d risk scope creep and miss the deadline.</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Keeping a client meeting in scope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03 Outside the scope of this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what do you suggest?</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could treat it as a separate phase. I’ll send you a proposal with timing and costs by next Friday.</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works for me. Let’s stay on phase one today, then.</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Perfect. Shall we start with the homepage? I’ll circle back on the app after the meeting.</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Keeping a client meeting in scope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03 Outside the scope of this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client asks for something outside the agreed project.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Project manager. Your project: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Client who keeps adding requests.</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purpose · outside the scope of… · scope creep · separate phase · circle back</a:t>
            </a:r>
          </a:p>
        </p:txBody>
      </p:sp>
      <p:sp>
        <p:nvSpPr>
          <p:cNvPr id="16" name="Rounded Rectangle 15"/>
          <p:cNvSpPr/>
          <p:nvPr/>
        </p:nvSpPr>
        <p:spPr>
          <a:xfrm>
            <a:off x="548640" y="3252216"/>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Decline the extra request without hurting the relationship. Offer an alternative and a deadline.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FFFFFF"/>
                </a:solidFill>
                <a:latin typeface="Arial"/>
                <a:ea typeface="Microsoft YaHei"/>
              </a:rPr>
              <a:t>The client says, “But we’re a big customer.” Stay firm and friendly: “I really appreciate that, and that’s why I want to get it right.”</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FFFFFF"/>
                </a:solidFill>
                <a:latin typeface="Arial"/>
                <a:ea typeface="Microsoft YaHei"/>
              </a:rPr>
              <a:t>Offer two options: “We could either add it now and move the deadline, or keep the date and add it later.”</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FFFFFF"/>
                </a:solidFill>
                <a:latin typeface="Arial"/>
                <a:ea typeface="Microsoft YaHei"/>
              </a:rPr>
              <a:t>Confirm in writing: “To confirm what we agreed, I’ll send a short email after the meeting.”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03 Outside the scope of this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is it important to define a meeting’s purpose at the start?</a:t>
            </a:r>
          </a:p>
          <a:p>
            <a:pPr algn="l">
              <a:lnSpc>
                <a:spcPct val="115000"/>
              </a:lnSpc>
              <a:spcAft>
                <a:spcPts val="800"/>
              </a:spcAft>
            </a:pPr>
            <a:r>
              <a:rPr sz="1400" b="0">
                <a:solidFill>
                  <a:srgbClr val="5F677A"/>
                </a:solidFill>
                <a:latin typeface="Arial"/>
                <a:ea typeface="Microsoft YaHei"/>
              </a:rPr>
              <a:t>💬 “It helps everyone to…” / “Without a clear purpose, people…”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say no to a request that is outside your remit?</a:t>
            </a:r>
          </a:p>
          <a:p>
            <a:pPr algn="l">
              <a:lnSpc>
                <a:spcPct val="115000"/>
              </a:lnSpc>
              <a:spcAft>
                <a:spcPts val="800"/>
              </a:spcAft>
            </a:pPr>
            <a:r>
              <a:rPr sz="1400" b="0">
                <a:solidFill>
                  <a:srgbClr val="5F677A"/>
                </a:solidFill>
                <a:latin typeface="Arial"/>
                <a:ea typeface="Microsoft YaHei"/>
              </a:rPr>
              <a:t>💬 “I’d say something like…” / “I’d explain that…”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ever OK to go off topic in a meeting?</a:t>
            </a:r>
          </a:p>
          <a:p>
            <a:pPr algn="l">
              <a:lnSpc>
                <a:spcPct val="115000"/>
              </a:lnSpc>
              <a:spcAft>
                <a:spcPts val="800"/>
              </a:spcAft>
            </a:pPr>
            <a:r>
              <a:rPr sz="1400" b="0">
                <a:solidFill>
                  <a:srgbClr val="5F677A"/>
                </a:solidFill>
                <a:latin typeface="Arial"/>
                <a:ea typeface="Microsoft YaHei"/>
              </a:rPr>
              <a:t>💬 “A little chat is fine when…” / “It becomes a problem when…”</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scope creep? Have you experienced it?</a:t>
            </a:r>
          </a:p>
          <a:p>
            <a:pPr algn="l">
              <a:lnSpc>
                <a:spcPct val="115000"/>
              </a:lnSpc>
              <a:spcAft>
                <a:spcPts val="800"/>
              </a:spcAft>
            </a:pPr>
            <a:r>
              <a:rPr sz="1400" b="0">
                <a:solidFill>
                  <a:srgbClr val="5F677A"/>
                </a:solidFill>
                <a:latin typeface="Arial"/>
                <a:ea typeface="Microsoft YaHei"/>
              </a:rPr>
              <a:t>💬 “I once worked on a project where…” / “It started small, but…”</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make sure parked items are not forgotten?</a:t>
            </a:r>
          </a:p>
          <a:p>
            <a:pPr algn="l">
              <a:lnSpc>
                <a:spcPct val="115000"/>
              </a:lnSpc>
              <a:spcAft>
                <a:spcPts val="800"/>
              </a:spcAft>
            </a:pPr>
            <a:r>
              <a:rPr sz="1400" b="0">
                <a:solidFill>
                  <a:srgbClr val="5F677A"/>
                </a:solidFill>
                <a:latin typeface="Arial"/>
                <a:ea typeface="Microsoft YaHei"/>
              </a:rPr>
              <a:t>💬 “I’d write them down and…” / “Someone needs to own…”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03 Outside the scope of this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I’d start by acknowledging the request, so the person doesn’t feel ignored. Then I’d explain why it doesn’t fit: for example,”That’s outside my remit, but I think Finance is the right team.” If I can, I’d suggest a next step, like introducing them to the right person. It’s a bit more work than a simple “no”, but it keeps the relationship in good shape.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“outside my remit” = 不在我的职责范围内;“keep … in good shape” = 让…保持良好状态。“I’d” = I would,用来委婉表达。</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Saying no politely: acknowledge – explain – offer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03 Outside the scope of this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委婉拒绝三步法</a:t>
            </a:r>
          </a:p>
        </p:txBody>
      </p:sp>
      <p:graphicFrame>
        <p:nvGraphicFramePr>
          <p:cNvPr id="9" name="Table 8"/>
          <p:cNvGraphicFramePr>
            <a:graphicFrameLocks noGrp="1"/>
          </p:cNvGraphicFramePr>
          <p:nvPr/>
        </p:nvGraphicFramePr>
        <p:xfrm>
          <a:off x="548640" y="1417320"/>
          <a:ext cx="11094415" cy="2121408"/>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Step</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652272">
                <a:tc>
                  <a:txBody>
                    <a:bodyPr wrap="square"/>
                    <a:lstStyle/>
                    <a:p>
                      <a:r>
                        <a:rPr sz="1600" b="1">
                          <a:solidFill>
                            <a:srgbClr val="1F2A44"/>
                          </a:solidFill>
                          <a:latin typeface="Arial"/>
                          <a:ea typeface="Microsoft YaHei"/>
                        </a:rPr>
                        <a:t>1 Acknowledge</a:t>
                      </a:r>
                    </a:p>
                  </a:txBody>
                  <a:tcPr anchor="ctr">
                    <a:solidFill>
                      <a:srgbClr val="FFFFFF"/>
                    </a:solidFill>
                  </a:tcPr>
                </a:tc>
                <a:tc>
                  <a:txBody>
                    <a:bodyPr wrap="square"/>
                    <a:lstStyle/>
                    <a:p>
                      <a:r>
                        <a:rPr sz="1600" b="0">
                          <a:solidFill>
                            <a:srgbClr val="1F2A44"/>
                          </a:solidFill>
                          <a:latin typeface="Arial"/>
                          <a:ea typeface="Microsoft YaHei"/>
                        </a:rPr>
                        <a:t>I hear you. / That’s a fair point. / I can see why that matters.</a:t>
                      </a:r>
                    </a:p>
                  </a:txBody>
                  <a:tcPr anchor="ctr">
                    <a:solidFill>
                      <a:srgbClr val="FFFFFF"/>
                    </a:solidFill>
                  </a:tcPr>
                </a:tc>
              </a:tr>
              <a:tr h="408432">
                <a:tc>
                  <a:txBody>
                    <a:bodyPr wrap="square"/>
                    <a:lstStyle/>
                    <a:p>
                      <a:r>
                        <a:rPr sz="1600" b="1">
                          <a:solidFill>
                            <a:srgbClr val="1F2A44"/>
                          </a:solidFill>
                          <a:latin typeface="Arial"/>
                          <a:ea typeface="Microsoft YaHei"/>
                        </a:rPr>
                        <a:t>2 Explain</a:t>
                      </a:r>
                    </a:p>
                  </a:txBody>
                  <a:tcPr anchor="ctr">
                    <a:solidFill>
                      <a:srgbClr val="FFEFD9"/>
                    </a:solidFill>
                  </a:tcPr>
                </a:tc>
                <a:tc>
                  <a:txBody>
                    <a:bodyPr wrap="square"/>
                    <a:lstStyle/>
                    <a:p>
                      <a:r>
                        <a:rPr sz="1600" b="0">
                          <a:solidFill>
                            <a:srgbClr val="1F2A44"/>
                          </a:solidFill>
                          <a:latin typeface="Arial"/>
                          <a:ea typeface="Microsoft YaHei"/>
                        </a:rPr>
                        <a:t>…but it’s outside the scope of today’s meeting.</a:t>
                      </a:r>
                    </a:p>
                  </a:txBody>
                  <a:tcPr anchor="ctr">
                    <a:solidFill>
                      <a:srgbClr val="FFEFD9"/>
                    </a:solidFill>
                  </a:tcPr>
                </a:tc>
              </a:tr>
              <a:tr h="652272">
                <a:tc>
                  <a:txBody>
                    <a:bodyPr wrap="square"/>
                    <a:lstStyle/>
                    <a:p>
                      <a:r>
                        <a:rPr sz="1600" b="1">
                          <a:solidFill>
                            <a:srgbClr val="1F2A44"/>
                          </a:solidFill>
                          <a:latin typeface="Arial"/>
                          <a:ea typeface="Microsoft YaHei"/>
                        </a:rPr>
                        <a:t>3 Offer</a:t>
                      </a:r>
                    </a:p>
                  </a:txBody>
                  <a:tcPr anchor="ctr">
                    <a:solidFill>
                      <a:srgbClr val="FFFFFF"/>
                    </a:solidFill>
                  </a:tcPr>
                </a:tc>
                <a:tc>
                  <a:txBody>
                    <a:bodyPr wrap="square"/>
                    <a:lstStyle/>
                    <a:p>
                      <a:r>
                        <a:rPr sz="1600" b="0">
                          <a:solidFill>
                            <a:srgbClr val="1F2A44"/>
                          </a:solidFill>
                          <a:latin typeface="Arial"/>
                          <a:ea typeface="Microsoft YaHei"/>
                        </a:rPr>
                        <a:t>Let’s put it on Thursday’s agenda. / I’ll follow up after the call.</a:t>
                      </a:r>
                    </a:p>
                  </a:txBody>
                  <a:tcPr anchor="ctr">
                    <a:solidFill>
                      <a:srgbClr val="FFFFFF"/>
                    </a:solidFill>
                  </a:tcPr>
                </a:tc>
              </a:tr>
            </a:tbl>
          </a:graphicData>
        </a:graphic>
      </p:graphicFrame>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Saying no politely: acknowledge – explain – offer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03 Outside the scope of this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委婉拒绝三步法</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Avoid a bare “No.” or “That’s not my job.” The first sounds cold, the second sounds rude.</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Word forms and prepositions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03 Outside the scope of this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词形与介词</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outside / beyond the scope of; relevant to (opposite: irrelevant, not “unrelevant”); responsible for; within / outside my remit.</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Information is uncountable: </a:t>
            </a:r>
            <a:r>
              <a:rPr sz="1700" b="0">
                <a:solidFill>
                  <a:srgbClr val="1F2A44"/>
                </a:solidFill>
                <a:latin typeface="Arial"/>
                <a:ea typeface="Microsoft YaHei"/>
              </a:rPr>
              <a:t>“some information”, not “informations”.</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0">
                <a:solidFill>
                  <a:srgbClr val="1F2A44"/>
                </a:solidFill>
                <a:latin typeface="Arial"/>
                <a:ea typeface="Microsoft YaHei"/>
              </a:rPr>
              <a:t>Concentrate on, focus on, get back to, follow up on.</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03 Outside the scope of this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This topic is not relative to our meeting.</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This topic is not relevant to our meeting.</a:t>
            </a:r>
          </a:p>
          <a:p>
            <a:pPr algn="l">
              <a:spcAft>
                <a:spcPts val="200"/>
              </a:spcAft>
            </a:pPr>
            <a:r>
              <a:rPr sz="1200" b="0">
                <a:solidFill>
                  <a:srgbClr val="FFFFFF"/>
                </a:solidFill>
                <a:latin typeface="Arial"/>
                <a:ea typeface="Microsoft YaHei"/>
              </a:rPr>
              <a:t>relative = 相对的;relevant = 相关的</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out of the scope of this meeting.</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outside the scope of this meeting.</a:t>
            </a:r>
          </a:p>
          <a:p>
            <a:pPr algn="l">
              <a:spcAft>
                <a:spcPts val="200"/>
              </a:spcAft>
            </a:pPr>
            <a:r>
              <a:rPr sz="1200" b="0">
                <a:solidFill>
                  <a:srgbClr val="FFFFFF"/>
                </a:solidFill>
                <a:latin typeface="Arial"/>
                <a:ea typeface="Microsoft YaHei"/>
              </a:rPr>
              <a:t>outside / beyond the scope of 更自然</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Let’s discuss it in another time.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Let’s discuss it at another time.</a:t>
            </a:r>
          </a:p>
          <a:p>
            <a:pPr algn="l">
              <a:spcAft>
                <a:spcPts val="200"/>
              </a:spcAft>
            </a:pPr>
            <a:r>
              <a:rPr sz="1200" b="0">
                <a:solidFill>
                  <a:srgbClr val="FFFFFF"/>
                </a:solidFill>
                <a:latin typeface="Arial"/>
                <a:ea typeface="Microsoft YaHei"/>
              </a:rPr>
              <a:t>at another time</a:t>
            </a:r>
          </a:p>
        </p:txBody>
      </p:sp>
      <p:sp>
        <p:nvSpPr>
          <p:cNvPr id="15" name="Rounded Rectangle 14"/>
          <p:cNvSpPr/>
          <p:nvPr/>
        </p:nvSpPr>
        <p:spPr>
          <a:xfrm>
            <a:off x="548640" y="356615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not responsible of this.</a:t>
            </a:r>
          </a:p>
        </p:txBody>
      </p:sp>
      <p:sp>
        <p:nvSpPr>
          <p:cNvPr id="16" name="Rounded Rectangle 15"/>
          <p:cNvSpPr/>
          <p:nvPr/>
        </p:nvSpPr>
        <p:spPr>
          <a:xfrm>
            <a:off x="6187287" y="356615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not responsible for this.</a:t>
            </a:r>
          </a:p>
          <a:p>
            <a:pPr algn="l">
              <a:spcAft>
                <a:spcPts val="200"/>
              </a:spcAft>
            </a:pPr>
            <a:r>
              <a:rPr sz="1200" b="0">
                <a:solidFill>
                  <a:srgbClr val="FFFFFF"/>
                </a:solidFill>
                <a:latin typeface="Arial"/>
                <a:ea typeface="Microsoft YaHei"/>
              </a:rPr>
              <a:t>responsible for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03 Outside the scope of this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should concentrate in the main topic.</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should concentrate on the main topic.</a:t>
            </a:r>
          </a:p>
          <a:p>
            <a:pPr algn="l">
              <a:spcAft>
                <a:spcPts val="200"/>
              </a:spcAft>
            </a:pPr>
            <a:r>
              <a:rPr sz="1200" b="0">
                <a:solidFill>
                  <a:srgbClr val="FFFFFF"/>
                </a:solidFill>
                <a:latin typeface="Arial"/>
                <a:ea typeface="Microsoft YaHei"/>
              </a:rPr>
              <a:t>concentrate on</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Can I ask something out of topic?</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Can I ask something off topic?</a:t>
            </a:r>
          </a:p>
          <a:p>
            <a:pPr algn="l">
              <a:spcAft>
                <a:spcPts val="200"/>
              </a:spcAft>
            </a:pPr>
            <a:r>
              <a:rPr sz="1200" b="0">
                <a:solidFill>
                  <a:srgbClr val="FFFFFF"/>
                </a:solidFill>
                <a:latin typeface="Arial"/>
                <a:ea typeface="Microsoft YaHei"/>
              </a:rPr>
              <a:t>off topic</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didn’t give me many informations.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didn’t give me much information.</a:t>
            </a:r>
          </a:p>
          <a:p>
            <a:pPr algn="l">
              <a:spcAft>
                <a:spcPts val="200"/>
              </a:spcAft>
            </a:pPr>
            <a:r>
              <a:rPr sz="1200" b="0">
                <a:solidFill>
                  <a:srgbClr val="FFFFFF"/>
                </a:solidFill>
                <a:latin typeface="Arial"/>
                <a:ea typeface="Microsoft YaHei"/>
              </a:rPr>
              <a:t>information 不可数</a:t>
            </a:r>
          </a:p>
        </p:txBody>
      </p:sp>
      <p:sp>
        <p:nvSpPr>
          <p:cNvPr id="15" name="Rounded Rectangle 14"/>
          <p:cNvSpPr/>
          <p:nvPr/>
        </p:nvSpPr>
        <p:spPr>
          <a:xfrm>
            <a:off x="548640" y="356615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We’ll park it and talk later about it.</a:t>
            </a:r>
          </a:p>
        </p:txBody>
      </p:sp>
      <p:sp>
        <p:nvSpPr>
          <p:cNvPr id="16" name="Rounded Rectangle 15"/>
          <p:cNvSpPr/>
          <p:nvPr/>
        </p:nvSpPr>
        <p:spPr>
          <a:xfrm>
            <a:off x="6187287" y="356615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We’ll park it and talk about it later.</a:t>
            </a:r>
          </a:p>
          <a:p>
            <a:pPr algn="l">
              <a:spcAft>
                <a:spcPts val="200"/>
              </a:spcAft>
            </a:pPr>
            <a:r>
              <a:rPr sz="1200" b="0">
                <a:solidFill>
                  <a:srgbClr val="FFFFFF"/>
                </a:solidFill>
                <a:latin typeface="Arial"/>
                <a:ea typeface="Microsoft YaHei"/>
              </a:rPr>
              <a:t>语序:later 放在句末</a:t>
            </a:r>
          </a:p>
        </p:txBody>
      </p:sp>
      <p:sp>
        <p:nvSpPr>
          <p:cNvPr id="23" name="Rounded Rectangle 2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Watch the prepositions: outside the scope of, relevant to, responsible for, concentrate on. Write them on a card.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03 Outside the scope of this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“Parking lot” is common in US and international teams. Many British speakers say “put it on the back burner” or “take it offline”.</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Do not say “That’s not important.” Say “That’s important, but not for today.” You protect the other person’s face.</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1">
                <a:solidFill>
                  <a:srgbClr val="3CC49A"/>
                </a:solidFill>
                <a:latin typeface="Arial"/>
                <a:ea typeface="Microsoft YaHei"/>
              </a:rPr>
              <a:t>With seniors, ask permission: </a:t>
            </a:r>
            <a:r>
              <a:rPr sz="1700" b="0">
                <a:solidFill>
                  <a:srgbClr val="1F2A44"/>
                </a:solidFill>
                <a:latin typeface="Arial"/>
                <a:ea typeface="Microsoft YaHei"/>
              </a:rPr>
              <a:t>“Would it be OK if we…?” Do not simply order them to stop.</a:t>
            </a:r>
          </a:p>
        </p:txBody>
      </p:sp>
      <p:sp>
        <p:nvSpPr>
          <p:cNvPr id="18" name="Rounded Rectangle 17"/>
          <p:cNvSpPr/>
          <p:nvPr/>
        </p:nvSpPr>
        <p:spPr>
          <a:xfrm>
            <a:off x="548640" y="353567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3567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35677"/>
            <a:ext cx="10728655" cy="441959"/>
          </a:xfrm>
          <a:prstGeom prst="rect">
            <a:avLst/>
          </a:prstGeom>
          <a:noFill/>
        </p:spPr>
        <p:txBody>
          <a:bodyPr wrap="square" anchor="ctr">
            <a:spAutoFit/>
          </a:bodyPr>
          <a:lstStyle/>
          <a:p>
            <a:r>
              <a:rPr sz="1700" b="0">
                <a:solidFill>
                  <a:srgbClr val="1F2A44"/>
                </a:solidFill>
                <a:latin typeface="Arial"/>
                <a:ea typeface="Microsoft YaHei"/>
              </a:rPr>
              <a:t>Follow up in writing. Send the parked list after the meeting with an owner and a date.</a:t>
            </a:r>
          </a:p>
        </p:txBody>
      </p:sp>
      <p:sp>
        <p:nvSpPr>
          <p:cNvPr id="21" name="Rounded Rectangle 20"/>
          <p:cNvSpPr/>
          <p:nvPr/>
        </p:nvSpPr>
        <p:spPr>
          <a:xfrm>
            <a:off x="548640" y="406907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06907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069076"/>
            <a:ext cx="10728655" cy="701039"/>
          </a:xfrm>
          <a:prstGeom prst="rect">
            <a:avLst/>
          </a:prstGeom>
          <a:noFill/>
        </p:spPr>
        <p:txBody>
          <a:bodyPr wrap="square" anchor="ctr">
            <a:spAutoFit/>
          </a:bodyPr>
          <a:lstStyle/>
          <a:p>
            <a:r>
              <a:rPr sz="1700" b="0">
                <a:solidFill>
                  <a:srgbClr val="1F2A44"/>
                </a:solidFill>
                <a:latin typeface="Arial"/>
                <a:ea typeface="Microsoft YaHei"/>
              </a:rPr>
              <a:t>A clear scope protects you. In client work, “outside the scope” is a normal, professional phrase, not an insult.</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03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03 Outside the scope of this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49072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49072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4907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state the purpose and scope of a meeting in one sentence.</a:t>
            </a:r>
          </a:p>
        </p:txBody>
      </p:sp>
      <p:sp>
        <p:nvSpPr>
          <p:cNvPr id="12" name="TextBox 11"/>
          <p:cNvSpPr txBox="1"/>
          <p:nvPr/>
        </p:nvSpPr>
        <p:spPr>
          <a:xfrm>
            <a:off x="9539935" y="1508760"/>
            <a:ext cx="2011680" cy="49072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090928"/>
            <a:ext cx="11094415" cy="7802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090928"/>
            <a:ext cx="548640" cy="7802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090928"/>
            <a:ext cx="8168335" cy="78028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say a topic is outside the scope without sounding rude (acknowledge – explain – offer).</a:t>
            </a:r>
          </a:p>
        </p:txBody>
      </p:sp>
      <p:sp>
        <p:nvSpPr>
          <p:cNvPr id="16" name="TextBox 15"/>
          <p:cNvSpPr txBox="1"/>
          <p:nvPr/>
        </p:nvSpPr>
        <p:spPr>
          <a:xfrm>
            <a:off x="9539935" y="2090928"/>
            <a:ext cx="2011680" cy="7802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962656"/>
            <a:ext cx="11094415" cy="49072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962656"/>
            <a:ext cx="548640" cy="49072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962656"/>
            <a:ext cx="8168335" cy="4907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use park it, derail, circle back, follow up on in context.</a:t>
            </a:r>
          </a:p>
        </p:txBody>
      </p:sp>
      <p:sp>
        <p:nvSpPr>
          <p:cNvPr id="20" name="TextBox 19"/>
          <p:cNvSpPr txBox="1"/>
          <p:nvPr/>
        </p:nvSpPr>
        <p:spPr>
          <a:xfrm>
            <a:off x="9539935" y="2962656"/>
            <a:ext cx="2011680" cy="49072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544824"/>
            <a:ext cx="11094415" cy="49072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544824"/>
            <a:ext cx="548640" cy="49072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544824"/>
            <a:ext cx="8168335" cy="4907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say no to a client’s extra request and offer an alternative.</a:t>
            </a:r>
          </a:p>
        </p:txBody>
      </p:sp>
      <p:sp>
        <p:nvSpPr>
          <p:cNvPr id="24" name="TextBox 23"/>
          <p:cNvSpPr txBox="1"/>
          <p:nvPr/>
        </p:nvSpPr>
        <p:spPr>
          <a:xfrm>
            <a:off x="9539935" y="3544824"/>
            <a:ext cx="2011680" cy="49072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126992"/>
            <a:ext cx="11094415" cy="49072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126992"/>
            <a:ext cx="548640" cy="49072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126992"/>
            <a:ext cx="8168335" cy="4907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use relevant to / responsible for / concentrate on correctly.</a:t>
            </a:r>
          </a:p>
        </p:txBody>
      </p:sp>
      <p:sp>
        <p:nvSpPr>
          <p:cNvPr id="28" name="TextBox 27"/>
          <p:cNvSpPr txBox="1"/>
          <p:nvPr/>
        </p:nvSpPr>
        <p:spPr>
          <a:xfrm>
            <a:off x="9539935" y="4126992"/>
            <a:ext cx="2011680" cy="49072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9" name="Rounded Rectangle 28"/>
          <p:cNvSpPr/>
          <p:nvPr/>
        </p:nvSpPr>
        <p:spPr>
          <a:xfrm>
            <a:off x="548640" y="4709160"/>
            <a:ext cx="11094415" cy="7802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709160"/>
            <a:ext cx="548640" cy="7802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31" name="TextBox 30"/>
          <p:cNvSpPr txBox="1"/>
          <p:nvPr/>
        </p:nvSpPr>
        <p:spPr>
          <a:xfrm>
            <a:off x="1234440" y="4709160"/>
            <a:ext cx="8168335" cy="78028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use at least three ★ expressions from this lesson in my own sentences.</a:t>
            </a:r>
          </a:p>
        </p:txBody>
      </p:sp>
      <p:sp>
        <p:nvSpPr>
          <p:cNvPr id="32" name="TextBox 31"/>
          <p:cNvSpPr txBox="1"/>
          <p:nvPr/>
        </p:nvSpPr>
        <p:spPr>
          <a:xfrm>
            <a:off x="9539935" y="4709160"/>
            <a:ext cx="2011680" cy="7802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03 Outside the scope of this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Role-play the “acknowledge – explain – offer” reply to three different off-topic requests. Record it.</a:t>
            </a:r>
          </a:p>
        </p:txBody>
      </p:sp>
      <p:sp>
        <p:nvSpPr>
          <p:cNvPr id="14" name="Rounded Rectangle 13"/>
          <p:cNvSpPr/>
          <p:nvPr/>
        </p:nvSpPr>
        <p:spPr>
          <a:xfrm>
            <a:off x="548640" y="341071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41071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prepositions (scope of, relevant to, concentrate on), tone, uncountable “information”.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 · Lesson 04 Meeting mishaps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87</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04</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Meeting mishaps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会议瑕疵</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recover calmly when things go wrong in a meeting: apologise briefly, correct mistakes, and use light humour where appropriate.</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04 Meeting mishaps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5260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is the most embarrassing thing that has happened to you (or someone you know) in a meeting?</a:t>
            </a:r>
          </a:p>
        </p:txBody>
      </p:sp>
      <p:sp>
        <p:nvSpPr>
          <p:cNvPr id="12" name="Oval 11"/>
          <p:cNvSpPr/>
          <p:nvPr/>
        </p:nvSpPr>
        <p:spPr>
          <a:xfrm>
            <a:off x="548640" y="259384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63368"/>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563368"/>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do you react when you make a mistake in front of colleagues?</a:t>
            </a:r>
          </a:p>
        </p:txBody>
      </p:sp>
      <p:sp>
        <p:nvSpPr>
          <p:cNvPr id="15" name="Oval 14"/>
          <p:cNvSpPr/>
          <p:nvPr/>
        </p:nvSpPr>
        <p:spPr>
          <a:xfrm>
            <a:off x="548640" y="326745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236976"/>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236976"/>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Have you ever forgotten to mute yourself? What did you say?</a:t>
            </a:r>
          </a:p>
        </p:txBody>
      </p:sp>
      <p:sp>
        <p:nvSpPr>
          <p:cNvPr id="18" name="Oval 17"/>
          <p:cNvSpPr/>
          <p:nvPr/>
        </p:nvSpPr>
        <p:spPr>
          <a:xfrm>
            <a:off x="548640" y="410870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10584"/>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10584"/>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should you do if you realise during a meeting that your numbers are wrong?</a:t>
            </a:r>
          </a:p>
        </p:txBody>
      </p:sp>
      <p:sp>
        <p:nvSpPr>
          <p:cNvPr id="21" name="Oval 20"/>
          <p:cNvSpPr/>
          <p:nvPr/>
        </p:nvSpPr>
        <p:spPr>
          <a:xfrm>
            <a:off x="548640" y="494995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91947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91947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Do you think people judge you for small mishaps? Why (not)?</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 题 “has happened” 用现在完成时(问经历);讲具体经过时改用过去式(it happened, I said…)。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04 Meeting mishaps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Tell a story about a meeting mishap (real or imagined).</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happened</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how you felt</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how you fixed it</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you learned</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I’ll never forget the time when…   💬 I wanted the ground to swallow me up.   💬 Looking back, it was actually quite funny.</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“I wanted the ground to swallow me up” 是习语,意为”恨不得找个地缝钻进去”。“the time when…” 用来引出一次具体的经历。</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The wrong window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136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04 Meeting mishaps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During a quarterly review with the board, Raj shared his screen to show the sales figures. What he forgot was that his personal messages were open in the corner of the screen. A message from his brother appeared: “Are you still coming for dinner? Mum is cooking that awful fish.” Everyone saw it. For a moment, nobody said anything. Raj turned red, then laughed. “Well,” he said, “I think we can all agree that’s off the record.” The chairman smiled, and the tension disappeared. Raj closed the chat, apologised briefly and carried on with the figures. Later, a board member told him, “It wasn’t the mistake I’ll remember. It was how calmly you handled it.” Since then, Raj closes everything before he shares his screen, and he always checks which window he is about to share.</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04 Meeting mishaps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went wrong during Raj’s presentation?</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private message from his brother appeared on the shared screen.</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How did Raj react?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He laughed, made a joke, apologised briefly and carried on.</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does he do differently now?</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He closes everything before sharing and checks which window he shares.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When things go wrong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04 Meeting mishaps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出了问题</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mishap</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小意外,小差错</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was only a minor mishap, nothing serious.”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glitch</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小故障</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“There’s a glitch with the projector.”</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keep dropping</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一直掉线</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connection keeps dropping, so I’ll dial in by phone.”</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freeze (froze, frozen)</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卡住,冻结</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“Your screen has frozen.”</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talk over each other</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抢话,同时说话</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keep talking over each other. Let’s go one at a time.”</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Chunk 2: Apologising and recovering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04 Meeting mishaps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道歉与补救</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Sorry about that.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抱歉</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“Sorry about that. I’ll fix it right away.”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owe you an apology.</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我该向你道歉</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owe you an apology for the mix-up.”</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mix-up</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弄混,搞错</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 was a mix-up with the meeting time.”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 me rephrase that.</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我换个说法</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rephrase that. What I meant was…”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laugh it off</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一笑置之</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just laughed it off and carried on.”</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Preventing problems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04 Meeting mishaps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防患于未然</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double-check</a:t>
            </a:r>
          </a:p>
          <a:p>
            <a:pPr algn="l">
              <a:lnSpc>
                <a:spcPct val="115000"/>
              </a:lnSpc>
              <a:spcAft>
                <a:spcPts val="800"/>
              </a:spcAft>
            </a:pPr>
            <a:r>
              <a:rPr sz="1300" b="0">
                <a:solidFill>
                  <a:srgbClr val="5F677A"/>
                </a:solidFill>
                <a:latin typeface="Arial"/>
                <a:ea typeface="Microsoft YaHei"/>
              </a:rPr>
              <a:t>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再次核对</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“Always double-check the link before the meeting.”</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have a backup plan</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有备用方案</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“Have a backup plan in case the Wi-Fi fails.”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run through</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过一遍,预演</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run through the slides before the call.”</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It slipped my mind.</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我忘了</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so sorry, it completely slipped my mind.”</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No harm done.</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没造成损害,没关系</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worry about it. No harm done.”</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04 Meeting mishaps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我该向你道歉</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owe you an apology.</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小故障</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glitch</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没造成损害,没关系</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No harm done.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一笑置之</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laugh it off</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我忘了</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It slipped my mind.</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卡住,冻结</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freeze (froze, frozen)</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有备用方案</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have a backup plan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抢话,同时说话</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talk over each other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04 Meeting mishaps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glitch</a:t>
            </a:r>
          </a:p>
        </p:txBody>
      </p:sp>
      <p:sp>
        <p:nvSpPr>
          <p:cNvPr id="10" name="Rounded Rectangle 9"/>
          <p:cNvSpPr/>
          <p:nvPr/>
        </p:nvSpPr>
        <p:spPr>
          <a:xfrm>
            <a:off x="3127248"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mix-up</a:t>
            </a:r>
          </a:p>
        </p:txBody>
      </p:sp>
      <p:sp>
        <p:nvSpPr>
          <p:cNvPr id="11" name="Rounded Rectangle 10"/>
          <p:cNvSpPr/>
          <p:nvPr/>
        </p:nvSpPr>
        <p:spPr>
          <a:xfrm>
            <a:off x="4242816" y="987552"/>
            <a:ext cx="124358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rephrase</a:t>
            </a:r>
          </a:p>
        </p:txBody>
      </p:sp>
      <p:sp>
        <p:nvSpPr>
          <p:cNvPr id="12" name="Rounded Rectangle 11"/>
          <p:cNvSpPr/>
          <p:nvPr/>
        </p:nvSpPr>
        <p:spPr>
          <a:xfrm>
            <a:off x="5577840" y="987552"/>
            <a:ext cx="1682495"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double-check</a:t>
            </a:r>
          </a:p>
        </p:txBody>
      </p:sp>
      <p:sp>
        <p:nvSpPr>
          <p:cNvPr id="13" name="Rounded Rectangle 12"/>
          <p:cNvSpPr/>
          <p:nvPr/>
        </p:nvSpPr>
        <p:spPr>
          <a:xfrm>
            <a:off x="7351775" y="987552"/>
            <a:ext cx="113385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slipped</a:t>
            </a:r>
          </a:p>
        </p:txBody>
      </p:sp>
      <p:sp>
        <p:nvSpPr>
          <p:cNvPr id="14" name="Rounded Rectangle 13"/>
          <p:cNvSpPr/>
          <p:nvPr/>
        </p:nvSpPr>
        <p:spPr>
          <a:xfrm>
            <a:off x="8577071"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harm</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There’s a small _______ with the projector.</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glitch</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Sorry for the _______ with the meeting time.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mix-up</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Let me _______ that. What I meant was…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rephrase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Always _______ the link before the call.</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double-check</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I’m so sorry, it completely _______ my mind.</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slipped</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Don’t worry about it. No _______ done.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harm</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(不规则动词与拼写) freeze – froze – frozen: “The screen froze / has frozen.” UK apologise, US apologize. a mix-up (noun) but to mix up (verb).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A mistake that delays a client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04 Meeting mishaps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失误导致客户会议延误</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sent the wrong link and the client has waited ten minutes.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Ms Hart, client</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Tom Lin, account manager</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mistake that delays a client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04 Meeting mishaps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Ms Hart</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Tom, we’ve been waiting for ten minutes. The link you sent doesn’t work.</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Tom</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so sorry, Ms Hart. I owe you an apology. There was a mix-up, and I sent last week’s link.</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These things happen. Do you have the right one?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I’m sending it now. Sorry about that. Has it arrived?</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Got it. Right, we’re in.</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mistake that delays a client meeting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04 Meeting mishaps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your patience. To make up for the lost time, I’ve cut the presentation down to twenty minutes.</a:t>
            </a:r>
          </a:p>
        </p:txBody>
      </p:sp>
      <p:sp>
        <p:nvSpPr>
          <p:cNvPr id="11" name="Rounded Rectangle 10"/>
          <p:cNvSpPr/>
          <p:nvPr/>
        </p:nvSpPr>
        <p:spPr>
          <a:xfrm>
            <a:off x="548640" y="21976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21976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appreciate that, but I do need to leave at eleven.</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no problem. We’ll run through the key figures first. And from now on, I’ll double-check every link before I send it.</a:t>
            </a:r>
          </a:p>
        </p:txBody>
      </p:sp>
      <p:sp>
        <p:nvSpPr>
          <p:cNvPr id="17" name="Rounded Rectangle 16"/>
          <p:cNvSpPr/>
          <p:nvPr/>
        </p:nvSpPr>
        <p:spPr>
          <a:xfrm>
            <a:off x="548640" y="365150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65150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No harm done. Shall we start?</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A mistake that delays a client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04 Meeting mishaps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Your mistake has delayed a client meeting.</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(B)</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Account manager who made the mistake. Your company: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(A)</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Client, a little annoyed but fair.</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 owe you an apology · mix-up · Thank you for your patience · double-check · No harm done</a:t>
            </a:r>
          </a:p>
        </p:txBody>
      </p:sp>
      <p:sp>
        <p:nvSpPr>
          <p:cNvPr id="16" name="Rounded Rectangle 15"/>
          <p:cNvSpPr/>
          <p:nvPr/>
        </p:nvSpPr>
        <p:spPr>
          <a:xfrm>
            <a:off x="548640" y="3496056"/>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Apologise sincerely in two sentences, explain briefly, fix it, and say how you will prevent it.</a:t>
            </a:r>
          </a:p>
        </p:txBody>
      </p:sp>
      <p:sp>
        <p:nvSpPr>
          <p:cNvPr id="18" name="Rounded Rectangle 17"/>
          <p:cNvSpPr/>
          <p:nvPr/>
        </p:nvSpPr>
        <p:spPr>
          <a:xfrm>
            <a:off x="548640" y="42214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42214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79450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5178552"/>
            <a:ext cx="3576218" cy="103936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The client is angry: “This is the second time.” Reply: “You’re right, and I understand why you’re frustrated. Here’s what I’m doing about it.”</a:t>
            </a:r>
          </a:p>
        </p:txBody>
      </p:sp>
      <p:sp>
        <p:nvSpPr>
          <p:cNvPr id="22" name="Rounded Rectangle 21"/>
          <p:cNvSpPr/>
          <p:nvPr/>
        </p:nvSpPr>
        <p:spPr>
          <a:xfrm>
            <a:off x="4307738" y="5178552"/>
            <a:ext cx="3576218" cy="103936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Don’t over-apologise: one clear sorry, then action.</a:t>
            </a:r>
          </a:p>
        </p:txBody>
      </p:sp>
      <p:sp>
        <p:nvSpPr>
          <p:cNvPr id="23" name="Rounded Rectangle 22"/>
          <p:cNvSpPr/>
          <p:nvPr/>
        </p:nvSpPr>
        <p:spPr>
          <a:xfrm>
            <a:off x="8066836" y="5178552"/>
            <a:ext cx="3576218" cy="103936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Use humour only if the client smiles first.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Correcting a mistake in your presentation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04 Meeting mishaps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纠正演示中的错误</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director spots a wrong figure on your slide.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Priya Nair, presenter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Collins, director</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Correcting a mistake in your presentation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04 Meeting mishaps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Collins</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Priya, sorry to stop you, but this figure doesn’t look right. Last year’s revenue was 4.2 million, not 2.4.</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Priya</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You’re absolutely right. Thank you for catching that. I’ve swapped the digits. The figure should be 4.2 million.</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the growth rate must be different, too?</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question. Let me double-check. Yes, it’s 8 per cent, not 12. That changes the picture a little, but the main point still stands.</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Correcting a mistake in your presentation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04 Meeting mishaps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Which is?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we should keep investing in Asia. Let me rephrase that: growth is slower than I said, but it’s still positive.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Please send me the corrected slides after the meeting.</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I’ll send them within the hour, and I’ll run through every number again.</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Correcting a mistake in your presentation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04 Meeting mishaps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correct a mistake in front of senior people.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Presenter. Your topic: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Director who spots the mistake.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Thank you for catching that · Let me double-check · Let me rephrase that · the main point still stands · I’ll send the corrected…</a:t>
            </a:r>
          </a:p>
        </p:txBody>
      </p:sp>
      <p:sp>
        <p:nvSpPr>
          <p:cNvPr id="16" name="Rounded Rectangle 15"/>
          <p:cNvSpPr/>
          <p:nvPr/>
        </p:nvSpPr>
        <p:spPr>
          <a:xfrm>
            <a:off x="548640" y="3496056"/>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Correct a mistake calmly, explain its effect and promise a follow-up in under a minute.</a:t>
            </a:r>
          </a:p>
        </p:txBody>
      </p:sp>
      <p:sp>
        <p:nvSpPr>
          <p:cNvPr id="18" name="Rounded Rectangle 17"/>
          <p:cNvSpPr/>
          <p:nvPr/>
        </p:nvSpPr>
        <p:spPr>
          <a:xfrm>
            <a:off x="548640" y="42214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42214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79450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5178552"/>
            <a:ext cx="3576218" cy="103936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You can’t check the number now: “I don’t want to give you a wrong figure, so I’ll confirm it by email this afternoon.”</a:t>
            </a:r>
          </a:p>
        </p:txBody>
      </p:sp>
      <p:sp>
        <p:nvSpPr>
          <p:cNvPr id="22" name="Rounded Rectangle 21"/>
          <p:cNvSpPr/>
          <p:nvPr/>
        </p:nvSpPr>
        <p:spPr>
          <a:xfrm>
            <a:off x="4307738" y="5178552"/>
            <a:ext cx="3576218" cy="103936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Use light humour: “That’s what I get for presenting before my coffee.”</a:t>
            </a:r>
          </a:p>
        </p:txBody>
      </p:sp>
      <p:sp>
        <p:nvSpPr>
          <p:cNvPr id="23" name="Rounded Rectangle 22"/>
          <p:cNvSpPr/>
          <p:nvPr/>
        </p:nvSpPr>
        <p:spPr>
          <a:xfrm>
            <a:off x="8066836" y="5178552"/>
            <a:ext cx="3576218" cy="103936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The chair says, “Let’s move on.” Agree gracefully: “Of course. Thanks again.”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04 Meeting mishaps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should you react when you make a mistake in front of senior people?</a:t>
            </a:r>
          </a:p>
          <a:p>
            <a:pPr algn="l">
              <a:lnSpc>
                <a:spcPct val="115000"/>
              </a:lnSpc>
              <a:spcAft>
                <a:spcPts val="800"/>
              </a:spcAft>
            </a:pPr>
            <a:r>
              <a:rPr sz="1400" b="0">
                <a:solidFill>
                  <a:srgbClr val="5F677A"/>
                </a:solidFill>
                <a:latin typeface="Arial"/>
                <a:ea typeface="Microsoft YaHei"/>
              </a:rPr>
              <a:t>💬 “I think the best thing is to…” / “I’d start by…”</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OK to use humour after a mishap?</a:t>
            </a:r>
          </a:p>
          <a:p>
            <a:pPr algn="l">
              <a:lnSpc>
                <a:spcPct val="115000"/>
              </a:lnSpc>
              <a:spcAft>
                <a:spcPts val="800"/>
              </a:spcAft>
            </a:pPr>
            <a:r>
              <a:rPr sz="1400" b="0">
                <a:solidFill>
                  <a:srgbClr val="5F677A"/>
                </a:solidFill>
                <a:latin typeface="Arial"/>
                <a:ea typeface="Microsoft YaHei"/>
              </a:rPr>
              <a:t>💬 “A little humour can…” / “It depends on whether…”</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do you do to prevent technical problems before an important meeting?</a:t>
            </a:r>
          </a:p>
          <a:p>
            <a:pPr algn="l">
              <a:lnSpc>
                <a:spcPct val="115000"/>
              </a:lnSpc>
              <a:spcAft>
                <a:spcPts val="800"/>
              </a:spcAft>
            </a:pPr>
            <a:r>
              <a:rPr sz="1400" b="0">
                <a:solidFill>
                  <a:srgbClr val="5F677A"/>
                </a:solidFill>
                <a:latin typeface="Arial"/>
                <a:ea typeface="Microsoft YaHei"/>
              </a:rPr>
              <a:t>💬 “I always…” / “It helps to have…”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much should you apologise?</a:t>
            </a:r>
          </a:p>
          <a:p>
            <a:pPr algn="l">
              <a:lnSpc>
                <a:spcPct val="115000"/>
              </a:lnSpc>
              <a:spcAft>
                <a:spcPts val="800"/>
              </a:spcAft>
            </a:pPr>
            <a:r>
              <a:rPr sz="1400" b="0">
                <a:solidFill>
                  <a:srgbClr val="5F677A"/>
                </a:solidFill>
                <a:latin typeface="Arial"/>
                <a:ea typeface="Microsoft YaHei"/>
              </a:rPr>
              <a:t>💬 “One clear apology is enough…” / “Over-apologising can make…”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can we learn from a mistake?</a:t>
            </a:r>
          </a:p>
          <a:p>
            <a:pPr algn="l">
              <a:lnSpc>
                <a:spcPct val="115000"/>
              </a:lnSpc>
              <a:spcAft>
                <a:spcPts val="800"/>
              </a:spcAft>
            </a:pPr>
            <a:r>
              <a:rPr sz="1400" b="0">
                <a:solidFill>
                  <a:srgbClr val="5F677A"/>
                </a:solidFill>
                <a:latin typeface="Arial"/>
                <a:ea typeface="Microsoft YaHei"/>
              </a:rPr>
              <a:t>💬 “One lesson I learned is…” / “Next time, I’d…”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04 Meeting mishaps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the best thing is to be calm and honest. First, I acknowledge the mistake with one short apology, without making excuses. Then I correct it straight away and explain what difference it makes. People usually respect that. What really damages your reputation isn’t the mistake. It’s trying to hide it or blaming someone else.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“make excuses” = 找借口;“straight away” = 立刻;“What really damages… isn’t…, it’s…” 是强调句型,用来突出重点。</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Apologising at different levels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04 Meeting mishaps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不同程度的道歉</a:t>
            </a:r>
          </a:p>
        </p:txBody>
      </p:sp>
      <p:graphicFrame>
        <p:nvGraphicFramePr>
          <p:cNvPr id="9" name="Table 8"/>
          <p:cNvGraphicFramePr>
            <a:graphicFrameLocks noGrp="1"/>
          </p:cNvGraphicFramePr>
          <p:nvPr/>
        </p:nvGraphicFramePr>
        <p:xfrm>
          <a:off x="548640" y="1417320"/>
          <a:ext cx="11094415" cy="2121408"/>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Situation</a:t>
                      </a:r>
                    </a:p>
                  </a:txBody>
                  <a:tcPr anchor="ctr">
                    <a:solidFill>
                      <a:srgbClr val="3CC49A"/>
                    </a:solidFill>
                  </a:tcPr>
                </a:tc>
                <a:tc>
                  <a:txBody>
                    <a:bodyPr wrap="square"/>
                    <a:lstStyle/>
                    <a:p>
                      <a:r>
                        <a:rPr sz="1600" b="1">
                          <a:solidFill>
                            <a:srgbClr val="FFFFFF"/>
                          </a:solidFill>
                          <a:latin typeface="Arial"/>
                          <a:ea typeface="Microsoft YaHei"/>
                        </a:rPr>
                        <a:t>Casual</a:t>
                      </a:r>
                    </a:p>
                  </a:txBody>
                  <a:tcPr anchor="ctr">
                    <a:solidFill>
                      <a:srgbClr val="3CC49A"/>
                    </a:solidFill>
                  </a:tcPr>
                </a:tc>
                <a:tc>
                  <a:txBody>
                    <a:bodyPr wrap="square"/>
                    <a:lstStyle/>
                    <a:p>
                      <a:r>
                        <a:rPr sz="1600" b="1">
                          <a:solidFill>
                            <a:srgbClr val="FFFFFF"/>
                          </a:solidFill>
                          <a:latin typeface="Arial"/>
                          <a:ea typeface="Microsoft YaHei"/>
                        </a:rPr>
                        <a:t>More formal</a:t>
                      </a:r>
                    </a:p>
                  </a:txBody>
                  <a:tcPr anchor="ctr">
                    <a:solidFill>
                      <a:srgbClr val="3CC49A"/>
                    </a:solidFill>
                  </a:tcPr>
                </a:tc>
              </a:tr>
              <a:tr h="408432">
                <a:tc>
                  <a:txBody>
                    <a:bodyPr wrap="square"/>
                    <a:lstStyle/>
                    <a:p>
                      <a:r>
                        <a:rPr sz="1600" b="1">
                          <a:solidFill>
                            <a:srgbClr val="1F2A44"/>
                          </a:solidFill>
                          <a:latin typeface="Arial"/>
                          <a:ea typeface="Microsoft YaHei"/>
                        </a:rPr>
                        <a:t>A tiny slip</a:t>
                      </a:r>
                    </a:p>
                  </a:txBody>
                  <a:tcPr anchor="ctr">
                    <a:solidFill>
                      <a:srgbClr val="FFFFFF"/>
                    </a:solidFill>
                  </a:tcPr>
                </a:tc>
                <a:tc>
                  <a:txBody>
                    <a:bodyPr wrap="square"/>
                    <a:lstStyle/>
                    <a:p>
                      <a:r>
                        <a:rPr sz="1600" b="0">
                          <a:solidFill>
                            <a:srgbClr val="1F2A44"/>
                          </a:solidFill>
                          <a:latin typeface="Arial"/>
                          <a:ea typeface="Microsoft YaHei"/>
                        </a:rPr>
                        <a:t>Oops, sorry about that.</a:t>
                      </a:r>
                    </a:p>
                  </a:txBody>
                  <a:tcPr anchor="ctr">
                    <a:solidFill>
                      <a:srgbClr val="FFFFFF"/>
                    </a:solidFill>
                  </a:tcPr>
                </a:tc>
                <a:tc>
                  <a:txBody>
                    <a:bodyPr wrap="square"/>
                    <a:lstStyle/>
                    <a:p>
                      <a:r>
                        <a:rPr sz="1600" b="0">
                          <a:solidFill>
                            <a:srgbClr val="1F2A44"/>
                          </a:solidFill>
                          <a:latin typeface="Arial"/>
                          <a:ea typeface="Microsoft YaHei"/>
                        </a:rPr>
                        <a:t>My mistake. I apologise.</a:t>
                      </a:r>
                    </a:p>
                  </a:txBody>
                  <a:tcPr anchor="ctr">
                    <a:solidFill>
                      <a:srgbClr val="FFFFFF"/>
                    </a:solidFill>
                  </a:tcPr>
                </a:tc>
              </a:tr>
              <a:tr h="652272">
                <a:tc>
                  <a:txBody>
                    <a:bodyPr wrap="square"/>
                    <a:lstStyle/>
                    <a:p>
                      <a:r>
                        <a:rPr sz="1600" b="1">
                          <a:solidFill>
                            <a:srgbClr val="1F2A44"/>
                          </a:solidFill>
                          <a:latin typeface="Arial"/>
                          <a:ea typeface="Microsoft YaHei"/>
                        </a:rPr>
                        <a:t>A delay</a:t>
                      </a:r>
                    </a:p>
                  </a:txBody>
                  <a:tcPr anchor="ctr">
                    <a:solidFill>
                      <a:srgbClr val="FFEFD9"/>
                    </a:solidFill>
                  </a:tcPr>
                </a:tc>
                <a:tc>
                  <a:txBody>
                    <a:bodyPr wrap="square"/>
                    <a:lstStyle/>
                    <a:p>
                      <a:r>
                        <a:rPr sz="1600" b="0">
                          <a:solidFill>
                            <a:srgbClr val="1F2A44"/>
                          </a:solidFill>
                          <a:latin typeface="Arial"/>
                          <a:ea typeface="Microsoft YaHei"/>
                        </a:rPr>
                        <a:t>Sorry I’m late.</a:t>
                      </a:r>
                    </a:p>
                  </a:txBody>
                  <a:tcPr anchor="ctr">
                    <a:solidFill>
                      <a:srgbClr val="FFEFD9"/>
                    </a:solidFill>
                  </a:tcPr>
                </a:tc>
                <a:tc>
                  <a:txBody>
                    <a:bodyPr wrap="square"/>
                    <a:lstStyle/>
                    <a:p>
                      <a:r>
                        <a:rPr sz="1600" b="0">
                          <a:solidFill>
                            <a:srgbClr val="1F2A44"/>
                          </a:solidFill>
                          <a:latin typeface="Arial"/>
                          <a:ea typeface="Microsoft YaHei"/>
                        </a:rPr>
                        <a:t>I apologise for keeping you waiting.</a:t>
                      </a:r>
                    </a:p>
                  </a:txBody>
                  <a:tcPr anchor="ctr">
                    <a:solidFill>
                      <a:srgbClr val="FFEFD9"/>
                    </a:solidFill>
                  </a:tcPr>
                </a:tc>
              </a:tr>
              <a:tr h="652272">
                <a:tc>
                  <a:txBody>
                    <a:bodyPr wrap="square"/>
                    <a:lstStyle/>
                    <a:p>
                      <a:r>
                        <a:rPr sz="1600" b="1">
                          <a:solidFill>
                            <a:srgbClr val="1F2A44"/>
                          </a:solidFill>
                          <a:latin typeface="Arial"/>
                          <a:ea typeface="Microsoft YaHei"/>
                        </a:rPr>
                        <a:t>A real mistake</a:t>
                      </a:r>
                    </a:p>
                  </a:txBody>
                  <a:tcPr anchor="ctr">
                    <a:solidFill>
                      <a:srgbClr val="FFFFFF"/>
                    </a:solidFill>
                  </a:tcPr>
                </a:tc>
                <a:tc>
                  <a:txBody>
                    <a:bodyPr wrap="square"/>
                    <a:lstStyle/>
                    <a:p>
                      <a:r>
                        <a:rPr sz="1600" b="0">
                          <a:solidFill>
                            <a:srgbClr val="1F2A44"/>
                          </a:solidFill>
                          <a:latin typeface="Arial"/>
                          <a:ea typeface="Microsoft YaHei"/>
                        </a:rPr>
                        <a:t>Sorry, I got that wrong.</a:t>
                      </a:r>
                    </a:p>
                  </a:txBody>
                  <a:tcPr anchor="ctr">
                    <a:solidFill>
                      <a:srgbClr val="FFFFFF"/>
                    </a:solidFill>
                  </a:tcPr>
                </a:tc>
                <a:tc>
                  <a:txBody>
                    <a:bodyPr wrap="square"/>
                    <a:lstStyle/>
                    <a:p>
                      <a:r>
                        <a:rPr sz="1600" b="0">
                          <a:solidFill>
                            <a:srgbClr val="1F2A44"/>
                          </a:solidFill>
                          <a:latin typeface="Arial"/>
                          <a:ea typeface="Microsoft YaHei"/>
                        </a:rPr>
                        <a:t>I owe you an apology. I should have checked.</a:t>
                      </a:r>
                    </a:p>
                  </a:txBody>
                  <a:tcPr anchor="ctr">
                    <a:solidFill>
                      <a:srgbClr val="FFFFFF"/>
                    </a:solidFill>
                  </a:tcPr>
                </a:tc>
              </a:tr>
            </a:tbl>
          </a:graphicData>
        </a:graphic>
      </p:graphicFrame>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Apologising at different levels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04 Meeting mishaps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不同程度的道歉</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A good apology has four parts: </a:t>
            </a:r>
            <a:r>
              <a:rPr sz="1700" b="0">
                <a:solidFill>
                  <a:srgbClr val="1F2A44"/>
                </a:solidFill>
                <a:latin typeface="Arial"/>
                <a:ea typeface="Microsoft YaHei"/>
              </a:rPr>
              <a:t>apology + short explanation + solution + prevention. Skip the long explanation.</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should have + past participle shows regret: </a:t>
            </a:r>
            <a:r>
              <a:rPr sz="1700" b="0">
                <a:solidFill>
                  <a:srgbClr val="1F2A44"/>
                </a:solidFill>
                <a:latin typeface="Arial"/>
                <a:ea typeface="Microsoft YaHei"/>
              </a:rPr>
              <a:t>“I should have double-checked the link.”</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structures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04 Meeting mishaps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常用结构</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sorry for + -ing or sorry (that) + sentence: </a:t>
            </a:r>
            <a:r>
              <a:rPr sz="1700" b="0">
                <a:solidFill>
                  <a:srgbClr val="1F2A44"/>
                </a:solidFill>
                <a:latin typeface="Arial"/>
                <a:ea typeface="Microsoft YaHei"/>
              </a:rPr>
              <a:t>“Sorry for being late.” / “Sorry I’m late.”</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apologise to someone for something: </a:t>
            </a:r>
            <a:r>
              <a:rPr sz="1700" b="0">
                <a:solidFill>
                  <a:srgbClr val="1F2A44"/>
                </a:solidFill>
                <a:latin typeface="Arial"/>
                <a:ea typeface="Microsoft YaHei"/>
              </a:rPr>
              <a:t>“I apologise to the client for the delay.”</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make a mistake, make an apology (formal), accept responsibility.</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04 Meeting mishaps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sorry for I was late.</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sorry I was late. / I’m sorry for being late.</a:t>
            </a:r>
          </a:p>
          <a:p>
            <a:pPr algn="l">
              <a:spcAft>
                <a:spcPts val="200"/>
              </a:spcAft>
            </a:pPr>
            <a:r>
              <a:rPr sz="1200" b="0">
                <a:solidFill>
                  <a:srgbClr val="FFFFFF"/>
                </a:solidFill>
                <a:latin typeface="Arial"/>
                <a:ea typeface="Microsoft YaHei"/>
              </a:rPr>
              <a:t>sorry for + -ing</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apologise you for the delay.</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apologise to you for the delay.</a:t>
            </a:r>
          </a:p>
          <a:p>
            <a:pPr algn="l">
              <a:spcAft>
                <a:spcPts val="200"/>
              </a:spcAft>
            </a:pPr>
            <a:r>
              <a:rPr sz="1200" b="0">
                <a:solidFill>
                  <a:srgbClr val="FFFFFF"/>
                </a:solidFill>
                <a:latin typeface="Arial"/>
                <a:ea typeface="Microsoft YaHei"/>
              </a:rPr>
              <a:t>apologise to sb for sth</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My computer is broke.</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My computer is broken.</a:t>
            </a:r>
          </a:p>
          <a:p>
            <a:pPr algn="l">
              <a:spcAft>
                <a:spcPts val="200"/>
              </a:spcAft>
            </a:pPr>
            <a:r>
              <a:rPr sz="1200" b="0">
                <a:solidFill>
                  <a:srgbClr val="FFFFFF"/>
                </a:solidFill>
                <a:latin typeface="Arial"/>
                <a:ea typeface="Microsoft YaHei"/>
              </a:rPr>
              <a:t>broken 是形容词</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screen freezed.</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screen froze.</a:t>
            </a:r>
          </a:p>
          <a:p>
            <a:pPr algn="l">
              <a:spcAft>
                <a:spcPts val="200"/>
              </a:spcAft>
            </a:pPr>
            <a:r>
              <a:rPr sz="1200" b="0">
                <a:solidFill>
                  <a:srgbClr val="FFFFFF"/>
                </a:solidFill>
                <a:latin typeface="Arial"/>
                <a:ea typeface="Microsoft YaHei"/>
              </a:rPr>
              <a:t>freeze 的过去式 froze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04 Meeting mishaps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forgot bringing the file.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forgot to bring the file.</a:t>
            </a:r>
          </a:p>
          <a:p>
            <a:pPr algn="l">
              <a:spcAft>
                <a:spcPts val="200"/>
              </a:spcAft>
            </a:pPr>
            <a:r>
              <a:rPr sz="1200" b="0">
                <a:solidFill>
                  <a:srgbClr val="FFFFFF"/>
                </a:solidFill>
                <a:latin typeface="Arial"/>
                <a:ea typeface="Microsoft YaHei"/>
              </a:rPr>
              <a:t>forget to do:忘记去做</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my fault of sending the wrong file.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my fault. I sent the wrong file.</a:t>
            </a:r>
          </a:p>
          <a:p>
            <a:pPr algn="l">
              <a:spcAft>
                <a:spcPts val="200"/>
              </a:spcAft>
            </a:pPr>
            <a:r>
              <a:rPr sz="1200" b="0">
                <a:solidFill>
                  <a:srgbClr val="FFFFFF"/>
                </a:solidFill>
                <a:latin typeface="Arial"/>
                <a:ea typeface="Microsoft YaHei"/>
              </a:rPr>
              <a:t>拆成两句更自然</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meeting was cancel.</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meeting was cancelled.</a:t>
            </a:r>
          </a:p>
          <a:p>
            <a:pPr algn="l">
              <a:spcAft>
                <a:spcPts val="200"/>
              </a:spcAft>
            </a:pPr>
            <a:r>
              <a:rPr sz="1200" b="0">
                <a:solidFill>
                  <a:srgbClr val="FFFFFF"/>
                </a:solidFill>
                <a:latin typeface="Arial"/>
                <a:ea typeface="Microsoft YaHei"/>
              </a:rPr>
              <a:t>被动 was + 过去分词</a:t>
            </a:r>
          </a:p>
        </p:txBody>
      </p:sp>
      <p:sp>
        <p:nvSpPr>
          <p:cNvPr id="15" name="Rounded Rectangle 14"/>
          <p:cNvSpPr/>
          <p:nvPr/>
        </p:nvSpPr>
        <p:spPr>
          <a:xfrm>
            <a:off x="548640" y="356615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a mistake.</a:t>
            </a:r>
          </a:p>
        </p:txBody>
      </p:sp>
      <p:sp>
        <p:nvSpPr>
          <p:cNvPr id="16" name="Rounded Rectangle 15"/>
          <p:cNvSpPr/>
          <p:nvPr/>
        </p:nvSpPr>
        <p:spPr>
          <a:xfrm>
            <a:off x="6187287" y="356615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made a mistake.</a:t>
            </a:r>
          </a:p>
          <a:p>
            <a:pPr algn="l">
              <a:spcAft>
                <a:spcPts val="200"/>
              </a:spcAft>
            </a:pPr>
            <a:r>
              <a:rPr sz="1200" b="0">
                <a:solidFill>
                  <a:srgbClr val="FFFFFF"/>
                </a:solidFill>
                <a:latin typeface="Arial"/>
                <a:ea typeface="Microsoft YaHei"/>
              </a:rPr>
              <a:t>make a mistake</a:t>
            </a:r>
          </a:p>
        </p:txBody>
      </p:sp>
      <p:sp>
        <p:nvSpPr>
          <p:cNvPr id="23" name="Rounded Rectangle 2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Check every past verb you say: froze, forgot, made, sent. Irregular verbs are the most common mistake in stories about the past.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04 Meeting mishaps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Short and sincere. In the UK and the US, a brief apology plus action is expected. A very long apology feels awkward.</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“Sorry” as a politeness marker. British speakers often say sorry even when nothing is wrong: “Sorry, could you move your bag?” It does not always mean guilt.</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0">
                <a:solidFill>
                  <a:srgbClr val="1F2A44"/>
                </a:solidFill>
                <a:latin typeface="Arial"/>
                <a:ea typeface="Microsoft YaHei"/>
              </a:rPr>
              <a:t>Self-deprecating humour is common and builds trust. Avoid it when the mistake involves money, safety, or a very serious client.</a:t>
            </a:r>
          </a:p>
        </p:txBody>
      </p:sp>
      <p:sp>
        <p:nvSpPr>
          <p:cNvPr id="18" name="Rounded Rectangle 17"/>
          <p:cNvSpPr/>
          <p:nvPr/>
        </p:nvSpPr>
        <p:spPr>
          <a:xfrm>
            <a:off x="548640" y="379475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9475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794757"/>
            <a:ext cx="10728655" cy="701039"/>
          </a:xfrm>
          <a:prstGeom prst="rect">
            <a:avLst/>
          </a:prstGeom>
          <a:noFill/>
        </p:spPr>
        <p:txBody>
          <a:bodyPr wrap="square" anchor="ctr">
            <a:spAutoFit/>
          </a:bodyPr>
          <a:lstStyle/>
          <a:p>
            <a:r>
              <a:rPr sz="1700" b="0">
                <a:solidFill>
                  <a:srgbClr val="1F2A44"/>
                </a:solidFill>
                <a:latin typeface="Arial"/>
                <a:ea typeface="Microsoft YaHei"/>
              </a:rPr>
              <a:t>Take responsibility. Don’t blame “the system” or another person. “I should have checked” is stronger than “The IT department sent the wrong link.”</a:t>
            </a:r>
          </a:p>
        </p:txBody>
      </p:sp>
      <p:sp>
        <p:nvSpPr>
          <p:cNvPr id="21" name="Rounded Rectangle 20"/>
          <p:cNvSpPr/>
          <p:nvPr/>
        </p:nvSpPr>
        <p:spPr>
          <a:xfrm>
            <a:off x="548640" y="458723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58723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587236"/>
            <a:ext cx="10728655" cy="701039"/>
          </a:xfrm>
          <a:prstGeom prst="rect">
            <a:avLst/>
          </a:prstGeom>
          <a:noFill/>
        </p:spPr>
        <p:txBody>
          <a:bodyPr wrap="square" anchor="ctr">
            <a:spAutoFit/>
          </a:bodyPr>
          <a:lstStyle/>
          <a:p>
            <a:r>
              <a:rPr sz="1700" b="0">
                <a:solidFill>
                  <a:srgbClr val="1F2A44"/>
                </a:solidFill>
                <a:latin typeface="Arial"/>
                <a:ea typeface="Microsoft YaHei"/>
              </a:rPr>
              <a:t>Correct privately when you can. If someone else makes a mistake in public, offer the correction gently: “Can I just check one number?”</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04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04 Meeting mishaps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apologise briefly and professionally in a meeting.</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correct a mistake and explain its effect (Let me rephrase that, the main point still stands).</a:t>
            </a:r>
          </a:p>
        </p:txBody>
      </p:sp>
      <p:sp>
        <p:nvSpPr>
          <p:cNvPr id="16" name="TextBox 15"/>
          <p:cNvSpPr txBox="1"/>
          <p:nvPr/>
        </p:nvSpPr>
        <p:spPr>
          <a:xfrm>
            <a:off x="9539935" y="21061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technical problems with glitch, freeze, keep dropping.</a:t>
            </a:r>
          </a:p>
        </p:txBody>
      </p:sp>
      <p:sp>
        <p:nvSpPr>
          <p:cNvPr id="20" name="TextBox 19"/>
          <p:cNvSpPr txBox="1"/>
          <p:nvPr/>
        </p:nvSpPr>
        <p:spPr>
          <a:xfrm>
            <a:off x="9539935" y="3008376"/>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9105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105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9105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in my own sentences.</a:t>
            </a:r>
          </a:p>
        </p:txBody>
      </p:sp>
      <p:sp>
        <p:nvSpPr>
          <p:cNvPr id="24" name="TextBox 23"/>
          <p:cNvSpPr txBox="1"/>
          <p:nvPr/>
        </p:nvSpPr>
        <p:spPr>
          <a:xfrm>
            <a:off x="9539935" y="39105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5079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5079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5079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irregular past verbs (froze, forgot, made) and apologise to… for… correctly.</a:t>
            </a:r>
          </a:p>
        </p:txBody>
      </p:sp>
      <p:sp>
        <p:nvSpPr>
          <p:cNvPr id="28" name="TextBox 27"/>
          <p:cNvSpPr txBox="1"/>
          <p:nvPr/>
        </p:nvSpPr>
        <p:spPr>
          <a:xfrm>
            <a:off x="9539935" y="45079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04 Meeting mishaps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Tell the mishap story from the speaking prompt in 60 seconds, then repeat it in 40 seconds. Record both.</a:t>
            </a:r>
          </a:p>
        </p:txBody>
      </p:sp>
      <p:sp>
        <p:nvSpPr>
          <p:cNvPr id="14" name="Rounded Rectangle 13"/>
          <p:cNvSpPr/>
          <p:nvPr/>
        </p:nvSpPr>
        <p:spPr>
          <a:xfrm>
            <a:off x="548640" y="341071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41071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irregular past verbs, apologise to/for, calm tone.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 · Lesson 05 Meeting reports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115</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05</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Meeting reports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会议报告</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report the outcome of a meeting clearly, in speech and in writing: purpose, decisions, actions, owners and deadlines.</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05 Meeting reports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9258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Who writes the minutes in your team? Do people actually read them?</a:t>
            </a:r>
          </a:p>
        </p:txBody>
      </p:sp>
      <p:sp>
        <p:nvSpPr>
          <p:cNvPr id="12" name="Oval 11"/>
          <p:cNvSpPr/>
          <p:nvPr/>
        </p:nvSpPr>
        <p:spPr>
          <a:xfrm>
            <a:off x="548640" y="228142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43328"/>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43328"/>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What information must a good meeting report contain?</a:t>
            </a:r>
          </a:p>
        </p:txBody>
      </p:sp>
      <p:sp>
        <p:nvSpPr>
          <p:cNvPr id="15" name="Oval 14"/>
          <p:cNvSpPr/>
          <p:nvPr/>
        </p:nvSpPr>
        <p:spPr>
          <a:xfrm>
            <a:off x="548640" y="314553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32176"/>
            <a:ext cx="10408615" cy="929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32176"/>
            <a:ext cx="10180015" cy="92964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When did you last forget what was agreed in a meeting? What happened?</a:t>
            </a:r>
          </a:p>
        </p:txBody>
      </p:sp>
      <p:sp>
        <p:nvSpPr>
          <p:cNvPr id="18" name="Oval 17"/>
          <p:cNvSpPr/>
          <p:nvPr/>
        </p:nvSpPr>
        <p:spPr>
          <a:xfrm>
            <a:off x="548640" y="400964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71544"/>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71544"/>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Do you prefer to write a summary or to give it orally? Why?</a:t>
            </a:r>
          </a:p>
        </p:txBody>
      </p:sp>
      <p:sp>
        <p:nvSpPr>
          <p:cNvPr id="21" name="Oval 20"/>
          <p:cNvSpPr/>
          <p:nvPr/>
        </p:nvSpPr>
        <p:spPr>
          <a:xfrm>
            <a:off x="548640" y="469849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60392"/>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0392"/>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How long should a meeting report be?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 题可用被动语态:“The minutes are written by…”。第 3 题讲过去的事,用过去式(forgot, happened)。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05 Meeting reports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2900" b="1">
                <a:solidFill>
                  <a:srgbClr val="1F2A44"/>
                </a:solidFill>
                <a:latin typeface="Arial"/>
                <a:ea typeface="Microsoft YaHei"/>
              </a:rPr>
              <a:t>Give a one-minute oral report of a recent meeting to a colleague who could not attend.</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purpose</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key points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decisions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actions and deadlines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main purpose was to…   💬 We agreed that…   💬 It was decided that…   💬 The action points are…</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“It was decided that…” 是被动语态,常见于书面纪要;口语中更自然的说法是 “We decided to…”。</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Minutes that people read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132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05 Meeting reports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Most minutes are long and boring, so nobody reads them. Mei, a project manager, changed that. After every meeting, she sends a message of no more than eight lines. The first line gives the decision in plain English: “We will launch on 14 March.” The next lines list the actions, each with a name and a date: “Ali: confirm the venue by Friday.” Anything that was only discussed goes at the bottom, under “Still open”. At first, her colleagues were surprised. Then they began to reply within the hour, and mistakes were corrected quickly. “People used to say they hadn’t seen it,” Mei said. “Now they can’t say that.” Her rule is simple: write what someone needs to know, not what everyone said. If readers want more detail, the recording is there.</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05 Meeting reports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goes in the first line of Mei’s message?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 decision, in plain English.</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How does she present the actions?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Each action has a name and a date.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is her rule?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Write what someone needs to know, not everything that was said.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The structure of a report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05 Meeting reports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报告的结构</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minutes</a:t>
            </a:r>
          </a:p>
          <a:p>
            <a:pPr algn="l">
              <a:lnSpc>
                <a:spcPct val="115000"/>
              </a:lnSpc>
              <a:spcAft>
                <a:spcPts val="800"/>
              </a:spcAft>
            </a:pPr>
            <a:r>
              <a:rPr sz="1300" b="0">
                <a:solidFill>
                  <a:srgbClr val="5F677A"/>
                </a:solidFill>
                <a:latin typeface="Arial"/>
                <a:ea typeface="Microsoft YaHei"/>
              </a:rPr>
              <a:t>noun (plural)</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会议纪要</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“Who’s taking the minutes today?”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attendees / apologies</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出席者 / 请假者</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“Apologies: Sam and Mei.”</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summary</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摘要</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send a short summary after the meeting.”</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key takeaway</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核心要点</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key takeaway is that we need more budget.”</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outcome</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结果,结论</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outcome of the meeting was positive.”</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Reporting what happened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05 Meeting reports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汇报会议内容</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It was agreed that…</a:t>
            </a:r>
          </a:p>
          <a:p>
            <a:pPr algn="l">
              <a:lnSpc>
                <a:spcPct val="115000"/>
              </a:lnSpc>
              <a:spcAft>
                <a:spcPts val="800"/>
              </a:spcAft>
            </a:pPr>
            <a:r>
              <a:rPr sz="1300" b="0">
                <a:solidFill>
                  <a:srgbClr val="5F677A"/>
                </a:solidFill>
                <a:latin typeface="Arial"/>
                <a:ea typeface="Microsoft YaHei"/>
              </a:rPr>
              <a:t>phrase (formal)</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会议同意…</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was agreed that the launch will be delayed.”</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 decided to…</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我们决定…</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decided to move the deadline to Friday.”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sign off on</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批准,签字同意</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director signed off on the budget.”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put forward</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提出(方案)</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“Lena put forward a proposal to delay the launch.”</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object to</a:t>
            </a:r>
          </a:p>
          <a:p>
            <a:pPr algn="l">
              <a:lnSpc>
                <a:spcPct val="115000"/>
              </a:lnSpc>
              <a:spcAft>
                <a:spcPts val="800"/>
              </a:spcAft>
            </a:pPr>
            <a:r>
              <a:rPr sz="1300" b="0">
                <a:solidFill>
                  <a:srgbClr val="5F677A"/>
                </a:solidFill>
                <a:latin typeface="Arial"/>
                <a:ea typeface="Microsoft YaHei"/>
              </a:rPr>
              <a:t>verb 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反对</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“Two members objected to the new schedule.”</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Actions and follow-up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05 Meeting reports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行动与跟进</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action point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行动事项</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action points are listed at the end.”</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deadline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截止日期</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deadline is the end of the month.”</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the lead on</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牵头负责</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“Ana will take the lead on the client survey.”</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circulate</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分发,传阅</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circulate the minutes by tomorrow.”</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still open</a:t>
            </a:r>
          </a:p>
          <a:p>
            <a:pPr algn="l">
              <a:lnSpc>
                <a:spcPct val="115000"/>
              </a:lnSpc>
              <a:spcAft>
                <a:spcPts val="800"/>
              </a:spcAft>
            </a:pPr>
            <a:r>
              <a:rPr sz="1300" b="0">
                <a:solidFill>
                  <a:srgbClr val="5F677A"/>
                </a:solidFill>
                <a:latin typeface="Arial"/>
                <a:ea typeface="Microsoft YaHei"/>
              </a:rPr>
              <a:t>adjective 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尚未解决的</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budget is still open. We’ll decide next week.”</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05 Meeting reports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截止日期</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deadline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提出(方案)</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put forward</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反对</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object to</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会议同意…</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It was agreed that…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会议纪要</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minutes</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分发,传阅</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circulate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行动事项</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action point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牵头负责</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the lead 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05 Meeting reports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minutes</a:t>
            </a:r>
          </a:p>
        </p:txBody>
      </p:sp>
      <p:sp>
        <p:nvSpPr>
          <p:cNvPr id="10" name="Rounded Rectangle 9"/>
          <p:cNvSpPr/>
          <p:nvPr/>
        </p:nvSpPr>
        <p:spPr>
          <a:xfrm>
            <a:off x="3236976" y="987552"/>
            <a:ext cx="135331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attendees</a:t>
            </a:r>
          </a:p>
        </p:txBody>
      </p:sp>
      <p:sp>
        <p:nvSpPr>
          <p:cNvPr id="11" name="Rounded Rectangle 10"/>
          <p:cNvSpPr/>
          <p:nvPr/>
        </p:nvSpPr>
        <p:spPr>
          <a:xfrm>
            <a:off x="4681728" y="987552"/>
            <a:ext cx="102412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agreed</a:t>
            </a:r>
          </a:p>
        </p:txBody>
      </p:sp>
      <p:sp>
        <p:nvSpPr>
          <p:cNvPr id="12" name="Rounded Rectangle 11"/>
          <p:cNvSpPr/>
          <p:nvPr/>
        </p:nvSpPr>
        <p:spPr>
          <a:xfrm>
            <a:off x="5797296" y="987552"/>
            <a:ext cx="102412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signed</a:t>
            </a:r>
          </a:p>
        </p:txBody>
      </p:sp>
      <p:sp>
        <p:nvSpPr>
          <p:cNvPr id="13" name="Rounded Rectangle 12"/>
          <p:cNvSpPr/>
          <p:nvPr/>
        </p:nvSpPr>
        <p:spPr>
          <a:xfrm>
            <a:off x="6912864" y="987552"/>
            <a:ext cx="135331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circulate</a:t>
            </a:r>
          </a:p>
        </p:txBody>
      </p:sp>
      <p:sp>
        <p:nvSpPr>
          <p:cNvPr id="14" name="Rounded Rectangle 13"/>
          <p:cNvSpPr/>
          <p:nvPr/>
        </p:nvSpPr>
        <p:spPr>
          <a:xfrm>
            <a:off x="8357616"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deadline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Who is taking the _______ today?</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minutes</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Please check the list of _______ before you send it.</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attendees</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It was _______ that the launch will be delayed.</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agreed</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The director _______ off on the budget yesterday.</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signed</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I’ll _______ the minutes by tomorrow morning.</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circulate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The _______ for this task is Friday.</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deadline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(拼写与单复数) minutes is always plural for meeting records (“The minutes are ready”). Spelling: attendee, deadline, circulate.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Reporting to a manager who missed the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05 Meeting reports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向缺席的经理汇报</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Your manager could not attend the meeting and asks for a quick summary.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Karen Wu, 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Leo Zhang, team member</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Reporting to a manager who missed the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05 Meeting reports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Karen</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Leo, sorry I couldn’t make the meeting. Can you give me a quick rundown?</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Leo</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The main purpose was to decide the launch date.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did you?</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We agreed to launch on 14 March. The director signed off on the budget as well.</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Did anyone object?</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Lena put forward a proposal for an extra week of testing, but in the end it was turned down.</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Reporting to a manager who missed the meeting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05 Meeting reports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What are the action points?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Ali will confirm the venue by Friday, and I’ll take the lead on the press release. The deadline for the first draft is next Wednesday.</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Is anything still open?</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advertising budget. We’ll decide that next week.</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that’s very clear. Could you circulate the minutes today?</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I’ll send them this afternoon.</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Reporting to a manager who missed the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05 Meeting reports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report the result of a meeting to a manager.</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(B)</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 who attended. Meeting topic: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(A)</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who missed the meeting.</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The main purpose was… · We agreed to… · signed off on · take the lead on · still open · circulate</a:t>
            </a:r>
          </a:p>
        </p:txBody>
      </p:sp>
      <p:sp>
        <p:nvSpPr>
          <p:cNvPr id="16" name="Rounded Rectangle 15"/>
          <p:cNvSpPr/>
          <p:nvPr/>
        </p:nvSpPr>
        <p:spPr>
          <a:xfrm>
            <a:off x="548640" y="3496056"/>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Give a clear oral report in about 60 seconds: purpose, decision, actions, open points.</a:t>
            </a:r>
          </a:p>
        </p:txBody>
      </p:sp>
      <p:sp>
        <p:nvSpPr>
          <p:cNvPr id="18" name="Rounded Rectangle 17"/>
          <p:cNvSpPr/>
          <p:nvPr/>
        </p:nvSpPr>
        <p:spPr>
          <a:xfrm>
            <a:off x="548640" y="42214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42214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79450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5178552"/>
            <a:ext cx="3576218" cy="103936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Do it in 30 seconds: only the decision and the actions.</a:t>
            </a:r>
          </a:p>
        </p:txBody>
      </p:sp>
      <p:sp>
        <p:nvSpPr>
          <p:cNvPr id="22" name="Rounded Rectangle 21"/>
          <p:cNvSpPr/>
          <p:nvPr/>
        </p:nvSpPr>
        <p:spPr>
          <a:xfrm>
            <a:off x="4307738" y="5178552"/>
            <a:ext cx="3576218" cy="103936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Use the formal passive: “It was agreed that… / It was decided to…”</a:t>
            </a:r>
          </a:p>
        </p:txBody>
      </p:sp>
      <p:sp>
        <p:nvSpPr>
          <p:cNvPr id="23" name="Rounded Rectangle 22"/>
          <p:cNvSpPr/>
          <p:nvPr/>
        </p:nvSpPr>
        <p:spPr>
          <a:xfrm>
            <a:off x="8066836" y="5178552"/>
            <a:ext cx="3576218" cy="103936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The manager asks something you don’t know: “I’m afraid I don’t have that detail. I’ll check with Ali and get back to you.”</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Role Play · Checking the minutes with the chair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05 Meeting reports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与主持人核对纪要</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The minute-taker checks a draft with the chair before sending it.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Nina Gao, minute-taker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Oscar Said, chair</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Checking the minutes with the chair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05 Meeting reports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Nina</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Oscar, I’ve drafted the minutes. Can I check a few points with you?</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Oscar</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go ahead.</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I’ve written, “It was agreed that the supplier will deliver by 5 May.” Is that correct?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quite. We said the end of May, not the fifth. I think you may have misheard.</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for catching that. I’ll correct it. And I’ve put you down as the owner of the budget review. Is that right?</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Checking the minutes with the chair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05 Meeting reports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Actually, it should be Marta. I’m just the sponsor.</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Understood. Should I include the discussion about the logo?</a:t>
            </a:r>
          </a:p>
        </p:txBody>
      </p:sp>
      <p:sp>
        <p:nvSpPr>
          <p:cNvPr id="14" name="Rounded Rectangle 13"/>
          <p:cNvSpPr/>
          <p:nvPr/>
        </p:nvSpPr>
        <p:spPr>
          <a:xfrm>
            <a:off x="10911535" y="249021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490216"/>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leave that out. Just add it under “Still open”. We didn’t reach a conclusion.</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I’ll circulate the final version by five o’clock.</a:t>
            </a:r>
          </a:p>
        </p:txBody>
      </p:sp>
      <p:sp>
        <p:nvSpPr>
          <p:cNvPr id="20" name="Rounded Rectangle 19"/>
          <p:cNvSpPr/>
          <p:nvPr/>
        </p:nvSpPr>
        <p:spPr>
          <a:xfrm>
            <a:off x="10911535" y="394411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394411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Perfect. Keep it short, please. Nobody reads more than one page.</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Your Turn · Checking the minutes with the chair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05 Meeting reports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check a draft of the minutes with the person who chaired the meeting.</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Minute-taker. Meeting topic: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Chair who corrects details.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I’ve drafted the minutes · It was agreed that… · I’ve put you down as… · leave that out · circulate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Check three points (decision, owner, deadline) and agree what to include.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Turn spoken language into formal written language: “We decided to delay” becomes “It was agreed to delay the launch.”</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five-line summary: one decision, two actions, one open point, one date.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 participant disagrees with your wording: “That’s not how I remember it. Could we check the recording?”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05 Meeting reports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makes meeting minutes useful?</a:t>
            </a:r>
          </a:p>
          <a:p>
            <a:pPr algn="l">
              <a:lnSpc>
                <a:spcPct val="115000"/>
              </a:lnSpc>
              <a:spcAft>
                <a:spcPts val="800"/>
              </a:spcAft>
            </a:pPr>
            <a:r>
              <a:rPr sz="1400" b="0">
                <a:solidFill>
                  <a:srgbClr val="5F677A"/>
                </a:solidFill>
                <a:latin typeface="Arial"/>
                <a:ea typeface="Microsoft YaHei"/>
              </a:rPr>
              <a:t>💬 “In my view, useful minutes are…” / “They should start with…”</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recordings replace written minutes?</a:t>
            </a:r>
          </a:p>
          <a:p>
            <a:pPr algn="l">
              <a:lnSpc>
                <a:spcPct val="115000"/>
              </a:lnSpc>
              <a:spcAft>
                <a:spcPts val="800"/>
              </a:spcAft>
            </a:pPr>
            <a:r>
              <a:rPr sz="1400" b="0">
                <a:solidFill>
                  <a:srgbClr val="5F677A"/>
                </a:solidFill>
                <a:latin typeface="Arial"/>
                <a:ea typeface="Microsoft YaHei"/>
              </a:rPr>
              <a:t>💬 “A recording is useful for…, but…” / “Nobody has time to…”</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make sure people complete their action items?</a:t>
            </a:r>
          </a:p>
          <a:p>
            <a:pPr algn="l">
              <a:lnSpc>
                <a:spcPct val="115000"/>
              </a:lnSpc>
              <a:spcAft>
                <a:spcPts val="800"/>
              </a:spcAft>
            </a:pPr>
            <a:r>
              <a:rPr sz="1400" b="0">
                <a:solidFill>
                  <a:srgbClr val="5F677A"/>
                </a:solidFill>
                <a:latin typeface="Arial"/>
                <a:ea typeface="Microsoft YaHei"/>
              </a:rPr>
              <a:t>💬 “I’d follow up…” / “It helps to give every task an owner and a date.”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should take the minutes? Should the role rotate?</a:t>
            </a:r>
          </a:p>
          <a:p>
            <a:pPr algn="l">
              <a:lnSpc>
                <a:spcPct val="115000"/>
              </a:lnSpc>
              <a:spcAft>
                <a:spcPts val="800"/>
              </a:spcAft>
            </a:pPr>
            <a:r>
              <a:rPr sz="1400" b="0">
                <a:solidFill>
                  <a:srgbClr val="5F677A"/>
                </a:solidFill>
                <a:latin typeface="Arial"/>
                <a:ea typeface="Microsoft YaHei"/>
              </a:rPr>
              <a:t>💬 “I think it should rotate because…” / “The advantage of rotating is…”</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handle a disagreement about what was decided?</a:t>
            </a:r>
          </a:p>
          <a:p>
            <a:pPr algn="l">
              <a:lnSpc>
                <a:spcPct val="115000"/>
              </a:lnSpc>
              <a:spcAft>
                <a:spcPts val="800"/>
              </a:spcAft>
            </a:pPr>
            <a:r>
              <a:rPr sz="1400" b="0">
                <a:solidFill>
                  <a:srgbClr val="5F677A"/>
                </a:solidFill>
                <a:latin typeface="Arial"/>
                <a:ea typeface="Microsoft YaHei"/>
              </a:rPr>
              <a:t>💬 “I’d check the notes and…” / “I’d ask everyone to confirm…”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05 Meeting reports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In my view, useful minutes are short, clear and easy to scan. They should start with the decisions, then list the actions with an owner and a deadline. I’d leave out who said what, unless it matters. If the minutes need more than one page, I think the meeting was probably too long. Above all, they should be sent the same day, while everyone still remembers the discussion.</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“In my view” = 我认为;“easy to scan” = 便于快速浏览;“Above all” = 最重要的是;“leave out” = 省略。</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Spoken report vs written minutes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05 Meeting reports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口头汇报与书面纪要</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Spoken (natural)</a:t>
                      </a:r>
                    </a:p>
                  </a:txBody>
                  <a:tcPr anchor="ctr">
                    <a:solidFill>
                      <a:srgbClr val="3CC49A"/>
                    </a:solidFill>
                  </a:tcPr>
                </a:tc>
                <a:tc>
                  <a:txBody>
                    <a:bodyPr wrap="square"/>
                    <a:lstStyle/>
                    <a:p>
                      <a:r>
                        <a:rPr sz="1600" b="1">
                          <a:solidFill>
                            <a:srgbClr val="FFFFFF"/>
                          </a:solidFill>
                          <a:latin typeface="Arial"/>
                          <a:ea typeface="Microsoft YaHei"/>
                        </a:rPr>
                        <a:t>Written (minutes)</a:t>
                      </a:r>
                    </a:p>
                  </a:txBody>
                  <a:tcPr anchor="ctr">
                    <a:solidFill>
                      <a:srgbClr val="3CC49A"/>
                    </a:solidFill>
                  </a:tcPr>
                </a:tc>
              </a:tr>
              <a:tr h="408432">
                <a:tc>
                  <a:txBody>
                    <a:bodyPr wrap="square"/>
                    <a:lstStyle/>
                    <a:p>
                      <a:r>
                        <a:rPr sz="1600" b="1">
                          <a:solidFill>
                            <a:srgbClr val="1F2A44"/>
                          </a:solidFill>
                          <a:latin typeface="Arial"/>
                          <a:ea typeface="Microsoft YaHei"/>
                        </a:rPr>
                        <a:t>We decided to move the deadline.</a:t>
                      </a:r>
                    </a:p>
                  </a:txBody>
                  <a:tcPr anchor="ctr">
                    <a:solidFill>
                      <a:srgbClr val="FFFFFF"/>
                    </a:solidFill>
                  </a:tcPr>
                </a:tc>
                <a:tc>
                  <a:txBody>
                    <a:bodyPr wrap="square"/>
                    <a:lstStyle/>
                    <a:p>
                      <a:r>
                        <a:rPr sz="1600" b="0">
                          <a:solidFill>
                            <a:srgbClr val="1F2A44"/>
                          </a:solidFill>
                          <a:latin typeface="Arial"/>
                          <a:ea typeface="Microsoft YaHei"/>
                        </a:rPr>
                        <a:t>It was agreed to move the deadline.</a:t>
                      </a:r>
                    </a:p>
                  </a:txBody>
                  <a:tcPr anchor="ctr">
                    <a:solidFill>
                      <a:srgbClr val="FFFFFF"/>
                    </a:solidFill>
                  </a:tcPr>
                </a:tc>
              </a:tr>
              <a:tr h="408432">
                <a:tc>
                  <a:txBody>
                    <a:bodyPr wrap="square"/>
                    <a:lstStyle/>
                    <a:p>
                      <a:r>
                        <a:rPr sz="1600" b="1">
                          <a:solidFill>
                            <a:srgbClr val="1F2A44"/>
                          </a:solidFill>
                          <a:latin typeface="Arial"/>
                          <a:ea typeface="Microsoft YaHei"/>
                        </a:rPr>
                        <a:t>Ali will check the venue.</a:t>
                      </a:r>
                    </a:p>
                  </a:txBody>
                  <a:tcPr anchor="ctr">
                    <a:solidFill>
                      <a:srgbClr val="FFEFD9"/>
                    </a:solidFill>
                  </a:tcPr>
                </a:tc>
                <a:tc>
                  <a:txBody>
                    <a:bodyPr wrap="square"/>
                    <a:lstStyle/>
                    <a:p>
                      <a:r>
                        <a:rPr sz="1600" b="0">
                          <a:solidFill>
                            <a:srgbClr val="1F2A44"/>
                          </a:solidFill>
                          <a:latin typeface="Arial"/>
                          <a:ea typeface="Microsoft YaHei"/>
                        </a:rPr>
                        <a:t>Action: Ali to confirm the venue by Friday.</a:t>
                      </a:r>
                    </a:p>
                  </a:txBody>
                  <a:tcPr anchor="ctr">
                    <a:solidFill>
                      <a:srgbClr val="FFEFD9"/>
                    </a:solidFill>
                  </a:tcPr>
                </a:tc>
              </a:tr>
              <a:tr h="408432">
                <a:tc>
                  <a:txBody>
                    <a:bodyPr wrap="square"/>
                    <a:lstStyle/>
                    <a:p>
                      <a:r>
                        <a:rPr sz="1600" b="1">
                          <a:solidFill>
                            <a:srgbClr val="1F2A44"/>
                          </a:solidFill>
                          <a:latin typeface="Arial"/>
                          <a:ea typeface="Microsoft YaHei"/>
                        </a:rPr>
                        <a:t>We talked about the budget.</a:t>
                      </a:r>
                    </a:p>
                  </a:txBody>
                  <a:tcPr anchor="ctr">
                    <a:solidFill>
                      <a:srgbClr val="FFFFFF"/>
                    </a:solidFill>
                  </a:tcPr>
                </a:tc>
                <a:tc>
                  <a:txBody>
                    <a:bodyPr wrap="square"/>
                    <a:lstStyle/>
                    <a:p>
                      <a:r>
                        <a:rPr sz="1600" b="0">
                          <a:solidFill>
                            <a:srgbClr val="1F2A44"/>
                          </a:solidFill>
                          <a:latin typeface="Arial"/>
                          <a:ea typeface="Microsoft YaHei"/>
                        </a:rPr>
                        <a:t>The budget was discussed.</a:t>
                      </a:r>
                    </a:p>
                  </a:txBody>
                  <a:tcPr anchor="ctr">
                    <a:solidFill>
                      <a:srgbClr val="FFFFFF"/>
                    </a:solidFill>
                  </a:tcPr>
                </a:tc>
              </a:tr>
              <a:tr h="408432">
                <a:tc>
                  <a:txBody>
                    <a:bodyPr wrap="square"/>
                    <a:lstStyle/>
                    <a:p>
                      <a:r>
                        <a:rPr sz="1600" b="1">
                          <a:solidFill>
                            <a:srgbClr val="1F2A44"/>
                          </a:solidFill>
                          <a:latin typeface="Arial"/>
                          <a:ea typeface="Microsoft YaHei"/>
                        </a:rPr>
                        <a:t>Nobody liked the idea.</a:t>
                      </a:r>
                    </a:p>
                  </a:txBody>
                  <a:tcPr anchor="ctr">
                    <a:solidFill>
                      <a:srgbClr val="FFEFD9"/>
                    </a:solidFill>
                  </a:tcPr>
                </a:tc>
                <a:tc>
                  <a:txBody>
                    <a:bodyPr wrap="square"/>
                    <a:lstStyle/>
                    <a:p>
                      <a:r>
                        <a:rPr sz="1600" b="0">
                          <a:solidFill>
                            <a:srgbClr val="1F2A44"/>
                          </a:solidFill>
                          <a:latin typeface="Arial"/>
                          <a:ea typeface="Microsoft YaHei"/>
                        </a:rPr>
                        <a:t>There was no support for the proposal.</a:t>
                      </a:r>
                    </a:p>
                  </a:txBody>
                  <a:tcPr anchor="ctr">
                    <a:solidFill>
                      <a:srgbClr val="FFEFD9"/>
                    </a:solidFill>
                  </a:tcPr>
                </a:tc>
              </a:tr>
            </a:tbl>
          </a:graphicData>
        </a:graphic>
      </p:graphicFrame>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Reporting verbs and tenses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05 Meeting reports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汇报动词与时态</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Past simple for what happened: </a:t>
            </a:r>
            <a:r>
              <a:rPr sz="1700" b="0">
                <a:solidFill>
                  <a:srgbClr val="1F2A44"/>
                </a:solidFill>
                <a:latin typeface="Arial"/>
                <a:ea typeface="Microsoft YaHei"/>
              </a:rPr>
              <a:t>“We agreed… / Lena objected…”</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Will / to + infinitive for actions: </a:t>
            </a:r>
            <a:r>
              <a:rPr sz="1700" b="0">
                <a:solidFill>
                  <a:srgbClr val="1F2A44"/>
                </a:solidFill>
                <a:latin typeface="Arial"/>
                <a:ea typeface="Microsoft YaHei"/>
              </a:rPr>
              <a:t>“Ali will confirm the venue.” / “Action: Ali to confirm…”</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Reported speech: </a:t>
            </a:r>
            <a:r>
              <a:rPr sz="1700" b="0">
                <a:solidFill>
                  <a:srgbClr val="1F2A44"/>
                </a:solidFill>
                <a:latin typeface="Arial"/>
                <a:ea typeface="Microsoft YaHei"/>
              </a:rPr>
              <a:t>the tense moves back. “She said she would send it.” (not “will”)</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say (no person) vs tell (person): </a:t>
            </a:r>
            <a:r>
              <a:rPr sz="1700" b="0">
                <a:solidFill>
                  <a:srgbClr val="1F2A44"/>
                </a:solidFill>
                <a:latin typeface="Arial"/>
                <a:ea typeface="Microsoft YaHei"/>
              </a:rPr>
              <a:t>“She said it was fine.” / “She told me it was fine.”</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05 Meeting reports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minute is ready.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minutes are ready.</a:t>
            </a:r>
          </a:p>
          <a:p>
            <a:pPr algn="l">
              <a:spcAft>
                <a:spcPts val="200"/>
              </a:spcAft>
            </a:pPr>
            <a:r>
              <a:rPr sz="1200" b="0">
                <a:solidFill>
                  <a:srgbClr val="FFFFFF"/>
                </a:solidFill>
                <a:latin typeface="Arial"/>
                <a:ea typeface="Microsoft YaHei"/>
              </a:rPr>
              <a:t>纪要用复数 minutes</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said me that he would come.</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told me that he would come. / He said that he would come.</a:t>
            </a:r>
          </a:p>
          <a:p>
            <a:pPr algn="l">
              <a:spcAft>
                <a:spcPts val="200"/>
              </a:spcAft>
            </a:pPr>
            <a:r>
              <a:rPr sz="1200" b="0">
                <a:solidFill>
                  <a:srgbClr val="FFFFFF"/>
                </a:solidFill>
                <a:latin typeface="Arial"/>
                <a:ea typeface="Microsoft YaHei"/>
              </a:rPr>
              <a:t>say 后不直接跟人</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agreed to finish until Friday.</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agreed to finish by Friday.</a:t>
            </a:r>
          </a:p>
          <a:p>
            <a:pPr algn="l">
              <a:spcAft>
                <a:spcPts val="200"/>
              </a:spcAft>
            </a:pPr>
            <a:r>
              <a:rPr sz="1200" b="0">
                <a:solidFill>
                  <a:srgbClr val="FFFFFF"/>
                </a:solidFill>
                <a:latin typeface="Arial"/>
                <a:ea typeface="Microsoft YaHei"/>
              </a:rPr>
              <a:t>截止时间用 by</a:t>
            </a:r>
          </a:p>
        </p:txBody>
      </p:sp>
      <p:sp>
        <p:nvSpPr>
          <p:cNvPr id="15" name="Rounded Rectangle 14"/>
          <p:cNvSpPr/>
          <p:nvPr/>
        </p:nvSpPr>
        <p:spPr>
          <a:xfrm>
            <a:off x="548640" y="3809997"/>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She suggested to postpone.</a:t>
            </a:r>
          </a:p>
        </p:txBody>
      </p:sp>
      <p:sp>
        <p:nvSpPr>
          <p:cNvPr id="16" name="Rounded Rectangle 15"/>
          <p:cNvSpPr/>
          <p:nvPr/>
        </p:nvSpPr>
        <p:spPr>
          <a:xfrm>
            <a:off x="6187287" y="3809997"/>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She suggested postponing. / She suggested that we postpone.</a:t>
            </a:r>
          </a:p>
          <a:p>
            <a:pPr algn="l">
              <a:spcAft>
                <a:spcPts val="200"/>
              </a:spcAft>
            </a:pPr>
            <a:r>
              <a:rPr sz="1200" b="0">
                <a:solidFill>
                  <a:srgbClr val="FFFFFF"/>
                </a:solidFill>
                <a:latin typeface="Arial"/>
                <a:ea typeface="Microsoft YaHei"/>
              </a:rPr>
              <a:t>suggest + -ing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05 Meeting reports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meeting discussed about three topics.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meeting discussed three topics.</a:t>
            </a:r>
          </a:p>
          <a:p>
            <a:pPr algn="l">
              <a:spcAft>
                <a:spcPts val="200"/>
              </a:spcAft>
            </a:pPr>
            <a:r>
              <a:rPr sz="1200" b="0">
                <a:solidFill>
                  <a:srgbClr val="FFFFFF"/>
                </a:solidFill>
                <a:latin typeface="Arial"/>
                <a:ea typeface="Microsoft YaHei"/>
              </a:rPr>
              <a:t>discuss 不加 about</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There is three action points.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There are three action points.</a:t>
            </a:r>
          </a:p>
          <a:p>
            <a:pPr algn="l">
              <a:spcAft>
                <a:spcPts val="200"/>
              </a:spcAft>
            </a:pPr>
            <a:r>
              <a:rPr sz="1200" b="0">
                <a:solidFill>
                  <a:srgbClr val="FFFFFF"/>
                </a:solidFill>
                <a:latin typeface="Arial"/>
                <a:ea typeface="Microsoft YaHei"/>
              </a:rPr>
              <a:t>复数用 are</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report you the result.</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report the result to you. / I’ll let you know the result.</a:t>
            </a:r>
          </a:p>
          <a:p>
            <a:pPr algn="l">
              <a:spcAft>
                <a:spcPts val="200"/>
              </a:spcAft>
            </a:pPr>
            <a:r>
              <a:rPr sz="1200" b="0">
                <a:solidFill>
                  <a:srgbClr val="FFFFFF"/>
                </a:solidFill>
                <a:latin typeface="Arial"/>
                <a:ea typeface="Microsoft YaHei"/>
              </a:rPr>
              <a:t>report sth to sb</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have decided to not launch.</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have decided not to launch.</a:t>
            </a:r>
          </a:p>
          <a:p>
            <a:pPr algn="l">
              <a:spcAft>
                <a:spcPts val="200"/>
              </a:spcAft>
            </a:pPr>
            <a:r>
              <a:rPr sz="1200" b="0">
                <a:solidFill>
                  <a:srgbClr val="FFFFFF"/>
                </a:solidFill>
                <a:latin typeface="Arial"/>
                <a:ea typeface="Microsoft YaHei"/>
              </a:rPr>
              <a:t>not to + 动词原形</a:t>
            </a:r>
          </a:p>
        </p:txBody>
      </p:sp>
      <p:sp>
        <p:nvSpPr>
          <p:cNvPr id="23" name="Rounded Rectangle 2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Mark every by / until, say / tell and discuss in your draft. These three cause most errors in meeting reports.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05 Meeting reports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Recap emails. UK and US teams often send a same-day message: “Hi all, thanks for today. Quick recap:”</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“Minutes” vs “notes”. Minutes are formal (boards, committees). Teams usually write notes or a summary.</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0">
                <a:solidFill>
                  <a:srgbClr val="1F2A44"/>
                </a:solidFill>
                <a:latin typeface="Arial"/>
                <a:ea typeface="Microsoft YaHei"/>
              </a:rPr>
              <a:t>Owner + date. An action without a name and a date is not an action. Always write both.</a:t>
            </a:r>
          </a:p>
        </p:txBody>
      </p:sp>
      <p:sp>
        <p:nvSpPr>
          <p:cNvPr id="18" name="Rounded Rectangle 17"/>
          <p:cNvSpPr/>
          <p:nvPr/>
        </p:nvSpPr>
        <p:spPr>
          <a:xfrm>
            <a:off x="548640" y="353567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3567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35677"/>
            <a:ext cx="10728655" cy="701039"/>
          </a:xfrm>
          <a:prstGeom prst="rect">
            <a:avLst/>
          </a:prstGeom>
          <a:noFill/>
        </p:spPr>
        <p:txBody>
          <a:bodyPr wrap="square" anchor="ctr">
            <a:spAutoFit/>
          </a:bodyPr>
          <a:lstStyle/>
          <a:p>
            <a:r>
              <a:rPr sz="1700" b="1">
                <a:solidFill>
                  <a:srgbClr val="FFC857"/>
                </a:solidFill>
                <a:latin typeface="Arial"/>
                <a:ea typeface="Microsoft YaHei"/>
              </a:rPr>
              <a:t>Invite corrections. End with: </a:t>
            </a:r>
            <a:r>
              <a:rPr sz="1700" b="0">
                <a:solidFill>
                  <a:srgbClr val="1F2A44"/>
                </a:solidFill>
                <a:latin typeface="Arial"/>
                <a:ea typeface="Microsoft YaHei"/>
              </a:rPr>
              <a:t>“Please let me know by Friday if I’ve missed anything.” Silence then counts as agreement.</a:t>
            </a:r>
          </a:p>
        </p:txBody>
      </p:sp>
      <p:sp>
        <p:nvSpPr>
          <p:cNvPr id="21" name="Rounded Rectangle 20"/>
          <p:cNvSpPr/>
          <p:nvPr/>
        </p:nvSpPr>
        <p:spPr>
          <a:xfrm>
            <a:off x="548640" y="432815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32815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328156"/>
            <a:ext cx="10728655" cy="701039"/>
          </a:xfrm>
          <a:prstGeom prst="rect">
            <a:avLst/>
          </a:prstGeom>
          <a:noFill/>
        </p:spPr>
        <p:txBody>
          <a:bodyPr wrap="square" anchor="ctr">
            <a:spAutoFit/>
          </a:bodyPr>
          <a:lstStyle/>
          <a:p>
            <a:r>
              <a:rPr sz="1700" b="0">
                <a:solidFill>
                  <a:srgbClr val="1F2A44"/>
                </a:solidFill>
                <a:latin typeface="Arial"/>
                <a:ea typeface="Microsoft YaHei"/>
              </a:rPr>
              <a:t>Neutral tone. Don’t write who said what unless it matters, and never put personal criticism in the minutes.</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05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05 Meeting reports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a one-minute oral report: purpose, decisions, actions, open points.</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write a five-line meeting summary with owners and deadlines.</a:t>
            </a:r>
          </a:p>
        </p:txBody>
      </p:sp>
      <p:sp>
        <p:nvSpPr>
          <p:cNvPr id="16" name="TextBox 15"/>
          <p:cNvSpPr txBox="1"/>
          <p:nvPr/>
        </p:nvSpPr>
        <p:spPr>
          <a:xfrm>
            <a:off x="9539935" y="24109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313176"/>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313176"/>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313176"/>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It was agreed that…, sign off on, put forward, take the lead on.</a:t>
            </a:r>
          </a:p>
        </p:txBody>
      </p:sp>
      <p:sp>
        <p:nvSpPr>
          <p:cNvPr id="20" name="TextBox 19"/>
          <p:cNvSpPr txBox="1"/>
          <p:nvPr/>
        </p:nvSpPr>
        <p:spPr>
          <a:xfrm>
            <a:off x="9539935" y="3313176"/>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42153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2153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42153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in my own sentences.</a:t>
            </a:r>
          </a:p>
        </p:txBody>
      </p:sp>
      <p:sp>
        <p:nvSpPr>
          <p:cNvPr id="24" name="TextBox 23"/>
          <p:cNvSpPr txBox="1"/>
          <p:nvPr/>
        </p:nvSpPr>
        <p:spPr>
          <a:xfrm>
            <a:off x="9539935" y="42153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812792"/>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812792"/>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812792"/>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minutes (plural), by / until, say / tell correctly.</a:t>
            </a:r>
          </a:p>
        </p:txBody>
      </p:sp>
      <p:sp>
        <p:nvSpPr>
          <p:cNvPr id="28" name="TextBox 27"/>
          <p:cNvSpPr txBox="1"/>
          <p:nvPr/>
        </p:nvSpPr>
        <p:spPr>
          <a:xfrm>
            <a:off x="9539935" y="4812792"/>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 · Lesson 05 Meeting reports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Give your oral report in 60 seconds, then write it as five lines. Record the oral version.</a:t>
            </a:r>
          </a:p>
        </p:txBody>
      </p:sp>
      <p:sp>
        <p:nvSpPr>
          <p:cNvPr id="14" name="Rounded Rectangle 13"/>
          <p:cNvSpPr/>
          <p:nvPr/>
        </p:nvSpPr>
        <p:spPr>
          <a:xfrm>
            <a:off x="548640" y="341071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41071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by / until, say / tell, minutes (plural), no “about” after discuss.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143</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那是另一个问题</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That’s a separate issue.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144</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145</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抱歉插一句…</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Sorry to jump in, but…</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146</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productive</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It was a short but productive meeting.</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147</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148</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149</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小故障</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glitch</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150</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minutes</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Who’s taking the minutes today?</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151</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He didn’t give me many informations.</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He didn’t give me much information.</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“中途退出通话”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drop off</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“抱歉插一句…”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Sorry to jump in, but…</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“摘要”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summary</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It’s out of the scope of this meeting.</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It’s outside the scope of this meeting.</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We will discuss about the budget.</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 will discuss the budget.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153</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154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1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