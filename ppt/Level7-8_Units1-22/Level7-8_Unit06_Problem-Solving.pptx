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6: Problem Solving — Self-Study Workbook (Lessons 24–31)</a:t>
            </a:r>
          </a:p>
          <a:p/>
          <a:p>
            <a:r>
              <a:t>开场：简单介绍本单元的主题和要完成的 8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24 · Problem solving 解决问题</a:t>
            </a:r>
          </a:p>
          <a:p>
            <a:r>
              <a:t>Goal: describe a problem clearly, analyse causes, compare options and recommend a solution in a structured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1、4 题讲过去的事,用过去式(solved, went wrong)。第 3 题用一般现在时。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work problem you solved and how you did it.</a:t>
            </a:r>
          </a:p>
          <a:p>
            <a:r>
              <a:t>Say: the problem → the cause → the options → the solution → the result.</a:t>
            </a:r>
          </a:p>
          <a:p>
            <a:r>
              <a:t>Useful starters: “The problem was that…” / “It was caused by…” / “We considered… but we decided to…” / “As a result, …”</a:t>
            </a:r>
          </a:p>
          <a:p>
            <a:r>
              <a:t>“be caused by” 是被动结构;“result in / lead to” 后接结果。We decided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a key customer complained about late deliveries, the logistics team’s first reaction was to hire more drivers. Their manager, Priya, stopped them. “Before we spend money, let’s understand the problem,” she said. The team collected data for a week. It turned out that only one route was late, and the cause was not the drivers but a loading delay at one warehouse. They considered three options: change the loading schedule, add a second loading team, or move that route to another warehouse. The first was cheapest and fastest, so they tested it for two weeks. Late deliveries on that route fell from 30 to 4 per cent. “If we had hired drivers,” Priya said, “we’d have spent a lot and fixed nothing.”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the team’s first idea?</a:t>
            </a:r>
          </a:p>
          <a:p>
            <a:r>
              <a:t>A: Hire more drivers.</a:t>
            </a:r>
          </a:p>
          <a:p>
            <a:r>
              <a:t>Q2. What was the real cause?</a:t>
            </a:r>
          </a:p>
          <a:p>
            <a:r>
              <a:t>A: A loading delay at one warehouse on one route.</a:t>
            </a:r>
          </a:p>
          <a:p>
            <a:r>
              <a:t>Q3. How did they check their solution?</a:t>
            </a:r>
          </a:p>
          <a:p>
            <a:r>
              <a:t>A: They tested the new loading schedule for two weeks and late deliveries fell from 30 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Defining the problem 界定问题</a:t>
            </a:r>
          </a:p>
          <a:p>
            <a:r>
              <a:t>领读 → 学员跟读 → 请学员用表达造一个和自己工作相关的句子。</a:t>
            </a:r>
          </a:p>
          <a:p>
            <a:r>
              <a:t>issue / problem (noun) 问题 — “We have an issue with the supplier.”</a:t>
            </a:r>
          </a:p>
          <a:p>
            <a:r>
              <a:t>root cause (noun phrase) 根本原因 — “We need to find the root cause.”</a:t>
            </a:r>
          </a:p>
          <a:p>
            <a:r>
              <a:t>The problem is that… (phrase) 问题在于… — “The problem is that nobody owns the process.”</a:t>
            </a:r>
          </a:p>
          <a:p>
            <a:r>
              <a:t>★ get to the bottom of (idiom) 查明真相 — “We need to get to the bottom of this.”</a:t>
            </a:r>
          </a:p>
          <a:p>
            <a:r>
              <a:t>★ be caused by / result from (verb phrase) 由…引起 — “The delay was caused by a loading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Options and decisions 方案与决策</a:t>
            </a:r>
          </a:p>
          <a:p>
            <a:r>
              <a:t>领读 → 学员跟读 → 请学员用表达造一个和自己工作相关的句子。</a:t>
            </a:r>
          </a:p>
          <a:p>
            <a:r>
              <a:t>weigh up the options (collocation) 权衡各方案 — “Let’s weigh up the options before we decide.”</a:t>
            </a:r>
          </a:p>
          <a:p>
            <a:r>
              <a:t>pros and cons (noun) 利弊 — “What are the pros and cons?”</a:t>
            </a:r>
          </a:p>
          <a:p>
            <a:r>
              <a:t>★ a quick fix (noun) 权宜之计 — “That’s only a quick fix, not a solution.”</a:t>
            </a:r>
          </a:p>
          <a:p>
            <a:r>
              <a:t>★ come up with (phrasal verb) 想出 — “We came up with three possible solutions.”</a:t>
            </a:r>
          </a:p>
          <a:p>
            <a:r>
              <a:t>I’d recommend… (phrase) 我建议… — “I’d recommend changing the loading schedule.”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Taking action 采取行动</a:t>
            </a:r>
          </a:p>
          <a:p>
            <a:r>
              <a:t>领读 → 学员跟读 → 请学员用表达造一个和自己工作相关的句子。</a:t>
            </a:r>
          </a:p>
          <a:p>
            <a:r>
              <a:t>implement a solution (collocation) 实施方案 — “We’ll implement the solution next month.”</a:t>
            </a:r>
          </a:p>
          <a:p>
            <a:r>
              <a:t>★ trial run (noun) 试运行 — “Let’s do a two-week trial run.”</a:t>
            </a:r>
          </a:p>
          <a:p>
            <a:r>
              <a:t>★ nip it in the bud (idiom) 防患于未然 — “We should nip it in the bud before it grows.”</a:t>
            </a:r>
          </a:p>
          <a:p>
            <a:r>
              <a:t>monitor (verb) 监测 — “We’ll monitor late deliveries weekly.”</a:t>
            </a:r>
          </a:p>
          <a:p>
            <a:r>
              <a:t>★ work (it) out (phrasal verb) 解决;弄清 — “We’ll work out a solution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issue / root / bottom / weigh / fix / monitor</a:t>
            </a:r>
          </a:p>
          <a:p>
            <a:r>
              <a:t>1. We have an _______ with the supplier. → issue</a:t>
            </a:r>
          </a:p>
          <a:p>
            <a:r>
              <a:t>2. We need to find the _______ cause. → root</a:t>
            </a:r>
          </a:p>
          <a:p>
            <a:r>
              <a:t>3. We need to get to the _______ of this. → bottom</a:t>
            </a:r>
          </a:p>
          <a:p>
            <a:r>
              <a:t>4. Let’s _______ up the options before we decide. → weigh</a:t>
            </a:r>
          </a:p>
          <a:p>
            <a:r>
              <a:t>5. That’s only a quick _______, not a solution. → fix</a:t>
            </a:r>
          </a:p>
          <a:p>
            <a:r>
              <a:t>6. We’ll _______ late deliveries weekly. → monitor</a:t>
            </a:r>
          </a:p>
          <a:p>
            <a:r>
              <a:t>Mistake Watch: (搭配) solve a problem / deal with an issue / come up with a solution (not “make a solution”); spelling: solution, problem, monitor.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 problem with a proposal 带着方案汇报问题</a:t>
            </a:r>
          </a:p>
          <a:p>
            <a:r>
              <a:t>情景：You tell your manager about a problem and suggest what to do.</a:t>
            </a:r>
          </a:p>
          <a:p>
            <a:r>
              <a:t>Role A: Priya Rao, manager Role B: Tom Wu,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(Priya): Tom, you wanted to talk about the deliveries?</a:t>
            </a:r>
          </a:p>
          <a:p>
            <a:r>
              <a:t>B (Tom): Yes. The problem is that one route is late almost every day.</a:t>
            </a:r>
          </a:p>
          <a:p>
            <a:r>
              <a:t>A: Do we know why?</a:t>
            </a:r>
          </a:p>
          <a:p>
            <a:r>
              <a:t>B: It seems to be caused by a loading delay at the north warehouse, not by the drivers.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options do we have?</a:t>
            </a:r>
          </a:p>
          <a:p>
            <a:r>
              <a:t>B: We could change the loading schedule, add a second loading team, or move the route. I’d recommend the first, because it’s cheapest.</a:t>
            </a:r>
          </a:p>
          <a:p>
            <a:r>
              <a:t>A: Sensible. Can we try it as a two-week trial run?</a:t>
            </a:r>
          </a:p>
          <a:p>
            <a:r>
              <a:t>B: Yes, and I’ll monitor the results weekly.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report a problem with a possible solution.</a:t>
            </a:r>
          </a:p>
          <a:p>
            <a:r>
              <a:t>Your role (B) | Team member. Your problem: ______________</a:t>
            </a:r>
          </a:p>
          <a:p>
            <a:r>
              <a:t>Partner’s role (A) | Manager who asks questions.</a:t>
            </a:r>
          </a:p>
          <a:p>
            <a:r>
              <a:t>Must use (4 or more) | The problem is that… · It seems to be caused by… · We could… · I’d recommend… · trial run</a:t>
            </a:r>
          </a:p>
          <a:p>
            <a:r>
              <a:t>Goal | State the problem, cause, three options and one recommendation.</a:t>
            </a:r>
          </a:p>
          <a:p>
            <a:r>
              <a:t>My notes | ____________________________________________</a:t>
            </a:r>
          </a:p>
          <a:p>
            <a:r>
              <a:t>The manager says “Why wasn’t this solved earlier?” Stay calm and factual.</a:t>
            </a:r>
          </a:p>
          <a:p>
            <a:r>
              <a:t>Add a deadline: “I’ll report back on Friday.”</a:t>
            </a:r>
          </a:p>
          <a:p>
            <a:r>
              <a:t>Mention a risk of your option.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team brainstorm 团队头脑风暴</a:t>
            </a:r>
          </a:p>
          <a:p>
            <a:r>
              <a:t>情景：Your team chooses among three options.</a:t>
            </a:r>
          </a:p>
          <a:p>
            <a:r>
              <a:t>Role A: Facilitator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(Facilitator): Let’s weigh up the three options. What are the pros and cons of option one?</a:t>
            </a:r>
          </a:p>
          <a:p>
            <a:r>
              <a:t>B: The pro is that it’s cheap and quick. The con is that it may only be a quick fix.</a:t>
            </a:r>
          </a:p>
          <a:p>
            <a:r>
              <a:t>A: And option two?</a:t>
            </a:r>
          </a:p>
          <a:p>
            <a:r>
              <a:t>B: It would solve the cause, but we’d need new staff, which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about option three?</a:t>
            </a:r>
          </a:p>
          <a:p>
            <a:r>
              <a:t>B: It’s risky. We’ve never moved a route before.</a:t>
            </a:r>
          </a:p>
          <a:p>
            <a:r>
              <a:t>A: So which do you prefer?</a:t>
            </a:r>
          </a:p>
          <a:p>
            <a:r>
              <a:t>B: I’d start with option one, then review in a month and decide about option two.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compare options in a meeting.</a:t>
            </a:r>
          </a:p>
          <a:p>
            <a:r>
              <a:t>Your role (A) | Facilitator. Problem: ______________</a:t>
            </a:r>
          </a:p>
          <a:p>
            <a:r>
              <a:t>Partner’s role (B) | Team member.</a:t>
            </a:r>
          </a:p>
          <a:p>
            <a:r>
              <a:t>Must use (3 or more) | pros and cons · weigh up · quick fix · I’d start with… · review</a:t>
            </a:r>
          </a:p>
          <a:p>
            <a:r>
              <a:t>Goal | Compare three options and agree a plan.</a:t>
            </a:r>
          </a:p>
          <a:p>
            <a:r>
              <a:t>My notes | ____________________________________________</a:t>
            </a:r>
          </a:p>
          <a:p>
            <a:r>
              <a:t>Use a table with criteria: cost, speed, risk.</a:t>
            </a:r>
          </a:p>
          <a:p>
            <a:r>
              <a:t>Vote and give one reason.</a:t>
            </a:r>
          </a:p>
          <a:p>
            <a:r>
              <a:t>Summarise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first step in solving a problem? | “I think it’s…” / “Before anything, I’d…”</a:t>
            </a:r>
          </a:p>
          <a:p>
            <a:r>
              <a:t>2. Why do quick fixes often fail? | “They fix the symptom, not…” / “Because…”</a:t>
            </a:r>
          </a:p>
          <a:p>
            <a:r>
              <a:t>3. How do you choose between several solutions? | “I compare them by…” / “The key criteria are…”</a:t>
            </a:r>
          </a:p>
          <a:p>
            <a:r>
              <a:t>4. Who should be involved in problem-solving? | “The people who…” / “Include someone who…”</a:t>
            </a:r>
          </a:p>
          <a:p>
            <a:r>
              <a:t>5. What problem at your work needs solving now? | “One problem is… because…”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quick fix treats the symptom, not the cause. For example, if a report is always late, working extra hours might help once, but the real cause may be missing data. So the problem comes back. I prefer to spend a day finding the root cause. It feels slow, but it saves a lot of time later.”</a:t>
            </a:r>
          </a:p>
          <a:p>
            <a:r>
              <a:t>“treat the symptom” = 治标;“the problem comes back” = 问题会再次出现;“It feels slow, but…” 对比让步。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effect language 因果表达</a:t>
            </a:r>
          </a:p>
          <a:p>
            <a:r>
              <a:t>Cause → effect | Example</a:t>
            </a:r>
          </a:p>
          <a:p>
            <a:r>
              <a:t>because of / due to + noun | Because of a loading delay, the route was late.</a:t>
            </a:r>
          </a:p>
          <a:p>
            <a:r>
              <a:t>because / as / since + clause | The route was late because the loading was slow.</a:t>
            </a:r>
          </a:p>
          <a:p>
            <a:r>
              <a:t>lead to / result in + noun | Slow loading led to late deliveries.</a:t>
            </a:r>
          </a:p>
          <a:p>
            <a:r>
              <a:t>so / therefore / as a result | Loading was slow. As a result, deliveries were late.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effect language 因果表达</a:t>
            </a:r>
          </a:p>
          <a:p>
            <a:r>
              <a:t>Due to and because of are followed by a noun; because by a full clause.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Because the delay, we lost the client.  →  ✓ Because of the delay, we lost the client.  (because of + 名词)</a:t>
            </a:r>
          </a:p>
          <a:p>
            <a:r>
              <a:t>✗ The problem is solve.  →  ✓ The problem is solved.  (被动)</a:t>
            </a:r>
          </a:p>
          <a:p>
            <a:r>
              <a:t>✗ We made a solution.  →  ✓ We came up with a solution.  (搭配)</a:t>
            </a:r>
          </a:p>
          <a:p>
            <a:r>
              <a:t>Mistake Watch: Check because of + noun, the reason is that, and the passive was caused by.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suggest to change the plan.  →  ✓ I suggest changing the plan.  (suggest + -ing)</a:t>
            </a:r>
          </a:p>
          <a:p>
            <a:r>
              <a:t>✗ The reason is because we had no data.  →  ✓ The reason is that we had no data.  (reason is that)</a:t>
            </a:r>
          </a:p>
          <a:p>
            <a:r>
              <a:t>✗ It caused by a bug.  →  ✓ It was caused by a bug.  (be caused by)</a:t>
            </a:r>
          </a:p>
          <a:p>
            <a:r>
              <a:t>Mistake Watch: Check because of + noun, the reason is that, and the passive was caused by.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Bring options, not only problems. UK/US managers appreciate “Here’s the issue and what I suggest”.</a:t>
            </a:r>
          </a:p>
          <a:p>
            <a:r>
              <a:t>Blame-free language. “The process failed” is better than “John failed”.</a:t>
            </a:r>
          </a:p>
          <a:p>
            <a:r>
              <a:t>Use data. “Late deliveries rose from 5 to 30 per cent” is stronger than “many”.</a:t>
            </a:r>
          </a:p>
          <a:p>
            <a:r>
              <a:t>Test small. A trial run is more acceptable than a big change.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problem with The problem is that… and name its root cause.</a:t>
            </a:r>
          </a:p>
          <a:p>
            <a:r>
              <a:t>I can compare options with pros and cons.</a:t>
            </a:r>
          </a:p>
          <a:p>
            <a:r>
              <a:t>I can recommend a solution with I’d recommend…</a:t>
            </a:r>
          </a:p>
          <a:p>
            <a:r>
              <a:t>I use because of / because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real problem and your recommendation in 90 seconds. Record it.</a:t>
            </a:r>
          </a:p>
          <a:p>
            <a:r>
              <a:t>8–10 | Listen to your recording. Check: because of vs because, the reason is that, passive causes.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25 · Problem solving with 5 Whys “5 个为什么”解决问题</a:t>
            </a:r>
          </a:p>
          <a:p>
            <a:r>
              <a:t>Goal: use the 5 Whys technique to find the root cause of a problem and explain your analysis and action plan.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“have you ever solved” 用现在完成时;第 4 题用过去式。“blame” = 责备,指责。</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the 5 Whys technique works using a simple example.</a:t>
            </a:r>
          </a:p>
          <a:p>
            <a:r>
              <a:t>Say: the problem → why 1 → why 2 → … → the root cause and the fix.</a:t>
            </a:r>
          </a:p>
          <a:p>
            <a:r>
              <a:t>Useful starters: “The problem was that…” / “Why? Because…” / “So the root cause is…” / “To prevent this, we’ll…”</a:t>
            </a:r>
          </a:p>
          <a:p>
            <a:r>
              <a:t>5 Whys 是连续追问”为什么”。“To prevent this, we’ll + 动词原形” 说明纠正措施。</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factory manager asked why a machine had stopped. Because a fuse blew. Why? Because the motor was overloaded. Why? Because the bearings were dry. Why? Because the oil pump was worn. Why? Because nobody had cleaned its filter, and there was no maintenance schedule. The fifth answer showed the real issue: no schedule. If they had just replaced the fuse, the machine would have stopped again within weeks. Instead, they created a weekly check list and gave one person responsibility. The technique, developed in car manufacturing, works best when people ask questions about the process, not the person. Its main risk is stopping too early. “Five is a guide, not a rule,” the manager says. “Keep asking until the answer is something you can change.”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the first reason for the machine stopping?</a:t>
            </a:r>
          </a:p>
          <a:p>
            <a:r>
              <a:t>A: A fuse blew.</a:t>
            </a:r>
          </a:p>
          <a:p>
            <a:r>
              <a:t>Q2. What was the real root cause?</a:t>
            </a:r>
          </a:p>
          <a:p>
            <a:r>
              <a:t>A: No maintenance schedule (nobody cleaned the filter).</a:t>
            </a:r>
          </a:p>
          <a:p>
            <a:r>
              <a:t>Q3. When should you stop asking “why”?</a:t>
            </a:r>
          </a:p>
          <a:p>
            <a:r>
              <a:t>A: When the answer is something you can change.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Asking why 追问原因</a:t>
            </a:r>
          </a:p>
          <a:p>
            <a:r>
              <a:t>领读 → 学员跟读 → 请学员用表达造一个和自己工作相关的句子。</a:t>
            </a:r>
          </a:p>
          <a:p>
            <a:r>
              <a:t>root cause analysis (noun) 根本原因分析 — “We did a root cause analysis after the failure.”</a:t>
            </a:r>
          </a:p>
          <a:p>
            <a:r>
              <a:t>dig deeper (collocation) 深挖 — “Let’s dig deeper. Why did that happen?”</a:t>
            </a:r>
          </a:p>
          <a:p>
            <a:r>
              <a:t>The real reason is… (phrase) 真正的原因是… — “The real reason is that nobody checked the filter.”</a:t>
            </a:r>
          </a:p>
          <a:p>
            <a:r>
              <a:t>★ symptom (noun) 症状(表象) — “Late delivery is a symptom, not the cause.”</a:t>
            </a:r>
          </a:p>
          <a:p>
            <a:r>
              <a:t>★ peel back the layers (idiom) 层层剥开 — “We peeled back the layers until we found the cause.”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the chain 描述因果链</a:t>
            </a:r>
          </a:p>
          <a:p>
            <a:r>
              <a:t>领读 → 学员跟读 → 请学员用表达造一个和自己工作相关的句子。</a:t>
            </a:r>
          </a:p>
          <a:p>
            <a:r>
              <a:t>which led to… (phrase) 这导致… — “A late supplier led to a delay, which led to a complaint.”</a:t>
            </a:r>
          </a:p>
          <a:p>
            <a:r>
              <a:t>as a result (phrase) 结果是… — “As a result, the line stopped.”</a:t>
            </a:r>
          </a:p>
          <a:p>
            <a:r>
              <a:t>★ trace (something) back to (phrasal verb) 追溯到 — “We traced the error back to a wrong code.”</a:t>
            </a:r>
          </a:p>
          <a:p>
            <a:r>
              <a:t>★ knock-on effect (noun) 连锁反应 — “The delay had a knock-on effect on other orders.”</a:t>
            </a:r>
          </a:p>
          <a:p>
            <a:r>
              <a:t>★ contributing factor (noun phrase) 促成因素 — “Stress was a contributing factor.”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Fixing 纠正措施</a:t>
            </a:r>
          </a:p>
          <a:p>
            <a:r>
              <a:t>领读 → 学员跟读 → 请学员用表达造一个和自己工作相关的句子。</a:t>
            </a:r>
          </a:p>
          <a:p>
            <a:r>
              <a:t>corrective action (noun) 纠正措施 — “The corrective action is a weekly check.”</a:t>
            </a:r>
          </a:p>
          <a:p>
            <a:r>
              <a:t>prevent… from happening again (phrase) 防止再次发生 — “We want to prevent it from happening again.”</a:t>
            </a:r>
          </a:p>
          <a:p>
            <a:r>
              <a:t>★ put a process in place (collocation) 建立流程 — “We put a new process in place.”</a:t>
            </a:r>
          </a:p>
          <a:p>
            <a:r>
              <a:t>★ take ownership of (collocation) 主动负责 — “Who will take ownership of this?”</a:t>
            </a:r>
          </a:p>
          <a:p>
            <a:r>
              <a:t>follow-up (noun) 后续跟进 — “We’ll hold a follow-up in a month.”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analysis / deeper / symptom / led / ownership / prevent</a:t>
            </a:r>
          </a:p>
          <a:p>
            <a:r>
              <a:t>1. We did a root cause _______ after the failure. → analysis</a:t>
            </a:r>
          </a:p>
          <a:p>
            <a:r>
              <a:t>2. Let’s dig _______. Why did that happen? → deeper</a:t>
            </a:r>
          </a:p>
          <a:p>
            <a:r>
              <a:t>3. Late delivery is a _______, not the cause. → symptom</a:t>
            </a:r>
          </a:p>
          <a:p>
            <a:r>
              <a:t>4. A late supplier _______ to a delay. → led</a:t>
            </a:r>
          </a:p>
          <a:p>
            <a:r>
              <a:t>5. Who will take _______ of this? → ownership</a:t>
            </a:r>
          </a:p>
          <a:p>
            <a:r>
              <a:t>6. We want to _______ it from happening again. → prevent</a:t>
            </a:r>
          </a:p>
          <a:p>
            <a:r>
              <a:t>Mistake Watch: (搭配与拼写) lead TO, result IN, result FROM; spelling: analysis (plural analyses), symptom, ownership.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Facilitating a 5 Whys session 主持”5个为什么”分析</a:t>
            </a:r>
          </a:p>
          <a:p>
            <a:r>
              <a:t>情景：A delivery error happened. You lead the analysis.</a:t>
            </a:r>
          </a:p>
          <a:p>
            <a:r>
              <a:t>Role A: Marta, facilitator Role B: Chen, warehouse supervisor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(Marta): The order went to the wrong address. Why did that happen?</a:t>
            </a:r>
          </a:p>
          <a:p>
            <a:r>
              <a:t>B (Chen): Because the label had the wrong address.</a:t>
            </a:r>
          </a:p>
          <a:p>
            <a:r>
              <a:t>A: Why was the label wrong?</a:t>
            </a:r>
          </a:p>
          <a:p>
            <a:r>
              <a:t>B: Because the system used an old customer record.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was the record old?</a:t>
            </a:r>
          </a:p>
          <a:p>
            <a:r>
              <a:t>B: Because nobody updated it after the customer moved.</a:t>
            </a:r>
          </a:p>
          <a:p>
            <a:r>
              <a:t>A: Why not?</a:t>
            </a:r>
          </a:p>
          <a:p>
            <a:r>
              <a:t>B: There’s no process for updating it. So the root cause is the missing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lead a 5 Whys analysis.</a:t>
            </a:r>
          </a:p>
          <a:p>
            <a:r>
              <a:t>Your role (A) | Facilitator. Problem: ______________</a:t>
            </a:r>
          </a:p>
          <a:p>
            <a:r>
              <a:t>Partner’s role (B) | Person closest to the problem.</a:t>
            </a:r>
          </a:p>
          <a:p>
            <a:r>
              <a:t>Must use (3 or more) | Why did that happen? · Because… · root cause · symptom · corrective action</a:t>
            </a:r>
          </a:p>
          <a:p>
            <a:r>
              <a:t>Goal | Ask five “why” questions and state the root cause.</a:t>
            </a:r>
          </a:p>
          <a:p>
            <a:r>
              <a:t>My notes | ____________________________________________</a:t>
            </a:r>
          </a:p>
          <a:p>
            <a:r>
              <a:t>Avoid blame: “Let’s focus on the process.”</a:t>
            </a:r>
          </a:p>
          <a:p>
            <a:r>
              <a:t>Stop when the answer is actionable.</a:t>
            </a:r>
          </a:p>
          <a:p>
            <a:r>
              <a:t>Assign an owner and a date.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the root cause 汇报根本原因</a:t>
            </a:r>
          </a:p>
          <a:p>
            <a:r>
              <a:t>情景：You present the analysis and action plan to your manager.</a:t>
            </a:r>
          </a:p>
          <a:p>
            <a:r>
              <a:t>Role A: Marta, analyst Role B: Mr Hale,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(Marta): We traced the wrong delivery back to an outdated customer record.</a:t>
            </a:r>
          </a:p>
          <a:p>
            <a:r>
              <a:t>B (Mr Hale): And the root cause?</a:t>
            </a:r>
          </a:p>
          <a:p>
            <a:r>
              <a:t>A: There was no process for updating addresses. The error was just a symptom.</a:t>
            </a:r>
          </a:p>
          <a:p>
            <a:r>
              <a:t>B: What do you propose?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Corrective action: a weekly address check, owned by customer service. We’ll monitor errors for a month.</a:t>
            </a:r>
          </a:p>
          <a:p>
            <a:r>
              <a:t>B: How will you know it works?</a:t>
            </a:r>
          </a:p>
          <a:p>
            <a:r>
              <a:t>A: Wrong-address errors should fall below one per cent.</a:t>
            </a:r>
          </a:p>
          <a:p>
            <a:r>
              <a:t>B: Good. Please send me a short report.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report a root cause and corrective actions.</a:t>
            </a:r>
          </a:p>
          <a:p>
            <a:r>
              <a:t>Your role (A) | Analyst. Problem: ______________</a:t>
            </a:r>
          </a:p>
          <a:p>
            <a:r>
              <a:t>Partner’s role (B) | Manager.</a:t>
            </a:r>
          </a:p>
          <a:p>
            <a:r>
              <a:t>Must use (3 or more) | We traced it back to… · The root cause is… · corrective action · prevent… from happening again · monitor</a:t>
            </a:r>
          </a:p>
          <a:p>
            <a:r>
              <a:t>Goal | Report problem, cause, action and measure of success.</a:t>
            </a:r>
          </a:p>
          <a:p>
            <a:r>
              <a:t>My notes | ____________________________________________</a:t>
            </a:r>
          </a:p>
          <a:p>
            <a:r>
              <a:t>Mention a knock-on effect.</a:t>
            </a:r>
          </a:p>
          <a:p>
            <a:r>
              <a:t>Give the cost of doing nothing.</a:t>
            </a:r>
          </a:p>
          <a:p>
            <a:r>
              <a:t>Offer a follow-up date.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always possible to find a single root cause? | “Often there are several…” / “It depends on…”</a:t>
            </a:r>
          </a:p>
          <a:p>
            <a:r>
              <a:t>2. How do you avoid blaming people? | “I focus on…” / “I ask ‘what’ and ‘how’ not ‘who’.”</a:t>
            </a:r>
          </a:p>
          <a:p>
            <a:r>
              <a:t>3. Where could you use 5 Whys in your job? | “I could use it for… because…”</a:t>
            </a:r>
          </a:p>
          <a:p>
            <a:r>
              <a:t>4. Why do problems come back? | “Because the symptom was fixed, not…”</a:t>
            </a:r>
          </a:p>
          <a:p>
            <a:r>
              <a:t>5. Is it ever too late for a root cause analysis? | “No, because…” / “Sometimes it costs more than…”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could use it for customer complaints. Usually we apologise and give a refund, but the same complaint comes back. If we asked why five times, we might find a problem in packing or in the product description. Then we could fix it once instead of apologising repeatedly. It would save money and keep customers happier.”</a:t>
            </a:r>
          </a:p>
          <a:p>
            <a:r>
              <a:t>“instead of + -ing” 而不是;“We might find…” 用 might 表示可能性。</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Chains of reasons 因果链句型</a:t>
            </a:r>
          </a:p>
          <a:p>
            <a:r>
              <a:t>Pattern | Example</a:t>
            </a:r>
          </a:p>
          <a:p>
            <a:r>
              <a:t>Why…? Because… | Why did it stop? Because a fuse blew.</a:t>
            </a:r>
          </a:p>
          <a:p>
            <a:r>
              <a:t>which led to | A late supplier led to a delay, which led to a complaint.</a:t>
            </a:r>
          </a:p>
          <a:p>
            <a:r>
              <a:t>so | There was no schedule, so nobody cleaned the filter.</a:t>
            </a:r>
          </a:p>
          <a:p>
            <a:r>
              <a:t>The root cause is that… | The root cause is that there was no schedule.</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Chains of reasons 因果链句型</a:t>
            </a:r>
          </a:p>
          <a:p>
            <a:r>
              <a:t>Use the past simple for what happened and present simple for the root cause statement (“The root cause is…”).</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Why did it happened?  →  ✓ Why did it happen?  (did + 动词原形)</a:t>
            </a:r>
          </a:p>
          <a:p>
            <a:r>
              <a:t>✗ The cause of this problem is because…  →  ✓ The cause of this problem is that…  (cause is that)</a:t>
            </a:r>
          </a:p>
          <a:p>
            <a:r>
              <a:t>✗ We should find out who is wrong.  →  ✓ We should find out what went wrong.  (避免追究个人)</a:t>
            </a:r>
          </a:p>
          <a:p>
            <a:r>
              <a:t>Mistake Watch: Check three structures: did + base verb, lead to, prevent… from + -ing.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has led for a delay.  →  ✓ It has led to a delay.  (lead to)</a:t>
            </a:r>
          </a:p>
          <a:p>
            <a:r>
              <a:t>✗ The root cause is not clear for me.  →  ✓ The root cause is not clear to me.  (clear to me)</a:t>
            </a:r>
          </a:p>
          <a:p>
            <a:r>
              <a:t>✗ We prevented it to happen.  →  ✓ We prevented it from happening.  (prevent… from -ing)</a:t>
            </a:r>
          </a:p>
          <a:p>
            <a:r>
              <a:t>Mistake Watch: Check three structures: did + base verb, lead to, prevent… from + -ing.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“Blameless” culture. Many tech and manufacturing companies review failures without blaming individuals.</a:t>
            </a:r>
          </a:p>
          <a:p>
            <a:r>
              <a:t>Ask “why” gently. “Why” can sound critical. Say “Can you help me understand how this happened?”</a:t>
            </a:r>
          </a:p>
          <a:p>
            <a:r>
              <a:t>Use evidence. Don’t guess. Check data or logs.</a:t>
            </a:r>
          </a:p>
          <a:p>
            <a:r>
              <a:t>Share lessons. Write a one-page summary others can learn from.</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“why” five times to reach a root cause.</a:t>
            </a:r>
          </a:p>
          <a:p>
            <a:r>
              <a:t>I can describe a chain of causes using which led to… and as a result.</a:t>
            </a:r>
          </a:p>
          <a:p>
            <a:r>
              <a:t>I can propose corrective action and a way to check it.</a:t>
            </a:r>
          </a:p>
          <a:p>
            <a:r>
              <a:t>I use lead to, prevent… from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Run a 5 Whys on a small problem from your week. Say it aloud and record it.</a:t>
            </a:r>
          </a:p>
          <a:p>
            <a:r>
              <a:t>8–10 | Listen to your recording. Check: did + base verb, lead to, cause is that, prevent from -ing.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26 · Querying figures 质疑数据</a:t>
            </a:r>
          </a:p>
          <a:p>
            <a:r>
              <a:t>Goal: politely question numbers in reports, ask for clarification and explain or correct a figure.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“Have you ever found…” 现在完成时问经历。“query” 作动词 = 质疑/询问。</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time you questioned a number and what happened.</a:t>
            </a:r>
          </a:p>
          <a:p>
            <a:r>
              <a:t>Say: the figure → what looked wrong → how you asked → the answer.</a:t>
            </a:r>
          </a:p>
          <a:p>
            <a:r>
              <a:t>Useful starters: “I noticed that…” / “Could you double-check…?” / “It turned out that…” / “Thanks for catching that.”</a:t>
            </a:r>
          </a:p>
          <a:p>
            <a:r>
              <a:t>“double-check” 再次核对;“It turned out that…” 结果发现…</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Daniel was reading the sales report before a board meeting when something looked odd. The report said revenue in the southern region had grown 300 per cent. That seemed too good to be true. Instead of saying “this is wrong,” he sent a message to the analyst: “Hi Lena, quick question about slide four. I might be misreading it, but could you double-check the southern figure? It doesn’t seem to match last month’s trend.” Lena replied within the hour. A currency conversion had been applied twice. The real growth was 30 per cent. “Thanks for flagging it,” she wrote, “I’ll correct it and update the deck.” Daniel said later that a polite question saved the team from an embarrassing moment in front of the board. He added: “Always check, but never accuse.”</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looked wrong to Daniel?</a:t>
            </a:r>
          </a:p>
          <a:p>
            <a:r>
              <a:t>A: Southern revenue growth of 300 per cent.</a:t>
            </a:r>
          </a:p>
          <a:p>
            <a:r>
              <a:t>Q2. How did he phrase his question?</a:t>
            </a:r>
          </a:p>
          <a:p>
            <a:r>
              <a:t>A: Politely: “I might be misreading it, but could you double-check…?”</a:t>
            </a:r>
          </a:p>
          <a:p>
            <a:r>
              <a:t>Q3. What was the real cause of the error?</a:t>
            </a:r>
          </a:p>
          <a:p>
            <a:r>
              <a:t>A: A currency conversion had been applied twice (real growth 30 per cent).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Querying 质疑与提问</a:t>
            </a:r>
          </a:p>
          <a:p>
            <a:r>
              <a:t>领读 → 学员跟读 → 请学员用表达造一个和自己工作相关的句子。</a:t>
            </a:r>
          </a:p>
          <a:p>
            <a:r>
              <a:t>query a figure (collocation) 质疑某个数字 — “I’d like to query a figure on slide four.”</a:t>
            </a:r>
          </a:p>
          <a:p>
            <a:r>
              <a:t>double-check (verb) 再次核对 — “Could you double-check this number?”</a:t>
            </a:r>
          </a:p>
          <a:p>
            <a:r>
              <a:t>Does that figure include…? (phrase) 这个数字是否包含…? — “Does that figure include tax?”</a:t>
            </a:r>
          </a:p>
          <a:p>
            <a:r>
              <a:t>★ doesn’t add up (idiom) 对不上 — “These numbers don’t add up.”</a:t>
            </a:r>
          </a:p>
          <a:p>
            <a:r>
              <a:t>★ seem off / look off (collocation) 看起来不对 — “The total seems a bit off.”</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figures 描述数字</a:t>
            </a:r>
          </a:p>
          <a:p>
            <a:r>
              <a:t>领读 → 学员跟读 → 请学员用表达造一个和自己工作相关的句子。</a:t>
            </a:r>
          </a:p>
          <a:p>
            <a:r>
              <a:t>break down (phrasal verb) 细分 — “Can you break down the costs?”</a:t>
            </a:r>
          </a:p>
          <a:p>
            <a:r>
              <a:t>year-on-year (adjective) 同比 — “Sales rose 8 per cent year-on-year.”</a:t>
            </a:r>
          </a:p>
          <a:p>
            <a:r>
              <a:t>roughly / approximately (adverb) 大约 — “Roughly 40 per cent of customers renew.”</a:t>
            </a:r>
          </a:p>
          <a:p>
            <a:r>
              <a:t>★ ballpark figure (noun) 大概数字 — “Give me a ballpark figure.”</a:t>
            </a:r>
          </a:p>
          <a:p>
            <a:r>
              <a:t>★ margin of error (noun) 误差范围 — “There’s a margin of error of two per cent.”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Correcting 更正</a:t>
            </a:r>
          </a:p>
          <a:p>
            <a:r>
              <a:t>领读 → 学员跟读 → 请学员用表达造一个和自己工作相关的句子。</a:t>
            </a:r>
          </a:p>
          <a:p>
            <a:r>
              <a:t>be out by (phrase) 相差 — “The total is out by 5,000.”</a:t>
            </a:r>
          </a:p>
          <a:p>
            <a:r>
              <a:t>★ discrepancy (noun) 差异 — “There is a discrepancy between the two reports.”</a:t>
            </a:r>
          </a:p>
          <a:p>
            <a:r>
              <a:t>reconcile (verb) 核对一致 — “We need to reconcile the two sets of data.”</a:t>
            </a:r>
          </a:p>
          <a:p>
            <a:r>
              <a:t>★ flag (up) (verb) 提示(问题) — “Thanks for flagging that.”</a:t>
            </a:r>
          </a:p>
          <a:p>
            <a:r>
              <a:t>update / correct (verb) 更新/更正 — “I’ll correct it and update the deck.”</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query / double-check / add / breakdown / discrepancy / flagging</a:t>
            </a:r>
          </a:p>
          <a:p>
            <a:r>
              <a:t>1. I’d like to _______ a figure on slide four. → query</a:t>
            </a:r>
          </a:p>
          <a:p>
            <a:r>
              <a:t>2. Could you _______ this number? → double-check</a:t>
            </a:r>
          </a:p>
          <a:p>
            <a:r>
              <a:t>3. These numbers don’t _______ up. → add</a:t>
            </a:r>
          </a:p>
          <a:p>
            <a:r>
              <a:t>4. Could you give me a _______ of the costs? → breakdown</a:t>
            </a:r>
          </a:p>
          <a:p>
            <a:r>
              <a:t>5. There is a _______ between the two reports. → discrepancy</a:t>
            </a:r>
          </a:p>
          <a:p>
            <a:r>
              <a:t>6. Thanks for _______ that. → flagging</a:t>
            </a:r>
          </a:p>
          <a:p>
            <a:r>
              <a:t>Mistake Watch: (词形) 名词 breakdown 一个词,动词 break down 两个词。discrepancy 拼写易错。</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Querying a number in a report 质疑报告数字</a:t>
            </a:r>
          </a:p>
          <a:p>
            <a:r>
              <a:t>情景：A colleague presents a figure that looks wrong.</a:t>
            </a:r>
          </a:p>
          <a:p>
            <a:r>
              <a:t>Role A: Daniel, reader Role B: Lena, analyst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(Daniel): Hi Lena, quick question about slide four. Could you double-check the southern figure?</a:t>
            </a:r>
          </a:p>
          <a:p>
            <a:r>
              <a:t>B (Lena): Sure. What looks off?</a:t>
            </a:r>
          </a:p>
          <a:p>
            <a:r>
              <a:t>A: It says 300 per cent growth, which doesn’t match last month’s trend.</a:t>
            </a:r>
          </a:p>
          <a:p>
            <a:r>
              <a:t>B: Hmm. Let me look. Oh, a currency conversion was applied twice.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what’s the correct figure?</a:t>
            </a:r>
          </a:p>
          <a:p>
            <a:r>
              <a:t>B: Roughly 30 per cent. I’ll correct it today.</a:t>
            </a:r>
          </a:p>
          <a:p>
            <a:r>
              <a:t>A: Thanks. Could you send me the updated deck before the meeting?</a:t>
            </a:r>
          </a:p>
          <a:p>
            <a:r>
              <a:t>B: Of course. Thanks for flagging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query a figure politely.</a:t>
            </a:r>
          </a:p>
          <a:p>
            <a:r>
              <a:t>Your role (A) | Reader. Figure: ______________</a:t>
            </a:r>
          </a:p>
          <a:p>
            <a:r>
              <a:t>Partner’s role (B) | Analyst.</a:t>
            </a:r>
          </a:p>
          <a:p>
            <a:r>
              <a:t>Must use (3 or more) | Could you double-check…? · doesn’t add up · seems off · Thanks for flagging that · discrepancy</a:t>
            </a:r>
          </a:p>
          <a:p>
            <a:r>
              <a:t>Goal | Ask about the figure, get an explanation and agree on a correction.</a:t>
            </a:r>
          </a:p>
          <a:p>
            <a:r>
              <a:t>My notes | ____________________________________________</a:t>
            </a:r>
          </a:p>
          <a:p>
            <a:r>
              <a:t>Soften: “I might be misreading this, but…”</a:t>
            </a:r>
          </a:p>
          <a:p>
            <a:r>
              <a:t>Ask for the source of the data.</a:t>
            </a:r>
          </a:p>
          <a:p>
            <a:r>
              <a:t>Query a number in a live meeting.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discrepancy 解释数据差异</a:t>
            </a:r>
          </a:p>
          <a:p>
            <a:r>
              <a:t>情景：A manager asks you why two reports disagree.</a:t>
            </a:r>
          </a:p>
          <a:p>
            <a:r>
              <a:t>Role A: Manager Role B: Analyst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There’s a discrepancy between the sales and finance reports. Can you explain?</a:t>
            </a:r>
          </a:p>
          <a:p>
            <a:r>
              <a:t>B: Yes. Sales counts orders when they are placed. Finance counts them when payment arrives.</a:t>
            </a:r>
          </a:p>
          <a:p>
            <a:r>
              <a:t>A: So how big is the gap?</a:t>
            </a:r>
          </a:p>
          <a:p>
            <a:r>
              <a:t>B: It’s out by about 12,000, mostly from late payments.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we reconcile the two?</a:t>
            </a:r>
          </a:p>
          <a:p>
            <a:r>
              <a:t>B: Yes. I’ll add a line showing pending payments.</a:t>
            </a:r>
          </a:p>
          <a:p>
            <a:r>
              <a:t>A: Good. And give me a ballpark figure for next quarter.</a:t>
            </a:r>
          </a:p>
          <a:p>
            <a:r>
              <a:t>B: Roughly 10,000, with a margin of error of 10 per cent.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explain why two reports differ.</a:t>
            </a:r>
          </a:p>
          <a:p>
            <a:r>
              <a:t>Your role (A) | Manager.</a:t>
            </a:r>
          </a:p>
          <a:p>
            <a:r>
              <a:t>Partner’s role (B) | Analyst. Discrepancy: ______________</a:t>
            </a:r>
          </a:p>
          <a:p>
            <a:r>
              <a:t>Must use (3 or more) | be out by · reconcile · margin of error · ballpark figure · break down</a:t>
            </a:r>
          </a:p>
          <a:p>
            <a:r>
              <a:t>Goal | Explain the reason, size the gap and propose a fix.</a:t>
            </a:r>
          </a:p>
          <a:p>
            <a:r>
              <a:t>My notes | ____________________________________________</a:t>
            </a:r>
          </a:p>
          <a:p>
            <a:r>
              <a:t>Admit a mistake without excuses.</a:t>
            </a:r>
          </a:p>
          <a:p>
            <a:r>
              <a:t>Offer a corrected version by a time.</a:t>
            </a:r>
          </a:p>
          <a:p>
            <a:r>
              <a:t>Suggest a way to avoid it next time.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hesitate to question figures? | “They don’t want to…” / “In some cultures…”</a:t>
            </a:r>
          </a:p>
          <a:p>
            <a:r>
              <a:t>2. How can you question a number without sounding rude? | “I’d say…” / “I’d start by…”</a:t>
            </a:r>
          </a:p>
          <a:p>
            <a:r>
              <a:t>3. Which kind of numbers are easiest to get wrong? | “Percentages are tricky because…”</a:t>
            </a:r>
          </a:p>
          <a:p>
            <a:r>
              <a:t>4. Who should check a report before it goes out? | “Ideally someone who…”</a:t>
            </a:r>
          </a:p>
          <a:p>
            <a:r>
              <a:t>5. What would you do if your boss’s figure is wrong? | “I’d probably… / I’d ask in private.”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raise it privately first. I would say something like,”I may have misunderstood, but I got a different number. Could we check it together?” This gives my boss a chance to correct it without losing face. If it’s urgent, I would write a short email. A public correction should be the last option, unless the figure is important.”</a:t>
            </a:r>
          </a:p>
          <a:p>
            <a:r>
              <a:t>“lose face” = 丢面子;“gives my boss a chance to…” 给机会。</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Questioning politely 礼貌质疑</a:t>
            </a:r>
          </a:p>
          <a:p>
            <a:r>
              <a:t>Direct (too strong) | Softer</a:t>
            </a:r>
          </a:p>
          <a:p>
            <a:r>
              <a:t>This is wrong. | I might be misreading this, but…</a:t>
            </a:r>
          </a:p>
          <a:p>
            <a:r>
              <a:t>Your number is incorrect. | I got a slightly different number. Could we check?</a:t>
            </a:r>
          </a:p>
          <a:p>
            <a:r>
              <a:t>You made a mistake. | There seems to be a discrepancy.</a:t>
            </a:r>
          </a:p>
          <a:p>
            <a:r>
              <a:t>Why didn’t you check? | Could we double-check the source?</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Questioning politely 礼貌质疑</a:t>
            </a:r>
          </a:p>
          <a:p>
            <a:r>
              <a:t>Use hedging: might, seems, a bit, slightly, I may be wrong, but…</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number is increased 8%.  →  ✓ The number increased by 8%.  (increase by)</a:t>
            </a:r>
          </a:p>
          <a:p>
            <a:r>
              <a:t>✗ Sales rose to 8% from 5%.  →  ✓ Sales rose from 5% to 8%.  (from… to…)</a:t>
            </a:r>
          </a:p>
          <a:p>
            <a:r>
              <a:t>✗ Please check again this number.  →  ✓ Please double-check this number.  (double-check)</a:t>
            </a:r>
          </a:p>
          <a:p>
            <a:r>
              <a:t>Mistake Watch: Check increase by, from… to…, different from, and use per cent or % after numbers.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different with last year.  →  ✓ It’s different from last year.  (different from)</a:t>
            </a:r>
          </a:p>
          <a:p>
            <a:r>
              <a:t>✗ The figures are not matched.  →  ✓ The figures don’t match.  (match 是动词)</a:t>
            </a:r>
          </a:p>
          <a:p>
            <a:r>
              <a:t>✗ What is the percentage of the profit?  →  ✓ What is the profit margin?  (常用术语)</a:t>
            </a:r>
          </a:p>
          <a:p>
            <a:r>
              <a:t>Mistake Watch: Check increase by, from… to…, different from, and use per cent or % after numbers.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Hedge the first question. English speakers soften before challenging.</a:t>
            </a:r>
          </a:p>
          <a:p>
            <a:r>
              <a:t>Thank the person. “Thanks for catching that” keeps the relationship good.</a:t>
            </a:r>
          </a:p>
          <a:p>
            <a:r>
              <a:t>Private first. Query in private chat or email before a public meeting.</a:t>
            </a:r>
          </a:p>
          <a:p>
            <a:r>
              <a:t>Say numbers clearly. 15 vs 50: “fifteen” / “fifty”; check the stress.</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query a figure politely using hedging.</a:t>
            </a:r>
          </a:p>
          <a:p>
            <a:r>
              <a:t>I can ask whether a figure includes something.</a:t>
            </a:r>
          </a:p>
          <a:p>
            <a:r>
              <a:t>I can explain a discrepancy and offer a correction.</a:t>
            </a:r>
          </a:p>
          <a:p>
            <a:r>
              <a:t>I use increase by and from…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Write three questions about a chart or report. Say them aloud with softening.</a:t>
            </a:r>
          </a:p>
          <a:p>
            <a:r>
              <a:t>8–10 | Listen to your recording. Check: increase by, from… to, different from, double-check.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27 · Querying information 信息查询</a:t>
            </a:r>
          </a:p>
          <a:p>
            <a:r>
              <a:t>Goal: ask for missing information, clarify unclear details and follow up politely when you do not get an answer.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题用 “How do you…”。第 4 题 “waited a long time” 过去式。⚠️ 本课标题 Chinese 为”资料查询”。</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ask for information that you need to do your job.</a:t>
            </a:r>
          </a:p>
          <a:p>
            <a:r>
              <a:t>Say: what you need → who you ask → how you ask → how you follow up.</a:t>
            </a:r>
          </a:p>
          <a:p>
            <a:r>
              <a:t>Useful starters: “I’m trying to find out…” / “Could you tell me…?” / “Just checking whether…” / “I’m following up on…”</a:t>
            </a:r>
          </a:p>
          <a:p>
            <a:r>
              <a:t>“Could you tell me where…” 间接问句不倒装;“follow up on” 跟进。</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Mei had to prepare a client proposal, but the pricing sheet was missing. She sent a short message to the finance team: “Hi all. I’m preparing the proposal for Northway and I can’t find the latest pricing sheet. Could you tell me where it’s saved, or send me a copy? I need it by Thursday noon.” Two days later she had no reply. Instead of complaining, she wrote again: “Hi Sam, just following up on my message about the pricing sheet. I know you’re busy, but the deadline is tomorrow. Could you help?” Sam replied in ten minutes. Mei later said her tip was simple: say what you need, why, and by when. Questions with context and a deadline get faster answers than “Do you know where the file is?”</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did Mei need?</a:t>
            </a:r>
          </a:p>
          <a:p>
            <a:r>
              <a:t>A: The latest pricing sheet for a client proposal.</a:t>
            </a:r>
          </a:p>
          <a:p>
            <a:r>
              <a:t>Q2. What did she do when no one replied?</a:t>
            </a:r>
          </a:p>
          <a:p>
            <a:r>
              <a:t>A: She followed up with a polite reminder and mentioned the deadline.</a:t>
            </a:r>
          </a:p>
          <a:p>
            <a:r>
              <a:t>Q3. What is Mei’s tip?</a:t>
            </a:r>
          </a:p>
          <a:p>
            <a:r>
              <a:t>A: Say what you need, why, and by when.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Asking for information 询问信息</a:t>
            </a:r>
          </a:p>
          <a:p>
            <a:r>
              <a:t>领读 → 学员跟读 → 请学员用表达造一个和自己工作相关的句子。</a:t>
            </a:r>
          </a:p>
          <a:p>
            <a:r>
              <a:t>I’m trying to find out… (phrase) 我想了解… — “I’m trying to find out who owns this file.”</a:t>
            </a:r>
          </a:p>
          <a:p>
            <a:r>
              <a:t>Could you let me know…? (phrase) 能告诉我…吗? — “Could you let me know when it’s ready?”</a:t>
            </a:r>
          </a:p>
          <a:p>
            <a:r>
              <a:t>Do you happen to know…? (phrase) 你碰巧知道…吗? — “Do you happen to know where it’s saved?”</a:t>
            </a:r>
          </a:p>
          <a:p>
            <a:r>
              <a:t>★ get hold of (phrasal verb) 联系上;弄到 — “I can’t get hold of the supplier.”</a:t>
            </a:r>
          </a:p>
          <a:p>
            <a:r>
              <a:t>★ Just checking whether… (phrase) 只是确认一下… — “Just checking whether you received my email.”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Clarifying 澄清</a:t>
            </a:r>
          </a:p>
          <a:p>
            <a:r>
              <a:t>领读 → 学员跟读 → 请学员用表达造一个和自己工作相关的句子。</a:t>
            </a:r>
          </a:p>
          <a:p>
            <a:r>
              <a:t>Could you clarify…? (phrase) 能澄清一下…吗? — “Could you clarify what you mean by ‘soon’?”</a:t>
            </a:r>
          </a:p>
          <a:p>
            <a:r>
              <a:t>What exactly do you mean by…? (phrase) 你具体指… — “What exactly do you mean by ‘review’?”</a:t>
            </a:r>
          </a:p>
          <a:p>
            <a:r>
              <a:t>Just to be clear, … (phrase) 确认一下,… — “Just to be clear, the deadline is Friday?”</a:t>
            </a:r>
          </a:p>
          <a:p>
            <a:r>
              <a:t>★ ask for the details (collocation) 询问细节 — “I’ll ask for the details.”</a:t>
            </a:r>
          </a:p>
          <a:p>
            <a:r>
              <a:t>★ be in the loop (idiom) 了解情况 — “Please keep me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Following up 跟进</a:t>
            </a:r>
          </a:p>
          <a:p>
            <a:r>
              <a:t>领读 → 学员跟读 → 请学员用表达造一个和自己工作相关的句子。</a:t>
            </a:r>
          </a:p>
          <a:p>
            <a:r>
              <a:t>I’m following up on… (phrase) 我跟进一下… — “I’m following up on my earlier email.”</a:t>
            </a:r>
          </a:p>
          <a:p>
            <a:r>
              <a:t>gentle reminder (noun) 温馨提醒 — “A gentle reminder: the deadline is Friday.”</a:t>
            </a:r>
          </a:p>
          <a:p>
            <a:r>
              <a:t>★ chase (someone) up (phrasal verb) 催促(英式) — “I’ll chase them up tomorrow.”</a:t>
            </a:r>
          </a:p>
          <a:p>
            <a:r>
              <a:t>★ circle back (phrasal verb) 回头再谈 — “Let’s circle back on this next week.”</a:t>
            </a:r>
          </a:p>
          <a:p>
            <a:r>
              <a:t>by close of business (COB) (phrase) 下班前 — “Please reply by COB Thursday.”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trying / happen / clarify / loop / following / reminder</a:t>
            </a:r>
          </a:p>
          <a:p>
            <a:r>
              <a:t>1. I’m _______ to find out who owns this file. → trying</a:t>
            </a:r>
          </a:p>
          <a:p>
            <a:r>
              <a:t>2. Do you _______ to know where it’s saved? → happen</a:t>
            </a:r>
          </a:p>
          <a:p>
            <a:r>
              <a:t>3. Could you _______ what you mean by ‘soon’? → clarify</a:t>
            </a:r>
          </a:p>
          <a:p>
            <a:r>
              <a:t>4. Please keep me in the _______. → loop</a:t>
            </a:r>
          </a:p>
          <a:p>
            <a:r>
              <a:t>5. I’m _______ up on my earlier email. → following</a:t>
            </a:r>
          </a:p>
          <a:p>
            <a:r>
              <a:t>6. A gentle _______: the deadline is Friday. → reminder</a:t>
            </a:r>
          </a:p>
          <a:p>
            <a:r>
              <a:t>Mistake Watch: (词形与拼写) clarify → clarification; follow up (动词) vs follow-up (名词)。</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 colleague for data 向同事索取资料</a:t>
            </a:r>
          </a:p>
          <a:p>
            <a:r>
              <a:t>情景：You need missing information to finish your work.</a:t>
            </a:r>
          </a:p>
          <a:p>
            <a:r>
              <a:t>Role A: Mei, requester Role B: Sam, finance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(Mei): Hi Sam, I’m trying to find out where the latest pricing sheet is saved. Do you happen to know?</a:t>
            </a:r>
          </a:p>
          <a:p>
            <a:r>
              <a:t>B (Sam): It’s in the shared drive under “Pricing 2026”.</a:t>
            </a:r>
          </a:p>
          <a:p>
            <a:r>
              <a:t>A: I can’t see that folder. Could you let me know how to get access?</a:t>
            </a:r>
          </a:p>
          <a:p>
            <a:r>
              <a:t>B: I’ll ask IT to add you.</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Thanks. I need it by Thursday noon for the Northway proposal.</a:t>
            </a:r>
          </a:p>
          <a:p>
            <a:r>
              <a:t>B: No problem. I’ll send you a copy now.</a:t>
            </a:r>
          </a:p>
          <a:p>
            <a:r>
              <a:t>A: Just to be clear, this is the version approved last month?</a:t>
            </a:r>
          </a:p>
          <a:p>
            <a:r>
              <a:t>B: Yes, it is.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ask for information you need.</a:t>
            </a:r>
          </a:p>
          <a:p>
            <a:r>
              <a:t>Your role (A) | Requester. Need: ______________</a:t>
            </a:r>
          </a:p>
          <a:p>
            <a:r>
              <a:t>Partner’s role (B) | Colleague who has it.</a:t>
            </a:r>
          </a:p>
          <a:p>
            <a:r>
              <a:t>Must use (3 or more) | I’m trying to find out… · Do you happen to know…? · Just to be clear, … · by Thursday noon · keep me in the loop</a:t>
            </a:r>
          </a:p>
          <a:p>
            <a:r>
              <a:t>Goal | Say what you need, why and by when, and confirm it.</a:t>
            </a:r>
          </a:p>
          <a:p>
            <a:r>
              <a:t>My notes | ____________________________________________</a:t>
            </a:r>
          </a:p>
          <a:p>
            <a:r>
              <a:t>Explain why it’s urgent.</a:t>
            </a:r>
          </a:p>
          <a:p>
            <a:r>
              <a:t>Offer something in return.</a:t>
            </a:r>
          </a:p>
          <a:p>
            <a:r>
              <a:t>Ask for a written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up on a late answer 跟进迟迟未回复的信息</a:t>
            </a:r>
          </a:p>
          <a:p>
            <a:r>
              <a:t>情景：Three days have passed with no answer.</a:t>
            </a:r>
          </a:p>
          <a:p>
            <a:r>
              <a:t>Role A: Mei Role B: Sam, busy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Hi Sam, I’m following up on my message about the pricing sheet.</a:t>
            </a:r>
          </a:p>
          <a:p>
            <a:r>
              <a:t>B: Sorry, it’s been a crazy week.</a:t>
            </a:r>
          </a:p>
          <a:p>
            <a:r>
              <a:t>A: I understand. The deadline is tomorrow, so I’d really appreciate it today.</a:t>
            </a:r>
          </a:p>
          <a:p>
            <a:r>
              <a:t>B: Can I send it by COB?</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send it by 3 p.m.? I need time to check it.</a:t>
            </a:r>
          </a:p>
          <a:p>
            <a:r>
              <a:t>B: OK, I’ll do it right after lunch.</a:t>
            </a:r>
          </a:p>
          <a:p>
            <a:r>
              <a:t>A: Thanks. If there’s any problem, just let me know.</a:t>
            </a:r>
          </a:p>
          <a:p>
            <a:r>
              <a:t>B: Will do.</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chase a late answer politely.</a:t>
            </a:r>
          </a:p>
          <a:p>
            <a:r>
              <a:t>Your role (A) | Requester. Missing item: ______________</a:t>
            </a:r>
          </a:p>
          <a:p>
            <a:r>
              <a:t>Partner’s role (B) | Busy colleague.</a:t>
            </a:r>
          </a:p>
          <a:p>
            <a:r>
              <a:t>Must use (3 or more) | I’m following up on… · gentle reminder · I’d really appreciate it · by 3 p.m. · circle back</a:t>
            </a:r>
          </a:p>
          <a:p>
            <a:r>
              <a:t>Goal | Remind politely, give a deadline and agree on a time.</a:t>
            </a:r>
          </a:p>
          <a:p>
            <a:r>
              <a:t>My notes | ____________________________________________</a:t>
            </a:r>
          </a:p>
          <a:p>
            <a:r>
              <a:t>Escalate to a manager politely.</a:t>
            </a:r>
          </a:p>
          <a:p>
            <a:r>
              <a:t>Offer to take a short call instead.</a:t>
            </a:r>
          </a:p>
          <a:p>
            <a:r>
              <a:t>Thank them after they answer.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better to ask for information by chat or email? | “For quick questions, … but for formal…”</a:t>
            </a:r>
          </a:p>
          <a:p>
            <a:r>
              <a:t>2. How often should you follow up? | “I’d wait… before…”</a:t>
            </a:r>
          </a:p>
          <a:p>
            <a:r>
              <a:t>3. What makes a request easy to answer? | “A clear request with… and…”</a:t>
            </a:r>
          </a:p>
          <a:p>
            <a:r>
              <a:t>4. How do you ask for help without looking incompetent? | “I’d say… / I’d explain what I already tried.”</a:t>
            </a:r>
          </a:p>
          <a:p>
            <a:r>
              <a:t>5. What do you do when two people give conflicting information? | “I’d check… / I’d ask them to…”</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request is specific, short and has a deadline. For example,”Could you send me the Q3 sales figures by Friday noon? I need them for the board report.” The person knows what to send, why it’s needed and when. Vague messages like “Do you have the data?” make people reply with another question, which wastes time.”</a:t>
            </a:r>
          </a:p>
          <a:p>
            <a:r>
              <a:t>“make people reply with another question” make + 宾语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and indirect questions 直接与间接问句</a:t>
            </a:r>
          </a:p>
          <a:p>
            <a:r>
              <a:t>Direct | Indirect (more polite)</a:t>
            </a:r>
          </a:p>
          <a:p>
            <a:r>
              <a:t>Where is the file? | Do you know where the file is?</a:t>
            </a:r>
          </a:p>
          <a:p>
            <a:r>
              <a:t>When will it be ready? | Could you let me know when it will be ready?</a:t>
            </a:r>
          </a:p>
          <a:p>
            <a:r>
              <a:t>Who is in charge? | I’m trying to find out who is in charge.</a:t>
            </a:r>
          </a:p>
          <a:p>
            <a:r>
              <a:t>What does this mean? | Could you tell me what this means?</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and indirect questions 直接与间接问句</a:t>
            </a:r>
          </a:p>
          <a:p>
            <a:r>
              <a:t>In indirect questions, the word order is statement order: where the file is (not where is the file).</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Could you tell me where is the file?  →  ✓ Could you tell me where the file is?  (间接问句用陈述语序)</a:t>
            </a:r>
          </a:p>
          <a:p>
            <a:r>
              <a:t>✗ Please inform me the result.  →  ✓ Please let me know the result.  (inform sb of/about)</a:t>
            </a:r>
          </a:p>
          <a:p>
            <a:r>
              <a:t>✗ I want to ask you a information.  →  ✓ I’d like to ask you something. / for some information.  (information 不可数)</a:t>
            </a:r>
          </a:p>
          <a:p>
            <a:r>
              <a:t>Mistake Watch: Check indirect word order, explain something to someone, wait for, and uncountable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waiting your reply.  →  ✓ I’m waiting for your reply.  (wait for)</a:t>
            </a:r>
          </a:p>
          <a:p>
            <a:r>
              <a:t>✗ Can you explain me this?  →  ✓ Can you explain this to me?  (explain sth to sb)</a:t>
            </a:r>
          </a:p>
          <a:p>
            <a:r>
              <a:t>✗ I want to know that when it’s ready.  →  ✓ I’d like to know when it’s ready.  (不加 that)</a:t>
            </a:r>
          </a:p>
          <a:p>
            <a:r>
              <a:t>Mistake Watch: Check indirect word order, explain something to someone, wait for, and uncountable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“please” and give reasons. Requests with reasons sound reasonable.</a:t>
            </a:r>
          </a:p>
          <a:p>
            <a:r>
              <a:t>Follow-ups are normal. A polite reminder is not rude; silence is more often busyness.</a:t>
            </a:r>
          </a:p>
          <a:p>
            <a:r>
              <a:t>Be specific about time. “ASAP” is vague; use “by 3 p.m. on Thursday”.</a:t>
            </a:r>
          </a:p>
          <a:p>
            <a:r>
              <a:t>Write it down. Confirm important information in writing.</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for information with Do you happen to know…?</a:t>
            </a:r>
          </a:p>
          <a:p>
            <a:r>
              <a:t>I can clarify with Just to be clear, …</a:t>
            </a:r>
          </a:p>
          <a:p>
            <a:r>
              <a:t>I can follow up politely with I’m following up on…</a:t>
            </a:r>
          </a:p>
          <a:p>
            <a:r>
              <a:t>I use indirect question word order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Write one request with context and a deadline and one follow-up. Say them aloud.</a:t>
            </a:r>
          </a:p>
          <a:p>
            <a:r>
              <a:t>8–10 | Listen to your recording. Check: indirect word order, explain to, wait for, information.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28 · Following your intuition 跟随直觉</a:t>
            </a:r>
          </a:p>
          <a:p>
            <a:r>
              <a:t>Goal: talk about intuition and data in decision-making, explain a “gut feeling” and justify a decision.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“gut feeling” = 直觉。第 2 题用 made(过去式),第 4 题 “ignored… regretted”。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a decision where you followed your instinct, and what happened.</a:t>
            </a:r>
          </a:p>
          <a:p>
            <a:r>
              <a:t>Say: the decision → what your gut said → what the data said → what you did → the result.</a:t>
            </a:r>
          </a:p>
          <a:p>
            <a:r>
              <a:t>Useful starters: “My gut told me…” / “On paper, … but…” / “I had a hunch that…” / “In hindsight, …”</a:t>
            </a:r>
          </a:p>
          <a:p>
            <a:r>
              <a:t>“On paper” = 从数据上看;“in hindsight” = 事后看来。</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Hana had two candidates for a sales job. On paper, Alex was perfect: five years’ experience and an excellent CV. Jordan had less experience, but something about the interview stuck with her. He asked unusually good questions about the customer and admitted what he didn’t know. “My gut says Jordan,” she told her team. Her colleague Ben disagreed. “The data says Alex.” They agreed on a compromise: a short practical test. Jordan did very well in it and impressed the whole team. He was hired and, a year later, was the top performer. Hana says intuition is not magic. It is experience that works quickly and quietly. “But I always test my hunch,” she says. “If I can’t explain it in words, I’m not ready to decide.”</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Hana prefer Jordan?</a:t>
            </a:r>
          </a:p>
          <a:p>
            <a:r>
              <a:t>A: His good questions and honesty impressed her despite less experience.</a:t>
            </a:r>
          </a:p>
          <a:p>
            <a:r>
              <a:t>Q2. How did the team settle the disagreement?</a:t>
            </a:r>
          </a:p>
          <a:p>
            <a:r>
              <a:t>A: A short practical test.</a:t>
            </a:r>
          </a:p>
          <a:p>
            <a:r>
              <a:t>Q3. What does Hana say about intuition?</a:t>
            </a:r>
          </a:p>
          <a:p>
            <a:r>
              <a:t>A: It’s experience working quickly; she still tests her hunch.</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Intuition 直觉</a:t>
            </a:r>
          </a:p>
          <a:p>
            <a:r>
              <a:t>领读 → 学员跟读 → 请学员用表达造一个和自己工作相关的句子。</a:t>
            </a:r>
          </a:p>
          <a:p>
            <a:r>
              <a:t>gut feeling / gut instinct (noun) 直觉 — “I have a gut feeling about this deal.”</a:t>
            </a:r>
          </a:p>
          <a:p>
            <a:r>
              <a:t>I have a hunch that… (phrase) 我有预感… — “I have a hunch that he’ll accept.”</a:t>
            </a:r>
          </a:p>
          <a:p>
            <a:r>
              <a:t>on paper (idiom) 纸面上 — “On paper, it looks perfect.”</a:t>
            </a:r>
          </a:p>
          <a:p>
            <a:r>
              <a:t>★ go with your gut (idiom) 相信直觉 — “In the end, I went with my gut.”</a:t>
            </a:r>
          </a:p>
          <a:p>
            <a:r>
              <a:t>★ something doesn’t feel right (phrase) 感觉有点不对劲 — “Something about the contract doesn’t feel right.”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Evidence 证据</a:t>
            </a:r>
          </a:p>
          <a:p>
            <a:r>
              <a:t>领读 → 学员跟读 → 请学员用表达造一个和自己工作相关的句子。</a:t>
            </a:r>
          </a:p>
          <a:p>
            <a:r>
              <a:t>data-driven (adjective) 数据驱动的 — “We try to be data-driven.”</a:t>
            </a:r>
          </a:p>
          <a:p>
            <a:r>
              <a:t>back up with (phrasal verb) 用…支持 — “Can you back that up with facts?”</a:t>
            </a:r>
          </a:p>
          <a:p>
            <a:r>
              <a:t>rely on (verb phrase) 依赖 — “I rely on experience more than reports.”</a:t>
            </a:r>
          </a:p>
          <a:p>
            <a:r>
              <a:t>★ evidence-based (adjective) 以证据为基础 — “We need an evidence-based decision.”</a:t>
            </a:r>
          </a:p>
          <a:p>
            <a:r>
              <a:t>★ turn out to be right (collocation) 事后证明是对的 — “My hunch turned out to be right.”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Reflecting 回顾</a:t>
            </a:r>
          </a:p>
          <a:p>
            <a:r>
              <a:t>领读 → 学员跟读 → 请学员用表达造一个和自己工作相关的句子。</a:t>
            </a:r>
          </a:p>
          <a:p>
            <a:r>
              <a:t>in hindsight (phrase) 事后看来 — “In hindsight, I should have waited.”</a:t>
            </a:r>
          </a:p>
          <a:p>
            <a:r>
              <a:t>take a risk (collocation) 冒险 — “Sometimes you have to take a risk.”</a:t>
            </a:r>
          </a:p>
          <a:p>
            <a:r>
              <a:t>★ trust your instincts (collocation) 相信本能 — “Trust your instincts, but test them.”</a:t>
            </a:r>
          </a:p>
          <a:p>
            <a:r>
              <a:t>★ second-guess (verb) 事后怀疑/反复质疑 — “Don’t second-guess yourself.”</a:t>
            </a:r>
          </a:p>
          <a:p>
            <a:r>
              <a:t>★ weigh the evidence (collocation) 权衡证据 — “We weighed the evidence carefully.”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gut / hunch / paper / driven / hindsight / rely</a:t>
            </a:r>
          </a:p>
          <a:p>
            <a:r>
              <a:t>1. My _______ feeling says this deal is risky. → gut</a:t>
            </a:r>
          </a:p>
          <a:p>
            <a:r>
              <a:t>2. I have a _______ that he’ll accept. → hunch</a:t>
            </a:r>
          </a:p>
          <a:p>
            <a:r>
              <a:t>3. On _______, the plan looks perfect. → paper</a:t>
            </a:r>
          </a:p>
          <a:p>
            <a:r>
              <a:t>4. We try to be data-_______. → driven</a:t>
            </a:r>
          </a:p>
          <a:p>
            <a:r>
              <a:t>5. In _______, I should have waited. → hindsight</a:t>
            </a:r>
          </a:p>
          <a:p>
            <a:r>
              <a:t>6. I _______ on experience more than reports. → rely</a:t>
            </a:r>
          </a:p>
          <a:p>
            <a:r>
              <a:t>Mistake Watch: (词性) gut feeling(名词)、intuitive(形容词)、intuition(名词);“data” 现在多作不可数,the data shows/show 均可,商务中常用 shows。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hunch 解释你的直觉</a:t>
            </a:r>
          </a:p>
          <a:p>
            <a:r>
              <a:t>情景：You prefer a candidate based on instinct and explain it.</a:t>
            </a:r>
          </a:p>
          <a:p>
            <a:r>
              <a:t>Role A: Hana, manager Role B: Ben,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(Hana): My gut says we should hire Jordan.</a:t>
            </a:r>
          </a:p>
          <a:p>
            <a:r>
              <a:t>B (Ben): But on paper, Alex is the stronger candidate.</a:t>
            </a:r>
          </a:p>
          <a:p>
            <a:r>
              <a:t>A: I know. But Jordan asked excellent questions and was honest about what he didn’t know.</a:t>
            </a:r>
          </a:p>
          <a:p>
            <a:r>
              <a:t>B: That’s a hunch. Can you back it up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Fair point. How about a short practical test?</a:t>
            </a:r>
          </a:p>
          <a:p>
            <a:r>
              <a:t>B: I’d be happy with that. Then we have data.</a:t>
            </a:r>
          </a:p>
          <a:p>
            <a:r>
              <a:t>A: Agreed. I’ll set it up for Friday.</a:t>
            </a:r>
          </a:p>
          <a:p>
            <a:r>
              <a:t>B: Great.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explain a decision based on instinct.</a:t>
            </a:r>
          </a:p>
          <a:p>
            <a:r>
              <a:t>Your role (A) | Decision-maker. Hunch: ______________</a:t>
            </a:r>
          </a:p>
          <a:p>
            <a:r>
              <a:t>Partner’s role (B) | Data-driven colleague.</a:t>
            </a:r>
          </a:p>
          <a:p>
            <a:r>
              <a:t>Must use (3 or more) | My gut says… · On paper, … · back it up with · I have a hunch · How about a test?</a:t>
            </a:r>
          </a:p>
          <a:p>
            <a:r>
              <a:t>Goal | Explain the hunch, hear the challenge and agree on a check.</a:t>
            </a:r>
          </a:p>
          <a:p>
            <a:r>
              <a:t>My notes | ____________________________________________</a:t>
            </a:r>
          </a:p>
          <a:p>
            <a:r>
              <a:t>Use “I may be wrong, but…”</a:t>
            </a:r>
          </a:p>
          <a:p>
            <a:r>
              <a:t>Add a risk and a plan B.</a:t>
            </a:r>
          </a:p>
          <a:p>
            <a:r>
              <a:t>End with a decision deadline.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with mixed evidence 数据与直觉冲突</a:t>
            </a:r>
          </a:p>
          <a:p>
            <a:r>
              <a:t>情景：A meeting about launching a product.</a:t>
            </a:r>
          </a:p>
          <a:p>
            <a:r>
              <a:t>Role A: Product lead Role B: Data analyst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survey is mixed, but I have a hunch that customers will love this.</a:t>
            </a:r>
          </a:p>
          <a:p>
            <a:r>
              <a:t>B: The data suggests only 35 per cent are interested.</a:t>
            </a:r>
          </a:p>
          <a:p>
            <a:r>
              <a:t>A: True, but surveys don’t always predict behaviour.</a:t>
            </a:r>
          </a:p>
          <a:p>
            <a:r>
              <a:t>B: That’s a fair point, though it’s a risk.</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if we launch a small pilot?</a:t>
            </a:r>
          </a:p>
          <a:p>
            <a:r>
              <a:t>B: That would give us real evidence, and we’d lose less if it fails.</a:t>
            </a:r>
          </a:p>
          <a:p>
            <a:r>
              <a:t>A: Then let’s do that in one city.</a:t>
            </a:r>
          </a:p>
          <a:p>
            <a:r>
              <a:t>B: Agreed. I’ll design the test.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balance gut and data.</a:t>
            </a:r>
          </a:p>
          <a:p>
            <a:r>
              <a:t>Your role (A) | Product lead with a hunch.</a:t>
            </a:r>
          </a:p>
          <a:p>
            <a:r>
              <a:t>Partner’s role (B) | Analyst with data: ______________</a:t>
            </a:r>
          </a:p>
          <a:p>
            <a:r>
              <a:t>Must use (3 or more) | I have a hunch · The data suggests… · It’s a risk · pilot · weigh the evidence</a:t>
            </a:r>
          </a:p>
          <a:p>
            <a:r>
              <a:t>Goal | Discuss the conflict and reach a testable plan.</a:t>
            </a:r>
          </a:p>
          <a:p>
            <a:r>
              <a:t>My notes | ____________________________________________</a:t>
            </a:r>
          </a:p>
          <a:p>
            <a:r>
              <a:t>Use “in hindsight” about a previous decision.</a:t>
            </a:r>
          </a:p>
          <a:p>
            <a:r>
              <a:t>Give a numeric threshold for success.</a:t>
            </a:r>
          </a:p>
          <a:p>
            <a:r>
              <a:t>Summarise the decision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wise to trust your gut in business? | “It depends on… / Experts can…”</a:t>
            </a:r>
          </a:p>
          <a:p>
            <a:r>
              <a:t>2. When is data more important than intuition? | “Data matters most when…”</a:t>
            </a:r>
          </a:p>
          <a:p>
            <a:r>
              <a:t>3. How can you test a hunch cheaply? | “You could run a pilot, or…”</a:t>
            </a:r>
          </a:p>
          <a:p>
            <a:r>
              <a:t>4. Can intuition be learned? | “I think it grows with…”</a:t>
            </a:r>
          </a:p>
          <a:p>
            <a:r>
              <a:t>5. Describe a decision where your gut was right or wrong. | “My gut told me… but…”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it’s wise, but only for people with experience. A senior manager’s gut feeling is often years of learning compressed into a moment. For a beginner, though, it can be risky. I would say: trust your instincts, but check them with a small test or some data. That way you get the benefit of speed without the risk.”</a:t>
            </a:r>
          </a:p>
          <a:p>
            <a:r>
              <a:t>“compressed into a moment” 压缩成瞬间;“the benefit of speed” 速度的好处。</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Hedging and softening opinions 缓和语气</a:t>
            </a:r>
          </a:p>
          <a:p>
            <a:r>
              <a:t>Strong | Softer</a:t>
            </a:r>
          </a:p>
          <a:p>
            <a:r>
              <a:t>You’re wrong. | I may be wrong, but I see it differently.</a:t>
            </a:r>
          </a:p>
          <a:p>
            <a:r>
              <a:t>The data is clear. | The data seems to suggest…</a:t>
            </a:r>
          </a:p>
          <a:p>
            <a:r>
              <a:t>This will fail. | This could be risky.</a:t>
            </a:r>
          </a:p>
          <a:p>
            <a:r>
              <a:t>That’s a bad idea. | I’m not sure that would work.</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Hedging and softening opinions 缓和语气</a:t>
            </a:r>
          </a:p>
          <a:p>
            <a:r>
              <a:t>Use modals and verbs of probability: may, might, could, seem, suggest, tend to.</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follow my feeling.  →  ✓ I go with my gut. / I follow my instincts.  (地道搭配)</a:t>
            </a:r>
          </a:p>
          <a:p>
            <a:r>
              <a:t>✗ I have a feeling that he will to accept.  →  ✓ I have a feeling that he’ll accept.  (will + 动词原形)</a:t>
            </a:r>
          </a:p>
          <a:p>
            <a:r>
              <a:t>✗ In my opinion is better to test.  →  ✓ In my opinion, it’s better to test.  (缺主语 it)</a:t>
            </a:r>
          </a:p>
          <a:p>
            <a:r>
              <a:t>Mistake Watch: Check go with your gut, In my view (not according to me), and regret + -ing.</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According to me, the data is clear.  →  ✓ In my view, the data is clear.  (according to 不用于自己)</a:t>
            </a:r>
          </a:p>
          <a:p>
            <a:r>
              <a:t>✗ The data are suggesting a problem.  →  ✓ The data suggests a problem.  (动词用一般现在时)</a:t>
            </a:r>
          </a:p>
          <a:p>
            <a:r>
              <a:t>✗ I regret to ignore my gut.  →  ✓ I regret ignoring my gut.  (regret + -ing)</a:t>
            </a:r>
          </a:p>
          <a:p>
            <a:r>
              <a:t>Mistake Watch: Check go with your gut, In my view (not according to me), and regret + -ing.</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“I think” or “My gut says”. It marks opinion, not fact.</a:t>
            </a:r>
          </a:p>
          <a:p>
            <a:r>
              <a:t>Don’t hide a hunch. Western managers value a clear opinion, but they expect reasons.</a:t>
            </a:r>
          </a:p>
          <a:p>
            <a:r>
              <a:t>Pilot before launching. A small test shows both caution and drive.</a:t>
            </a:r>
          </a:p>
          <a:p>
            <a:r>
              <a:t>Admit uncertainty. “I’m not 100 per cent sure, but…” is respected.</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express a hunch with My gut says… / I have a hunch that…</a:t>
            </a:r>
          </a:p>
          <a:p>
            <a:r>
              <a:t>I can contrast with On paper, …, but…</a:t>
            </a:r>
          </a:p>
          <a:p>
            <a:r>
              <a:t>I can reflect with In hindsight, …</a:t>
            </a:r>
          </a:p>
          <a:p>
            <a:r>
              <a:t>I use regret + -ing and In my view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decision where you followed intuition (90 seconds).</a:t>
            </a:r>
          </a:p>
          <a:p>
            <a:r>
              <a:t>8–10 | Listen to your recording. Check: regret -ing, in my view, will + base, on paper.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29 · How to make faster decisions 如何更快地做决定</a:t>
            </a:r>
          </a:p>
          <a:p>
            <a:r>
              <a:t>Goal: explain how to decide quickly, set deadlines and criteria, and communicate a decision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“fast or slow” 选择问句。“decision-maker” = 决策者。动词搭配用 make a decision。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advice to a colleague who is slow to make decisions.</a:t>
            </a:r>
          </a:p>
          <a:p>
            <a:r>
              <a:t>Say: the problem → tip 1 → tip 2 → tip 3 → the benefit.</a:t>
            </a:r>
          </a:p>
          <a:p>
            <a:r>
              <a:t>Useful starters: “One tip is to…” / “It helps to…” / “You don’t need all the information, just…” / “That way, …”</a:t>
            </a:r>
          </a:p>
          <a:p>
            <a:r>
              <a:t>“It helps to + 动词原形” 给建议。“That way” = 这样一来。</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managers wait for perfect information before they decide. The problem is that perfect information rarely exists, and waiting has a cost. A simple rule used by some leaders is to decide when you have about 70 per cent of the information you wish you had. Waiting for 90 per cent is usually too slow; acting on 40 per cent is a gamble. A second tip is to set a deadline for the decision before you start. A third is to separate decisions you can undo from those you cannot. If a choice is easy to reverse, such as trying a new meeting format, decide quickly and review it later. If it is permanent, such as signing a long contract, take more time. Speed, in short, is not about rushing. It is about choosing the right amount of thinking.</a:t>
            </a:r>
          </a:p>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waiting for perfect information a problem?</a:t>
            </a:r>
          </a:p>
          <a:p>
            <a:r>
              <a:t>A: Perfect information rarely exists and waiting has a cost.</a:t>
            </a:r>
          </a:p>
          <a:p>
            <a:r>
              <a:t>Q2. What is the 70 per cent rule?</a:t>
            </a:r>
          </a:p>
          <a:p>
            <a:r>
              <a:t>A: Decide when you have about 70 per cent of the information you’d like.</a:t>
            </a:r>
          </a:p>
          <a:p>
            <a:r>
              <a:t>Q3. When should you take more time to decide?</a:t>
            </a:r>
          </a:p>
          <a:p>
            <a:r>
              <a:t>A: When the decision is permanent or hard to undo.</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Speed and deadlines 速度与期限</a:t>
            </a:r>
          </a:p>
          <a:p>
            <a:r>
              <a:t>领读 → 学员跟读 → 请学员用表达造一个和自己工作相关的句子。</a:t>
            </a:r>
          </a:p>
          <a:p>
            <a:r>
              <a:t>make a decision (collocation) 做决定 — “We need to make a decision by Friday.”</a:t>
            </a:r>
          </a:p>
          <a:p>
            <a:r>
              <a:t>set a deadline (collocation) 设定期限 — “Let’s set a deadline for this decision.”</a:t>
            </a:r>
          </a:p>
          <a:p>
            <a:r>
              <a:t>cut to the chase (idiom) 直奔主题 — “Let’s cut to the chase and decide.”</a:t>
            </a:r>
          </a:p>
          <a:p>
            <a:r>
              <a:t>★ analysis paralysis (noun) 分析瘫痪(想太多不决策) — “We’re stuck in analysis paralysis.”</a:t>
            </a:r>
          </a:p>
          <a:p>
            <a:r>
              <a:t>★ stall (verb) 拖延/停滞 — “The project has stalled.”</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Criteria 标准</a:t>
            </a:r>
          </a:p>
          <a:p>
            <a:r>
              <a:t>领读 → 学员跟读 → 请学员用表达造一个和自己工作相关的句子。</a:t>
            </a:r>
          </a:p>
          <a:p>
            <a:r>
              <a:t>criteria (noun (pl.)) 标准 — “What are the criteria for choosing?”</a:t>
            </a:r>
          </a:p>
          <a:p>
            <a:r>
              <a:t>prioritise (verb) 排优先级 — “Let’s prioritise the options.”</a:t>
            </a:r>
          </a:p>
          <a:p>
            <a:r>
              <a:t>trade-off (noun) 取舍 — “There’s always a trade-off between speed and quality.”</a:t>
            </a:r>
          </a:p>
          <a:p>
            <a:r>
              <a:t>★ a no-brainer (noun) 毫无疑问的决定 — “At that price, it’s a no-brainer.”</a:t>
            </a:r>
          </a:p>
          <a:p>
            <a:r>
              <a:t>★ reversible / irreversible (adjective) 可逆/不可逆 — “This decision is reversible.”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Communicating 传达决定</a:t>
            </a:r>
          </a:p>
          <a:p>
            <a:r>
              <a:t>领读 → 学员跟读 → 请学员用表达造一个和自己工作相关的句子。</a:t>
            </a:r>
          </a:p>
          <a:p>
            <a:r>
              <a:t>I’ve decided to… (phrase) 我决定… — “I’ve decided to go with option B.”</a:t>
            </a:r>
          </a:p>
          <a:p>
            <a:r>
              <a:t>Let’s go with… (phrase) 我们就选… — “Let’s go with the first plan.”</a:t>
            </a:r>
          </a:p>
          <a:p>
            <a:r>
              <a:t>★ sign off on (phrasal verb) 批准/签字 — “The director signed off on the budget.”</a:t>
            </a:r>
          </a:p>
          <a:p>
            <a:r>
              <a:t>★ move forward / move on (phrasal verb) 向前推进 — “Let’s move forward with this.”</a:t>
            </a:r>
          </a:p>
          <a:p>
            <a:r>
              <a:t>★ make the call (collocation) 拍板 — “Someone needs to make the call today.”</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decision / deadline / criteria / trade-off / no-brainer / stalled</a:t>
            </a:r>
          </a:p>
          <a:p>
            <a:r>
              <a:t>1. We need to make a _______ by Friday. → decision</a:t>
            </a:r>
          </a:p>
          <a:p>
            <a:r>
              <a:t>2. Let’s set a _______ for this choice. → deadline</a:t>
            </a:r>
          </a:p>
          <a:p>
            <a:r>
              <a:t>3. What are the _______ for choosing a supplier? → criteria</a:t>
            </a:r>
          </a:p>
          <a:p>
            <a:r>
              <a:t>4. There’s always a _______ between speed and quality. → trade-off</a:t>
            </a:r>
          </a:p>
          <a:p>
            <a:r>
              <a:t>5. At that price, it’s a _______. → no-brainer</a:t>
            </a:r>
          </a:p>
          <a:p>
            <a:r>
              <a:t>6. The project has _______ because nobody decided. → stalled</a:t>
            </a:r>
          </a:p>
          <a:p>
            <a:r>
              <a:t>Mistake Watch: (搭配) make a decision (不用 do/take,英式也可 take a decision); criteria 是复数, 单数 criterion。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quickly in a meeting 会议上快速决定</a:t>
            </a:r>
          </a:p>
          <a:p>
            <a:r>
              <a:t>情景：The team is stuck on a choice.</a:t>
            </a:r>
          </a:p>
          <a:p>
            <a:r>
              <a:t>Role A: Chair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(Chair): We’ve been going round in circles. Let’s cut to the chase. What are our criteria?</a:t>
            </a:r>
          </a:p>
          <a:p>
            <a:r>
              <a:t>B: Cost, speed and risk.</a:t>
            </a:r>
          </a:p>
          <a:p>
            <a:r>
              <a:t>A: On those, which option wins?</a:t>
            </a:r>
          </a:p>
          <a:p>
            <a:r>
              <a:t>B: Option B. It’s cheaper and faster, and the risk is low.</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Is the decision reversible?</a:t>
            </a:r>
          </a:p>
          <a:p>
            <a:r>
              <a:t>B: Yes. We can switch after three months.</a:t>
            </a:r>
          </a:p>
          <a:p>
            <a:r>
              <a:t>A: Then let’s go with B. I’ll sign off on it today.</a:t>
            </a:r>
          </a:p>
          <a:p>
            <a:r>
              <a:t>B: Great. I’ll start planning.</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push a stuck team to a decision.</a:t>
            </a:r>
          </a:p>
          <a:p>
            <a:r>
              <a:t>Your role (A) | Chair. Decision: ______________</a:t>
            </a:r>
          </a:p>
          <a:p>
            <a:r>
              <a:t>Partner’s role (B) | Team member.</a:t>
            </a:r>
          </a:p>
          <a:p>
            <a:r>
              <a:t>Must use (3 or more) | cut to the chase · criteria · reversible · Let’s go with… · sign off</a:t>
            </a:r>
          </a:p>
          <a:p>
            <a:r>
              <a:t>Goal | Set criteria, compare and decide in under five minutes.</a:t>
            </a:r>
          </a:p>
          <a:p>
            <a:r>
              <a:t>My notes | ____________________________________________</a:t>
            </a:r>
          </a:p>
          <a:p>
            <a:r>
              <a:t>Use a vote with a time limit.</a:t>
            </a:r>
          </a:p>
          <a:p>
            <a:r>
              <a:t>Name one risk and a review date.</a:t>
            </a:r>
          </a:p>
          <a:p>
            <a:r>
              <a:t>Respond to a colleague who says “we need more data”.</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Deciding with incomplete information 在信息不完整时决定</a:t>
            </a:r>
          </a:p>
          <a:p>
            <a:r>
              <a:t>情景：A manager asks whether you can decide now.</a:t>
            </a:r>
          </a:p>
          <a:p>
            <a:r>
              <a:t>Role A: Manager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you decide today, or do you need more data?</a:t>
            </a:r>
          </a:p>
          <a:p>
            <a:r>
              <a:t>B: I have about 70 per cent of what I’d like. I think it’s enough.</a:t>
            </a:r>
          </a:p>
          <a:p>
            <a:r>
              <a:t>A: What’s the risk if you’re wrong?</a:t>
            </a:r>
          </a:p>
          <a:p>
            <a:r>
              <a:t>B: We’d lose two weeks, but we could change course.</a:t>
            </a:r>
          </a:p>
          <a:p>
            <a:r>
              <a:t>A: Then I’d decide now. Waiting costs more.</a:t>
            </a:r>
          </a:p>
          <a:p>
            <a:r>
              <a:t>B: Agreed. I’ve decided to go with the smaller supplier.</a:t>
            </a:r>
          </a:p>
          <a:p>
            <a:r>
              <a:t>A: Good. Please tell the team by noon.</a:t>
            </a:r>
          </a:p>
          <a:p>
            <a:r>
              <a:t>B: Will do.</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decide with incomplete information.</a:t>
            </a:r>
          </a:p>
          <a:p>
            <a:r>
              <a:t>Your role (A) | Manager asking.</a:t>
            </a:r>
          </a:p>
          <a:p>
            <a:r>
              <a:t>Partner’s role (B) | Decision-maker. Choice: ______________</a:t>
            </a:r>
          </a:p>
          <a:p>
            <a:r>
              <a:t>Must use (3 or more) | about 70 per cent · enough · if I’m wrong · I’ve decided to… · course</a:t>
            </a:r>
          </a:p>
          <a:p>
            <a:r>
              <a:t>Goal | Explain why you will decide now and what the risk is.</a:t>
            </a:r>
          </a:p>
          <a:p>
            <a:r>
              <a:t>My notes | ____________________________________________</a:t>
            </a:r>
          </a:p>
          <a:p>
            <a:r>
              <a:t>Ask what would change your mind.</a:t>
            </a:r>
          </a:p>
          <a:p>
            <a:r>
              <a:t>Add a review point in two weeks.</a:t>
            </a:r>
          </a:p>
          <a:p>
            <a:r>
              <a:t>Explain the decision to a sceptical colleague.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some people delay decisions? | “They worry about… / They fear…”</a:t>
            </a:r>
          </a:p>
          <a:p>
            <a:r>
              <a:t>2. What are the risks of deciding too fast? | “You might miss… / You can make…”</a:t>
            </a:r>
          </a:p>
          <a:p>
            <a:r>
              <a:t>3. How would you decide in a crisis? | “I’d focus on… / I’d ask…”</a:t>
            </a:r>
          </a:p>
          <a:p>
            <a:r>
              <a:t>4. Who should make decisions in a team? | “The person who… / It depends on…”</a:t>
            </a:r>
          </a:p>
          <a:p>
            <a:r>
              <a:t>5. Which decisions in your job could be quicker? | “For example, … because…”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“Deciding too fast can make you miss important information. You might choose a supplier because the price is low, and later find that the quality is poor. It can also upset the team if they feel ignored. So I’d say: decide fast on small, reversible things, and slow down for big ones. That balance reduces most of the risk.”</a:t>
            </a:r>
          </a:p>
          <a:p>
            <a:r>
              <a:t>“reduce the risk” 降低风险;“slow down” 放慢。</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advice 给建议</a:t>
            </a:r>
          </a:p>
          <a:p>
            <a:r>
              <a:t>Structure | Example</a:t>
            </a:r>
          </a:p>
          <a:p>
            <a:r>
              <a:t>It helps to + verb | It helps to set a deadline.</a:t>
            </a:r>
          </a:p>
          <a:p>
            <a:r>
              <a:t>You could / should + verb | You could decide by Friday.</a:t>
            </a:r>
          </a:p>
          <a:p>
            <a:r>
              <a:t>The key is to + verb | The key is to separate big from small choices.</a:t>
            </a:r>
          </a:p>
          <a:p>
            <a:r>
              <a:t>If I were you, I’d… | If I were you, I’d go with B.</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advice 给建议</a:t>
            </a:r>
          </a:p>
          <a:p>
            <a:r>
              <a:t>After help, use to + verb or -ing: It helps to plan / It helps planning. The first is more natural.</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need to do a decision.  →  ✓ We need to make a decision.  (make a decision)</a:t>
            </a:r>
          </a:p>
          <a:p>
            <a:r>
              <a:t>✗ I’m difficult to decide.  →  ✓ I find it difficult to decide. / It’s difficult for me to decide.  (句型)</a:t>
            </a:r>
          </a:p>
          <a:p>
            <a:r>
              <a:t>✗ Let’s discuss about the options.  →  ✓ Let’s discuss the options.  (discuss 后不加 about)</a:t>
            </a:r>
          </a:p>
          <a:p>
            <a:r>
              <a:t>Mistake Watch: Check make a decision, discuss + 宾语, by (deadline), and criteria (复数).</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to decide until Friday.  →  ✓ We have to decide by Friday.  (by 表截止时间)</a:t>
            </a:r>
          </a:p>
          <a:p>
            <a:r>
              <a:t>✗ The criterias are cost and speed.  →  ✓ The criteria are cost and speed.  (criteria 已是复数)</a:t>
            </a:r>
          </a:p>
          <a:p>
            <a:r>
              <a:t>✗ I don’t want to lose time.  →  ✓ I don’t want to waste time.  (waste time)</a:t>
            </a:r>
          </a:p>
          <a:p>
            <a:r>
              <a:t>Mistake Watch: Check make a decision, discuss + 宾语, by (deadline), and criteria (复数).</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the decision clearly. “We’ll go with B” is better than “Maybe B could work”.</a:t>
            </a:r>
          </a:p>
          <a:p>
            <a:r>
              <a:t>Decide, then commit. Teams respect a decision even if they disagree.</a:t>
            </a:r>
          </a:p>
          <a:p>
            <a:r>
              <a:t>Record it. Send a two-line email: decision, owner, date.</a:t>
            </a:r>
          </a:p>
          <a:p>
            <a:r>
              <a:t>Consult, then decide. Ask for input but don’t ask for unanimity.</a:t>
            </a:r>
          </a:p>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set criteria and a deadline for a decision.</a:t>
            </a:r>
          </a:p>
          <a:p>
            <a:r>
              <a:t>I can say Let’s go with… / I’ve decided to… clearly.</a:t>
            </a:r>
          </a:p>
          <a:p>
            <a:r>
              <a:t>I can explain the trade-off between speed and quality.</a:t>
            </a:r>
          </a:p>
          <a:p>
            <a:r>
              <a:t>I use make a decision, by Friday, and discuss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Take one pending decision. Write criteria, a deadline and a sentence announcing it. Say it aloud.</a:t>
            </a:r>
          </a:p>
          <a:p>
            <a:r>
              <a:t>8–10 | Listen to your recording. Check: make a decision, by vs until, discuss, criteria.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30 · How to make hard choices 如何做艰难的选择</a:t>
            </a:r>
          </a:p>
          <a:p>
            <a:r>
              <a:t>Goal: discuss hard choices where options are not clearly better or worse, and explain values and trade-offs.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“have made” 现在完成时。“values” = 价值观。“hard choice” ≠ “wrong choice”。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a hard choice you made and how you decided.</a:t>
            </a:r>
          </a:p>
          <a:p>
            <a:r>
              <a:t>Say: the situation → the options → what mattered most → the decision → how you feel now.</a:t>
            </a:r>
          </a:p>
          <a:p>
            <a:r>
              <a:t>Useful starters: “I was torn between…” / “What mattered most to me was…” / “In the end, I chose… because…” / “Looking back, …”</a:t>
            </a:r>
          </a:p>
          <a:p>
            <a:r>
              <a:t>“be torn between A and B” = 在 A 与 B 之间难以抉择。</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Some choices are hard not because we lack information but because the options are different. Should a company keep a loyal but slow supplier, or switch to a faster, cheaper one it does not know? There is no calculation that gives the right answer. In these cases, advice often suggests turning the question around: ask what kind of person or company you want to be. If loyalty matters, you will stay. If growth matters more, you will switch. A second idea is that such a choice is not a test you can fail. It is a chance to express your values. Finally, write down the reasons for the choice. When you later feel doubt, you can remember why you decided, which makes it easier to commit.</a:t>
            </a:r>
          </a:p>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are some choices hard?</a:t>
            </a:r>
          </a:p>
          <a:p>
            <a:r>
              <a:t>A: Because the options are different and no calculation gives the answer.</a:t>
            </a:r>
          </a:p>
          <a:p>
            <a:r>
              <a:t>Q2. What question can help in these cases?</a:t>
            </a:r>
          </a:p>
          <a:p>
            <a:r>
              <a:t>A: What kind of person or company do I want to be?</a:t>
            </a:r>
          </a:p>
          <a:p>
            <a:r>
              <a:t>Q3. Why should you write down your reasons?</a:t>
            </a:r>
          </a:p>
          <a:p>
            <a:r>
              <a:t>A: To remember why you decided and commit when in doubt.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Hard choices 艰难抉择</a:t>
            </a:r>
          </a:p>
          <a:p>
            <a:r>
              <a:t>领读 → 学员跟读 → 请学员用表达造一个和自己工作相关的句子。</a:t>
            </a:r>
          </a:p>
          <a:p>
            <a:r>
              <a:t>be torn between (phrase) 在…之间难以抉择 — “I’m torn between two job offers.”</a:t>
            </a:r>
          </a:p>
          <a:p>
            <a:r>
              <a:t>a tough call (noun) 艰难的决定 — “It’s a tough call.”</a:t>
            </a:r>
          </a:p>
          <a:p>
            <a:r>
              <a:t>dilemma (noun) 两难 — “We face a dilemma.”</a:t>
            </a:r>
          </a:p>
          <a:p>
            <a:r>
              <a:t>★ a lose-lose situation (noun) 两败俱伤的局面 — “It’s a lose-lose situation.”</a:t>
            </a:r>
          </a:p>
          <a:p>
            <a:r>
              <a:t>★ between a rock and a hard place (idiom) 进退两难 — “We’re between a rock and a hard place.”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Values and trade-offs 价值与取舍</a:t>
            </a:r>
          </a:p>
          <a:p>
            <a:r>
              <a:t>领读 → 学员跟读 → 请学员用表达造一个和自己工作相关的句子。</a:t>
            </a:r>
          </a:p>
          <a:p>
            <a:r>
              <a:t>what matters most (phrase) 最重要的是 — “What matters most is trust.”</a:t>
            </a:r>
          </a:p>
          <a:p>
            <a:r>
              <a:t>give up (phrasal verb) 放弃 — “What are you willing to give up?”</a:t>
            </a:r>
          </a:p>
          <a:p>
            <a:r>
              <a:t>compromise (noun/verb) 妥协 — “We had to compromise on price.”</a:t>
            </a:r>
          </a:p>
          <a:p>
            <a:r>
              <a:t>★ weigh something against (collocation) 与…权衡 — “Weigh the risk against the reward.”</a:t>
            </a:r>
          </a:p>
          <a:p>
            <a:r>
              <a:t>★ at the expense of (phrase) 以…为代价 — “Growth came at the expense of quality.”</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After the decision 做决定之后</a:t>
            </a:r>
          </a:p>
          <a:p>
            <a:r>
              <a:t>领读 → 学员跟读 → 请学员用表达造一个和自己工作相关的句子。</a:t>
            </a:r>
          </a:p>
          <a:p>
            <a:r>
              <a:t>commit to (verb phrase) 承诺;投入 — “I’ve committed to the new plan.”</a:t>
            </a:r>
          </a:p>
          <a:p>
            <a:r>
              <a:t>no regrets (phrase) 无怨无悔 — “I have no regrets.”</a:t>
            </a:r>
          </a:p>
          <a:p>
            <a:r>
              <a:t>★ live with the consequences (collocation) 承担后果 — “We’ll have to live with the consequences.”</a:t>
            </a:r>
          </a:p>
          <a:p>
            <a:r>
              <a:t>★ in the long run (phrase) 从长远看 — “In the long run, it was the right choice.”</a:t>
            </a:r>
          </a:p>
          <a:p>
            <a:r>
              <a:t>★ burn bridges (idiom) 断了后路 — “Try not to burn bridges when you leave.”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torn / call / dilemma / matters / give / commit</a:t>
            </a:r>
          </a:p>
          <a:p>
            <a:r>
              <a:t>1. I’m _______ between two job offers. → torn</a:t>
            </a:r>
          </a:p>
          <a:p>
            <a:r>
              <a:t>2. It’s a tough _______. → call</a:t>
            </a:r>
          </a:p>
          <a:p>
            <a:r>
              <a:t>3. We face a _______: price or quality. → dilemma</a:t>
            </a:r>
          </a:p>
          <a:p>
            <a:r>
              <a:t>4. What _______ most is trust. → matters</a:t>
            </a:r>
          </a:p>
          <a:p>
            <a:r>
              <a:t>5. What are you willing to _______ up? → give</a:t>
            </a:r>
          </a:p>
          <a:p>
            <a:r>
              <a:t>6. Once I decide, I _______ fully. → commit</a:t>
            </a:r>
          </a:p>
          <a:p>
            <a:r>
              <a:t>Mistake Watch: (搭配) face a dilemma, make a tough call, weigh A against B; compromise on + 事项。</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Thinking through a hard choice 理清艰难选择</a:t>
            </a:r>
          </a:p>
          <a:p>
            <a:r>
              <a:t>情景：A colleague asks your advice about two offers.</a:t>
            </a:r>
          </a:p>
          <a:p>
            <a:r>
              <a:t>Role A: Colleague Role B: You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torn between staying here and joining a start-up.</a:t>
            </a:r>
          </a:p>
          <a:p>
            <a:r>
              <a:t>B: That’s a tough call. What matters most to you?</a:t>
            </a:r>
          </a:p>
          <a:p>
            <a:r>
              <a:t>A: Learning new things, but also a stable income.</a:t>
            </a:r>
          </a:p>
          <a:p>
            <a:r>
              <a:t>B: What would you have to give up in each case?</a:t>
            </a:r>
          </a:p>
          <a:p>
            <a:r>
              <a:t>A: Stability at the start-up. At my current firm, probably growth.</a:t>
            </a:r>
          </a:p>
          <a:p>
            <a:r>
              <a:t>B: Weigh each against your goals for the next three years.</a:t>
            </a:r>
          </a:p>
          <a:p>
            <a:r>
              <a:t>A: Good question. Growth probably wins.</a:t>
            </a:r>
          </a:p>
          <a:p>
            <a:r>
              <a:t>B: Then you have your answer, even if it’s not risk-free.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help a colleague with a hard choice.</a:t>
            </a:r>
          </a:p>
          <a:p>
            <a:r>
              <a:t>Your role (A) | Colleague with a dilemma: ______________</a:t>
            </a:r>
          </a:p>
          <a:p>
            <a:r>
              <a:t>Partner’s role (B) | Adviser.</a:t>
            </a:r>
          </a:p>
          <a:p>
            <a:r>
              <a:t>Must use (3 or more) | torn between · tough call · what matters most · give up · weigh against</a:t>
            </a:r>
          </a:p>
          <a:p>
            <a:r>
              <a:t>Goal | Ask questions that clarify values and trade-offs.</a:t>
            </a:r>
          </a:p>
          <a:p>
            <a:r>
              <a:t>My notes | ____________________________________________</a:t>
            </a:r>
          </a:p>
          <a:p>
            <a:r>
              <a:t>Use “if I were you, I’d…” only at the end.</a:t>
            </a:r>
          </a:p>
          <a:p>
            <a:r>
              <a:t>Ask: “What would you regret not doing?”</a:t>
            </a:r>
          </a:p>
          <a:p>
            <a:r>
              <a:t>Suggest a way to test the new option first.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Announcing a tough decision 宣布艰难决定</a:t>
            </a:r>
          </a:p>
          <a:p>
            <a:r>
              <a:t>情景：You tell the team you chose a new supplier.</a:t>
            </a:r>
          </a:p>
          <a:p>
            <a:r>
              <a:t>Role A: Manager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explain a tough decision. We’re switching to the new supplier.</a:t>
            </a:r>
          </a:p>
          <a:p>
            <a:r>
              <a:t>B: But the old supplier has been loyal to us for years.</a:t>
            </a:r>
          </a:p>
          <a:p>
            <a:r>
              <a:t>A: I know, and it wasn’t easy. We weighed loyalty against cost and delivery speed.</a:t>
            </a:r>
          </a:p>
          <a:p>
            <a:r>
              <a:t>B: So cost won.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In the long run, yes. We’ll live with some bad feelings, but I’ll be honest with them.</a:t>
            </a:r>
          </a:p>
          <a:p>
            <a:r>
              <a:t>B: Will you stay in touch with them?</a:t>
            </a:r>
          </a:p>
          <a:p>
            <a:r>
              <a:t>A: Of course. I don’t want to burn bridges.</a:t>
            </a:r>
          </a:p>
          <a:p>
            <a:r>
              <a:t>B: Fair enough. I appreciate your openness.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announce a hard decision.</a:t>
            </a:r>
          </a:p>
          <a:p>
            <a:r>
              <a:t>Your role (A) | Manager. Decision: ______________</a:t>
            </a:r>
          </a:p>
          <a:p>
            <a:r>
              <a:t>Partner’s role (B) | Team member who disagrees.</a:t>
            </a:r>
          </a:p>
          <a:p>
            <a:r>
              <a:t>Must use (3 or more) | tough decision · weighed… against · in the long run · live with the consequences · burn bridges</a:t>
            </a:r>
          </a:p>
          <a:p>
            <a:r>
              <a:t>Goal | Give reasons, accept feelings and stay respectful.</a:t>
            </a:r>
          </a:p>
          <a:p>
            <a:r>
              <a:t>My notes | ____________________________________________</a:t>
            </a:r>
          </a:p>
          <a:p>
            <a:r>
              <a:t>Start with empathy.</a:t>
            </a:r>
          </a:p>
          <a:p>
            <a:r>
              <a:t>State what you gave up.</a:t>
            </a:r>
          </a:p>
          <a:p>
            <a:r>
              <a:t>Offer help during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it hard to choose between two good options? | “Because whichever you choose…”</a:t>
            </a:r>
          </a:p>
          <a:p>
            <a:r>
              <a:t>2. How do your values affect decisions? | “For me, … matters most, so…”</a:t>
            </a:r>
          </a:p>
          <a:p>
            <a:r>
              <a:t>3. Should you ask others for advice? | “Yes, but in the end…”</a:t>
            </a:r>
          </a:p>
          <a:p>
            <a:r>
              <a:t>4. How do you live with a decision that turned out badly? | “I try to learn…”</a:t>
            </a:r>
          </a:p>
          <a:p>
            <a:r>
              <a:t>5. What hard choice does your company face? | “We’re torn between…”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try to separate the decision from the outcome. If I made the best choice I could with the information I had, I can accept the result, even if it’s bad. Then I ask what I can learn. For example, when a project I chose failed, I wrote a short review and shared it. That turned a bad result into something useful for the team.”</a:t>
            </a:r>
          </a:p>
          <a:p>
            <a:r>
              <a:t>“separate A from B” 把 A 与 B 分开;“turned… into” 转化为。</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values and regret 价值观与后悔</a:t>
            </a:r>
          </a:p>
          <a:p>
            <a:r>
              <a:t>Structure | Example</a:t>
            </a:r>
          </a:p>
          <a:p>
            <a:r>
              <a:t>I wish I had + past participle | I wish I had asked earlier.</a:t>
            </a:r>
          </a:p>
          <a:p>
            <a:r>
              <a:t>If I had… I would have… | If I had waited, I would have lost the client.</a:t>
            </a:r>
          </a:p>
          <a:p>
            <a:r>
              <a:t>I don’t regret + -ing | I don’t regret choosing the start-up.</a:t>
            </a:r>
          </a:p>
          <a:p>
            <a:r>
              <a:t>What matters (most) is… | What matters most is trust.</a:t>
            </a:r>
          </a:p>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values and regret 价值观与后悔</a:t>
            </a:r>
          </a:p>
          <a:p>
            <a:r>
              <a:t>Third conditional talks about unreal past situations: If + had + past participle, would have + past participle.</a:t>
            </a:r>
          </a:p>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torn among two jobs.  →  ✓ I am torn between two jobs.  (between 用于两项)</a:t>
            </a:r>
          </a:p>
          <a:p>
            <a:r>
              <a:t>✗ If I would have waited, I’d have lost it.  →  ✓ If I had waited, I would have lost it.  (if 从句用过去完成时)</a:t>
            </a:r>
          </a:p>
          <a:p>
            <a:r>
              <a:t>✗ It’s a hard decide.  →  ✓ It’s a hard decision.  (名词)</a:t>
            </a:r>
          </a:p>
          <a:p>
            <a:r>
              <a:t>Mistake Watch: Check between, third conditional (had + p.p.), regret + -ing, and noun vs verb (decision / decide).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must to live with it.  →  ✓ We must live with it.  (情态动词后不加 to)</a:t>
            </a:r>
          </a:p>
          <a:p>
            <a:r>
              <a:t>✗ I regret to choose that supplier.  →  ✓ I regret choosing that supplier.  (regret + -ing)</a:t>
            </a:r>
          </a:p>
          <a:p>
            <a:r>
              <a:t>✗ I’ve no regret.  →  ✓ I have no regrets. / I don’t regret it.  (regrets 复数)</a:t>
            </a:r>
          </a:p>
          <a:p>
            <a:r>
              <a:t>Mistake Watch: Check between, third conditional (had + p.p.), regret + -ing, and noun vs verb (decision / decide).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Explain your reasoning. English-speaking teams want to hear “why” behind tough calls.</a:t>
            </a:r>
          </a:p>
          <a:p>
            <a:r>
              <a:t>Show empathy. “I know this is difficult” before bad news helps.</a:t>
            </a:r>
          </a:p>
          <a:p>
            <a:r>
              <a:t>Don’t over-apologise. Be honest and own the decision.</a:t>
            </a:r>
          </a:p>
          <a:p>
            <a:r>
              <a:t>Be professional about change. Stay respectful to the people you leave behind.</a:t>
            </a:r>
          </a:p>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dilemma with torn between and a tough call.</a:t>
            </a:r>
          </a:p>
          <a:p>
            <a:r>
              <a:t>I can explain what matters most and what I would give up.</a:t>
            </a:r>
          </a:p>
          <a:p>
            <a:r>
              <a:t>I can use the third conditional to reflect on a decision.</a:t>
            </a:r>
          </a:p>
          <a:p>
            <a:r>
              <a:t>I use regret + -ing and between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hard choice, using three phrases from the lesson. Record and listen.</a:t>
            </a:r>
          </a:p>
          <a:p>
            <a:r>
              <a:t>8–10 | Listen to your recording. Check: third conditional, regret -ing, between, decision vs decide.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31 · Be more productive at work 提高工作效率</a:t>
            </a:r>
          </a:p>
          <a:p>
            <a:r>
              <a:t>Goal: discuss ways to be more productive, set priorities and explain your habits and routines.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“productive” = 高效的(形容词);“productivity” = 效率(名词);“distract” 动词 → “distractions” 名词。</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routine for getting the most important work done.</a:t>
            </a:r>
          </a:p>
          <a:p>
            <a:r>
              <a:t>Say: your peak time → your top priority → how you avoid distractions → breaks.</a:t>
            </a:r>
          </a:p>
          <a:p>
            <a:r>
              <a:t>Useful starters: “I tend to…” / “The first thing I do is…” / “I block out time for…” / “To avoid distractions, I…”</a:t>
            </a:r>
          </a:p>
          <a:p>
            <a:r>
              <a:t>“tend to + 动词原形” 习惯于;“block out time” 预留专门时间。</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Productivity is not about working more hours. Research on attention suggests that most people do their best thinking for only a few hours a day. So the first step is to find your peak time, maybe the morning, and protect it for important work. Don’t spend it on email. A second step is to choose three priorities every day. If you finish those, the day is a success. Third, reduce interruptions. Turn off notifications, put your phone away, and tell colleagues when you are in “focus mode”. Finally, take real breaks. A short walk or a cup of tea helps your brain recover. Many people feel guilty about breaks, but a rested mind usually produces better work in less time.</a:t>
            </a:r>
          </a:p>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When should you do important work?</a:t>
            </a:r>
          </a:p>
          <a:p>
            <a:r>
              <a:t>A: During your peak time, such as the morning.</a:t>
            </a:r>
          </a:p>
          <a:p>
            <a:r>
              <a:t>Q2. How many priorities does the writer suggest each day?</a:t>
            </a:r>
          </a:p>
          <a:p>
            <a:r>
              <a:t>A: Three.</a:t>
            </a:r>
          </a:p>
          <a:p>
            <a:r>
              <a:t>Q3. Why take real breaks?</a:t>
            </a:r>
          </a:p>
          <a:p>
            <a:r>
              <a:t>A: They help your brain recover so you work better in less time.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Priorities 优先事项</a:t>
            </a:r>
          </a:p>
          <a:p>
            <a:r>
              <a:t>领读 → 学员跟读 → 请学员用表达造一个和自己工作相关的句子。</a:t>
            </a:r>
          </a:p>
          <a:p>
            <a:r>
              <a:t>prioritise (verb) 优先处理 — “I prioritise my tasks every morning.”</a:t>
            </a:r>
          </a:p>
          <a:p>
            <a:r>
              <a:t>to-do list (noun) 待办清单 — “I keep a to-do list.”</a:t>
            </a:r>
          </a:p>
          <a:p>
            <a:r>
              <a:t>urgent vs important (phrase) 紧急与重要 — “Urgent isn’t always important.”</a:t>
            </a:r>
          </a:p>
          <a:p>
            <a:r>
              <a:t>★ top priority (noun) 首要事项 — “Safety is our top priority.”</a:t>
            </a:r>
          </a:p>
          <a:p>
            <a:r>
              <a:t>★ eat the frog (idiom) 先做最难的事 — “I eat the frog first thing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Focus 专注</a:t>
            </a:r>
          </a:p>
          <a:p>
            <a:r>
              <a:t>领读 → 学员跟读 → 请学员用表达造一个和自己工作相关的句子。</a:t>
            </a:r>
          </a:p>
          <a:p>
            <a:r>
              <a:t>stay focused (collocation) 保持专注 — “I turn off notifications to stay focused.”</a:t>
            </a:r>
          </a:p>
          <a:p>
            <a:r>
              <a:t>distraction (noun) 干扰 — “Email is a big distraction.”</a:t>
            </a:r>
          </a:p>
          <a:p>
            <a:r>
              <a:t>block out time (phrasal verb) 预留时间 — “I block out time for deep work.”</a:t>
            </a:r>
          </a:p>
          <a:p>
            <a:r>
              <a:t>★ deep work (noun) 深度工作 — “Deep work needs no interruptions.”</a:t>
            </a:r>
          </a:p>
          <a:p>
            <a:r>
              <a:t>★ multitask (verb) 一心多用 — “Few people multitask well.”</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Habits and balance 习惯与平衡</a:t>
            </a:r>
          </a:p>
          <a:p>
            <a:r>
              <a:t>领读 → 学员跟读 → 请学员用表达造一个和自己工作相关的句子。</a:t>
            </a:r>
          </a:p>
          <a:p>
            <a:r>
              <a:t>routine (noun) 日常惯例 — “I have a morning routine.”</a:t>
            </a:r>
          </a:p>
          <a:p>
            <a:r>
              <a:t>take a break (collocation) 休息一下 — “Take a break every hour.”</a:t>
            </a:r>
          </a:p>
          <a:p>
            <a:r>
              <a:t>delegate (verb) 授权/委派 — “Learn to delegate tasks.”</a:t>
            </a:r>
          </a:p>
          <a:p>
            <a:r>
              <a:t>★ burn out (phrasal verb) 精疲力竭 — “He burned out after two years.”</a:t>
            </a:r>
          </a:p>
          <a:p>
            <a:r>
              <a:t>★ get on top of (phrasal verb) 掌控局面 — “I’m trying to get on top of my inbox.”</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prioritise / to-do / distraction / block / break / delegate</a:t>
            </a:r>
          </a:p>
          <a:p>
            <a:r>
              <a:t>1. I _______ my tasks every morning. → prioritise</a:t>
            </a:r>
          </a:p>
          <a:p>
            <a:r>
              <a:t>2. I keep a daily _______ list. → to-do</a:t>
            </a:r>
          </a:p>
          <a:p>
            <a:r>
              <a:t>3. Email is a big _______. → distraction</a:t>
            </a:r>
          </a:p>
          <a:p>
            <a:r>
              <a:t>4. I _______ out time for deep work. → block</a:t>
            </a:r>
          </a:p>
          <a:p>
            <a:r>
              <a:t>5. Take a _______ every hour. → break</a:t>
            </a:r>
          </a:p>
          <a:p>
            <a:r>
              <a:t>6. Learn to _______ tasks to others. → delegate</a:t>
            </a:r>
          </a:p>
          <a:p>
            <a:r>
              <a:t>Mistake Watch: (搭配) take a break(不用 make), keep a to-do list, stay focused; 英式拼写 prioritise, 美式 prioritize。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Coaching a colleague 指导同事提高效率</a:t>
            </a:r>
          </a:p>
          <a:p>
            <a:r>
              <a:t>情景：A colleague feels overwhelmed.</a:t>
            </a:r>
          </a:p>
          <a:p>
            <a:r>
              <a:t>Role A: Coach Role B: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look stressed. What’s going on?</a:t>
            </a:r>
          </a:p>
          <a:p>
            <a:r>
              <a:t>B: I never finish anything. I’m always answering emails.</a:t>
            </a:r>
          </a:p>
          <a:p>
            <a:r>
              <a:t>A: When do you do your best work?</a:t>
            </a:r>
          </a:p>
          <a:p>
            <a:r>
              <a:t>B: In the morning, but that’s when I check my inbox.</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Try blocking out the first two hours for your top priority. Check email after that.</a:t>
            </a:r>
          </a:p>
          <a:p>
            <a:r>
              <a:t>B: Won’t people think I’m ignoring them?</a:t>
            </a:r>
          </a:p>
          <a:p>
            <a:r>
              <a:t>A: Tell them. A quick message: “I’m in focus mode until 11.”</a:t>
            </a:r>
          </a:p>
          <a:p>
            <a:r>
              <a:t>B: I’ll try that tomorrow.</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15 | </a:t>
            </a:r>
          </a:p>
          <a:p>
            <a:r>
              <a:t>Situation | You give practical advice to a colleague.</a:t>
            </a:r>
          </a:p>
          <a:p>
            <a:r>
              <a:t>Your role (A) | Coach.</a:t>
            </a:r>
          </a:p>
          <a:p>
            <a:r>
              <a:t>Partner’s role (B) | Colleague with problem: ______________</a:t>
            </a:r>
          </a:p>
          <a:p>
            <a:r>
              <a:t>Must use (3 or more) | block out time · top priority · stay focused · distraction · focus mode</a:t>
            </a:r>
          </a:p>
          <a:p>
            <a:r>
              <a:t>Goal | Ask questions, then give three practical tips.</a:t>
            </a:r>
          </a:p>
          <a:p>
            <a:r>
              <a:t>My notes | ____________________________________________</a:t>
            </a:r>
          </a:p>
          <a:p>
            <a:r>
              <a:t>Ask about their peak time.</a:t>
            </a:r>
          </a:p>
          <a:p>
            <a:r>
              <a:t>Suggest delegating one task.</a:t>
            </a:r>
          </a:p>
          <a:p>
            <a:r>
              <a:t>Agree on how to check progress.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priorities with your manager 与上司确定优先事项</a:t>
            </a:r>
          </a:p>
          <a:p>
            <a:r>
              <a:t>情景：You have too many tasks.</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have five tasks due this week, and I can’t do them all well.</a:t>
            </a:r>
          </a:p>
          <a:p>
            <a:r>
              <a:t>B: Which are the most urgent?</a:t>
            </a:r>
          </a:p>
          <a:p>
            <a:r>
              <a:t>A: The client report and the budget. The rest can wait.</a:t>
            </a:r>
          </a:p>
          <a:p>
            <a:r>
              <a:t>B: Which is the most important?</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think the client report, because it affects revenue.</a:t>
            </a:r>
          </a:p>
          <a:p>
            <a:r>
              <a:t>B: Then it’s our top priority. Can someone else take the training slides?</a:t>
            </a:r>
          </a:p>
          <a:p>
            <a:r>
              <a:t>A: Yes, Lucy could take them. I’ll hand over the notes today.</a:t>
            </a:r>
          </a:p>
          <a:p>
            <a:r>
              <a:t>B: Good. Tell me if anything slips.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16 | </a:t>
            </a:r>
          </a:p>
          <a:p>
            <a:r>
              <a:t>Situation | You negotiate priorities.</a:t>
            </a:r>
          </a:p>
          <a:p>
            <a:r>
              <a:t>Your role (A) | Employee with a full plate. Tasks: ______________</a:t>
            </a:r>
          </a:p>
          <a:p>
            <a:r>
              <a:t>Partner’s role (B) | Manager.</a:t>
            </a:r>
          </a:p>
          <a:p>
            <a:r>
              <a:t>Must use (3 or more) | urgent vs important · top priority · can wait · take over · slip</a:t>
            </a:r>
          </a:p>
          <a:p>
            <a:r>
              <a:t>Goal | Agree which tasks come first, which can wait and which to hand over.</a:t>
            </a:r>
          </a:p>
          <a:p>
            <a:r>
              <a:t>My notes | ____________________________________________</a:t>
            </a:r>
          </a:p>
          <a:p>
            <a:r>
              <a:t>Suggest a new deadline for one task.</a:t>
            </a:r>
          </a:p>
          <a:p>
            <a:r>
              <a:t>Say “no” politely to a new request.</a:t>
            </a:r>
          </a:p>
          <a:p>
            <a:r>
              <a:t>Offer a weekly check-in.</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biggest productivity killer in the office? | “I’d say… because…”</a:t>
            </a:r>
          </a:p>
          <a:p>
            <a:r>
              <a:t>2. Are meetings productive? | “Some are, if…”</a:t>
            </a:r>
          </a:p>
          <a:p>
            <a:r>
              <a:t>3. Is multitasking a good idea? | “Not really, because…”</a:t>
            </a:r>
          </a:p>
          <a:p>
            <a:r>
              <a:t>4. How do you protect your focus? | “I tend to… / I turn off…”</a:t>
            </a:r>
          </a:p>
          <a:p>
            <a:r>
              <a:t>5. Can working fewer hours increase productivity? | “It might, if…”</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don’t think multitasking works for most people. When I switch between a report and email, I lose focus and make more mistakes. It takes time to get back into the task. I do better with single tasks in blocks of 45 minutes. Then I take a short break and check messages. It’s less stressful, and the work is better.”</a:t>
            </a:r>
          </a:p>
          <a:p>
            <a:r>
              <a:t>“switch between” 在…之间切换;“get back into” 重新投入。</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Habits and routines 习惯和日常</a:t>
            </a:r>
          </a:p>
          <a:p>
            <a:r>
              <a:t>Structure | Example</a:t>
            </a:r>
          </a:p>
          <a:p>
            <a:r>
              <a:t>tend to + verb | I tend to work better in the morning.</a:t>
            </a:r>
          </a:p>
          <a:p>
            <a:r>
              <a:t>usually / normally / generally | I usually check email after lunch.</a:t>
            </a:r>
          </a:p>
          <a:p>
            <a:r>
              <a:t>be used to + -ing | I’m used to working from home.</a:t>
            </a:r>
          </a:p>
          <a:p>
            <a:r>
              <a:t>used to + verb | I used to answer emails all day.</a:t>
            </a:r>
          </a:p>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Habits and routines 习惯和日常</a:t>
            </a:r>
          </a:p>
          <a:p>
            <a:r>
              <a:t>Used to + verb = past habit that no longer exists. Be used to + -ing = familiar with.</a:t>
            </a:r>
          </a:p>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more productive in morning.  →  ✓ I am more productive in the morning.  (the morning)</a:t>
            </a:r>
          </a:p>
          <a:p>
            <a:r>
              <a:t>✗ I make a break every hour.  →  ✓ I take a break every hour.  (take a break)</a:t>
            </a:r>
          </a:p>
          <a:p>
            <a:r>
              <a:t>✗ I’m used to check email at night.  →  ✓ I’m used to checking email at night.  (used to + -ing)</a:t>
            </a:r>
          </a:p>
          <a:p>
            <a:r>
              <a:t>Mistake Watch: Check the morning, take a break, used to / be used to, and uncountable work.</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many works to do.  →  ✓ I have a lot of work to do.  (work 不可数)</a:t>
            </a:r>
          </a:p>
          <a:p>
            <a:r>
              <a:t>✗ I am very busy of work.  →  ✓ I am very busy with work.  (busy with)</a:t>
            </a:r>
          </a:p>
          <a:p>
            <a:r>
              <a:t>✗ It makes me to feel stressed.  →  ✓ It makes me feel stressed.  (make + 宾语 + 动词原形)</a:t>
            </a:r>
          </a:p>
          <a:p>
            <a:r>
              <a:t>Mistake Watch: Check the morning, take a break, used to / be used to, and uncountable work.</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Productive ≠ busy. Western offices value results over long hours.</a:t>
            </a:r>
          </a:p>
          <a:p>
            <a:r>
              <a:t>Say no politely. “I can’t take that on this week, but I can next week.”</a:t>
            </a:r>
          </a:p>
          <a:p>
            <a:r>
              <a:t>Breaks are normal. A lunch break away from the desk is common.</a:t>
            </a:r>
          </a:p>
          <a:p>
            <a:r>
              <a:t>Protect your calendar. Blocking focus time is accepted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routine and peak time using tend to / usually.</a:t>
            </a:r>
          </a:p>
          <a:p>
            <a:r>
              <a:t>I can set and explain priorities.</a:t>
            </a:r>
          </a:p>
          <a:p>
            <a:r>
              <a:t>I can give advice about focus and breaks.</a:t>
            </a:r>
          </a:p>
          <a:p>
            <a:r>
              <a:t>I use take a break, a lot of work and used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Plan tomorrow: three priorities, one focus block, one break. Say it aloud.</a:t>
            </a:r>
          </a:p>
          <a:p>
            <a:r>
              <a:t>8–10 | Listen to your recording. Check: take a break, work uncountable, used to, make + verb.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“待办清单” in English? → to-do list</a:t>
            </a:r>
          </a:p>
          <a:p>
            <a:r>
              <a:t>“症状(表象)” in English? → symptom</a:t>
            </a:r>
          </a:p>
          <a:p>
            <a:r>
              <a:t>“层层剥开” in English? → peel back the layers</a:t>
            </a:r>
          </a:p>
          <a:p>
            <a:r>
              <a:t>Fix it: The data are suggesting a problem. → The data suggests a problem.</a:t>
            </a:r>
          </a:p>
          <a:p>
            <a:r>
              <a:t>Fix it: Can you explain me this? → Can you explain this to me?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5.xml"/><Relationship Id="rId7" Type="http://schemas.openxmlformats.org/officeDocument/2006/relationships/slide" Target="slide112.xml"/><Relationship Id="rId8" Type="http://schemas.openxmlformats.org/officeDocument/2006/relationships/slide" Target="slide139.xml"/><Relationship Id="rId9" Type="http://schemas.openxmlformats.org/officeDocument/2006/relationships/slide" Target="slide165.xml"/><Relationship Id="rId10" Type="http://schemas.openxmlformats.org/officeDocument/2006/relationships/slide" Target="slide19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 Id="rId4" Type="http://schemas.openxmlformats.org/officeDocument/2006/relationships/slide" Target="slide219.xml"/><Relationship Id="rId5" Type="http://schemas.openxmlformats.org/officeDocument/2006/relationships/slide" Target="slide220.xml"/><Relationship Id="rId6" Type="http://schemas.openxmlformats.org/officeDocument/2006/relationships/slide" Target="slide221.xml"/><Relationship Id="rId7" Type="http://schemas.openxmlformats.org/officeDocument/2006/relationships/slide" Target="slide222.xml"/><Relationship Id="rId8" Type="http://schemas.openxmlformats.org/officeDocument/2006/relationships/slide" Target="slide223.xml"/><Relationship Id="rId9" Type="http://schemas.openxmlformats.org/officeDocument/2006/relationships/slide" Target="slide224.xml"/><Relationship Id="rId10" Type="http://schemas.openxmlformats.org/officeDocument/2006/relationships/slide" Target="slide225.xml"/><Relationship Id="rId11" Type="http://schemas.openxmlformats.org/officeDocument/2006/relationships/slide" Target="slide226.xml"/><Relationship Id="rId12" Type="http://schemas.openxmlformats.org/officeDocument/2006/relationships/slide" Target="slide22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8.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6</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Problem Solving</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8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L24 Problem solving · L25 Problem solving with 5 Whys “5 · L26 Querying figures · L27 Querying information · L28 Following your intuition · L29 How to make faster decisions · L30 How to make hard choices · L31 Be more productive at work</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24</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Problem solving</a:t>
            </a:r>
          </a:p>
          <a:p>
            <a:pPr algn="l">
              <a:lnSpc>
                <a:spcPct val="100000"/>
              </a:lnSpc>
              <a:spcAft>
                <a:spcPts val="800"/>
              </a:spcAft>
            </a:pPr>
            <a:r>
              <a:rPr sz="1400" b="0">
                <a:solidFill>
                  <a:srgbClr val="5F677A"/>
                </a:solidFill>
                <a:latin typeface="Arial"/>
                <a:ea typeface="Microsoft YaHei"/>
              </a:rPr>
              <a:t>解决问题</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25</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Problem solving with 5 Whys “5</a:t>
            </a:r>
          </a:p>
          <a:p>
            <a:pPr algn="l">
              <a:lnSpc>
                <a:spcPct val="100000"/>
              </a:lnSpc>
              <a:spcAft>
                <a:spcPts val="800"/>
              </a:spcAft>
            </a:pPr>
            <a:r>
              <a:rPr sz="1400" b="0">
                <a:solidFill>
                  <a:srgbClr val="5F677A"/>
                </a:solidFill>
                <a:latin typeface="Arial"/>
                <a:ea typeface="Microsoft YaHei"/>
              </a:rPr>
              <a:t>个为什么”解决问题</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26</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Querying figures</a:t>
            </a:r>
          </a:p>
          <a:p>
            <a:pPr algn="l">
              <a:lnSpc>
                <a:spcPct val="100000"/>
              </a:lnSpc>
              <a:spcAft>
                <a:spcPts val="800"/>
              </a:spcAft>
            </a:pPr>
            <a:r>
              <a:rPr sz="1400" b="0">
                <a:solidFill>
                  <a:srgbClr val="5F677A"/>
                </a:solidFill>
                <a:latin typeface="Arial"/>
                <a:ea typeface="Microsoft YaHei"/>
              </a:rPr>
              <a:t>质疑数据</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27</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Querying information</a:t>
            </a:r>
          </a:p>
          <a:p>
            <a:pPr algn="l">
              <a:lnSpc>
                <a:spcPct val="100000"/>
              </a:lnSpc>
              <a:spcAft>
                <a:spcPts val="800"/>
              </a:spcAft>
            </a:pPr>
            <a:r>
              <a:rPr sz="1400" b="0">
                <a:solidFill>
                  <a:srgbClr val="5F677A"/>
                </a:solidFill>
                <a:latin typeface="Arial"/>
                <a:ea typeface="Microsoft YaHei"/>
              </a:rPr>
              <a:t>信息查询</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28</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Following your intuition</a:t>
            </a:r>
          </a:p>
          <a:p>
            <a:pPr algn="l">
              <a:lnSpc>
                <a:spcPct val="100000"/>
              </a:lnSpc>
              <a:spcAft>
                <a:spcPts val="800"/>
              </a:spcAft>
            </a:pPr>
            <a:r>
              <a:rPr sz="1400" b="0">
                <a:solidFill>
                  <a:srgbClr val="5F677A"/>
                </a:solidFill>
                <a:latin typeface="Arial"/>
                <a:ea typeface="Microsoft YaHei"/>
              </a:rPr>
              <a:t>跟随直觉</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29</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make faster decisions</a:t>
            </a:r>
          </a:p>
          <a:p>
            <a:pPr algn="l">
              <a:lnSpc>
                <a:spcPct val="100000"/>
              </a:lnSpc>
              <a:spcAft>
                <a:spcPts val="800"/>
              </a:spcAft>
            </a:pPr>
            <a:r>
              <a:rPr sz="1400" b="0">
                <a:solidFill>
                  <a:srgbClr val="5F677A"/>
                </a:solidFill>
                <a:latin typeface="Arial"/>
                <a:ea typeface="Microsoft YaHei"/>
              </a:rPr>
              <a:t>如何更快地做决定</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30</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make hard choices</a:t>
            </a:r>
          </a:p>
          <a:p>
            <a:pPr algn="l">
              <a:lnSpc>
                <a:spcPct val="100000"/>
              </a:lnSpc>
              <a:spcAft>
                <a:spcPts val="800"/>
              </a:spcAft>
            </a:pPr>
            <a:r>
              <a:rPr sz="1400" b="0">
                <a:solidFill>
                  <a:srgbClr val="5F677A"/>
                </a:solidFill>
                <a:latin typeface="Arial"/>
                <a:ea typeface="Microsoft YaHei"/>
              </a:rPr>
              <a:t>如何做艰难的选择</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31</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Be more productive at work</a:t>
            </a:r>
          </a:p>
          <a:p>
            <a:pPr algn="l">
              <a:lnSpc>
                <a:spcPct val="100000"/>
              </a:lnSpc>
              <a:spcAft>
                <a:spcPts val="800"/>
              </a:spcAft>
            </a:pPr>
            <a:r>
              <a:rPr sz="1400" b="0">
                <a:solidFill>
                  <a:srgbClr val="5F677A"/>
                </a:solidFill>
                <a:latin typeface="Arial"/>
                <a:ea typeface="Microsoft YaHei"/>
              </a:rPr>
              <a:t>提高工作效率</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24 Problem solving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Problem solving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解决问题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a problem clearly, analyse causes, compare options and recommend a solution in a structured way.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last problem you solved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to solve problems alone or in a team?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first thing you do when a problem appears?</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remember a problem you solved too quickly? What went wrong?</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a good problem-solver in your team? What do they do?</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1、4 题讲过去的事,用过去式(solved, went wrong)。第 3 题用一般现在时。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work problem you solved and how you did it.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cause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options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solution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the result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problem was that…   💬 It was caused by…   💬 We considered… but we decided to…   💬 As a result,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caused by” 是被动结构;“result in / lead to” 后接结果。We decided to + 动词原形。</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Problem first, solution second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a key customer complained about late deliveries, the logistics team’s first reaction was to hire more drivers. Their manager, Priya, stopped them. “Before we spend money, let’s understand the problem,” she said. The team collected data for a week. It turned out that only one route was late, and the cause was not the drivers but a loading delay at one warehouse. They considered three options: change the loading schedule, add a second loading team, or move that route to another warehouse. The first was cheapest and fastest, so they tested it for two weeks. Late deliveries on that route fell from 30 to 4 per cent. “If we had hired drivers,” Priya said, “we’d have spent a lot and fixed nothing.”</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the team’s first idea?</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Hire more drivers.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was the real cause?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loading delay at one warehouse on one route.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did they check their solution?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tested the new loading schedule for two weeks and late deliveries fell from 30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Defining the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界定问题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issue / problem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an issue with the supplier.”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root cause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根本原因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find the root cause.”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problem is that…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问题在于…</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problem is that nobody owns the process.”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to the bottom of</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查明真相</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get to the bottom of this.”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caused by / result from</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由…引起</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delay was caused by a loading problem.”</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Options and decisions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方案与决策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weigh up the options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权衡各方案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weigh up the options before we decide.”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pros and cons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利弊</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the pros and cons?”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quick fix</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权宜之计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only a quick fix, not a solution.”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up with</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came up with three possible solutions.”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recommend…</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我建议…</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recommend changing the loading schedule.”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Taking action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采取行动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implement a solution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实施方案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implement the solution next month.”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trial run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试运行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do a two-week trial run.”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nip it in the bud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防患于未然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nip it in the bud before it grows.”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monitor</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monitor late deliveries weekly.”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 (it) out</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解决;弄清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work out a solution together.”</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监测</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monitor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由…引起</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caused by / result from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解决;弄清</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(it) 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利弊</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pros and cons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防患于未然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nip it in the bud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权宜之计</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quick fix</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权衡各方案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up the options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查明真相</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to the bottom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issue</a:t>
            </a:r>
          </a:p>
        </p:txBody>
      </p:sp>
      <p:sp>
        <p:nvSpPr>
          <p:cNvPr id="10" name="Rounded Rectangle 9"/>
          <p:cNvSpPr/>
          <p:nvPr/>
        </p:nvSpPr>
        <p:spPr>
          <a:xfrm>
            <a:off x="3017520"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root</a:t>
            </a:r>
          </a:p>
        </p:txBody>
      </p:sp>
      <p:sp>
        <p:nvSpPr>
          <p:cNvPr id="11" name="Rounded Rectangle 10"/>
          <p:cNvSpPr/>
          <p:nvPr/>
        </p:nvSpPr>
        <p:spPr>
          <a:xfrm>
            <a:off x="3913632"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bottom</a:t>
            </a:r>
          </a:p>
        </p:txBody>
      </p:sp>
      <p:sp>
        <p:nvSpPr>
          <p:cNvPr id="12" name="Rounded Rectangle 11"/>
          <p:cNvSpPr/>
          <p:nvPr/>
        </p:nvSpPr>
        <p:spPr>
          <a:xfrm>
            <a:off x="5029200"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weigh</a:t>
            </a:r>
          </a:p>
        </p:txBody>
      </p:sp>
      <p:sp>
        <p:nvSpPr>
          <p:cNvPr id="13" name="Rounded Rectangle 12"/>
          <p:cNvSpPr/>
          <p:nvPr/>
        </p:nvSpPr>
        <p:spPr>
          <a:xfrm>
            <a:off x="6035040" y="987552"/>
            <a:ext cx="69494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fix</a:t>
            </a:r>
          </a:p>
        </p:txBody>
      </p:sp>
      <p:sp>
        <p:nvSpPr>
          <p:cNvPr id="14" name="Rounded Rectangle 13"/>
          <p:cNvSpPr/>
          <p:nvPr/>
        </p:nvSpPr>
        <p:spPr>
          <a:xfrm>
            <a:off x="6821424"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monitor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have an _______ with the supplier.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issue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need to find the _______ cause.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need to get to the _______ of this.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bottom</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Let’s _______ up the options before we decide.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That’s only a quick _______, not a solution.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fix</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We’ll _______ late deliveries weekly.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monitor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 solve a problem / deal with an issue / come up with a solution (not “make a solution”); spelling: solution, problem, monitor.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Reporting a problem with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带着方案汇报问题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tell your manager about a problem and suggest what to do.</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Priya Rao,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Wu, team member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a problem with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Priya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 you wanted to talk about the deliveries?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The problem is that one route is late almost every 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we know why?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seems to be caused by a loading delay at the north warehouse, not by the drivers.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Reporting a problem with a proposal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options do we have?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change the loading schedule, add a second loading team, or move the route. I’d recommend the first, because it’s cheapest.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Sensible. Can we try it as a two-week trial run?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I’ll monitor the results weekly.</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Reporting a problem with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a problem with a possible solution.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Your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asks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problem is that… · It seems to be caused by… · We could… · I’d recommend… · trial run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the problem, cause, three options and one recommendation.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says “Why wasn’t this solved earlier?” Stay calm and factual.</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deadline: “I’ll report back on Friday.”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risk of your option.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team brainstorm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团队头脑风暴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team chooses among three options.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Facilitator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A team brainstorm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Facilitator</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weigh up the three options. What are the pros and cons of option one?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pro is that it’s cheap and quick. The con is that it may only be a quick fix.</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option two?</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would solve the cause, but we’d need new staff, which is expensive.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 team brainstorm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option three?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risky. We’ve never moved a route before.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which do you prefer?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start with option one, then review in a month and decide about option two.</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team brainstorm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options in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Facilitator.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pros and cons · weigh up · quick fix · I’d start with… · review</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three options and agree a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table with criteria: cost, speed, risk.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Vote and give one reason.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 decision.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first step in solving a problem?</a:t>
            </a:r>
          </a:p>
          <a:p>
            <a:pPr algn="l">
              <a:lnSpc>
                <a:spcPct val="115000"/>
              </a:lnSpc>
              <a:spcAft>
                <a:spcPts val="800"/>
              </a:spcAft>
            </a:pPr>
            <a:r>
              <a:rPr sz="1400" b="0">
                <a:solidFill>
                  <a:srgbClr val="5F677A"/>
                </a:solidFill>
                <a:latin typeface="Arial"/>
                <a:ea typeface="Microsoft YaHei"/>
              </a:rPr>
              <a:t>💬 “I think it’s…” / “Before anything, I’d…”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quick fixes often fail?</a:t>
            </a:r>
          </a:p>
          <a:p>
            <a:pPr algn="l">
              <a:lnSpc>
                <a:spcPct val="115000"/>
              </a:lnSpc>
              <a:spcAft>
                <a:spcPts val="800"/>
              </a:spcAft>
            </a:pPr>
            <a:r>
              <a:rPr sz="1400" b="0">
                <a:solidFill>
                  <a:srgbClr val="5F677A"/>
                </a:solidFill>
                <a:latin typeface="Arial"/>
                <a:ea typeface="Microsoft YaHei"/>
              </a:rPr>
              <a:t>💬 “They fix the symptom, not…” /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choose between several solutions?</a:t>
            </a:r>
          </a:p>
          <a:p>
            <a:pPr algn="l">
              <a:lnSpc>
                <a:spcPct val="115000"/>
              </a:lnSpc>
              <a:spcAft>
                <a:spcPts val="800"/>
              </a:spcAft>
            </a:pPr>
            <a:r>
              <a:rPr sz="1400" b="0">
                <a:solidFill>
                  <a:srgbClr val="5F677A"/>
                </a:solidFill>
                <a:latin typeface="Arial"/>
                <a:ea typeface="Microsoft YaHei"/>
              </a:rPr>
              <a:t>💬 “I compare them by…” / “The key criteria are…”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involved in problem-solving?</a:t>
            </a:r>
          </a:p>
          <a:p>
            <a:pPr algn="l">
              <a:lnSpc>
                <a:spcPct val="115000"/>
              </a:lnSpc>
              <a:spcAft>
                <a:spcPts val="800"/>
              </a:spcAft>
            </a:pPr>
            <a:r>
              <a:rPr sz="1400" b="0">
                <a:solidFill>
                  <a:srgbClr val="5F677A"/>
                </a:solidFill>
                <a:latin typeface="Arial"/>
                <a:ea typeface="Microsoft YaHei"/>
              </a:rPr>
              <a:t>💬 “The people who…” / “Include someone who…”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problem at your work needs solving now?</a:t>
            </a:r>
          </a:p>
          <a:p>
            <a:pPr algn="l">
              <a:lnSpc>
                <a:spcPct val="115000"/>
              </a:lnSpc>
              <a:spcAft>
                <a:spcPts val="800"/>
              </a:spcAft>
            </a:pPr>
            <a:r>
              <a:rPr sz="1400" b="0">
                <a:solidFill>
                  <a:srgbClr val="5F677A"/>
                </a:solidFill>
                <a:latin typeface="Arial"/>
                <a:ea typeface="Microsoft YaHei"/>
              </a:rPr>
              <a:t>💬 “One problem is…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quick fix treats the symptom, not the cause. For example, if a report is always late, working extra hours might help once, but the real cause may be missing data. So the problem comes back. I prefer to spend a day finding the root cause. It feels slow, but it saves a lot of time later.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“treat the symptom” = 治标;“the problem comes back” = 问题会再次出现;“It feels slow, but…” 对比让步。</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effect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因果表达</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Cause → effect</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because of / due to + noun</a:t>
                      </a:r>
                    </a:p>
                  </a:txBody>
                  <a:tcPr anchor="ctr">
                    <a:solidFill>
                      <a:srgbClr val="FFFFFF"/>
                    </a:solidFill>
                  </a:tcPr>
                </a:tc>
                <a:tc>
                  <a:txBody>
                    <a:bodyPr wrap="square"/>
                    <a:lstStyle/>
                    <a:p>
                      <a:r>
                        <a:rPr sz="1600" b="0">
                          <a:solidFill>
                            <a:srgbClr val="1F2A44"/>
                          </a:solidFill>
                          <a:latin typeface="Arial"/>
                          <a:ea typeface="Microsoft YaHei"/>
                        </a:rPr>
                        <a:t>Because of a loading delay, the route was late.</a:t>
                      </a:r>
                    </a:p>
                  </a:txBody>
                  <a:tcPr anchor="ctr">
                    <a:solidFill>
                      <a:srgbClr val="FFFFFF"/>
                    </a:solidFill>
                  </a:tcPr>
                </a:tc>
              </a:tr>
              <a:tr h="408432">
                <a:tc>
                  <a:txBody>
                    <a:bodyPr wrap="square"/>
                    <a:lstStyle/>
                    <a:p>
                      <a:r>
                        <a:rPr sz="1600" b="1">
                          <a:solidFill>
                            <a:srgbClr val="1F2A44"/>
                          </a:solidFill>
                          <a:latin typeface="Arial"/>
                          <a:ea typeface="Microsoft YaHei"/>
                        </a:rPr>
                        <a:t>because / as / since + clause</a:t>
                      </a:r>
                    </a:p>
                  </a:txBody>
                  <a:tcPr anchor="ctr">
                    <a:solidFill>
                      <a:srgbClr val="FFEFD9"/>
                    </a:solidFill>
                  </a:tcPr>
                </a:tc>
                <a:tc>
                  <a:txBody>
                    <a:bodyPr wrap="square"/>
                    <a:lstStyle/>
                    <a:p>
                      <a:r>
                        <a:rPr sz="1600" b="0">
                          <a:solidFill>
                            <a:srgbClr val="1F2A44"/>
                          </a:solidFill>
                          <a:latin typeface="Arial"/>
                          <a:ea typeface="Microsoft YaHei"/>
                        </a:rPr>
                        <a:t>The route was late because the loading was slow.</a:t>
                      </a:r>
                    </a:p>
                  </a:txBody>
                  <a:tcPr anchor="ctr">
                    <a:solidFill>
                      <a:srgbClr val="FFEFD9"/>
                    </a:solidFill>
                  </a:tcPr>
                </a:tc>
              </a:tr>
              <a:tr h="408432">
                <a:tc>
                  <a:txBody>
                    <a:bodyPr wrap="square"/>
                    <a:lstStyle/>
                    <a:p>
                      <a:r>
                        <a:rPr sz="1600" b="1">
                          <a:solidFill>
                            <a:srgbClr val="1F2A44"/>
                          </a:solidFill>
                          <a:latin typeface="Arial"/>
                          <a:ea typeface="Microsoft YaHei"/>
                        </a:rPr>
                        <a:t>lead to / result in + noun</a:t>
                      </a:r>
                    </a:p>
                  </a:txBody>
                  <a:tcPr anchor="ctr">
                    <a:solidFill>
                      <a:srgbClr val="FFFFFF"/>
                    </a:solidFill>
                  </a:tcPr>
                </a:tc>
                <a:tc>
                  <a:txBody>
                    <a:bodyPr wrap="square"/>
                    <a:lstStyle/>
                    <a:p>
                      <a:r>
                        <a:rPr sz="1600" b="0">
                          <a:solidFill>
                            <a:srgbClr val="1F2A44"/>
                          </a:solidFill>
                          <a:latin typeface="Arial"/>
                          <a:ea typeface="Microsoft YaHei"/>
                        </a:rPr>
                        <a:t>Slow loading led to late deliveries.</a:t>
                      </a:r>
                    </a:p>
                  </a:txBody>
                  <a:tcPr anchor="ctr">
                    <a:solidFill>
                      <a:srgbClr val="FFFFFF"/>
                    </a:solidFill>
                  </a:tcPr>
                </a:tc>
              </a:tr>
              <a:tr h="652272">
                <a:tc>
                  <a:txBody>
                    <a:bodyPr wrap="square"/>
                    <a:lstStyle/>
                    <a:p>
                      <a:r>
                        <a:rPr sz="1600" b="1">
                          <a:solidFill>
                            <a:srgbClr val="1F2A44"/>
                          </a:solidFill>
                          <a:latin typeface="Arial"/>
                          <a:ea typeface="Microsoft YaHei"/>
                        </a:rPr>
                        <a:t>so / therefore / as a result</a:t>
                      </a:r>
                    </a:p>
                  </a:txBody>
                  <a:tcPr anchor="ctr">
                    <a:solidFill>
                      <a:srgbClr val="FFEFD9"/>
                    </a:solidFill>
                  </a:tcPr>
                </a:tc>
                <a:tc>
                  <a:txBody>
                    <a:bodyPr wrap="square"/>
                    <a:lstStyle/>
                    <a:p>
                      <a:r>
                        <a:rPr sz="1600" b="0">
                          <a:solidFill>
                            <a:srgbClr val="1F2A44"/>
                          </a:solidFill>
                          <a:latin typeface="Arial"/>
                          <a:ea typeface="Microsoft YaHei"/>
                        </a:rPr>
                        <a:t>Loading was slow. As a result, deliveries were late.</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and effect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因果表达</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Due to and because of are followed by a noun; because by a full clause.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Because the delay, we lost the client.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Because of the delay, we lost the client.</a:t>
            </a:r>
          </a:p>
          <a:p>
            <a:pPr algn="l">
              <a:spcAft>
                <a:spcPts val="200"/>
              </a:spcAft>
            </a:pPr>
            <a:r>
              <a:rPr sz="1200" b="0">
                <a:solidFill>
                  <a:srgbClr val="FFFFFF"/>
                </a:solidFill>
                <a:latin typeface="Arial"/>
                <a:ea typeface="Microsoft YaHei"/>
              </a:rPr>
              <a:t>because of + 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problem is solve.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problem is solved.</a:t>
            </a:r>
          </a:p>
          <a:p>
            <a:pPr algn="l">
              <a:spcAft>
                <a:spcPts val="200"/>
              </a:spcAft>
            </a:pPr>
            <a:r>
              <a:rPr sz="1200" b="0">
                <a:solidFill>
                  <a:srgbClr val="FFFFFF"/>
                </a:solidFill>
                <a:latin typeface="Arial"/>
                <a:ea typeface="Microsoft YaHei"/>
              </a:rPr>
              <a:t>被动</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made a solution.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came up with a solution.</a:t>
            </a:r>
          </a:p>
          <a:p>
            <a:pPr algn="l">
              <a:spcAft>
                <a:spcPts val="200"/>
              </a:spcAft>
            </a:pPr>
            <a:r>
              <a:rPr sz="1200" b="0">
                <a:solidFill>
                  <a:srgbClr val="FFFFFF"/>
                </a:solidFill>
                <a:latin typeface="Arial"/>
                <a:ea typeface="Microsoft YaHei"/>
              </a:rPr>
              <a:t>搭配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to change the plan.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changing the plan.</a:t>
            </a:r>
          </a:p>
          <a:p>
            <a:pPr algn="l">
              <a:spcAft>
                <a:spcPts val="200"/>
              </a:spcAft>
            </a:pPr>
            <a:r>
              <a:rPr sz="1200" b="0">
                <a:solidFill>
                  <a:srgbClr val="FFFFFF"/>
                </a:solidFill>
                <a:latin typeface="Arial"/>
                <a:ea typeface="Microsoft YaHei"/>
              </a:rPr>
              <a:t>suggest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reason is because we had no data.</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reason is that we had no data.</a:t>
            </a:r>
          </a:p>
          <a:p>
            <a:pPr algn="l">
              <a:spcAft>
                <a:spcPts val="200"/>
              </a:spcAft>
            </a:pPr>
            <a:r>
              <a:rPr sz="1200" b="0">
                <a:solidFill>
                  <a:srgbClr val="FFFFFF"/>
                </a:solidFill>
                <a:latin typeface="Arial"/>
                <a:ea typeface="Microsoft YaHei"/>
              </a:rPr>
              <a:t>reason is that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caused by a bug.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caused by a bug.</a:t>
            </a:r>
          </a:p>
          <a:p>
            <a:pPr algn="l">
              <a:spcAft>
                <a:spcPts val="200"/>
              </a:spcAft>
            </a:pPr>
            <a:r>
              <a:rPr sz="1200" b="0">
                <a:solidFill>
                  <a:srgbClr val="FFFFFF"/>
                </a:solidFill>
                <a:latin typeface="Arial"/>
                <a:ea typeface="Microsoft YaHei"/>
              </a:rPr>
              <a:t>be caused by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because of + noun, the reason is that, and the passive was caused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Bring options, not only problems. UK/US managers appreciate “Here’s the issue and what I suggest”.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Blame-free language. “The process failed” is better than “John failed”.</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Use data. “Late deliveries rose from 5 to 30 per cent” is stronger than “many”.</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Test small. A trial run is more acceptable than a big change.</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problem with The problem is that… and name its root cause.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options with pros and cons.</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a solution with I’d recommend…</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because of / because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24 Problem solving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real problem and your recommendation in 90 seconds. Record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because of vs because, the reason is that, passive causes.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25 Problem solving with 5 Whys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Problem solving with 5 Whys “5</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个为什么”解决问题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use the 5 Whys technique to find the root cause of a problem and explain your analysis and action plan.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solved the same problem more than once? Why did it come back?</a:t>
            </a:r>
          </a:p>
        </p:txBody>
      </p:sp>
      <p:sp>
        <p:nvSpPr>
          <p:cNvPr id="12" name="Oval 11"/>
          <p:cNvSpPr/>
          <p:nvPr/>
        </p:nvSpPr>
        <p:spPr>
          <a:xfrm>
            <a:off x="548640" y="276148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someone makes a mistake, do you look for a person to blame or a cause?</a:t>
            </a:r>
          </a:p>
        </p:txBody>
      </p:sp>
      <p:sp>
        <p:nvSpPr>
          <p:cNvPr id="15" name="Oval 14"/>
          <p:cNvSpPr/>
          <p:nvPr/>
        </p:nvSpPr>
        <p:spPr>
          <a:xfrm>
            <a:off x="548640" y="36027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57225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57225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question do you ask most often at work?</a:t>
            </a:r>
          </a:p>
        </p:txBody>
      </p:sp>
      <p:sp>
        <p:nvSpPr>
          <p:cNvPr id="18" name="Oval 17"/>
          <p:cNvSpPr/>
          <p:nvPr/>
        </p:nvSpPr>
        <p:spPr>
          <a:xfrm>
            <a:off x="548640" y="42763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24586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24586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you last ask “why?” several times in a row?</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can a team ask “why” without sounding critical?</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“have you ever solved” 用现在完成时;第 4 题用过去式。“blame” = 责备,指责。</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the 5 Whys technique works using a simple example.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1</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why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the root cause and the fix</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problem was that…   💬 Why? Because…   💬 So the root cause is…   💬 To prevent this, we’ll…</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5 Whys 是连续追问”为什么”。“To prevent this, we’ll + 动词原形” 说明纠正措施。</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Why did the machine stop?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factory manager asked why a machine had stopped. Because a fuse blew. Why? Because the motor was overloaded. Why? Because the bearings were dry. Why? Because the oil pump was worn. Why? Because nobody had cleaned its filter, and there was no maintenance schedule. The fifth answer showed the real issue: no schedule. If they had just replaced the fuse, the machine would have stopped again within weeks. Instead, they created a weekly check list and gave one person responsibility. The technique, developed in car manufacturing, works best when people ask questions about the process, not the person. Its main risk is stopping too early. “Five is a guide, not a rule,” the manager says. “Keep asking until the answer is something you can change.”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the first reason for the machine stopping?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fuse blew.</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was the real root cause?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maintenance schedule (nobody cleaned the filter).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should you stop asking “why”?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the answer is something you can change.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Asking why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追问原因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root cause analysis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根本原因分析</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did a root cause analysis after the failure.”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 deeper</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深挖</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dig deeper. Why did that happen?”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real reason is…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真正的原因是…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real reason is that nobody checked the filter.”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symptom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症状(表象)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“Late delivery is a symptom, not the cause.”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peel back the layers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层层剥开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peeled back the layers until we found the cause.”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Describing the chain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描述因果链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which led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这导致…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late supplier led to a delay, which led to a complaint.”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a result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结果是…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a result, the line stopped.”</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trace (something) back to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追溯到</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traced the error back to a wrong code.”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knock-on effect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连锁反应</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delay had a knock-on effect on other orders.”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contributing factor</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促成因素</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“Stress was a contributing factor.”</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Fixing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纠正措施</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corrective action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纠正措施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corrective action is a weekly check.”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prevent… from happening again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防止再次发生</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prevent it from happening again.”</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a process in place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建立流程</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put a new process in place.”</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ownership of</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主动负责</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will take ownership of this?”</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follow-up</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后续跟进</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hold a follow-up in a month.”</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根本原因分析</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root cause analysis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后续跟进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follow-up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症状(表象)</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symptom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建立流程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a process in place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这导致…</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which led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主动负责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ownership of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结果是…</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a result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层层剥开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peel back the layers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analysis</a:t>
            </a:r>
          </a:p>
        </p:txBody>
      </p:sp>
      <p:sp>
        <p:nvSpPr>
          <p:cNvPr id="10" name="Rounded Rectangle 9"/>
          <p:cNvSpPr/>
          <p:nvPr/>
        </p:nvSpPr>
        <p:spPr>
          <a:xfrm>
            <a:off x="3346704"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deeper</a:t>
            </a:r>
          </a:p>
        </p:txBody>
      </p:sp>
      <p:sp>
        <p:nvSpPr>
          <p:cNvPr id="11" name="Rounded Rectangle 10"/>
          <p:cNvSpPr/>
          <p:nvPr/>
        </p:nvSpPr>
        <p:spPr>
          <a:xfrm>
            <a:off x="4462272"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symptom</a:t>
            </a:r>
          </a:p>
        </p:txBody>
      </p:sp>
      <p:sp>
        <p:nvSpPr>
          <p:cNvPr id="12" name="Rounded Rectangle 11"/>
          <p:cNvSpPr/>
          <p:nvPr/>
        </p:nvSpPr>
        <p:spPr>
          <a:xfrm>
            <a:off x="5687568"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led</a:t>
            </a:r>
          </a:p>
        </p:txBody>
      </p:sp>
      <p:sp>
        <p:nvSpPr>
          <p:cNvPr id="13" name="Rounded Rectangle 12"/>
          <p:cNvSpPr/>
          <p:nvPr/>
        </p:nvSpPr>
        <p:spPr>
          <a:xfrm>
            <a:off x="6473952"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ownership</a:t>
            </a:r>
          </a:p>
        </p:txBody>
      </p:sp>
      <p:sp>
        <p:nvSpPr>
          <p:cNvPr id="14" name="Rounded Rectangle 13"/>
          <p:cNvSpPr/>
          <p:nvPr/>
        </p:nvSpPr>
        <p:spPr>
          <a:xfrm>
            <a:off x="7918704"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prevent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did a root cause _______ after the failure.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analysis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Let’s dig _______. Why did that happen?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deeper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Late delivery is a _______, not the cause.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symptom</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late supplier _______ to a delay.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Who will take _______ of this?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ownership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want to _______ it from happening again.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prevent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(搭配与拼写) lead TO, result IN, result FROM; spelling: analysis (plural analyses), symptom, ownership.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Facilitating a 5 Whys session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主持”5个为什么”分析</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delivery error happened. You lead the analysis.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Marta, facilitator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Chen, warehouse supervisor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Facilitating a 5 Whys session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Marta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order went to the wrong address. Why did that happen?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the label had the wrong address.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was the label wrong?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the system used an old customer record.</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Facilitating a 5 Whys session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was the record old?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nobody updated it after the customer moved.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not?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no process for updating it. So the root cause is the missing process.</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Facilitating a 5 Whys session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lead a 5 Whys analysis.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Facilitator.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Person closest to the problem.</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Why did that happen? · Because… · root cause · symptom · corrective action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five “why” questions and state the root cause.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blame: “Let’s focus on the process.”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Stop when the answer is actionable.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Assign an owner and a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Reporting the root cause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汇报根本原因</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the analysis and action plan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Marta, analyst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Hale, manager</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Reporting the root cause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Marta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traced the wrong delivery back to an outdated customer record.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Hale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root cause?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 was no process for updating addresses. The error was just a symptom.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propose?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Reporting the root cause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Corrective action: a weekly address check, owned by customer service. We’ll monitor errors for a month.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will you know it works?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Wrong-address errors should fall below one per cent.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send me a short report.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Reporting the root cause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a root cause and corrective actions.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 traced it back to… · The root cause is… · corrective action · prevent… from happening again · monitor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problem, cause, action and measure of success.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knock-on effect.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the cost of doing nothing.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follow-up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always possible to find a single root cause?</a:t>
            </a:r>
          </a:p>
          <a:p>
            <a:pPr algn="l">
              <a:lnSpc>
                <a:spcPct val="115000"/>
              </a:lnSpc>
              <a:spcAft>
                <a:spcPts val="800"/>
              </a:spcAft>
            </a:pPr>
            <a:r>
              <a:rPr sz="1400" b="0">
                <a:solidFill>
                  <a:srgbClr val="5F677A"/>
                </a:solidFill>
                <a:latin typeface="Arial"/>
                <a:ea typeface="Microsoft YaHei"/>
              </a:rPr>
              <a:t>💬 “Often there are several…” / “It depends 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avoid blaming people?</a:t>
            </a:r>
          </a:p>
          <a:p>
            <a:pPr algn="l">
              <a:lnSpc>
                <a:spcPct val="115000"/>
              </a:lnSpc>
              <a:spcAft>
                <a:spcPts val="800"/>
              </a:spcAft>
            </a:pPr>
            <a:r>
              <a:rPr sz="1400" b="0">
                <a:solidFill>
                  <a:srgbClr val="5F677A"/>
                </a:solidFill>
                <a:latin typeface="Arial"/>
                <a:ea typeface="Microsoft YaHei"/>
              </a:rPr>
              <a:t>💬 “I focus on…” / “I ask ‘what’ and ‘how’ not ‘who’.”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Where could you use 5 Whys in your job?</a:t>
            </a:r>
          </a:p>
          <a:p>
            <a:pPr algn="l">
              <a:lnSpc>
                <a:spcPct val="115000"/>
              </a:lnSpc>
              <a:spcAft>
                <a:spcPts val="800"/>
              </a:spcAft>
            </a:pPr>
            <a:r>
              <a:rPr sz="1400" b="0">
                <a:solidFill>
                  <a:srgbClr val="5F677A"/>
                </a:solidFill>
                <a:latin typeface="Arial"/>
                <a:ea typeface="Microsoft YaHei"/>
              </a:rPr>
              <a:t>💬 “I could use it for…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problems come back?</a:t>
            </a:r>
          </a:p>
          <a:p>
            <a:pPr algn="l">
              <a:lnSpc>
                <a:spcPct val="115000"/>
              </a:lnSpc>
              <a:spcAft>
                <a:spcPts val="800"/>
              </a:spcAft>
            </a:pPr>
            <a:r>
              <a:rPr sz="1400" b="0">
                <a:solidFill>
                  <a:srgbClr val="5F677A"/>
                </a:solidFill>
                <a:latin typeface="Arial"/>
                <a:ea typeface="Microsoft YaHei"/>
              </a:rPr>
              <a:t>💬 “Because the symptom was fixed, not…”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ever too late for a root cause analysis?</a:t>
            </a:r>
          </a:p>
          <a:p>
            <a:pPr algn="l">
              <a:lnSpc>
                <a:spcPct val="115000"/>
              </a:lnSpc>
              <a:spcAft>
                <a:spcPts val="800"/>
              </a:spcAft>
            </a:pPr>
            <a:r>
              <a:rPr sz="1400" b="0">
                <a:solidFill>
                  <a:srgbClr val="5F677A"/>
                </a:solidFill>
                <a:latin typeface="Arial"/>
                <a:ea typeface="Microsoft YaHei"/>
              </a:rPr>
              <a:t>💬 “No, because…” / “Sometimes it costs more than…”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could use it for customer complaints. Usually we apologise and give a refund, but the same complaint comes back. If we asked why five times, we might find a problem in packing or in the product description. Then we could fix it once instead of apologising repeatedly. It would save money and keep customers happier.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“instead of + -ing” 而不是;“We might find…” 用 might 表示可能性。</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Chains of reasons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因果链句型</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Pattern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Why…? Because…</a:t>
                      </a:r>
                    </a:p>
                  </a:txBody>
                  <a:tcPr anchor="ctr">
                    <a:solidFill>
                      <a:srgbClr val="FFFFFF"/>
                    </a:solidFill>
                  </a:tcPr>
                </a:tc>
                <a:tc>
                  <a:txBody>
                    <a:bodyPr wrap="square"/>
                    <a:lstStyle/>
                    <a:p>
                      <a:r>
                        <a:rPr sz="1600" b="0">
                          <a:solidFill>
                            <a:srgbClr val="1F2A44"/>
                          </a:solidFill>
                          <a:latin typeface="Arial"/>
                          <a:ea typeface="Microsoft YaHei"/>
                        </a:rPr>
                        <a:t>Why did it stop? Because a fuse blew.</a:t>
                      </a:r>
                    </a:p>
                  </a:txBody>
                  <a:tcPr anchor="ctr">
                    <a:solidFill>
                      <a:srgbClr val="FFFFFF"/>
                    </a:solidFill>
                  </a:tcPr>
                </a:tc>
              </a:tr>
              <a:tr h="652272">
                <a:tc>
                  <a:txBody>
                    <a:bodyPr wrap="square"/>
                    <a:lstStyle/>
                    <a:p>
                      <a:r>
                        <a:rPr sz="1600" b="1">
                          <a:solidFill>
                            <a:srgbClr val="1F2A44"/>
                          </a:solidFill>
                          <a:latin typeface="Arial"/>
                          <a:ea typeface="Microsoft YaHei"/>
                        </a:rPr>
                        <a:t>which led to</a:t>
                      </a:r>
                    </a:p>
                  </a:txBody>
                  <a:tcPr anchor="ctr">
                    <a:solidFill>
                      <a:srgbClr val="FFEFD9"/>
                    </a:solidFill>
                  </a:tcPr>
                </a:tc>
                <a:tc>
                  <a:txBody>
                    <a:bodyPr wrap="square"/>
                    <a:lstStyle/>
                    <a:p>
                      <a:r>
                        <a:rPr sz="1600" b="0">
                          <a:solidFill>
                            <a:srgbClr val="1F2A44"/>
                          </a:solidFill>
                          <a:latin typeface="Arial"/>
                          <a:ea typeface="Microsoft YaHei"/>
                        </a:rPr>
                        <a:t>A late supplier led to a delay, which led to a complaint.</a:t>
                      </a:r>
                    </a:p>
                  </a:txBody>
                  <a:tcPr anchor="ctr">
                    <a:solidFill>
                      <a:srgbClr val="FFEFD9"/>
                    </a:solidFill>
                  </a:tcPr>
                </a:tc>
              </a:tr>
              <a:tr h="652272">
                <a:tc>
                  <a:txBody>
                    <a:bodyPr wrap="square"/>
                    <a:lstStyle/>
                    <a:p>
                      <a:r>
                        <a:rPr sz="1600" b="1">
                          <a:solidFill>
                            <a:srgbClr val="1F2A44"/>
                          </a:solidFill>
                          <a:latin typeface="Arial"/>
                          <a:ea typeface="Microsoft YaHei"/>
                        </a:rPr>
                        <a:t>so</a:t>
                      </a:r>
                    </a:p>
                  </a:txBody>
                  <a:tcPr anchor="ctr">
                    <a:solidFill>
                      <a:srgbClr val="FFFFFF"/>
                    </a:solidFill>
                  </a:tcPr>
                </a:tc>
                <a:tc>
                  <a:txBody>
                    <a:bodyPr wrap="square"/>
                    <a:lstStyle/>
                    <a:p>
                      <a:r>
                        <a:rPr sz="1600" b="0">
                          <a:solidFill>
                            <a:srgbClr val="1F2A44"/>
                          </a:solidFill>
                          <a:latin typeface="Arial"/>
                          <a:ea typeface="Microsoft YaHei"/>
                        </a:rPr>
                        <a:t>There was no schedule, so nobody cleaned the filter.</a:t>
                      </a:r>
                    </a:p>
                  </a:txBody>
                  <a:tcPr anchor="ctr">
                    <a:solidFill>
                      <a:srgbClr val="FFFFFF"/>
                    </a:solidFill>
                  </a:tcPr>
                </a:tc>
              </a:tr>
              <a:tr h="408432">
                <a:tc>
                  <a:txBody>
                    <a:bodyPr wrap="square"/>
                    <a:lstStyle/>
                    <a:p>
                      <a:r>
                        <a:rPr sz="1600" b="1">
                          <a:solidFill>
                            <a:srgbClr val="1F2A44"/>
                          </a:solidFill>
                          <a:latin typeface="Arial"/>
                          <a:ea typeface="Microsoft YaHei"/>
                        </a:rPr>
                        <a:t>The root cause is that…</a:t>
                      </a:r>
                    </a:p>
                  </a:txBody>
                  <a:tcPr anchor="ctr">
                    <a:solidFill>
                      <a:srgbClr val="FFEFD9"/>
                    </a:solidFill>
                  </a:tcPr>
                </a:tc>
                <a:tc>
                  <a:txBody>
                    <a:bodyPr wrap="square"/>
                    <a:lstStyle/>
                    <a:p>
                      <a:r>
                        <a:rPr sz="1600" b="0">
                          <a:solidFill>
                            <a:srgbClr val="1F2A44"/>
                          </a:solidFill>
                          <a:latin typeface="Arial"/>
                          <a:ea typeface="Microsoft YaHei"/>
                        </a:rPr>
                        <a:t>The root cause is that there was no schedule.</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Chains of reasons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因果链句型</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the past simple for what happened and present simple for the root cause statement (“The root cause is…”).</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Why did it happened?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Why did it happen?</a:t>
            </a:r>
          </a:p>
          <a:p>
            <a:pPr algn="l">
              <a:spcAft>
                <a:spcPts val="200"/>
              </a:spcAft>
            </a:pPr>
            <a:r>
              <a:rPr sz="1200" b="0">
                <a:solidFill>
                  <a:srgbClr val="FFFFFF"/>
                </a:solidFill>
                <a:latin typeface="Arial"/>
                <a:ea typeface="Microsoft YaHei"/>
              </a:rPr>
              <a:t>did + 动词原形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cause of this problem is because…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cause of this problem is that…</a:t>
            </a:r>
          </a:p>
          <a:p>
            <a:pPr algn="l">
              <a:spcAft>
                <a:spcPts val="200"/>
              </a:spcAft>
            </a:pPr>
            <a:r>
              <a:rPr sz="1200" b="0">
                <a:solidFill>
                  <a:srgbClr val="FFFFFF"/>
                </a:solidFill>
                <a:latin typeface="Arial"/>
                <a:ea typeface="Microsoft YaHei"/>
              </a:rPr>
              <a:t>cause is that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find out who is wrong.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find out what went wrong.</a:t>
            </a:r>
          </a:p>
          <a:p>
            <a:pPr algn="l">
              <a:spcAft>
                <a:spcPts val="200"/>
              </a:spcAft>
            </a:pPr>
            <a:r>
              <a:rPr sz="1200" b="0">
                <a:solidFill>
                  <a:srgbClr val="FFFFFF"/>
                </a:solidFill>
                <a:latin typeface="Arial"/>
                <a:ea typeface="Microsoft YaHei"/>
              </a:rPr>
              <a:t>避免追究个人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has led for a delay.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has led to a delay.</a:t>
            </a:r>
          </a:p>
          <a:p>
            <a:pPr algn="l">
              <a:spcAft>
                <a:spcPts val="200"/>
              </a:spcAft>
            </a:pPr>
            <a:r>
              <a:rPr sz="1200" b="0">
                <a:solidFill>
                  <a:srgbClr val="FFFFFF"/>
                </a:solidFill>
                <a:latin typeface="Arial"/>
                <a:ea typeface="Microsoft YaHei"/>
              </a:rPr>
              <a:t>lead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root cause is not clear for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root cause is not clear to me.</a:t>
            </a:r>
          </a:p>
          <a:p>
            <a:pPr algn="l">
              <a:spcAft>
                <a:spcPts val="200"/>
              </a:spcAft>
            </a:pPr>
            <a:r>
              <a:rPr sz="1200" b="0">
                <a:solidFill>
                  <a:srgbClr val="FFFFFF"/>
                </a:solidFill>
                <a:latin typeface="Arial"/>
                <a:ea typeface="Microsoft YaHei"/>
              </a:rPr>
              <a:t>clear to me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prevented it to happen.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prevented it from happening.</a:t>
            </a:r>
          </a:p>
          <a:p>
            <a:pPr algn="l">
              <a:spcAft>
                <a:spcPts val="200"/>
              </a:spcAft>
            </a:pPr>
            <a:r>
              <a:rPr sz="1200" b="0">
                <a:solidFill>
                  <a:srgbClr val="FFFFFF"/>
                </a:solidFill>
                <a:latin typeface="Arial"/>
                <a:ea typeface="Microsoft YaHei"/>
              </a:rPr>
              <a:t>prevent… from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three structures: did + base verb, lead to, prevent… from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“Blameless” culture. Many tech and manufacturing companies review failures without blaming individuals.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Ask “why” gently. “Why” can sound critical. Say “Can you help me understand how this happened?”</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Use evidence. Don’t guess. Check data or logs.</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Share lessons. Write a one-page summary others can learn from.</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“why” five times to reach a root cause.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chain of causes using which led to… and as a result.</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corrective action and a way to check it.</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lead to, prevent… from + -ing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25 Problem solving with 5 Whys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Run a 5 Whys on a small problem from your week. Say it aloud and record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did + base verb, lead to, cause is that, prevent from -ing.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26 Querying figures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Querying figures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质疑数据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politely question numbers in reports, ask for clarification and explain or correct a figure.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found a mistake in a report? What did you do?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check numbers before you present them?</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easy for you to question a colleague’s data? Why or why not?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figures matter most in your job?</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say when you do not understand a chart?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“Have you ever found…” 现在完成时问经历。“query” 作动词 = 质疑/询问。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time you questioned a number and what happened.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figure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looked wrong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asked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answer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noticed that…   💬 Could you double-check…?   💬 It turned out that…   💬 Thanks for catching that.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“double-check” 再次核对;“It turned out that…” 结果发现…</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missing zero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Daniel was reading the sales report before a board meeting when something looked odd. The report said revenue in the southern region had grown 300 per cent. That seemed too good to be true. Instead of saying “this is wrong,” he sent a message to the analyst: “Hi Lena, quick question about slide four. I might be misreading it, but could you double-check the southern figure? It doesn’t seem to match last month’s trend.” Lena replied within the hour. A currency conversion had been applied twice. The real growth was 30 per cent. “Thanks for flagging it,” she wrote, “I’ll correct it and update the deck.” Daniel said later that a polite question saved the team from an embarrassing moment in front of the board. He added: “Always check, but never accuse.”</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looked wrong to Daniel?</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Southern revenue growth of 300 per cent.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did he phrase his question?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Politely: “I might be misreading it, but could you double-check…?”</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was the real cause of the error?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currency conversion had been applied twice (real growth 30 per cent).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Querying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质疑与提问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query a figure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质疑某个数字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query a figure on slide four.”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double-check</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再次核对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double-check this number?”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Does that figure include…?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这个数字是否包含…?</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“Does that figure include tax?”</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doesn’t add up</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对不上</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“These numbers don’t add up.”</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seem off / look off</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看起来不对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total seems a bit off.”</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Describing figures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描述数字</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 down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细分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break down the costs?”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year-on-year</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同比</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rose 8 per cent year-on-year.”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roughly / approximately</a:t>
            </a:r>
          </a:p>
          <a:p>
            <a:pPr algn="l">
              <a:lnSpc>
                <a:spcPct val="115000"/>
              </a:lnSpc>
              <a:spcAft>
                <a:spcPts val="800"/>
              </a:spcAft>
            </a:pPr>
            <a:r>
              <a:rPr sz="1300" b="0">
                <a:solidFill>
                  <a:srgbClr val="5F677A"/>
                </a:solidFill>
                <a:latin typeface="Arial"/>
                <a:ea typeface="Microsoft YaHei"/>
              </a:rPr>
              <a:t>adverb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“Roughly 40 per cent of customers renew.”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ballpark figure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大概数字</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me a ballpark figure.”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margin of error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误差范围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margin of error of two per cent.”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Correcting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更正</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out by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相差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total is out by 5,000.”</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discrepancy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差异</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is a discrepancy between the two reports.”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reconcile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核对一致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reconcile the two sets of data.”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flag (up)</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提示(问题)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for flagging that.”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update / correct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更新/更正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correct it and update the deck.”</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更新/更正</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update / correct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提示(问题)</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flag (up)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相差</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out by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大约</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roughly / approximately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同比</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year-on-year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质疑某个数字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query a figure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误差范围</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margin of error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看起来不对</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seem off / look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query</a:t>
            </a:r>
          </a:p>
        </p:txBody>
      </p:sp>
      <p:sp>
        <p:nvSpPr>
          <p:cNvPr id="10" name="Rounded Rectangle 9"/>
          <p:cNvSpPr/>
          <p:nvPr/>
        </p:nvSpPr>
        <p:spPr>
          <a:xfrm>
            <a:off x="3017520"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double-check</a:t>
            </a:r>
          </a:p>
        </p:txBody>
      </p:sp>
      <p:sp>
        <p:nvSpPr>
          <p:cNvPr id="11" name="Rounded Rectangle 10"/>
          <p:cNvSpPr/>
          <p:nvPr/>
        </p:nvSpPr>
        <p:spPr>
          <a:xfrm>
            <a:off x="4791455" y="987552"/>
            <a:ext cx="69494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add</a:t>
            </a:r>
          </a:p>
        </p:txBody>
      </p:sp>
      <p:sp>
        <p:nvSpPr>
          <p:cNvPr id="12" name="Rounded Rectangle 11"/>
          <p:cNvSpPr/>
          <p:nvPr/>
        </p:nvSpPr>
        <p:spPr>
          <a:xfrm>
            <a:off x="5577839"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breakdown</a:t>
            </a:r>
          </a:p>
        </p:txBody>
      </p:sp>
      <p:sp>
        <p:nvSpPr>
          <p:cNvPr id="13" name="Rounded Rectangle 12"/>
          <p:cNvSpPr/>
          <p:nvPr/>
        </p:nvSpPr>
        <p:spPr>
          <a:xfrm>
            <a:off x="7022591"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discrepancy</a:t>
            </a:r>
          </a:p>
        </p:txBody>
      </p:sp>
      <p:sp>
        <p:nvSpPr>
          <p:cNvPr id="14" name="Rounded Rectangle 13"/>
          <p:cNvSpPr/>
          <p:nvPr/>
        </p:nvSpPr>
        <p:spPr>
          <a:xfrm>
            <a:off x="8686798"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flagging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I’d like to _______ a figure on slide four.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query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Could you _______ this number?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double-check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These numbers don’t _______ up.</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Could you give me a _______ of the costs?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breakdown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There is a _______ between the two reports.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discrepancy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Thanks for _______ that.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flagging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(词形) 名词 breakdown 一个词,动词 break down 两个词。discrepancy 拼写易错。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Querying a number in a report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质疑报告数字</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presents a figure that looks wrong.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Daniel, reader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Lena, analyst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Querying a number in a report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Daniel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Lena, quick question about slide four. Could you double-check the southern figure?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What looks off?</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says 300 per cent growth, which doesn’t match last month’s trend.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Let me look. Oh, a currency conversion was applied twice.</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Querying a number in a report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what’s the correct figure?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Roughly 30 per cent. I’ll correct it today.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Could you send me the updated deck before the meeting?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Thanks for flagging it.</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Querying a number in a report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query a figure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Reader. Figure: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you double-check…? · doesn’t add up · seems off · Thanks for flagging that · discrepancy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about the figure, get an explanation and agree on a correction.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Soften: “I might be misreading this, but…”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the source of the data.</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Query a number in a live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Explaining a discrepancy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解释数据差异</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asks you why two reports disagree.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Analyst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Explaining a discrepancy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a discrepancy between the sales and finance reports. Can you explain?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Sales counts orders when they are placed. Finance counts them when payment arrives.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how big is the gap?</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out by about 12,000, mostly from late payments.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Explaining a discrepancy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we reconcile the two?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add a line showing pending payments.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And give me a ballpark figure for next quarter.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Roughly 10,000, with a margin of error of 10 per cent.</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Explaining a discrepancy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why two reports differ.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Discrepancy: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out by · reconcile · margin of error · ballpark figure · break down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reason, size the gap and propose a fix.</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a mistake without excuses.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corrected version by a time.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way to avoid it next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hesitate to question figures?</a:t>
            </a:r>
          </a:p>
          <a:p>
            <a:pPr algn="l">
              <a:lnSpc>
                <a:spcPct val="115000"/>
              </a:lnSpc>
              <a:spcAft>
                <a:spcPts val="800"/>
              </a:spcAft>
            </a:pPr>
            <a:r>
              <a:rPr sz="1400" b="0">
                <a:solidFill>
                  <a:srgbClr val="5F677A"/>
                </a:solidFill>
                <a:latin typeface="Arial"/>
                <a:ea typeface="Microsoft YaHei"/>
              </a:rPr>
              <a:t>💬 “They don’t want to…” / “In some cultures…”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question a number without sounding rude?</a:t>
            </a:r>
          </a:p>
          <a:p>
            <a:pPr algn="l">
              <a:lnSpc>
                <a:spcPct val="115000"/>
              </a:lnSpc>
              <a:spcAft>
                <a:spcPts val="800"/>
              </a:spcAft>
            </a:pPr>
            <a:r>
              <a:rPr sz="1400" b="0">
                <a:solidFill>
                  <a:srgbClr val="5F677A"/>
                </a:solidFill>
                <a:latin typeface="Arial"/>
                <a:ea typeface="Microsoft YaHei"/>
              </a:rPr>
              <a:t>💬 “I’d say…” / “I’d start by…”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kind of numbers are easiest to get wrong?</a:t>
            </a:r>
          </a:p>
          <a:p>
            <a:pPr algn="l">
              <a:lnSpc>
                <a:spcPct val="115000"/>
              </a:lnSpc>
              <a:spcAft>
                <a:spcPts val="800"/>
              </a:spcAft>
            </a:pPr>
            <a:r>
              <a:rPr sz="1400" b="0">
                <a:solidFill>
                  <a:srgbClr val="5F677A"/>
                </a:solidFill>
                <a:latin typeface="Arial"/>
                <a:ea typeface="Microsoft YaHei"/>
              </a:rPr>
              <a:t>💬 “Percentages are tricky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check a report before it goes out?</a:t>
            </a:r>
          </a:p>
          <a:p>
            <a:pPr algn="l">
              <a:lnSpc>
                <a:spcPct val="115000"/>
              </a:lnSpc>
              <a:spcAft>
                <a:spcPts val="800"/>
              </a:spcAft>
            </a:pPr>
            <a:r>
              <a:rPr sz="1400" b="0">
                <a:solidFill>
                  <a:srgbClr val="5F677A"/>
                </a:solidFill>
                <a:latin typeface="Arial"/>
                <a:ea typeface="Microsoft YaHei"/>
              </a:rPr>
              <a:t>💬 “Ideally someone who…”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your boss’s figure is wrong?</a:t>
            </a:r>
          </a:p>
          <a:p>
            <a:pPr algn="l">
              <a:lnSpc>
                <a:spcPct val="115000"/>
              </a:lnSpc>
              <a:spcAft>
                <a:spcPts val="800"/>
              </a:spcAft>
            </a:pPr>
            <a:r>
              <a:rPr sz="1400" b="0">
                <a:solidFill>
                  <a:srgbClr val="5F677A"/>
                </a:solidFill>
                <a:latin typeface="Arial"/>
                <a:ea typeface="Microsoft YaHei"/>
              </a:rPr>
              <a:t>💬 “I’d probably… / I’d ask in private.”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raise it privately first. I would say something like,”I may have misunderstood, but I got a different number. Could we check it together?” This gives my boss a chance to correct it without losing face. If it’s urgent, I would write a short email. A public correction should be the last option, unless the figure is important.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“lose face” = 丢面子;“gives my boss a chance to…” 给机会。</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Questioning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礼貌质疑</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 (too strong)</a:t>
                      </a:r>
                    </a:p>
                  </a:txBody>
                  <a:tcPr anchor="ctr">
                    <a:solidFill>
                      <a:srgbClr val="3CC49A"/>
                    </a:solidFill>
                  </a:tcPr>
                </a:tc>
                <a:tc>
                  <a:txBody>
                    <a:bodyPr wrap="square"/>
                    <a:lstStyle/>
                    <a:p>
                      <a:r>
                        <a:rPr sz="1600" b="1">
                          <a:solidFill>
                            <a:srgbClr val="FFFFFF"/>
                          </a:solidFill>
                          <a:latin typeface="Arial"/>
                          <a:ea typeface="Microsoft YaHei"/>
                        </a:rPr>
                        <a:t>Softer</a:t>
                      </a:r>
                    </a:p>
                  </a:txBody>
                  <a:tcPr anchor="ctr">
                    <a:solidFill>
                      <a:srgbClr val="3CC49A"/>
                    </a:solidFill>
                  </a:tcPr>
                </a:tc>
              </a:tr>
              <a:tr h="408432">
                <a:tc>
                  <a:txBody>
                    <a:bodyPr wrap="square"/>
                    <a:lstStyle/>
                    <a:p>
                      <a:r>
                        <a:rPr sz="1600" b="1">
                          <a:solidFill>
                            <a:srgbClr val="1F2A44"/>
                          </a:solidFill>
                          <a:latin typeface="Arial"/>
                          <a:ea typeface="Microsoft YaHei"/>
                        </a:rPr>
                        <a:t>This is wrong.</a:t>
                      </a:r>
                    </a:p>
                  </a:txBody>
                  <a:tcPr anchor="ctr">
                    <a:solidFill>
                      <a:srgbClr val="FFFFFF"/>
                    </a:solidFill>
                  </a:tcPr>
                </a:tc>
                <a:tc>
                  <a:txBody>
                    <a:bodyPr wrap="square"/>
                    <a:lstStyle/>
                    <a:p>
                      <a:r>
                        <a:rPr sz="1600" b="0">
                          <a:solidFill>
                            <a:srgbClr val="1F2A44"/>
                          </a:solidFill>
                          <a:latin typeface="Arial"/>
                          <a:ea typeface="Microsoft YaHei"/>
                        </a:rPr>
                        <a:t>I might be misreading this, but…</a:t>
                      </a:r>
                    </a:p>
                  </a:txBody>
                  <a:tcPr anchor="ctr">
                    <a:solidFill>
                      <a:srgbClr val="FFFFFF"/>
                    </a:solidFill>
                  </a:tcPr>
                </a:tc>
              </a:tr>
              <a:tr h="408432">
                <a:tc>
                  <a:txBody>
                    <a:bodyPr wrap="square"/>
                    <a:lstStyle/>
                    <a:p>
                      <a:r>
                        <a:rPr sz="1600" b="1">
                          <a:solidFill>
                            <a:srgbClr val="1F2A44"/>
                          </a:solidFill>
                          <a:latin typeface="Arial"/>
                          <a:ea typeface="Microsoft YaHei"/>
                        </a:rPr>
                        <a:t>Your number is incorrect.</a:t>
                      </a:r>
                    </a:p>
                  </a:txBody>
                  <a:tcPr anchor="ctr">
                    <a:solidFill>
                      <a:srgbClr val="FFEFD9"/>
                    </a:solidFill>
                  </a:tcPr>
                </a:tc>
                <a:tc>
                  <a:txBody>
                    <a:bodyPr wrap="square"/>
                    <a:lstStyle/>
                    <a:p>
                      <a:r>
                        <a:rPr sz="1600" b="0">
                          <a:solidFill>
                            <a:srgbClr val="1F2A44"/>
                          </a:solidFill>
                          <a:latin typeface="Arial"/>
                          <a:ea typeface="Microsoft YaHei"/>
                        </a:rPr>
                        <a:t>I got a slightly different number. Could we check?</a:t>
                      </a:r>
                    </a:p>
                  </a:txBody>
                  <a:tcPr anchor="ctr">
                    <a:solidFill>
                      <a:srgbClr val="FFEFD9"/>
                    </a:solidFill>
                  </a:tcPr>
                </a:tc>
              </a:tr>
              <a:tr h="408432">
                <a:tc>
                  <a:txBody>
                    <a:bodyPr wrap="square"/>
                    <a:lstStyle/>
                    <a:p>
                      <a:r>
                        <a:rPr sz="1600" b="1">
                          <a:solidFill>
                            <a:srgbClr val="1F2A44"/>
                          </a:solidFill>
                          <a:latin typeface="Arial"/>
                          <a:ea typeface="Microsoft YaHei"/>
                        </a:rPr>
                        <a:t>You made a mistake.</a:t>
                      </a:r>
                    </a:p>
                  </a:txBody>
                  <a:tcPr anchor="ctr">
                    <a:solidFill>
                      <a:srgbClr val="FFFFFF"/>
                    </a:solidFill>
                  </a:tcPr>
                </a:tc>
                <a:tc>
                  <a:txBody>
                    <a:bodyPr wrap="square"/>
                    <a:lstStyle/>
                    <a:p>
                      <a:r>
                        <a:rPr sz="1600" b="0">
                          <a:solidFill>
                            <a:srgbClr val="1F2A44"/>
                          </a:solidFill>
                          <a:latin typeface="Arial"/>
                          <a:ea typeface="Microsoft YaHei"/>
                        </a:rPr>
                        <a:t>There seems to be a discrepancy.</a:t>
                      </a:r>
                    </a:p>
                  </a:txBody>
                  <a:tcPr anchor="ctr">
                    <a:solidFill>
                      <a:srgbClr val="FFFFFF"/>
                    </a:solidFill>
                  </a:tcPr>
                </a:tc>
              </a:tr>
              <a:tr h="408432">
                <a:tc>
                  <a:txBody>
                    <a:bodyPr wrap="square"/>
                    <a:lstStyle/>
                    <a:p>
                      <a:r>
                        <a:rPr sz="1600" b="1">
                          <a:solidFill>
                            <a:srgbClr val="1F2A44"/>
                          </a:solidFill>
                          <a:latin typeface="Arial"/>
                          <a:ea typeface="Microsoft YaHei"/>
                        </a:rPr>
                        <a:t>Why didn’t you check?</a:t>
                      </a:r>
                    </a:p>
                  </a:txBody>
                  <a:tcPr anchor="ctr">
                    <a:solidFill>
                      <a:srgbClr val="FFEFD9"/>
                    </a:solidFill>
                  </a:tcPr>
                </a:tc>
                <a:tc>
                  <a:txBody>
                    <a:bodyPr wrap="square"/>
                    <a:lstStyle/>
                    <a:p>
                      <a:r>
                        <a:rPr sz="1600" b="0">
                          <a:solidFill>
                            <a:srgbClr val="1F2A44"/>
                          </a:solidFill>
                          <a:latin typeface="Arial"/>
                          <a:ea typeface="Microsoft YaHei"/>
                        </a:rPr>
                        <a:t>Could we double-check the source?</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Questioning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礼貌质疑</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hedging: </a:t>
            </a:r>
            <a:r>
              <a:rPr sz="1700" b="0">
                <a:solidFill>
                  <a:srgbClr val="1F2A44"/>
                </a:solidFill>
                <a:latin typeface="Arial"/>
                <a:ea typeface="Microsoft YaHei"/>
              </a:rPr>
              <a:t>might, seems, a bit, slightly, I may be wrong, but…</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number is increased 8%.</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number increased by 8%.</a:t>
            </a:r>
          </a:p>
          <a:p>
            <a:pPr algn="l">
              <a:spcAft>
                <a:spcPts val="200"/>
              </a:spcAft>
            </a:pPr>
            <a:r>
              <a:rPr sz="1200" b="0">
                <a:solidFill>
                  <a:srgbClr val="FFFFFF"/>
                </a:solidFill>
                <a:latin typeface="Arial"/>
                <a:ea typeface="Microsoft YaHei"/>
              </a:rPr>
              <a:t>increase by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rose to 8% from 5%.</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from 5% to 8%.</a:t>
            </a:r>
          </a:p>
          <a:p>
            <a:pPr algn="l">
              <a:spcAft>
                <a:spcPts val="200"/>
              </a:spcAft>
            </a:pPr>
            <a:r>
              <a:rPr sz="1200" b="0">
                <a:solidFill>
                  <a:srgbClr val="FFFFFF"/>
                </a:solidFill>
                <a:latin typeface="Arial"/>
                <a:ea typeface="Microsoft YaHei"/>
              </a:rPr>
              <a:t>from…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check again this number.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double-check this number.</a:t>
            </a:r>
          </a:p>
          <a:p>
            <a:pPr algn="l">
              <a:spcAft>
                <a:spcPts val="200"/>
              </a:spcAft>
            </a:pPr>
            <a:r>
              <a:rPr sz="1200" b="0">
                <a:solidFill>
                  <a:srgbClr val="FFFFFF"/>
                </a:solidFill>
                <a:latin typeface="Arial"/>
                <a:ea typeface="Microsoft YaHei"/>
              </a:rPr>
              <a:t>double-check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different with last year.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different from last year.</a:t>
            </a:r>
          </a:p>
          <a:p>
            <a:pPr algn="l">
              <a:spcAft>
                <a:spcPts val="200"/>
              </a:spcAft>
            </a:pPr>
            <a:r>
              <a:rPr sz="1200" b="0">
                <a:solidFill>
                  <a:srgbClr val="FFFFFF"/>
                </a:solidFill>
                <a:latin typeface="Arial"/>
                <a:ea typeface="Microsoft YaHei"/>
              </a:rPr>
              <a:t>different from</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figures are not matched.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figures don’t match.</a:t>
            </a:r>
          </a:p>
          <a:p>
            <a:pPr algn="l">
              <a:spcAft>
                <a:spcPts val="200"/>
              </a:spcAft>
            </a:pPr>
            <a:r>
              <a:rPr sz="1200" b="0">
                <a:solidFill>
                  <a:srgbClr val="FFFFFF"/>
                </a:solidFill>
                <a:latin typeface="Arial"/>
                <a:ea typeface="Microsoft YaHei"/>
              </a:rPr>
              <a:t>match 是动词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What is the percentage of the profit?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is the profit margin?</a:t>
            </a:r>
          </a:p>
          <a:p>
            <a:pPr algn="l">
              <a:spcAft>
                <a:spcPts val="200"/>
              </a:spcAft>
            </a:pPr>
            <a:r>
              <a:rPr sz="1200" b="0">
                <a:solidFill>
                  <a:srgbClr val="FFFFFF"/>
                </a:solidFill>
                <a:latin typeface="Arial"/>
                <a:ea typeface="Microsoft YaHei"/>
              </a:rPr>
              <a:t>常用术语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increase by, from… to…, different from, and use per cent or % after numbers.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Hedge the first question. English speakers soften before challenging.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Thank the person. “Thanks for catching that” keeps the relationship good.</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Private first. Query in private chat or email before a public meeting.</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Say numbers clearly. 15 vs 50: </a:t>
            </a:r>
            <a:r>
              <a:rPr sz="1700" b="0">
                <a:solidFill>
                  <a:srgbClr val="1F2A44"/>
                </a:solidFill>
                <a:latin typeface="Arial"/>
                <a:ea typeface="Microsoft YaHei"/>
              </a:rPr>
              <a:t>“fifteen” / “fifty”; check the stress.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query a figure politely using hedging.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whether a figure includes something.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discrepancy and offer a correction.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increase by and from…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26 Querying figures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Write three questions about a chart or report. Say them aloud with softening.</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increase by, from… to, different from, double-check.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27 Querying information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Querying information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信息查询</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ask for missing information, clarify unclear details and follow up politely when you do not get an answer.</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information do you ask colleagues for most often?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ask when you don’t understand an instruction?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to ask by email, chat or phone? Why?</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waited a long time for information? What did you do?</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the best person to ask for help in your company?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题用 “How do you…”。第 4 题 “waited a long time” 过去式。⚠️ 本课标题 Chinese 为”资料查询”。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ask for information that you need to do your job.</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need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who you ask</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ask</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follow up</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trying to find out…   💬 Could you tell me…?   💬 Just checking whether…   💬 I’m following up 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“Could you tell me where…” 间接问句不倒装;“follow up on” 跟进。</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One clear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Mei had to prepare a client proposal, but the pricing sheet was missing. She sent a short message to the finance team: “Hi all. I’m preparing the proposal for Northway and I can’t find the latest pricing sheet. Could you tell me where it’s saved, or send me a copy? I need it by Thursday noon.” Two days later she had no reply. Instead of complaining, she wrote again: “Hi Sam, just following up on my message about the pricing sheet. I know you’re busy, but the deadline is tomorrow. Could you help?” Sam replied in ten minutes. Mei later said her tip was simple: say what you need, why, and by when. Questions with context and a deadline get faster answers than “Do you know where the file is?”</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did Mei need?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latest pricing sheet for a client proposal.</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did she do when no one replied?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followed up with a polite reminder and mentioned the deadline.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Mei’s tip?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Say what you need, why, and by when.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Asking for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询问信息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trying to find 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我想了解…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trying to find out who owns this file.”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let me know…?</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能告诉我…吗?</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let me know when it’s ready?”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 happen to know…?</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你碰巧知道…吗?</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happen to know where it’s saved?”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hold of</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联系上;弄到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get hold of the supplier.”</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Just checking whether…</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只是确认一下…</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checking whether you received my email.”</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Clarifying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澄清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clarify…?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能澄清一下…吗?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clarify what you mean by ‘soon’?”</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exactly do you mean by…?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你具体指…</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exactly do you mean by ‘review’?”</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Just to be clear, …</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确认一下,…</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to be clear, the deadline is Friday?”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ask for the details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询问细节</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ask for the details.”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in the loop</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了解情况</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in the loop.”</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Following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following up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我跟进一下…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following up on my earlier email.”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gentle reminder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温馨提醒</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gentle reminder: the deadline is Friday.”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chase (someone) up</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催促(英式)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chase them up tomorrow.”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circle back</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回头再谈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circle back on this next week.”</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by close of business (COB)</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下班前</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reply by COB Thursday.”</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询问细节</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ask for the details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下班前</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by close of business (COB)</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确认一下,…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 to be clear,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只是确认一下…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 checking whether…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能告诉我…吗?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let me know…?</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催促(英式)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chase (someone) up</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我跟进一下…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following up 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我想了解…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trying to find 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trying</a:t>
            </a:r>
          </a:p>
        </p:txBody>
      </p:sp>
      <p:sp>
        <p:nvSpPr>
          <p:cNvPr id="10" name="Rounded Rectangle 9"/>
          <p:cNvSpPr/>
          <p:nvPr/>
        </p:nvSpPr>
        <p:spPr>
          <a:xfrm>
            <a:off x="3127248"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happen</a:t>
            </a:r>
          </a:p>
        </p:txBody>
      </p:sp>
      <p:sp>
        <p:nvSpPr>
          <p:cNvPr id="11" name="Rounded Rectangle 10"/>
          <p:cNvSpPr/>
          <p:nvPr/>
        </p:nvSpPr>
        <p:spPr>
          <a:xfrm>
            <a:off x="4242816"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clarify</a:t>
            </a:r>
          </a:p>
        </p:txBody>
      </p:sp>
      <p:sp>
        <p:nvSpPr>
          <p:cNvPr id="12" name="Rounded Rectangle 11"/>
          <p:cNvSpPr/>
          <p:nvPr/>
        </p:nvSpPr>
        <p:spPr>
          <a:xfrm>
            <a:off x="5468112"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loop</a:t>
            </a:r>
          </a:p>
        </p:txBody>
      </p:sp>
      <p:sp>
        <p:nvSpPr>
          <p:cNvPr id="13" name="Rounded Rectangle 12"/>
          <p:cNvSpPr/>
          <p:nvPr/>
        </p:nvSpPr>
        <p:spPr>
          <a:xfrm>
            <a:off x="636422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following</a:t>
            </a:r>
          </a:p>
        </p:txBody>
      </p:sp>
      <p:sp>
        <p:nvSpPr>
          <p:cNvPr id="14" name="Rounded Rectangle 13"/>
          <p:cNvSpPr/>
          <p:nvPr/>
        </p:nvSpPr>
        <p:spPr>
          <a:xfrm>
            <a:off x="7808976"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reminder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_______ to find out who owns this file.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trying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Do you _______ to know where it’s saved?</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happen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Could you _______ what you mean by ‘soon’?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clarify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Please keep me in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_______ up on my earlier email.</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gentle _______: the deadline is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reminder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(词形与拼写) clarify → clarification; follow up (动词) vs follow-up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Asking a colleague for data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向同事索取资料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need missing information to finish your 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 requester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Sam, finance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Asking a colleague for data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Sam, I’m trying to find out where the latest pricing sheet is saved. Do you happen to know?</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in the shared drive under “Pricing 2026”.</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can’t see that folder. Could you let me know how to get access?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ask IT to add you.</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 colleague for data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need it by Thursday noon for the Northway proposal.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I’ll send you a copy now.</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to be clear, this is the version approved last month?</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is.</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Asking a colleague for data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for information you need.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Requester. Need: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has it.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trying to find out… · Do you happen to know…? · Just to be clear, … · by Thursday noon · keep me in the loop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what you need, why and by when, and confirm 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it’s urgent.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something in return.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written confirmation.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Following up on a late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跟进迟迟未回复的信息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Three days have passed with no answer.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Sam, busy colleague</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Following up on a late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Sam, I’m following up on my message about the pricing sheet.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it’s been a crazy week.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The deadline is tomorrow, so I’d really appreciate it today.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send it by COB?</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Following up on a late answer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send it by 3 p.m.? I need time to check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I’ll do it right after lunch.</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If there’s any problem, just let me know.</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Following up on a late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chase a late answer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Requester. Missing item: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Busy colleague.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following up on… · gentle reminder · I’d really appreciate it · by 3 p.m. · circle back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Remind politely, give a deadline and agree on a time.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Escalate to a manager politely.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take a short call instead.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them after they answer.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ask for information by chat or email?</a:t>
            </a:r>
          </a:p>
          <a:p>
            <a:pPr algn="l">
              <a:lnSpc>
                <a:spcPct val="115000"/>
              </a:lnSpc>
              <a:spcAft>
                <a:spcPts val="800"/>
              </a:spcAft>
            </a:pPr>
            <a:r>
              <a:rPr sz="1400" b="0">
                <a:solidFill>
                  <a:srgbClr val="5F677A"/>
                </a:solidFill>
                <a:latin typeface="Arial"/>
                <a:ea typeface="Microsoft YaHei"/>
              </a:rPr>
              <a:t>💬 “For quick questions, … but for formal…”</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often should you follow up?</a:t>
            </a:r>
          </a:p>
          <a:p>
            <a:pPr algn="l">
              <a:lnSpc>
                <a:spcPct val="115000"/>
              </a:lnSpc>
              <a:spcAft>
                <a:spcPts val="800"/>
              </a:spcAft>
            </a:pPr>
            <a:r>
              <a:rPr sz="1400" b="0">
                <a:solidFill>
                  <a:srgbClr val="5F677A"/>
                </a:solidFill>
                <a:latin typeface="Arial"/>
                <a:ea typeface="Microsoft YaHei"/>
              </a:rPr>
              <a:t>💬 “I’d wait… before…”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request easy to answer?</a:t>
            </a:r>
          </a:p>
          <a:p>
            <a:pPr algn="l">
              <a:lnSpc>
                <a:spcPct val="115000"/>
              </a:lnSpc>
              <a:spcAft>
                <a:spcPts val="800"/>
              </a:spcAft>
            </a:pPr>
            <a:r>
              <a:rPr sz="1400" b="0">
                <a:solidFill>
                  <a:srgbClr val="5F677A"/>
                </a:solidFill>
                <a:latin typeface="Arial"/>
                <a:ea typeface="Microsoft YaHei"/>
              </a:rPr>
              <a:t>💬 “A clear request with…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ask for help without looking incompetent?</a:t>
            </a:r>
          </a:p>
          <a:p>
            <a:pPr algn="l">
              <a:lnSpc>
                <a:spcPct val="115000"/>
              </a:lnSpc>
              <a:spcAft>
                <a:spcPts val="800"/>
              </a:spcAft>
            </a:pPr>
            <a:r>
              <a:rPr sz="1400" b="0">
                <a:solidFill>
                  <a:srgbClr val="5F677A"/>
                </a:solidFill>
                <a:latin typeface="Arial"/>
                <a:ea typeface="Microsoft YaHei"/>
              </a:rPr>
              <a:t>💬 “I’d say… / I’d explain what I already tried.”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two people give conflicting information?</a:t>
            </a:r>
          </a:p>
          <a:p>
            <a:pPr algn="l">
              <a:lnSpc>
                <a:spcPct val="115000"/>
              </a:lnSpc>
              <a:spcAft>
                <a:spcPts val="800"/>
              </a:spcAft>
            </a:pPr>
            <a:r>
              <a:rPr sz="1400" b="0">
                <a:solidFill>
                  <a:srgbClr val="5F677A"/>
                </a:solidFill>
                <a:latin typeface="Arial"/>
                <a:ea typeface="Microsoft YaHei"/>
              </a:rPr>
              <a:t>💬 “I’d check… / I’d ask them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request is specific, short and has a deadline. For example,”Could you send me the Q3 sales figures by Friday noon? I need them for the board report.” The person knows what to send, why it’s needed and when. Vague messages like “Do you have the data?” make people reply with another question, which wastes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“make people reply with another question” make + 宾语 + 动词原形。</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Direct and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直接与间接问句</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Indirect (more polite)</a:t>
                      </a:r>
                    </a:p>
                  </a:txBody>
                  <a:tcPr anchor="ctr">
                    <a:solidFill>
                      <a:srgbClr val="3CC49A"/>
                    </a:solidFill>
                  </a:tcPr>
                </a:tc>
              </a:tr>
              <a:tr h="408432">
                <a:tc>
                  <a:txBody>
                    <a:bodyPr wrap="square"/>
                    <a:lstStyle/>
                    <a:p>
                      <a:r>
                        <a:rPr sz="1600" b="1">
                          <a:solidFill>
                            <a:srgbClr val="1F2A44"/>
                          </a:solidFill>
                          <a:latin typeface="Arial"/>
                          <a:ea typeface="Microsoft YaHei"/>
                        </a:rPr>
                        <a:t>Where is the file?</a:t>
                      </a:r>
                    </a:p>
                  </a:txBody>
                  <a:tcPr anchor="ctr">
                    <a:solidFill>
                      <a:srgbClr val="FFFFFF"/>
                    </a:solidFill>
                  </a:tcPr>
                </a:tc>
                <a:tc>
                  <a:txBody>
                    <a:bodyPr wrap="square"/>
                    <a:lstStyle/>
                    <a:p>
                      <a:r>
                        <a:rPr sz="1600" b="0">
                          <a:solidFill>
                            <a:srgbClr val="1F2A44"/>
                          </a:solidFill>
                          <a:latin typeface="Arial"/>
                          <a:ea typeface="Microsoft YaHei"/>
                        </a:rPr>
                        <a:t>Do you know where the file is?</a:t>
                      </a:r>
                    </a:p>
                  </a:txBody>
                  <a:tcPr anchor="ctr">
                    <a:solidFill>
                      <a:srgbClr val="FFFFFF"/>
                    </a:solidFill>
                  </a:tcPr>
                </a:tc>
              </a:tr>
              <a:tr h="408432">
                <a:tc>
                  <a:txBody>
                    <a:bodyPr wrap="square"/>
                    <a:lstStyle/>
                    <a:p>
                      <a:r>
                        <a:rPr sz="1600" b="1">
                          <a:solidFill>
                            <a:srgbClr val="1F2A44"/>
                          </a:solidFill>
                          <a:latin typeface="Arial"/>
                          <a:ea typeface="Microsoft YaHei"/>
                        </a:rPr>
                        <a:t>When will it be ready?</a:t>
                      </a:r>
                    </a:p>
                  </a:txBody>
                  <a:tcPr anchor="ctr">
                    <a:solidFill>
                      <a:srgbClr val="FFEFD9"/>
                    </a:solidFill>
                  </a:tcPr>
                </a:tc>
                <a:tc>
                  <a:txBody>
                    <a:bodyPr wrap="square"/>
                    <a:lstStyle/>
                    <a:p>
                      <a:r>
                        <a:rPr sz="1600" b="0">
                          <a:solidFill>
                            <a:srgbClr val="1F2A44"/>
                          </a:solidFill>
                          <a:latin typeface="Arial"/>
                          <a:ea typeface="Microsoft YaHei"/>
                        </a:rPr>
                        <a:t>Could you let me know when it will be ready?</a:t>
                      </a:r>
                    </a:p>
                  </a:txBody>
                  <a:tcPr anchor="ctr">
                    <a:solidFill>
                      <a:srgbClr val="FFEFD9"/>
                    </a:solidFill>
                  </a:tcPr>
                </a:tc>
              </a:tr>
              <a:tr h="408432">
                <a:tc>
                  <a:txBody>
                    <a:bodyPr wrap="square"/>
                    <a:lstStyle/>
                    <a:p>
                      <a:r>
                        <a:rPr sz="1600" b="1">
                          <a:solidFill>
                            <a:srgbClr val="1F2A44"/>
                          </a:solidFill>
                          <a:latin typeface="Arial"/>
                          <a:ea typeface="Microsoft YaHei"/>
                        </a:rPr>
                        <a:t>Who is in charge?</a:t>
                      </a:r>
                    </a:p>
                  </a:txBody>
                  <a:tcPr anchor="ctr">
                    <a:solidFill>
                      <a:srgbClr val="FFFFFF"/>
                    </a:solidFill>
                  </a:tcPr>
                </a:tc>
                <a:tc>
                  <a:txBody>
                    <a:bodyPr wrap="square"/>
                    <a:lstStyle/>
                    <a:p>
                      <a:r>
                        <a:rPr sz="1600" b="0">
                          <a:solidFill>
                            <a:srgbClr val="1F2A44"/>
                          </a:solidFill>
                          <a:latin typeface="Arial"/>
                          <a:ea typeface="Microsoft YaHei"/>
                        </a:rPr>
                        <a:t>I’m trying to find out who is in charge.</a:t>
                      </a:r>
                    </a:p>
                  </a:txBody>
                  <a:tcPr anchor="ctr">
                    <a:solidFill>
                      <a:srgbClr val="FFFFFF"/>
                    </a:solidFill>
                  </a:tcPr>
                </a:tc>
              </a:tr>
              <a:tr h="408432">
                <a:tc>
                  <a:txBody>
                    <a:bodyPr wrap="square"/>
                    <a:lstStyle/>
                    <a:p>
                      <a:r>
                        <a:rPr sz="1600" b="1">
                          <a:solidFill>
                            <a:srgbClr val="1F2A44"/>
                          </a:solidFill>
                          <a:latin typeface="Arial"/>
                          <a:ea typeface="Microsoft YaHei"/>
                        </a:rPr>
                        <a:t>What does this mean?</a:t>
                      </a:r>
                    </a:p>
                  </a:txBody>
                  <a:tcPr anchor="ctr">
                    <a:solidFill>
                      <a:srgbClr val="FFEFD9"/>
                    </a:solidFill>
                  </a:tcPr>
                </a:tc>
                <a:tc>
                  <a:txBody>
                    <a:bodyPr wrap="square"/>
                    <a:lstStyle/>
                    <a:p>
                      <a:r>
                        <a:rPr sz="1600" b="0">
                          <a:solidFill>
                            <a:srgbClr val="1F2A44"/>
                          </a:solidFill>
                          <a:latin typeface="Arial"/>
                          <a:ea typeface="Microsoft YaHei"/>
                        </a:rPr>
                        <a:t>Could you tell me what this means?</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Direct and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直接与间接问句</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In indirect questions, the word order is statement order: where the file is (not where is the file).</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Could you tell me where is the file?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me where the file is?</a:t>
            </a:r>
          </a:p>
          <a:p>
            <a:pPr algn="l">
              <a:spcAft>
                <a:spcPts val="200"/>
              </a:spcAft>
            </a:pPr>
            <a:r>
              <a:rPr sz="1200" b="0">
                <a:solidFill>
                  <a:srgbClr val="FFFFFF"/>
                </a:solidFill>
                <a:latin typeface="Arial"/>
                <a:ea typeface="Microsoft YaHei"/>
              </a:rPr>
              <a:t>间接问句用陈述语序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inform me the result.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let me know the result.</a:t>
            </a:r>
          </a:p>
          <a:p>
            <a:pPr algn="l">
              <a:spcAft>
                <a:spcPts val="200"/>
              </a:spcAft>
            </a:pPr>
            <a:r>
              <a:rPr sz="1200" b="0">
                <a:solidFill>
                  <a:srgbClr val="FFFFFF"/>
                </a:solidFill>
                <a:latin typeface="Arial"/>
                <a:ea typeface="Microsoft YaHei"/>
              </a:rPr>
              <a:t>inform sb of/about</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ask you a information.</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ask you something. / for some information.</a:t>
            </a:r>
          </a:p>
          <a:p>
            <a:pPr algn="l">
              <a:spcAft>
                <a:spcPts val="200"/>
              </a:spcAft>
            </a:pPr>
            <a:r>
              <a:rPr sz="1200" b="0">
                <a:solidFill>
                  <a:srgbClr val="FFFFFF"/>
                </a:solidFill>
                <a:latin typeface="Arial"/>
                <a:ea typeface="Microsoft YaHei"/>
              </a:rPr>
              <a:t>information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waiting your reply.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waiting for your reply.</a:t>
            </a:r>
          </a:p>
          <a:p>
            <a:pPr algn="l">
              <a:spcAft>
                <a:spcPts val="200"/>
              </a:spcAft>
            </a:pPr>
            <a:r>
              <a:rPr sz="1200" b="0">
                <a:solidFill>
                  <a:srgbClr val="FFFFFF"/>
                </a:solidFill>
                <a:latin typeface="Arial"/>
                <a:ea typeface="Microsoft YaHei"/>
              </a:rPr>
              <a:t>wait for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explain me this?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explain this to me?</a:t>
            </a:r>
          </a:p>
          <a:p>
            <a:pPr algn="l">
              <a:spcAft>
                <a:spcPts val="200"/>
              </a:spcAft>
            </a:pPr>
            <a:r>
              <a:rPr sz="1200" b="0">
                <a:solidFill>
                  <a:srgbClr val="FFFFFF"/>
                </a:solidFill>
                <a:latin typeface="Arial"/>
                <a:ea typeface="Microsoft YaHei"/>
              </a:rPr>
              <a:t>explain sth to sb</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know that when it’s ready.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know when it’s ready.</a:t>
            </a:r>
          </a:p>
          <a:p>
            <a:pPr algn="l">
              <a:spcAft>
                <a:spcPts val="200"/>
              </a:spcAft>
            </a:pPr>
            <a:r>
              <a:rPr sz="1200" b="0">
                <a:solidFill>
                  <a:srgbClr val="FFFFFF"/>
                </a:solidFill>
                <a:latin typeface="Arial"/>
                <a:ea typeface="Microsoft YaHei"/>
              </a:rPr>
              <a:t>不加 that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indirect word order, explain something to someone, wait for, and uncountable information.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“please” and give reasons. Requests with reasons sound reasonable.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Follow-ups are normal. A polite reminder is not rude; silence is more often busyness.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Be specific about time. “ASAP” is vague; use “by 3 p.m. on Thursday”.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Write it down. Confirm important information in writing.</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information with Do you happen to know…?</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clarify with Just to be clear, …</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follow up politely with I’m following up 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indirect question word order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27 Querying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Write one request with context and a deadline and one follow-up. Say them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indirect word order, explain to, wait for, information.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28 Following your intuition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Following your intuition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跟随直觉</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intuition and data in decision-making, explain a “gut feeling” and justify a decision.</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trust your gut feeling when you make decisions?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remember a decision you made with your instinct?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In which situations is intuition better than data?</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ignored a gut feeling and regretted it?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experienced people make fast decisions?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“gut feeling” = 直觉。第 2 题用 made(过去式),第 4 题 “ignored… regretted”。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a decision where you followed your instinct, and what happened.</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decision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your gut said</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the data said</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did</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the result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gut told me…   💬 On paper, … but…   💬 I had a hunch that…   💬 In hindsight,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paper” = 从数据上看;“in hindsight” = 事后看来。</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Reading · The candidate who didn’t fit on paper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Hana had two candidates for a sales job. On paper, Alex was perfect: five years’ experience and an excellent CV. Jordan had less experience, but something about the interview stuck with her. He asked unusually good questions about the customer and admitted what he didn’t know. “My gut says Jordan,” she told her team. Her colleague Ben disagreed. “The data says Alex.” They agreed on a compromise: a short practical test. Jordan did very well in it and impressed the whole team. He was hired and, a year later, was the top performer. Hana says intuition is not magic. It is experience that works quickly and quietly. “But I always test my hunch,” she says. “If I can’t explain it in words, I’m not ready to decide.”</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Hana prefer Jordan?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His good questions and honesty impressed her despite less experience.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did the team settle the disagreement?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short practical test.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Hana say about intuition?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It’s experience working quickly; she still tests her hunch.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Intuition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直觉</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gut feeling / gut instinct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直觉</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gut feeling about this deal.”</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have a hunch that…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我有预感…</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hunch that he’ll accept.”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 paper</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纸面上</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paper, it looks perfect.”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with your gut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相信直觉</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end, I went with my gut.”</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something doesn’t feel right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感觉有点不对劲</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“Something about the contract doesn’t feel right.”</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Evidence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证据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data-driven</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数据驱动的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try to be data-driven.”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 up with</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用…支持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back that up with facts?”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rely on</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依赖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rely on experience more than reports.”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evidence-based</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以证据为基础</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an evidence-based decision.”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out to be right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事后证明是对的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hunch turned out to be right.”</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Reflecting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hindsight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事后看来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hindsight, I should have waited.”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risk</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冒险</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“Sometimes you have to take a risk.”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trust your instincts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相信本能</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“Trust your instincts, but test them.”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second-guess</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事后怀疑/反复质疑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second-guess yourself.”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weigh the evidence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权衡证据</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weighed the evidence carefully.”</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直觉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gut feeling / gut instinct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权衡证据</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the evidence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用…支持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 up with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我有预感…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have a hunch that…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感觉有点不对劲</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something doesn’t feel right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事后看来</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hindsight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risk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数据驱动的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data-driven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gut</a:t>
            </a:r>
          </a:p>
        </p:txBody>
      </p:sp>
      <p:sp>
        <p:nvSpPr>
          <p:cNvPr id="10" name="Rounded Rectangle 9"/>
          <p:cNvSpPr/>
          <p:nvPr/>
        </p:nvSpPr>
        <p:spPr>
          <a:xfrm>
            <a:off x="279806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hunch</a:t>
            </a:r>
          </a:p>
        </p:txBody>
      </p:sp>
      <p:sp>
        <p:nvSpPr>
          <p:cNvPr id="11" name="Rounded Rectangle 10"/>
          <p:cNvSpPr/>
          <p:nvPr/>
        </p:nvSpPr>
        <p:spPr>
          <a:xfrm>
            <a:off x="3803904"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paper</a:t>
            </a:r>
          </a:p>
        </p:txBody>
      </p:sp>
      <p:sp>
        <p:nvSpPr>
          <p:cNvPr id="12" name="Rounded Rectangle 11"/>
          <p:cNvSpPr/>
          <p:nvPr/>
        </p:nvSpPr>
        <p:spPr>
          <a:xfrm>
            <a:off x="480974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driven</a:t>
            </a:r>
          </a:p>
        </p:txBody>
      </p:sp>
      <p:sp>
        <p:nvSpPr>
          <p:cNvPr id="13" name="Rounded Rectangle 12"/>
          <p:cNvSpPr/>
          <p:nvPr/>
        </p:nvSpPr>
        <p:spPr>
          <a:xfrm>
            <a:off x="5925312"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hindsight</a:t>
            </a:r>
          </a:p>
        </p:txBody>
      </p:sp>
      <p:sp>
        <p:nvSpPr>
          <p:cNvPr id="14" name="Rounded Rectangle 13"/>
          <p:cNvSpPr/>
          <p:nvPr/>
        </p:nvSpPr>
        <p:spPr>
          <a:xfrm>
            <a:off x="7370064"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rely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_______ feeling says this deal is risky.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gut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have a _______ that he’ll accept.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hunch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On _______, the plan looks perfect.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paper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try to be data-_______.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driven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In _______, I should have waited.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hindsight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_______ on experience more than reports.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(词性) gut feeling(名词)、intuitive(形容词)、intuition(名词);“data” 现在多作不可数,the data shows/show 均可,商务中常用 shows。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Explaining a hunch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解释你的直觉</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prefer a candidate based on instinct and explain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Hana,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Ben, colleague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Explaining a hunch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gut says we should hire Jordan.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on paper, Alex is the stronger candidate.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But Jordan asked excellent questions and was honest about what he didn’t know.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hunch. Can you back it up with evidence?</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Explaining a hunch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point. How about a short practical test?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be happy with that. Then we have data.</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set it up for Friday.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Explaining a hunch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decision based on instinct.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Decision-maker. Hunch: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Data-driven colleague.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My gut says… · On paper, … · back it up with · I have a hunch · How about a test?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hunch, hear the challenge and agree on a check.</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“I may be wrong, but…”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risk and a plan B.</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decision deadline.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A decision with mixed evidence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数据与直觉冲突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meeting about launching a product.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Product lead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Data analyst</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 decision with mixed evidence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survey is mixed, but I have a hunch that customers will love this.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data suggests only 35 per cent are interested.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surveys don’t always predict behaviour.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though it’s a risk.</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decision with mixed evidence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we launch a small pilot?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give us real evidence, and we’d lose less if it fails.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let’s do that in one city.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design the test.</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A decision with mixed evidence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balance gut and data.</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Product lead with a hunch.</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with data: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have a hunch · The data suggests… · It’s a risk · pilot · weigh the evidence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the conflict and reach a testable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“in hindsight” about a previous decision.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numeric threshold for success.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 decision in one sentence.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wise to trust your gut in business?</a:t>
            </a:r>
          </a:p>
          <a:p>
            <a:pPr algn="l">
              <a:lnSpc>
                <a:spcPct val="115000"/>
              </a:lnSpc>
              <a:spcAft>
                <a:spcPts val="800"/>
              </a:spcAft>
            </a:pPr>
            <a:r>
              <a:rPr sz="1400" b="0">
                <a:solidFill>
                  <a:srgbClr val="5F677A"/>
                </a:solidFill>
                <a:latin typeface="Arial"/>
                <a:ea typeface="Microsoft YaHei"/>
              </a:rPr>
              <a:t>💬 “It depends on… / Experts can…”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data more important than intuition?</a:t>
            </a:r>
          </a:p>
          <a:p>
            <a:pPr algn="l">
              <a:lnSpc>
                <a:spcPct val="115000"/>
              </a:lnSpc>
              <a:spcAft>
                <a:spcPts val="800"/>
              </a:spcAft>
            </a:pPr>
            <a:r>
              <a:rPr sz="1400" b="0">
                <a:solidFill>
                  <a:srgbClr val="5F677A"/>
                </a:solidFill>
                <a:latin typeface="Arial"/>
                <a:ea typeface="Microsoft YaHei"/>
              </a:rPr>
              <a:t>💬 “Data matters most when…”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test a hunch cheaply?</a:t>
            </a:r>
          </a:p>
          <a:p>
            <a:pPr algn="l">
              <a:lnSpc>
                <a:spcPct val="115000"/>
              </a:lnSpc>
              <a:spcAft>
                <a:spcPts val="800"/>
              </a:spcAft>
            </a:pPr>
            <a:r>
              <a:rPr sz="1400" b="0">
                <a:solidFill>
                  <a:srgbClr val="5F677A"/>
                </a:solidFill>
                <a:latin typeface="Arial"/>
                <a:ea typeface="Microsoft YaHei"/>
              </a:rPr>
              <a:t>💬 “You could run a pilot, or…”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intuition be learned?</a:t>
            </a:r>
          </a:p>
          <a:p>
            <a:pPr algn="l">
              <a:lnSpc>
                <a:spcPct val="115000"/>
              </a:lnSpc>
              <a:spcAft>
                <a:spcPts val="800"/>
              </a:spcAft>
            </a:pPr>
            <a:r>
              <a:rPr sz="1400" b="0">
                <a:solidFill>
                  <a:srgbClr val="5F677A"/>
                </a:solidFill>
                <a:latin typeface="Arial"/>
                <a:ea typeface="Microsoft YaHei"/>
              </a:rPr>
              <a:t>💬 “I think it grows with…”</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Describe a decision where your gut was right or wrong.</a:t>
            </a:r>
          </a:p>
          <a:p>
            <a:pPr algn="l">
              <a:lnSpc>
                <a:spcPct val="115000"/>
              </a:lnSpc>
              <a:spcAft>
                <a:spcPts val="800"/>
              </a:spcAft>
            </a:pPr>
            <a:r>
              <a:rPr sz="1400" b="0">
                <a:solidFill>
                  <a:srgbClr val="5F677A"/>
                </a:solidFill>
                <a:latin typeface="Arial"/>
                <a:ea typeface="Microsoft YaHei"/>
              </a:rPr>
              <a:t>💬 “My gut told me…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it’s wise, but only for people with experience. A senior manager’s gut feeling is often years of learning compressed into a moment. For a beginner, though, it can be risky. I would say: trust your instincts, but check them with a small test or some data. That way you get the benefit of speed without the risk.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“compressed into a moment” 压缩成瞬间;“the benefit of speed” 速度的好处。</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Hedging and softening opinions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缓和语气</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Strong</a:t>
                      </a:r>
                    </a:p>
                  </a:txBody>
                  <a:tcPr anchor="ctr">
                    <a:solidFill>
                      <a:srgbClr val="3CC49A"/>
                    </a:solidFill>
                  </a:tcPr>
                </a:tc>
                <a:tc>
                  <a:txBody>
                    <a:bodyPr wrap="square"/>
                    <a:lstStyle/>
                    <a:p>
                      <a:r>
                        <a:rPr sz="1600" b="1">
                          <a:solidFill>
                            <a:srgbClr val="FFFFFF"/>
                          </a:solidFill>
                          <a:latin typeface="Arial"/>
                          <a:ea typeface="Microsoft YaHei"/>
                        </a:rPr>
                        <a:t>Softer</a:t>
                      </a:r>
                    </a:p>
                  </a:txBody>
                  <a:tcPr anchor="ctr">
                    <a:solidFill>
                      <a:srgbClr val="3CC49A"/>
                    </a:solidFill>
                  </a:tcPr>
                </a:tc>
              </a:tr>
              <a:tr h="408432">
                <a:tc>
                  <a:txBody>
                    <a:bodyPr wrap="square"/>
                    <a:lstStyle/>
                    <a:p>
                      <a:r>
                        <a:rPr sz="1600" b="1">
                          <a:solidFill>
                            <a:srgbClr val="1F2A44"/>
                          </a:solidFill>
                          <a:latin typeface="Arial"/>
                          <a:ea typeface="Microsoft YaHei"/>
                        </a:rPr>
                        <a:t>You’re wrong.</a:t>
                      </a:r>
                    </a:p>
                  </a:txBody>
                  <a:tcPr anchor="ctr">
                    <a:solidFill>
                      <a:srgbClr val="FFFFFF"/>
                    </a:solidFill>
                  </a:tcPr>
                </a:tc>
                <a:tc>
                  <a:txBody>
                    <a:bodyPr wrap="square"/>
                    <a:lstStyle/>
                    <a:p>
                      <a:r>
                        <a:rPr sz="1600" b="0">
                          <a:solidFill>
                            <a:srgbClr val="1F2A44"/>
                          </a:solidFill>
                          <a:latin typeface="Arial"/>
                          <a:ea typeface="Microsoft YaHei"/>
                        </a:rPr>
                        <a:t>I may be wrong, but I see it differently.</a:t>
                      </a:r>
                    </a:p>
                  </a:txBody>
                  <a:tcPr anchor="ctr">
                    <a:solidFill>
                      <a:srgbClr val="FFFFFF"/>
                    </a:solidFill>
                  </a:tcPr>
                </a:tc>
              </a:tr>
              <a:tr h="408432">
                <a:tc>
                  <a:txBody>
                    <a:bodyPr wrap="square"/>
                    <a:lstStyle/>
                    <a:p>
                      <a:r>
                        <a:rPr sz="1600" b="1">
                          <a:solidFill>
                            <a:srgbClr val="1F2A44"/>
                          </a:solidFill>
                          <a:latin typeface="Arial"/>
                          <a:ea typeface="Microsoft YaHei"/>
                        </a:rPr>
                        <a:t>The data is clear.</a:t>
                      </a:r>
                    </a:p>
                  </a:txBody>
                  <a:tcPr anchor="ctr">
                    <a:solidFill>
                      <a:srgbClr val="FFEFD9"/>
                    </a:solidFill>
                  </a:tcPr>
                </a:tc>
                <a:tc>
                  <a:txBody>
                    <a:bodyPr wrap="square"/>
                    <a:lstStyle/>
                    <a:p>
                      <a:r>
                        <a:rPr sz="1600" b="0">
                          <a:solidFill>
                            <a:srgbClr val="1F2A44"/>
                          </a:solidFill>
                          <a:latin typeface="Arial"/>
                          <a:ea typeface="Microsoft YaHei"/>
                        </a:rPr>
                        <a:t>The data seems to suggest…</a:t>
                      </a:r>
                    </a:p>
                  </a:txBody>
                  <a:tcPr anchor="ctr">
                    <a:solidFill>
                      <a:srgbClr val="FFEFD9"/>
                    </a:solidFill>
                  </a:tcPr>
                </a:tc>
              </a:tr>
              <a:tr h="408432">
                <a:tc>
                  <a:txBody>
                    <a:bodyPr wrap="square"/>
                    <a:lstStyle/>
                    <a:p>
                      <a:r>
                        <a:rPr sz="1600" b="1">
                          <a:solidFill>
                            <a:srgbClr val="1F2A44"/>
                          </a:solidFill>
                          <a:latin typeface="Arial"/>
                          <a:ea typeface="Microsoft YaHei"/>
                        </a:rPr>
                        <a:t>This will fail.</a:t>
                      </a:r>
                    </a:p>
                  </a:txBody>
                  <a:tcPr anchor="ctr">
                    <a:solidFill>
                      <a:srgbClr val="FFFFFF"/>
                    </a:solidFill>
                  </a:tcPr>
                </a:tc>
                <a:tc>
                  <a:txBody>
                    <a:bodyPr wrap="square"/>
                    <a:lstStyle/>
                    <a:p>
                      <a:r>
                        <a:rPr sz="1600" b="0">
                          <a:solidFill>
                            <a:srgbClr val="1F2A44"/>
                          </a:solidFill>
                          <a:latin typeface="Arial"/>
                          <a:ea typeface="Microsoft YaHei"/>
                        </a:rPr>
                        <a:t>This could be risky.</a:t>
                      </a:r>
                    </a:p>
                  </a:txBody>
                  <a:tcPr anchor="ctr">
                    <a:solidFill>
                      <a:srgbClr val="FFFFFF"/>
                    </a:solidFill>
                  </a:tcPr>
                </a:tc>
              </a:tr>
              <a:tr h="408432">
                <a:tc>
                  <a:txBody>
                    <a:bodyPr wrap="square"/>
                    <a:lstStyle/>
                    <a:p>
                      <a:r>
                        <a:rPr sz="1600" b="1">
                          <a:solidFill>
                            <a:srgbClr val="1F2A44"/>
                          </a:solidFill>
                          <a:latin typeface="Arial"/>
                          <a:ea typeface="Microsoft YaHei"/>
                        </a:rPr>
                        <a:t>That’s a bad idea.</a:t>
                      </a:r>
                    </a:p>
                  </a:txBody>
                  <a:tcPr anchor="ctr">
                    <a:solidFill>
                      <a:srgbClr val="FFEFD9"/>
                    </a:solidFill>
                  </a:tcPr>
                </a:tc>
                <a:tc>
                  <a:txBody>
                    <a:bodyPr wrap="square"/>
                    <a:lstStyle/>
                    <a:p>
                      <a:r>
                        <a:rPr sz="1600" b="0">
                          <a:solidFill>
                            <a:srgbClr val="1F2A44"/>
                          </a:solidFill>
                          <a:latin typeface="Arial"/>
                          <a:ea typeface="Microsoft YaHei"/>
                        </a:rPr>
                        <a:t>I’m not sure that would work.</a:t>
                      </a:r>
                    </a:p>
                  </a:txBody>
                  <a:tcPr anchor="ctr">
                    <a:solidFill>
                      <a:srgbClr val="FFEFD9"/>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Hedging and softening opinions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缓和语气</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modals and verbs of probability: </a:t>
            </a:r>
            <a:r>
              <a:rPr sz="1700" b="0">
                <a:solidFill>
                  <a:srgbClr val="1F2A44"/>
                </a:solidFill>
                <a:latin typeface="Arial"/>
                <a:ea typeface="Microsoft YaHei"/>
              </a:rPr>
              <a:t>may, might, could, seem, suggest, tend to.</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follow my feeling.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go with my gut. / I follow my instincts.</a:t>
            </a:r>
          </a:p>
          <a:p>
            <a:pPr algn="l">
              <a:spcAft>
                <a:spcPts val="200"/>
              </a:spcAft>
            </a:pPr>
            <a:r>
              <a:rPr sz="1200" b="0">
                <a:solidFill>
                  <a:srgbClr val="FFFFFF"/>
                </a:solidFill>
                <a:latin typeface="Arial"/>
                <a:ea typeface="Microsoft YaHei"/>
              </a:rPr>
              <a:t>地道搭配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feeling that he will to accept.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feeling that he’ll accept.</a:t>
            </a:r>
          </a:p>
          <a:p>
            <a:pPr algn="l">
              <a:spcAft>
                <a:spcPts val="200"/>
              </a:spcAft>
            </a:pPr>
            <a:r>
              <a:rPr sz="1200" b="0">
                <a:solidFill>
                  <a:srgbClr val="FFFFFF"/>
                </a:solidFill>
                <a:latin typeface="Arial"/>
                <a:ea typeface="Microsoft YaHei"/>
              </a:rPr>
              <a:t>will + 动词原形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 my opinion is better to test.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opinion, it’s better to test.</a:t>
            </a:r>
          </a:p>
          <a:p>
            <a:pPr algn="l">
              <a:spcAft>
                <a:spcPts val="200"/>
              </a:spcAft>
            </a:pPr>
            <a:r>
              <a:rPr sz="1200" b="0">
                <a:solidFill>
                  <a:srgbClr val="FFFFFF"/>
                </a:solidFill>
                <a:latin typeface="Arial"/>
                <a:ea typeface="Microsoft YaHei"/>
              </a:rPr>
              <a:t>缺主语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According to me, the data is clear.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view, the data is clear.</a:t>
            </a:r>
          </a:p>
          <a:p>
            <a:pPr algn="l">
              <a:spcAft>
                <a:spcPts val="200"/>
              </a:spcAft>
            </a:pPr>
            <a:r>
              <a:rPr sz="1200" b="0">
                <a:solidFill>
                  <a:srgbClr val="FFFFFF"/>
                </a:solidFill>
                <a:latin typeface="Arial"/>
                <a:ea typeface="Microsoft YaHei"/>
              </a:rPr>
              <a:t>according to 不用于自己</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data are suggesting a problem.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data suggests a problem.</a:t>
            </a:r>
          </a:p>
          <a:p>
            <a:pPr algn="l">
              <a:spcAft>
                <a:spcPts val="200"/>
              </a:spcAft>
            </a:pPr>
            <a:r>
              <a:rPr sz="1200" b="0">
                <a:solidFill>
                  <a:srgbClr val="FFFFFF"/>
                </a:solidFill>
                <a:latin typeface="Arial"/>
                <a:ea typeface="Microsoft YaHei"/>
              </a:rPr>
              <a:t>动词用一般现在时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regret to ignore my gut.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regret ignoring my gut.</a:t>
            </a:r>
          </a:p>
          <a:p>
            <a:pPr algn="l">
              <a:spcAft>
                <a:spcPts val="200"/>
              </a:spcAft>
            </a:pPr>
            <a:r>
              <a:rPr sz="1200" b="0">
                <a:solidFill>
                  <a:srgbClr val="FFFFFF"/>
                </a:solidFill>
                <a:latin typeface="Arial"/>
                <a:ea typeface="Microsoft YaHei"/>
              </a:rPr>
              <a:t>regret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go with your gut, In my view (not according to me), and regret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“I think” or “My gut says”. It marks opinion, not fact.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hide a hunch. Western managers value a clear opinion, but they expect reasons.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Pilot before launching. A small test shows both caution and drive.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Admit uncertainty. “I’m not 100 per cent sure, but…” is respected.</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express a hunch with My gut says… / I have a hunch that…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contrast with On paper, …, but…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reflect with In hindsight, …</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regret + -ing and In my view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28 Following your intuition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decision where you followed intuition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regret -ing, in my view, will + base, on paper.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29 How to make faster decisions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How to make faster decisions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如何更快地做决定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how to decide quickly, set deadlines and criteria, and communicate a decision with confidence.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you a fast or a slow decision-maker?</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kinds of decisions take you the longest?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happens in your team when decisions are delayed?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wait for all the information before deciding?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helps you decide quickly under pressure?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“fast or slow” 选择问句。“decision-maker” = 决策者。动词搭配用 make a decision。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advice to a colleague who is slow to make decisions.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tip 1</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tip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tip 3</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the benefit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tip is to…   💬 It helps to…   💬 You don’t need all the information, just…   💬 That way,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helps to + 动词原形” 给建议。“That way” = 这样一来。</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70 per cent rule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managers wait for perfect information before they decide. The problem is that perfect information rarely exists, and waiting has a cost. A simple rule used by some leaders is to decide when you have about 70 per cent of the information you wish you had. Waiting for 90 per cent is usually too slow; acting on 40 per cent is a gamble. A second tip is to set a deadline for the decision before you start. A third is to separate decisions you can undo from those you cannot. If a choice is easy to reverse, such as trying a new meeting format, decide quickly and review it later. If it is permanent, such as signing a long contract, take more time. Speed, in short, is not about rushing. It is about choosing the right amount of thinking.</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waiting for perfect information a problem?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Perfect information rarely exists and waiting has a cost.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70 per cent rule?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Decide when you have about 70 per cent of the information you’d like.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should you take more time to decide?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the decision is permanent or hard to undo.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Speed and deadlines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速度与期限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make a decision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做决定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make a decision by Friday.”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a deadline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设定期限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set a deadline for this decision.”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cut to the chase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直奔主题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cut to the chase and decide.”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analysis paralysis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分析瘫痪(想太多不决策)</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stuck in analysis paralysis.”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stall</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拖延/停滞</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project has stalled.”</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Criteria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标准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criteria</a:t>
            </a:r>
          </a:p>
          <a:p>
            <a:pPr algn="l">
              <a:lnSpc>
                <a:spcPct val="115000"/>
              </a:lnSpc>
              <a:spcAft>
                <a:spcPts val="800"/>
              </a:spcAft>
            </a:pPr>
            <a:r>
              <a:rPr sz="1300" b="0">
                <a:solidFill>
                  <a:srgbClr val="5F677A"/>
                </a:solidFill>
                <a:latin typeface="Arial"/>
                <a:ea typeface="Microsoft YaHei"/>
              </a:rPr>
              <a:t>noun (pl.)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标准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the criteria for choosing?”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prioritise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排优先级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prioritise the options.”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trade-off</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always a trade-off between speed and quality.”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no-brainer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毫无疑问的决定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“At that price, it’s a no-brainer.”</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reversible / irreversible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可逆/不可逆</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decision is reversible.”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Communicating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传达决定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decided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我决定…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decided to go with option B.”</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go with…</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我们就选…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with the first plan.”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sign off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批准/签字</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director signed off on the budget.”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move forward / move on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向前推进</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move forward with this.”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the call</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拍板</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“Someone needs to make the call today.”</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批准/签字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 off 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可逆/不可逆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reversible / irreversible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拍板</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the call</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分析瘫痪(想太多不决策)</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analysis paralysis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拖延/停滞</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stall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排优先级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直奔主题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to the chase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设定期限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a deadline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decision</a:t>
            </a:r>
          </a:p>
        </p:txBody>
      </p:sp>
      <p:sp>
        <p:nvSpPr>
          <p:cNvPr id="10" name="Rounded Rectangle 9"/>
          <p:cNvSpPr/>
          <p:nvPr/>
        </p:nvSpPr>
        <p:spPr>
          <a:xfrm>
            <a:off x="334670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deadline</a:t>
            </a:r>
          </a:p>
        </p:txBody>
      </p:sp>
      <p:sp>
        <p:nvSpPr>
          <p:cNvPr id="11" name="Rounded Rectangle 10"/>
          <p:cNvSpPr/>
          <p:nvPr/>
        </p:nvSpPr>
        <p:spPr>
          <a:xfrm>
            <a:off x="4681728"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criteria</a:t>
            </a:r>
          </a:p>
        </p:txBody>
      </p:sp>
      <p:sp>
        <p:nvSpPr>
          <p:cNvPr id="12" name="Rounded Rectangle 11"/>
          <p:cNvSpPr/>
          <p:nvPr/>
        </p:nvSpPr>
        <p:spPr>
          <a:xfrm>
            <a:off x="6016752"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trade-off</a:t>
            </a:r>
          </a:p>
        </p:txBody>
      </p:sp>
      <p:sp>
        <p:nvSpPr>
          <p:cNvPr id="13" name="Rounded Rectangle 12"/>
          <p:cNvSpPr/>
          <p:nvPr/>
        </p:nvSpPr>
        <p:spPr>
          <a:xfrm>
            <a:off x="7461504"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no-brainer</a:t>
            </a:r>
          </a:p>
        </p:txBody>
      </p:sp>
      <p:sp>
        <p:nvSpPr>
          <p:cNvPr id="14" name="Rounded Rectangle 13"/>
          <p:cNvSpPr/>
          <p:nvPr/>
        </p:nvSpPr>
        <p:spPr>
          <a:xfrm>
            <a:off x="9015984"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stalled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need to make a _______ by Friday.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decision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Let’s set a _______ for this choice.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What are the _______ for choosing a supplier?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criteria</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There’s always a _______ between speed and quality.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At that price, it’s a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no-brainer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project has _______ because nobody decided.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stalled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make a decision (不用 do/take,英式也可 take a decision); criteria 是复数, 单数 criterion。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Deciding quickly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会议上快速决定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team is stuck on a choice.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Deciding quickly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Chair</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been going round in circles. Let’s cut to the chase. What are our criteria?</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Cost, speed and risk.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those, which option wins?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Option B. It’s cheaper and faster, and the risk is low.</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Deciding quickly in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 decision reversible?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 can switch after three months.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let’s go with B. I’ll sign off on it today.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I’ll start planning.</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Deciding quickly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push a stuck team to a decision.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Decision: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cut to the chase · criteria · reversible · Let’s go with… · sign off</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Set criteria, compare and decide in under five minutes.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vote with a time limit.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Name one risk and a review date.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colleague who says “we need more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Deciding with incomplete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在信息不完整时决定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asks whether you can decide now.</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Deciding with incomplete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decide today, or do you need more data?</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about 70 per cent of what I’d like. I think it’s enough.</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risk if you’re wrong?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lose two weeks, but we could change course.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I’d decide now. Waiting costs more.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I’ve decided to go with the smaller supplier.</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tell the team by noon.</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Deciding with incomplete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decide with incomplete information.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asking.</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Decision-maker. Choice: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about 70 per cent · enough · if I’m wrong · I’ve decided to… · course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why you will decide now and what the risk is.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would change your mind.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review point in two weeks.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decision to a sceptical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people delay decisions?</a:t>
            </a:r>
          </a:p>
          <a:p>
            <a:pPr algn="l">
              <a:lnSpc>
                <a:spcPct val="115000"/>
              </a:lnSpc>
              <a:spcAft>
                <a:spcPts val="800"/>
              </a:spcAft>
            </a:pPr>
            <a:r>
              <a:rPr sz="1400" b="0">
                <a:solidFill>
                  <a:srgbClr val="5F677A"/>
                </a:solidFill>
                <a:latin typeface="Arial"/>
                <a:ea typeface="Microsoft YaHei"/>
              </a:rPr>
              <a:t>💬 “They worry about… / They fear…”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deciding too fast?</a:t>
            </a:r>
          </a:p>
          <a:p>
            <a:pPr algn="l">
              <a:lnSpc>
                <a:spcPct val="115000"/>
              </a:lnSpc>
              <a:spcAft>
                <a:spcPts val="800"/>
              </a:spcAft>
            </a:pPr>
            <a:r>
              <a:rPr sz="1400" b="0">
                <a:solidFill>
                  <a:srgbClr val="5F677A"/>
                </a:solidFill>
                <a:latin typeface="Arial"/>
                <a:ea typeface="Microsoft YaHei"/>
              </a:rPr>
              <a:t>💬 “You might miss… / You can make…”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would you decide in a crisis?</a:t>
            </a:r>
          </a:p>
          <a:p>
            <a:pPr algn="l">
              <a:lnSpc>
                <a:spcPct val="115000"/>
              </a:lnSpc>
              <a:spcAft>
                <a:spcPts val="800"/>
              </a:spcAft>
            </a:pPr>
            <a:r>
              <a:rPr sz="1400" b="0">
                <a:solidFill>
                  <a:srgbClr val="5F677A"/>
                </a:solidFill>
                <a:latin typeface="Arial"/>
                <a:ea typeface="Microsoft YaHei"/>
              </a:rPr>
              <a:t>💬 “I’d focus on… / I’d ask…”</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make decisions in a team?</a:t>
            </a:r>
          </a:p>
          <a:p>
            <a:pPr algn="l">
              <a:lnSpc>
                <a:spcPct val="115000"/>
              </a:lnSpc>
              <a:spcAft>
                <a:spcPts val="800"/>
              </a:spcAft>
            </a:pPr>
            <a:r>
              <a:rPr sz="1400" b="0">
                <a:solidFill>
                  <a:srgbClr val="5F677A"/>
                </a:solidFill>
                <a:latin typeface="Arial"/>
                <a:ea typeface="Microsoft YaHei"/>
              </a:rPr>
              <a:t>💬 “The person who… / It depends on…”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decisions in your job could be quicker?</a:t>
            </a:r>
          </a:p>
          <a:p>
            <a:pPr algn="l">
              <a:lnSpc>
                <a:spcPct val="115000"/>
              </a:lnSpc>
              <a:spcAft>
                <a:spcPts val="800"/>
              </a:spcAft>
            </a:pPr>
            <a:r>
              <a:rPr sz="1400" b="0">
                <a:solidFill>
                  <a:srgbClr val="5F677A"/>
                </a:solidFill>
                <a:latin typeface="Arial"/>
                <a:ea typeface="Microsoft YaHei"/>
              </a:rPr>
              <a:t>💬 “For example, …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Deciding too fast can make you miss important information. You might choose a supplier because the price is low, and later find that the quality is poor. It can also upset the team if they feel ignored. So I’d say: decide fast on small, reversible things, and slow down for big ones. That balance reduces most of the risk.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“reduce the risk” 降低风险;“slow down” 放慢。</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advice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给建议</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It helps to + verb</a:t>
                      </a:r>
                    </a:p>
                  </a:txBody>
                  <a:tcPr anchor="ctr">
                    <a:solidFill>
                      <a:srgbClr val="FFFFFF"/>
                    </a:solidFill>
                  </a:tcPr>
                </a:tc>
                <a:tc>
                  <a:txBody>
                    <a:bodyPr wrap="square"/>
                    <a:lstStyle/>
                    <a:p>
                      <a:r>
                        <a:rPr sz="1600" b="0">
                          <a:solidFill>
                            <a:srgbClr val="1F2A44"/>
                          </a:solidFill>
                          <a:latin typeface="Arial"/>
                          <a:ea typeface="Microsoft YaHei"/>
                        </a:rPr>
                        <a:t>It helps to set a deadline.</a:t>
                      </a:r>
                    </a:p>
                  </a:txBody>
                  <a:tcPr anchor="ctr">
                    <a:solidFill>
                      <a:srgbClr val="FFFFFF"/>
                    </a:solidFill>
                  </a:tcPr>
                </a:tc>
              </a:tr>
              <a:tr h="408432">
                <a:tc>
                  <a:txBody>
                    <a:bodyPr wrap="square"/>
                    <a:lstStyle/>
                    <a:p>
                      <a:r>
                        <a:rPr sz="1600" b="1">
                          <a:solidFill>
                            <a:srgbClr val="1F2A44"/>
                          </a:solidFill>
                          <a:latin typeface="Arial"/>
                          <a:ea typeface="Microsoft YaHei"/>
                        </a:rPr>
                        <a:t>You could / should + verb</a:t>
                      </a:r>
                    </a:p>
                  </a:txBody>
                  <a:tcPr anchor="ctr">
                    <a:solidFill>
                      <a:srgbClr val="FFEFD9"/>
                    </a:solidFill>
                  </a:tcPr>
                </a:tc>
                <a:tc>
                  <a:txBody>
                    <a:bodyPr wrap="square"/>
                    <a:lstStyle/>
                    <a:p>
                      <a:r>
                        <a:rPr sz="1600" b="0">
                          <a:solidFill>
                            <a:srgbClr val="1F2A44"/>
                          </a:solidFill>
                          <a:latin typeface="Arial"/>
                          <a:ea typeface="Microsoft YaHei"/>
                        </a:rPr>
                        <a:t>You could decide by Friday.</a:t>
                      </a:r>
                    </a:p>
                  </a:txBody>
                  <a:tcPr anchor="ctr">
                    <a:solidFill>
                      <a:srgbClr val="FFEFD9"/>
                    </a:solidFill>
                  </a:tcPr>
                </a:tc>
              </a:tr>
              <a:tr h="408432">
                <a:tc>
                  <a:txBody>
                    <a:bodyPr wrap="square"/>
                    <a:lstStyle/>
                    <a:p>
                      <a:r>
                        <a:rPr sz="1600" b="1">
                          <a:solidFill>
                            <a:srgbClr val="1F2A44"/>
                          </a:solidFill>
                          <a:latin typeface="Arial"/>
                          <a:ea typeface="Microsoft YaHei"/>
                        </a:rPr>
                        <a:t>The key is to + verb</a:t>
                      </a:r>
                    </a:p>
                  </a:txBody>
                  <a:tcPr anchor="ctr">
                    <a:solidFill>
                      <a:srgbClr val="FFFFFF"/>
                    </a:solidFill>
                  </a:tcPr>
                </a:tc>
                <a:tc>
                  <a:txBody>
                    <a:bodyPr wrap="square"/>
                    <a:lstStyle/>
                    <a:p>
                      <a:r>
                        <a:rPr sz="1600" b="0">
                          <a:solidFill>
                            <a:srgbClr val="1F2A44"/>
                          </a:solidFill>
                          <a:latin typeface="Arial"/>
                          <a:ea typeface="Microsoft YaHei"/>
                        </a:rPr>
                        <a:t>The key is to separate big from small choices.</a:t>
                      </a:r>
                    </a:p>
                  </a:txBody>
                  <a:tcPr anchor="ctr">
                    <a:solidFill>
                      <a:srgbClr val="FFFFFF"/>
                    </a:solidFill>
                  </a:tcPr>
                </a:tc>
              </a:tr>
              <a:tr h="408432">
                <a:tc>
                  <a:txBody>
                    <a:bodyPr wrap="square"/>
                    <a:lstStyle/>
                    <a:p>
                      <a:r>
                        <a:rPr sz="1600" b="1">
                          <a:solidFill>
                            <a:srgbClr val="1F2A44"/>
                          </a:solidFill>
                          <a:latin typeface="Arial"/>
                          <a:ea typeface="Microsoft YaHei"/>
                        </a:rPr>
                        <a:t>If I were you, I’d…</a:t>
                      </a:r>
                    </a:p>
                  </a:txBody>
                  <a:tcPr anchor="ctr">
                    <a:solidFill>
                      <a:srgbClr val="FFEFD9"/>
                    </a:solidFill>
                  </a:tcPr>
                </a:tc>
                <a:tc>
                  <a:txBody>
                    <a:bodyPr wrap="square"/>
                    <a:lstStyle/>
                    <a:p>
                      <a:r>
                        <a:rPr sz="1600" b="0">
                          <a:solidFill>
                            <a:srgbClr val="1F2A44"/>
                          </a:solidFill>
                          <a:latin typeface="Arial"/>
                          <a:ea typeface="Microsoft YaHei"/>
                        </a:rPr>
                        <a:t>If I were you, I’d go with B.</a:t>
                      </a:r>
                    </a:p>
                  </a:txBody>
                  <a:tcPr anchor="ctr">
                    <a:solidFill>
                      <a:srgbClr val="FFEFD9"/>
                    </a:solidFill>
                  </a:tcPr>
                </a:tc>
              </a:tr>
            </a:tbl>
          </a:graphicData>
        </a:graphic>
      </p:graphicFrame>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advice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给建议</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After help, use to + verb or -ing: </a:t>
            </a:r>
            <a:r>
              <a:rPr sz="1700" b="0">
                <a:solidFill>
                  <a:srgbClr val="1F2A44"/>
                </a:solidFill>
                <a:latin typeface="Arial"/>
                <a:ea typeface="Microsoft YaHei"/>
              </a:rPr>
              <a:t>It helps to plan / It helps planning. The first is more natural.</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to do a decision.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to make a decision.</a:t>
            </a:r>
          </a:p>
          <a:p>
            <a:pPr algn="l">
              <a:spcAft>
                <a:spcPts val="200"/>
              </a:spcAft>
            </a:pPr>
            <a:r>
              <a:rPr sz="1200" b="0">
                <a:solidFill>
                  <a:srgbClr val="FFFFFF"/>
                </a:solidFill>
                <a:latin typeface="Arial"/>
                <a:ea typeface="Microsoft YaHei"/>
              </a:rPr>
              <a:t>make a decision</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difficult to decide.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find it difficult to decide. / It’s difficult for me to decide.</a:t>
            </a:r>
          </a:p>
          <a:p>
            <a:pPr algn="l">
              <a:spcAft>
                <a:spcPts val="200"/>
              </a:spcAft>
            </a:pPr>
            <a:r>
              <a:rPr sz="1200" b="0">
                <a:solidFill>
                  <a:srgbClr val="FFFFFF"/>
                </a:solidFill>
                <a:latin typeface="Arial"/>
                <a:ea typeface="Microsoft YaHei"/>
              </a:rPr>
              <a:t>句型</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discuss about the options.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discuss the options.</a:t>
            </a:r>
          </a:p>
          <a:p>
            <a:pPr algn="l">
              <a:spcAft>
                <a:spcPts val="200"/>
              </a:spcAft>
            </a:pPr>
            <a:r>
              <a:rPr sz="1200" b="0">
                <a:solidFill>
                  <a:srgbClr val="FFFFFF"/>
                </a:solidFill>
                <a:latin typeface="Arial"/>
                <a:ea typeface="Microsoft YaHei"/>
              </a:rPr>
              <a:t>discuss 后不加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to decide until Friday.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to decide by Friday.</a:t>
            </a:r>
          </a:p>
          <a:p>
            <a:pPr algn="l">
              <a:spcAft>
                <a:spcPts val="200"/>
              </a:spcAft>
            </a:pPr>
            <a:r>
              <a:rPr sz="1200" b="0">
                <a:solidFill>
                  <a:srgbClr val="FFFFFF"/>
                </a:solidFill>
                <a:latin typeface="Arial"/>
                <a:ea typeface="Microsoft YaHei"/>
              </a:rPr>
              <a:t>by 表截止时间</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criterias are cost and speed.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criteria are cost and speed.</a:t>
            </a:r>
          </a:p>
          <a:p>
            <a:pPr algn="l">
              <a:spcAft>
                <a:spcPts val="200"/>
              </a:spcAft>
            </a:pPr>
            <a:r>
              <a:rPr sz="1200" b="0">
                <a:solidFill>
                  <a:srgbClr val="FFFFFF"/>
                </a:solidFill>
                <a:latin typeface="Arial"/>
                <a:ea typeface="Microsoft YaHei"/>
              </a:rPr>
              <a:t>criteria 已是复数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want to lose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want to waste time.</a:t>
            </a:r>
          </a:p>
          <a:p>
            <a:pPr algn="l">
              <a:spcAft>
                <a:spcPts val="200"/>
              </a:spcAft>
            </a:pPr>
            <a:r>
              <a:rPr sz="1200" b="0">
                <a:solidFill>
                  <a:srgbClr val="FFFFFF"/>
                </a:solidFill>
                <a:latin typeface="Arial"/>
                <a:ea typeface="Microsoft YaHei"/>
              </a:rPr>
              <a:t>waste time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make a decision, discuss + 宾语, by (deadline), and criteria (复数).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the decision clearly. “We’ll go with B” is better than “Maybe B could work”.</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Decide, then commit. Teams respect a decision even if they disagree.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Record it. Send a two-line email: </a:t>
            </a:r>
            <a:r>
              <a:rPr sz="1700" b="0">
                <a:solidFill>
                  <a:srgbClr val="1F2A44"/>
                </a:solidFill>
                <a:latin typeface="Arial"/>
                <a:ea typeface="Microsoft YaHei"/>
              </a:rPr>
              <a:t>decision, owner, date.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Consult, then decide. Ask for input but don’t ask for unanimity.</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set criteria and a deadline for a decision.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Let’s go with… / I’ve decided to… clearly.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trade-off between speed and quality.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make a decision, by Friday, and discuss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29 How to make faster decisions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Take one pending decision. Write criteria, a deadline and a sentence announcing it. Say it aloud.</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make a decision, by vs until, discuss, criteria.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30 How to make hard choices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How to make hard choices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如何做艰难的选择</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hard choices where options are not clearly better or worse, and explain values and trade-offs.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hardest choice you have made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harder to choose between two good options or two bad ones?</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do you ask for advice when you must decide something important?</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feel stressed about big decisions?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your values influence your choices?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“have made” 现在完成时。“values” = 价值观。“hard choice” ≠ “wrong choice”。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a hard choice you made and how you decided.</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situation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options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mattered most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the decision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how you feel now</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was torn between…   💬 What mattered most to me was…   💬 In the end, I chose… because…   💬 Looking back,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torn between A and B” = 在 A 与 B 之间难以抉择。</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When no option is clearly better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Some choices are hard not because we lack information but because the options are different. Should a company keep a loyal but slow supplier, or switch to a faster, cheaper one it does not know? There is no calculation that gives the right answer. In these cases, advice often suggests turning the question around: ask what kind of person or company you want to be. If loyalty matters, you will stay. If growth matters more, you will switch. A second idea is that such a choice is not a test you can fail. It is a chance to express your values. Finally, write down the reasons for the choice. When you later feel doubt, you can remember why you decided, which makes it easier to commit.</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are some choices hard?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the options are different and no calculation gives the answer.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question can help in these cases?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kind of person or company do I want to be?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should you write down your reasons?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remember why you decided and commit when in doubt.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Hard choices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艰难抉择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torn between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在…之间难以抉择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torn between two job offers.”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tough call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艰难的决定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tough call.”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dilemma</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两难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face a dilemma.”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lose-lose situation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两败俱伤的局面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lose-lose situation.”</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between a rock and a hard place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进退两难</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between a rock and a hard place.”</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Values and trade-offs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价值与取舍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matters most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最重要的是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matters most is trust.”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give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you willing to give up?”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compromise</a:t>
            </a:r>
          </a:p>
          <a:p>
            <a:pPr algn="l">
              <a:lnSpc>
                <a:spcPct val="115000"/>
              </a:lnSpc>
              <a:spcAft>
                <a:spcPts val="800"/>
              </a:spcAft>
            </a:pPr>
            <a:r>
              <a:rPr sz="1300" b="0">
                <a:solidFill>
                  <a:srgbClr val="5F677A"/>
                </a:solidFill>
                <a:latin typeface="Arial"/>
                <a:ea typeface="Microsoft YaHei"/>
              </a:rPr>
              <a:t>noun/verb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妥协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had to compromise on price.”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weigh something against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与…权衡</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“Weigh the risk against the reward.”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 the expense of</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以…为代价</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“Growth came at the expense of quality.”</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After the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做决定之后</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commit to</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承诺;投入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committed to the new plan.”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no regrets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无怨无悔</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no regrets.”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live with the consequences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承担后果</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have to live with the consequences.”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the long run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从长远看</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long run, it was the right choice.”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bridges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断了后路</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not to burn bridges when you leave.”</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承诺;投入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commit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两败俱伤的局面</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lose-lose situation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两难</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dilemma</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承担后果</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live with the consequences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艰难的决定</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tough call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无怨无悔</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 regrets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与…权衡</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something against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断了后路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bridges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torn</a:t>
            </a:r>
          </a:p>
        </p:txBody>
      </p:sp>
      <p:sp>
        <p:nvSpPr>
          <p:cNvPr id="10" name="Rounded Rectangle 9"/>
          <p:cNvSpPr/>
          <p:nvPr/>
        </p:nvSpPr>
        <p:spPr>
          <a:xfrm>
            <a:off x="290779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call</a:t>
            </a:r>
          </a:p>
        </p:txBody>
      </p:sp>
      <p:sp>
        <p:nvSpPr>
          <p:cNvPr id="11" name="Rounded Rectangle 10"/>
          <p:cNvSpPr/>
          <p:nvPr/>
        </p:nvSpPr>
        <p:spPr>
          <a:xfrm>
            <a:off x="380390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dilemma</a:t>
            </a:r>
          </a:p>
        </p:txBody>
      </p:sp>
      <p:sp>
        <p:nvSpPr>
          <p:cNvPr id="12" name="Rounded Rectangle 11"/>
          <p:cNvSpPr/>
          <p:nvPr/>
        </p:nvSpPr>
        <p:spPr>
          <a:xfrm>
            <a:off x="5029200"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matters</a:t>
            </a:r>
          </a:p>
        </p:txBody>
      </p:sp>
      <p:sp>
        <p:nvSpPr>
          <p:cNvPr id="13" name="Rounded Rectangle 12"/>
          <p:cNvSpPr/>
          <p:nvPr/>
        </p:nvSpPr>
        <p:spPr>
          <a:xfrm>
            <a:off x="6254496"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give</a:t>
            </a:r>
          </a:p>
        </p:txBody>
      </p:sp>
      <p:sp>
        <p:nvSpPr>
          <p:cNvPr id="14" name="Rounded Rectangle 13"/>
          <p:cNvSpPr/>
          <p:nvPr/>
        </p:nvSpPr>
        <p:spPr>
          <a:xfrm>
            <a:off x="715060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commit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_______ between two job offers.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torn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a tough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face a _______: price or quality.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dilemma</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What _______ most is trust.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matters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What are you willing to _______ up?</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Once I decide, I _______ fully.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commit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face a dilemma, make a tough call, weigh A against B; compromise on + 事项。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Thinking through a hard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理清艰难选择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asks your advice about two offers.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 (adviser)</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Thinking through a hard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torn between staying here and joining a start-up.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tough call. What matters most to you?</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Learning new things, but also a stable income.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have to give up in each case?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Stability at the start-up. At my current firm, probably growth.</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Weigh each against your goals for the next three years.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Growth probably wins.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you have your answer, even if it’s not risk-free.</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Thinking through a hard choice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help a colleague with a hard choice.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a dilemma: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torn between · tough call · what matters most · give up · weigh against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questions that clarify values and trade-offs.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“if I were you, I’d…” only at the end.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would you regret not doing?”</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way to test the new option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Announcing a tough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宣布艰难决定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tell the team you chose a new supplier.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Announcing a tough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explain a tough decision. We’re switching to the new supplier.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the old supplier has been loyal to us for years.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and it wasn’t easy. We weighed loyalty against cost and delivery speed.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cost won.</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Announcing a tough decision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long run, yes. We’ll live with some bad feelings, but I’ll be honest with them.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you stay in touch with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 don’t want to burn bridges.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I appreciate your openness.</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Announcing a tough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announce a hard decision.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Decision: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who disagrees.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tough decision · weighed… against · in the long run · live with the consequences · burn bridges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reasons, accept feelings and stay respectful.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Start with empathy.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State what you gave up.</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help during the change.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hard to choose between two good options?</a:t>
            </a:r>
          </a:p>
          <a:p>
            <a:pPr algn="l">
              <a:lnSpc>
                <a:spcPct val="115000"/>
              </a:lnSpc>
              <a:spcAft>
                <a:spcPts val="800"/>
              </a:spcAft>
            </a:pPr>
            <a:r>
              <a:rPr sz="1400" b="0">
                <a:solidFill>
                  <a:srgbClr val="5F677A"/>
                </a:solidFill>
                <a:latin typeface="Arial"/>
                <a:ea typeface="Microsoft YaHei"/>
              </a:rPr>
              <a:t>💬 “Because whichever you choose…”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your values affect decisions?</a:t>
            </a:r>
          </a:p>
          <a:p>
            <a:pPr algn="l">
              <a:lnSpc>
                <a:spcPct val="115000"/>
              </a:lnSpc>
              <a:spcAft>
                <a:spcPts val="800"/>
              </a:spcAft>
            </a:pPr>
            <a:r>
              <a:rPr sz="1400" b="0">
                <a:solidFill>
                  <a:srgbClr val="5F677A"/>
                </a:solidFill>
                <a:latin typeface="Arial"/>
                <a:ea typeface="Microsoft YaHei"/>
              </a:rPr>
              <a:t>💬 “For me, … matters most, so…”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ask others for advice?</a:t>
            </a:r>
          </a:p>
          <a:p>
            <a:pPr algn="l">
              <a:lnSpc>
                <a:spcPct val="115000"/>
              </a:lnSpc>
              <a:spcAft>
                <a:spcPts val="800"/>
              </a:spcAft>
            </a:pPr>
            <a:r>
              <a:rPr sz="1400" b="0">
                <a:solidFill>
                  <a:srgbClr val="5F677A"/>
                </a:solidFill>
                <a:latin typeface="Arial"/>
                <a:ea typeface="Microsoft YaHei"/>
              </a:rPr>
              <a:t>💬 “Yes, but in the end…”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live with a decision that turned out badly?</a:t>
            </a:r>
          </a:p>
          <a:p>
            <a:pPr algn="l">
              <a:lnSpc>
                <a:spcPct val="115000"/>
              </a:lnSpc>
              <a:spcAft>
                <a:spcPts val="800"/>
              </a:spcAft>
            </a:pPr>
            <a:r>
              <a:rPr sz="1400" b="0">
                <a:solidFill>
                  <a:srgbClr val="5F677A"/>
                </a:solidFill>
                <a:latin typeface="Arial"/>
                <a:ea typeface="Microsoft YaHei"/>
              </a:rPr>
              <a:t>💬 “I try to learn…”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hard choice does your company face?</a:t>
            </a:r>
          </a:p>
          <a:p>
            <a:pPr algn="l">
              <a:lnSpc>
                <a:spcPct val="115000"/>
              </a:lnSpc>
              <a:spcAft>
                <a:spcPts val="800"/>
              </a:spcAft>
            </a:pPr>
            <a:r>
              <a:rPr sz="1400" b="0">
                <a:solidFill>
                  <a:srgbClr val="5F677A"/>
                </a:solidFill>
                <a:latin typeface="Arial"/>
                <a:ea typeface="Microsoft YaHei"/>
              </a:rPr>
              <a:t>💬 “We’re torn between…”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try to separate the decision from the outcome. If I made the best choice I could with the information I had, I can accept the result, even if it’s bad. Then I ask what I can learn. For example, when a project I chose failed, I wrote a short review and shared it. That turned a bad result into something useful for the team.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“separate A from B” 把 A 与 B 分开;“turned… into” 转化为。</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values and regret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价值观与后悔</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 wish I had + past participle</a:t>
                      </a:r>
                    </a:p>
                  </a:txBody>
                  <a:tcPr anchor="ctr">
                    <a:solidFill>
                      <a:srgbClr val="FFFFFF"/>
                    </a:solidFill>
                  </a:tcPr>
                </a:tc>
                <a:tc>
                  <a:txBody>
                    <a:bodyPr wrap="square"/>
                    <a:lstStyle/>
                    <a:p>
                      <a:r>
                        <a:rPr sz="1600" b="0">
                          <a:solidFill>
                            <a:srgbClr val="1F2A44"/>
                          </a:solidFill>
                          <a:latin typeface="Arial"/>
                          <a:ea typeface="Microsoft YaHei"/>
                        </a:rPr>
                        <a:t>I wish I had asked earlier.</a:t>
                      </a:r>
                    </a:p>
                  </a:txBody>
                  <a:tcPr anchor="ctr">
                    <a:solidFill>
                      <a:srgbClr val="FFFFFF"/>
                    </a:solidFill>
                  </a:tcPr>
                </a:tc>
              </a:tr>
              <a:tr h="408432">
                <a:tc>
                  <a:txBody>
                    <a:bodyPr wrap="square"/>
                    <a:lstStyle/>
                    <a:p>
                      <a:r>
                        <a:rPr sz="1600" b="1">
                          <a:solidFill>
                            <a:srgbClr val="1F2A44"/>
                          </a:solidFill>
                          <a:latin typeface="Arial"/>
                          <a:ea typeface="Microsoft YaHei"/>
                        </a:rPr>
                        <a:t>If I had… I would have…</a:t>
                      </a:r>
                    </a:p>
                  </a:txBody>
                  <a:tcPr anchor="ctr">
                    <a:solidFill>
                      <a:srgbClr val="FFEFD9"/>
                    </a:solidFill>
                  </a:tcPr>
                </a:tc>
                <a:tc>
                  <a:txBody>
                    <a:bodyPr wrap="square"/>
                    <a:lstStyle/>
                    <a:p>
                      <a:r>
                        <a:rPr sz="1600" b="0">
                          <a:solidFill>
                            <a:srgbClr val="1F2A44"/>
                          </a:solidFill>
                          <a:latin typeface="Arial"/>
                          <a:ea typeface="Microsoft YaHei"/>
                        </a:rPr>
                        <a:t>If I had waited, I would have lost the client.</a:t>
                      </a:r>
                    </a:p>
                  </a:txBody>
                  <a:tcPr anchor="ctr">
                    <a:solidFill>
                      <a:srgbClr val="FFEFD9"/>
                    </a:solidFill>
                  </a:tcPr>
                </a:tc>
              </a:tr>
              <a:tr h="408432">
                <a:tc>
                  <a:txBody>
                    <a:bodyPr wrap="square"/>
                    <a:lstStyle/>
                    <a:p>
                      <a:r>
                        <a:rPr sz="1600" b="1">
                          <a:solidFill>
                            <a:srgbClr val="1F2A44"/>
                          </a:solidFill>
                          <a:latin typeface="Arial"/>
                          <a:ea typeface="Microsoft YaHei"/>
                        </a:rPr>
                        <a:t>I don’t regret + -ing</a:t>
                      </a:r>
                    </a:p>
                  </a:txBody>
                  <a:tcPr anchor="ctr">
                    <a:solidFill>
                      <a:srgbClr val="FFFFFF"/>
                    </a:solidFill>
                  </a:tcPr>
                </a:tc>
                <a:tc>
                  <a:txBody>
                    <a:bodyPr wrap="square"/>
                    <a:lstStyle/>
                    <a:p>
                      <a:r>
                        <a:rPr sz="1600" b="0">
                          <a:solidFill>
                            <a:srgbClr val="1F2A44"/>
                          </a:solidFill>
                          <a:latin typeface="Arial"/>
                          <a:ea typeface="Microsoft YaHei"/>
                        </a:rPr>
                        <a:t>I don’t regret choosing the start-up.</a:t>
                      </a:r>
                    </a:p>
                  </a:txBody>
                  <a:tcPr anchor="ctr">
                    <a:solidFill>
                      <a:srgbClr val="FFFFFF"/>
                    </a:solidFill>
                  </a:tcPr>
                </a:tc>
              </a:tr>
              <a:tr h="408432">
                <a:tc>
                  <a:txBody>
                    <a:bodyPr wrap="square"/>
                    <a:lstStyle/>
                    <a:p>
                      <a:r>
                        <a:rPr sz="1600" b="1">
                          <a:solidFill>
                            <a:srgbClr val="1F2A44"/>
                          </a:solidFill>
                          <a:latin typeface="Arial"/>
                          <a:ea typeface="Microsoft YaHei"/>
                        </a:rPr>
                        <a:t>What matters (most) is…</a:t>
                      </a:r>
                    </a:p>
                  </a:txBody>
                  <a:tcPr anchor="ctr">
                    <a:solidFill>
                      <a:srgbClr val="FFEFD9"/>
                    </a:solidFill>
                  </a:tcPr>
                </a:tc>
                <a:tc>
                  <a:txBody>
                    <a:bodyPr wrap="square"/>
                    <a:lstStyle/>
                    <a:p>
                      <a:r>
                        <a:rPr sz="1600" b="0">
                          <a:solidFill>
                            <a:srgbClr val="1F2A44"/>
                          </a:solidFill>
                          <a:latin typeface="Arial"/>
                          <a:ea typeface="Microsoft YaHei"/>
                        </a:rPr>
                        <a:t>What matters most is trust.</a:t>
                      </a:r>
                    </a:p>
                  </a:txBody>
                  <a:tcPr anchor="ctr">
                    <a:solidFill>
                      <a:srgbClr val="FFEFD9"/>
                    </a:solidFill>
                  </a:tcPr>
                </a:tc>
              </a:tr>
            </a:tbl>
          </a:graphicData>
        </a:graphic>
      </p:graphicFrame>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values and regret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价值观与后悔</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Third conditional talks about unreal past situations: If + had + past participle, would have + past participle.</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torn among two jobs.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torn between two jobs.</a:t>
            </a:r>
          </a:p>
          <a:p>
            <a:pPr algn="l">
              <a:spcAft>
                <a:spcPts val="200"/>
              </a:spcAft>
            </a:pPr>
            <a:r>
              <a:rPr sz="1200" b="0">
                <a:solidFill>
                  <a:srgbClr val="FFFFFF"/>
                </a:solidFill>
                <a:latin typeface="Arial"/>
                <a:ea typeface="Microsoft YaHei"/>
              </a:rPr>
              <a:t>between 用于两项</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would have waited, I’d have lost it.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had waited, I would have lost it.</a:t>
            </a:r>
          </a:p>
          <a:p>
            <a:pPr algn="l">
              <a:spcAft>
                <a:spcPts val="200"/>
              </a:spcAft>
            </a:pPr>
            <a:r>
              <a:rPr sz="1200" b="0">
                <a:solidFill>
                  <a:srgbClr val="FFFFFF"/>
                </a:solidFill>
                <a:latin typeface="Arial"/>
                <a:ea typeface="Microsoft YaHei"/>
              </a:rPr>
              <a:t>if 从句用过去完成时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 hard decide.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 hard decision.</a:t>
            </a:r>
          </a:p>
          <a:p>
            <a:pPr algn="l">
              <a:spcAft>
                <a:spcPts val="200"/>
              </a:spcAft>
            </a:pPr>
            <a:r>
              <a:rPr sz="1200" b="0">
                <a:solidFill>
                  <a:srgbClr val="FFFFFF"/>
                </a:solidFill>
                <a:latin typeface="Arial"/>
                <a:ea typeface="Microsoft YaHei"/>
              </a:rPr>
              <a:t>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must to live with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must live with it.</a:t>
            </a:r>
          </a:p>
          <a:p>
            <a:pPr algn="l">
              <a:spcAft>
                <a:spcPts val="200"/>
              </a:spcAft>
            </a:pPr>
            <a:r>
              <a:rPr sz="1200" b="0">
                <a:solidFill>
                  <a:srgbClr val="FFFFFF"/>
                </a:solidFill>
                <a:latin typeface="Arial"/>
                <a:ea typeface="Microsoft YaHei"/>
              </a:rPr>
              <a:t>情态动词后不加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regret to choose that supplier.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regret choosing that supplier.</a:t>
            </a:r>
          </a:p>
          <a:p>
            <a:pPr algn="l">
              <a:spcAft>
                <a:spcPts val="200"/>
              </a:spcAft>
            </a:pPr>
            <a:r>
              <a:rPr sz="1200" b="0">
                <a:solidFill>
                  <a:srgbClr val="FFFFFF"/>
                </a:solidFill>
                <a:latin typeface="Arial"/>
                <a:ea typeface="Microsoft YaHei"/>
              </a:rPr>
              <a:t>regret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I’ve no regret.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no regrets. / I don’t regret it.</a:t>
            </a:r>
          </a:p>
          <a:p>
            <a:pPr algn="l">
              <a:spcAft>
                <a:spcPts val="200"/>
              </a:spcAft>
            </a:pPr>
            <a:r>
              <a:rPr sz="1200" b="0">
                <a:solidFill>
                  <a:srgbClr val="FFFFFF"/>
                </a:solidFill>
                <a:latin typeface="Arial"/>
                <a:ea typeface="Microsoft YaHei"/>
              </a:rPr>
              <a:t>regrets 复数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between, third conditional (had + p.p.), regret + -ing, and noun vs verb (decision / decide).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Explain your reasoning. English-speaking teams want to hear “why” behind tough calls.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Show empathy. “I know this is difficult” before bad news helps.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Don’t over-apologise. Be honest and own the decision.</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professional about change. Stay respectful to the people you leave behind.</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dilemma with torn between and a tough call.</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what matters most and what I would give up.</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third conditional to reflect on a decision.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regret + -ing and between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30 How to make hard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hard choice, using three phrases from the lesson. Record and listen.</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third conditional, regret -ing, between, decision vs decide.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 · Lesson 31 Be more productive at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191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Be more productive at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提高工作效率</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ways to be more productive, set priorities and explain your habits and routines.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are you most productive during the day?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distracts you most at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decide what to do first?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apps or tools help you stay organised?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take breaks? How do they help you?</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“productive” = 高效的(形容词);“productivity” = 效率(名词);“distract” 动词 → “distractions”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routine for getting the most important work done.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your peak time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your top priority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avoid distractions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breaks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tend to…   💬 The first thing I do is…   💬 I block out time for…   💬 To avoid distractions, I…</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“tend to + 动词原形” 习惯于;“block out time” 预留专门时间。</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Work smarter, not longer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Productivity is not about working more hours. Research on attention suggests that most people do their best thinking for only a few hours a day. So the first step is to find your peak time, maybe the morning, and protect it for important work. Don’t spend it on email. A second step is to choose three priorities every day. If you finish those, the day is a success. Third, reduce interruptions. Turn off notifications, put your phone away, and tell colleagues when you are in “focus mode”. Finally, take real breaks. A short walk or a cup of tea helps your brain recover. Many people feel guilty about breaks, but a rested mind usually produces better work in less time.</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When should you do important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During your peak time, such as the morning.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many priorities does the writer suggest each day?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Three.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take real breaks?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help your brain recover so you work better in less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Priorities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优先事项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prioritise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优先处理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prioritise my tasks every morning.”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to-do list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待办清单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keep a to-do list.”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urgent vs important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紧急与重要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“Urgent isn’t always important.”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top priority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首要事项</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“Safety is our top priority.”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eat the frog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先做最难的事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eat the frog first thing in the morning.”</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Focus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专注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stay focused</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保持专注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turn off notifications to stay focused.”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distraction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干扰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“Email is a big distraction.”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block out time</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预留时间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block out time for deep work.”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deep work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深度工作</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“Deep work needs no interruptions.”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multitask</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一心多用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“Few people multitask well.”</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Habits and balance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习惯与平衡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routine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日常惯例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morning routine.”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break</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休息一下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 break every hour.”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授权/委派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to delegate tasks.”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out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burned out after two years.”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on top of</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掌控局面</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trying to get on top of my inbox.”</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预留时间</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 out time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休息一下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break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干扰</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distraction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日常惯例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routine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精疲力竭</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授权/委派</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先做最难的事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eat the frog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优先处理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prioritise</a:t>
            </a:r>
          </a:p>
        </p:txBody>
      </p:sp>
      <p:sp>
        <p:nvSpPr>
          <p:cNvPr id="10" name="Rounded Rectangle 9"/>
          <p:cNvSpPr/>
          <p:nvPr/>
        </p:nvSpPr>
        <p:spPr>
          <a:xfrm>
            <a:off x="3566160"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to-do</a:t>
            </a:r>
          </a:p>
        </p:txBody>
      </p:sp>
      <p:sp>
        <p:nvSpPr>
          <p:cNvPr id="11" name="Rounded Rectangle 10"/>
          <p:cNvSpPr/>
          <p:nvPr/>
        </p:nvSpPr>
        <p:spPr>
          <a:xfrm>
            <a:off x="4572000"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distraction</a:t>
            </a:r>
          </a:p>
        </p:txBody>
      </p:sp>
      <p:sp>
        <p:nvSpPr>
          <p:cNvPr id="12" name="Rounded Rectangle 11"/>
          <p:cNvSpPr/>
          <p:nvPr/>
        </p:nvSpPr>
        <p:spPr>
          <a:xfrm>
            <a:off x="6236207"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a:t>
            </a:r>
          </a:p>
        </p:txBody>
      </p:sp>
      <p:sp>
        <p:nvSpPr>
          <p:cNvPr id="13" name="Rounded Rectangle 12"/>
          <p:cNvSpPr/>
          <p:nvPr/>
        </p:nvSpPr>
        <p:spPr>
          <a:xfrm>
            <a:off x="7242047"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a:t>
            </a:r>
          </a:p>
        </p:txBody>
      </p:sp>
      <p:sp>
        <p:nvSpPr>
          <p:cNvPr id="14" name="Rounded Rectangle 13"/>
          <p:cNvSpPr/>
          <p:nvPr/>
        </p:nvSpPr>
        <p:spPr>
          <a:xfrm>
            <a:off x="8247887"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_______ my tasks every morning.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keep a daily _______ list.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to-do</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Email is a big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distraction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_______ out time for deep work.</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Take a _______ every hour.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Learn to _______ tasks to others.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a break(不用 make), keep a to-do list, stay focused; 英式拼写 prioritise, 美式 prioritize。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Coaching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指导同事提高效率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feels overwhelmed.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Coach</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Coaching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look stressed. What’s going 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never finish anything. I’m always answering emails.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When do you do your best work?</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the morning, but that’s when I check my inbox.</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Coaching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Try blocking out the first two hours for your top priority. Check email after that.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Won’t people think I’m ignoring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Tell them. A quick message: “I’m in focus mode until 11.”</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try that tomorrow.</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Coaching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practical advice to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Coach.</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block out time · top priority · stay focused · distraction · focus mode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questions, then give three practical tips.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their peak time.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delegating one task.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on how to check progress.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Setting priorities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与上司确定优先事项</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have too many tasks.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Setting priorities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five tasks due this week, and I can’t do them all well.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are the most urgent?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client report and the budget. The rest can wait.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is the most important?</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Setting priorities with your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the client report, because it affects revenue.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it’s our top priority. Can someone else take the training slides?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Lucy could take them. I’ll hand over the notes today.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Tell me if anything slips.</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Setting priorities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negotiate priorities.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with a full plate. Tasks: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urgent vs important · top priority · can wait · take over · slip</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which tasks come first, which can wait and which to hand over.</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new deadline for one task.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“no” politely to a new request.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weekly check-in.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biggest productivity killer in the office?</a:t>
            </a:r>
          </a:p>
          <a:p>
            <a:pPr algn="l">
              <a:lnSpc>
                <a:spcPct val="115000"/>
              </a:lnSpc>
              <a:spcAft>
                <a:spcPts val="800"/>
              </a:spcAft>
            </a:pPr>
            <a:r>
              <a:rPr sz="1400" b="0">
                <a:solidFill>
                  <a:srgbClr val="5F677A"/>
                </a:solidFill>
                <a:latin typeface="Arial"/>
                <a:ea typeface="Microsoft YaHei"/>
              </a:rPr>
              <a:t>💬 “I’d say…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meetings productive?</a:t>
            </a:r>
          </a:p>
          <a:p>
            <a:pPr algn="l">
              <a:lnSpc>
                <a:spcPct val="115000"/>
              </a:lnSpc>
              <a:spcAft>
                <a:spcPts val="800"/>
              </a:spcAft>
            </a:pPr>
            <a:r>
              <a:rPr sz="1400" b="0">
                <a:solidFill>
                  <a:srgbClr val="5F677A"/>
                </a:solidFill>
                <a:latin typeface="Arial"/>
                <a:ea typeface="Microsoft YaHei"/>
              </a:rPr>
              <a:t>💬 “Some are,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multitasking a good idea?</a:t>
            </a:r>
          </a:p>
          <a:p>
            <a:pPr algn="l">
              <a:lnSpc>
                <a:spcPct val="115000"/>
              </a:lnSpc>
              <a:spcAft>
                <a:spcPts val="800"/>
              </a:spcAft>
            </a:pPr>
            <a:r>
              <a:rPr sz="1400" b="0">
                <a:solidFill>
                  <a:srgbClr val="5F677A"/>
                </a:solidFill>
                <a:latin typeface="Arial"/>
                <a:ea typeface="Microsoft YaHei"/>
              </a:rPr>
              <a:t>💬 “Not really,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protect your focus?</a:t>
            </a:r>
          </a:p>
          <a:p>
            <a:pPr algn="l">
              <a:lnSpc>
                <a:spcPct val="115000"/>
              </a:lnSpc>
              <a:spcAft>
                <a:spcPts val="800"/>
              </a:spcAft>
            </a:pPr>
            <a:r>
              <a:rPr sz="1400" b="0">
                <a:solidFill>
                  <a:srgbClr val="5F677A"/>
                </a:solidFill>
                <a:latin typeface="Arial"/>
                <a:ea typeface="Microsoft YaHei"/>
              </a:rPr>
              <a:t>💬 “I tend to… / I turn off…”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working fewer hours increase productivity?</a:t>
            </a:r>
          </a:p>
          <a:p>
            <a:pPr algn="l">
              <a:lnSpc>
                <a:spcPct val="115000"/>
              </a:lnSpc>
              <a:spcAft>
                <a:spcPts val="800"/>
              </a:spcAft>
            </a:pPr>
            <a:r>
              <a:rPr sz="1400" b="0">
                <a:solidFill>
                  <a:srgbClr val="5F677A"/>
                </a:solidFill>
                <a:latin typeface="Arial"/>
                <a:ea typeface="Microsoft YaHei"/>
              </a:rPr>
              <a:t>💬 “It might,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don’t think multitasking works for most people. When I switch between a report and email, I lose focus and make more mistakes. It takes time to get back into the task. I do better with single tasks in blocks of 45 minutes. Then I take a short break and check messages. It’s less stressful, and the work is better.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“switch between” 在…之间切换;“get back into” 重新投入。</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Habits and routines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习惯和日常</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tend to + verb</a:t>
                      </a:r>
                    </a:p>
                  </a:txBody>
                  <a:tcPr anchor="ctr">
                    <a:solidFill>
                      <a:srgbClr val="FFFFFF"/>
                    </a:solidFill>
                  </a:tcPr>
                </a:tc>
                <a:tc>
                  <a:txBody>
                    <a:bodyPr wrap="square"/>
                    <a:lstStyle/>
                    <a:p>
                      <a:r>
                        <a:rPr sz="1600" b="0">
                          <a:solidFill>
                            <a:srgbClr val="1F2A44"/>
                          </a:solidFill>
                          <a:latin typeface="Arial"/>
                          <a:ea typeface="Microsoft YaHei"/>
                        </a:rPr>
                        <a:t>I tend to work better in the morning.</a:t>
                      </a:r>
                    </a:p>
                  </a:txBody>
                  <a:tcPr anchor="ctr">
                    <a:solidFill>
                      <a:srgbClr val="FFFFFF"/>
                    </a:solidFill>
                  </a:tcPr>
                </a:tc>
              </a:tr>
              <a:tr h="408432">
                <a:tc>
                  <a:txBody>
                    <a:bodyPr wrap="square"/>
                    <a:lstStyle/>
                    <a:p>
                      <a:r>
                        <a:rPr sz="1600" b="1">
                          <a:solidFill>
                            <a:srgbClr val="1F2A44"/>
                          </a:solidFill>
                          <a:latin typeface="Arial"/>
                          <a:ea typeface="Microsoft YaHei"/>
                        </a:rPr>
                        <a:t>usually / normally / generally</a:t>
                      </a:r>
                    </a:p>
                  </a:txBody>
                  <a:tcPr anchor="ctr">
                    <a:solidFill>
                      <a:srgbClr val="FFEFD9"/>
                    </a:solidFill>
                  </a:tcPr>
                </a:tc>
                <a:tc>
                  <a:txBody>
                    <a:bodyPr wrap="square"/>
                    <a:lstStyle/>
                    <a:p>
                      <a:r>
                        <a:rPr sz="1600" b="0">
                          <a:solidFill>
                            <a:srgbClr val="1F2A44"/>
                          </a:solidFill>
                          <a:latin typeface="Arial"/>
                          <a:ea typeface="Microsoft YaHei"/>
                        </a:rPr>
                        <a:t>I usually check email after lunch.</a:t>
                      </a:r>
                    </a:p>
                  </a:txBody>
                  <a:tcPr anchor="ctr">
                    <a:solidFill>
                      <a:srgbClr val="FFEFD9"/>
                    </a:solidFill>
                  </a:tcPr>
                </a:tc>
              </a:tr>
              <a:tr h="408432">
                <a:tc>
                  <a:txBody>
                    <a:bodyPr wrap="square"/>
                    <a:lstStyle/>
                    <a:p>
                      <a:r>
                        <a:rPr sz="1600" b="1">
                          <a:solidFill>
                            <a:srgbClr val="1F2A44"/>
                          </a:solidFill>
                          <a:latin typeface="Arial"/>
                          <a:ea typeface="Microsoft YaHei"/>
                        </a:rPr>
                        <a:t>be used to + -ing</a:t>
                      </a:r>
                    </a:p>
                  </a:txBody>
                  <a:tcPr anchor="ctr">
                    <a:solidFill>
                      <a:srgbClr val="FFFFFF"/>
                    </a:solidFill>
                  </a:tcPr>
                </a:tc>
                <a:tc>
                  <a:txBody>
                    <a:bodyPr wrap="square"/>
                    <a:lstStyle/>
                    <a:p>
                      <a:r>
                        <a:rPr sz="1600" b="0">
                          <a:solidFill>
                            <a:srgbClr val="1F2A44"/>
                          </a:solidFill>
                          <a:latin typeface="Arial"/>
                          <a:ea typeface="Microsoft YaHei"/>
                        </a:rPr>
                        <a:t>I’m used to working from home.</a:t>
                      </a:r>
                    </a:p>
                  </a:txBody>
                  <a:tcPr anchor="ctr">
                    <a:solidFill>
                      <a:srgbClr val="FFFFFF"/>
                    </a:solidFill>
                  </a:tcPr>
                </a:tc>
              </a:tr>
              <a:tr h="408432">
                <a:tc>
                  <a:txBody>
                    <a:bodyPr wrap="square"/>
                    <a:lstStyle/>
                    <a:p>
                      <a:r>
                        <a:rPr sz="1600" b="1">
                          <a:solidFill>
                            <a:srgbClr val="1F2A44"/>
                          </a:solidFill>
                          <a:latin typeface="Arial"/>
                          <a:ea typeface="Microsoft YaHei"/>
                        </a:rPr>
                        <a:t>used to + verb</a:t>
                      </a:r>
                    </a:p>
                  </a:txBody>
                  <a:tcPr anchor="ctr">
                    <a:solidFill>
                      <a:srgbClr val="FFEFD9"/>
                    </a:solidFill>
                  </a:tcPr>
                </a:tc>
                <a:tc>
                  <a:txBody>
                    <a:bodyPr wrap="square"/>
                    <a:lstStyle/>
                    <a:p>
                      <a:r>
                        <a:rPr sz="1600" b="0">
                          <a:solidFill>
                            <a:srgbClr val="1F2A44"/>
                          </a:solidFill>
                          <a:latin typeface="Arial"/>
                          <a:ea typeface="Microsoft YaHei"/>
                        </a:rPr>
                        <a:t>I used to answer emails all day.</a:t>
                      </a:r>
                    </a:p>
                  </a:txBody>
                  <a:tcPr anchor="ctr">
                    <a:solidFill>
                      <a:srgbClr val="FFEFD9"/>
                    </a:solidFill>
                  </a:tcPr>
                </a:tc>
              </a:tr>
            </a:tbl>
          </a:graphicData>
        </a:graphic>
      </p:graphicFrame>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Habits and routines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习惯和日常</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Used to + verb = past habit that no longer exists. Be used to + -ing = familiar with.</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more productive in morning.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more productive in the morning.</a:t>
            </a:r>
          </a:p>
          <a:p>
            <a:pPr algn="l">
              <a:spcAft>
                <a:spcPts val="200"/>
              </a:spcAft>
            </a:pPr>
            <a:r>
              <a:rPr sz="1200" b="0">
                <a:solidFill>
                  <a:srgbClr val="FFFFFF"/>
                </a:solidFill>
                <a:latin typeface="Arial"/>
                <a:ea typeface="Microsoft YaHei"/>
              </a:rPr>
              <a:t>the morning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make a break every hour.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take a break every hour.</a:t>
            </a:r>
          </a:p>
          <a:p>
            <a:pPr algn="l">
              <a:spcAft>
                <a:spcPts val="200"/>
              </a:spcAft>
            </a:pPr>
            <a:r>
              <a:rPr sz="1200" b="0">
                <a:solidFill>
                  <a:srgbClr val="FFFFFF"/>
                </a:solidFill>
                <a:latin typeface="Arial"/>
                <a:ea typeface="Microsoft YaHei"/>
              </a:rPr>
              <a:t>take a break</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used to check email at night.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used to checking email at night.</a:t>
            </a:r>
          </a:p>
          <a:p>
            <a:pPr algn="l">
              <a:spcAft>
                <a:spcPts val="200"/>
              </a:spcAft>
            </a:pPr>
            <a:r>
              <a:rPr sz="1200" b="0">
                <a:solidFill>
                  <a:srgbClr val="FFFFFF"/>
                </a:solidFill>
                <a:latin typeface="Arial"/>
                <a:ea typeface="Microsoft YaHei"/>
              </a:rPr>
              <a:t>used to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many works to do.</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work to do.</a:t>
            </a:r>
          </a:p>
          <a:p>
            <a:pPr algn="l">
              <a:spcAft>
                <a:spcPts val="200"/>
              </a:spcAft>
            </a:pPr>
            <a:r>
              <a:rPr sz="1200" b="0">
                <a:solidFill>
                  <a:srgbClr val="FFFFFF"/>
                </a:solidFill>
                <a:latin typeface="Arial"/>
                <a:ea typeface="Microsoft YaHei"/>
              </a:rPr>
              <a:t>work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busy of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very busy with work.</a:t>
            </a:r>
          </a:p>
          <a:p>
            <a:pPr algn="l">
              <a:spcAft>
                <a:spcPts val="200"/>
              </a:spcAft>
            </a:pPr>
            <a:r>
              <a:rPr sz="1200" b="0">
                <a:solidFill>
                  <a:srgbClr val="FFFFFF"/>
                </a:solidFill>
                <a:latin typeface="Arial"/>
                <a:ea typeface="Microsoft YaHei"/>
              </a:rPr>
              <a:t>busy with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me to feel stressed.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me feel stressed.</a:t>
            </a:r>
          </a:p>
          <a:p>
            <a:pPr algn="l">
              <a:spcAft>
                <a:spcPts val="200"/>
              </a:spcAft>
            </a:pPr>
            <a:r>
              <a:rPr sz="1200" b="0">
                <a:solidFill>
                  <a:srgbClr val="FFFFFF"/>
                </a:solidFill>
                <a:latin typeface="Arial"/>
                <a:ea typeface="Microsoft YaHei"/>
              </a:rPr>
              <a:t>make + 宾语 + 动词原形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the morning, take a break, used to / be used to, and uncountable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Productive ≠ busy. Western offices value results over long hours.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Say no politely. “I can’t take that on this week, but I can next week.”</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Breaks are normal. A lunch break away from the desk is common.</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Protect your calendar. Blocking focus time is accepted practice.</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routine and peak time using tend to / usually.</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set and explain priorities.</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advice about focus and breaks.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take a break, a lot of work and used to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 · Lesson 31 Be more productive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Plan tomorrow: three priorities, one focus block, one break. Say it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take a break, work uncountable, used to, make + verb.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Just checking whether…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Just checking whether you received my email.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work (it) out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We’ll work out a solution together.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am more productive in morning.</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am more productive in the morning.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大概数字</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ballpark figure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更新/更正</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update / correct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承担后果</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live with the consequences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“待办清单”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to-do list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“症状(表象)”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symptom</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“层层剥开”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peel back the layers</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 data are suggesting a problem.</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data suggests a problem.</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Can you explain me this?</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you explain this to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6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