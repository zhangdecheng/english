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14: Corporate Culture — Self-Study Workbook (Lessons 67–75)</a:t>
            </a:r>
          </a:p>
          <a:p/>
          <a:p>
            <a:r>
              <a:t>开场：简单介绍本单元的主题和要完成的 9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67 · Creating a learning culture 打造学习型文化</a:t>
            </a:r>
          </a:p>
          <a:p>
            <a:r>
              <a:t>Goal: describe what a learning culture looks like and suggest ways to encourage learning and sharing in a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“learning culture” = 学习型文化。第 2 题 “When did you last learn…” 用过去式。</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your team learns and shares knowledge.</a:t>
            </a:r>
          </a:p>
          <a:p>
            <a:r>
              <a:t>Say: current practice → what works → what is missing → your suggestion.</a:t>
            </a:r>
          </a:p>
          <a:p>
            <a:r>
              <a:t>Useful starters: “In our team, we…” / “What works well is…” / “What’s missing is…” / “I’d suggest…”</a:t>
            </a:r>
          </a:p>
          <a:p>
            <a:r>
              <a:t>“What works well is…” 强调句型。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a learning culture, people treat mistakes as information and curiosity as a strength. Teams ask questions openly, share what they have discovered, and review projects to find lessons. Managers play a key role. They give time for training, ask “What did we learn?” after each project, and admit their own errors. Practical tools include short lunchtime talks, mentoring pairs, written case notes and “after-action reviews” where a team discusses what happened without blaming anyone. The opposite is a culture of fear, in which people hide problems until they become crises. Building a learning culture takes time because habits are slow to change. Small rituals, repeated regularly, are usually more effective than a single big training day. Importantly, leaders must reward learning as well as results.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learning cultures treat mistakes?</a:t>
            </a:r>
          </a:p>
          <a:p>
            <a:r>
              <a:t>A: As information.</a:t>
            </a:r>
          </a:p>
          <a:p>
            <a:r>
              <a:t>Q2. Name two practical tools.</a:t>
            </a:r>
          </a:p>
          <a:p>
            <a:r>
              <a:t>A: Lunchtime talks, mentoring pairs, written case notes, after-action reviews.</a:t>
            </a:r>
          </a:p>
          <a:p>
            <a:r>
              <a:t>Q3. Why are small rituals better than one training day?</a:t>
            </a:r>
          </a:p>
          <a:p>
            <a:r>
              <a:t>A: Habits are slow to change, so regular repetition works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Learning culture 学习型文化</a:t>
            </a:r>
          </a:p>
          <a:p>
            <a:r>
              <a:t>领读 → 学员跟读 → 请学员用表达造一个和自己工作相关的句子。</a:t>
            </a:r>
          </a:p>
          <a:p>
            <a:r>
              <a:t>learning culture (noun) 学习型文化 — “We want a learning culture.”</a:t>
            </a:r>
          </a:p>
          <a:p>
            <a:r>
              <a:t>knowledge sharing (noun) 知识分享 — “Knowledge sharing saves time.”</a:t>
            </a:r>
          </a:p>
          <a:p>
            <a:r>
              <a:t>psychological safety (noun) 心理安全感 — “Psychological safety encourages questions.”</a:t>
            </a:r>
          </a:p>
          <a:p>
            <a:r>
              <a:t>★ after-action review (noun) 事后复盘 — “We hold an after-action review.”</a:t>
            </a:r>
          </a:p>
          <a:p>
            <a:r>
              <a:t>★ foster (verb) 培育 — “We foster curiosity.”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Practices 做法</a:t>
            </a:r>
          </a:p>
          <a:p>
            <a:r>
              <a:t>领读 → 学员跟读 → 请学员用表达造一个和自己工作相关的句子。</a:t>
            </a:r>
          </a:p>
          <a:p>
            <a:r>
              <a:t>mentoring (noun) 导师制 — “Mentoring helps new staff.”</a:t>
            </a:r>
          </a:p>
          <a:p>
            <a:r>
              <a:t>lunch-and-learn (noun) 午餐分享会 — “We have a lunch-and-learn.”</a:t>
            </a:r>
          </a:p>
          <a:p>
            <a:r>
              <a:t>on-the-job learning (noun) 在岗学习 — “On-the-job learning is effective.”</a:t>
            </a:r>
          </a:p>
          <a:p>
            <a:r>
              <a:t>★ cross-train (verb) 交叉培训 — “We cross-train staff.”</a:t>
            </a:r>
          </a:p>
          <a:p>
            <a:r>
              <a:t>★ job shadowing (noun) 工作跟岗 — “She did job shadowing.”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Attitudes 态度</a:t>
            </a:r>
          </a:p>
          <a:p>
            <a:r>
              <a:t>领读 → 学员跟读 → 请学员用表达造一个和自己工作相关的句子。</a:t>
            </a:r>
          </a:p>
          <a:p>
            <a:r>
              <a:t>curious (adjective) 好奇的 — “We hire curious people.”</a:t>
            </a:r>
          </a:p>
          <a:p>
            <a:r>
              <a:t>open to feedback (phrase) 乐于接受反馈 — “Be open to feedback.”</a:t>
            </a:r>
          </a:p>
          <a:p>
            <a:r>
              <a:t>admit a mistake (collocation) 承认错误 — “Leaders admit mistakes.”</a:t>
            </a:r>
          </a:p>
          <a:p>
            <a:r>
              <a:t>★ fear of failure (noun) 对失败的恐惧 — “Fear of failure stops learning.”</a:t>
            </a:r>
          </a:p>
          <a:p>
            <a:r>
              <a:t>★ growth mindset (noun) 成长型思维 — “A growth mindset helps.”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culture / sharing / safety / mentoring / curious / mindset</a:t>
            </a:r>
          </a:p>
          <a:p>
            <a:r>
              <a:t>1. We want to build a learning _______. → culture</a:t>
            </a:r>
          </a:p>
          <a:p>
            <a:r>
              <a:t>2. Knowledge _______ saves time. → sharing</a:t>
            </a:r>
          </a:p>
          <a:p>
            <a:r>
              <a:t>3. Psychological _______ encourages questions. → safety</a:t>
            </a:r>
          </a:p>
          <a:p>
            <a:r>
              <a:t>4. _______ helps new staff settle in. → Mentoring</a:t>
            </a:r>
          </a:p>
          <a:p>
            <a:r>
              <a:t>5. We hire _______ people. → curious</a:t>
            </a:r>
          </a:p>
          <a:p>
            <a:r>
              <a:t>6. A growth _______ helps people improve. → mindset</a:t>
            </a:r>
          </a:p>
          <a:p>
            <a:r>
              <a:t>Mistake Watch: (搭配) admit a mistake (不说 accept a mistake), share knowledge, learn FROM someone。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Proposing a lunch-and-learn 提议午餐分享会</a:t>
            </a:r>
          </a:p>
          <a:p>
            <a:r>
              <a:t>情景：You suggest a regular session.</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suggest a monthly lunch-and-learn. People could share what they’ve learned.</a:t>
            </a:r>
          </a:p>
          <a:p>
            <a:r>
              <a:t>B: Interesting. What would it involve?</a:t>
            </a:r>
          </a:p>
          <a:p>
            <a:r>
              <a:t>A: A twenty-minute talk by one person, then questions.</a:t>
            </a:r>
          </a:p>
          <a:p>
            <a:r>
              <a:t>B: Would people feel comfortable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If we keep it relaxed, I think so. I’d be happy to go first.</a:t>
            </a:r>
          </a:p>
          <a:p>
            <a:r>
              <a:t>B: And the time?</a:t>
            </a:r>
          </a:p>
          <a:p>
            <a:r>
              <a:t>A: Over lunch, so it doesn’t affect work.</a:t>
            </a:r>
          </a:p>
          <a:p>
            <a:r>
              <a:t>B: Let’s try it for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propose a learning activity.</a:t>
            </a:r>
          </a:p>
          <a:p>
            <a:r>
              <a:t>Your role (A) | Employee. Topic: ______________</a:t>
            </a:r>
          </a:p>
          <a:p>
            <a:r>
              <a:t>Partner’s role (B) | Manager.</a:t>
            </a:r>
          </a:p>
          <a:p>
            <a:r>
              <a:t>Must use (3 or more) | I’d like to suggest · lunch-and-learn · comfortable · I’d be happy to go first · try it for three months</a:t>
            </a:r>
          </a:p>
          <a:p>
            <a:r>
              <a:t>Goal | Propose, answer two concerns and agree a trial.</a:t>
            </a:r>
          </a:p>
          <a:p>
            <a:r>
              <a:t>My notes | ____________________________________________</a:t>
            </a:r>
          </a:p>
          <a:p>
            <a:r>
              <a:t>Offer a benefit with numbers.</a:t>
            </a:r>
          </a:p>
          <a:p>
            <a:r>
              <a:t>Anticipate cost.</a:t>
            </a:r>
          </a:p>
          <a:p>
            <a:r>
              <a:t>Plan a first topic.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a mistake without blame 无责复盘</a:t>
            </a:r>
          </a:p>
          <a:p>
            <a:r>
              <a:t>情景：A team learns from an error.</a:t>
            </a:r>
          </a:p>
          <a:p>
            <a:r>
              <a:t>Role A: Team lead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Let’s do a quick review. What happened with the file?</a:t>
            </a:r>
          </a:p>
          <a:p>
            <a:r>
              <a:t>B: I sent the old version to the client.</a:t>
            </a:r>
          </a:p>
          <a:p>
            <a:r>
              <a:t>A: Thanks for saying so. What did we learn?</a:t>
            </a:r>
          </a:p>
          <a:p>
            <a:r>
              <a:t>B: We need a clear naming system for versions.</a:t>
            </a:r>
          </a:p>
          <a:p>
            <a:r>
              <a:t>A: Good. Anything else?</a:t>
            </a:r>
          </a:p>
          <a:p>
            <a:r>
              <a:t>B: I should have double-checked before sending.</a:t>
            </a:r>
          </a:p>
          <a:p>
            <a:r>
              <a:t>A: We all make mistakes. Let’s write a short checklist.</a:t>
            </a:r>
          </a:p>
          <a:p>
            <a:r>
              <a:t>B: I can draft it by tomorrow.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run a no-blame review.</a:t>
            </a:r>
          </a:p>
          <a:p>
            <a:r>
              <a:t>Your role (A) | Team lead.</a:t>
            </a:r>
          </a:p>
          <a:p>
            <a:r>
              <a:t>Partner’s role (B) | Team member. Mistake: ______________</a:t>
            </a:r>
          </a:p>
          <a:p>
            <a:r>
              <a:t>Must use (3 or more) | What happened? · What did we learn? · should have · checklist · no blame</a:t>
            </a:r>
          </a:p>
          <a:p>
            <a:r>
              <a:t>Goal | Review calmly, find lessons and agree action.</a:t>
            </a:r>
          </a:p>
          <a:p>
            <a:r>
              <a:t>My notes | ____________________________________________</a:t>
            </a:r>
          </a:p>
          <a:p>
            <a:r>
              <a:t>Praise honesty.</a:t>
            </a:r>
          </a:p>
          <a:p>
            <a:r>
              <a:t>Share the lesson with other teams.</a:t>
            </a:r>
          </a:p>
          <a:p>
            <a:r>
              <a:t>Ask for a volunteer.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can companies make people feel safe to admit mistakes? | “By… / They could…”</a:t>
            </a:r>
          </a:p>
          <a:p>
            <a:r>
              <a:t>2. What is the best way to learn at work? | “For me, it’s…”</a:t>
            </a:r>
          </a:p>
          <a:p>
            <a:r>
              <a:t>3. Do formal courses or informal learning work better? | “Both, but…”</a:t>
            </a:r>
          </a:p>
          <a:p>
            <a:r>
              <a:t>4. Why don’t people share knowledge? | “Perhaps because they fear…”</a:t>
            </a:r>
          </a:p>
          <a:p>
            <a:r>
              <a:t>5. Who should be responsible for learning culture? | “Everyone, but especially…”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“Leaders can start by admitting their own mistakes. When a manager says,”I got this wrong, and here’s what I learned”, it shows that errors are acceptable. They should also react calmly when someone else makes a mistake and focus on solutions rather than blame. Over time, people become more honest and open.”</a:t>
            </a:r>
          </a:p>
          <a:p>
            <a:r>
              <a:t>“react calmly” 冷静回应;“rather than” 而不是。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suggestions in a team 在团队中提建议</a:t>
            </a:r>
          </a:p>
          <a:p>
            <a:r>
              <a:t>Structure | Example</a:t>
            </a:r>
          </a:p>
          <a:p>
            <a:r>
              <a:t>I’d like to suggest + -ing/that | I’d like to suggest holding a monthly talk.</a:t>
            </a:r>
          </a:p>
          <a:p>
            <a:r>
              <a:t>How about + -ing? | How about sharing lessons weekly?</a:t>
            </a:r>
          </a:p>
          <a:p>
            <a:r>
              <a:t>We could… | We could rotate presenters.</a:t>
            </a:r>
          </a:p>
          <a:p>
            <a:r>
              <a:t>It might be worth + -ing | It might be worth writing a checklist.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suggestions in a team 在团队中提建议</a:t>
            </a:r>
          </a:p>
          <a:p>
            <a:r>
              <a:t>After suggest, use -ing or that + subject + base verb: I suggest holding / I suggest that we hold.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suggest to hold a meeting.  →  ✓ I suggest holding a meeting.  (suggest -ing)</a:t>
            </a:r>
          </a:p>
          <a:p>
            <a:r>
              <a:t>✗ We learn from each other’s.  →  ✓ We learn from each other.  (each other)</a:t>
            </a:r>
          </a:p>
          <a:p>
            <a:r>
              <a:t>✗ I have learned much from him.  →  ✓ I’ve learned a lot from him.  (a lot)</a:t>
            </a:r>
          </a:p>
          <a:p>
            <a:r>
              <a:t>Mistake Watch: Check suggest + -ing, each other, afraid of + -ing.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admitted his fault.  →  ✓ He admitted his mistake.  (mistake)</a:t>
            </a:r>
          </a:p>
          <a:p>
            <a:r>
              <a:t>✗ People are afraid to making mistakes.  →  ✓ People are afraid of making mistakes. / afraid to make  (afraid of -ing)</a:t>
            </a:r>
          </a:p>
          <a:p>
            <a:r>
              <a:t>✗ We have a good learning atmosphere.  →  ✓ We have a good learning culture.  (culture)</a:t>
            </a:r>
          </a:p>
          <a:p>
            <a:r>
              <a:t>Mistake Watch: Check suggest + -ing, each other, afraid of + -ing.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Mistakes can be shared. Western tech firms hold “failure parties” or “post-mortems”.</a:t>
            </a:r>
          </a:p>
          <a:p>
            <a:r>
              <a:t>Asking questions is positive. “That’s a great question” is common.</a:t>
            </a:r>
          </a:p>
          <a:p>
            <a:r>
              <a:t>Credit the source. “I learned this from Anna” builds trust.</a:t>
            </a:r>
          </a:p>
          <a:p>
            <a:r>
              <a:t>Be specific in feedback. Say what you learned and how you’ll use it.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learning culture and its practices.</a:t>
            </a:r>
          </a:p>
          <a:p>
            <a:r>
              <a:t>I can propose a learning activity with I’d like to suggest…</a:t>
            </a:r>
          </a:p>
          <a:p>
            <a:r>
              <a:t>I can run a no-blame review.</a:t>
            </a:r>
          </a:p>
          <a:p>
            <a:r>
              <a:t>I use suggest + -ing and afraid of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one learning idea for your team in 60 seconds.</a:t>
            </a:r>
          </a:p>
          <a:p>
            <a:r>
              <a:t>8–10 | Listen to your recording. Check: suggest -ing, each other, afraid of -ing.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68 · What makes a great company culture? 什么造就了伟大的企业文化?</a:t>
            </a:r>
          </a:p>
          <a:p>
            <a:r>
              <a:t>Goal: describe and evaluate company culture and discuss what makes a workplace great.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 原图英文标题与第 48 课重复,按中文标题编写。“culture” = 文化,“norms” = 行为规范。</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company’s culture and what makes it great or not.</a:t>
            </a:r>
          </a:p>
          <a:p>
            <a:r>
              <a:t>Say: values → daily behaviour → leadership → effect on people.</a:t>
            </a:r>
          </a:p>
          <a:p>
            <a:r>
              <a:t>Useful starters: “The culture here is…” / “People tend to…” / “What makes it work is…” / “It could be improved by…”</a:t>
            </a:r>
          </a:p>
          <a:p>
            <a:r>
              <a:t>“tend to” 往往;“what makes it work is” 让它起作用的是。</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companies hang their values on the wall, but culture is what people actually do when nobody is watching. A great culture usually has several visible features. Leaders behave in line with the values they preach. People feel they can speak honestly, and disagreement is welcome. Success is shared, and mistakes are used for learning rather than blame. New employees are welcomed and supported. Importantly, great culture is not the same as free snacks or a games room. Those perks are pleasant, but they do not replace respect, fairness and clear expectations. When choosing an employer, ask questions about how decisions are made, how conflict is handled, and what happened the last time someone failed. The answers reveal more than a brochure does.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the writer define culture?</a:t>
            </a:r>
          </a:p>
          <a:p>
            <a:r>
              <a:t>A: What people actually do when nobody is watching.</a:t>
            </a:r>
          </a:p>
          <a:p>
            <a:r>
              <a:t>Q2. Are perks the same as culture?</a:t>
            </a:r>
          </a:p>
          <a:p>
            <a:r>
              <a:t>A: No; perks do not replace respect, fairness and clear expectations.</a:t>
            </a:r>
          </a:p>
          <a:p>
            <a:r>
              <a:t>Q3. Which questions reveal culture?</a:t>
            </a:r>
          </a:p>
          <a:p>
            <a:r>
              <a:t>A: How decisions are made, how conflict is handled, what happened when someone failed.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Culture 文化</a:t>
            </a:r>
          </a:p>
          <a:p>
            <a:r>
              <a:t>领读 → 学员跟读 → 请学员用表达造一个和自己工作相关的句子。</a:t>
            </a:r>
          </a:p>
          <a:p>
            <a:r>
              <a:t>company culture (noun) 企业文化 — “Company culture shapes behaviour.”</a:t>
            </a:r>
          </a:p>
          <a:p>
            <a:r>
              <a:t>values (noun) 价值观 — “We live our values.”</a:t>
            </a:r>
          </a:p>
          <a:p>
            <a:r>
              <a:t>norms (noun) 规范 — “Unwritten norms matter.”</a:t>
            </a:r>
          </a:p>
          <a:p>
            <a:r>
              <a:t>★ walk the talk (idiom) 言行一致 — “Leaders must walk the talk.”</a:t>
            </a:r>
          </a:p>
          <a:p>
            <a:r>
              <a:t>★ the way we do things around here (phrase) 我们这儿做事的方式 — “That’s the way we do things around here.”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Features 特点</a:t>
            </a:r>
          </a:p>
          <a:p>
            <a:r>
              <a:t>领读 → 学员跟读 → 请学员用表达造一个和自己工作相关的句子。</a:t>
            </a:r>
          </a:p>
          <a:p>
            <a:r>
              <a:t>transparent (adjective) 透明的 — “Decisions are transparent.”</a:t>
            </a:r>
          </a:p>
          <a:p>
            <a:r>
              <a:t>inclusive (adjective) 包容的 — “We’re an inclusive team.”</a:t>
            </a:r>
          </a:p>
          <a:p>
            <a:r>
              <a:t>collaborative (adjective) 协作的 — “A collaborative atmosphere.”</a:t>
            </a:r>
          </a:p>
          <a:p>
            <a:r>
              <a:t>★ high-trust environment (noun) 高信任环境 — “We work in a high-trust environment.”</a:t>
            </a:r>
          </a:p>
          <a:p>
            <a:r>
              <a:t>★ psychologically safe (adjective) 心理安全的 — “The team is psychologically safe.”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Impact 影响</a:t>
            </a:r>
          </a:p>
          <a:p>
            <a:r>
              <a:t>领读 → 学员跟读 → 请学员用表达造一个和自己工作相关的句子。</a:t>
            </a:r>
          </a:p>
          <a:p>
            <a:r>
              <a:t>morale (noun) 士气 — “Morale is high.”</a:t>
            </a:r>
          </a:p>
          <a:p>
            <a:r>
              <a:t>retain staff (collocation) 留住员工 — “Culture helps retain staff.”</a:t>
            </a:r>
          </a:p>
          <a:p>
            <a:r>
              <a:t>engagement (noun) 敬业度 — “Engagement improved.”</a:t>
            </a:r>
          </a:p>
          <a:p>
            <a:r>
              <a:t>★ buy-in (noun) 认同 — “We need buy-in from staff.”</a:t>
            </a:r>
          </a:p>
          <a:p>
            <a:r>
              <a:t>★ a sense of belonging (noun) 归属感 — “A sense of belonging matters.”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culture / values / transparent / inclusive / morale / engagement</a:t>
            </a:r>
          </a:p>
          <a:p>
            <a:r>
              <a:t>1. Company _______ shapes behaviour. → culture</a:t>
            </a:r>
          </a:p>
          <a:p>
            <a:r>
              <a:t>2. We try to live our _______. → values</a:t>
            </a:r>
          </a:p>
          <a:p>
            <a:r>
              <a:t>3. Decisions here are very _______. → transparent</a:t>
            </a:r>
          </a:p>
          <a:p>
            <a:r>
              <a:t>4. We want an _______ team. → inclusive</a:t>
            </a:r>
          </a:p>
          <a:p>
            <a:r>
              <a:t>5. _______ is high after the new policy. → Morale</a:t>
            </a:r>
          </a:p>
          <a:p>
            <a:r>
              <a:t>6. Employee _______ improved. → engagement</a:t>
            </a:r>
          </a:p>
          <a:p>
            <a:r>
              <a:t>Mistake Watch: (拼写) transparent ≠ transparence;名词 transparency;morale 与 moral 不同。</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about culture in an interview 面试中询问企业文化</a:t>
            </a:r>
          </a:p>
          <a:p>
            <a:r>
              <a:t>情景：A candidate asks smart questions.</a:t>
            </a:r>
          </a:p>
          <a:p>
            <a:r>
              <a:t>Role A: Candidate Role B: Interviewer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would you describe the culture here?</a:t>
            </a:r>
          </a:p>
          <a:p>
            <a:r>
              <a:t>B: Collaborative and fairly informal. People tend to speak openly.</a:t>
            </a:r>
          </a:p>
          <a:p>
            <a:r>
              <a:t>A: How is disagreement handled?</a:t>
            </a:r>
          </a:p>
          <a:p>
            <a:r>
              <a:t>B: We encourage it, as long as it’s respectful.</a:t>
            </a:r>
          </a:p>
          <a:p>
            <a:r>
              <a:t>A: What happened the last time a project failed?</a:t>
            </a:r>
          </a:p>
          <a:p>
            <a:r>
              <a:t>B: We held a review and focused on lessons, not blame.</a:t>
            </a:r>
          </a:p>
          <a:p>
            <a:r>
              <a:t>A: That’s reassuring.</a:t>
            </a:r>
          </a:p>
          <a:p>
            <a:r>
              <a:t>B: We think a high-trust environment brings better results.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ask about culture.</a:t>
            </a:r>
          </a:p>
          <a:p>
            <a:r>
              <a:t>Your role (A) | Candidate.</a:t>
            </a:r>
          </a:p>
          <a:p>
            <a:r>
              <a:t>Partner’s role (B) | Interviewer. Company: ______________</a:t>
            </a:r>
          </a:p>
          <a:p>
            <a:r>
              <a:t>Must use (3 or more) | How would you describe… · tend to · disagreement is handled · high-trust · reassuring</a:t>
            </a:r>
          </a:p>
          <a:p>
            <a:r>
              <a:t>Goal | Ask three revealing questions and respond positively.</a:t>
            </a:r>
          </a:p>
          <a:p>
            <a:r>
              <a:t>My notes | ____________________________________________</a:t>
            </a:r>
          </a:p>
          <a:p>
            <a:r>
              <a:t>Ask about turnover.</a:t>
            </a:r>
          </a:p>
          <a:p>
            <a:r>
              <a:t>Ask about flexibility.</a:t>
            </a:r>
          </a:p>
          <a:p>
            <a:r>
              <a:t>Say what culture suits you.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your company culture 描述公司文化</a:t>
            </a:r>
          </a:p>
          <a:p>
            <a:r>
              <a:t>情景：Chatting with a friend.</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What’s your company like to work for?</a:t>
            </a:r>
          </a:p>
          <a:p>
            <a:r>
              <a:t>B: It’s fairly relaxed, and people are friendly. Morale is generally good.</a:t>
            </a:r>
          </a:p>
          <a:p>
            <a:r>
              <a:t>A: What do you like most?</a:t>
            </a:r>
          </a:p>
          <a:p>
            <a:r>
              <a:t>B: Transparency. Managers explain decisions.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Anything you’d change?</a:t>
            </a:r>
          </a:p>
          <a:p>
            <a:r>
              <a:t>B: Meetings go on too long. It could be improved by having agendas.</a:t>
            </a:r>
          </a:p>
          <a:p>
            <a:r>
              <a:t>A: Sounds like a good place.</a:t>
            </a:r>
          </a:p>
          <a:p>
            <a:r>
              <a:t>B: Overall, yes.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describe your culture.</a:t>
            </a:r>
          </a:p>
          <a:p>
            <a:r>
              <a:t>Your role (A) | Friend.</a:t>
            </a:r>
          </a:p>
          <a:p>
            <a:r>
              <a:t>Partner’s role (B) | Employee. Company: ______________</a:t>
            </a:r>
          </a:p>
          <a:p>
            <a:r>
              <a:t>Must use (3 or more) | fairly relaxed · morale · transparency · It could be improved by · Overall</a:t>
            </a:r>
          </a:p>
          <a:p>
            <a:r>
              <a:t>Goal | Describe positives and one area for improvement.</a:t>
            </a:r>
          </a:p>
          <a:p>
            <a:r>
              <a:t>My notes | ____________________________________________</a:t>
            </a:r>
          </a:p>
          <a:p>
            <a:r>
              <a:t>Give an example of a norm.</a:t>
            </a:r>
          </a:p>
          <a:p>
            <a:r>
              <a:t>Mention a ritual.</a:t>
            </a:r>
          </a:p>
          <a:p>
            <a:r>
              <a:t>Compare with a previous employer.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culture more important than pay? | “For many people, yes, because…”</a:t>
            </a:r>
          </a:p>
          <a:p>
            <a:r>
              <a:t>2. Can culture be changed quickly? | “Not really, because…”</a:t>
            </a:r>
          </a:p>
          <a:p>
            <a:r>
              <a:t>3. Do perks improve culture? | “Only if…”</a:t>
            </a:r>
          </a:p>
          <a:p>
            <a:r>
              <a:t>4. What is a sign of a bad culture? | “When people…”</a:t>
            </a:r>
          </a:p>
          <a:p>
            <a:r>
              <a:t>5. What culture do you work best in? | “I work best 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culture can’t be changed quickly because it’s formed by many habits and by what leaders reward. You can introduce new policies fast, but real change takes months or years. The best approach is to start with a few visible behaviours, such as listening to staff, and repeat them consistently.”</a:t>
            </a:r>
          </a:p>
          <a:p>
            <a:r>
              <a:t>“what leaders reward” 领导者奖励的东西;“visible behaviours” 看得见的行为。</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tendencies and norms 描述倾向和规范</a:t>
            </a:r>
          </a:p>
          <a:p>
            <a:r>
              <a:t>Structure | Example</a:t>
            </a:r>
          </a:p>
          <a:p>
            <a:r>
              <a:t>People tend to + base | People tend to speak openly.</a:t>
            </a:r>
          </a:p>
          <a:p>
            <a:r>
              <a:t>It’s common/normal to + base | It’s common to share ideas.</a:t>
            </a:r>
          </a:p>
          <a:p>
            <a:r>
              <a:t>We’re expected to + base | We’re expected to be punctual.</a:t>
            </a:r>
          </a:p>
          <a:p>
            <a:r>
              <a:t>Usually / generally / on the whole | On the whole, morale is good.</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tendencies and norms 描述倾向和规范</a:t>
            </a:r>
          </a:p>
          <a:p>
            <a:r>
              <a:t>Tend to describes typical behaviour; be expected to describes rules or norms.</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company culture is very good atmosphere.  →  ✓ Our company has a very good culture.  (句子结构)</a:t>
            </a:r>
          </a:p>
          <a:p>
            <a:r>
              <a:t>✗ In my company, people is friendly.  →  ✓ In my company, people are friendly.  (people 复数)</a:t>
            </a:r>
          </a:p>
          <a:p>
            <a:r>
              <a:t>✗ We have a relax atmosphere.  →  ✓ We have a relaxed atmosphere.  (relaxed)</a:t>
            </a:r>
          </a:p>
          <a:p>
            <a:r>
              <a:t>Mistake Watch: Check people are, relaxed, adjective form, depend 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culture here is open-minded.  →  ✓ The culture here is open. / People here are open-minded.  (主语)</a:t>
            </a:r>
          </a:p>
          <a:p>
            <a:r>
              <a:t>✗ I like the culture of transparent.  →  ✓ I like the transparent culture. / I like the transparency.  (词性)</a:t>
            </a:r>
          </a:p>
          <a:p>
            <a:r>
              <a:t>✗ It depends of the team.  →  ✓ It depends on the team.  (depend on)</a:t>
            </a:r>
          </a:p>
          <a:p>
            <a:r>
              <a:t>Mistake Watch: Check people are, relaxed, adjective form, depend 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Dress and tone. Informal doesn’t mean careless; observe first.</a:t>
            </a:r>
          </a:p>
          <a:p>
            <a:r>
              <a:t>Ask in interviews. Interviewers expect questions about culture.</a:t>
            </a:r>
          </a:p>
          <a:p>
            <a:r>
              <a:t>Don’t compare negatively. Avoid “my old company was terrible”.</a:t>
            </a:r>
          </a:p>
          <a:p>
            <a:r>
              <a:t>Use “we”. Talking about “we” shows belonging.</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company’s culture with natural phrases.</a:t>
            </a:r>
          </a:p>
          <a:p>
            <a:r>
              <a:t>I can ask about culture in an interview.</a:t>
            </a:r>
          </a:p>
          <a:p>
            <a:r>
              <a:t>I can give balanced opinions.</a:t>
            </a:r>
          </a:p>
          <a:p>
            <a:r>
              <a:t>I use people are, relaxed and depend on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culture in a workplace you know, with one strength and one improvement.</a:t>
            </a:r>
          </a:p>
          <a:p>
            <a:r>
              <a:t>8–10 | Listen to your recording. Check: people are, relaxed, depends 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69 · How much your co-workers get paid 同事的薪水是多少</a:t>
            </a:r>
          </a:p>
          <a:p>
            <a:r>
              <a:t>Goal: discuss pay transparency, fairness and salary conversations, and ask or answer sensitive questions tactfully.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“co-worker” = 同事;“pay gap” = 薪酬差距。第 5 题第二条件句。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view on pay transparency.</a:t>
            </a:r>
          </a:p>
          <a:p>
            <a:r>
              <a:t>Say: what it is → advantages → risks → your view.</a:t>
            </a:r>
          </a:p>
          <a:p>
            <a:r>
              <a:t>Useful starters: “Pay transparency means…” / “One benefit is…” / “A concern is…” / “On balance, …”</a:t>
            </a:r>
          </a:p>
          <a:p>
            <a:r>
              <a:t>“pay transparency” = 薪酬透明。</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many workplaces, pay is a taboo subject, and employees do not know what colleagues earn. Supporters of pay transparency argue that open salary ranges reveal unfairness, especially gaps between men and women, and make it easier to negotiate. Some countries now require employers to publish pay ranges in job adverts. Critics worry that openness can cause resentment, particularly if differences are not clearly explained. Employees may also feel their privacy is not respected. A middle path is for companies to publish salary bands for each level and explain how people move between them, without naming individuals. This gives employees clarity and gives managers a reason to apply the rules consistently. The key is to link pay to clear criteria such as responsibility, skills and performance.</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supporters argue?</a:t>
            </a:r>
          </a:p>
          <a:p>
            <a:r>
              <a:t>A: Open salary ranges reveal unfairness (e.g. gender gaps) and make negotiation easier.</a:t>
            </a:r>
          </a:p>
          <a:p>
            <a:r>
              <a:t>Q2. What do critics worry about?</a:t>
            </a:r>
          </a:p>
          <a:p>
            <a:r>
              <a:t>A: Resentment and privacy.</a:t>
            </a:r>
          </a:p>
          <a:p>
            <a:r>
              <a:t>Q3. What is the middle path?</a:t>
            </a:r>
          </a:p>
          <a:p>
            <a:r>
              <a:t>A: Publishing salary bands per level and explaining progression, without naming individuals.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Pay 薪酬</a:t>
            </a:r>
          </a:p>
          <a:p>
            <a:r>
              <a:t>领读 → 学员跟读 → 请学员用表达造一个和自己工作相关的句子。</a:t>
            </a:r>
          </a:p>
          <a:p>
            <a:r>
              <a:t>salary range / band (noun) 薪资范围/级别 — “The salary band is 60 to 80 thousand.”</a:t>
            </a:r>
          </a:p>
          <a:p>
            <a:r>
              <a:t>pay gap (noun) 薪酬差距 — “There’s a gender pay gap.”</a:t>
            </a:r>
          </a:p>
          <a:p>
            <a:r>
              <a:t>pay rise (UK) / raise (US) (noun) 加薪 — “She asked for a pay rise.”</a:t>
            </a:r>
          </a:p>
          <a:p>
            <a:r>
              <a:t>★ equal pay for equal work (phrase) 同工同酬 — “We support equal pay for equal work.”</a:t>
            </a:r>
          </a:p>
          <a:p>
            <a:r>
              <a:t>★ take-home pay (noun) 实发工资 — “Take-home pay is lower after tax.”</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Transparency 透明度</a:t>
            </a:r>
          </a:p>
          <a:p>
            <a:r>
              <a:t>领读 → 学员跟读 → 请学员用表达造一个和自己工作相关的句子。</a:t>
            </a:r>
          </a:p>
          <a:p>
            <a:r>
              <a:t>pay transparency (noun) 薪酬透明 — “Pay transparency is growing.”</a:t>
            </a:r>
          </a:p>
          <a:p>
            <a:r>
              <a:t>confidential (adjective) 保密的 — “Salary information is confidential.”</a:t>
            </a:r>
          </a:p>
          <a:p>
            <a:r>
              <a:t>disclose (verb) 披露 — “Employers must disclose ranges.”</a:t>
            </a:r>
          </a:p>
          <a:p>
            <a:r>
              <a:t>★ a taboo subject (noun) 禁忌话题 — “Pay is a taboo subject.”</a:t>
            </a:r>
          </a:p>
          <a:p>
            <a:r>
              <a:t>★ lift the lid on (idiom) 揭开盖子 — “The report lifted the lid on pay.”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Fairness 公平</a:t>
            </a:r>
          </a:p>
          <a:p>
            <a:r>
              <a:t>领读 → 学员跟读 → 请学员用表达造一个和自己工作相关的句子。</a:t>
            </a:r>
          </a:p>
          <a:p>
            <a:r>
              <a:t>fair / unfair (adjective) 公平/不公平 — “Is it fair?”</a:t>
            </a:r>
          </a:p>
          <a:p>
            <a:r>
              <a:t>justify (verb) 解释合理性 — “Can you justify the difference?”</a:t>
            </a:r>
          </a:p>
          <a:p>
            <a:r>
              <a:t>benchmark (verb/noun) 对标 — “We benchmark salaries.”</a:t>
            </a:r>
          </a:p>
          <a:p>
            <a:r>
              <a:t>★ resentment (noun) 怨恨 — “It can cause resentment.”</a:t>
            </a:r>
          </a:p>
          <a:p>
            <a:r>
              <a:t>★ negotiate from a position of strength (phrase) 有底气地谈判 — “Data helps you negotiate.”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band / gap / rise / confidential / disclose / justify</a:t>
            </a:r>
          </a:p>
          <a:p>
            <a:r>
              <a:t>1. The salary _______ for this role is 60 to 80 thousand. → band</a:t>
            </a:r>
          </a:p>
          <a:p>
            <a:r>
              <a:t>2. There is still a gender pay _______. → gap</a:t>
            </a:r>
          </a:p>
          <a:p>
            <a:r>
              <a:t>3. She asked for a pay _______. → rise</a:t>
            </a:r>
          </a:p>
          <a:p>
            <a:r>
              <a:t>4. Salary information is _______. → confidential</a:t>
            </a:r>
          </a:p>
          <a:p>
            <a:r>
              <a:t>5. Employers must _______ pay ranges. → disclose</a:t>
            </a:r>
          </a:p>
          <a:p>
            <a:r>
              <a:t>6. Can you _______ the difference? → justify</a:t>
            </a:r>
          </a:p>
          <a:p>
            <a:r>
              <a:t>Mistake Watch: (英美) pay rise(英)/ raise(美);earn a salary,be paid X;salary 可数。</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about pay range 询问薪资范围</a:t>
            </a:r>
          </a:p>
          <a:p>
            <a:r>
              <a:t>情景：A candidate asks about pay.</a:t>
            </a:r>
          </a:p>
          <a:p>
            <a:r>
              <a:t>Role A: Candidate Role B: Recruiter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tell me the salary range for this role?</a:t>
            </a:r>
          </a:p>
          <a:p>
            <a:r>
              <a:t>B: Yes. It’s between 55 and 70 thousand, depending on experience.</a:t>
            </a:r>
          </a:p>
          <a:p>
            <a:r>
              <a:t>A: How are decisions made within the range?</a:t>
            </a:r>
          </a:p>
          <a:p>
            <a:r>
              <a:t>B: We look at skills, experience and the market benchmark.</a:t>
            </a:r>
          </a:p>
          <a:p>
            <a:r>
              <a:t>A: Is the range published internally?</a:t>
            </a:r>
          </a:p>
          <a:p>
            <a:r>
              <a:t>B: Yes. Employees can see the bands for each level.</a:t>
            </a:r>
          </a:p>
          <a:p>
            <a:r>
              <a:t>A: That’s good to know.</a:t>
            </a:r>
          </a:p>
          <a:p>
            <a:r>
              <a:t>B: We believe transparency helps fairness.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ask about pay.</a:t>
            </a:r>
          </a:p>
          <a:p>
            <a:r>
              <a:t>Your role (A) | Candidate.</a:t>
            </a:r>
          </a:p>
          <a:p>
            <a:r>
              <a:t>Partner’s role (B) | Recruiter. Role: ______________</a:t>
            </a:r>
          </a:p>
          <a:p>
            <a:r>
              <a:t>Must use (3 or more) | salary range · depending on · benchmark · bands · fairness</a:t>
            </a:r>
          </a:p>
          <a:p>
            <a:r>
              <a:t>Goal | Ask politely about pay and how it’s decided.</a:t>
            </a:r>
          </a:p>
          <a:p>
            <a:r>
              <a:t>My notes | ____________________________________________</a:t>
            </a:r>
          </a:p>
          <a:p>
            <a:r>
              <a:t>Ask about bonuses.</a:t>
            </a:r>
          </a:p>
          <a:p>
            <a:r>
              <a:t>Ask about review cycles.</a:t>
            </a:r>
          </a:p>
          <a:p>
            <a:r>
              <a:t>Respond if the range is below your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Discovering a pay gap 发现薪酬差距</a:t>
            </a:r>
          </a:p>
          <a:p>
            <a:r>
              <a:t>情景：You raise a concern with HR.</a:t>
            </a:r>
          </a:p>
          <a:p>
            <a:r>
              <a:t>Role A: Employee Role B: HR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raise a sensitive issue. I’ve learned a colleague on the same level earns more than me.</a:t>
            </a:r>
          </a:p>
          <a:p>
            <a:r>
              <a:t>B: Thank you for telling me. Do you know how that came about?</a:t>
            </a:r>
          </a:p>
          <a:p>
            <a:r>
              <a:t>A: I don’t. We have similar roles and experience.</a:t>
            </a:r>
          </a:p>
          <a:p>
            <a:r>
              <a:t>B: I’ll look into it. There may be factors such as when each person joined.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but could you explain the reasons?</a:t>
            </a:r>
          </a:p>
          <a:p>
            <a:r>
              <a:t>B: Yes. I’ll come back to you within a week.</a:t>
            </a:r>
          </a:p>
          <a:p>
            <a:r>
              <a:t>A: Thank you. I appreciate it.</a:t>
            </a:r>
          </a:p>
          <a:p>
            <a:r>
              <a:t>B: We take fairness seriously.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raise a pay concern.</a:t>
            </a:r>
          </a:p>
          <a:p>
            <a:r>
              <a:t>Your role (A) | Employee.</a:t>
            </a:r>
          </a:p>
          <a:p>
            <a:r>
              <a:t>Partner’s role (B) | HR. Concern: ______________</a:t>
            </a:r>
          </a:p>
          <a:p>
            <a:r>
              <a:t>Must use (3 or more) | raise a sensitive issue · same level · look into it · explain the reasons · within a week</a:t>
            </a:r>
          </a:p>
          <a:p>
            <a:r>
              <a:t>Goal | Raise the issue calmly and agree next steps.</a:t>
            </a:r>
          </a:p>
          <a:p>
            <a:r>
              <a:t>My notes | ____________________________________________</a:t>
            </a:r>
          </a:p>
          <a:p>
            <a:r>
              <a:t>Avoid accusing.</a:t>
            </a:r>
          </a:p>
          <a:p>
            <a:r>
              <a:t>Prepare evidence.</a:t>
            </a:r>
          </a:p>
          <a:p>
            <a:r>
              <a:t>Ask what happens if there’s no good reason.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salaries be public? | “I think … because…”</a:t>
            </a:r>
          </a:p>
          <a:p>
            <a:r>
              <a:t>2. Would pay transparency cause jealousy? | “It might, but…”</a:t>
            </a:r>
          </a:p>
          <a:p>
            <a:r>
              <a:t>3. How should you negotiate salary? | “I’d start by…”</a:t>
            </a:r>
          </a:p>
          <a:p>
            <a:r>
              <a:t>4. Is the gender pay gap a problem in your industry? | “I think …”</a:t>
            </a:r>
          </a:p>
          <a:p>
            <a:r>
              <a:t>5. What affects how much someone is paid? | “Experience, … and…”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salary ranges should be public, but individual salaries should stay private. Ranges help candidates know what to expect and help employers apply rules fairly. Showing individual salaries could cause jealousy and privacy issues. So a middle path seems best.”</a:t>
            </a:r>
          </a:p>
          <a:p>
            <a:r>
              <a:t>“middle path” 折中道路;“apply rules fairly” 公平地执行规则。</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sensitive topics 处理敏感话题</a:t>
            </a:r>
          </a:p>
          <a:p>
            <a:r>
              <a:t>Direct | Tactful</a:t>
            </a:r>
          </a:p>
          <a:p>
            <a:r>
              <a:t>How much do you earn? | I’m trying to understand what a fair range is. Could you share?</a:t>
            </a:r>
          </a:p>
          <a:p>
            <a:r>
              <a:t>You’re paid more than me. | I understand there may be differences. Could we discuss how pay is set?</a:t>
            </a:r>
          </a:p>
          <a:p>
            <a:r>
              <a:t>Is it unfair? | I’d like to understand the reasons for the difference.</a:t>
            </a:r>
          </a:p>
          <a:p>
            <a:r>
              <a:t>I deserve more. | Based on my results, I’d like to discuss my pay.</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sensitive topics 处理敏感话题</a:t>
            </a:r>
          </a:p>
          <a:p>
            <a:r>
              <a:t>Use “I’d like to understand…” and “Could you explain…” for sensitive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How much money do you get?  →  ✓ How much do you earn?  (earn)</a:t>
            </a:r>
          </a:p>
          <a:p>
            <a:r>
              <a:t>✗ My salary is increased.  →  ✓ My salary has gone up. / My salary increased.  (不及物/被动)</a:t>
            </a:r>
          </a:p>
          <a:p>
            <a:r>
              <a:t>✗ I want to ask for raise my salary.  →  ✓ I want to ask for a raise.  (ask for + 名词)</a:t>
            </a:r>
          </a:p>
          <a:p>
            <a:r>
              <a:t>Mistake Watch: Check earn vs get paid, a month, possessives, ask for a raise.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earns 3000 per one month.  →  ✓ He earns 3,000 a month.  (a month)</a:t>
            </a:r>
          </a:p>
          <a:p>
            <a:r>
              <a:t>✗ The salary of him is high.  →  ✓ His salary is high.  (所有格)</a:t>
            </a:r>
          </a:p>
          <a:p>
            <a:r>
              <a:t>✗ It is a secrecy.  →  ✓ It is a secret.  (secret)</a:t>
            </a:r>
          </a:p>
          <a:p>
            <a:r>
              <a:t>Mistake Watch: Check earn vs get paid, a month, possessives, ask for a raise.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Pay is private in many countries. Don’t ask colleagues directly.</a:t>
            </a:r>
          </a:p>
          <a:p>
            <a:r>
              <a:t>Use ranges. In the US and UK, asking for a range in interviews is normal.</a:t>
            </a:r>
          </a:p>
          <a:p>
            <a:r>
              <a:t>Some countries require pay transparency in adverts; check local rules.</a:t>
            </a:r>
          </a:p>
          <a:p>
            <a:r>
              <a:t>Negotiate with data. Quote market benchmarks.</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pay transparency with balanced views.</a:t>
            </a:r>
          </a:p>
          <a:p>
            <a:r>
              <a:t>I can ask about pay tactfully.</a:t>
            </a:r>
          </a:p>
          <a:p>
            <a:r>
              <a:t>I can raise a pay concern calmly.</a:t>
            </a:r>
          </a:p>
          <a:p>
            <a:r>
              <a:t>I use earn, ask for a raise and possessives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Practise asking about a salary range in 3 sentences.</a:t>
            </a:r>
          </a:p>
          <a:p>
            <a:r>
              <a:t>8–10 | Listen to your recording. Check: earn, ask for a raise, a month, possessives.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70 · Spotting toxic workplaces 识别有害的职场</a:t>
            </a:r>
          </a:p>
          <a:p>
            <a:r>
              <a:t>Goal: recognise warning signs of a toxic workplace, describe them professionally and discuss what to do.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“toxic” = 有毒的;“red flag” = 危险信号。第 2 题现在完成时问经历。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signs of a toxic workplace and what someone can do.</a:t>
            </a:r>
          </a:p>
          <a:p>
            <a:r>
              <a:t>Say: signs → effects → options → advice.</a:t>
            </a:r>
          </a:p>
          <a:p>
            <a:r>
              <a:t>Useful starters: “Warning signs include…” / “It can lead to…” / “One option is to…” / “If it continues, …”</a:t>
            </a:r>
          </a:p>
          <a:p>
            <a:r>
              <a:t>“warning signs include…” 先列举再展开。</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toxic workplace is one where behaviour regularly harms people’s well-being or performance. Warning signs appear early. In interviews, you might notice vague answers about turnover, a rush to hire, or managers who criticise former staff. Inside a company, red flags include constant gossip, public blaming, unrealistic deadlines, favouritism, and a lack of respect for boundaries. People often stop speaking up, and the best employees leave quietly. One bad incident does not make a toxic culture; the pattern matters. If you are affected, keep a record of events, talk to someone you trust, and consider formal channels such as HR. Sometimes the best decision is to leave, but it is wise to build savings and options first, so that you choose your exit rather than escape in panic.</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two red flags in an interview.</a:t>
            </a:r>
          </a:p>
          <a:p>
            <a:r>
              <a:t>A: Vague answers about turnover, rush to hire, managers criticising former staff.</a:t>
            </a:r>
          </a:p>
          <a:p>
            <a:r>
              <a:t>Q2. What matters more than a single incident?</a:t>
            </a:r>
          </a:p>
          <a:p>
            <a:r>
              <a:t>A: The pattern.</a:t>
            </a:r>
          </a:p>
          <a:p>
            <a:r>
              <a:t>Q3. What should you do before leaving?</a:t>
            </a:r>
          </a:p>
          <a:p>
            <a:r>
              <a:t>A: Build savings and options so you choose your exit.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Warning signs 警示信号</a:t>
            </a:r>
          </a:p>
          <a:p>
            <a:r>
              <a:t>领读 → 学员跟读 → 请学员用表达造一个和自己工作相关的句子。</a:t>
            </a:r>
          </a:p>
          <a:p>
            <a:r>
              <a:t>toxic workplace (noun) 有害的职场 — “She left a toxic workplace.”</a:t>
            </a:r>
          </a:p>
          <a:p>
            <a:r>
              <a:t>red flag (noun) 危险信号 — “High turnover is a red flag.”</a:t>
            </a:r>
          </a:p>
          <a:p>
            <a:r>
              <a:t>micromanagement (noun) 微观管理 — “Micromanagement kills trust.”</a:t>
            </a:r>
          </a:p>
          <a:p>
            <a:r>
              <a:t>★ bullying / harassment (noun) 霸凌/骚扰 — “Bullying is unacceptable.”</a:t>
            </a:r>
          </a:p>
          <a:p>
            <a:r>
              <a:t>★ gaslighting (noun) 煤气灯效应(操纵) — “He denied events — it was gaslighting.”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Effects 影响</a:t>
            </a:r>
          </a:p>
          <a:p>
            <a:r>
              <a:t>领读 → 学员跟读 → 请学员用表达造一个和自己工作相关的句子。</a:t>
            </a:r>
          </a:p>
          <a:p>
            <a:r>
              <a:t>high turnover (noun) 高流失率 — “There’s high turnover in that team.”</a:t>
            </a:r>
          </a:p>
          <a:p>
            <a:r>
              <a:t>low morale (noun) 士气低落 — “Morale is low.”</a:t>
            </a:r>
          </a:p>
          <a:p>
            <a:r>
              <a:t>take a toll (collocation) 造成损害 — “It took a toll on her health.”</a:t>
            </a:r>
          </a:p>
          <a:p>
            <a:r>
              <a:t>★ walk on eggshells (idiom) 如履薄冰 — “We walk on eggshells around him.”</a:t>
            </a:r>
          </a:p>
          <a:p>
            <a:r>
              <a:t>★ a blame culture (noun) 追责文化 — “A blame culture stops learning.”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Responding 应对</a:t>
            </a:r>
          </a:p>
          <a:p>
            <a:r>
              <a:t>领读 → 学员跟读 → 请学员用表达造一个和自己工作相关的句子。</a:t>
            </a:r>
          </a:p>
          <a:p>
            <a:r>
              <a:t>document incidents (collocation) 记录事件 — “Document every incident.”</a:t>
            </a:r>
          </a:p>
          <a:p>
            <a:r>
              <a:t>report to HR (collocation) 向人力资源汇报 — “She reported it to HR.”</a:t>
            </a:r>
          </a:p>
          <a:p>
            <a:r>
              <a:t>set boundaries (collocation) 设定界限 — “Set boundaries politely.”</a:t>
            </a:r>
          </a:p>
          <a:p>
            <a:r>
              <a:t>★ speak up (phrasal verb) 大胆发声 — “Speak up if you can.”</a:t>
            </a:r>
          </a:p>
          <a:p>
            <a:r>
              <a:t>★ cut your losses (idiom) 及时止损 — “Sometimes it’s best to cut your losses.”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toxic / flag / turnover / morale / document / boundaries</a:t>
            </a:r>
          </a:p>
          <a:p>
            <a:r>
              <a:t>1. She left a _______ workplace after a year. → toxic</a:t>
            </a:r>
          </a:p>
          <a:p>
            <a:r>
              <a:t>2. High turnover is a red _______. → flag</a:t>
            </a:r>
          </a:p>
          <a:p>
            <a:r>
              <a:t>3. There is high staff _______ in that team. → turnover</a:t>
            </a:r>
          </a:p>
          <a:p>
            <a:r>
              <a:t>4. _______ is low after the layoffs. → Morale</a:t>
            </a:r>
          </a:p>
          <a:p>
            <a:r>
              <a:t>5. You should _______ every incident. → document</a:t>
            </a:r>
          </a:p>
          <a:p>
            <a:r>
              <a:t>6. Set clear _______ with your manager. → boundaries</a:t>
            </a:r>
          </a:p>
          <a:p>
            <a:r>
              <a:t>Mistake Watch: (搭配) report something TO HR,suffer FROM,bully someone / be bullied BY;harassment 拼写。</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a trusted colleague 与可信同事谈</a:t>
            </a:r>
          </a:p>
          <a:p>
            <a:r>
              <a:t>情景：You describe a bad situation.</a:t>
            </a:r>
          </a:p>
          <a:p>
            <a:r>
              <a:t>Role A: You Role B: Trusted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talk to you in confidence? I’ve been struggling with how my manager treats the team.</a:t>
            </a:r>
          </a:p>
          <a:p>
            <a:r>
              <a:t>B: Of course. What’s been happening?</a:t>
            </a:r>
          </a:p>
          <a:p>
            <a:r>
              <a:t>A: He criticises people in public, and we’re all walking on eggshells.</a:t>
            </a:r>
          </a:p>
          <a:p>
            <a:r>
              <a:t>B: That sounds really stressful. Have you documented any incidents?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 few. I’m not sure whether to go to HR.</a:t>
            </a:r>
          </a:p>
          <a:p>
            <a:r>
              <a:t>B: It might be worth keeping a record first and then deciding.</a:t>
            </a:r>
          </a:p>
          <a:p>
            <a:r>
              <a:t>A: That’s a good idea. Thanks for listening.</a:t>
            </a:r>
          </a:p>
          <a:p>
            <a:r>
              <a:t>B: I’m here if you need to talk.</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confide in a colleague.</a:t>
            </a:r>
          </a:p>
          <a:p>
            <a:r>
              <a:t>Your role (A) | Person affected. Problem: ______________</a:t>
            </a:r>
          </a:p>
          <a:p>
            <a:r>
              <a:t>Partner’s role (B) | Trusted colleague.</a:t>
            </a:r>
          </a:p>
          <a:p>
            <a:r>
              <a:t>Must use (3 or more) | in confidence · walking on eggshells · documented · HR · I’m here if…</a:t>
            </a:r>
          </a:p>
          <a:p>
            <a:r>
              <a:t>Goal | Describe the problem factually and discuss options.</a:t>
            </a:r>
          </a:p>
          <a:p>
            <a:r>
              <a:t>My notes | ____________________________________________</a:t>
            </a:r>
          </a:p>
          <a:p>
            <a:r>
              <a:t>Keep the language factual.</a:t>
            </a:r>
          </a:p>
          <a:p>
            <a:r>
              <a:t>Mention impact on health.</a:t>
            </a:r>
          </a:p>
          <a:p>
            <a:r>
              <a:t>Plan a first step.</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to HR 向人力资源汇报</a:t>
            </a:r>
          </a:p>
          <a:p>
            <a:r>
              <a:t>情景：A formal conversation.</a:t>
            </a:r>
          </a:p>
          <a:p>
            <a:r>
              <a:t>Role A: Employee Role B: HR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report a concern about my manager’s behaviour.</a:t>
            </a:r>
          </a:p>
          <a:p>
            <a:r>
              <a:t>B: Thank you for coming. What happened?</a:t>
            </a:r>
          </a:p>
          <a:p>
            <a:r>
              <a:t>A: On three occasions, he raised his voice in front of the team. I’ve written down the dates.</a:t>
            </a:r>
          </a:p>
          <a:p>
            <a:r>
              <a:t>B: How did it affect you?</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find it hard to concentrate, and morale in the team is low.</a:t>
            </a:r>
          </a:p>
          <a:p>
            <a:r>
              <a:t>B: I’m sorry. We’ll treat this confidentially and look into it.</a:t>
            </a:r>
          </a:p>
          <a:p>
            <a:r>
              <a:t>A: What happens next?</a:t>
            </a:r>
          </a:p>
          <a:p>
            <a:r>
              <a:t>B: I’ll speak to him and others, and update you within a week.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report a concern formally.</a:t>
            </a:r>
          </a:p>
          <a:p>
            <a:r>
              <a:t>Your role (A) | Employee. Concern: ______________</a:t>
            </a:r>
          </a:p>
          <a:p>
            <a:r>
              <a:t>Partner’s role (B) | HR.</a:t>
            </a:r>
          </a:p>
          <a:p>
            <a:r>
              <a:t>Must use (3 or more) | report a concern · on three occasions · confidentially · look into it · update you</a:t>
            </a:r>
          </a:p>
          <a:p>
            <a:r>
              <a:t>Goal | Report facts calmly and ask about next steps.</a:t>
            </a:r>
          </a:p>
          <a:p>
            <a:r>
              <a:t>My notes | ____________________________________________</a:t>
            </a:r>
          </a:p>
          <a:p>
            <a:r>
              <a:t>Avoid emotional language.</a:t>
            </a:r>
          </a:p>
          <a:p>
            <a:r>
              <a:t>Ask about protection from retaliation.</a:t>
            </a:r>
          </a:p>
          <a:p>
            <a:r>
              <a:t>Provide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serious red flag? | “I think… is the most serious because…”</a:t>
            </a:r>
          </a:p>
          <a:p>
            <a:r>
              <a:t>2. Should employees report bad behaviour? | “Yes, but…”</a:t>
            </a:r>
          </a:p>
          <a:p>
            <a:r>
              <a:t>3. Can toxic workplaces change? | “Sometimes, if leaders…”</a:t>
            </a:r>
          </a:p>
          <a:p>
            <a:r>
              <a:t>4. How can you check a company’s culture before joining? | “I’d talk to… / read…”</a:t>
            </a:r>
          </a:p>
          <a:p>
            <a:r>
              <a:t>5. When is it time to leave? | “When…”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say it’s time to leave when your health is affected and you’ve tried to improve things without success. Staying in a harmful environment can damage confidence and well-being. Before leaving, I’d save some money and update my CV. Leaving isn’t a failure. It’s protecting yourself.”</a:t>
            </a:r>
          </a:p>
          <a:p>
            <a:r>
              <a:t>“without success” 无果;“protecting yourself” 保护自己。</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patterns objectively 客观描述模式</a:t>
            </a:r>
          </a:p>
          <a:p>
            <a:r>
              <a:t>Subjective | Objective</a:t>
            </a:r>
          </a:p>
          <a:p>
            <a:r>
              <a:t>He is a terrible boss. | On three occasions, he raised his voice.</a:t>
            </a:r>
          </a:p>
          <a:p>
            <a:r>
              <a:t>Everyone hates him. | Several team members have told me they feel uncomfortable.</a:t>
            </a:r>
          </a:p>
          <a:p>
            <a:r>
              <a:t>It’s always like this. | This has happened every week this month.</a:t>
            </a:r>
          </a:p>
          <a:p>
            <a:r>
              <a:t>The culture is poison. | The culture seems to discourage open discussion.</a:t>
            </a:r>
          </a:p>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patterns objectively 客观描述模式</a:t>
            </a:r>
          </a:p>
          <a:p>
            <a:r>
              <a:t>Use dates, frequency, impact when reporting: on three occasions, every week, as a result.</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boss is very toxic.  →  ✓ My boss’s behaviour is toxic. / We have a toxic culture.  (形容行为)</a:t>
            </a:r>
          </a:p>
          <a:p>
            <a:r>
              <a:t>✗ He bullied by the team.  →  ✓ He was bullied by the team.  (被动)</a:t>
            </a:r>
          </a:p>
          <a:p>
            <a:r>
              <a:t>✗ I suffer with stress.  →  ✓ I suffer from stress.  (suffer from)</a:t>
            </a:r>
          </a:p>
          <a:p>
            <a:r>
              <a:t>Mistake Watch: Check passive, suffer from, adverbs, no article before HR.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I’ve been treated bad.  →  ✓ I’ve been treated badly.  (副词)</a:t>
            </a:r>
          </a:p>
          <a:p>
            <a:r>
              <a:t>✗ I want to report him to the HR.  →  ✓ I want to report him to HR.  (HR 无冠词)</a:t>
            </a:r>
          </a:p>
          <a:p>
            <a:r>
              <a:t>✗ He made me feeling uncomfortable.  →  ✓ He made me feel uncomfortable.  (make + 原形)</a:t>
            </a:r>
          </a:p>
          <a:p>
            <a:r>
              <a:t>Mistake Watch: Check passive, suffer from, adverbs, no article before HR.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Keep records. Dates and facts help formal processes.</a:t>
            </a:r>
          </a:p>
          <a:p>
            <a:r>
              <a:t>Confidentiality. HR must treat reports confidentially, but not secretly in every case.</a:t>
            </a:r>
          </a:p>
          <a:p>
            <a:r>
              <a:t>Know the policy. Look for “speak-up” or whistleblowing policies.</a:t>
            </a:r>
          </a:p>
          <a:p>
            <a:r>
              <a:t>Legal protection. Many countries protect people who report in good faith.</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list warning signs of a toxic workplace.</a:t>
            </a:r>
          </a:p>
          <a:p>
            <a:r>
              <a:t>I can describe problems factually.</a:t>
            </a:r>
          </a:p>
          <a:p>
            <a:r>
              <a:t>I can report a concern professionally.</a:t>
            </a:r>
          </a:p>
          <a:p>
            <a:r>
              <a:t>I use passive forms and suffer from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Role-play: describe a problem factually in 60 seconds.</a:t>
            </a:r>
          </a:p>
          <a:p>
            <a:r>
              <a:t>8–10 | Listen to your recording. Check: passive, suffer from, adverbs, HR no article.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71 · Modern workplace amenities 现代办公环境(设施)</a:t>
            </a:r>
          </a:p>
          <a:p>
            <a:r>
              <a:t>Goal: describe office facilities and perks, and discuss which amenities really improve work.</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“amenities” = 便利设施;“perk” = 额外福利。注意 “facilities” 常用复数。</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office and what you would add.</a:t>
            </a:r>
          </a:p>
          <a:p>
            <a:r>
              <a:t>Say: what it has → what’s good → what’s missing → what you’d add.</a:t>
            </a:r>
          </a:p>
          <a:p>
            <a:r>
              <a:t>Useful starters: “Our office has…” / “It’s equipped with…” / “What I’d like to see is…” / “It would make it easier to…”</a:t>
            </a:r>
          </a:p>
          <a:p>
            <a:r>
              <a:t>“be equipped with” 配备;“What I’d like to see is…” 我希望看到的是…</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Offices today often include more than desks. Many have quiet rooms, phone booths, fitness spaces, coffee bars and relaxed meeting areas. Some companies provide healthy food, bike storage or on-site childcare. These amenities aim to attract talent and help people feel valued, but their effect depends on the quality of the workplace as a whole. A table-football game cannot make up for unrealistic deadlines or poor management. Surveys often show that employees value practical things most: good lighting, comfortable chairs, quiet spaces to concentrate and reliable technology. Flexibility, such as hybrid working, is increasingly seen as the most important perk of all. Designers now speak of “activity-based working”, in which spaces are designed for different tasks, such as focus, collaboration or relaxation.</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Which amenities do employees value most?</a:t>
            </a:r>
          </a:p>
          <a:p>
            <a:r>
              <a:t>A: Practical things: lighting, chairs, quiet spaces, reliable technology.</a:t>
            </a:r>
          </a:p>
          <a:p>
            <a:r>
              <a:t>Q2. Can perks fix management problems?</a:t>
            </a:r>
          </a:p>
          <a:p>
            <a:r>
              <a:t>A: No; a game cannot compensate for unrealistic deadlines or poor management.</a:t>
            </a:r>
          </a:p>
          <a:p>
            <a:r>
              <a:t>Q3. What is activity-based working?</a:t>
            </a:r>
          </a:p>
          <a:p>
            <a:r>
              <a:t>A: Spaces designed for different tasks such as focus, collaboration, relaxation.</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Facilities 设施</a:t>
            </a:r>
          </a:p>
          <a:p>
            <a:r>
              <a:t>领读 → 学员跟读 → 请学员用表达造一个和自己工作相关的句子。</a:t>
            </a:r>
          </a:p>
          <a:p>
            <a:r>
              <a:t>open-plan office (noun) 开放式办公室 — “We work in an open-plan office.”</a:t>
            </a:r>
          </a:p>
          <a:p>
            <a:r>
              <a:t>quiet room / phone booth (noun) 安静室/电话间 — “I take calls in the phone booth.”</a:t>
            </a:r>
          </a:p>
          <a:p>
            <a:r>
              <a:t>breakout area (noun) 休息讨论区 — “Let’s meet in the breakout area.”</a:t>
            </a:r>
          </a:p>
          <a:p>
            <a:r>
              <a:t>★ hot-desking (noun) 灵活座位 — “We use hot-desking.”</a:t>
            </a:r>
          </a:p>
          <a:p>
            <a:r>
              <a:t>★ ergonomic (adjective) 符合人体工学的 — “The chairs are ergonomic.”</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Perks 福利</a:t>
            </a:r>
          </a:p>
          <a:p>
            <a:r>
              <a:t>领读 → 学员跟读 → 请学员用表达造一个和自己工作相关的句子。</a:t>
            </a:r>
          </a:p>
          <a:p>
            <a:r>
              <a:t>perk / benefit (noun) 福利 — “Free lunch is a nice perk.”</a:t>
            </a:r>
          </a:p>
          <a:p>
            <a:r>
              <a:t>on-site gym / childcare (noun) 现场健身房/托儿所 — “We have an on-site gym.”</a:t>
            </a:r>
          </a:p>
          <a:p>
            <a:r>
              <a:t>flexible working (noun) 灵活工作 — “Flexible working is popular.”</a:t>
            </a:r>
          </a:p>
          <a:p>
            <a:r>
              <a:t>★ a nice-to-have (noun) 锦上添花之物 — “Free snacks are a nice-to-have.”</a:t>
            </a:r>
          </a:p>
          <a:p>
            <a:r>
              <a:t>★ a deal-breaker (noun) 决定性因素 — “No flexibility is a deal-breaker.”</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Design 设计</a:t>
            </a:r>
          </a:p>
          <a:p>
            <a:r>
              <a:t>领读 → 学员跟读 → 请学员用表达造一个和自己工作相关的句子。</a:t>
            </a:r>
          </a:p>
          <a:p>
            <a:r>
              <a:t>natural light (noun) 自然光 — “We need more natural light.”</a:t>
            </a:r>
          </a:p>
          <a:p>
            <a:r>
              <a:t>collaboration space (noun) 协作空间 — “The collaboration space is busy.”</a:t>
            </a:r>
          </a:p>
          <a:p>
            <a:r>
              <a:t>acoustics (noun) 音响效果/隔音 — “The acoustics are poor.”</a:t>
            </a:r>
          </a:p>
          <a:p>
            <a:r>
              <a:t>★ activity-based working (noun) 活动式办公 — “We moved to activity-based working.”</a:t>
            </a:r>
          </a:p>
          <a:p>
            <a:r>
              <a:t>★ biophilic design (noun) 亲生物设计 — “Biophilic design uses plants.”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open-plan / booth / breakout / perk / flexible / natural</a:t>
            </a:r>
          </a:p>
          <a:p>
            <a:r>
              <a:t>1. We work in an _______ office. → open-plan</a:t>
            </a:r>
          </a:p>
          <a:p>
            <a:r>
              <a:t>2. I take calls in the phone _______. → booth</a:t>
            </a:r>
          </a:p>
          <a:p>
            <a:r>
              <a:t>3. Let’s meet in the _______ area. → breakout</a:t>
            </a:r>
          </a:p>
          <a:p>
            <a:r>
              <a:t>4. Free lunch is a nice _______. → perk</a:t>
            </a:r>
          </a:p>
          <a:p>
            <a:r>
              <a:t>5. _______ working is very popular. → Flexible</a:t>
            </a:r>
          </a:p>
          <a:p>
            <a:r>
              <a:t>6. The office needs more _______ light. → natural</a:t>
            </a:r>
          </a:p>
          <a:p>
            <a:r>
              <a:t>Mistake Watch: (搭配) work in an open-plan office,equipped with;facilities 常用复数;amenity 单数少用。</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your office 描述你的办公室</a:t>
            </a:r>
          </a:p>
          <a:p>
            <a:r>
              <a:t>情景：Chatting with a friend.</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What’s your new office like?</a:t>
            </a:r>
          </a:p>
          <a:p>
            <a:r>
              <a:t>B: It’s open-plan, with a quiet room and a few phone booths.</a:t>
            </a:r>
          </a:p>
          <a:p>
            <a:r>
              <a:t>A: Is it noisy?</a:t>
            </a:r>
          </a:p>
          <a:p>
            <a:r>
              <a:t>B: A bit, but the booths help for calls.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Any perks?</a:t>
            </a:r>
          </a:p>
          <a:p>
            <a:r>
              <a:t>B: Free fruit and an on-site gym. But I’d say flexible hours are the best perk.</a:t>
            </a:r>
          </a:p>
          <a:p>
            <a:r>
              <a:t>A: What would you add?</a:t>
            </a:r>
          </a:p>
          <a:p>
            <a:r>
              <a:t>B: More natural light, and better acoustics.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describe your office.</a:t>
            </a:r>
          </a:p>
          <a:p>
            <a:r>
              <a:t>Your role (A) | Friend.</a:t>
            </a:r>
          </a:p>
          <a:p>
            <a:r>
              <a:t>Partner’s role (B) | Employee. Office: ______________</a:t>
            </a:r>
          </a:p>
          <a:p>
            <a:r>
              <a:t>Must use (3 or more) | open-plan · phone booth · perk · acoustics · natural light</a:t>
            </a:r>
          </a:p>
          <a:p>
            <a:r>
              <a:t>Goal | Describe layout, perks and one improvement.</a:t>
            </a:r>
          </a:p>
          <a:p>
            <a:r>
              <a:t>My notes | ____________________________________________</a:t>
            </a:r>
          </a:p>
          <a:p>
            <a:r>
              <a:t>Compare with a previous office.</a:t>
            </a:r>
          </a:p>
          <a:p>
            <a:r>
              <a:t>Give an opinion on hot-desking.</a:t>
            </a:r>
          </a:p>
          <a:p>
            <a:r>
              <a:t>Say what you’d cut.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Suggesting improvements 提出改进办公室建议</a:t>
            </a:r>
          </a:p>
          <a:p>
            <a:r>
              <a:t>情景：You talk to facilities.</a:t>
            </a:r>
          </a:p>
          <a:p>
            <a:r>
              <a:t>Role A: Employee Role B: Facilities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suggest a few changes to the office.</a:t>
            </a:r>
          </a:p>
          <a:p>
            <a:r>
              <a:t>B: Go ahead.</a:t>
            </a:r>
          </a:p>
          <a:p>
            <a:r>
              <a:t>A: Noise is the biggest problem. Could we add a quiet room?</a:t>
            </a:r>
          </a:p>
          <a:p>
            <a:r>
              <a:t>B: That’s possible. What else?</a:t>
            </a:r>
          </a:p>
          <a:p>
            <a:r>
              <a:t>A: More ergonomic chairs would make it easier to work long hours.</a:t>
            </a:r>
          </a:p>
          <a:p>
            <a:r>
              <a:t>B: I’ll check the budget.</a:t>
            </a:r>
          </a:p>
          <a:p>
            <a:r>
              <a:t>A: Thank you. Even small changes would help.</a:t>
            </a:r>
          </a:p>
          <a:p>
            <a:r>
              <a:t>B: I’ll come back to you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suggest office improvements.</a:t>
            </a:r>
          </a:p>
          <a:p>
            <a:r>
              <a:t>Your role (A) | Employee. Problem: ______________</a:t>
            </a:r>
          </a:p>
          <a:p>
            <a:r>
              <a:t>Partner’s role (B) | Facilities manager.</a:t>
            </a:r>
          </a:p>
          <a:p>
            <a:r>
              <a:t>Must use (3 or more) | I’d like to suggest · quiet room · ergonomic · make it easier to · budget</a:t>
            </a:r>
          </a:p>
          <a:p>
            <a:r>
              <a:t>Goal | Suggest changes with reasons and handle budget limits.</a:t>
            </a:r>
          </a:p>
          <a:p>
            <a:r>
              <a:t>My notes | ____________________________________________</a:t>
            </a:r>
          </a:p>
          <a:p>
            <a:r>
              <a:t>Prioritise two items.</a:t>
            </a:r>
          </a:p>
          <a:p>
            <a:r>
              <a:t>Offer a low-cost alternative.</a:t>
            </a:r>
          </a:p>
          <a:p>
            <a:r>
              <a:t>Ask for a survey.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office perk do you value most? | “I’d say… because…”</a:t>
            </a:r>
          </a:p>
          <a:p>
            <a:r>
              <a:t>2. Are open-plan offices a good idea? | “They can be, but…”</a:t>
            </a:r>
          </a:p>
          <a:p>
            <a:r>
              <a:t>3. Should companies spend on perks or pay? | “Probably…”</a:t>
            </a:r>
          </a:p>
          <a:p>
            <a:r>
              <a:t>4. Will physical offices disappear? | “I don’t think so, because…”</a:t>
            </a:r>
          </a:p>
          <a:p>
            <a:r>
              <a:t>5. What would your ideal office have? | “It would have…”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“Open-plan offices have advantages: they make talking easier and can save space. But they can be noisy and distracting, which is a problem for focused work. I think the best solution is a mix: open areas for collaboration and quiet rooms for concentration.”</a:t>
            </a:r>
          </a:p>
          <a:p>
            <a:r>
              <a:t>“a mix” 混合型;“distracting” 令人分心的。</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places and making suggestions 描述场所与提建议</a:t>
            </a:r>
          </a:p>
          <a:p>
            <a:r>
              <a:t>Structure | Example</a:t>
            </a:r>
          </a:p>
          <a:p>
            <a:r>
              <a:t>There is / There are | There are two quiet rooms.</a:t>
            </a:r>
          </a:p>
          <a:p>
            <a:r>
              <a:t>It has / It’s equipped with | It’s equipped with standing desks.</a:t>
            </a:r>
          </a:p>
          <a:p>
            <a:r>
              <a:t>It would be better if… | It would be better if there were more light.</a:t>
            </a:r>
          </a:p>
          <a:p>
            <a:r>
              <a:t>I’d like to see + noun | I’d like to see more plants.</a:t>
            </a:r>
          </a:p>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places and making suggestions 描述场所与提建议</a:t>
            </a:r>
          </a:p>
          <a:p>
            <a:r>
              <a:t>After It would be better if, use past tense (even for present wishes): if there were, if we had.</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office have a gym.  →  ✓ Our office has a gym.  (has)</a:t>
            </a:r>
          </a:p>
          <a:p>
            <a:r>
              <a:t>✗ There is two meeting rooms.  →  ✓ There are two meeting rooms.  (are)</a:t>
            </a:r>
          </a:p>
          <a:p>
            <a:r>
              <a:t>✗ We have many equipments.  →  ✓ We have a lot of equipment.  (不可数)</a:t>
            </a:r>
          </a:p>
          <a:p>
            <a:r>
              <a:t>Mistake Watch: Check uncountable equipment / furniture, there are, subjunctive were.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furnitures are new.  →  ✓ The furniture is new.  (不可数)</a:t>
            </a:r>
          </a:p>
          <a:p>
            <a:r>
              <a:t>✗ It would be better if there is more light.  →  ✓ …if there were more light.  (虚拟)</a:t>
            </a:r>
          </a:p>
          <a:p>
            <a:r>
              <a:t>✗ I work in a open-plan office.  →  ✓ I work in an open-plan office.  (an)</a:t>
            </a:r>
          </a:p>
          <a:p>
            <a:r>
              <a:t>Mistake Watch: Check uncountable equipment / furniture, there are, subjunctive were.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Hybrid is expected. Candidates often ask about hybrid working in interviews.</a:t>
            </a:r>
          </a:p>
          <a:p>
            <a:r>
              <a:t>Open-plan etiquette. Keep calls short and use headphones.</a:t>
            </a:r>
          </a:p>
          <a:p>
            <a:r>
              <a:t>Perks vs pay. Perks are valued but don’t replace fair pay.</a:t>
            </a:r>
          </a:p>
          <a:p>
            <a:r>
              <a:t>Accessibility. Mention accessibility needs politely.</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an office and its amenities.</a:t>
            </a:r>
          </a:p>
          <a:p>
            <a:r>
              <a:t>I can suggest improvements politely.</a:t>
            </a:r>
          </a:p>
          <a:p>
            <a:r>
              <a:t>I can compare open-plan and quiet spaces.</a:t>
            </a:r>
          </a:p>
          <a:p>
            <a:r>
              <a:t>I use uncountable nouns (equipment, furniture) and there are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ideal office in 60 seconds.</a:t>
            </a:r>
          </a:p>
          <a:p>
            <a:r>
              <a:t>8–10 | Listen to your recording. Check: equipment/furniture uncountable, there are, an open-plan.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72 · Coasting 混日子 / 躺平式工作</a:t>
            </a:r>
          </a:p>
          <a:p>
            <a:r>
              <a:t>Goal: discuss “coasting” at work: signs, causes, consequences and how to re-engage.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“coasting” 本义为”滑行”,用在工作中指”不求上进、轻松混日子”。“going through the motions” = 敷衍了事。</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what coasting means and how someone can move on from it.</a:t>
            </a:r>
          </a:p>
          <a:p>
            <a:r>
              <a:t>Say: what it is → why it happens → effects → how to re-engage.</a:t>
            </a:r>
          </a:p>
          <a:p>
            <a:r>
              <a:t>Useful starters: “Coasting means…” / “It usually happens when…” / “The danger is…” / “To re-engage, you could…”</a:t>
            </a:r>
          </a:p>
          <a:p>
            <a:r>
              <a:t>“coast” 滑行,“coast along” 得过且过。</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Coasting means doing the minimum needed to keep your job while putting little effort into improvement. It can happen after a promotion, after years in the same role, or when someone feels their work is not recognised. At first it feels comfortable: tasks are easy, stress is low and nobody complains. But over time, skills fall behind, motivation fades and colleagues may notice. A coasting employee is at risk if the company changes, because they have little to show for their recent years. Managers can help by offering new challenges, giving honest feedback and linking work to purpose. Individuals can ask: what would I like to learn this year? Small steps, such as taking on a project outside the usual duties, can bring energy back. Coasting can also be a short, healthy rest after a heavy period, provided it does not become permanent.</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When can coasting happen?</a:t>
            </a:r>
          </a:p>
          <a:p>
            <a:r>
              <a:t>A: After a promotion, after years in the same role, or when work isn’t recognised.</a:t>
            </a:r>
          </a:p>
          <a:p>
            <a:r>
              <a:t>Q2. Why is it risky?</a:t>
            </a:r>
          </a:p>
          <a:p>
            <a:r>
              <a:t>A: Skills fall behind and the person is vulnerable if the company changes.</a:t>
            </a:r>
          </a:p>
          <a:p>
            <a:r>
              <a:t>Q3. When can coasting be healthy?</a:t>
            </a:r>
          </a:p>
          <a:p>
            <a:r>
              <a:t>A: As a short rest after a heavy period, if it does not become permanent.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Coasting 混日子</a:t>
            </a:r>
          </a:p>
          <a:p>
            <a:r>
              <a:t>领读 → 学员跟读 → 请学员用表达造一个和自己工作相关的句子。</a:t>
            </a:r>
          </a:p>
          <a:p>
            <a:r>
              <a:t>coast (along) (verb) 得过且过 — “He’s just coasting along.”</a:t>
            </a:r>
          </a:p>
          <a:p>
            <a:r>
              <a:t>go through the motions (idiom) 敷衍了事 — “She’s going through the motions.”</a:t>
            </a:r>
          </a:p>
          <a:p>
            <a:r>
              <a:t>do the bare minimum (collocation) 只做最低限度 — “He does the bare minimum.”</a:t>
            </a:r>
          </a:p>
          <a:p>
            <a:r>
              <a:t>★ quiet quitting (noun) 静默离职(只做分内事) — “Quiet quitting means doing only your job.”</a:t>
            </a:r>
          </a:p>
          <a:p>
            <a:r>
              <a:t>★ phone it in (idiom) 敷衍了事 — “He phoned it in.”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Causes 原因</a:t>
            </a:r>
          </a:p>
          <a:p>
            <a:r>
              <a:t>领读 → 学员跟读 → 请学员用表达造一个和自己工作相关的句子。</a:t>
            </a:r>
          </a:p>
          <a:p>
            <a:r>
              <a:t>feel undervalued (collocation) 感到不被重视 — “He felt undervalued.”</a:t>
            </a:r>
          </a:p>
          <a:p>
            <a:r>
              <a:t>lose motivation (collocation) 失去动力 — “She lost motivation.”</a:t>
            </a:r>
          </a:p>
          <a:p>
            <a:r>
              <a:t>bored / unchallenged (adjective) 无聊/没有挑战 — “I feel unchallenged.”</a:t>
            </a:r>
          </a:p>
          <a:p>
            <a:r>
              <a:t>★ stuck in a rut (idiom) 一成不变 — “He’s stuck in a rut.”</a:t>
            </a:r>
          </a:p>
          <a:p>
            <a:r>
              <a:t>★ burnout recovery (noun) 倦怠后恢复 — “She’s in burnout recovery.”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Re-engaging 重新投入</a:t>
            </a:r>
          </a:p>
          <a:p>
            <a:r>
              <a:t>领读 → 学员跟读 → 请学员用表达造一个和自己工作相关的句子。</a:t>
            </a:r>
          </a:p>
          <a:p>
            <a:r>
              <a:t>re-engage (verb) 重新投入 — “Try to re-engage with your work.”</a:t>
            </a:r>
          </a:p>
          <a:p>
            <a:r>
              <a:t>take on a challenge (collocation) 接受挑战 — “Take on a new challenge.”</a:t>
            </a:r>
          </a:p>
          <a:p>
            <a:r>
              <a:t>set a stretch goal (collocation) 设定挑战目标 — “Set a stretch goal.”</a:t>
            </a:r>
          </a:p>
          <a:p>
            <a:r>
              <a:t>★ shake things up (idiom) 打破常规 — “Let’s shake things up.”</a:t>
            </a:r>
          </a:p>
          <a:p>
            <a:r>
              <a:t>★ rekindle (motivation) (verb) 重燃 — “Rekindle your passion.”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coasting / motions / minimum / undervalued / unchallenged / re-engage</a:t>
            </a:r>
          </a:p>
          <a:p>
            <a:r>
              <a:t>1. He’s just _______ along until retirement. → coasting</a:t>
            </a:r>
          </a:p>
          <a:p>
            <a:r>
              <a:t>2. She’s going through the _______. → motions</a:t>
            </a:r>
          </a:p>
          <a:p>
            <a:r>
              <a:t>3. He does the bare _______. → minimum</a:t>
            </a:r>
          </a:p>
          <a:p>
            <a:r>
              <a:t>4. I feel _______ and want recognition. → undervalued</a:t>
            </a:r>
          </a:p>
          <a:p>
            <a:r>
              <a:t>5. I feel _______ in this role. → unchallenged</a:t>
            </a:r>
          </a:p>
          <a:p>
            <a:r>
              <a:t>6. Let’s find a way to _______ with the work. → re-engage</a:t>
            </a:r>
          </a:p>
          <a:p>
            <a:r>
              <a:t>Mistake Watch: (搭配) go through the motions,coast along,the bare minimum;coast 不及物。</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honestly about motivation 坦诚谈动力</a:t>
            </a:r>
          </a:p>
          <a:p>
            <a:r>
              <a:t>情景：A manager checks in.</a:t>
            </a:r>
          </a:p>
          <a:p>
            <a:r>
              <a:t>Role A: Manager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noticed you seem less engaged lately. Is everything OK?</a:t>
            </a:r>
          </a:p>
          <a:p>
            <a:r>
              <a:t>B: I think I’ve been coasting. The work feels routine.</a:t>
            </a:r>
          </a:p>
          <a:p>
            <a:r>
              <a:t>A: Thanks for being honest. What would you like to change?</a:t>
            </a:r>
          </a:p>
          <a:p>
            <a:r>
              <a:t>B: I’d like a new challenge, something I haven’t done before.</a:t>
            </a:r>
          </a:p>
          <a:p>
            <a:r>
              <a:t>A: There’s a project on customer analytics. Would that interest you?</a:t>
            </a:r>
          </a:p>
          <a:p>
            <a:r>
              <a:t>B: Definitely. It would help me learn new skills.</a:t>
            </a:r>
          </a:p>
          <a:p>
            <a:r>
              <a:t>A: Let’s set a stretch goal and review in a month.</a:t>
            </a:r>
          </a:p>
          <a:p>
            <a:r>
              <a:t>B: Thank you. I feel energised already.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discuss motivation.</a:t>
            </a:r>
          </a:p>
          <a:p>
            <a:r>
              <a:t>Your role (A) | Manager.</a:t>
            </a:r>
          </a:p>
          <a:p>
            <a:r>
              <a:t>Partner’s role (B) | Employee. Situation: ______________</a:t>
            </a:r>
          </a:p>
          <a:p>
            <a:r>
              <a:t>Must use (3 or more) | seem less engaged · coasting · new challenge · stretch goal · energised</a:t>
            </a:r>
          </a:p>
          <a:p>
            <a:r>
              <a:t>Goal | Speak honestly and agree a challenge.</a:t>
            </a:r>
          </a:p>
          <a:p>
            <a:r>
              <a:t>My notes | ____________________________________________</a:t>
            </a:r>
          </a:p>
          <a:p>
            <a:r>
              <a:t>Mention an obstacle.</a:t>
            </a:r>
          </a:p>
          <a:p>
            <a:r>
              <a:t>Ask for training.</a:t>
            </a:r>
          </a:p>
          <a:p>
            <a:r>
              <a:t>Set a deadline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feedback about coasting 对混日子的同事提出反馈</a:t>
            </a:r>
          </a:p>
          <a:p>
            <a:r>
              <a:t>情景：A manager speaks to a long-serving employee.</a:t>
            </a:r>
          </a:p>
          <a:p>
            <a:r>
              <a:t>Role A: Manager Role B: Long-serving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You’ve done great work for years. Lately, I feel you’re not stretching yourself.</a:t>
            </a:r>
          </a:p>
          <a:p>
            <a:r>
              <a:t>B: Maybe. I’ve been in the same role for ten years.</a:t>
            </a:r>
          </a:p>
          <a:p>
            <a:r>
              <a:t>A: What would motivate you?</a:t>
            </a:r>
          </a:p>
          <a:p>
            <a:r>
              <a:t>B: Perhaps mentoring younger staff.</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good idea. It would use your experience.</a:t>
            </a:r>
          </a:p>
          <a:p>
            <a:r>
              <a:t>B: I’d enjoy it. I’ve been feeling a bit stuck in a rut.</a:t>
            </a:r>
          </a:p>
          <a:p>
            <a:r>
              <a:t>A: Let’s make a plan.</a:t>
            </a:r>
          </a:p>
          <a:p>
            <a:r>
              <a:t>B: Thanks for raising this kindly.</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give sensitive feedback.</a:t>
            </a:r>
          </a:p>
          <a:p>
            <a:r>
              <a:t>Your role (A) | Manager.</a:t>
            </a:r>
          </a:p>
          <a:p>
            <a:r>
              <a:t>Partner’s role (B) | Employee. Role: ______________</a:t>
            </a:r>
          </a:p>
          <a:p>
            <a:r>
              <a:t>Must use (3 or more) | not stretching yourself · same role · motivate you · stuck in a rut · make a plan</a:t>
            </a:r>
          </a:p>
          <a:p>
            <a:r>
              <a:t>Goal | Give kind but honest feedback and agree a new role.</a:t>
            </a:r>
          </a:p>
          <a:p>
            <a:r>
              <a:t>My notes | ____________________________________________</a:t>
            </a:r>
          </a:p>
          <a:p>
            <a:r>
              <a:t>Start with appreciation.</a:t>
            </a:r>
          </a:p>
          <a:p>
            <a:r>
              <a:t>Use facts, not labels.</a:t>
            </a:r>
          </a:p>
          <a:p>
            <a:r>
              <a:t>Offer options.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coasting the employee’s fault or the company’s? | “Both, but…”</a:t>
            </a:r>
          </a:p>
          <a:p>
            <a:r>
              <a:t>2. Is “quiet quitting” a problem? | “It depends on…”</a:t>
            </a:r>
          </a:p>
          <a:p>
            <a:r>
              <a:t>3. Can everyone be highly motivated all the time? | “No, because…”</a:t>
            </a:r>
          </a:p>
          <a:p>
            <a:r>
              <a:t>4. What would re-energise you at work? | “A new… / More…”</a:t>
            </a:r>
          </a:p>
          <a:p>
            <a:r>
              <a:t>5. How should managers treat a coasting employee? | “They should…”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don’t think anyone can be highly motivated all the time. Energy goes up and down, and people have different priorities at different life stages. The problem is when low motivation lasts for years and nobody addresses it. A good manager will talk to the person and look for new challenges.”</a:t>
            </a:r>
          </a:p>
          <a:p>
            <a:r>
              <a:t>“addresses” = 正视处理;“life stages” 人生阶段。</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sensitive feedback 给予敏感反馈</a:t>
            </a:r>
          </a:p>
          <a:p>
            <a:r>
              <a:t>Blunt | Tactful</a:t>
            </a:r>
          </a:p>
          <a:p>
            <a:r>
              <a:t>You’re lazy. | I’ve noticed you seem less engaged lately.</a:t>
            </a:r>
          </a:p>
          <a:p>
            <a:r>
              <a:t>You do nothing. | I feel there’s room to take on more.</a:t>
            </a:r>
          </a:p>
          <a:p>
            <a:r>
              <a:t>You don’t care. | Is something affecting your motivation?</a:t>
            </a:r>
          </a:p>
          <a:p>
            <a:r>
              <a:t>You’re useless. | I think you could do more with your strengths.</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sensitive feedback 给予敏感反馈</a:t>
            </a:r>
          </a:p>
          <a:p>
            <a:r>
              <a:t>Use “I’ve noticed… I feel… Would you…?” to open a feedback talk.</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coasting in his work.  →  ✓ He is coasting at work.  (at work)</a:t>
            </a:r>
          </a:p>
          <a:p>
            <a:r>
              <a:t>✗ I’m bored with my work, so I don’t have motivation.  →  ✓ I’m bored, so I’ve lost motivation.  (搭配)</a:t>
            </a:r>
          </a:p>
          <a:p>
            <a:r>
              <a:t>✗ I’m lazy to work.  →  ✓ I don’t feel like working.  (自然)</a:t>
            </a:r>
          </a:p>
          <a:p>
            <a:r>
              <a:t>Mistake Watch: Check at work, feel stuck, uncountable effort, make an effort.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feel myself stuck.  →  ✓ I feel stuck.  (feel stuck)</a:t>
            </a:r>
          </a:p>
          <a:p>
            <a:r>
              <a:t>✗ She doesn’t do enough efforts.  →  ✓ She doesn’t make enough effort.  (effort 不可数)</a:t>
            </a:r>
          </a:p>
          <a:p>
            <a:r>
              <a:t>✗ I am boring at work.  →  ✓ I am bored at work.  (-ed 表感受)</a:t>
            </a:r>
          </a:p>
          <a:p>
            <a:r>
              <a:t>Mistake Watch: Check at work, feel stuck, uncountable effort, make an effort.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Quiet quitting is debated; some see it as healthy boundaries.</a:t>
            </a:r>
          </a:p>
          <a:p>
            <a:r>
              <a:t>Feedback should be private. Don’t discuss someone’s motivation in public.</a:t>
            </a:r>
          </a:p>
          <a:p>
            <a:r>
              <a:t>Offer, don’t order. “Would you be interested in…” works better.</a:t>
            </a:r>
          </a:p>
          <a:p>
            <a:r>
              <a:t>Self-reflection. Admitting you’ve been coasting needs trust.</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coasting and its effects.</a:t>
            </a:r>
          </a:p>
          <a:p>
            <a:r>
              <a:t>I can give sensitive feedback politely.</a:t>
            </a:r>
          </a:p>
          <a:p>
            <a:r>
              <a:t>I can talk about my own motivation honestly.</a:t>
            </a:r>
          </a:p>
          <a:p>
            <a:r>
              <a:t>I use at work, feel stuck and uncountable effort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coasting and a solution in 60 seconds.</a:t>
            </a:r>
          </a:p>
          <a:p>
            <a:r>
              <a:t>8–10 | Listen to your recording. Check: at work, feel stuck, effort uncountable.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73 · Ageism in the workplace 职场年龄歧视</a:t>
            </a:r>
          </a:p>
          <a:p>
            <a:r>
              <a:t>Goal: discuss age discrimination at work in a respectful way, challenge stereotypes and describe inclusive practices.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“ageism” = 年龄歧视。谈年龄话题要避免绝对化,多用 “some people may assume…”。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ageism is and how companies can reduce it.</a:t>
            </a:r>
          </a:p>
          <a:p>
            <a:r>
              <a:t>Say: definition → examples → effects → solutions.</a:t>
            </a:r>
          </a:p>
          <a:p>
            <a:r>
              <a:t>Useful starters: “Ageism is…” / “For example, …” / “This can lead to…” / “Companies can reduce it by…”</a:t>
            </a:r>
          </a:p>
          <a:p>
            <a:r>
              <a:t>“reduce it by + -ing” 通过…来减少它。</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Ageism means treating people unfairly because of their age. It affects both older and younger workers. Older employees may be assumed to resist change or to find technology difficult, while younger ones may be seen as inexperienced or not loyal. These assumptions rarely match individuals, but they can influence hiring, promotion and training. The consequences include lost talent, lower morale and legal risks, since many countries ban age discrimination. Companies can reduce it by removing dates of birth from applications, offering training to all ages, and building mixed-age teams where people learn from one another. A growing idea is “reverse mentoring”, where younger staff teach digital skills while older colleagues share judgement and experience. The best teams value what each generation brings, instead of focusing on age alone.</a:t>
            </a:r>
          </a:p>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Give an assumption about older employees.</a:t>
            </a:r>
          </a:p>
          <a:p>
            <a:r>
              <a:t>A: They resist change or find technology difficult.</a:t>
            </a:r>
          </a:p>
          <a:p>
            <a:r>
              <a:t>Q2. Give an assumption about younger employees.</a:t>
            </a:r>
          </a:p>
          <a:p>
            <a:r>
              <a:t>A: They are inexperienced or not loyal.</a:t>
            </a:r>
          </a:p>
          <a:p>
            <a:r>
              <a:t>Q3. What is reverse mentoring?</a:t>
            </a:r>
          </a:p>
          <a:p>
            <a:r>
              <a:t>A: Younger staff teach digital skills while older colleagues share judgement and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Age and work 年龄与工作</a:t>
            </a:r>
          </a:p>
          <a:p>
            <a:r>
              <a:t>领读 → 学员跟读 → 请学员用表达造一个和自己工作相关的句子。</a:t>
            </a:r>
          </a:p>
          <a:p>
            <a:r>
              <a:t>ageism / age discrimination (noun) 年龄歧视 — “Ageism is illegal in many countries.”</a:t>
            </a:r>
          </a:p>
          <a:p>
            <a:r>
              <a:t>stereotype (noun) 刻板印象 — “Don’t stereotype older workers.”</a:t>
            </a:r>
          </a:p>
          <a:p>
            <a:r>
              <a:t>experienced / seasoned (adjective) 经验丰富的 — “She’s a seasoned manager.”</a:t>
            </a:r>
          </a:p>
          <a:p>
            <a:r>
              <a:t>★ over the hill (idiom) (贬义)过气 — “Calling someone over the hill is offensive.”</a:t>
            </a:r>
          </a:p>
          <a:p>
            <a:r>
              <a:t>★ glass ceiling (noun) 无形的晋升天花板 — “Age can create a glass ceiling.”</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Inclusion 包容</a:t>
            </a:r>
          </a:p>
          <a:p>
            <a:r>
              <a:t>领读 → 学员跟读 → 请学员用表达造一个和自己工作相关的句子。</a:t>
            </a:r>
          </a:p>
          <a:p>
            <a:r>
              <a:t>age-diverse team (noun) 年龄多元团队 — “We have an age-diverse team.”</a:t>
            </a:r>
          </a:p>
          <a:p>
            <a:r>
              <a:t>equal opportunities (noun) 平等机会 — “We are an equal opportunities employer.”</a:t>
            </a:r>
          </a:p>
          <a:p>
            <a:r>
              <a:t>reverse mentoring (noun) 反向导师制 — “We run reverse mentoring.”</a:t>
            </a:r>
          </a:p>
          <a:p>
            <a:r>
              <a:t>★ multigenerational workforce (noun) 多代同堂的员工队伍 — “We have a multigenerational workforce.”</a:t>
            </a:r>
          </a:p>
          <a:p>
            <a:r>
              <a:t>★ phased retirement (noun) 渐进式退休 — “He chose phased retirement.”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Effects 影响</a:t>
            </a:r>
          </a:p>
          <a:p>
            <a:r>
              <a:t>领读 → 学员跟读 → 请学员用表达造一个和自己工作相关的句子。</a:t>
            </a:r>
          </a:p>
          <a:p>
            <a:r>
              <a:t>overlooked for promotion (collocation) 被忽视晋升 — “She was overlooked for promotion.”</a:t>
            </a:r>
          </a:p>
          <a:p>
            <a:r>
              <a:t>make redundant (collocation) 裁员 — “He was made redundant at 58.”</a:t>
            </a:r>
          </a:p>
          <a:p>
            <a:r>
              <a:t>retain talent (collocation) 留住人才 — “We want to retain talent.”</a:t>
            </a:r>
          </a:p>
          <a:p>
            <a:r>
              <a:t>★ knowledge drain (noun) 知识流失 — “Early retirement caused a knowledge drain.”</a:t>
            </a:r>
          </a:p>
          <a:p>
            <a:r>
              <a:t>★ unconscious assumptions (noun) 无意识假设 — “We challenge unconscious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ageism / stereotype / diverse / opportunities / overlooked / retire</a:t>
            </a:r>
          </a:p>
          <a:p>
            <a:r>
              <a:t>1. _______ is illegal in many countries. → Ageism</a:t>
            </a:r>
          </a:p>
          <a:p>
            <a:r>
              <a:t>2. We shouldn’t _______ older workers. → stereotype</a:t>
            </a:r>
          </a:p>
          <a:p>
            <a:r>
              <a:t>3. We have an age-_______ team. → diverse</a:t>
            </a:r>
          </a:p>
          <a:p>
            <a:r>
              <a:t>4. We are an equal _______ employer. → opportunities</a:t>
            </a:r>
          </a:p>
          <a:p>
            <a:r>
              <a:t>5. She was _______ for promotion. → overlooked</a:t>
            </a:r>
          </a:p>
          <a:p>
            <a:r>
              <a:t>6. He chose to _______ gradually. → retire</a:t>
            </a:r>
          </a:p>
          <a:p>
            <a:r>
              <a:t>Mistake Watch: (搭配) be overlooked FOR promotion,made redundant(英)/ laid off(美);discriminate AGAINST someone。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Challenging an assumption 质疑一种假设</a:t>
            </a:r>
          </a:p>
          <a:p>
            <a:r>
              <a:t>情景：A colleague makes a comment.</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shouldn’t give the new system to Mark. He’s close to retirement and probably won’t learn it.</a:t>
            </a:r>
          </a:p>
          <a:p>
            <a:r>
              <a:t>B: I’d be careful about that assumption. Mark has learned every system we’ve introduced.</a:t>
            </a:r>
          </a:p>
          <a:p>
            <a:r>
              <a:t>A: But he’s older.</a:t>
            </a:r>
          </a:p>
          <a:p>
            <a:r>
              <a:t>B: Age doesn’t tell us how quickly someone learns. Why not ask him?</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have a point.</a:t>
            </a:r>
          </a:p>
          <a:p>
            <a:r>
              <a:t>B: Also, his experience would help us find problems early.</a:t>
            </a:r>
          </a:p>
          <a:p>
            <a:r>
              <a:t>A: OK, let’s include him.</a:t>
            </a:r>
          </a:p>
          <a:p>
            <a:r>
              <a:t>B: I think the whole team will benefit.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challenge an assumption tactfully.</a:t>
            </a:r>
          </a:p>
          <a:p>
            <a:r>
              <a:t>Your role (A) | Colleague with assumption: ______________</a:t>
            </a:r>
          </a:p>
          <a:p>
            <a:r>
              <a:t>Partner’s role (B) | You.</a:t>
            </a:r>
          </a:p>
          <a:p>
            <a:r>
              <a:t>Must use (3 or more) | I’d be careful about… · assumption · age doesn’t tell us · Why not ask? · benefit</a:t>
            </a:r>
          </a:p>
          <a:p>
            <a:r>
              <a:t>Goal | Disagree politely, give a reason and suggest a fair alternative.</a:t>
            </a:r>
          </a:p>
          <a:p>
            <a:r>
              <a:t>My notes | ____________________________________________</a:t>
            </a:r>
          </a:p>
          <a:p>
            <a:r>
              <a:t>Use “some people may assume…”</a:t>
            </a:r>
          </a:p>
          <a:p>
            <a:r>
              <a:t>Offer evidence.</a:t>
            </a:r>
          </a:p>
          <a:p>
            <a:r>
              <a:t>Ask the person himself.</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age-inclusive hiring 说明年龄包容的招聘</a:t>
            </a:r>
          </a:p>
          <a:p>
            <a:r>
              <a:t>情景：HR explains to a manager.</a:t>
            </a:r>
          </a:p>
          <a:p>
            <a:r>
              <a:t>Role A: HR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want to remove dates of birth from applications.</a:t>
            </a:r>
          </a:p>
          <a:p>
            <a:r>
              <a:t>B: Why?</a:t>
            </a:r>
          </a:p>
          <a:p>
            <a:r>
              <a:t>A: To reduce unconscious bias. Candidates will be judged on skills.</a:t>
            </a:r>
          </a:p>
          <a:p>
            <a:r>
              <a:t>B: Will that help?</a:t>
            </a:r>
          </a:p>
          <a:p>
            <a:r>
              <a:t>A: Yes, and we’ll advertise the roles as open to all ages.</a:t>
            </a:r>
          </a:p>
          <a:p>
            <a:r>
              <a:t>B: What about interviews?</a:t>
            </a:r>
          </a:p>
          <a:p>
            <a:r>
              <a:t>A: We’ll use the same structured questions for everyone.</a:t>
            </a:r>
          </a:p>
          <a:p>
            <a:r>
              <a:t>B: That sounds fair. Let’s pilot it.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introduce an inclusive process.</a:t>
            </a:r>
          </a:p>
          <a:p>
            <a:r>
              <a:t>Your role (A) | HR.</a:t>
            </a:r>
          </a:p>
          <a:p>
            <a:r>
              <a:t>Partner’s role (B) | Manager. Role: ______________</a:t>
            </a:r>
          </a:p>
          <a:p>
            <a:r>
              <a:t>Must use (3 or more) | dates of birth · unconscious bias · judged on skills · structured questions · pilot</a:t>
            </a:r>
          </a:p>
          <a:p>
            <a:r>
              <a:t>Goal | Explain steps and benefits.</a:t>
            </a:r>
          </a:p>
          <a:p>
            <a:r>
              <a:t>My notes | ____________________________________________</a:t>
            </a:r>
          </a:p>
          <a:p>
            <a:r>
              <a:t>Anticipate objections.</a:t>
            </a:r>
          </a:p>
          <a:p>
            <a:r>
              <a:t>Include training for managers.</a:t>
            </a:r>
          </a:p>
          <a:p>
            <a:r>
              <a:t>Plan how to measure results.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ageism as serious as other forms of discrimination? | “I think it’s equally… because…”</a:t>
            </a:r>
          </a:p>
          <a:p>
            <a:r>
              <a:t>2. Why might companies prefer younger or older staff? | “Some may think… but…”</a:t>
            </a:r>
          </a:p>
          <a:p>
            <a:r>
              <a:t>3. How can older and younger workers learn from each other? | “By… / Through…”</a:t>
            </a:r>
          </a:p>
          <a:p>
            <a:r>
              <a:t>4. Should there be a retirement age? | “I’m not sure, since…”</a:t>
            </a:r>
          </a:p>
          <a:p>
            <a:r>
              <a:t>5. Have you experienced age assumptions? | “Once, …”</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“Both groups can learn from each other. Younger colleagues often bring fresh ideas and digital skills, while older colleagues bring judgement, networks and calm under pressure. For example, in reverse mentoring, a junior shows a manager how to use a new tool, and the manager shares advice on handling clients. Everyone gains.”</a:t>
            </a:r>
          </a:p>
          <a:p>
            <a:r>
              <a:t>“calm under pressure” 压力下保持冷静;“Everyone gains.” 大家都受益。</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respectful language 使用得体的语言</a:t>
            </a:r>
          </a:p>
          <a:p>
            <a:r>
              <a:t>Avoid | Prefer</a:t>
            </a:r>
          </a:p>
          <a:p>
            <a:r>
              <a:t>old people | older people / older employees</a:t>
            </a:r>
          </a:p>
          <a:p>
            <a:r>
              <a:t>the elderly | older adults</a:t>
            </a:r>
          </a:p>
          <a:p>
            <a:r>
              <a:t>young kids at work | early-career colleagues</a:t>
            </a:r>
          </a:p>
          <a:p>
            <a:r>
              <a:t>He’s too old to learn. | He may need time, like anyone.</a:t>
            </a:r>
          </a:p>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respectful language 使用得体的语言</a:t>
            </a:r>
          </a:p>
          <a:p>
            <a:r>
              <a:t>Use “some”, “may”, “tend to” and person-first language to avoid stereotyping.</a:t>
            </a:r>
          </a:p>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old people can’t use computers.  →  ✓ Some older people find technology difficult.  (避免绝对)</a:t>
            </a:r>
          </a:p>
          <a:p>
            <a:r>
              <a:t>✗ He is 50 years old man.  →  ✓ He is a 50-year-old man.  (复合形容词)</a:t>
            </a:r>
          </a:p>
          <a:p>
            <a:r>
              <a:t>✗ She was treated unfair.  →  ✓ She was treated unfairly.  (副词)</a:t>
            </a:r>
          </a:p>
          <a:p>
            <a:r>
              <a:t>Mistake Watch: Check discriminate against, a 50-year-old man, adverbs, because of.</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discriminate on older workers.  →  ✓ They discriminate against older workers.  (against)</a:t>
            </a:r>
          </a:p>
          <a:p>
            <a:r>
              <a:t>✗ I am 40 years.  →  ✓ I am 40 (years old).  (years old)</a:t>
            </a:r>
          </a:p>
          <a:p>
            <a:r>
              <a:t>✗ He was fired because he is old.  →  ✓ He was dismissed because of his age.  (because of + 名词)</a:t>
            </a:r>
          </a:p>
          <a:p>
            <a:r>
              <a:t>Mistake Watch: Check discriminate against, a 50-year-old man, adverbs, because of.</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ask about age. In many countries, it’s inappropriate or illegal in interviews.</a:t>
            </a:r>
          </a:p>
          <a:p>
            <a:r>
              <a:t>Avoid age jokes. “Back in my day” or “kids these days” can offend.</a:t>
            </a:r>
          </a:p>
          <a:p>
            <a:r>
              <a:t>Say “experience” rather than “old”.</a:t>
            </a:r>
          </a:p>
          <a:p>
            <a:r>
              <a:t>Use skills-based language. Focus on what people can do.</a:t>
            </a:r>
          </a:p>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ageism and its effects.</a:t>
            </a:r>
          </a:p>
          <a:p>
            <a:r>
              <a:t>I can challenge assumptions politely.</a:t>
            </a:r>
          </a:p>
          <a:p>
            <a:r>
              <a:t>I can describe inclusive practices.</a:t>
            </a:r>
          </a:p>
          <a:p>
            <a:r>
              <a:t>I use discriminate against, 50-year-old and because of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Politely challenge an age-based comment in 3 sentences.</a:t>
            </a:r>
          </a:p>
          <a:p>
            <a:r>
              <a:t>8–10 | Listen to your recording. Check: discriminate against, 50-year-old, adverbs.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74 · Generational stereotypes at work 职场中的代际刻板印象</a:t>
            </a:r>
          </a:p>
          <a:p>
            <a:r>
              <a:t>Goal: talk about generational differences without stereotyping, and suggest how to work well across generations.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“stereotype” = 刻板印象。“Gen Z” Z 世代,“boomers” 婴儿潮一代。第 5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generational differences and why we should be careful with stereotypes.</a:t>
            </a:r>
          </a:p>
          <a:p>
            <a:r>
              <a:t>Say: common stereotype → reality → why it matters → advice.</a:t>
            </a:r>
          </a:p>
          <a:p>
            <a:r>
              <a:t>Useful starters: “People often say that…” / “In reality, …” / “It’s more useful to look at…” / “To work well together, we can…”</a:t>
            </a:r>
          </a:p>
          <a:p>
            <a:r>
              <a:t>“In reality” = 实际上;“it’s more useful to…” 更有用的是…</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Popular articles often describe generations in simple terms: older workers are loyal but resistant to change; millennials want meaning and flexibility; Gen Z is digital but impatient. These labels are easy to remember, but researchers find that differences within a generation are often larger than differences between generations. What looks like a generational trait may actually be about career stage, personality or life circumstances. A 25-year-old and a 55-year-old may both want more flexibility, but for different reasons. Treating individuals as representatives of a group can lead to misunderstandings and unfair decisions. More useful questions are: what does this person need to do their best work, and how do they prefer to communicate? Mixed-age teams work best when people stay curious, ask rather than assume, and respect different styles.</a:t>
            </a:r>
          </a:p>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researchers find about differences within a generation?</a:t>
            </a:r>
          </a:p>
          <a:p>
            <a:r>
              <a:t>A: They are often larger than differences between generations.</a:t>
            </a:r>
          </a:p>
          <a:p>
            <a:r>
              <a:t>Q2. What might look like a generational trait?</a:t>
            </a:r>
          </a:p>
          <a:p>
            <a:r>
              <a:t>A: Career stage, personality or life circumstances.</a:t>
            </a:r>
          </a:p>
          <a:p>
            <a:r>
              <a:t>Q3. What are more useful questions?</a:t>
            </a:r>
          </a:p>
          <a:p>
            <a:r>
              <a:t>A: What does this person need to do their best work, and how do they prefer to communicate?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Generations 代际</a:t>
            </a:r>
          </a:p>
          <a:p>
            <a:r>
              <a:t>领读 → 学员跟读 → 请学员用表达造一个和自己工作相关的句子。</a:t>
            </a:r>
          </a:p>
          <a:p>
            <a:r>
              <a:t>generation gap (noun) 代沟 — “There’s a generation gap.”</a:t>
            </a:r>
          </a:p>
          <a:p>
            <a:r>
              <a:t>millennial / Gen Z / boomer (noun) 千禧一代/Z世代/婴儿潮 — “Gen Z grew up with phones.”</a:t>
            </a:r>
          </a:p>
          <a:p>
            <a:r>
              <a:t>stereotype / generalisation (noun) 刻板印象/概括 — “That’s a generalisation.”</a:t>
            </a:r>
          </a:p>
          <a:p>
            <a:r>
              <a:t>★ OK boomer (phrase) 年轻人对老一辈的调侃(可能冒犯) — “‘OK boomer’ can be dismissive.”</a:t>
            </a:r>
          </a:p>
          <a:p>
            <a:r>
              <a:t>★ digital native (noun) 数字原住民 — “Digital natives adapt quickly.”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Differences 差异</a:t>
            </a:r>
          </a:p>
          <a:p>
            <a:r>
              <a:t>领读 → 学员跟读 → 请学员用表达造一个和自己工作相关的句子。</a:t>
            </a:r>
          </a:p>
          <a:p>
            <a:r>
              <a:t>communication style (noun) 沟通风格 — “Communication styles differ.”</a:t>
            </a:r>
          </a:p>
          <a:p>
            <a:r>
              <a:t>work ethic (noun) 职业道德 — “He has a strong work ethic.”</a:t>
            </a:r>
          </a:p>
          <a:p>
            <a:r>
              <a:t>expectations (noun) 期望 — “Expectations about flexibility differ.”</a:t>
            </a:r>
          </a:p>
          <a:p>
            <a:r>
              <a:t>★ a one-size-fits-all approach (noun) 一刀切方式 — “A one-size-fits-all approach fails.”</a:t>
            </a:r>
          </a:p>
          <a:p>
            <a:r>
              <a:t>★ common ground (noun) 共同点 — “We found common ground.”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Working together 合作</a:t>
            </a:r>
          </a:p>
          <a:p>
            <a:r>
              <a:t>领读 → 学员跟读 → 请学员用表达造一个和自己工作相关的句子。</a:t>
            </a:r>
          </a:p>
          <a:p>
            <a:r>
              <a:t>mixed-age team (noun) 混龄团队 — “We run mixed-age teams.”</a:t>
            </a:r>
          </a:p>
          <a:p>
            <a:r>
              <a:t>learn from one another (collocation) 互相学习 — “We learn from one another.”</a:t>
            </a:r>
          </a:p>
          <a:p>
            <a:r>
              <a:t>bridge the gap (collocation) 弥合差距 — “Let’s bridge the gap.”</a:t>
            </a:r>
          </a:p>
          <a:p>
            <a:r>
              <a:t>★ give the benefit of the doubt (collocation) 善意推定 — “Give people the benefit of the doubt.”</a:t>
            </a:r>
          </a:p>
          <a:p>
            <a:r>
              <a:t>★ avoid jumping to conclusions (collocation) 避免妄下结论 — “Avoid jumping to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gap / natives / ethic / style / ground / conclusions</a:t>
            </a:r>
          </a:p>
          <a:p>
            <a:r>
              <a:t>1. There’s a generation _______ in the office. → gap</a:t>
            </a:r>
          </a:p>
          <a:p>
            <a:r>
              <a:t>2. Digital _______ adapt quickly. → natives</a:t>
            </a:r>
          </a:p>
          <a:p>
            <a:r>
              <a:t>3. He has a strong work _______. → ethic</a:t>
            </a:r>
          </a:p>
          <a:p>
            <a:r>
              <a:t>4. Communication _______ differs by person. → style</a:t>
            </a:r>
          </a:p>
          <a:p>
            <a:r>
              <a:t>5. We found common _______. → ground</a:t>
            </a:r>
          </a:p>
          <a:p>
            <a:r>
              <a:t>6. Avoid jumping to _______. → conclusions</a:t>
            </a:r>
          </a:p>
          <a:p>
            <a:r>
              <a:t>Mistake Watch: (搭配) bridge the gap, find common ground, work ethic (不可数)。</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 misunderstanding 处理误会</a:t>
            </a:r>
          </a:p>
          <a:p>
            <a:r>
              <a:t>情景：An older manager and a younger employee talk.</a:t>
            </a:r>
          </a:p>
          <a:p>
            <a:r>
              <a:t>Role A: Manager Role B: Younger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was surprised you sent me a message instead of calling.</a:t>
            </a:r>
          </a:p>
          <a:p>
            <a:r>
              <a:t>B: I usually message, so I thought it’d be quicker.</a:t>
            </a:r>
          </a:p>
          <a:p>
            <a:r>
              <a:t>A: I see. I prefer calling for urgent things.</a:t>
            </a:r>
          </a:p>
          <a:p>
            <a:r>
              <a:t>B: I didn’t realise. I’m happy to call when it’s urgent.</a:t>
            </a:r>
          </a:p>
          <a:p>
            <a:r>
              <a:t>A: And I can try messaging for small questions.</a:t>
            </a:r>
          </a:p>
          <a:p>
            <a:r>
              <a:t>B: That would work.</a:t>
            </a:r>
          </a:p>
          <a:p>
            <a:r>
              <a:t>A: Let’s agree on a way to flag urgent issues.</a:t>
            </a:r>
          </a:p>
          <a:p>
            <a:r>
              <a:t>B: Good idea. Thanks for talking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15 | </a:t>
            </a:r>
          </a:p>
          <a:p>
            <a:r>
              <a:t>Situation | You resolve a style difference.</a:t>
            </a:r>
          </a:p>
          <a:p>
            <a:r>
              <a:t>Your role (A) | Manager.</a:t>
            </a:r>
          </a:p>
          <a:p>
            <a:r>
              <a:t>Partner’s role (B) | Employee. Issue: ______________</a:t>
            </a:r>
          </a:p>
          <a:p>
            <a:r>
              <a:t>Must use (3 or more) | I prefer… · I didn’t realise · quicker · agree on a way · common ground</a:t>
            </a:r>
          </a:p>
          <a:p>
            <a:r>
              <a:t>Goal | Explain preferences without blaming and agree a compromise.</a:t>
            </a:r>
          </a:p>
          <a:p>
            <a:r>
              <a:t>My notes | ____________________________________________</a:t>
            </a:r>
          </a:p>
          <a:p>
            <a:r>
              <a:t>Avoid generational labels.</a:t>
            </a:r>
          </a:p>
          <a:p>
            <a:r>
              <a:t>Ask about the other person’s reasons.</a:t>
            </a:r>
          </a:p>
          <a:p>
            <a:r>
              <a:t>Write down the agreement.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stereotypes 讨论刻板印象</a:t>
            </a:r>
          </a:p>
          <a:p>
            <a:r>
              <a:t>情景：Two colleagues chat.</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People say Gen Z is lazy and impatient.</a:t>
            </a:r>
          </a:p>
          <a:p>
            <a:r>
              <a:t>B: I think that’s a generalisation. My team’s Gen Z members work hard.</a:t>
            </a:r>
          </a:p>
          <a:p>
            <a:r>
              <a:t>A: Perhaps. But they ask for flexibility a lot.</a:t>
            </a:r>
          </a:p>
          <a:p>
            <a:r>
              <a:t>B: So do many older people, they just ask differently.</a:t>
            </a:r>
          </a:p>
          <a:p>
            <a:r>
              <a:t>A: That’s true. My father wants flexible hours too.</a:t>
            </a:r>
          </a:p>
          <a:p>
            <a:r>
              <a:t>B: Right. It’s more about life stage than age.</a:t>
            </a:r>
          </a:p>
          <a:p>
            <a:r>
              <a:t>A: I’ll try to avoid jumping to conclusions.</a:t>
            </a:r>
          </a:p>
          <a:p>
            <a:r>
              <a:t>B: Me too. It makes teamwork easier.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16 | </a:t>
            </a:r>
          </a:p>
          <a:p>
            <a:r>
              <a:t>Situation | You discuss stereotypes.</a:t>
            </a:r>
          </a:p>
          <a:p>
            <a:r>
              <a:t>Your role (A) | Colleague.</a:t>
            </a:r>
          </a:p>
          <a:p>
            <a:r>
              <a:t>Partner’s role (B) | Colleague. Stereotype: ______________</a:t>
            </a:r>
          </a:p>
          <a:p>
            <a:r>
              <a:t>Must use (3 or more) | generalisation · life stage · jumping to conclusions · so do many… · teamwork</a:t>
            </a:r>
          </a:p>
          <a:p>
            <a:r>
              <a:t>Goal | Question a stereotype with examples.</a:t>
            </a:r>
          </a:p>
          <a:p>
            <a:r>
              <a:t>My notes | ____________________________________________</a:t>
            </a:r>
          </a:p>
          <a:p>
            <a:r>
              <a:t>Use data.</a:t>
            </a:r>
          </a:p>
          <a:p>
            <a:r>
              <a:t>Share a personal story.</a:t>
            </a:r>
          </a:p>
          <a:p>
            <a:r>
              <a:t>End with an action.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Are generational differences real? | “Some, but…”</a:t>
            </a:r>
          </a:p>
          <a:p>
            <a:r>
              <a:t>2. What stereotype about your generation is wrong? | “People say… but actually…”</a:t>
            </a:r>
          </a:p>
          <a:p>
            <a:r>
              <a:t>3. How do different generations prefer to communicate? | “Some prefer… whereas…”</a:t>
            </a:r>
          </a:p>
          <a:p>
            <a:r>
              <a:t>4. What can older colleagues learn from younger ones? | “They can learn…”</a:t>
            </a:r>
          </a:p>
          <a:p>
            <a:r>
              <a:t>5. How can managers avoid stereotyping? | “By asking… / They should…”</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there are some differences in habits, such as preferred channels. However, many of the”differences” people mention are really about career stage or personality. A 25-year-old and a 55-year-old can both love technology or hate meetings. So it’s better to treat people as individuals.”</a:t>
            </a:r>
          </a:p>
          <a:p>
            <a:r>
              <a:t>“preferred channels” 偏好的沟通渠道;“treat people as individuals” 把人当作个体。</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Generalising carefully 谨慎地概括</a:t>
            </a:r>
          </a:p>
          <a:p>
            <a:r>
              <a:t>Too strong | Hedged</a:t>
            </a:r>
          </a:p>
          <a:p>
            <a:r>
              <a:t>Millennials are lazy. | Some people say millennials are lazy, but that’s a generalisation.</a:t>
            </a:r>
          </a:p>
          <a:p>
            <a:r>
              <a:t>Old people hate change. | Some people find change harder.</a:t>
            </a:r>
          </a:p>
          <a:p>
            <a:r>
              <a:t>All Gen Z want money. | Many people in Gen Z value flexibility.</a:t>
            </a:r>
          </a:p>
          <a:p>
            <a:r>
              <a:t>They never listen. | They sometimes seem not to listen; maybe we communicate differently.</a:t>
            </a:r>
          </a:p>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Generalising carefully 谨慎地概括</a:t>
            </a:r>
          </a:p>
          <a:p>
            <a:r>
              <a:t>Use “some”, “many”, “tend to”, “may” and “it seems”.</a:t>
            </a:r>
          </a:p>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All young people is lazy.  →  ✓ Not all young people are lazy.  (复数)</a:t>
            </a:r>
          </a:p>
          <a:p>
            <a:r>
              <a:t>✗ Gen Z’s are impatient.  →  ✓ Gen Z is impatient. / Gen Zers are impatient.  (无撇号)</a:t>
            </a:r>
          </a:p>
          <a:p>
            <a:r>
              <a:t>✗ The younger are better at technology.  →  ✓ Younger people are often better at technology.  (形容词)</a:t>
            </a:r>
          </a:p>
          <a:p>
            <a:r>
              <a:t>Mistake Watch: Check plural agreement, the same as, object pronouns, hedging.</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different opinion.  →  ✓ We have different opinions.  (opinions)</a:t>
            </a:r>
          </a:p>
          <a:p>
            <a:r>
              <a:t>✗ There is a generation gap between we.  →  ✓ …between us.  (宾格)</a:t>
            </a:r>
          </a:p>
          <a:p>
            <a:r>
              <a:t>✗ I’m same as you.  →  ✓ I’m the same as you.  (the same)</a:t>
            </a:r>
          </a:p>
          <a:p>
            <a:r>
              <a:t>Mistake Watch: Check plural agreement, the same as, object pronouns, hedging.</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Avoid generation jokes in work settings.</a:t>
            </a:r>
          </a:p>
          <a:p>
            <a:r>
              <a:t>Ask about preferences. “How do you like to receive feedback?”</a:t>
            </a:r>
          </a:p>
          <a:p>
            <a:r>
              <a:t>Respect experience and fresh ideas. Both matter.</a:t>
            </a:r>
          </a:p>
          <a:p>
            <a:r>
              <a:t>Be careful with slang. “OK boomer” can sound disrespectful.</a:t>
            </a:r>
          </a:p>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generation gaps without stereotyping.</a:t>
            </a:r>
          </a:p>
          <a:p>
            <a:r>
              <a:t>I can hedge generalisations.</a:t>
            </a:r>
          </a:p>
          <a:p>
            <a:r>
              <a:t>I can resolve a style difference politely.</a:t>
            </a:r>
          </a:p>
          <a:p>
            <a:r>
              <a:t>I use plural agreement and the same as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Question a stereotype in 60 seconds.</a:t>
            </a:r>
          </a:p>
          <a:p>
            <a:r>
              <a:t>8–10 | Listen to your recording. Check: plural agreement, the same as, pronouns.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75 · Business ethics 商业道德</a:t>
            </a:r>
          </a:p>
          <a:p>
            <a:r>
              <a:t>Goal: discuss ethical dilemmas in business, express principled opinions and say how you would respond to pressure.</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“ethics” 道德;“dilemma” 两难;“whistleblower” 举报人。第 4 题第二条件句。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an ethical dilemma and how to resolve it.</a:t>
            </a:r>
          </a:p>
          <a:p>
            <a:r>
              <a:t>Say: the situation → the options → the principle → what you would do.</a:t>
            </a:r>
          </a:p>
          <a:p>
            <a:r>
              <a:t>Useful starters: “The dilemma is that…” / “On the one hand… on the other…” / “In my view, the right thing to do is…” / “I would…”</a:t>
            </a:r>
          </a:p>
          <a:p>
            <a:r>
              <a:t>“the right thing to do” 正确的做法。</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Ethical problems in business rarely announce themselves. A salesperson may be tempted to exaggerate a product’s benefits to meet a target. An accountant may be asked to adjust a figure “just this once”. A manager may discover that a supplier uses unsafe conditions. In such cases, a useful check is to ask three questions: Is it legal? Is it honest? Would I be comfortable if it appeared in the news? Companies support ethical behaviour with codes of conduct, training and confidential reporting lines. However, culture matters more than documents. If employees see leaders rewarding results regardless of how they were achieved, they will draw their own conclusions. Speaking up can be uncomfortable, but ethics is ultimately about choices made under pressure, not just beliefs held in peaceful times.</a:t>
            </a:r>
          </a:p>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three check questions?</a:t>
            </a:r>
          </a:p>
          <a:p>
            <a:r>
              <a:t>A: Is it legal? Is it honest? Would I be comfortable if it appeared in the news?</a:t>
            </a:r>
          </a:p>
          <a:p>
            <a:r>
              <a:t>Q2. Give an example of a typical ethical problem.</a:t>
            </a:r>
          </a:p>
          <a:p>
            <a:r>
              <a:t>A: Exaggerating product benefits, adjusting a figure, unsafe supplier conditions.</a:t>
            </a:r>
          </a:p>
          <a:p>
            <a:r>
              <a:t>Q3. Why does culture matter more than documents?</a:t>
            </a:r>
          </a:p>
          <a:p>
            <a:r>
              <a:t>A: Employees see what leaders reward and draw their own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Ethics 道德</a:t>
            </a:r>
          </a:p>
          <a:p>
            <a:r>
              <a:t>领读 → 学员跟读 → 请学员用表达造一个和自己工作相关的句子。</a:t>
            </a:r>
          </a:p>
          <a:p>
            <a:r>
              <a:t>ethical / unethical (adjective) 合乎/违背道德的 — “That would be unethical.”</a:t>
            </a:r>
          </a:p>
          <a:p>
            <a:r>
              <a:t>code of conduct (noun) 行为准则 — “Read the code of conduct.”</a:t>
            </a:r>
          </a:p>
          <a:p>
            <a:r>
              <a:t>conflict of interest (noun) 利益冲突 — “There’s a conflict of interest.”</a:t>
            </a:r>
          </a:p>
          <a:p>
            <a:r>
              <a:t>★ bend the rules (idiom) 打擦边球 — “Don’t bend the rules.”</a:t>
            </a:r>
          </a:p>
          <a:p>
            <a:r>
              <a:t>★ cut corners (idiom) 偷工减料 — “They cut corners to save money.”</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Wrongdoing 不当行为</a:t>
            </a:r>
          </a:p>
          <a:p>
            <a:r>
              <a:t>领读 → 学员跟读 → 请学员用表达造一个和自己工作相关的句子。</a:t>
            </a:r>
          </a:p>
          <a:p>
            <a:r>
              <a:t>bribe / bribery (noun) 贿赂 — “Bribery is illegal.”</a:t>
            </a:r>
          </a:p>
          <a:p>
            <a:r>
              <a:t>fraud (noun) 欺诈 — “He was accused of fraud.”</a:t>
            </a:r>
          </a:p>
          <a:p>
            <a:r>
              <a:t>misleading (adjective) 误导的 — “The advert is misleading.”</a:t>
            </a:r>
          </a:p>
          <a:p>
            <a:r>
              <a:t>★ greenwashing (noun) 漂绿 — “The campaign was greenwashing.”</a:t>
            </a:r>
          </a:p>
          <a:p>
            <a:r>
              <a:t>★ turn a blind eye (idiom) 视而不见 — “Managers turned a blind eye.”</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Responding 应对</a:t>
            </a:r>
          </a:p>
          <a:p>
            <a:r>
              <a:t>领读 → 学员跟读 → 请学员用表达造一个和自己工作相关的句子。</a:t>
            </a:r>
          </a:p>
          <a:p>
            <a:r>
              <a:t>speak up / blow the whistle (verb) 揭发 — “She blew the whistle.”</a:t>
            </a:r>
          </a:p>
          <a:p>
            <a:r>
              <a:t>whistleblower (noun) 举报人 — “Whistleblowers are protected.”</a:t>
            </a:r>
          </a:p>
          <a:p>
            <a:r>
              <a:t>report a concern (collocation) 报告问题 — “Report a concern confidentially.”</a:t>
            </a:r>
          </a:p>
          <a:p>
            <a:r>
              <a:t>★ take a stand (idiom) 表明立场 — “She took a stand against it.”</a:t>
            </a:r>
          </a:p>
          <a:p>
            <a:r>
              <a:t>★ do the right thing (idiom) 做正确的事 — “Do the right thing, even if it’s hard.”</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unethical / conduct / conflict / bribe / misleading / whistle</a:t>
            </a:r>
          </a:p>
          <a:p>
            <a:r>
              <a:t>1. That would be completely _______. → unethical</a:t>
            </a:r>
          </a:p>
          <a:p>
            <a:r>
              <a:t>2. Please read the code of _______. → conduct</a:t>
            </a:r>
          </a:p>
          <a:p>
            <a:r>
              <a:t>3. There is a _______ of interest. → conflict</a:t>
            </a:r>
          </a:p>
          <a:p>
            <a:r>
              <a:t>4. It is illegal to offer a _______. → bribe</a:t>
            </a:r>
          </a:p>
          <a:p>
            <a:r>
              <a:t>5. The advert is _______. → misleading</a:t>
            </a:r>
          </a:p>
          <a:p>
            <a:r>
              <a:t>6. She decided to blow the _______. → whistle</a:t>
            </a:r>
          </a:p>
          <a:p>
            <a:r>
              <a:t>Mistake Watch: (搭配) code of conduct,conflict OF interest,blow the whistle ON someone/something;bribe 名词/动词均可。</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Refusing to bend the rules 拒绝打擦边球</a:t>
            </a:r>
          </a:p>
          <a:p>
            <a:r>
              <a:t>情景：Your manager asks you to adjust numbers.</a:t>
            </a:r>
          </a:p>
          <a:p>
            <a:r>
              <a:t>Role A: Manager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you move this sale into this quarter so we hit the target?</a:t>
            </a:r>
          </a:p>
          <a:p>
            <a:r>
              <a:t>B: I’m not comfortable with that. The contract isn’t signed until next month.</a:t>
            </a:r>
          </a:p>
          <a:p>
            <a:r>
              <a:t>A: It’s just timing. Nobody will notice.</a:t>
            </a:r>
          </a:p>
          <a:p>
            <a:r>
              <a:t>B: I understand the pressure, but it would be misleading. Could we explain the situation instead?</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board won’t be happy.</a:t>
            </a:r>
          </a:p>
          <a:p>
            <a:r>
              <a:t>B: I’d rather tell them the truth than risk a bigger problem later.</a:t>
            </a:r>
          </a:p>
          <a:p>
            <a:r>
              <a:t>A: OK. Let’s talk about how to present it.</a:t>
            </a:r>
          </a:p>
          <a:p>
            <a:r>
              <a:t>B: I’ll prepare an honest report.</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17 | </a:t>
            </a:r>
          </a:p>
          <a:p>
            <a:r>
              <a:t>Situation | You refuse politely.</a:t>
            </a:r>
          </a:p>
          <a:p>
            <a:r>
              <a:t>Your role (A) | Manager. Request: ______________</a:t>
            </a:r>
          </a:p>
          <a:p>
            <a:r>
              <a:t>Partner’s role (B) | Employee.</a:t>
            </a:r>
          </a:p>
          <a:p>
            <a:r>
              <a:t>Must use (3 or more) | not comfortable with · misleading · I understand the pressure · I’d rather… · honest</a:t>
            </a:r>
          </a:p>
          <a:p>
            <a:r>
              <a:t>Goal | Refuse firmly but politely and offer an alternative.</a:t>
            </a:r>
          </a:p>
          <a:p>
            <a:r>
              <a:t>My notes | ____________________________________________</a:t>
            </a:r>
          </a:p>
          <a:p>
            <a:r>
              <a:t>Cite company policy.</a:t>
            </a:r>
          </a:p>
          <a:p>
            <a:r>
              <a:t>Escalate to someone else.</a:t>
            </a:r>
          </a:p>
          <a:p>
            <a:r>
              <a:t>Keep a record.</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dilemma 讨论两难</a:t>
            </a:r>
          </a:p>
          <a:p>
            <a:r>
              <a:t>情景：Two colleagues discuss a supplier issue.</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found out our supplier uses unsafe conditions. They’re cheap and reliable though.</a:t>
            </a:r>
          </a:p>
          <a:p>
            <a:r>
              <a:t>B: That’s a real dilemma. What does the code of conduct say?</a:t>
            </a:r>
          </a:p>
          <a:p>
            <a:r>
              <a:t>A: We shouldn’t work with suppliers who endanger workers.</a:t>
            </a:r>
          </a:p>
          <a:p>
            <a:r>
              <a:t>B: Then I think we have to raise it. We can’t turn a blind eye.</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But we could lose our biggest discount.</a:t>
            </a:r>
          </a:p>
          <a:p>
            <a:r>
              <a:t>B: In the long run, the reputational risk is greater.</a:t>
            </a:r>
          </a:p>
          <a:p>
            <a:r>
              <a:t>A: You’re right. I’ll report it today.</a:t>
            </a:r>
          </a:p>
          <a:p>
            <a:r>
              <a:t>B: I’ll support you.</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18 | </a:t>
            </a:r>
          </a:p>
          <a:p>
            <a:r>
              <a:t>Situation | You discuss an ethical dilemma.</a:t>
            </a:r>
          </a:p>
          <a:p>
            <a:r>
              <a:t>Your role (A) | Colleague. Dilemma: ______________</a:t>
            </a:r>
          </a:p>
          <a:p>
            <a:r>
              <a:t>Partner’s role (B) | Colleague.</a:t>
            </a:r>
          </a:p>
          <a:p>
            <a:r>
              <a:t>Must use (3 or more) | dilemma · code of conduct · turn a blind eye · reputational risk · raise it</a:t>
            </a:r>
          </a:p>
          <a:p>
            <a:r>
              <a:t>Goal | Weigh both sides and decide on action.</a:t>
            </a:r>
          </a:p>
          <a:p>
            <a:r>
              <a:t>My notes | ____________________________________________</a:t>
            </a:r>
          </a:p>
          <a:p>
            <a:r>
              <a:t>Consider the legal side.</a:t>
            </a:r>
          </a:p>
          <a:p>
            <a:r>
              <a:t>Suggest involving compliance.</a:t>
            </a:r>
          </a:p>
          <a:p>
            <a:r>
              <a:t>Talk about worker welfare.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ever acceptable to bend the rules? | “Only if…”</a:t>
            </a:r>
          </a:p>
          <a:p>
            <a:r>
              <a:t>2. Should whistleblowers be protected? | “Yes, because…”</a:t>
            </a:r>
          </a:p>
          <a:p>
            <a:r>
              <a:t>3. Do companies care about ethics or only about image? | “Some do… but others…”</a:t>
            </a:r>
          </a:p>
          <a:p>
            <a:r>
              <a:t>4. What would you do if you saw a colleague lying? | “I’d probably…”</a:t>
            </a:r>
          </a:p>
          <a:p>
            <a:r>
              <a:t>5. How can companies prevent fraud? | “By… / They could…”</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companies are mixed. Some genuinely care about ethics and invest in training and fair practices. Others only care about their image and publish nice statements while ignoring real problems. The test is what happens when ethics conflicts with profit. If the company still chooses the ethical option, it truly cares.”</a:t>
            </a:r>
          </a:p>
          <a:p>
            <a:r>
              <a:t>“The test is…” 检验标准是…;“genuinely” 真正地。</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Expressing principles and hypothetical choices 表达原则与假设选择</a:t>
            </a:r>
          </a:p>
          <a:p>
            <a:r>
              <a:t>Structure | Example</a:t>
            </a:r>
          </a:p>
          <a:p>
            <a:r>
              <a:t>I’m not comfortable with… | I’m not comfortable with that.</a:t>
            </a:r>
          </a:p>
          <a:p>
            <a:r>
              <a:t>The right thing to do is… | The right thing to do is to report it.</a:t>
            </a:r>
          </a:p>
          <a:p>
            <a:r>
              <a:t>If I were in that position, I would… | If I were you, I’d report it.</a:t>
            </a:r>
          </a:p>
          <a:p>
            <a:r>
              <a:t>I’d rather… than… | I’d rather lose a sale than lie.</a:t>
            </a:r>
          </a:p>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Expressing principles and hypothetical choices 表达原则与假设选择</a:t>
            </a:r>
          </a:p>
          <a:p>
            <a:r>
              <a:t>Second conditional: If + past simple, would + base. Use were for all persons: If I were you.</a:t>
            </a:r>
          </a:p>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against with the rules.  →  ✓ It’s against the rules.  (against + 名词)</a:t>
            </a:r>
          </a:p>
          <a:p>
            <a:r>
              <a:t>✗ If I was you, I will tell him.  →  ✓ If I were you, I would tell him.  (were / would)</a:t>
            </a:r>
          </a:p>
          <a:p>
            <a:r>
              <a:t>✗ It’s not ethic.  →  ✓ It’s not ethical.  (形容词)</a:t>
            </a:r>
          </a:p>
          <a:p>
            <a:r>
              <a:t>Mistake Watch: Check ethical (adj.), accused of, second conditional, insist on.</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worried about the ethic of this deal.  →  ✓ I’m worried about the ethics of this deal.  (ethics 道德(名词))</a:t>
            </a:r>
          </a:p>
          <a:p>
            <a:r>
              <a:t>✗ The company was accused to fraud.  →  ✓ The company was accused of fraud.  (accused of)</a:t>
            </a:r>
          </a:p>
          <a:p>
            <a:r>
              <a:t>✗ He insisted to pay.  →  ✓ He insisted on paying.  (insist on)</a:t>
            </a:r>
          </a:p>
          <a:p>
            <a:r>
              <a:t>Mistake Watch: Check ethical (adj.), accused of, second conditional, insist on.</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Gifts and hospitality. Many companies limit gifts; check policy before accepting.</a:t>
            </a:r>
          </a:p>
          <a:p>
            <a:r>
              <a:t>Speak-up channels. Use official channels; keep confidentiality.</a:t>
            </a:r>
          </a:p>
          <a:p>
            <a:r>
              <a:t>Avoid moralising. Say “I’m not comfortable with…” rather than “You are unethical”.</a:t>
            </a:r>
          </a:p>
          <a:p>
            <a:r>
              <a:t>Legal differences. Laws on bribery differ, but international firms often follow strict standards.</a:t>
            </a:r>
          </a:p>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business ethics with natural vocabulary.</a:t>
            </a:r>
          </a:p>
          <a:p>
            <a:r>
              <a:t>I can refuse unethical requests politely.</a:t>
            </a:r>
          </a:p>
          <a:p>
            <a:r>
              <a:t>I can discuss dilemmas using the second conditional.</a:t>
            </a:r>
          </a:p>
          <a:p>
            <a:r>
              <a:t>I use ethical, accused of and insist on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what you would do in an ethical dilemma, using the second conditional.</a:t>
            </a:r>
          </a:p>
          <a:p>
            <a:r>
              <a:t>8–10 | Listen to your recording. Check: second conditional, accused of, insist 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“禁忌话题” in English? → a taboo subject</a:t>
            </a:r>
          </a:p>
          <a:p>
            <a:r>
              <a:t>“重燃” in English? → rekindle (motivation)</a:t>
            </a:r>
          </a:p>
          <a:p>
            <a:r>
              <a:t>“贿赂” in English? → bribe / bribery</a:t>
            </a:r>
          </a:p>
          <a:p>
            <a:r>
              <a:t>Fix it: How much money do you get? → How much do you earn?</a:t>
            </a:r>
          </a:p>
          <a:p>
            <a:r>
              <a:t>Fix it: I am boring at work. → I am bored at work.</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 Id="rId5" Type="http://schemas.openxmlformats.org/officeDocument/2006/relationships/slide" Target="slide56.xml"/><Relationship Id="rId6" Type="http://schemas.openxmlformats.org/officeDocument/2006/relationships/slide" Target="slide82.xml"/><Relationship Id="rId7" Type="http://schemas.openxmlformats.org/officeDocument/2006/relationships/slide" Target="slide109.xml"/><Relationship Id="rId8" Type="http://schemas.openxmlformats.org/officeDocument/2006/relationships/slide" Target="slide135.xml"/><Relationship Id="rId9" Type="http://schemas.openxmlformats.org/officeDocument/2006/relationships/slide" Target="slide161.xml"/><Relationship Id="rId10" Type="http://schemas.openxmlformats.org/officeDocument/2006/relationships/slide" Target="slide187.xml"/><Relationship Id="rId11" Type="http://schemas.openxmlformats.org/officeDocument/2006/relationships/slide" Target="slide2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 Id="rId4" Type="http://schemas.openxmlformats.org/officeDocument/2006/relationships/slide" Target="slide240.xml"/><Relationship Id="rId5" Type="http://schemas.openxmlformats.org/officeDocument/2006/relationships/slide" Target="slide241.xml"/><Relationship Id="rId6" Type="http://schemas.openxmlformats.org/officeDocument/2006/relationships/slide" Target="slide242.xml"/><Relationship Id="rId7" Type="http://schemas.openxmlformats.org/officeDocument/2006/relationships/slide" Target="slide243.xml"/><Relationship Id="rId8" Type="http://schemas.openxmlformats.org/officeDocument/2006/relationships/slide" Target="slide244.xml"/><Relationship Id="rId9" Type="http://schemas.openxmlformats.org/officeDocument/2006/relationships/slide" Target="slide245.xml"/><Relationship Id="rId10" Type="http://schemas.openxmlformats.org/officeDocument/2006/relationships/slide" Target="slide246.xml"/><Relationship Id="rId11" Type="http://schemas.openxmlformats.org/officeDocument/2006/relationships/slide" Target="slide247.xml"/><Relationship Id="rId12" Type="http://schemas.openxmlformats.org/officeDocument/2006/relationships/slide" Target="slide248.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14</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Corporate Culture</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9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L67 Creating a learning culture · L68 What makes a great company culture? · L69 How much your co-workers get paid · L70 Spotting toxic workplaces · L71 Modern workplace amenities · L72 Coasting · L73 Ageism in the workplace · L74 Generational stereotypes at work  +1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Creating a learning culture</a:t>
            </a:r>
          </a:p>
          <a:p>
            <a:pPr algn="l">
              <a:lnSpc>
                <a:spcPct val="100000"/>
              </a:lnSpc>
              <a:spcAft>
                <a:spcPts val="800"/>
              </a:spcAft>
            </a:pPr>
            <a:r>
              <a:rPr sz="1400" b="0">
                <a:solidFill>
                  <a:srgbClr val="5F677A"/>
                </a:solidFill>
                <a:latin typeface="Arial"/>
                <a:ea typeface="Microsoft YaHei"/>
              </a:rPr>
              <a:t>打造学习型文化</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What makes a great company culture?</a:t>
            </a:r>
          </a:p>
          <a:p>
            <a:pPr algn="l">
              <a:lnSpc>
                <a:spcPct val="100000"/>
              </a:lnSpc>
              <a:spcAft>
                <a:spcPts val="800"/>
              </a:spcAft>
            </a:pPr>
            <a:r>
              <a:rPr sz="1400" b="0">
                <a:solidFill>
                  <a:srgbClr val="5F677A"/>
                </a:solidFill>
                <a:latin typeface="Arial"/>
                <a:ea typeface="Microsoft YaHei"/>
              </a:rPr>
              <a:t>什么造就了伟大的企业文化?</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69</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much your co-workers get paid</a:t>
            </a:r>
          </a:p>
          <a:p>
            <a:pPr algn="l">
              <a:lnSpc>
                <a:spcPct val="100000"/>
              </a:lnSpc>
              <a:spcAft>
                <a:spcPts val="800"/>
              </a:spcAft>
            </a:pPr>
            <a:r>
              <a:rPr sz="1400" b="0">
                <a:solidFill>
                  <a:srgbClr val="5F677A"/>
                </a:solidFill>
                <a:latin typeface="Arial"/>
                <a:ea typeface="Microsoft YaHei"/>
              </a:rPr>
              <a:t>同事的薪水是多少</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70</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Spotting toxic workplaces</a:t>
            </a:r>
          </a:p>
          <a:p>
            <a:pPr algn="l">
              <a:lnSpc>
                <a:spcPct val="100000"/>
              </a:lnSpc>
              <a:spcAft>
                <a:spcPts val="800"/>
              </a:spcAft>
            </a:pPr>
            <a:r>
              <a:rPr sz="1400" b="0">
                <a:solidFill>
                  <a:srgbClr val="5F677A"/>
                </a:solidFill>
                <a:latin typeface="Arial"/>
                <a:ea typeface="Microsoft YaHei"/>
              </a:rPr>
              <a:t>识别有害的职场</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71</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Modern workplace amenities</a:t>
            </a:r>
          </a:p>
          <a:p>
            <a:pPr algn="l">
              <a:lnSpc>
                <a:spcPct val="100000"/>
              </a:lnSpc>
              <a:spcAft>
                <a:spcPts val="800"/>
              </a:spcAft>
            </a:pPr>
            <a:r>
              <a:rPr sz="1400" b="0">
                <a:solidFill>
                  <a:srgbClr val="5F677A"/>
                </a:solidFill>
                <a:latin typeface="Arial"/>
                <a:ea typeface="Microsoft YaHei"/>
              </a:rPr>
              <a:t>现代办公环境(设施)</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72</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Coasting</a:t>
            </a:r>
          </a:p>
          <a:p>
            <a:pPr algn="l">
              <a:lnSpc>
                <a:spcPct val="100000"/>
              </a:lnSpc>
              <a:spcAft>
                <a:spcPts val="800"/>
              </a:spcAft>
            </a:pPr>
            <a:r>
              <a:rPr sz="1400" b="0">
                <a:solidFill>
                  <a:srgbClr val="5F677A"/>
                </a:solidFill>
                <a:latin typeface="Arial"/>
                <a:ea typeface="Microsoft YaHei"/>
              </a:rPr>
              <a:t>混日子 / 躺平式工作</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73</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Ageism in the workplace</a:t>
            </a:r>
          </a:p>
          <a:p>
            <a:pPr algn="l">
              <a:lnSpc>
                <a:spcPct val="100000"/>
              </a:lnSpc>
              <a:spcAft>
                <a:spcPts val="800"/>
              </a:spcAft>
            </a:pPr>
            <a:r>
              <a:rPr sz="1400" b="0">
                <a:solidFill>
                  <a:srgbClr val="5F677A"/>
                </a:solidFill>
                <a:latin typeface="Arial"/>
                <a:ea typeface="Microsoft YaHei"/>
              </a:rPr>
              <a:t>职场年龄歧视</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74</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Generational stereotypes at work</a:t>
            </a:r>
          </a:p>
          <a:p>
            <a:pPr algn="l">
              <a:lnSpc>
                <a:spcPct val="100000"/>
              </a:lnSpc>
              <a:spcAft>
                <a:spcPts val="800"/>
              </a:spcAft>
            </a:pPr>
            <a:r>
              <a:rPr sz="1400" b="0">
                <a:solidFill>
                  <a:srgbClr val="5F677A"/>
                </a:solidFill>
                <a:latin typeface="Arial"/>
                <a:ea typeface="Microsoft YaHei"/>
              </a:rPr>
              <a:t>职场中的代际刻板印象</a:t>
            </a:r>
          </a:p>
        </p:txBody>
      </p:sp>
      <p:sp>
        <p:nvSpPr>
          <p:cNvPr id="31" name="Rounded Rectangle 30">
            <a:hlinkClick action="ppaction://hlinksldjump" r:id="rId11"/>
          </p:cNvPr>
          <p:cNvSpPr/>
          <p:nvPr/>
        </p:nvSpPr>
        <p:spPr>
          <a:xfrm>
            <a:off x="8066836" y="438912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76564" y="468630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75</a:t>
            </a:r>
          </a:p>
        </p:txBody>
      </p:sp>
      <p:sp>
        <p:nvSpPr>
          <p:cNvPr id="33" name="TextBox 32"/>
          <p:cNvSpPr txBox="1"/>
          <p:nvPr/>
        </p:nvSpPr>
        <p:spPr>
          <a:xfrm>
            <a:off x="9164116"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Business ethics</a:t>
            </a:r>
          </a:p>
          <a:p>
            <a:pPr algn="l">
              <a:lnSpc>
                <a:spcPct val="100000"/>
              </a:lnSpc>
              <a:spcAft>
                <a:spcPts val="800"/>
              </a:spcAft>
            </a:pPr>
            <a:r>
              <a:rPr sz="1400" b="0">
                <a:solidFill>
                  <a:srgbClr val="5F677A"/>
                </a:solidFill>
                <a:latin typeface="Arial"/>
                <a:ea typeface="Microsoft YaHei"/>
              </a:rPr>
              <a:t>商业道德</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67 Creating a learning culture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Creating a learning culture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打造学习型文化</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what a learning culture looks like and suggest ways to encourage learning and sharing in a team.</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your company encourage learning? How?</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learn something from a colleague?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stops people from sharing what they know?</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safe to admit mistakes in your team?</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change to help your team learn faster?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“learning culture” = 学习型文化。第 2 题 “When did you last learn…” 用过去式。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your team learns and shares knowledge.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current practice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works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is missing</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suggestion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our team, we…   💬 What works well is…   💬 What’s missing is…   💬 I’d suggest…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works well is…” 强调句型。</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Learning as a habit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a learning culture, people treat mistakes as information and curiosity as a strength. Teams ask questions openly, share what they have discovered, and review projects to find lessons. Managers play a key role. They give time for training, ask “What did we learn?” after each project, and admit their own errors. Practical tools include short lunchtime talks, mentoring pairs, written case notes and “after-action reviews” where a team discusses what happened without blaming anyone. The opposite is a culture of fear, in which people hide problems until they become crises. Building a learning culture takes time because habits are slow to change. Small rituals, repeated regularly, are usually more effective than a single big training day. Importantly, leaders must reward learning as well as results.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learning cultures treat mistakes?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 information.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practical tools.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Lunchtime talks, mentoring pairs, written case notes, after-action reviews.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are small rituals better than one training day?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Habits are slow to change, so regular repetition works better.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Learning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学习型文化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learning culture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学习型文化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a learning culture.”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knowledge sharing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知识分享</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“Knowledge sharing saves time.”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psychological safety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心理安全感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“Psychological safety encourages questions.”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after-action review</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事后复盘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hold an after-action review.”</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foster</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培育</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foster curiosity.”</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Practices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做法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mentoring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导师制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“Mentoring helps new staff.”</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lunch-and-learn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午餐分享会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lunch-and-learn.”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on-the-job learning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在岗学习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“On-the-job learning is effective.”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cross-train</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交叉培训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cross-train staff.”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job shadowing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工作跟岗</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did job shadowing.”</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Attitudes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态度</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curious</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好奇的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hire curious people.”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open to feedback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乐于接受反馈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 open to feedback.”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admit a mistake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承认错误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admit mistakes.”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fear of failure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对失败的恐惧</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“Fear of failure stops learning.”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growth mindset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成长型思维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growth mindset helps.”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承认错误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admit a mistake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乐于接受反馈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 to feedback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好奇的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curious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交叉培训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cross-train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知识分享</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knowledge sharing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工作跟岗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shadowing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午餐分享会</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lunch-and-learn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培育</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foster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culture</a:t>
            </a:r>
          </a:p>
        </p:txBody>
      </p:sp>
      <p:sp>
        <p:nvSpPr>
          <p:cNvPr id="10" name="Rounded Rectangle 9"/>
          <p:cNvSpPr/>
          <p:nvPr/>
        </p:nvSpPr>
        <p:spPr>
          <a:xfrm>
            <a:off x="3236976"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sharing</a:t>
            </a:r>
          </a:p>
        </p:txBody>
      </p:sp>
      <p:sp>
        <p:nvSpPr>
          <p:cNvPr id="11" name="Rounded Rectangle 10"/>
          <p:cNvSpPr/>
          <p:nvPr/>
        </p:nvSpPr>
        <p:spPr>
          <a:xfrm>
            <a:off x="4462272"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safety</a:t>
            </a:r>
          </a:p>
        </p:txBody>
      </p:sp>
      <p:sp>
        <p:nvSpPr>
          <p:cNvPr id="12" name="Rounded Rectangle 11"/>
          <p:cNvSpPr/>
          <p:nvPr/>
        </p:nvSpPr>
        <p:spPr>
          <a:xfrm>
            <a:off x="557784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mentoring</a:t>
            </a:r>
          </a:p>
        </p:txBody>
      </p:sp>
      <p:sp>
        <p:nvSpPr>
          <p:cNvPr id="13" name="Rounded Rectangle 12"/>
          <p:cNvSpPr/>
          <p:nvPr/>
        </p:nvSpPr>
        <p:spPr>
          <a:xfrm>
            <a:off x="7022592"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curious</a:t>
            </a:r>
          </a:p>
        </p:txBody>
      </p:sp>
      <p:sp>
        <p:nvSpPr>
          <p:cNvPr id="14" name="Rounded Rectangle 13"/>
          <p:cNvSpPr/>
          <p:nvPr/>
        </p:nvSpPr>
        <p:spPr>
          <a:xfrm>
            <a:off x="8247888"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mindset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want to build a learning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culture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Knowledge _______ saves time.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sharing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Psychological _______ encourages questions.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helps new staff settle in.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Mentoring</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hire _______ people.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curious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growth _______ helps people improve.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mindset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admit a mistake (不说 accept a mistake), share knowledge, learn FROM someone。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Proposing a lunch-and-learn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提议午餐分享会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suggest a regular session.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Proposing a lunch-and-learn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suggest a monthly lunch-and-learn. People could share what they’ve learned.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What would it involve?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twenty-minute talk by one person, then questions.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people feel comfortable presenting?</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Proposing a lunch-and-learn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keep it relaxed, I think so. I’d be happy to go first.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Over lunch, so it doesn’t affect work.</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try it for three months.</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Proposing a lunch-and-learn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learning activity.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suggest · lunch-and-learn · comfortable · I’d be happy to go first · try it for three months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Propose, answer two concerns and agree a trial.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benefit with numbers.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Anticipate cost.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first topic.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Reviewing a mistake without blame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无责复盘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learns from an error.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Team lead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Reviewing a mistake without blame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do a quick review. What happened with the file?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sent the old version to the client.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saying so. What did we learn?</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need a clear naming system for versions.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Anything else?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should have double-checked before sending.</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all make mistakes. Let’s write a short checklist.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draft it by tomorrow.</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Reviewing a mistake without blame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run a no-blame review.</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Mistake: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happened? · What did we learn? · should have · checklist · no blame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Review calmly, find lessons and agree action.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Praise honesty.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the lesson with other teams.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volunteer.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make people feel safe to admit mistakes?</a:t>
            </a:r>
          </a:p>
          <a:p>
            <a:pPr algn="l">
              <a:lnSpc>
                <a:spcPct val="115000"/>
              </a:lnSpc>
              <a:spcAft>
                <a:spcPts val="800"/>
              </a:spcAft>
            </a:pPr>
            <a:r>
              <a:rPr sz="1400" b="0">
                <a:solidFill>
                  <a:srgbClr val="5F677A"/>
                </a:solidFill>
                <a:latin typeface="Arial"/>
                <a:ea typeface="Microsoft YaHei"/>
              </a:rPr>
              <a:t>💬 “By… / They could…”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learn at work?</a:t>
            </a:r>
          </a:p>
          <a:p>
            <a:pPr algn="l">
              <a:lnSpc>
                <a:spcPct val="115000"/>
              </a:lnSpc>
              <a:spcAft>
                <a:spcPts val="800"/>
              </a:spcAft>
            </a:pPr>
            <a:r>
              <a:rPr sz="1400" b="0">
                <a:solidFill>
                  <a:srgbClr val="5F677A"/>
                </a:solidFill>
                <a:latin typeface="Arial"/>
                <a:ea typeface="Microsoft YaHei"/>
              </a:rPr>
              <a:t>💬 “For me, it’s…”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formal courses or informal learning work better?</a:t>
            </a:r>
          </a:p>
          <a:p>
            <a:pPr algn="l">
              <a:lnSpc>
                <a:spcPct val="115000"/>
              </a:lnSpc>
              <a:spcAft>
                <a:spcPts val="800"/>
              </a:spcAft>
            </a:pPr>
            <a:r>
              <a:rPr sz="1400" b="0">
                <a:solidFill>
                  <a:srgbClr val="5F677A"/>
                </a:solidFill>
                <a:latin typeface="Arial"/>
                <a:ea typeface="Microsoft YaHei"/>
              </a:rPr>
              <a:t>💬 “Both,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don’t people share knowledge?</a:t>
            </a:r>
          </a:p>
          <a:p>
            <a:pPr algn="l">
              <a:lnSpc>
                <a:spcPct val="115000"/>
              </a:lnSpc>
              <a:spcAft>
                <a:spcPts val="800"/>
              </a:spcAft>
            </a:pPr>
            <a:r>
              <a:rPr sz="1400" b="0">
                <a:solidFill>
                  <a:srgbClr val="5F677A"/>
                </a:solidFill>
                <a:latin typeface="Arial"/>
                <a:ea typeface="Microsoft YaHei"/>
              </a:rPr>
              <a:t>💬 “Perhaps because they fear…”</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responsible for learning culture?</a:t>
            </a:r>
          </a:p>
          <a:p>
            <a:pPr algn="l">
              <a:lnSpc>
                <a:spcPct val="115000"/>
              </a:lnSpc>
              <a:spcAft>
                <a:spcPts val="800"/>
              </a:spcAft>
            </a:pPr>
            <a:r>
              <a:rPr sz="1400" b="0">
                <a:solidFill>
                  <a:srgbClr val="5F677A"/>
                </a:solidFill>
                <a:latin typeface="Arial"/>
                <a:ea typeface="Microsoft YaHei"/>
              </a:rPr>
              <a:t>💬 “Everyone, but especially…”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Leaders can start by admitting their own mistakes. When a manager says,”I got this wrong, and here’s what I learned”, it shows that errors are acceptable. They should also react calmly when someone else makes a mistake and focus on solutions rather than blame. Over time, people become more honest and open.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“react calmly” 冷静回应;“rather than” 而不是。</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Making suggestions in a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在团队中提建议</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I’d like to suggest + -ing/that</a:t>
                      </a:r>
                    </a:p>
                  </a:txBody>
                  <a:tcPr anchor="ctr">
                    <a:solidFill>
                      <a:srgbClr val="FFFFFF"/>
                    </a:solidFill>
                  </a:tcPr>
                </a:tc>
                <a:tc>
                  <a:txBody>
                    <a:bodyPr wrap="square"/>
                    <a:lstStyle/>
                    <a:p>
                      <a:r>
                        <a:rPr sz="1600" b="0">
                          <a:solidFill>
                            <a:srgbClr val="1F2A44"/>
                          </a:solidFill>
                          <a:latin typeface="Arial"/>
                          <a:ea typeface="Microsoft YaHei"/>
                        </a:rPr>
                        <a:t>I’d like to suggest holding a monthly talk.</a:t>
                      </a:r>
                    </a:p>
                  </a:txBody>
                  <a:tcPr anchor="ctr">
                    <a:solidFill>
                      <a:srgbClr val="FFFFFF"/>
                    </a:solidFill>
                  </a:tcPr>
                </a:tc>
              </a:tr>
              <a:tr h="408432">
                <a:tc>
                  <a:txBody>
                    <a:bodyPr wrap="square"/>
                    <a:lstStyle/>
                    <a:p>
                      <a:r>
                        <a:rPr sz="1600" b="1">
                          <a:solidFill>
                            <a:srgbClr val="1F2A44"/>
                          </a:solidFill>
                          <a:latin typeface="Arial"/>
                          <a:ea typeface="Microsoft YaHei"/>
                        </a:rPr>
                        <a:t>How about + -ing?</a:t>
                      </a:r>
                    </a:p>
                  </a:txBody>
                  <a:tcPr anchor="ctr">
                    <a:solidFill>
                      <a:srgbClr val="FFEFD9"/>
                    </a:solidFill>
                  </a:tcPr>
                </a:tc>
                <a:tc>
                  <a:txBody>
                    <a:bodyPr wrap="square"/>
                    <a:lstStyle/>
                    <a:p>
                      <a:r>
                        <a:rPr sz="1600" b="0">
                          <a:solidFill>
                            <a:srgbClr val="1F2A44"/>
                          </a:solidFill>
                          <a:latin typeface="Arial"/>
                          <a:ea typeface="Microsoft YaHei"/>
                        </a:rPr>
                        <a:t>How about sharing lessons weekly?</a:t>
                      </a:r>
                    </a:p>
                  </a:txBody>
                  <a:tcPr anchor="ctr">
                    <a:solidFill>
                      <a:srgbClr val="FFEFD9"/>
                    </a:solidFill>
                  </a:tcPr>
                </a:tc>
              </a:tr>
              <a:tr h="408432">
                <a:tc>
                  <a:txBody>
                    <a:bodyPr wrap="square"/>
                    <a:lstStyle/>
                    <a:p>
                      <a:r>
                        <a:rPr sz="1600" b="1">
                          <a:solidFill>
                            <a:srgbClr val="1F2A44"/>
                          </a:solidFill>
                          <a:latin typeface="Arial"/>
                          <a:ea typeface="Microsoft YaHei"/>
                        </a:rPr>
                        <a:t>We could…</a:t>
                      </a:r>
                    </a:p>
                  </a:txBody>
                  <a:tcPr anchor="ctr">
                    <a:solidFill>
                      <a:srgbClr val="FFFFFF"/>
                    </a:solidFill>
                  </a:tcPr>
                </a:tc>
                <a:tc>
                  <a:txBody>
                    <a:bodyPr wrap="square"/>
                    <a:lstStyle/>
                    <a:p>
                      <a:r>
                        <a:rPr sz="1600" b="0">
                          <a:solidFill>
                            <a:srgbClr val="1F2A44"/>
                          </a:solidFill>
                          <a:latin typeface="Arial"/>
                          <a:ea typeface="Microsoft YaHei"/>
                        </a:rPr>
                        <a:t>We could rotate presenters.</a:t>
                      </a:r>
                    </a:p>
                  </a:txBody>
                  <a:tcPr anchor="ctr">
                    <a:solidFill>
                      <a:srgbClr val="FFFFFF"/>
                    </a:solidFill>
                  </a:tcPr>
                </a:tc>
              </a:tr>
              <a:tr h="408432">
                <a:tc>
                  <a:txBody>
                    <a:bodyPr wrap="square"/>
                    <a:lstStyle/>
                    <a:p>
                      <a:r>
                        <a:rPr sz="1600" b="1">
                          <a:solidFill>
                            <a:srgbClr val="1F2A44"/>
                          </a:solidFill>
                          <a:latin typeface="Arial"/>
                          <a:ea typeface="Microsoft YaHei"/>
                        </a:rPr>
                        <a:t>It might be worth + -ing</a:t>
                      </a:r>
                    </a:p>
                  </a:txBody>
                  <a:tcPr anchor="ctr">
                    <a:solidFill>
                      <a:srgbClr val="FFEFD9"/>
                    </a:solidFill>
                  </a:tcPr>
                </a:tc>
                <a:tc>
                  <a:txBody>
                    <a:bodyPr wrap="square"/>
                    <a:lstStyle/>
                    <a:p>
                      <a:r>
                        <a:rPr sz="1600" b="0">
                          <a:solidFill>
                            <a:srgbClr val="1F2A44"/>
                          </a:solidFill>
                          <a:latin typeface="Arial"/>
                          <a:ea typeface="Microsoft YaHei"/>
                        </a:rPr>
                        <a:t>It might be worth writing a checklist.</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Making suggestions in a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在团队中提建议</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After suggest, use -ing or that + subject + base verb: I suggest holding / I suggest that we hold.</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to hold a meeting.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holding a meeting.</a:t>
            </a:r>
          </a:p>
          <a:p>
            <a:pPr algn="l">
              <a:spcAft>
                <a:spcPts val="200"/>
              </a:spcAft>
            </a:pPr>
            <a:r>
              <a:rPr sz="1200" b="0">
                <a:solidFill>
                  <a:srgbClr val="FFFFFF"/>
                </a:solidFill>
                <a:latin typeface="Arial"/>
                <a:ea typeface="Microsoft YaHei"/>
              </a:rPr>
              <a:t>suggest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learn from each other’s.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learn from each other.</a:t>
            </a:r>
          </a:p>
          <a:p>
            <a:pPr algn="l">
              <a:spcAft>
                <a:spcPts val="200"/>
              </a:spcAft>
            </a:pPr>
            <a:r>
              <a:rPr sz="1200" b="0">
                <a:solidFill>
                  <a:srgbClr val="FFFFFF"/>
                </a:solidFill>
                <a:latin typeface="Arial"/>
                <a:ea typeface="Microsoft YaHei"/>
              </a:rPr>
              <a:t>each other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learned much from him.</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learned a lot from him.</a:t>
            </a:r>
          </a:p>
          <a:p>
            <a:pPr algn="l">
              <a:spcAft>
                <a:spcPts val="200"/>
              </a:spcAft>
            </a:pPr>
            <a:r>
              <a:rPr sz="1200" b="0">
                <a:solidFill>
                  <a:srgbClr val="FFFFFF"/>
                </a:solidFill>
                <a:latin typeface="Arial"/>
                <a:ea typeface="Microsoft YaHei"/>
              </a:rPr>
              <a:t>a lot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admitted his fault.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admitted his mistake.</a:t>
            </a:r>
          </a:p>
          <a:p>
            <a:pPr algn="l">
              <a:spcAft>
                <a:spcPts val="200"/>
              </a:spcAft>
            </a:pPr>
            <a:r>
              <a:rPr sz="1200" b="0">
                <a:solidFill>
                  <a:srgbClr val="FFFFFF"/>
                </a:solidFill>
                <a:latin typeface="Arial"/>
                <a:ea typeface="Microsoft YaHei"/>
              </a:rPr>
              <a:t>mistake</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are afraid to making mistakes.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are afraid of making mistakes. / afraid to make</a:t>
            </a:r>
          </a:p>
          <a:p>
            <a:pPr algn="l">
              <a:spcAft>
                <a:spcPts val="200"/>
              </a:spcAft>
            </a:pPr>
            <a:r>
              <a:rPr sz="1200" b="0">
                <a:solidFill>
                  <a:srgbClr val="FFFFFF"/>
                </a:solidFill>
                <a:latin typeface="Arial"/>
                <a:ea typeface="Microsoft YaHei"/>
              </a:rPr>
              <a:t>afraid of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good learning atmosphere.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good learning culture.</a:t>
            </a:r>
          </a:p>
          <a:p>
            <a:pPr algn="l">
              <a:spcAft>
                <a:spcPts val="200"/>
              </a:spcAft>
            </a:pPr>
            <a:r>
              <a:rPr sz="1200" b="0">
                <a:solidFill>
                  <a:srgbClr val="FFFFFF"/>
                </a:solidFill>
                <a:latin typeface="Arial"/>
                <a:ea typeface="Microsoft YaHei"/>
              </a:rPr>
              <a:t>culture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suggest + -ing, each other, afraid of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Mistakes can be shared. Western tech firms hold “failure parties” or “post-mortems”.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Asking questions is positive. “That’s a great question” is common.</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Credit the source. “I learned this from Anna” builds trust.</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specific in feedback. Say what you learned and how you’ll use it.</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learning culture and its practices.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learning activity with I’d like to suggest…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run a no-blame review.</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suggest + -ing and afraid of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one learning idea for your team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suggest -ing, each other, afraid of -ing.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68 What makes a great company culture?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What makes a great company culture?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什么造就了伟大的企业文化?</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and evaluate company culture and discuss what makes a workplace great.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describe your company’s culture in three words?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best workplace you have experienced?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culture matter more than salary?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notice a company’s culture in an interview?</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creates culture: leaders or employees?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 原图英文标题与第 48 课重复,按中文标题编写。“culture” = 文化,“norms” = 行为规范。</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company’s culture and what makes it great or not.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values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daily behaviour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leadership</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effect on people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culture here is…   💬 People tend to…   💬 What makes it work is…   💬 It could be improved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“tend to” 往往;“what makes it work is” 让它起作用的是。</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Culture is what people do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companies hang their values on the wall, but culture is what people actually do when nobody is watching. A great culture usually has several visible features. Leaders behave in line with the values they preach. People feel they can speak honestly, and disagreement is welcome. Success is shared, and mistakes are used for learning rather than blame. New employees are welcomed and supported. Importantly, great culture is not the same as free snacks or a games room. Those perks are pleasant, but they do not replace respect, fairness and clear expectations. When choosing an employer, ask questions about how decisions are made, how conflict is handled, and what happened the last time someone failed. The answers reveal more than a brochure does.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the writer define culture?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people actually do when nobody is watching.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Are perks the same as culture?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perks do not replace respect, fairness and clear expectations.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Which questions reveal culture?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How decisions are made, how conflict is handled, what happened when someone failed.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company culture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企业文化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“Company culture shapes behaviour.”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values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价值观</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live our values.”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norms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规范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“Unwritten norms matter.”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the talk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言行一致</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must walk the talk.”</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way we do things around here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我们这儿做事的方式</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the way we do things around here.”</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Features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特点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transparent</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透明的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“Decisions are transparent.”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inclusive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包容的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an inclusive team.”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collaborative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协作的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collaborative atmosphere.”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high-trust environment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高信任环境</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in a high-trust environment.”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psychologically safe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心理安全的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team is psychologically safe.”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影响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morale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士气</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“Morale is high.”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retain staff</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留住员工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“Culture helps retain staff.”</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engagement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敬业度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“Engagement improved.”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buy-in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认同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buy-in from staff.”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sense of belonging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归属感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sense of belonging matters.”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心理安全的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psychologically safe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认同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buy-in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我们这儿做事的方式</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way we do things around here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价值观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包容的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inclusive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言行一致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the talk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高信任环境</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high-trust environment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归属感</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sense of belonging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culture</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values</a:t>
            </a:r>
          </a:p>
        </p:txBody>
      </p:sp>
      <p:sp>
        <p:nvSpPr>
          <p:cNvPr id="11" name="Rounded Rectangle 10"/>
          <p:cNvSpPr/>
          <p:nvPr/>
        </p:nvSpPr>
        <p:spPr>
          <a:xfrm>
            <a:off x="4352544"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transparent</a:t>
            </a:r>
          </a:p>
        </p:txBody>
      </p:sp>
      <p:sp>
        <p:nvSpPr>
          <p:cNvPr id="12" name="Rounded Rectangle 11"/>
          <p:cNvSpPr/>
          <p:nvPr/>
        </p:nvSpPr>
        <p:spPr>
          <a:xfrm>
            <a:off x="6016751"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inclusive</a:t>
            </a:r>
          </a:p>
        </p:txBody>
      </p:sp>
      <p:sp>
        <p:nvSpPr>
          <p:cNvPr id="13" name="Rounded Rectangle 12"/>
          <p:cNvSpPr/>
          <p:nvPr/>
        </p:nvSpPr>
        <p:spPr>
          <a:xfrm>
            <a:off x="7461503"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morale</a:t>
            </a:r>
          </a:p>
        </p:txBody>
      </p:sp>
      <p:sp>
        <p:nvSpPr>
          <p:cNvPr id="14" name="Rounded Rectangle 13"/>
          <p:cNvSpPr/>
          <p:nvPr/>
        </p:nvSpPr>
        <p:spPr>
          <a:xfrm>
            <a:off x="8577071"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engagement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Company _______ shapes behaviour.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culture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try to live our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Decisions here are very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want an _______ team.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inclusive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is high after the new policy.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Morale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Employee _______ improved.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engagement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 transparent ≠ transparence;名词 transparency;morale 与 moral 不同。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Asking about culture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面试中询问企业文化</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candidate asks smart questions.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Candidate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Interviewer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about culture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you describe the culture here?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Collaborative and fairly informal. People tend to speak openly.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is disagreement handled?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encourage it, as long as it’s respectful.</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happened the last time a project failed?</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held a review and focused on lessons, not blame.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think a high-trust environment brings better results.</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Asking about culture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about culture.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Company: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How would you describe… · tend to · disagreement is handled · high-trust · reassuring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three revealing questions and respond positively.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turnover.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flexibility.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culture suits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Describing your company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描述公司文化</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Chatting with a friend.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Describing your company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your company like to work for?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fairly relaxed, and people are friendly. Morale is generally good.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like most?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Transparency. Managers explain decisions.</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your company culture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Anything you’d change?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Meetings go on too long. It could be improved by having agendas.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like a good place.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Overall, yes.</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Describing your company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your culture.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Company: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fairly relaxed · morale · transparency · It could be improved by · Overall</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positives and one area for improvement.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example of a norm.</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ritual.</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previous employer.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culture more important than pay?</a:t>
            </a:r>
          </a:p>
          <a:p>
            <a:pPr algn="l">
              <a:lnSpc>
                <a:spcPct val="115000"/>
              </a:lnSpc>
              <a:spcAft>
                <a:spcPts val="800"/>
              </a:spcAft>
            </a:pPr>
            <a:r>
              <a:rPr sz="1400" b="0">
                <a:solidFill>
                  <a:srgbClr val="5F677A"/>
                </a:solidFill>
                <a:latin typeface="Arial"/>
                <a:ea typeface="Microsoft YaHei"/>
              </a:rPr>
              <a:t>💬 “For many people, yes,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culture be changed quickly?</a:t>
            </a:r>
          </a:p>
          <a:p>
            <a:pPr algn="l">
              <a:lnSpc>
                <a:spcPct val="115000"/>
              </a:lnSpc>
              <a:spcAft>
                <a:spcPts val="800"/>
              </a:spcAft>
            </a:pPr>
            <a:r>
              <a:rPr sz="1400" b="0">
                <a:solidFill>
                  <a:srgbClr val="5F677A"/>
                </a:solidFill>
                <a:latin typeface="Arial"/>
                <a:ea typeface="Microsoft YaHei"/>
              </a:rPr>
              <a:t>💬 “Not really,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perks improve culture?</a:t>
            </a:r>
          </a:p>
          <a:p>
            <a:pPr algn="l">
              <a:lnSpc>
                <a:spcPct val="115000"/>
              </a:lnSpc>
              <a:spcAft>
                <a:spcPts val="800"/>
              </a:spcAft>
            </a:pPr>
            <a:r>
              <a:rPr sz="1400" b="0">
                <a:solidFill>
                  <a:srgbClr val="5F677A"/>
                </a:solidFill>
                <a:latin typeface="Arial"/>
                <a:ea typeface="Microsoft YaHei"/>
              </a:rPr>
              <a:t>💬 “Only if…”</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sign of a bad culture?</a:t>
            </a:r>
          </a:p>
          <a:p>
            <a:pPr algn="l">
              <a:lnSpc>
                <a:spcPct val="115000"/>
              </a:lnSpc>
              <a:spcAft>
                <a:spcPts val="800"/>
              </a:spcAft>
            </a:pPr>
            <a:r>
              <a:rPr sz="1400" b="0">
                <a:solidFill>
                  <a:srgbClr val="5F677A"/>
                </a:solidFill>
                <a:latin typeface="Arial"/>
                <a:ea typeface="Microsoft YaHei"/>
              </a:rPr>
              <a:t>💬 “When people…”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culture do you work best in?</a:t>
            </a:r>
          </a:p>
          <a:p>
            <a:pPr algn="l">
              <a:lnSpc>
                <a:spcPct val="115000"/>
              </a:lnSpc>
              <a:spcAft>
                <a:spcPts val="800"/>
              </a:spcAft>
            </a:pPr>
            <a:r>
              <a:rPr sz="1400" b="0">
                <a:solidFill>
                  <a:srgbClr val="5F677A"/>
                </a:solidFill>
                <a:latin typeface="Arial"/>
                <a:ea typeface="Microsoft YaHei"/>
              </a:rPr>
              <a:t>💬 “I work best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culture can’t be changed quickly because it’s formed by many habits and by what leaders reward. You can introduce new policies fast, but real change takes months or years. The best approach is to start with a few visible behaviours, such as listening to staff, and repeat them consistently.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leaders reward” 领导者奖励的东西;“visible behaviours” 看得见的行为。</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tendencies and norms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描述倾向和规范</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People tend to + base</a:t>
                      </a:r>
                    </a:p>
                  </a:txBody>
                  <a:tcPr anchor="ctr">
                    <a:solidFill>
                      <a:srgbClr val="FFFFFF"/>
                    </a:solidFill>
                  </a:tcPr>
                </a:tc>
                <a:tc>
                  <a:txBody>
                    <a:bodyPr wrap="square"/>
                    <a:lstStyle/>
                    <a:p>
                      <a:r>
                        <a:rPr sz="1600" b="0">
                          <a:solidFill>
                            <a:srgbClr val="1F2A44"/>
                          </a:solidFill>
                          <a:latin typeface="Arial"/>
                          <a:ea typeface="Microsoft YaHei"/>
                        </a:rPr>
                        <a:t>People tend to speak openly.</a:t>
                      </a:r>
                    </a:p>
                  </a:txBody>
                  <a:tcPr anchor="ctr">
                    <a:solidFill>
                      <a:srgbClr val="FFFFFF"/>
                    </a:solidFill>
                  </a:tcPr>
                </a:tc>
              </a:tr>
              <a:tr h="408432">
                <a:tc>
                  <a:txBody>
                    <a:bodyPr wrap="square"/>
                    <a:lstStyle/>
                    <a:p>
                      <a:r>
                        <a:rPr sz="1600" b="1">
                          <a:solidFill>
                            <a:srgbClr val="1F2A44"/>
                          </a:solidFill>
                          <a:latin typeface="Arial"/>
                          <a:ea typeface="Microsoft YaHei"/>
                        </a:rPr>
                        <a:t>It’s common/normal to + base</a:t>
                      </a:r>
                    </a:p>
                  </a:txBody>
                  <a:tcPr anchor="ctr">
                    <a:solidFill>
                      <a:srgbClr val="FFEFD9"/>
                    </a:solidFill>
                  </a:tcPr>
                </a:tc>
                <a:tc>
                  <a:txBody>
                    <a:bodyPr wrap="square"/>
                    <a:lstStyle/>
                    <a:p>
                      <a:r>
                        <a:rPr sz="1600" b="0">
                          <a:solidFill>
                            <a:srgbClr val="1F2A44"/>
                          </a:solidFill>
                          <a:latin typeface="Arial"/>
                          <a:ea typeface="Microsoft YaHei"/>
                        </a:rPr>
                        <a:t>It’s common to share ideas.</a:t>
                      </a:r>
                    </a:p>
                  </a:txBody>
                  <a:tcPr anchor="ctr">
                    <a:solidFill>
                      <a:srgbClr val="FFEFD9"/>
                    </a:solidFill>
                  </a:tcPr>
                </a:tc>
              </a:tr>
              <a:tr h="408432">
                <a:tc>
                  <a:txBody>
                    <a:bodyPr wrap="square"/>
                    <a:lstStyle/>
                    <a:p>
                      <a:r>
                        <a:rPr sz="1600" b="1">
                          <a:solidFill>
                            <a:srgbClr val="1F2A44"/>
                          </a:solidFill>
                          <a:latin typeface="Arial"/>
                          <a:ea typeface="Microsoft YaHei"/>
                        </a:rPr>
                        <a:t>We’re expected to + base</a:t>
                      </a:r>
                    </a:p>
                  </a:txBody>
                  <a:tcPr anchor="ctr">
                    <a:solidFill>
                      <a:srgbClr val="FFFFFF"/>
                    </a:solidFill>
                  </a:tcPr>
                </a:tc>
                <a:tc>
                  <a:txBody>
                    <a:bodyPr wrap="square"/>
                    <a:lstStyle/>
                    <a:p>
                      <a:r>
                        <a:rPr sz="1600" b="0">
                          <a:solidFill>
                            <a:srgbClr val="1F2A44"/>
                          </a:solidFill>
                          <a:latin typeface="Arial"/>
                          <a:ea typeface="Microsoft YaHei"/>
                        </a:rPr>
                        <a:t>We’re expected to be punctual.</a:t>
                      </a:r>
                    </a:p>
                  </a:txBody>
                  <a:tcPr anchor="ctr">
                    <a:solidFill>
                      <a:srgbClr val="FFFFFF"/>
                    </a:solidFill>
                  </a:tcPr>
                </a:tc>
              </a:tr>
              <a:tr h="408432">
                <a:tc>
                  <a:txBody>
                    <a:bodyPr wrap="square"/>
                    <a:lstStyle/>
                    <a:p>
                      <a:r>
                        <a:rPr sz="1600" b="1">
                          <a:solidFill>
                            <a:srgbClr val="1F2A44"/>
                          </a:solidFill>
                          <a:latin typeface="Arial"/>
                          <a:ea typeface="Microsoft YaHei"/>
                        </a:rPr>
                        <a:t>Usually / generally / on the whole</a:t>
                      </a:r>
                    </a:p>
                  </a:txBody>
                  <a:tcPr anchor="ctr">
                    <a:solidFill>
                      <a:srgbClr val="FFEFD9"/>
                    </a:solidFill>
                  </a:tcPr>
                </a:tc>
                <a:tc>
                  <a:txBody>
                    <a:bodyPr wrap="square"/>
                    <a:lstStyle/>
                    <a:p>
                      <a:r>
                        <a:rPr sz="1600" b="0">
                          <a:solidFill>
                            <a:srgbClr val="1F2A44"/>
                          </a:solidFill>
                          <a:latin typeface="Arial"/>
                          <a:ea typeface="Microsoft YaHei"/>
                        </a:rPr>
                        <a:t>On the whole, morale is good.</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tendencies and norms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描述倾向和规范</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Tend to describes typical behaviour; be expected to describes rules or norms.</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company culture is very good atmosphere.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company has a very good culture.</a:t>
            </a:r>
          </a:p>
          <a:p>
            <a:pPr algn="l">
              <a:spcAft>
                <a:spcPts val="200"/>
              </a:spcAft>
            </a:pPr>
            <a:r>
              <a:rPr sz="1200" b="0">
                <a:solidFill>
                  <a:srgbClr val="FFFFFF"/>
                </a:solidFill>
                <a:latin typeface="Arial"/>
                <a:ea typeface="Microsoft YaHei"/>
              </a:rPr>
              <a:t>句子结构</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 my company, people is friendly.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company, people are friendly.</a:t>
            </a:r>
          </a:p>
          <a:p>
            <a:pPr algn="l">
              <a:spcAft>
                <a:spcPts val="200"/>
              </a:spcAft>
            </a:pPr>
            <a:r>
              <a:rPr sz="1200" b="0">
                <a:solidFill>
                  <a:srgbClr val="FFFFFF"/>
                </a:solidFill>
                <a:latin typeface="Arial"/>
                <a:ea typeface="Microsoft YaHei"/>
              </a:rPr>
              <a:t>people 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relax atmosphere.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relaxed atmosphere.</a:t>
            </a:r>
          </a:p>
          <a:p>
            <a:pPr algn="l">
              <a:spcAft>
                <a:spcPts val="200"/>
              </a:spcAft>
            </a:pPr>
            <a:r>
              <a:rPr sz="1200" b="0">
                <a:solidFill>
                  <a:srgbClr val="FFFFFF"/>
                </a:solidFill>
                <a:latin typeface="Arial"/>
                <a:ea typeface="Microsoft YaHei"/>
              </a:rPr>
              <a:t>relaxed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culture here is open-minded.</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culture here is open. / People here are open-minded.</a:t>
            </a:r>
          </a:p>
          <a:p>
            <a:pPr algn="l">
              <a:spcAft>
                <a:spcPts val="200"/>
              </a:spcAft>
            </a:pPr>
            <a:r>
              <a:rPr sz="1200" b="0">
                <a:solidFill>
                  <a:srgbClr val="FFFFFF"/>
                </a:solidFill>
                <a:latin typeface="Arial"/>
                <a:ea typeface="Microsoft YaHei"/>
              </a:rPr>
              <a:t>主语</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like the culture of transparent.</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like the transparent culture. / I like the transparency.</a:t>
            </a:r>
          </a:p>
          <a:p>
            <a:pPr algn="l">
              <a:spcAft>
                <a:spcPts val="200"/>
              </a:spcAft>
            </a:pPr>
            <a:r>
              <a:rPr sz="1200" b="0">
                <a:solidFill>
                  <a:srgbClr val="FFFFFF"/>
                </a:solidFill>
                <a:latin typeface="Arial"/>
                <a:ea typeface="Microsoft YaHei"/>
              </a:rPr>
              <a:t>词性</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depends of the team.</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depends on the team.</a:t>
            </a:r>
          </a:p>
          <a:p>
            <a:pPr algn="l">
              <a:spcAft>
                <a:spcPts val="200"/>
              </a:spcAft>
            </a:pPr>
            <a:r>
              <a:rPr sz="1200" b="0">
                <a:solidFill>
                  <a:srgbClr val="FFFFFF"/>
                </a:solidFill>
                <a:latin typeface="Arial"/>
                <a:ea typeface="Microsoft YaHei"/>
              </a:rPr>
              <a:t>depend 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people are, relaxed, adjective form, depend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Dress and tone. Informal doesn’t mean careless; observe first.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Ask in interviews. Interviewers expect questions about culture.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Don’t compare negatively. Avoid “my old company was terrible”.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“we”. Talking about “we” shows belonging.</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company’s culture with natural phrases.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culture in an interview.</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balanced opinions.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people are, relaxed and depend on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68 What makes a great company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culture in a workplace you know, with one strength and one improvement.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people are, relaxed, depends 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69 How much your co-workers get paid</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500" b="1">
                <a:solidFill>
                  <a:srgbClr val="FFFFFF"/>
                </a:solidFill>
                <a:latin typeface="Arial"/>
                <a:ea typeface="Microsoft YaHei"/>
              </a:rPr>
              <a:t>How much your co-workers get paid</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同事的薪水是多少</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pay transparency, fairness and salary conversations, and ask or answer sensitive questions tactfully.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how much your colleagues earn?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salaries be public in a company?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rude to ask about pay?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pay fair?</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you found you were paid less than a colleague?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“co-worker” = 同事;“pay gap” = 薪酬差距。第 5 题第二条件句。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view on pay transparency.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advantages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Pay transparency means…   💬 One benefit is…   💬 A concern is…   💬 On balance,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“pay transparency” = 薪酬透明。</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Should salaries be secret?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many workplaces, pay is a taboo subject, and employees do not know what colleagues earn. Supporters of pay transparency argue that open salary ranges reveal unfairness, especially gaps between men and women, and make it easier to negotiate. Some countries now require employers to publish pay ranges in job adverts. Critics worry that openness can cause resentment, particularly if differences are not clearly explained. Employees may also feel their privacy is not respected. A middle path is for companies to publish salary bands for each level and explain how people move between them, without naming individuals. This gives employees clarity and gives managers a reason to apply the rules consistently. The key is to link pay to clear criteria such as responsibility, skills and performance.</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supporters argue?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Open salary ranges reveal unfairness (e.g. gender gaps) and make negotiation easier.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critics worry about?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Resentment and privacy.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middle path?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Publishing salary bands per level and explaining progression, without naming individuals.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薪酬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salary range / band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薪资范围/级别</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salary band is 60 to 80 thousand.”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 gap</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薪酬差距</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gender pay gap.”</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 rise (UK) / raise (US)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加薪</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asked for a pay rise.”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equal pay for equal work</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同工同酬</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support equal pay for equal work.”</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take-home pay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实发工资</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“Take-home pay is lower after tax.”</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Transparency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透明度</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 transparency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薪酬透明</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 transparency is growing.”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confidential</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保密的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“Salary information is confidential.”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disclose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披露</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“Employers must disclose ranges.”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taboo subject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禁忌话题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 is a taboo subject.”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lift the lid on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揭开盖子</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report lifted the lid on pay.”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Fairness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fair / unfair</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公平/不公平</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it fair?”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justify</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解释合理性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justify the difference?”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benchmark</a:t>
            </a:r>
          </a:p>
          <a:p>
            <a:pPr algn="l">
              <a:lnSpc>
                <a:spcPct val="115000"/>
              </a:lnSpc>
              <a:spcAft>
                <a:spcPts val="800"/>
              </a:spcAft>
            </a:pPr>
            <a:r>
              <a:rPr sz="1300" b="0">
                <a:solidFill>
                  <a:srgbClr val="5F677A"/>
                </a:solidFill>
                <a:latin typeface="Arial"/>
                <a:ea typeface="Microsoft YaHei"/>
              </a:rPr>
              <a:t>verb/noun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benchmark salaries.”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resentment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怨恨</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can cause resentment.”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negotiate from a position of strength</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有底气地谈判</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helps you negotiate.”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对标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benchmark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薪资范围/级别</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salary range / band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公平/不公平</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fair / unfair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披露</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薪酬透明</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transparency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薪酬差距</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gap</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揭开盖子</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lift the lid 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解释合理性</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justify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band</a:t>
            </a:r>
          </a:p>
        </p:txBody>
      </p:sp>
      <p:sp>
        <p:nvSpPr>
          <p:cNvPr id="10" name="Rounded Rectangle 9"/>
          <p:cNvSpPr/>
          <p:nvPr/>
        </p:nvSpPr>
        <p:spPr>
          <a:xfrm>
            <a:off x="2907792"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gap</a:t>
            </a:r>
          </a:p>
        </p:txBody>
      </p:sp>
      <p:sp>
        <p:nvSpPr>
          <p:cNvPr id="11" name="Rounded Rectangle 10"/>
          <p:cNvSpPr/>
          <p:nvPr/>
        </p:nvSpPr>
        <p:spPr>
          <a:xfrm>
            <a:off x="3694176"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rise</a:t>
            </a:r>
          </a:p>
        </p:txBody>
      </p:sp>
      <p:sp>
        <p:nvSpPr>
          <p:cNvPr id="12" name="Rounded Rectangle 11"/>
          <p:cNvSpPr/>
          <p:nvPr/>
        </p:nvSpPr>
        <p:spPr>
          <a:xfrm>
            <a:off x="4590288"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confidential</a:t>
            </a:r>
          </a:p>
        </p:txBody>
      </p:sp>
      <p:sp>
        <p:nvSpPr>
          <p:cNvPr id="13" name="Rounded Rectangle 12"/>
          <p:cNvSpPr/>
          <p:nvPr/>
        </p:nvSpPr>
        <p:spPr>
          <a:xfrm>
            <a:off x="6364223"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disclose</a:t>
            </a:r>
          </a:p>
        </p:txBody>
      </p:sp>
      <p:sp>
        <p:nvSpPr>
          <p:cNvPr id="14" name="Rounded Rectangle 13"/>
          <p:cNvSpPr/>
          <p:nvPr/>
        </p:nvSpPr>
        <p:spPr>
          <a:xfrm>
            <a:off x="7699247"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justify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salary _______ for this role is 60 to 80 thousand.</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band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There is still a gender pay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She asked for a pay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Salary information is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confidential</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Employers must _______ pay ranges.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Can you _______ the difference?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justify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(英美) pay rise(英)/ raise(美);earn a salary,be paid X;salary 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Asking about pay range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询问薪资范围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candidate asks about pay.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Candidate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Recruiter</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Asking about pay range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tell me the salary range for this role?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between 55 and 70 thousand, depending on experience.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are decisions made within the range?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look at skills, experience and the market benchmark.</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 range published internally?</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Employees can see the bands for each level.</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to know.</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believe transparency helps fairness.</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Asking about pay range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about pay.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Recruiter. Role: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salary range · depending on · benchmark · bands · fairness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politely about pay and how it’s decided.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bonuses.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review cycles.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if the range is below your expectation.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Discovering a pay gap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发现薪酬差距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raise a concern with HR.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HR</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Discovering a pay gap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raise a sensitive issue. I’ve learned a colleague on the same level earns more than 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me. Do you know how that came about?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We have similar roles and experience.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look into it. There may be factors such as when each person joined.</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Discovering a pay gap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but could you explain the reasons?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come back to you within a week.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appreciate 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take fairness seriously.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Discovering a pay gap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a pay concern.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Concern: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a sensitive issue · same level · look into it · explain the reasons · within a week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the issue calmly and agree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accusing.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Prepare evidence.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happens if there’s no good reason.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salaries be public?</a:t>
            </a:r>
          </a:p>
          <a:p>
            <a:pPr algn="l">
              <a:lnSpc>
                <a:spcPct val="115000"/>
              </a:lnSpc>
              <a:spcAft>
                <a:spcPts val="800"/>
              </a:spcAft>
            </a:pPr>
            <a:r>
              <a:rPr sz="1400" b="0">
                <a:solidFill>
                  <a:srgbClr val="5F677A"/>
                </a:solidFill>
                <a:latin typeface="Arial"/>
                <a:ea typeface="Microsoft YaHei"/>
              </a:rPr>
              <a:t>💬 “I think …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pay transparency cause jealousy?</a:t>
            </a:r>
          </a:p>
          <a:p>
            <a:pPr algn="l">
              <a:lnSpc>
                <a:spcPct val="115000"/>
              </a:lnSpc>
              <a:spcAft>
                <a:spcPts val="800"/>
              </a:spcAft>
            </a:pPr>
            <a:r>
              <a:rPr sz="1400" b="0">
                <a:solidFill>
                  <a:srgbClr val="5F677A"/>
                </a:solidFill>
                <a:latin typeface="Arial"/>
                <a:ea typeface="Microsoft YaHei"/>
              </a:rPr>
              <a:t>💬 “It might,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negotiate salary?</a:t>
            </a:r>
          </a:p>
          <a:p>
            <a:pPr algn="l">
              <a:lnSpc>
                <a:spcPct val="115000"/>
              </a:lnSpc>
              <a:spcAft>
                <a:spcPts val="800"/>
              </a:spcAft>
            </a:pPr>
            <a:r>
              <a:rPr sz="1400" b="0">
                <a:solidFill>
                  <a:srgbClr val="5F677A"/>
                </a:solidFill>
                <a:latin typeface="Arial"/>
                <a:ea typeface="Microsoft YaHei"/>
              </a:rPr>
              <a:t>💬 “I’d start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the gender pay gap a problem in your industry?</a:t>
            </a:r>
          </a:p>
          <a:p>
            <a:pPr algn="l">
              <a:lnSpc>
                <a:spcPct val="115000"/>
              </a:lnSpc>
              <a:spcAft>
                <a:spcPts val="800"/>
              </a:spcAft>
            </a:pPr>
            <a:r>
              <a:rPr sz="1400" b="0">
                <a:solidFill>
                  <a:srgbClr val="5F677A"/>
                </a:solidFill>
                <a:latin typeface="Arial"/>
                <a:ea typeface="Microsoft YaHei"/>
              </a:rPr>
              <a:t>💬 “I think …”</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affects how much someone is paid?</a:t>
            </a:r>
          </a:p>
          <a:p>
            <a:pPr algn="l">
              <a:lnSpc>
                <a:spcPct val="115000"/>
              </a:lnSpc>
              <a:spcAft>
                <a:spcPts val="800"/>
              </a:spcAft>
            </a:pPr>
            <a:r>
              <a:rPr sz="1400" b="0">
                <a:solidFill>
                  <a:srgbClr val="5F677A"/>
                </a:solidFill>
                <a:latin typeface="Arial"/>
                <a:ea typeface="Microsoft YaHei"/>
              </a:rPr>
              <a:t>💬 “Experience, … 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salary ranges should be public, but individual salaries should stay private. Ranges help candidates know what to expect and help employers apply rules fairly. Showing individual salaries could cause jealousy and privacy issues. So a middle path seems best.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“middle path” 折中道路;“apply rules fairly” 公平地执行规则。</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Handling sensitive topics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处理敏感话题</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Tactful</a:t>
                      </a:r>
                    </a:p>
                  </a:txBody>
                  <a:tcPr anchor="ctr">
                    <a:solidFill>
                      <a:srgbClr val="3CC49A"/>
                    </a:solidFill>
                  </a:tcPr>
                </a:tc>
              </a:tr>
              <a:tr h="652272">
                <a:tc>
                  <a:txBody>
                    <a:bodyPr wrap="square"/>
                    <a:lstStyle/>
                    <a:p>
                      <a:r>
                        <a:rPr sz="1600" b="1">
                          <a:solidFill>
                            <a:srgbClr val="1F2A44"/>
                          </a:solidFill>
                          <a:latin typeface="Arial"/>
                          <a:ea typeface="Microsoft YaHei"/>
                        </a:rPr>
                        <a:t>How much do you earn?</a:t>
                      </a:r>
                    </a:p>
                  </a:txBody>
                  <a:tcPr anchor="ctr">
                    <a:solidFill>
                      <a:srgbClr val="FFFFFF"/>
                    </a:solidFill>
                  </a:tcPr>
                </a:tc>
                <a:tc>
                  <a:txBody>
                    <a:bodyPr wrap="square"/>
                    <a:lstStyle/>
                    <a:p>
                      <a:r>
                        <a:rPr sz="1600" b="0">
                          <a:solidFill>
                            <a:srgbClr val="1F2A44"/>
                          </a:solidFill>
                          <a:latin typeface="Arial"/>
                          <a:ea typeface="Microsoft YaHei"/>
                        </a:rPr>
                        <a:t>I’m trying to understand what a fair range is. Could you share?</a:t>
                      </a:r>
                    </a:p>
                  </a:txBody>
                  <a:tcPr anchor="ctr">
                    <a:solidFill>
                      <a:srgbClr val="FFFFFF"/>
                    </a:solidFill>
                  </a:tcPr>
                </a:tc>
              </a:tr>
              <a:tr h="652272">
                <a:tc>
                  <a:txBody>
                    <a:bodyPr wrap="square"/>
                    <a:lstStyle/>
                    <a:p>
                      <a:r>
                        <a:rPr sz="1600" b="1">
                          <a:solidFill>
                            <a:srgbClr val="1F2A44"/>
                          </a:solidFill>
                          <a:latin typeface="Arial"/>
                          <a:ea typeface="Microsoft YaHei"/>
                        </a:rPr>
                        <a:t>You’re paid more than me.</a:t>
                      </a:r>
                    </a:p>
                  </a:txBody>
                  <a:tcPr anchor="ctr">
                    <a:solidFill>
                      <a:srgbClr val="FFEFD9"/>
                    </a:solidFill>
                  </a:tcPr>
                </a:tc>
                <a:tc>
                  <a:txBody>
                    <a:bodyPr wrap="square"/>
                    <a:lstStyle/>
                    <a:p>
                      <a:r>
                        <a:rPr sz="1600" b="0">
                          <a:solidFill>
                            <a:srgbClr val="1F2A44"/>
                          </a:solidFill>
                          <a:latin typeface="Arial"/>
                          <a:ea typeface="Microsoft YaHei"/>
                        </a:rPr>
                        <a:t>I understand there may be differences. Could we discuss how pay is set?</a:t>
                      </a:r>
                    </a:p>
                  </a:txBody>
                  <a:tcPr anchor="ctr">
                    <a:solidFill>
                      <a:srgbClr val="FFEFD9"/>
                    </a:solidFill>
                  </a:tcPr>
                </a:tc>
              </a:tr>
              <a:tr h="652272">
                <a:tc>
                  <a:txBody>
                    <a:bodyPr wrap="square"/>
                    <a:lstStyle/>
                    <a:p>
                      <a:r>
                        <a:rPr sz="1600" b="1">
                          <a:solidFill>
                            <a:srgbClr val="1F2A44"/>
                          </a:solidFill>
                          <a:latin typeface="Arial"/>
                          <a:ea typeface="Microsoft YaHei"/>
                        </a:rPr>
                        <a:t>Is it unfair?</a:t>
                      </a:r>
                    </a:p>
                  </a:txBody>
                  <a:tcPr anchor="ctr">
                    <a:solidFill>
                      <a:srgbClr val="FFFFFF"/>
                    </a:solidFill>
                  </a:tcPr>
                </a:tc>
                <a:tc>
                  <a:txBody>
                    <a:bodyPr wrap="square"/>
                    <a:lstStyle/>
                    <a:p>
                      <a:r>
                        <a:rPr sz="1600" b="0">
                          <a:solidFill>
                            <a:srgbClr val="1F2A44"/>
                          </a:solidFill>
                          <a:latin typeface="Arial"/>
                          <a:ea typeface="Microsoft YaHei"/>
                        </a:rPr>
                        <a:t>I’d like to understand the reasons for the difference.</a:t>
                      </a:r>
                    </a:p>
                  </a:txBody>
                  <a:tcPr anchor="ctr">
                    <a:solidFill>
                      <a:srgbClr val="FFFFFF"/>
                    </a:solidFill>
                  </a:tcPr>
                </a:tc>
              </a:tr>
              <a:tr h="408432">
                <a:tc>
                  <a:txBody>
                    <a:bodyPr wrap="square"/>
                    <a:lstStyle/>
                    <a:p>
                      <a:r>
                        <a:rPr sz="1600" b="1">
                          <a:solidFill>
                            <a:srgbClr val="1F2A44"/>
                          </a:solidFill>
                          <a:latin typeface="Arial"/>
                          <a:ea typeface="Microsoft YaHei"/>
                        </a:rPr>
                        <a:t>I deserve more.</a:t>
                      </a:r>
                    </a:p>
                  </a:txBody>
                  <a:tcPr anchor="ctr">
                    <a:solidFill>
                      <a:srgbClr val="FFEFD9"/>
                    </a:solidFill>
                  </a:tcPr>
                </a:tc>
                <a:tc>
                  <a:txBody>
                    <a:bodyPr wrap="square"/>
                    <a:lstStyle/>
                    <a:p>
                      <a:r>
                        <a:rPr sz="1600" b="0">
                          <a:solidFill>
                            <a:srgbClr val="1F2A44"/>
                          </a:solidFill>
                          <a:latin typeface="Arial"/>
                          <a:ea typeface="Microsoft YaHei"/>
                        </a:rPr>
                        <a:t>Based on my results, I’d like to discuss my pay.</a:t>
                      </a:r>
                    </a:p>
                  </a:txBody>
                  <a:tcPr anchor="ctr">
                    <a:solidFill>
                      <a:srgbClr val="FFEFD9"/>
                    </a:solidFill>
                  </a:tcPr>
                </a:tc>
              </a:tr>
            </a:tbl>
          </a:graphicData>
        </a:graphic>
      </p:graphicFrame>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Handling sensitive topics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处理敏感话题</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“I’d like to understand…” and “Could you explain…” for sensitive questions.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much money do you get?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much do you earn?</a:t>
            </a:r>
          </a:p>
          <a:p>
            <a:pPr algn="l">
              <a:spcAft>
                <a:spcPts val="200"/>
              </a:spcAft>
            </a:pPr>
            <a:r>
              <a:rPr sz="1200" b="0">
                <a:solidFill>
                  <a:srgbClr val="FFFFFF"/>
                </a:solidFill>
                <a:latin typeface="Arial"/>
                <a:ea typeface="Microsoft YaHei"/>
              </a:rPr>
              <a:t>earn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salary is increased.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salary has gone up. / My salary increased.</a:t>
            </a:r>
          </a:p>
          <a:p>
            <a:pPr algn="l">
              <a:spcAft>
                <a:spcPts val="200"/>
              </a:spcAft>
            </a:pPr>
            <a:r>
              <a:rPr sz="1200" b="0">
                <a:solidFill>
                  <a:srgbClr val="FFFFFF"/>
                </a:solidFill>
                <a:latin typeface="Arial"/>
                <a:ea typeface="Microsoft YaHei"/>
              </a:rPr>
              <a:t>不及物/被动</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ask for raise my salary.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ask for a raise.</a:t>
            </a:r>
          </a:p>
          <a:p>
            <a:pPr algn="l">
              <a:spcAft>
                <a:spcPts val="200"/>
              </a:spcAft>
            </a:pPr>
            <a:r>
              <a:rPr sz="1200" b="0">
                <a:solidFill>
                  <a:srgbClr val="FFFFFF"/>
                </a:solidFill>
                <a:latin typeface="Arial"/>
                <a:ea typeface="Microsoft YaHei"/>
              </a:rPr>
              <a:t>ask for +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earns 3000 per one month.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earns 3,000 a month.</a:t>
            </a:r>
          </a:p>
          <a:p>
            <a:pPr algn="l">
              <a:spcAft>
                <a:spcPts val="200"/>
              </a:spcAft>
            </a:pPr>
            <a:r>
              <a:rPr sz="1200" b="0">
                <a:solidFill>
                  <a:srgbClr val="FFFFFF"/>
                </a:solidFill>
                <a:latin typeface="Arial"/>
                <a:ea typeface="Microsoft YaHei"/>
              </a:rPr>
              <a:t>a month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salary of him is high.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His salary is high.</a:t>
            </a:r>
          </a:p>
          <a:p>
            <a:pPr algn="l">
              <a:spcAft>
                <a:spcPts val="200"/>
              </a:spcAft>
            </a:pPr>
            <a:r>
              <a:rPr sz="1200" b="0">
                <a:solidFill>
                  <a:srgbClr val="FFFFFF"/>
                </a:solidFill>
                <a:latin typeface="Arial"/>
                <a:ea typeface="Microsoft YaHei"/>
              </a:rPr>
              <a:t>所有格</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secrecy.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 secret.</a:t>
            </a:r>
          </a:p>
          <a:p>
            <a:pPr algn="l">
              <a:spcAft>
                <a:spcPts val="200"/>
              </a:spcAft>
            </a:pPr>
            <a:r>
              <a:rPr sz="1200" b="0">
                <a:solidFill>
                  <a:srgbClr val="FFFFFF"/>
                </a:solidFill>
                <a:latin typeface="Arial"/>
                <a:ea typeface="Microsoft YaHei"/>
              </a:rPr>
              <a:t>secret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earn vs get paid, a month, possessives, ask for a raise.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Pay is private in many countries. Don’t ask colleagues directly.</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Use ranges. In the US and UK, asking for a range in interviews is normal.</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Some countries require pay transparency in adverts; check local rules.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Negotiate with data. Quote market benchmarks.</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pay transparency with balanced views.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pay tactfully.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 pay concern calmly.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earn, ask for a raise and possessives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69 How much your co-workers get paid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Practise asking about a salary range in 3 sentences.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earn, ask for a raise, a month, possessives.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70 Spotting toxic workplaces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Spotting toxic workplaces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识别有害的职场</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recognise warning signs of a toxic workplace, describe them professionally and discuss what to do.</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make you leave a job immediately?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in a toxic environment?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early warning signs of a bad workplace?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one toxic person ruin a team?</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you do if you see bullying at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“toxic” = 有毒的;“red flag” = 危险信号。第 2 题现在完成时问经历。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signs of a toxic workplace and what someone can do.</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signs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effects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options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advice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Warning signs include…   💬 It can lead to…   💬 One option is to…   💬 If it continues,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“warning signs include…” 先列举再展开。</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Red flags to watch for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toxic workplace is one where behaviour regularly harms people’s well-being or performance. Warning signs appear early. In interviews, you might notice vague answers about turnover, a rush to hire, or managers who criticise former staff. Inside a company, red flags include constant gossip, public blaming, unrealistic deadlines, favouritism, and a lack of respect for boundaries. People often stop speaking up, and the best employees leave quietly. One bad incident does not make a toxic culture; the pattern matters. If you are affected, keep a record of events, talk to someone you trust, and consider formal channels such as HR. Sometimes the best decision is to leave, but it is wise to build savings and options first, so that you choose your exit rather than escape in panic.</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two red flags in an interview.</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Vague answers about turnover, rush to hire, managers criticising former staff.</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matters more than a single incident?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pattern.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do before leaving?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Build savings and options so you choose your exit.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Warning signs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警示信号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toxic workplace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有害的职场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left a toxic workplace.”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 flag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危险信号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“High turnover is a red flag.”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micromanagement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微观管理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“Micromanagement kills trust.”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bullying / harassment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霸凌/骚扰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“Bullying is unacceptable.”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gaslighting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煤气灯效应(操纵)</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denied events — it was gaslighting.”</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Effects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影响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high turnover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高流失率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high turnover in that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low morale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士气低落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“Morale is low.”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toll</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造成损害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took a toll on her health.”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on eggshells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如履薄冰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walk on eggshells around him.”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blame culture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追责文化</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blame culture stops learning.”</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Responding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document incidents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记录事件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“Document every incident.”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report to HR</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向人力资源汇报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reported it to HR.”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boundaries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设定界限</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boundaries politely.”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speak up</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大胆发声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“Speak up if you can.”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your losses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及时止损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“Sometimes it’s best to cut your losses.”</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高流失率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 turnover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追责文化</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blame culture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及时止损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your losses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微观管理</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micromanagement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士气低落</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low morale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记录事件</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document incidents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大胆发声</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speak up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如履薄冰</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on eggshells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toxic</a:t>
            </a:r>
          </a:p>
        </p:txBody>
      </p:sp>
      <p:sp>
        <p:nvSpPr>
          <p:cNvPr id="10" name="Rounded Rectangle 9"/>
          <p:cNvSpPr/>
          <p:nvPr/>
        </p:nvSpPr>
        <p:spPr>
          <a:xfrm>
            <a:off x="3017520"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flag</a:t>
            </a:r>
          </a:p>
        </p:txBody>
      </p:sp>
      <p:sp>
        <p:nvSpPr>
          <p:cNvPr id="11" name="Rounded Rectangle 10"/>
          <p:cNvSpPr/>
          <p:nvPr/>
        </p:nvSpPr>
        <p:spPr>
          <a:xfrm>
            <a:off x="391363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turnover</a:t>
            </a:r>
          </a:p>
        </p:txBody>
      </p:sp>
      <p:sp>
        <p:nvSpPr>
          <p:cNvPr id="12" name="Rounded Rectangle 11"/>
          <p:cNvSpPr/>
          <p:nvPr/>
        </p:nvSpPr>
        <p:spPr>
          <a:xfrm>
            <a:off x="524865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morale</a:t>
            </a:r>
          </a:p>
        </p:txBody>
      </p:sp>
      <p:sp>
        <p:nvSpPr>
          <p:cNvPr id="13" name="Rounded Rectangle 12"/>
          <p:cNvSpPr/>
          <p:nvPr/>
        </p:nvSpPr>
        <p:spPr>
          <a:xfrm>
            <a:off x="636422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document</a:t>
            </a:r>
          </a:p>
        </p:txBody>
      </p:sp>
      <p:sp>
        <p:nvSpPr>
          <p:cNvPr id="14" name="Rounded Rectangle 13"/>
          <p:cNvSpPr/>
          <p:nvPr/>
        </p:nvSpPr>
        <p:spPr>
          <a:xfrm>
            <a:off x="7699248"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boundaries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left a _______ workplace after a year.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toxic</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High turnover is a red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There is high staff _______ in that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turnover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is low after the layoffs.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Morale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You should _______ every incident.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document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Set clear _______ with your manager.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boundaries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report something TO HR,suffer FROM,bully someone / be bullied BY;harassment 拼写。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Talking to a trusted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与可信同事谈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describe a bad situation.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Trusted colleague</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Talking to a trusted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talk to you in confidence? I’ve been struggling with how my manager treats the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What’s been happening?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 criticises people in public, and we’re all walking on eggshells.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really stressful. Have you documented any incidents?</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trusted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few. I’m not sure whether to go to HR.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be worth keeping a record first and then deciding.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idea. Thanks for listening.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here if you need to talk.</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Talking to a trusted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confide in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Person affected.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Trusted colleague.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 confidence · walking on eggshells · documented · HR · I’m here if…</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factually and discuss options.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Keep the language factual.</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impact on health.</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first step.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Reporting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向人力资源汇报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formal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HR</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Reporting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report a concern about my manager’s behaviour.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coming. What happened?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three occasions, he raised his voice in front of the team. I’ve written down the dates.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it affect you?</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Reporting to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find it hard to concentrate, and morale in the team is low.</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We’ll treat this confidentially and look into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happens next?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speak to him and others, and update you within a week.</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Reporting to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a concern formally.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Concern: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a concern · on three occasions · confidentially · look into it · update you</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facts calmly and ask about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emotional language.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protection from retaliation.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Provide evidence.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serious red flag?</a:t>
            </a:r>
          </a:p>
          <a:p>
            <a:pPr algn="l">
              <a:lnSpc>
                <a:spcPct val="115000"/>
              </a:lnSpc>
              <a:spcAft>
                <a:spcPts val="800"/>
              </a:spcAft>
            </a:pPr>
            <a:r>
              <a:rPr sz="1400" b="0">
                <a:solidFill>
                  <a:srgbClr val="5F677A"/>
                </a:solidFill>
                <a:latin typeface="Arial"/>
                <a:ea typeface="Microsoft YaHei"/>
              </a:rPr>
              <a:t>💬 “I think… is the most serious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report bad behaviour?</a:t>
            </a:r>
          </a:p>
          <a:p>
            <a:pPr algn="l">
              <a:lnSpc>
                <a:spcPct val="115000"/>
              </a:lnSpc>
              <a:spcAft>
                <a:spcPts val="800"/>
              </a:spcAft>
            </a:pPr>
            <a:r>
              <a:rPr sz="1400" b="0">
                <a:solidFill>
                  <a:srgbClr val="5F677A"/>
                </a:solidFill>
                <a:latin typeface="Arial"/>
                <a:ea typeface="Microsoft YaHei"/>
              </a:rPr>
              <a:t>💬 “Yes,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toxic workplaces change?</a:t>
            </a:r>
          </a:p>
          <a:p>
            <a:pPr algn="l">
              <a:lnSpc>
                <a:spcPct val="115000"/>
              </a:lnSpc>
              <a:spcAft>
                <a:spcPts val="800"/>
              </a:spcAft>
            </a:pPr>
            <a:r>
              <a:rPr sz="1400" b="0">
                <a:solidFill>
                  <a:srgbClr val="5F677A"/>
                </a:solidFill>
                <a:latin typeface="Arial"/>
                <a:ea typeface="Microsoft YaHei"/>
              </a:rPr>
              <a:t>💬 “Sometimes, if leaders…”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check a company’s culture before joining?</a:t>
            </a:r>
          </a:p>
          <a:p>
            <a:pPr algn="l">
              <a:lnSpc>
                <a:spcPct val="115000"/>
              </a:lnSpc>
              <a:spcAft>
                <a:spcPts val="800"/>
              </a:spcAft>
            </a:pPr>
            <a:r>
              <a:rPr sz="1400" b="0">
                <a:solidFill>
                  <a:srgbClr val="5F677A"/>
                </a:solidFill>
                <a:latin typeface="Arial"/>
                <a:ea typeface="Microsoft YaHei"/>
              </a:rPr>
              <a:t>💬 “I’d talk to… / read…”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it time to leave?</a:t>
            </a:r>
          </a:p>
          <a:p>
            <a:pPr algn="l">
              <a:lnSpc>
                <a:spcPct val="115000"/>
              </a:lnSpc>
              <a:spcAft>
                <a:spcPts val="800"/>
              </a:spcAft>
            </a:pPr>
            <a:r>
              <a:rPr sz="1400" b="0">
                <a:solidFill>
                  <a:srgbClr val="5F677A"/>
                </a:solidFill>
                <a:latin typeface="Arial"/>
                <a:ea typeface="Microsoft YaHei"/>
              </a:rPr>
              <a:t>💬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say it’s time to leave when your health is affected and you’ve tried to improve things without success. Staying in a harmful environment can damage confidence and well-being. Before leaving, I’d save some money and update my CV. Leaving isn’t a failure. It’s protecting yourself.</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“without success” 无果;“protecting yourself” 保护自己。</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patterns objectively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客观描述模式</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Subjective</a:t>
                      </a:r>
                    </a:p>
                  </a:txBody>
                  <a:tcPr anchor="ctr">
                    <a:solidFill>
                      <a:srgbClr val="3CC49A"/>
                    </a:solidFill>
                  </a:tcPr>
                </a:tc>
                <a:tc>
                  <a:txBody>
                    <a:bodyPr wrap="square"/>
                    <a:lstStyle/>
                    <a:p>
                      <a:r>
                        <a:rPr sz="1600" b="1">
                          <a:solidFill>
                            <a:srgbClr val="FFFFFF"/>
                          </a:solidFill>
                          <a:latin typeface="Arial"/>
                          <a:ea typeface="Microsoft YaHei"/>
                        </a:rPr>
                        <a:t>Objective</a:t>
                      </a:r>
                    </a:p>
                  </a:txBody>
                  <a:tcPr anchor="ctr">
                    <a:solidFill>
                      <a:srgbClr val="3CC49A"/>
                    </a:solidFill>
                  </a:tcPr>
                </a:tc>
              </a:tr>
              <a:tr h="408432">
                <a:tc>
                  <a:txBody>
                    <a:bodyPr wrap="square"/>
                    <a:lstStyle/>
                    <a:p>
                      <a:r>
                        <a:rPr sz="1600" b="1">
                          <a:solidFill>
                            <a:srgbClr val="1F2A44"/>
                          </a:solidFill>
                          <a:latin typeface="Arial"/>
                          <a:ea typeface="Microsoft YaHei"/>
                        </a:rPr>
                        <a:t>He is a terrible boss.</a:t>
                      </a:r>
                    </a:p>
                  </a:txBody>
                  <a:tcPr anchor="ctr">
                    <a:solidFill>
                      <a:srgbClr val="FFFFFF"/>
                    </a:solidFill>
                  </a:tcPr>
                </a:tc>
                <a:tc>
                  <a:txBody>
                    <a:bodyPr wrap="square"/>
                    <a:lstStyle/>
                    <a:p>
                      <a:r>
                        <a:rPr sz="1600" b="0">
                          <a:solidFill>
                            <a:srgbClr val="1F2A44"/>
                          </a:solidFill>
                          <a:latin typeface="Arial"/>
                          <a:ea typeface="Microsoft YaHei"/>
                        </a:rPr>
                        <a:t>On three occasions, he raised his voice.</a:t>
                      </a:r>
                    </a:p>
                  </a:txBody>
                  <a:tcPr anchor="ctr">
                    <a:solidFill>
                      <a:srgbClr val="FFFFFF"/>
                    </a:solidFill>
                  </a:tcPr>
                </a:tc>
              </a:tr>
              <a:tr h="652272">
                <a:tc>
                  <a:txBody>
                    <a:bodyPr wrap="square"/>
                    <a:lstStyle/>
                    <a:p>
                      <a:r>
                        <a:rPr sz="1600" b="1">
                          <a:solidFill>
                            <a:srgbClr val="1F2A44"/>
                          </a:solidFill>
                          <a:latin typeface="Arial"/>
                          <a:ea typeface="Microsoft YaHei"/>
                        </a:rPr>
                        <a:t>Everyone hates him.</a:t>
                      </a:r>
                    </a:p>
                  </a:txBody>
                  <a:tcPr anchor="ctr">
                    <a:solidFill>
                      <a:srgbClr val="FFEFD9"/>
                    </a:solidFill>
                  </a:tcPr>
                </a:tc>
                <a:tc>
                  <a:txBody>
                    <a:bodyPr wrap="square"/>
                    <a:lstStyle/>
                    <a:p>
                      <a:r>
                        <a:rPr sz="1600" b="0">
                          <a:solidFill>
                            <a:srgbClr val="1F2A44"/>
                          </a:solidFill>
                          <a:latin typeface="Arial"/>
                          <a:ea typeface="Microsoft YaHei"/>
                        </a:rPr>
                        <a:t>Several team members have told me they feel uncomfortable.</a:t>
                      </a:r>
                    </a:p>
                  </a:txBody>
                  <a:tcPr anchor="ctr">
                    <a:solidFill>
                      <a:srgbClr val="FFEFD9"/>
                    </a:solidFill>
                  </a:tcPr>
                </a:tc>
              </a:tr>
              <a:tr h="408432">
                <a:tc>
                  <a:txBody>
                    <a:bodyPr wrap="square"/>
                    <a:lstStyle/>
                    <a:p>
                      <a:r>
                        <a:rPr sz="1600" b="1">
                          <a:solidFill>
                            <a:srgbClr val="1F2A44"/>
                          </a:solidFill>
                          <a:latin typeface="Arial"/>
                          <a:ea typeface="Microsoft YaHei"/>
                        </a:rPr>
                        <a:t>It’s always like this.</a:t>
                      </a:r>
                    </a:p>
                  </a:txBody>
                  <a:tcPr anchor="ctr">
                    <a:solidFill>
                      <a:srgbClr val="FFFFFF"/>
                    </a:solidFill>
                  </a:tcPr>
                </a:tc>
                <a:tc>
                  <a:txBody>
                    <a:bodyPr wrap="square"/>
                    <a:lstStyle/>
                    <a:p>
                      <a:r>
                        <a:rPr sz="1600" b="0">
                          <a:solidFill>
                            <a:srgbClr val="1F2A44"/>
                          </a:solidFill>
                          <a:latin typeface="Arial"/>
                          <a:ea typeface="Microsoft YaHei"/>
                        </a:rPr>
                        <a:t>This has happened every week this month.</a:t>
                      </a:r>
                    </a:p>
                  </a:txBody>
                  <a:tcPr anchor="ctr">
                    <a:solidFill>
                      <a:srgbClr val="FFFFFF"/>
                    </a:solidFill>
                  </a:tcPr>
                </a:tc>
              </a:tr>
              <a:tr h="408432">
                <a:tc>
                  <a:txBody>
                    <a:bodyPr wrap="square"/>
                    <a:lstStyle/>
                    <a:p>
                      <a:r>
                        <a:rPr sz="1600" b="1">
                          <a:solidFill>
                            <a:srgbClr val="1F2A44"/>
                          </a:solidFill>
                          <a:latin typeface="Arial"/>
                          <a:ea typeface="Microsoft YaHei"/>
                        </a:rPr>
                        <a:t>The culture is poison.</a:t>
                      </a:r>
                    </a:p>
                  </a:txBody>
                  <a:tcPr anchor="ctr">
                    <a:solidFill>
                      <a:srgbClr val="FFEFD9"/>
                    </a:solidFill>
                  </a:tcPr>
                </a:tc>
                <a:tc>
                  <a:txBody>
                    <a:bodyPr wrap="square"/>
                    <a:lstStyle/>
                    <a:p>
                      <a:r>
                        <a:rPr sz="1600" b="0">
                          <a:solidFill>
                            <a:srgbClr val="1F2A44"/>
                          </a:solidFill>
                          <a:latin typeface="Arial"/>
                          <a:ea typeface="Microsoft YaHei"/>
                        </a:rPr>
                        <a:t>The culture seems to discourage open discussion.</a:t>
                      </a:r>
                    </a:p>
                  </a:txBody>
                  <a:tcPr anchor="ctr">
                    <a:solidFill>
                      <a:srgbClr val="FFEFD9"/>
                    </a:solidFill>
                  </a:tcPr>
                </a:tc>
              </a:tr>
            </a:tbl>
          </a:graphicData>
        </a:graphic>
      </p:graphicFrame>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patterns objectively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客观描述模式</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dates, frequency, impact when reporting: </a:t>
            </a:r>
            <a:r>
              <a:rPr sz="1700" b="0">
                <a:solidFill>
                  <a:srgbClr val="1F2A44"/>
                </a:solidFill>
                <a:latin typeface="Arial"/>
                <a:ea typeface="Microsoft YaHei"/>
              </a:rPr>
              <a:t>on three occasions, every week, as a result.</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boss is very toxic.</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boss’s behaviour is toxic. / We have a toxic culture.</a:t>
            </a:r>
          </a:p>
          <a:p>
            <a:pPr algn="l">
              <a:spcAft>
                <a:spcPts val="200"/>
              </a:spcAft>
            </a:pPr>
            <a:r>
              <a:rPr sz="1200" b="0">
                <a:solidFill>
                  <a:srgbClr val="FFFFFF"/>
                </a:solidFill>
                <a:latin typeface="Arial"/>
                <a:ea typeface="Microsoft YaHei"/>
              </a:rPr>
              <a:t>形容行为</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bullied by the team.</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bullied by the team.</a:t>
            </a:r>
          </a:p>
          <a:p>
            <a:pPr algn="l">
              <a:spcAft>
                <a:spcPts val="200"/>
              </a:spcAft>
            </a:pPr>
            <a:r>
              <a:rPr sz="1200" b="0">
                <a:solidFill>
                  <a:srgbClr val="FFFFFF"/>
                </a:solidFill>
                <a:latin typeface="Arial"/>
                <a:ea typeface="Microsoft YaHei"/>
              </a:rPr>
              <a:t>被动</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suffer with stress.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suffer from stress.</a:t>
            </a:r>
          </a:p>
          <a:p>
            <a:pPr algn="l">
              <a:spcAft>
                <a:spcPts val="200"/>
              </a:spcAft>
            </a:pPr>
            <a:r>
              <a:rPr sz="1200" b="0">
                <a:solidFill>
                  <a:srgbClr val="FFFFFF"/>
                </a:solidFill>
                <a:latin typeface="Arial"/>
                <a:ea typeface="Microsoft YaHei"/>
              </a:rPr>
              <a:t>suffer from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I’ve been treated bad.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treated badly.</a:t>
            </a:r>
          </a:p>
          <a:p>
            <a:pPr algn="l">
              <a:spcAft>
                <a:spcPts val="200"/>
              </a:spcAft>
            </a:pPr>
            <a:r>
              <a:rPr sz="1200" b="0">
                <a:solidFill>
                  <a:srgbClr val="FFFFFF"/>
                </a:solidFill>
                <a:latin typeface="Arial"/>
                <a:ea typeface="Microsoft YaHei"/>
              </a:rPr>
              <a:t>副词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report him to the HR.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report him to HR.</a:t>
            </a:r>
          </a:p>
          <a:p>
            <a:pPr algn="l">
              <a:spcAft>
                <a:spcPts val="200"/>
              </a:spcAft>
            </a:pPr>
            <a:r>
              <a:rPr sz="1200" b="0">
                <a:solidFill>
                  <a:srgbClr val="FFFFFF"/>
                </a:solidFill>
                <a:latin typeface="Arial"/>
                <a:ea typeface="Microsoft YaHei"/>
              </a:rPr>
              <a:t>HR 无冠词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made me feeling uncomfortable.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made me feel uncomfortable.</a:t>
            </a:r>
          </a:p>
          <a:p>
            <a:pPr algn="l">
              <a:spcAft>
                <a:spcPts val="200"/>
              </a:spcAft>
            </a:pPr>
            <a:r>
              <a:rPr sz="1200" b="0">
                <a:solidFill>
                  <a:srgbClr val="FFFFFF"/>
                </a:solidFill>
                <a:latin typeface="Arial"/>
                <a:ea typeface="Microsoft YaHei"/>
              </a:rPr>
              <a:t>make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suffer from, adverbs, no article before HR.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Keep records. Dates and facts help formal processes.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Confidentiality. HR must treat reports confidentially, but not secretly in every case.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Know the policy. Look for “speak-up” or whistleblowing policies.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Legal protection. Many countries protect people who report in good faith.</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list warning signs of a toxic workplace.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problems factually.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report a concern professionally.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passive forms and suffer from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70 Spotting toxic workplaces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Role-play: describe a problem factually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passive, suffer from, adverbs, HR no article.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71 Modern workplace amenities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109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Modern workplace amenities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现代办公环境(设施)</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office facilities and perks, and discuss which amenities really improve work.</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facilities does your office have?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amenity would you most like to have?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perks make people happier at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your ideal office look like?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a big office better than working from home?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“amenities” = 便利设施;“perk” = 额外福利。注意 “facilities” 常用复数。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office and what you would add.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has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what’s good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what’s missing</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you’d add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Our office has…   💬 It’s equipped with…   💬 What I’d like to see is…   💬 It would make it easier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equipped with” 配备;“What I’d like to see is…” 我希望看到的是…</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Perks that matter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Offices today often include more than desks. Many have quiet rooms, phone booths, fitness spaces, coffee bars and relaxed meeting areas. Some companies provide healthy food, bike storage or on-site childcare. These amenities aim to attract talent and help people feel valued, but their effect depends on the quality of the workplace as a whole. A table-football game cannot make up for unrealistic deadlines or poor management. Surveys often show that employees value practical things most: good lighting, comfortable chairs, quiet spaces to concentrate and reliable technology. Flexibility, such as hybrid working, is increasingly seen as the most important perk of all. Designers now speak of “activity-based working”, in which spaces are designed for different tasks, such as focus, collaboration or relaxation.</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Which amenities do employees value most?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Practical things: lighting, chairs, quiet spaces, reliable technology.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Can perks fix management problems?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a game cannot compensate for unrealistic deadlines or poor management.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activity-based working?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Spaces designed for different tasks such as focus, collaboration, relaxation.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Facilities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设施</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open-plan office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开放式办公室</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in an open-plan office.”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quiet room / phone booth</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安静室/电话间</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take calls in the phone booth.”</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breakout area</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休息讨论区</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meet in the breakout area.”</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hot-desking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灵活座位</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hot-desking.”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ergonomic</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符合人体工学的</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chairs are ergonomic.”</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Perks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福利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perk / benefit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福利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 lunch is a nice perk.”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on-site gym / childcare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现场健身房/托儿所</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an on-site gym.”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flexible working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灵活工作</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“Flexible working is popular.”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nice-to-have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锦上添花之物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 snacks are a nice-to-have.”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deal-breaker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决定性因素</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“No flexibility is a deal-breaker.”</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Design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设计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natural light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自然光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more natural light.”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collaboration space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协作空间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collaboration space is busy.”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acoustics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音响效果/隔音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acoustics are poor.”</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activity-based working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活动式办公</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moved to activity-based working.”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biophilic design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亲生物设计</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“Biophilic design uses plants.”</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自然光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natural light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亲生物设计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biophilic design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音响效果/隔音</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acoustics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活动式办公</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activity-based working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现场健身房/托儿所</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on-site gym / childcare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符合人体工学的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ergonomic</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锦上添花之物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nice-to-have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灵活座位</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hot-desking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open-plan</a:t>
            </a:r>
          </a:p>
        </p:txBody>
      </p:sp>
      <p:sp>
        <p:nvSpPr>
          <p:cNvPr id="10" name="Rounded Rectangle 9"/>
          <p:cNvSpPr/>
          <p:nvPr/>
        </p:nvSpPr>
        <p:spPr>
          <a:xfrm>
            <a:off x="345643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booth</a:t>
            </a:r>
          </a:p>
        </p:txBody>
      </p:sp>
      <p:sp>
        <p:nvSpPr>
          <p:cNvPr id="11" name="Rounded Rectangle 10"/>
          <p:cNvSpPr/>
          <p:nvPr/>
        </p:nvSpPr>
        <p:spPr>
          <a:xfrm>
            <a:off x="446227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breakout</a:t>
            </a:r>
          </a:p>
        </p:txBody>
      </p:sp>
      <p:sp>
        <p:nvSpPr>
          <p:cNvPr id="12" name="Rounded Rectangle 11"/>
          <p:cNvSpPr/>
          <p:nvPr/>
        </p:nvSpPr>
        <p:spPr>
          <a:xfrm>
            <a:off x="5797296"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perk</a:t>
            </a:r>
          </a:p>
        </p:txBody>
      </p:sp>
      <p:sp>
        <p:nvSpPr>
          <p:cNvPr id="13" name="Rounded Rectangle 12"/>
          <p:cNvSpPr/>
          <p:nvPr/>
        </p:nvSpPr>
        <p:spPr>
          <a:xfrm>
            <a:off x="669340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flexible</a:t>
            </a:r>
          </a:p>
        </p:txBody>
      </p:sp>
      <p:sp>
        <p:nvSpPr>
          <p:cNvPr id="14" name="Rounded Rectangle 13"/>
          <p:cNvSpPr/>
          <p:nvPr/>
        </p:nvSpPr>
        <p:spPr>
          <a:xfrm>
            <a:off x="8028432"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natural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work in an _______ office.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open-plan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take calls in the phone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booth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Let’s meet in the _______ area.</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breakout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Free lunch is a nice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working is very popular.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Flexible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office needs more _______ light.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natural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work in an open-plan office,equipped with;facilities 常用复数;amenity 单数少用。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Describing your office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描述你的办公室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Chatting with a friend.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Describing your office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your new office like?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open-plan, with a quiet room and a few phone booths.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noisy?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bit, but the booths help for calls.</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Describing your office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 perks?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Free fruit and an on-site gym. But I’d say flexible hours are the best perk.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add?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More natural light, and better acoustics.</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Describing your office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your office.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Office: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open-plan · phone booth · perk · acoustics · natural light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layout, perks and one improvement.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previous office.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opinion on hot-desking.</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you’d cut.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Suggesting improvements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提出改进办公室建议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talk to facilities.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Facilities manager</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Suggesting improvements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suggest a few changes to the office.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Noise is the biggest problem. Could we add a quiet room?</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possible. What else?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More ergonomic chairs would make it easier to work long hours.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check the budget.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Even small changes would help.</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come back to you next week.</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Suggesting improvements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suggest office improvements.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Facilities 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suggest · quiet room · ergonomic · make it easier to · budget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Suggest changes with reasons and handle budget limits.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Prioritise two items.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low-cost alternative.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survey.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office perk do you value most?</a:t>
            </a:r>
          </a:p>
          <a:p>
            <a:pPr algn="l">
              <a:lnSpc>
                <a:spcPct val="115000"/>
              </a:lnSpc>
              <a:spcAft>
                <a:spcPts val="800"/>
              </a:spcAft>
            </a:pPr>
            <a:r>
              <a:rPr sz="1400" b="0">
                <a:solidFill>
                  <a:srgbClr val="5F677A"/>
                </a:solidFill>
                <a:latin typeface="Arial"/>
                <a:ea typeface="Microsoft YaHei"/>
              </a:rPr>
              <a:t>💬 “I’d say…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open-plan offices a good idea?</a:t>
            </a:r>
          </a:p>
          <a:p>
            <a:pPr algn="l">
              <a:lnSpc>
                <a:spcPct val="115000"/>
              </a:lnSpc>
              <a:spcAft>
                <a:spcPts val="800"/>
              </a:spcAft>
            </a:pPr>
            <a:r>
              <a:rPr sz="1400" b="0">
                <a:solidFill>
                  <a:srgbClr val="5F677A"/>
                </a:solidFill>
                <a:latin typeface="Arial"/>
                <a:ea typeface="Microsoft YaHei"/>
              </a:rPr>
              <a:t>💬 “They can be,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spend on perks or pay?</a:t>
            </a:r>
          </a:p>
          <a:p>
            <a:pPr algn="l">
              <a:lnSpc>
                <a:spcPct val="115000"/>
              </a:lnSpc>
              <a:spcAft>
                <a:spcPts val="800"/>
              </a:spcAft>
            </a:pPr>
            <a:r>
              <a:rPr sz="1400" b="0">
                <a:solidFill>
                  <a:srgbClr val="5F677A"/>
                </a:solidFill>
                <a:latin typeface="Arial"/>
                <a:ea typeface="Microsoft YaHei"/>
              </a:rPr>
              <a:t>💬 “Probably…”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physical offices disappear?</a:t>
            </a:r>
          </a:p>
          <a:p>
            <a:pPr algn="l">
              <a:lnSpc>
                <a:spcPct val="115000"/>
              </a:lnSpc>
              <a:spcAft>
                <a:spcPts val="800"/>
              </a:spcAft>
            </a:pPr>
            <a:r>
              <a:rPr sz="1400" b="0">
                <a:solidFill>
                  <a:srgbClr val="5F677A"/>
                </a:solidFill>
                <a:latin typeface="Arial"/>
                <a:ea typeface="Microsoft YaHei"/>
              </a:rPr>
              <a:t>💬 “I don’t think so,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your ideal office have?</a:t>
            </a:r>
          </a:p>
          <a:p>
            <a:pPr algn="l">
              <a:lnSpc>
                <a:spcPct val="115000"/>
              </a:lnSpc>
              <a:spcAft>
                <a:spcPts val="800"/>
              </a:spcAft>
            </a:pPr>
            <a:r>
              <a:rPr sz="1400" b="0">
                <a:solidFill>
                  <a:srgbClr val="5F677A"/>
                </a:solidFill>
                <a:latin typeface="Arial"/>
                <a:ea typeface="Microsoft YaHei"/>
              </a:rPr>
              <a:t>💬 “It would have…”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Open-plan offices have advantages: they make talking easier and can save space. But they can be noisy and distracting, which is a problem for focused work. I think the best solution is a mix: open areas for collaboration and quiet rooms for concentration.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mix” 混合型;“distracting” 令人分心的。</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Describing places and making suggestions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描述场所与提建议</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There is / There are</a:t>
                      </a:r>
                    </a:p>
                  </a:txBody>
                  <a:tcPr anchor="ctr">
                    <a:solidFill>
                      <a:srgbClr val="FFFFFF"/>
                    </a:solidFill>
                  </a:tcPr>
                </a:tc>
                <a:tc>
                  <a:txBody>
                    <a:bodyPr wrap="square"/>
                    <a:lstStyle/>
                    <a:p>
                      <a:r>
                        <a:rPr sz="1600" b="0">
                          <a:solidFill>
                            <a:srgbClr val="1F2A44"/>
                          </a:solidFill>
                          <a:latin typeface="Arial"/>
                          <a:ea typeface="Microsoft YaHei"/>
                        </a:rPr>
                        <a:t>There are two quiet rooms.</a:t>
                      </a:r>
                    </a:p>
                  </a:txBody>
                  <a:tcPr anchor="ctr">
                    <a:solidFill>
                      <a:srgbClr val="FFFFFF"/>
                    </a:solidFill>
                  </a:tcPr>
                </a:tc>
              </a:tr>
              <a:tr h="408432">
                <a:tc>
                  <a:txBody>
                    <a:bodyPr wrap="square"/>
                    <a:lstStyle/>
                    <a:p>
                      <a:r>
                        <a:rPr sz="1600" b="1">
                          <a:solidFill>
                            <a:srgbClr val="1F2A44"/>
                          </a:solidFill>
                          <a:latin typeface="Arial"/>
                          <a:ea typeface="Microsoft YaHei"/>
                        </a:rPr>
                        <a:t>It has / It’s equipped with</a:t>
                      </a:r>
                    </a:p>
                  </a:txBody>
                  <a:tcPr anchor="ctr">
                    <a:solidFill>
                      <a:srgbClr val="FFEFD9"/>
                    </a:solidFill>
                  </a:tcPr>
                </a:tc>
                <a:tc>
                  <a:txBody>
                    <a:bodyPr wrap="square"/>
                    <a:lstStyle/>
                    <a:p>
                      <a:r>
                        <a:rPr sz="1600" b="0">
                          <a:solidFill>
                            <a:srgbClr val="1F2A44"/>
                          </a:solidFill>
                          <a:latin typeface="Arial"/>
                          <a:ea typeface="Microsoft YaHei"/>
                        </a:rPr>
                        <a:t>It’s equipped with standing desks.</a:t>
                      </a:r>
                    </a:p>
                  </a:txBody>
                  <a:tcPr anchor="ctr">
                    <a:solidFill>
                      <a:srgbClr val="FFEFD9"/>
                    </a:solidFill>
                  </a:tcPr>
                </a:tc>
              </a:tr>
              <a:tr h="408432">
                <a:tc>
                  <a:txBody>
                    <a:bodyPr wrap="square"/>
                    <a:lstStyle/>
                    <a:p>
                      <a:r>
                        <a:rPr sz="1600" b="1">
                          <a:solidFill>
                            <a:srgbClr val="1F2A44"/>
                          </a:solidFill>
                          <a:latin typeface="Arial"/>
                          <a:ea typeface="Microsoft YaHei"/>
                        </a:rPr>
                        <a:t>It would be better if…</a:t>
                      </a:r>
                    </a:p>
                  </a:txBody>
                  <a:tcPr anchor="ctr">
                    <a:solidFill>
                      <a:srgbClr val="FFFFFF"/>
                    </a:solidFill>
                  </a:tcPr>
                </a:tc>
                <a:tc>
                  <a:txBody>
                    <a:bodyPr wrap="square"/>
                    <a:lstStyle/>
                    <a:p>
                      <a:r>
                        <a:rPr sz="1600" b="0">
                          <a:solidFill>
                            <a:srgbClr val="1F2A44"/>
                          </a:solidFill>
                          <a:latin typeface="Arial"/>
                          <a:ea typeface="Microsoft YaHei"/>
                        </a:rPr>
                        <a:t>It would be better if there were more light.</a:t>
                      </a:r>
                    </a:p>
                  </a:txBody>
                  <a:tcPr anchor="ctr">
                    <a:solidFill>
                      <a:srgbClr val="FFFFFF"/>
                    </a:solidFill>
                  </a:tcPr>
                </a:tc>
              </a:tr>
              <a:tr h="408432">
                <a:tc>
                  <a:txBody>
                    <a:bodyPr wrap="square"/>
                    <a:lstStyle/>
                    <a:p>
                      <a:r>
                        <a:rPr sz="1600" b="1">
                          <a:solidFill>
                            <a:srgbClr val="1F2A44"/>
                          </a:solidFill>
                          <a:latin typeface="Arial"/>
                          <a:ea typeface="Microsoft YaHei"/>
                        </a:rPr>
                        <a:t>I’d like to see + noun</a:t>
                      </a:r>
                    </a:p>
                  </a:txBody>
                  <a:tcPr anchor="ctr">
                    <a:solidFill>
                      <a:srgbClr val="FFEFD9"/>
                    </a:solidFill>
                  </a:tcPr>
                </a:tc>
                <a:tc>
                  <a:txBody>
                    <a:bodyPr wrap="square"/>
                    <a:lstStyle/>
                    <a:p>
                      <a:r>
                        <a:rPr sz="1600" b="0">
                          <a:solidFill>
                            <a:srgbClr val="1F2A44"/>
                          </a:solidFill>
                          <a:latin typeface="Arial"/>
                          <a:ea typeface="Microsoft YaHei"/>
                        </a:rPr>
                        <a:t>I’d like to see more plants.</a:t>
                      </a:r>
                    </a:p>
                  </a:txBody>
                  <a:tcPr anchor="ctr">
                    <a:solidFill>
                      <a:srgbClr val="FFEFD9"/>
                    </a:solidFill>
                  </a:tcPr>
                </a:tc>
              </a:tr>
            </a:tbl>
          </a:graphicData>
        </a:graphic>
      </p:graphicFrame>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Describing places and making suggestions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描述场所与提建议</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After It would be better if, use past tense (even for present wishes): if there were, if we had.</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office have a gym.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office has a gym.</a:t>
            </a:r>
          </a:p>
          <a:p>
            <a:pPr algn="l">
              <a:spcAft>
                <a:spcPts val="200"/>
              </a:spcAft>
            </a:pPr>
            <a:r>
              <a:rPr sz="1200" b="0">
                <a:solidFill>
                  <a:srgbClr val="FFFFFF"/>
                </a:solidFill>
                <a:latin typeface="Arial"/>
                <a:ea typeface="Microsoft YaHei"/>
              </a:rPr>
              <a:t>has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two meeting rooms.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two meeting rooms.</a:t>
            </a:r>
          </a:p>
          <a:p>
            <a:pPr algn="l">
              <a:spcAft>
                <a:spcPts val="200"/>
              </a:spcAft>
            </a:pPr>
            <a:r>
              <a:rPr sz="1200" b="0">
                <a:solidFill>
                  <a:srgbClr val="FFFFFF"/>
                </a:solidFill>
                <a:latin typeface="Arial"/>
                <a:ea typeface="Microsoft YaHei"/>
              </a:rPr>
              <a:t>are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many equipments.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lot of equipment.</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furnitures are new.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furniture is new.</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would be better if there is more light.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there were more light.</a:t>
            </a:r>
          </a:p>
          <a:p>
            <a:pPr algn="l">
              <a:spcAft>
                <a:spcPts val="200"/>
              </a:spcAft>
            </a:pPr>
            <a:r>
              <a:rPr sz="1200" b="0">
                <a:solidFill>
                  <a:srgbClr val="FFFFFF"/>
                </a:solidFill>
                <a:latin typeface="Arial"/>
                <a:ea typeface="Microsoft YaHei"/>
              </a:rPr>
              <a:t>虚拟</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in a open-plan office.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in an open-plan office.</a:t>
            </a:r>
          </a:p>
          <a:p>
            <a:pPr algn="l">
              <a:spcAft>
                <a:spcPts val="200"/>
              </a:spcAft>
            </a:pPr>
            <a:r>
              <a:rPr sz="1200" b="0">
                <a:solidFill>
                  <a:srgbClr val="FFFFFF"/>
                </a:solidFill>
                <a:latin typeface="Arial"/>
                <a:ea typeface="Microsoft YaHei"/>
              </a:rPr>
              <a:t>an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equipment / furniture, there are, subjunctive were.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Hybrid is expected. Candidates often ask about hybrid working in interviews.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Open-plan etiquette. Keep calls short and use headphones.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Perks vs pay. Perks are valued but don’t replace fair pay.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Accessibility. Mention accessibility needs politely.</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an office and its amenities.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improvements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open-plan and quiet spaces.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uncountable nouns (equipment, furniture) and there are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71 Modern workplace amenities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ideal office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equipment/furniture uncountable, there are, an open-plan.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72 Coasting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Coasting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混日子 / 躺平式工作</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“coasting” at work: signs, causes, consequences and how to re-engage.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you were just going through the motions at work?</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coast?</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coasting always bad?</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manager spot someone who is coasting?</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you do if you feel bored at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“coasting” 本义为”滑行”,用在工作中指”不求上进、轻松混日子”。“going through the motions” = 敷衍了事。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what coasting means and how someone can move on from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happens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re-engage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Coasting means…   💬 It usually happens when…   💬 The danger is…   💬 To re-engage, you could…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“coast” 滑行,“coast along” 得过且过。</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Doing just enough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Coasting means doing the minimum needed to keep your job while putting little effort into improvement. It can happen after a promotion, after years in the same role, or when someone feels their work is not recognised. At first it feels comfortable: tasks are easy, stress is low and nobody complains. But over time, skills fall behind, motivation fades and colleagues may notice. A coasting employee is at risk if the company changes, because they have little to show for their recent years. Managers can help by offering new challenges, giving honest feedback and linking work to purpose. Individuals can ask: what would I like to learn this year? Small steps, such as taking on a project outside the usual duties, can bring energy back. Coasting can also be a short, healthy rest after a heavy period, provided it does not become permanent.</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When can coasting happen?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After a promotion, after years in the same role, or when work isn’t recognised.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is it risky?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Skills fall behind and the person is vulnerable if the company changes.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can coasting be healthy?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 a short rest after a heavy period, if it does not become permanent.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Coasting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混日子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coast (along)</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得过且过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just coasting along.”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through the motions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敷衍了事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going through the motions.”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the bare minimum</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只做最低限度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does the bare minimum.”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quiet quitting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静默离职(只做分内事)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“Quiet quitting means doing only your job.”</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phone it in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敷衍了事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phoned it in.”</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feel undervalued</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感到不被重视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felt undervalued.”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lose motivation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失去动力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lost motivation.”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bored / unchallenged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无聊/没有挑战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unchallenged.”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stuck in a rut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一成不变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stuck in a rut.”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burnout recovery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倦怠后恢复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in burnout recovery.”</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Re-engaging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重新投入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re-engage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重新投入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to re-engage with your work.”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on a challenge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接受挑战</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on a new challenge.”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a stretch goal</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设定挑战目标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a stretch goal.”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shake things up</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打破常规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shake things up.”</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rekindle (motivation)</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重燃</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“Rekindle your passion.”</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倦怠后恢复</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 recovery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敷衍了事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phone it in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设定挑战目标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a stretch goal</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一成不变</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stuck in a rut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敷衍了事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through the motions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失去动力</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motivation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打破常规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shake things up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重新投入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re-engage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coasting</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motions</a:t>
            </a:r>
          </a:p>
        </p:txBody>
      </p:sp>
      <p:sp>
        <p:nvSpPr>
          <p:cNvPr id="11" name="Rounded Rectangle 10"/>
          <p:cNvSpPr/>
          <p:nvPr/>
        </p:nvSpPr>
        <p:spPr>
          <a:xfrm>
            <a:off x="457200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minimum</a:t>
            </a:r>
          </a:p>
        </p:txBody>
      </p:sp>
      <p:sp>
        <p:nvSpPr>
          <p:cNvPr id="12" name="Rounded Rectangle 11"/>
          <p:cNvSpPr/>
          <p:nvPr/>
        </p:nvSpPr>
        <p:spPr>
          <a:xfrm>
            <a:off x="5797296"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undervalued</a:t>
            </a:r>
          </a:p>
        </p:txBody>
      </p:sp>
      <p:sp>
        <p:nvSpPr>
          <p:cNvPr id="13" name="Rounded Rectangle 12"/>
          <p:cNvSpPr/>
          <p:nvPr/>
        </p:nvSpPr>
        <p:spPr>
          <a:xfrm>
            <a:off x="7461503"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unchallenged</a:t>
            </a:r>
          </a:p>
        </p:txBody>
      </p:sp>
      <p:sp>
        <p:nvSpPr>
          <p:cNvPr id="14" name="Rounded Rectangle 13"/>
          <p:cNvSpPr/>
          <p:nvPr/>
        </p:nvSpPr>
        <p:spPr>
          <a:xfrm>
            <a:off x="9235438"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re-engage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He’s just _______ along until retirement.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coasting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She’s going through the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motions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does the bare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feel _______ and want recognition.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undervalued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feel _______ in this role.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unchallenged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find a way to _______ with the work.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re-engage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go through the motions,coast along,the bare minimum;coast 不及物。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Talking honestly about motivation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坦诚谈动力</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checks in.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honestly about motivation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noticed you seem less engaged lately. Is everything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I’ve been coasting. The work feels routine.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being honest. What would you like to change?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a new challenge, something I haven’t done before.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a project on customer analytics. Would that interest you?</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It would help me learn new skills.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set a stretch goal and review in a month.</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feel energised already.</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Talking honestly about motivation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motivation.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Situation: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seem less engaged · coasting · new challenge · stretch goal · energised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 honestly and agree a challenge.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an obstacle.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training.</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deadline for review.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Giving feedback about coasting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对混日子的同事提出反馈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speaks to a long-serving employee.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Long-serving employee</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Giving feedback about coasting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You’ve done great work for years. Lately, I feel you’re not stretching yourself.</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I’ve been in the same role for ten years.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motivate you?</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mentoring younger staff.</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feedback about coasting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idea. It would use your experience.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enjoy it. I’ve been feeling a bit stuck in a rut.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make a plan.</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raising this kindly.</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Giving feedback about coasting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sensitive feedback.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Role: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not stretching yourself · same role · motivate you · stuck in a rut · make a plan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kind but honest feedback and agree a new role.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Start with appreciation.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facts, not labels.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options.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coasting the employee’s fault or the company’s?</a:t>
            </a:r>
          </a:p>
          <a:p>
            <a:pPr algn="l">
              <a:lnSpc>
                <a:spcPct val="115000"/>
              </a:lnSpc>
              <a:spcAft>
                <a:spcPts val="800"/>
              </a:spcAft>
            </a:pPr>
            <a:r>
              <a:rPr sz="1400" b="0">
                <a:solidFill>
                  <a:srgbClr val="5F677A"/>
                </a:solidFill>
                <a:latin typeface="Arial"/>
                <a:ea typeface="Microsoft YaHei"/>
              </a:rPr>
              <a:t>💬 “Both,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“quiet quitting” a problem?</a:t>
            </a:r>
          </a:p>
          <a:p>
            <a:pPr algn="l">
              <a:lnSpc>
                <a:spcPct val="115000"/>
              </a:lnSpc>
              <a:spcAft>
                <a:spcPts val="800"/>
              </a:spcAft>
            </a:pPr>
            <a:r>
              <a:rPr sz="1400" b="0">
                <a:solidFill>
                  <a:srgbClr val="5F677A"/>
                </a:solidFill>
                <a:latin typeface="Arial"/>
                <a:ea typeface="Microsoft YaHei"/>
              </a:rPr>
              <a:t>💬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everyone be highly motivated all the time?</a:t>
            </a:r>
          </a:p>
          <a:p>
            <a:pPr algn="l">
              <a:lnSpc>
                <a:spcPct val="115000"/>
              </a:lnSpc>
              <a:spcAft>
                <a:spcPts val="800"/>
              </a:spcAft>
            </a:pPr>
            <a:r>
              <a:rPr sz="1400" b="0">
                <a:solidFill>
                  <a:srgbClr val="5F677A"/>
                </a:solidFill>
                <a:latin typeface="Arial"/>
                <a:ea typeface="Microsoft YaHei"/>
              </a:rPr>
              <a:t>💬 “No,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re-energise you at work?</a:t>
            </a:r>
          </a:p>
          <a:p>
            <a:pPr algn="l">
              <a:lnSpc>
                <a:spcPct val="115000"/>
              </a:lnSpc>
              <a:spcAft>
                <a:spcPts val="800"/>
              </a:spcAft>
            </a:pPr>
            <a:r>
              <a:rPr sz="1400" b="0">
                <a:solidFill>
                  <a:srgbClr val="5F677A"/>
                </a:solidFill>
                <a:latin typeface="Arial"/>
                <a:ea typeface="Microsoft YaHei"/>
              </a:rPr>
              <a:t>💬 “A new… / More…”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managers treat a coasting employee?</a:t>
            </a:r>
          </a:p>
          <a:p>
            <a:pPr algn="l">
              <a:lnSpc>
                <a:spcPct val="115000"/>
              </a:lnSpc>
              <a:spcAft>
                <a:spcPts val="800"/>
              </a:spcAft>
            </a:pPr>
            <a:r>
              <a:rPr sz="1400" b="0">
                <a:solidFill>
                  <a:srgbClr val="5F677A"/>
                </a:solidFill>
                <a:latin typeface="Arial"/>
                <a:ea typeface="Microsoft YaHei"/>
              </a:rPr>
              <a:t>💬 “They should…”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don’t think anyone can be highly motivated all the time. Energy goes up and down, and people have different priorities at different life stages. The problem is when low motivation lasts for years and nobody addresses it. A good manager will talk to the person and look for new challenges.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“addresses” = 正视处理;“life stages” 人生阶段。</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sensitive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给予敏感反馈</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Blunt</a:t>
                      </a:r>
                    </a:p>
                  </a:txBody>
                  <a:tcPr anchor="ctr">
                    <a:solidFill>
                      <a:srgbClr val="3CC49A"/>
                    </a:solidFill>
                  </a:tcPr>
                </a:tc>
                <a:tc>
                  <a:txBody>
                    <a:bodyPr wrap="square"/>
                    <a:lstStyle/>
                    <a:p>
                      <a:r>
                        <a:rPr sz="1600" b="1">
                          <a:solidFill>
                            <a:srgbClr val="FFFFFF"/>
                          </a:solidFill>
                          <a:latin typeface="Arial"/>
                          <a:ea typeface="Microsoft YaHei"/>
                        </a:rPr>
                        <a:t>Tactful</a:t>
                      </a:r>
                    </a:p>
                  </a:txBody>
                  <a:tcPr anchor="ctr">
                    <a:solidFill>
                      <a:srgbClr val="3CC49A"/>
                    </a:solidFill>
                  </a:tcPr>
                </a:tc>
              </a:tr>
              <a:tr h="408432">
                <a:tc>
                  <a:txBody>
                    <a:bodyPr wrap="square"/>
                    <a:lstStyle/>
                    <a:p>
                      <a:r>
                        <a:rPr sz="1600" b="1">
                          <a:solidFill>
                            <a:srgbClr val="1F2A44"/>
                          </a:solidFill>
                          <a:latin typeface="Arial"/>
                          <a:ea typeface="Microsoft YaHei"/>
                        </a:rPr>
                        <a:t>You’re lazy.</a:t>
                      </a:r>
                    </a:p>
                  </a:txBody>
                  <a:tcPr anchor="ctr">
                    <a:solidFill>
                      <a:srgbClr val="FFFFFF"/>
                    </a:solidFill>
                  </a:tcPr>
                </a:tc>
                <a:tc>
                  <a:txBody>
                    <a:bodyPr wrap="square"/>
                    <a:lstStyle/>
                    <a:p>
                      <a:r>
                        <a:rPr sz="1600" b="0">
                          <a:solidFill>
                            <a:srgbClr val="1F2A44"/>
                          </a:solidFill>
                          <a:latin typeface="Arial"/>
                          <a:ea typeface="Microsoft YaHei"/>
                        </a:rPr>
                        <a:t>I’ve noticed you seem less engaged lately.</a:t>
                      </a:r>
                    </a:p>
                  </a:txBody>
                  <a:tcPr anchor="ctr">
                    <a:solidFill>
                      <a:srgbClr val="FFFFFF"/>
                    </a:solidFill>
                  </a:tcPr>
                </a:tc>
              </a:tr>
              <a:tr h="408432">
                <a:tc>
                  <a:txBody>
                    <a:bodyPr wrap="square"/>
                    <a:lstStyle/>
                    <a:p>
                      <a:r>
                        <a:rPr sz="1600" b="1">
                          <a:solidFill>
                            <a:srgbClr val="1F2A44"/>
                          </a:solidFill>
                          <a:latin typeface="Arial"/>
                          <a:ea typeface="Microsoft YaHei"/>
                        </a:rPr>
                        <a:t>You do nothing.</a:t>
                      </a:r>
                    </a:p>
                  </a:txBody>
                  <a:tcPr anchor="ctr">
                    <a:solidFill>
                      <a:srgbClr val="FFEFD9"/>
                    </a:solidFill>
                  </a:tcPr>
                </a:tc>
                <a:tc>
                  <a:txBody>
                    <a:bodyPr wrap="square"/>
                    <a:lstStyle/>
                    <a:p>
                      <a:r>
                        <a:rPr sz="1600" b="0">
                          <a:solidFill>
                            <a:srgbClr val="1F2A44"/>
                          </a:solidFill>
                          <a:latin typeface="Arial"/>
                          <a:ea typeface="Microsoft YaHei"/>
                        </a:rPr>
                        <a:t>I feel there’s room to take on more.</a:t>
                      </a:r>
                    </a:p>
                  </a:txBody>
                  <a:tcPr anchor="ctr">
                    <a:solidFill>
                      <a:srgbClr val="FFEFD9"/>
                    </a:solidFill>
                  </a:tcPr>
                </a:tc>
              </a:tr>
              <a:tr h="408432">
                <a:tc>
                  <a:txBody>
                    <a:bodyPr wrap="square"/>
                    <a:lstStyle/>
                    <a:p>
                      <a:r>
                        <a:rPr sz="1600" b="1">
                          <a:solidFill>
                            <a:srgbClr val="1F2A44"/>
                          </a:solidFill>
                          <a:latin typeface="Arial"/>
                          <a:ea typeface="Microsoft YaHei"/>
                        </a:rPr>
                        <a:t>You don’t care.</a:t>
                      </a:r>
                    </a:p>
                  </a:txBody>
                  <a:tcPr anchor="ctr">
                    <a:solidFill>
                      <a:srgbClr val="FFFFFF"/>
                    </a:solidFill>
                  </a:tcPr>
                </a:tc>
                <a:tc>
                  <a:txBody>
                    <a:bodyPr wrap="square"/>
                    <a:lstStyle/>
                    <a:p>
                      <a:r>
                        <a:rPr sz="1600" b="0">
                          <a:solidFill>
                            <a:srgbClr val="1F2A44"/>
                          </a:solidFill>
                          <a:latin typeface="Arial"/>
                          <a:ea typeface="Microsoft YaHei"/>
                        </a:rPr>
                        <a:t>Is something affecting your motivation?</a:t>
                      </a:r>
                    </a:p>
                  </a:txBody>
                  <a:tcPr anchor="ctr">
                    <a:solidFill>
                      <a:srgbClr val="FFFFFF"/>
                    </a:solidFill>
                  </a:tcPr>
                </a:tc>
              </a:tr>
              <a:tr h="408432">
                <a:tc>
                  <a:txBody>
                    <a:bodyPr wrap="square"/>
                    <a:lstStyle/>
                    <a:p>
                      <a:r>
                        <a:rPr sz="1600" b="1">
                          <a:solidFill>
                            <a:srgbClr val="1F2A44"/>
                          </a:solidFill>
                          <a:latin typeface="Arial"/>
                          <a:ea typeface="Microsoft YaHei"/>
                        </a:rPr>
                        <a:t>You’re useless.</a:t>
                      </a:r>
                    </a:p>
                  </a:txBody>
                  <a:tcPr anchor="ctr">
                    <a:solidFill>
                      <a:srgbClr val="FFEFD9"/>
                    </a:solidFill>
                  </a:tcPr>
                </a:tc>
                <a:tc>
                  <a:txBody>
                    <a:bodyPr wrap="square"/>
                    <a:lstStyle/>
                    <a:p>
                      <a:r>
                        <a:rPr sz="1600" b="0">
                          <a:solidFill>
                            <a:srgbClr val="1F2A44"/>
                          </a:solidFill>
                          <a:latin typeface="Arial"/>
                          <a:ea typeface="Microsoft YaHei"/>
                        </a:rPr>
                        <a:t>I think you could do more with your strengths.</a:t>
                      </a:r>
                    </a:p>
                  </a:txBody>
                  <a:tcPr anchor="ctr">
                    <a:solidFill>
                      <a:srgbClr val="FFEFD9"/>
                    </a:solidFill>
                  </a:tcPr>
                </a:tc>
              </a:tr>
            </a:tbl>
          </a:graphicData>
        </a:graphic>
      </p:graphicFrame>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sensitive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给予敏感反馈</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“I’ve noticed… I feel… Would you…?” to open a feedback talk.</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coasting in his work.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coasting at work.</a:t>
            </a:r>
          </a:p>
          <a:p>
            <a:pPr algn="l">
              <a:spcAft>
                <a:spcPts val="200"/>
              </a:spcAft>
            </a:pPr>
            <a:r>
              <a:rPr sz="1200" b="0">
                <a:solidFill>
                  <a:srgbClr val="FFFFFF"/>
                </a:solidFill>
                <a:latin typeface="Arial"/>
                <a:ea typeface="Microsoft YaHei"/>
              </a:rPr>
              <a:t>at work</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bored with my work, so I don’t have motivation.</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bored, so I’ve lost motivation.</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lazy to work.</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feel like working.</a:t>
            </a:r>
          </a:p>
          <a:p>
            <a:pPr algn="l">
              <a:spcAft>
                <a:spcPts val="200"/>
              </a:spcAft>
            </a:pPr>
            <a:r>
              <a:rPr sz="1200" b="0">
                <a:solidFill>
                  <a:srgbClr val="FFFFFF"/>
                </a:solidFill>
                <a:latin typeface="Arial"/>
                <a:ea typeface="Microsoft YaHei"/>
              </a:rPr>
              <a:t>自然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myself stuck.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stuck.</a:t>
            </a:r>
          </a:p>
          <a:p>
            <a:pPr algn="l">
              <a:spcAft>
                <a:spcPts val="200"/>
              </a:spcAft>
            </a:pPr>
            <a:r>
              <a:rPr sz="1200" b="0">
                <a:solidFill>
                  <a:srgbClr val="FFFFFF"/>
                </a:solidFill>
                <a:latin typeface="Arial"/>
                <a:ea typeface="Microsoft YaHei"/>
              </a:rPr>
              <a:t>feel stuck</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doesn’t do enough efforts.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doesn’t make enough effort.</a:t>
            </a:r>
          </a:p>
          <a:p>
            <a:pPr algn="l">
              <a:spcAft>
                <a:spcPts val="200"/>
              </a:spcAft>
            </a:pPr>
            <a:r>
              <a:rPr sz="1200" b="0">
                <a:solidFill>
                  <a:srgbClr val="FFFFFF"/>
                </a:solidFill>
                <a:latin typeface="Arial"/>
                <a:ea typeface="Microsoft YaHei"/>
              </a:rPr>
              <a:t>effort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boring at work.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bored at work.</a:t>
            </a:r>
          </a:p>
          <a:p>
            <a:pPr algn="l">
              <a:spcAft>
                <a:spcPts val="200"/>
              </a:spcAft>
            </a:pPr>
            <a:r>
              <a:rPr sz="1200" b="0">
                <a:solidFill>
                  <a:srgbClr val="FFFFFF"/>
                </a:solidFill>
                <a:latin typeface="Arial"/>
                <a:ea typeface="Microsoft YaHei"/>
              </a:rPr>
              <a:t>-ed 表感受</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at work, feel stuck, uncountable effort, make an effort.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Quiet quitting is debated; some see it as healthy boundaries.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Feedback should be private. Don’t discuss someone’s motivation in public.</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Offer, don’t order. “Would you be interested in…” works better.</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Self-reflection. Admitting you’ve been coasting needs trust.</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coasting and its effects.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sensitive feedback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my own motivation honestly.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at work, feel stuck and uncountable effort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72 Coasting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coasting and a solution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at work, feel stuck, effort uncountable.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73 Ageism in the workplace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Ageism in the workplace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职场年龄歧视</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age discrimination at work in a respectful way, challenge stereotypes and describe inclusive practices.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At what age do you think people are “too old” or “too young” for a job?</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seen someone treated differently because of age?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benefits of an age-diverse team?</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older employees stay up to date?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younger employees be taken seriously?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“ageism” = 年龄歧视。谈年龄话题要避免绝对化,多用 “some people may assume…”。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ageism is and how companies can reduce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definition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Ageism is…   💬 For example, …   💬 This can lead to…   💬 Companies can reduce it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“reduce it by + -ing” 通过…来减少它。</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Too old, too young?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Ageism means treating people unfairly because of their age. It affects both older and younger workers. Older employees may be assumed to resist change or to find technology difficult, while younger ones may be seen as inexperienced or not loyal. These assumptions rarely match individuals, but they can influence hiring, promotion and training. The consequences include lost talent, lower morale and legal risks, since many countries ban age discrimination. Companies can reduce it by removing dates of birth from applications, offering training to all ages, and building mixed-age teams where people learn from one another. A growing idea is “reverse mentoring”, where younger staff teach digital skills while older colleagues share judgement and experience. The best teams value what each generation brings, instead of focusing on age alone.</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Give an assumption about older employees.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resist change or find technology difficult.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an assumption about younger employees.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are inexperienced or not loyal.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reverse mentoring?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Younger staff teach digital skills while older colleagues share judgement and experience.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Age and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年龄与工作</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ageism / age discrimination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年龄歧视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“Ageism is illegal in many countries.”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stereotype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刻板印象</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stereotype older workers.”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experienced / seasoned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经验丰富的</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seasoned manager.”</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 the hill</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(贬义)过气</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“Calling someone over the hill is offensive.”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glass ceiling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无形的晋升天花板</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“Age can create a glass ceiling.”</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Inclusion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包容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age-diverse team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年龄多元团队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an age-diverse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equal opportunities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平等机会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are an equal opportunities employer.”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reverse mentoring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反向导师制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run reverse mentoring.”</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multigenerational workforce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多代同堂的员工队伍</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multigenerational workforce.”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phased retirement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渐进式退休</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chose phased retirement.”</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Effects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影响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overlooked for promotion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被忽视晋升</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was overlooked for promotion.”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make redundant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裁员</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made redundant at 58.”</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retain talent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留住人才</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retain talent.”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knowledge drain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知识流失</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“Early retirement caused a knowledge drain.”</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unconscious assumptions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无意识假设</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challenge unconscious assumptions.”</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年龄歧视</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ageism / age discrimination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知识流失</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knowledge drain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裁员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redundant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留住人才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retain talent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无形的晋升天花板</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glass ceiling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渐进式退休</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phased retirement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无意识假设</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unconscious assumptions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反向导师制</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reverse mentoring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ageism</a:t>
            </a:r>
          </a:p>
        </p:txBody>
      </p:sp>
      <p:sp>
        <p:nvSpPr>
          <p:cNvPr id="10" name="Rounded Rectangle 9"/>
          <p:cNvSpPr/>
          <p:nvPr/>
        </p:nvSpPr>
        <p:spPr>
          <a:xfrm>
            <a:off x="3127248"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stereotype</a:t>
            </a:r>
          </a:p>
        </p:txBody>
      </p:sp>
      <p:sp>
        <p:nvSpPr>
          <p:cNvPr id="11" name="Rounded Rectangle 10"/>
          <p:cNvSpPr/>
          <p:nvPr/>
        </p:nvSpPr>
        <p:spPr>
          <a:xfrm>
            <a:off x="468172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diverse</a:t>
            </a:r>
          </a:p>
        </p:txBody>
      </p:sp>
      <p:sp>
        <p:nvSpPr>
          <p:cNvPr id="12" name="Rounded Rectangle 11"/>
          <p:cNvSpPr/>
          <p:nvPr/>
        </p:nvSpPr>
        <p:spPr>
          <a:xfrm>
            <a:off x="5907024"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opportunities</a:t>
            </a:r>
          </a:p>
        </p:txBody>
      </p:sp>
      <p:sp>
        <p:nvSpPr>
          <p:cNvPr id="13" name="Rounded Rectangle 12"/>
          <p:cNvSpPr/>
          <p:nvPr/>
        </p:nvSpPr>
        <p:spPr>
          <a:xfrm>
            <a:off x="7790688"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overlooked</a:t>
            </a:r>
          </a:p>
        </p:txBody>
      </p:sp>
      <p:sp>
        <p:nvSpPr>
          <p:cNvPr id="14" name="Rounded Rectangle 13"/>
          <p:cNvSpPr/>
          <p:nvPr/>
        </p:nvSpPr>
        <p:spPr>
          <a:xfrm>
            <a:off x="934516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retire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is illegal in many countries.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Ageism</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shouldn’t _______ older workers.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have an age-_______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diverse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are an equal _______ employer.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opportunities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She was _______ for promotion.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overlooked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He chose to _______ gradually.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retire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be overlooked FOR promotion,made redundant(英)/ laid off(美);discriminate AGAINST someone。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Challenging an assumption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质疑一种假设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makes a comment.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Challenging an assumption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shouldn’t give the new system to Mark. He’s close to retirement and probably won’t learn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be careful about that assumption. Mark has learned every system we’ve introduced.</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he’s older.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Age doesn’t tell us how quickly someone learns. Why not ask him?</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Challenging an assumption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have a point.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Also, his experience would help us find problems early.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let’s include him.</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the whole team will benefit.</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Challenging an assumption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challenge an assumption tactfully.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assumption: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be careful about… · assumption · age doesn’t tell us · Why not ask? · benefit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Disagree politely, give a reason and suggest a fair alternative.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“some people may assume…”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evidence.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the person himself.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Explaining age-inclusive hiring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说明年龄包容的招聘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HR explains to a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Explaining age-inclusive hiring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want to remove dates of birth from applications.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reduce unconscious bias. Candidates will be judged on skills.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that help?</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we’ll advertise the roles as open to all ages.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interviews?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use the same structured questions for everyone.</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fair. Let’s pilot it.</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Explaining age-inclusive hiring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introduce an inclusive process.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Role: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dates of birth · unconscious bias · judged on skills · structured questions · pilot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steps and benefits.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Anticipate objections.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Include training for managers.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how to measure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ageism as serious as other forms of discrimination?</a:t>
            </a:r>
          </a:p>
          <a:p>
            <a:pPr algn="l">
              <a:lnSpc>
                <a:spcPct val="115000"/>
              </a:lnSpc>
              <a:spcAft>
                <a:spcPts val="800"/>
              </a:spcAft>
            </a:pPr>
            <a:r>
              <a:rPr sz="1400" b="0">
                <a:solidFill>
                  <a:srgbClr val="5F677A"/>
                </a:solidFill>
                <a:latin typeface="Arial"/>
                <a:ea typeface="Microsoft YaHei"/>
              </a:rPr>
              <a:t>💬 “I think it’s equally…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might companies prefer younger or older staff?</a:t>
            </a:r>
          </a:p>
          <a:p>
            <a:pPr algn="l">
              <a:lnSpc>
                <a:spcPct val="115000"/>
              </a:lnSpc>
              <a:spcAft>
                <a:spcPts val="800"/>
              </a:spcAft>
            </a:pPr>
            <a:r>
              <a:rPr sz="1400" b="0">
                <a:solidFill>
                  <a:srgbClr val="5F677A"/>
                </a:solidFill>
                <a:latin typeface="Arial"/>
                <a:ea typeface="Microsoft YaHei"/>
              </a:rPr>
              <a:t>💬 “Some may think…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older and younger workers learn from each other?</a:t>
            </a:r>
          </a:p>
          <a:p>
            <a:pPr algn="l">
              <a:lnSpc>
                <a:spcPct val="115000"/>
              </a:lnSpc>
              <a:spcAft>
                <a:spcPts val="800"/>
              </a:spcAft>
            </a:pPr>
            <a:r>
              <a:rPr sz="1400" b="0">
                <a:solidFill>
                  <a:srgbClr val="5F677A"/>
                </a:solidFill>
                <a:latin typeface="Arial"/>
                <a:ea typeface="Microsoft YaHei"/>
              </a:rPr>
              <a:t>💬 “By… / Through…”</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there be a retirement age?</a:t>
            </a:r>
          </a:p>
          <a:p>
            <a:pPr algn="l">
              <a:lnSpc>
                <a:spcPct val="115000"/>
              </a:lnSpc>
              <a:spcAft>
                <a:spcPts val="800"/>
              </a:spcAft>
            </a:pPr>
            <a:r>
              <a:rPr sz="1400" b="0">
                <a:solidFill>
                  <a:srgbClr val="5F677A"/>
                </a:solidFill>
                <a:latin typeface="Arial"/>
                <a:ea typeface="Microsoft YaHei"/>
              </a:rPr>
              <a:t>💬 “I’m not sure, since…”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experienced age assumptions?</a:t>
            </a:r>
          </a:p>
          <a:p>
            <a:pPr algn="l">
              <a:lnSpc>
                <a:spcPct val="115000"/>
              </a:lnSpc>
              <a:spcAft>
                <a:spcPts val="800"/>
              </a:spcAft>
            </a:pPr>
            <a:r>
              <a:rPr sz="1400" b="0">
                <a:solidFill>
                  <a:srgbClr val="5F677A"/>
                </a:solidFill>
                <a:latin typeface="Arial"/>
                <a:ea typeface="Microsoft YaHei"/>
              </a:rPr>
              <a:t>💬 “Once,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Both groups can learn from each other. Younger colleagues often bring fresh ideas and digital skills, while older colleagues bring judgement, networks and calm under pressure. For example, in reverse mentoring, a junior shows a manager how to use a new tool, and the manager shares advice on handling clients. Everyone gains.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“calm under pressure” 压力下保持冷静;“Everyone gains.” 大家都受益。</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Using respectful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使用得体的语言</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Avoid</a:t>
                      </a:r>
                    </a:p>
                  </a:txBody>
                  <a:tcPr anchor="ctr">
                    <a:solidFill>
                      <a:srgbClr val="3CC49A"/>
                    </a:solidFill>
                  </a:tcPr>
                </a:tc>
                <a:tc>
                  <a:txBody>
                    <a:bodyPr wrap="square"/>
                    <a:lstStyle/>
                    <a:p>
                      <a:r>
                        <a:rPr sz="1600" b="1">
                          <a:solidFill>
                            <a:srgbClr val="FFFFFF"/>
                          </a:solidFill>
                          <a:latin typeface="Arial"/>
                          <a:ea typeface="Microsoft YaHei"/>
                        </a:rPr>
                        <a:t>Prefer</a:t>
                      </a:r>
                    </a:p>
                  </a:txBody>
                  <a:tcPr anchor="ctr">
                    <a:solidFill>
                      <a:srgbClr val="3CC49A"/>
                    </a:solidFill>
                  </a:tcPr>
                </a:tc>
              </a:tr>
              <a:tr h="408432">
                <a:tc>
                  <a:txBody>
                    <a:bodyPr wrap="square"/>
                    <a:lstStyle/>
                    <a:p>
                      <a:r>
                        <a:rPr sz="1600" b="1">
                          <a:solidFill>
                            <a:srgbClr val="1F2A44"/>
                          </a:solidFill>
                          <a:latin typeface="Arial"/>
                          <a:ea typeface="Microsoft YaHei"/>
                        </a:rPr>
                        <a:t>old people</a:t>
                      </a:r>
                    </a:p>
                  </a:txBody>
                  <a:tcPr anchor="ctr">
                    <a:solidFill>
                      <a:srgbClr val="FFFFFF"/>
                    </a:solidFill>
                  </a:tcPr>
                </a:tc>
                <a:tc>
                  <a:txBody>
                    <a:bodyPr wrap="square"/>
                    <a:lstStyle/>
                    <a:p>
                      <a:r>
                        <a:rPr sz="1600" b="0">
                          <a:solidFill>
                            <a:srgbClr val="1F2A44"/>
                          </a:solidFill>
                          <a:latin typeface="Arial"/>
                          <a:ea typeface="Microsoft YaHei"/>
                        </a:rPr>
                        <a:t>older people / older employees</a:t>
                      </a:r>
                    </a:p>
                  </a:txBody>
                  <a:tcPr anchor="ctr">
                    <a:solidFill>
                      <a:srgbClr val="FFFFFF"/>
                    </a:solidFill>
                  </a:tcPr>
                </a:tc>
              </a:tr>
              <a:tr h="408432">
                <a:tc>
                  <a:txBody>
                    <a:bodyPr wrap="square"/>
                    <a:lstStyle/>
                    <a:p>
                      <a:r>
                        <a:rPr sz="1600" b="1">
                          <a:solidFill>
                            <a:srgbClr val="1F2A44"/>
                          </a:solidFill>
                          <a:latin typeface="Arial"/>
                          <a:ea typeface="Microsoft YaHei"/>
                        </a:rPr>
                        <a:t>the elderly</a:t>
                      </a:r>
                    </a:p>
                  </a:txBody>
                  <a:tcPr anchor="ctr">
                    <a:solidFill>
                      <a:srgbClr val="FFEFD9"/>
                    </a:solidFill>
                  </a:tcPr>
                </a:tc>
                <a:tc>
                  <a:txBody>
                    <a:bodyPr wrap="square"/>
                    <a:lstStyle/>
                    <a:p>
                      <a:r>
                        <a:rPr sz="1600" b="0">
                          <a:solidFill>
                            <a:srgbClr val="1F2A44"/>
                          </a:solidFill>
                          <a:latin typeface="Arial"/>
                          <a:ea typeface="Microsoft YaHei"/>
                        </a:rPr>
                        <a:t>older adults</a:t>
                      </a:r>
                    </a:p>
                  </a:txBody>
                  <a:tcPr anchor="ctr">
                    <a:solidFill>
                      <a:srgbClr val="FFEFD9"/>
                    </a:solidFill>
                  </a:tcPr>
                </a:tc>
              </a:tr>
              <a:tr h="408432">
                <a:tc>
                  <a:txBody>
                    <a:bodyPr wrap="square"/>
                    <a:lstStyle/>
                    <a:p>
                      <a:r>
                        <a:rPr sz="1600" b="1">
                          <a:solidFill>
                            <a:srgbClr val="1F2A44"/>
                          </a:solidFill>
                          <a:latin typeface="Arial"/>
                          <a:ea typeface="Microsoft YaHei"/>
                        </a:rPr>
                        <a:t>young kids at work</a:t>
                      </a:r>
                    </a:p>
                  </a:txBody>
                  <a:tcPr anchor="ctr">
                    <a:solidFill>
                      <a:srgbClr val="FFFFFF"/>
                    </a:solidFill>
                  </a:tcPr>
                </a:tc>
                <a:tc>
                  <a:txBody>
                    <a:bodyPr wrap="square"/>
                    <a:lstStyle/>
                    <a:p>
                      <a:r>
                        <a:rPr sz="1600" b="0">
                          <a:solidFill>
                            <a:srgbClr val="1F2A44"/>
                          </a:solidFill>
                          <a:latin typeface="Arial"/>
                          <a:ea typeface="Microsoft YaHei"/>
                        </a:rPr>
                        <a:t>early-career colleagues</a:t>
                      </a:r>
                    </a:p>
                  </a:txBody>
                  <a:tcPr anchor="ctr">
                    <a:solidFill>
                      <a:srgbClr val="FFFFFF"/>
                    </a:solidFill>
                  </a:tcPr>
                </a:tc>
              </a:tr>
              <a:tr h="408432">
                <a:tc>
                  <a:txBody>
                    <a:bodyPr wrap="square"/>
                    <a:lstStyle/>
                    <a:p>
                      <a:r>
                        <a:rPr sz="1600" b="1">
                          <a:solidFill>
                            <a:srgbClr val="1F2A44"/>
                          </a:solidFill>
                          <a:latin typeface="Arial"/>
                          <a:ea typeface="Microsoft YaHei"/>
                        </a:rPr>
                        <a:t>He’s too old to learn.</a:t>
                      </a:r>
                    </a:p>
                  </a:txBody>
                  <a:tcPr anchor="ctr">
                    <a:solidFill>
                      <a:srgbClr val="FFEFD9"/>
                    </a:solidFill>
                  </a:tcPr>
                </a:tc>
                <a:tc>
                  <a:txBody>
                    <a:bodyPr wrap="square"/>
                    <a:lstStyle/>
                    <a:p>
                      <a:r>
                        <a:rPr sz="1600" b="0">
                          <a:solidFill>
                            <a:srgbClr val="1F2A44"/>
                          </a:solidFill>
                          <a:latin typeface="Arial"/>
                          <a:ea typeface="Microsoft YaHei"/>
                        </a:rPr>
                        <a:t>He may need time, like anyone.</a:t>
                      </a:r>
                    </a:p>
                  </a:txBody>
                  <a:tcPr anchor="ctr">
                    <a:solidFill>
                      <a:srgbClr val="FFEFD9"/>
                    </a:solidFill>
                  </a:tcPr>
                </a:tc>
              </a:tr>
            </a:tbl>
          </a:graphicData>
        </a:graphic>
      </p:graphicFrame>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Using respectful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使用得体的语言</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“some”, “may”, “tend to” and person-first language to avoid stereotyping.</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old people can’t use computers.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 older people find technology difficult.</a:t>
            </a:r>
          </a:p>
          <a:p>
            <a:pPr algn="l">
              <a:spcAft>
                <a:spcPts val="200"/>
              </a:spcAft>
            </a:pPr>
            <a:r>
              <a:rPr sz="1200" b="0">
                <a:solidFill>
                  <a:srgbClr val="FFFFFF"/>
                </a:solidFill>
                <a:latin typeface="Arial"/>
                <a:ea typeface="Microsoft YaHei"/>
              </a:rPr>
              <a:t>避免绝对</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50 years old man.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a 50-year-old man.</a:t>
            </a:r>
          </a:p>
          <a:p>
            <a:pPr algn="l">
              <a:spcAft>
                <a:spcPts val="200"/>
              </a:spcAft>
            </a:pPr>
            <a:r>
              <a:rPr sz="1200" b="0">
                <a:solidFill>
                  <a:srgbClr val="FFFFFF"/>
                </a:solidFill>
                <a:latin typeface="Arial"/>
                <a:ea typeface="Microsoft YaHei"/>
              </a:rPr>
              <a:t>复合形容词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was treated unfair.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was treated unfairly.</a:t>
            </a:r>
          </a:p>
          <a:p>
            <a:pPr algn="l">
              <a:spcAft>
                <a:spcPts val="200"/>
              </a:spcAft>
            </a:pPr>
            <a:r>
              <a:rPr sz="1200" b="0">
                <a:solidFill>
                  <a:srgbClr val="FFFFFF"/>
                </a:solidFill>
                <a:latin typeface="Arial"/>
                <a:ea typeface="Microsoft YaHei"/>
              </a:rPr>
              <a:t>副词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discriminate on older workers.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discriminate against older workers.</a:t>
            </a:r>
          </a:p>
          <a:p>
            <a:pPr algn="l">
              <a:spcAft>
                <a:spcPts val="200"/>
              </a:spcAft>
            </a:pPr>
            <a:r>
              <a:rPr sz="1200" b="0">
                <a:solidFill>
                  <a:srgbClr val="FFFFFF"/>
                </a:solidFill>
                <a:latin typeface="Arial"/>
                <a:ea typeface="Microsoft YaHei"/>
              </a:rPr>
              <a:t>against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40 years.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40 (years old).</a:t>
            </a:r>
          </a:p>
          <a:p>
            <a:pPr algn="l">
              <a:spcAft>
                <a:spcPts val="200"/>
              </a:spcAft>
            </a:pPr>
            <a:r>
              <a:rPr sz="1200" b="0">
                <a:solidFill>
                  <a:srgbClr val="FFFFFF"/>
                </a:solidFill>
                <a:latin typeface="Arial"/>
                <a:ea typeface="Microsoft YaHei"/>
              </a:rPr>
              <a:t>years old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was fired because he is old.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dismissed because of his age.</a:t>
            </a:r>
          </a:p>
          <a:p>
            <a:pPr algn="l">
              <a:spcAft>
                <a:spcPts val="200"/>
              </a:spcAft>
            </a:pPr>
            <a:r>
              <a:rPr sz="1200" b="0">
                <a:solidFill>
                  <a:srgbClr val="FFFFFF"/>
                </a:solidFill>
                <a:latin typeface="Arial"/>
                <a:ea typeface="Microsoft YaHei"/>
              </a:rPr>
              <a:t>because of + 名词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discriminate against, a 50-year-old man, adverbs, because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Don’t ask about age. In many countries, it’s inappropriate or illegal in interviews.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age jokes. “Back in my day” or “kids these days” can offend.</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Say “experience” rather than “old”.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skills-based language. Focus on what people can do.</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ageism and its effects.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challenge assumptions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inclusive practices.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discriminate against, 50-year-old and because of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73 Ageism in the workplace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Politely challenge an age-based comment in 3 sentences.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discriminate against, 50-year-old, adverbs.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74 Generational stereotypes at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Generational stereotypes at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职场中的代际刻板印象</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generational differences without stereotyping, and suggest how to work well across generations.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generation do you belong to?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stereotypes do you hear about “millennials” or “Gen Z”?</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those stereotypes fair?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different generations teach each other?</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had a misunderstanding with someone of another generation?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“stereotype” = 刻板印象。“Gen Z” Z 世代,“boomers” 婴儿潮一代。第 5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generational differences and why we should be careful with stereotypes.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common stereotype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reality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why it matters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advice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People often say that…   💬 In reality, …   💬 It’s more useful to look at…   💬 To work well together, we can…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reality” = 实际上;“it’s more useful to…” 更有用的是…</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Beyond labels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Popular articles often describe generations in simple terms: older workers are loyal but resistant to change; millennials want meaning and flexibility; Gen Z is digital but impatient. These labels are easy to remember, but researchers find that differences within a generation are often larger than differences between generations. What looks like a generational trait may actually be about career stage, personality or life circumstances. A 25-year-old and a 55-year-old may both want more flexibility, but for different reasons. Treating individuals as representatives of a group can lead to misunderstandings and unfair decisions. More useful questions are: what does this person need to do their best work, and how do they prefer to communicate? Mixed-age teams work best when people stay curious, ask rather than assume, and respect different styles.</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researchers find about differences within a generation?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are often larger than differences between generations.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might look like a generational trait?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Career stage, personality or life circumstances.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are more useful questions?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does this person need to do their best work, and how do they prefer to communicate?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Generations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代际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generation gap</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generation gap.”</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millennial / Gen Z / boomer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千禧一代/Z世代/婴儿潮</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“Gen Z grew up with phones.”</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stereotype / generalisation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刻板印象/概括</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generalisation.”</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OK boomer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年轻人对老一辈的调侃(可能冒犯)</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“‘OK boomer’ can be dismissive.”</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digital native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数字原住民</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“Digital natives adapt quickly.”</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Differences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差异</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communication style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沟通风格</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“Communication styles differ.”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ethic</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职业道德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strong work ethic.”</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expectations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期望</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“Expectations about flexibility differ.”</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one-size-fits-all approach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一刀切方式</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one-size-fits-all approach fails.”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common ground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共同点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found common ground.”</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Working together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合作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mixed-age team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混龄团队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run mixed-age teams.”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learn from one another</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互相学习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learn from one another.”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bridge the gap</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弥合差距</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bridge the gap.”</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the benefit of the doubt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善意推定</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people the benefit of the doubt.”</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avoid jumping to conclusions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避免妄下结论</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“Avoid jumping to conclusions.”</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互相学习</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from one another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沟通风格</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communication style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善意推定</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the benefit of the doubt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职业道德</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ethic</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代沟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generation gap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一刀切方式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one-size-fits-all approach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200" b="1">
                <a:solidFill>
                  <a:srgbClr val="1F2A44"/>
                </a:solidFill>
                <a:latin typeface="Arial"/>
                <a:ea typeface="Microsoft YaHei"/>
              </a:rPr>
              <a:t>年轻人对老一辈的调侃(可能冒犯)</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OK boomer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千禧一代/Z世代/婴儿潮</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millennial / Gen Z / boomer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gap</a:t>
            </a:r>
          </a:p>
        </p:txBody>
      </p:sp>
      <p:sp>
        <p:nvSpPr>
          <p:cNvPr id="10" name="Rounded Rectangle 9"/>
          <p:cNvSpPr/>
          <p:nvPr/>
        </p:nvSpPr>
        <p:spPr>
          <a:xfrm>
            <a:off x="279806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natives</a:t>
            </a:r>
          </a:p>
        </p:txBody>
      </p:sp>
      <p:sp>
        <p:nvSpPr>
          <p:cNvPr id="11" name="Rounded Rectangle 10"/>
          <p:cNvSpPr/>
          <p:nvPr/>
        </p:nvSpPr>
        <p:spPr>
          <a:xfrm>
            <a:off x="4023360"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ethic</a:t>
            </a:r>
          </a:p>
        </p:txBody>
      </p:sp>
      <p:sp>
        <p:nvSpPr>
          <p:cNvPr id="12" name="Rounded Rectangle 11"/>
          <p:cNvSpPr/>
          <p:nvPr/>
        </p:nvSpPr>
        <p:spPr>
          <a:xfrm>
            <a:off x="5029200"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style</a:t>
            </a:r>
          </a:p>
        </p:txBody>
      </p:sp>
      <p:sp>
        <p:nvSpPr>
          <p:cNvPr id="13" name="Rounded Rectangle 12"/>
          <p:cNvSpPr/>
          <p:nvPr/>
        </p:nvSpPr>
        <p:spPr>
          <a:xfrm>
            <a:off x="603504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ground</a:t>
            </a:r>
          </a:p>
        </p:txBody>
      </p:sp>
      <p:sp>
        <p:nvSpPr>
          <p:cNvPr id="14" name="Rounded Rectangle 13"/>
          <p:cNvSpPr/>
          <p:nvPr/>
        </p:nvSpPr>
        <p:spPr>
          <a:xfrm>
            <a:off x="7150608"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conclusions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There’s a generation _______ in the office.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Digital _______ adapt quickly.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natives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has a strong work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ethic</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Communication _______ differs by person.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style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found common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ground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Avoid jumping to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conclusions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bridge the gap, find common ground, work ethic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Handling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处理误会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An older manager and a younger employee talk.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Younger employee</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Handling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surprised you sent me a message instead of calling.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usually message, so I thought it’d be quicker.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 prefer calling for urgent things.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didn’t realise. I’m happy to call when it’s urgent.</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 can try messaging for small questions.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work.</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agree on a way to flag urgent issues.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Thanks for talking about it.</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Handling a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resolve a style difference.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prefer… · I didn’t realise · quicker · agree on a way · common ground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preferences without blaming and agree a compromise.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generational labels.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the other person’s reasons.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down the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Discussing stereotypes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讨论刻板印象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Discussing stereotypes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People say Gen Z is lazy and impatient.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that’s a generalisation. My team’s Gen Z members work hard.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But they ask for flexibility a lot.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do many older people, they just ask differently.</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My father wants flexible hours too.</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It’s more about life stage than age.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try to avoid jumping to conclusions.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 too. It makes teamwork easier.</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Discussing stereotypes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stereotypes.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Stereotype: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generalisation · life stage · jumping to conclusions · so do many… · teamwork</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Question a stereotype with examples.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data.</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a personal story.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an 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generational differences real?</a:t>
            </a:r>
          </a:p>
          <a:p>
            <a:pPr algn="l">
              <a:lnSpc>
                <a:spcPct val="115000"/>
              </a:lnSpc>
              <a:spcAft>
                <a:spcPts val="800"/>
              </a:spcAft>
            </a:pPr>
            <a:r>
              <a:rPr sz="1400" b="0">
                <a:solidFill>
                  <a:srgbClr val="5F677A"/>
                </a:solidFill>
                <a:latin typeface="Arial"/>
                <a:ea typeface="Microsoft YaHei"/>
              </a:rPr>
              <a:t>💬 “Some,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stereotype about your generation is wrong?</a:t>
            </a:r>
          </a:p>
          <a:p>
            <a:pPr algn="l">
              <a:lnSpc>
                <a:spcPct val="115000"/>
              </a:lnSpc>
              <a:spcAft>
                <a:spcPts val="800"/>
              </a:spcAft>
            </a:pPr>
            <a:r>
              <a:rPr sz="1400" b="0">
                <a:solidFill>
                  <a:srgbClr val="5F677A"/>
                </a:solidFill>
                <a:latin typeface="Arial"/>
                <a:ea typeface="Microsoft YaHei"/>
              </a:rPr>
              <a:t>💬 “People say… but actually…”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different generations prefer to communicate?</a:t>
            </a:r>
          </a:p>
          <a:p>
            <a:pPr algn="l">
              <a:lnSpc>
                <a:spcPct val="115000"/>
              </a:lnSpc>
              <a:spcAft>
                <a:spcPts val="800"/>
              </a:spcAft>
            </a:pPr>
            <a:r>
              <a:rPr sz="1400" b="0">
                <a:solidFill>
                  <a:srgbClr val="5F677A"/>
                </a:solidFill>
                <a:latin typeface="Arial"/>
                <a:ea typeface="Microsoft YaHei"/>
              </a:rPr>
              <a:t>💬 “Some prefer… whereas…”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older colleagues learn from younger ones?</a:t>
            </a:r>
          </a:p>
          <a:p>
            <a:pPr algn="l">
              <a:lnSpc>
                <a:spcPct val="115000"/>
              </a:lnSpc>
              <a:spcAft>
                <a:spcPts val="800"/>
              </a:spcAft>
            </a:pPr>
            <a:r>
              <a:rPr sz="1400" b="0">
                <a:solidFill>
                  <a:srgbClr val="5F677A"/>
                </a:solidFill>
                <a:latin typeface="Arial"/>
                <a:ea typeface="Microsoft YaHei"/>
              </a:rPr>
              <a:t>💬 “They can learn…”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managers avoid stereotyping?</a:t>
            </a:r>
          </a:p>
          <a:p>
            <a:pPr algn="l">
              <a:lnSpc>
                <a:spcPct val="115000"/>
              </a:lnSpc>
              <a:spcAft>
                <a:spcPts val="800"/>
              </a:spcAft>
            </a:pPr>
            <a:r>
              <a:rPr sz="1400" b="0">
                <a:solidFill>
                  <a:srgbClr val="5F677A"/>
                </a:solidFill>
                <a:latin typeface="Arial"/>
                <a:ea typeface="Microsoft YaHei"/>
              </a:rPr>
              <a:t>💬 “By asking… / They should…”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there are some differences in habits, such as preferred channels. However, many of the”differences” people mention are really about career stage or personality. A 25-year-old and a 55-year-old can both love technology or hate meetings. So it’s better to treat people as individuals.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“preferred channels” 偏好的沟通渠道;“treat people as individuals” 把人当作个体。</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Generalising carefully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谨慎地概括</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strong</a:t>
                      </a:r>
                    </a:p>
                  </a:txBody>
                  <a:tcPr anchor="ctr">
                    <a:solidFill>
                      <a:srgbClr val="3CC49A"/>
                    </a:solidFill>
                  </a:tcPr>
                </a:tc>
                <a:tc>
                  <a:txBody>
                    <a:bodyPr wrap="square"/>
                    <a:lstStyle/>
                    <a:p>
                      <a:r>
                        <a:rPr sz="1600" b="1">
                          <a:solidFill>
                            <a:srgbClr val="FFFFFF"/>
                          </a:solidFill>
                          <a:latin typeface="Arial"/>
                          <a:ea typeface="Microsoft YaHei"/>
                        </a:rPr>
                        <a:t>Hedged</a:t>
                      </a:r>
                    </a:p>
                  </a:txBody>
                  <a:tcPr anchor="ctr">
                    <a:solidFill>
                      <a:srgbClr val="3CC49A"/>
                    </a:solidFill>
                  </a:tcPr>
                </a:tc>
              </a:tr>
              <a:tr h="652272">
                <a:tc>
                  <a:txBody>
                    <a:bodyPr wrap="square"/>
                    <a:lstStyle/>
                    <a:p>
                      <a:r>
                        <a:rPr sz="1600" b="1">
                          <a:solidFill>
                            <a:srgbClr val="1F2A44"/>
                          </a:solidFill>
                          <a:latin typeface="Arial"/>
                          <a:ea typeface="Microsoft YaHei"/>
                        </a:rPr>
                        <a:t>Millennials are lazy.</a:t>
                      </a:r>
                    </a:p>
                  </a:txBody>
                  <a:tcPr anchor="ctr">
                    <a:solidFill>
                      <a:srgbClr val="FFFFFF"/>
                    </a:solidFill>
                  </a:tcPr>
                </a:tc>
                <a:tc>
                  <a:txBody>
                    <a:bodyPr wrap="square"/>
                    <a:lstStyle/>
                    <a:p>
                      <a:r>
                        <a:rPr sz="1600" b="0">
                          <a:solidFill>
                            <a:srgbClr val="1F2A44"/>
                          </a:solidFill>
                          <a:latin typeface="Arial"/>
                          <a:ea typeface="Microsoft YaHei"/>
                        </a:rPr>
                        <a:t>Some people say millennials are lazy, but that’s a generalisation.</a:t>
                      </a:r>
                    </a:p>
                  </a:txBody>
                  <a:tcPr anchor="ctr">
                    <a:solidFill>
                      <a:srgbClr val="FFFFFF"/>
                    </a:solidFill>
                  </a:tcPr>
                </a:tc>
              </a:tr>
              <a:tr h="408432">
                <a:tc>
                  <a:txBody>
                    <a:bodyPr wrap="square"/>
                    <a:lstStyle/>
                    <a:p>
                      <a:r>
                        <a:rPr sz="1600" b="1">
                          <a:solidFill>
                            <a:srgbClr val="1F2A44"/>
                          </a:solidFill>
                          <a:latin typeface="Arial"/>
                          <a:ea typeface="Microsoft YaHei"/>
                        </a:rPr>
                        <a:t>Old people hate change.</a:t>
                      </a:r>
                    </a:p>
                  </a:txBody>
                  <a:tcPr anchor="ctr">
                    <a:solidFill>
                      <a:srgbClr val="FFEFD9"/>
                    </a:solidFill>
                  </a:tcPr>
                </a:tc>
                <a:tc>
                  <a:txBody>
                    <a:bodyPr wrap="square"/>
                    <a:lstStyle/>
                    <a:p>
                      <a:r>
                        <a:rPr sz="1600" b="0">
                          <a:solidFill>
                            <a:srgbClr val="1F2A44"/>
                          </a:solidFill>
                          <a:latin typeface="Arial"/>
                          <a:ea typeface="Microsoft YaHei"/>
                        </a:rPr>
                        <a:t>Some people find change harder.</a:t>
                      </a:r>
                    </a:p>
                  </a:txBody>
                  <a:tcPr anchor="ctr">
                    <a:solidFill>
                      <a:srgbClr val="FFEFD9"/>
                    </a:solidFill>
                  </a:tcPr>
                </a:tc>
              </a:tr>
              <a:tr h="408432">
                <a:tc>
                  <a:txBody>
                    <a:bodyPr wrap="square"/>
                    <a:lstStyle/>
                    <a:p>
                      <a:r>
                        <a:rPr sz="1600" b="1">
                          <a:solidFill>
                            <a:srgbClr val="1F2A44"/>
                          </a:solidFill>
                          <a:latin typeface="Arial"/>
                          <a:ea typeface="Microsoft YaHei"/>
                        </a:rPr>
                        <a:t>All Gen Z want money.</a:t>
                      </a:r>
                    </a:p>
                  </a:txBody>
                  <a:tcPr anchor="ctr">
                    <a:solidFill>
                      <a:srgbClr val="FFFFFF"/>
                    </a:solidFill>
                  </a:tcPr>
                </a:tc>
                <a:tc>
                  <a:txBody>
                    <a:bodyPr wrap="square"/>
                    <a:lstStyle/>
                    <a:p>
                      <a:r>
                        <a:rPr sz="1600" b="0">
                          <a:solidFill>
                            <a:srgbClr val="1F2A44"/>
                          </a:solidFill>
                          <a:latin typeface="Arial"/>
                          <a:ea typeface="Microsoft YaHei"/>
                        </a:rPr>
                        <a:t>Many people in Gen Z value flexibility.</a:t>
                      </a:r>
                    </a:p>
                  </a:txBody>
                  <a:tcPr anchor="ctr">
                    <a:solidFill>
                      <a:srgbClr val="FFFFFF"/>
                    </a:solidFill>
                  </a:tcPr>
                </a:tc>
              </a:tr>
              <a:tr h="652272">
                <a:tc>
                  <a:txBody>
                    <a:bodyPr wrap="square"/>
                    <a:lstStyle/>
                    <a:p>
                      <a:r>
                        <a:rPr sz="1600" b="1">
                          <a:solidFill>
                            <a:srgbClr val="1F2A44"/>
                          </a:solidFill>
                          <a:latin typeface="Arial"/>
                          <a:ea typeface="Microsoft YaHei"/>
                        </a:rPr>
                        <a:t>They never listen.</a:t>
                      </a:r>
                    </a:p>
                  </a:txBody>
                  <a:tcPr anchor="ctr">
                    <a:solidFill>
                      <a:srgbClr val="FFEFD9"/>
                    </a:solidFill>
                  </a:tcPr>
                </a:tc>
                <a:tc>
                  <a:txBody>
                    <a:bodyPr wrap="square"/>
                    <a:lstStyle/>
                    <a:p>
                      <a:r>
                        <a:rPr sz="1600" b="0">
                          <a:solidFill>
                            <a:srgbClr val="1F2A44"/>
                          </a:solidFill>
                          <a:latin typeface="Arial"/>
                          <a:ea typeface="Microsoft YaHei"/>
                        </a:rPr>
                        <a:t>They sometimes seem not to listen; maybe we communicate differently.</a:t>
                      </a:r>
                    </a:p>
                  </a:txBody>
                  <a:tcPr anchor="ctr">
                    <a:solidFill>
                      <a:srgbClr val="FFEFD9"/>
                    </a:solidFill>
                  </a:tcPr>
                </a:tc>
              </a:tr>
            </a:tbl>
          </a:graphicData>
        </a:graphic>
      </p:graphicFrame>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Generalising carefully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谨慎地概括</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“some”, “many”, “tend to”, “may” and “it seems”.</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All young people is lazy.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Not all young people are lazy.</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Gen Z’s are impatient.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Gen Z is impatient. / Gen Zers are impatient.</a:t>
            </a:r>
          </a:p>
          <a:p>
            <a:pPr algn="l">
              <a:spcAft>
                <a:spcPts val="200"/>
              </a:spcAft>
            </a:pPr>
            <a:r>
              <a:rPr sz="1200" b="0">
                <a:solidFill>
                  <a:srgbClr val="FFFFFF"/>
                </a:solidFill>
                <a:latin typeface="Arial"/>
                <a:ea typeface="Microsoft YaHei"/>
              </a:rPr>
              <a:t>无撇号</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younger are better at technology.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Younger people are often better at technology.</a:t>
            </a:r>
          </a:p>
          <a:p>
            <a:pPr algn="l">
              <a:spcAft>
                <a:spcPts val="200"/>
              </a:spcAft>
            </a:pPr>
            <a:r>
              <a:rPr sz="1200" b="0">
                <a:solidFill>
                  <a:srgbClr val="FFFFFF"/>
                </a:solidFill>
                <a:latin typeface="Arial"/>
                <a:ea typeface="Microsoft YaHei"/>
              </a:rPr>
              <a:t>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different opinion.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different opinions.</a:t>
            </a:r>
          </a:p>
          <a:p>
            <a:pPr algn="l">
              <a:spcAft>
                <a:spcPts val="200"/>
              </a:spcAft>
            </a:pPr>
            <a:r>
              <a:rPr sz="1200" b="0">
                <a:solidFill>
                  <a:srgbClr val="FFFFFF"/>
                </a:solidFill>
                <a:latin typeface="Arial"/>
                <a:ea typeface="Microsoft YaHei"/>
              </a:rPr>
              <a:t>opinions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a generation gap between we.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…between us.</a:t>
            </a:r>
          </a:p>
          <a:p>
            <a:pPr algn="l">
              <a:spcAft>
                <a:spcPts val="200"/>
              </a:spcAft>
            </a:pPr>
            <a:r>
              <a:rPr sz="1200" b="0">
                <a:solidFill>
                  <a:srgbClr val="FFFFFF"/>
                </a:solidFill>
                <a:latin typeface="Arial"/>
                <a:ea typeface="Microsoft YaHei"/>
              </a:rPr>
              <a:t>宾格</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same as you.</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the same as you.</a:t>
            </a:r>
          </a:p>
          <a:p>
            <a:pPr algn="l">
              <a:spcAft>
                <a:spcPts val="200"/>
              </a:spcAft>
            </a:pPr>
            <a:r>
              <a:rPr sz="1200" b="0">
                <a:solidFill>
                  <a:srgbClr val="FFFFFF"/>
                </a:solidFill>
                <a:latin typeface="Arial"/>
                <a:ea typeface="Microsoft YaHei"/>
              </a:rPr>
              <a:t>the same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plural agreement, the same as, object pronouns, hedging.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Avoid generation jokes in work settings.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Ask about preferences. “How do you like to receive feedback?”</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Respect experience and fresh ideas. Both matter.</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careful with slang. “OK boomer” can sound disrespectful.</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generation gaps without stereotyping.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hedge generalisations.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resolve a style difference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plural agreement and the same as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74 Generational stereotypes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Question a stereotype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plural agreement, the same as, pronouns.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 · Lesson 75 Business ethics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212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Business ethics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商业道德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ethical dilemmas in business, express principled opinions and say how you would respond to pressure.</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“ethical” behaviour mean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faced an ethical dilemma at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companies care about ethics as well as profit?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your boss asked you to do something wrong?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companies encourage ethical behaviour?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“ethics” 道德;“dilemma” 两难;“whistleblower” 举报人。第 4 题第二条件句。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an ethical dilemma and how to resolve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situation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options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principle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would do</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dilemma is that…   💬 On the one hand… on the other…   💬 In my view, the right thing to do is…   💬 I would…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right thing to do” 正确的做法。</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When the right thing is hard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Ethical problems in business rarely announce themselves. A salesperson may be tempted to exaggerate a product’s benefits to meet a target. An accountant may be asked to adjust a figure “just this once”. A manager may discover that a supplier uses unsafe conditions. In such cases, a useful check is to ask three questions: Is it legal? Is it honest? Would I be comfortable if it appeared in the news? Companies support ethical behaviour with codes of conduct, training and confidential reporting lines. However, culture matters more than documents. If employees see leaders rewarding results regardless of how they were achieved, they will draw their own conclusions. Speaking up can be uncomfortable, but ethics is ultimately about choices made under pressure, not just beliefs held in peaceful times.</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three check questions?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Is it legal? Is it honest? Would I be comfortable if it appeared in the news?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an example of a typical ethical problem.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Exaggerating product benefits, adjusting a figure, unsafe supplier conditions.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does culture matter more than documents?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Employees see what leaders reward and draw their own conclusions.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Ethics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ethical / unethical</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合乎/违背道德的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would be unethical.”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code of conduct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行为准则</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“Read the code of conduct.”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conflict of interest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利益冲突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conflict of interest.”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bend the rules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打擦边球</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bend the rules.”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corners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偷工减料</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cut corners to save money.”</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Wrongdoing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不当行为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bribe / bribery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贿赂</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“Bribery is illegal.”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fraud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欺诈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was accused of fraud.”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misleading</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误导的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advert is misleading.”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greenwashing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漂绿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campaign was greenwashing.”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a blind eye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视而不见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“Managers turned a blind eye.”</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Responding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speak up / blow the whistle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揭发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blew the whistle.”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whistleblower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举报人</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“Whistleblowers are protected.”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report a concern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报告问题</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“Report a concern confidentially.”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a stand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表明立场</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a stand against it.”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 the right thing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做正确的事</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the right thing, even if it’s hard.”</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举报人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whistleblower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表明立场</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stand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漂绿</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greenwashing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视而不见</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 a blind eye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做正确的事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 the right thing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报告问题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report a concern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欺诈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fraud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误导的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misleading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unethical</a:t>
            </a:r>
          </a:p>
        </p:txBody>
      </p:sp>
      <p:sp>
        <p:nvSpPr>
          <p:cNvPr id="10" name="Rounded Rectangle 9"/>
          <p:cNvSpPr/>
          <p:nvPr/>
        </p:nvSpPr>
        <p:spPr>
          <a:xfrm>
            <a:off x="345643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conduct</a:t>
            </a:r>
          </a:p>
        </p:txBody>
      </p:sp>
      <p:sp>
        <p:nvSpPr>
          <p:cNvPr id="11" name="Rounded Rectangle 10"/>
          <p:cNvSpPr/>
          <p:nvPr/>
        </p:nvSpPr>
        <p:spPr>
          <a:xfrm>
            <a:off x="4681728"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conflict</a:t>
            </a:r>
          </a:p>
        </p:txBody>
      </p:sp>
      <p:sp>
        <p:nvSpPr>
          <p:cNvPr id="12" name="Rounded Rectangle 11"/>
          <p:cNvSpPr/>
          <p:nvPr/>
        </p:nvSpPr>
        <p:spPr>
          <a:xfrm>
            <a:off x="6016752"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bribe</a:t>
            </a:r>
          </a:p>
        </p:txBody>
      </p:sp>
      <p:sp>
        <p:nvSpPr>
          <p:cNvPr id="13" name="Rounded Rectangle 12"/>
          <p:cNvSpPr/>
          <p:nvPr/>
        </p:nvSpPr>
        <p:spPr>
          <a:xfrm>
            <a:off x="7022592"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misleading</a:t>
            </a:r>
          </a:p>
        </p:txBody>
      </p:sp>
      <p:sp>
        <p:nvSpPr>
          <p:cNvPr id="14" name="Rounded Rectangle 13"/>
          <p:cNvSpPr/>
          <p:nvPr/>
        </p:nvSpPr>
        <p:spPr>
          <a:xfrm>
            <a:off x="8577072"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whistle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That would be completely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unethical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Please read the code of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conduct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There is a _______ of interest.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conflict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 is illegal to offer a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bribe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advert is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misleading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decided to blow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whistle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code of conduct,conflict OF interest,blow the whistle ON someone/something;bribe 名词/动词均可。</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Refusing to bend the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拒绝打擦边球</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asks you to adjust numbers.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Refusing to bend the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move this sale into this quarter so we hit the target?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not comfortable with that. The contract isn’t signed until next month.</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just timing. Nobody will notice.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the pressure, but it would be misleading. Could we explain the situation instead?</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Refusing to bend the rules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board won’t be happy.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rather tell them the truth than risk a bigger problem later.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Let’s talk about how to present 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prepare an honest report.</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Refusing to bend the rules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refuse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Request: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not comfortable with · misleading · I understand the pressure · I’d rather… · honest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Refuse firmly but politely and offer an alternative.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Cite company policy.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Escalate to someone else.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Keep a record.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Discussing a dilemma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讨论两难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discuss a supplier issue.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Discussing a dilemma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found out our supplier uses unsafe conditions. They’re cheap and reliable though.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real dilemma. What does the code of conduct say?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shouldn’t work with suppliers who endanger workers.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 think we have to raise it. We can’t turn a blind eye.</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Discussing a dilemma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we could lose our biggest discount.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long run, the reputational risk is greater.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I’ll report it today.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support you.</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Discussing a dilemma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an ethical dilemma.</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Dilemma: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dilemma · code of conduct · turn a blind eye · reputational risk · raise it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Weigh both sides and decide on action.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Consider the legal side.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involving compliance.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Talk about worker welfare.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ever acceptable to bend the rules?</a:t>
            </a:r>
          </a:p>
          <a:p>
            <a:pPr algn="l">
              <a:lnSpc>
                <a:spcPct val="115000"/>
              </a:lnSpc>
              <a:spcAft>
                <a:spcPts val="800"/>
              </a:spcAft>
            </a:pPr>
            <a:r>
              <a:rPr sz="1400" b="0">
                <a:solidFill>
                  <a:srgbClr val="5F677A"/>
                </a:solidFill>
                <a:latin typeface="Arial"/>
                <a:ea typeface="Microsoft YaHei"/>
              </a:rPr>
              <a:t>💬 “Only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whistleblowers be protected?</a:t>
            </a:r>
          </a:p>
          <a:p>
            <a:pPr algn="l">
              <a:lnSpc>
                <a:spcPct val="115000"/>
              </a:lnSpc>
              <a:spcAft>
                <a:spcPts val="800"/>
              </a:spcAft>
            </a:pPr>
            <a:r>
              <a:rPr sz="1400" b="0">
                <a:solidFill>
                  <a:srgbClr val="5F677A"/>
                </a:solidFill>
                <a:latin typeface="Arial"/>
                <a:ea typeface="Microsoft YaHei"/>
              </a:rPr>
              <a:t>💬 “Yes,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companies care about ethics or only about image?</a:t>
            </a:r>
          </a:p>
          <a:p>
            <a:pPr algn="l">
              <a:lnSpc>
                <a:spcPct val="115000"/>
              </a:lnSpc>
              <a:spcAft>
                <a:spcPts val="800"/>
              </a:spcAft>
            </a:pPr>
            <a:r>
              <a:rPr sz="1400" b="0">
                <a:solidFill>
                  <a:srgbClr val="5F677A"/>
                </a:solidFill>
                <a:latin typeface="Arial"/>
                <a:ea typeface="Microsoft YaHei"/>
              </a:rPr>
              <a:t>💬 “Some do… but others…”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saw a colleague lying?</a:t>
            </a:r>
          </a:p>
          <a:p>
            <a:pPr algn="l">
              <a:lnSpc>
                <a:spcPct val="115000"/>
              </a:lnSpc>
              <a:spcAft>
                <a:spcPts val="800"/>
              </a:spcAft>
            </a:pPr>
            <a:r>
              <a:rPr sz="1400" b="0">
                <a:solidFill>
                  <a:srgbClr val="5F677A"/>
                </a:solidFill>
                <a:latin typeface="Arial"/>
                <a:ea typeface="Microsoft YaHei"/>
              </a:rPr>
              <a:t>💬 “I’d probably…”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prevent fraud?</a:t>
            </a:r>
          </a:p>
          <a:p>
            <a:pPr algn="l">
              <a:lnSpc>
                <a:spcPct val="115000"/>
              </a:lnSpc>
              <a:spcAft>
                <a:spcPts val="800"/>
              </a:spcAft>
            </a:pPr>
            <a:r>
              <a:rPr sz="1400" b="0">
                <a:solidFill>
                  <a:srgbClr val="5F677A"/>
                </a:solidFill>
                <a:latin typeface="Arial"/>
                <a:ea typeface="Microsoft YaHei"/>
              </a:rPr>
              <a:t>💬 “By… / They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companies are mixed. Some genuinely care about ethics and invest in training and fair practices. Others only care about their image and publish nice statements while ignoring real problems. The test is what happens when ethics conflicts with profit. If the company still chooses the ethical option, it truly cares.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test is…” 检验标准是…;“genuinely” 真正地。</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Expressing principles and hypothetical choices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表达原则与假设选择</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I’m not comfortable with…</a:t>
                      </a:r>
                    </a:p>
                  </a:txBody>
                  <a:tcPr anchor="ctr">
                    <a:solidFill>
                      <a:srgbClr val="FFFFFF"/>
                    </a:solidFill>
                  </a:tcPr>
                </a:tc>
                <a:tc>
                  <a:txBody>
                    <a:bodyPr wrap="square"/>
                    <a:lstStyle/>
                    <a:p>
                      <a:r>
                        <a:rPr sz="1600" b="0">
                          <a:solidFill>
                            <a:srgbClr val="1F2A44"/>
                          </a:solidFill>
                          <a:latin typeface="Arial"/>
                          <a:ea typeface="Microsoft YaHei"/>
                        </a:rPr>
                        <a:t>I’m not comfortable with that.</a:t>
                      </a:r>
                    </a:p>
                  </a:txBody>
                  <a:tcPr anchor="ctr">
                    <a:solidFill>
                      <a:srgbClr val="FFFFFF"/>
                    </a:solidFill>
                  </a:tcPr>
                </a:tc>
              </a:tr>
              <a:tr h="408432">
                <a:tc>
                  <a:txBody>
                    <a:bodyPr wrap="square"/>
                    <a:lstStyle/>
                    <a:p>
                      <a:r>
                        <a:rPr sz="1600" b="1">
                          <a:solidFill>
                            <a:srgbClr val="1F2A44"/>
                          </a:solidFill>
                          <a:latin typeface="Arial"/>
                          <a:ea typeface="Microsoft YaHei"/>
                        </a:rPr>
                        <a:t>The right thing to do is…</a:t>
                      </a:r>
                    </a:p>
                  </a:txBody>
                  <a:tcPr anchor="ctr">
                    <a:solidFill>
                      <a:srgbClr val="FFEFD9"/>
                    </a:solidFill>
                  </a:tcPr>
                </a:tc>
                <a:tc>
                  <a:txBody>
                    <a:bodyPr wrap="square"/>
                    <a:lstStyle/>
                    <a:p>
                      <a:r>
                        <a:rPr sz="1600" b="0">
                          <a:solidFill>
                            <a:srgbClr val="1F2A44"/>
                          </a:solidFill>
                          <a:latin typeface="Arial"/>
                          <a:ea typeface="Microsoft YaHei"/>
                        </a:rPr>
                        <a:t>The right thing to do is to report it.</a:t>
                      </a:r>
                    </a:p>
                  </a:txBody>
                  <a:tcPr anchor="ctr">
                    <a:solidFill>
                      <a:srgbClr val="FFEFD9"/>
                    </a:solidFill>
                  </a:tcPr>
                </a:tc>
              </a:tr>
              <a:tr h="408432">
                <a:tc>
                  <a:txBody>
                    <a:bodyPr wrap="square"/>
                    <a:lstStyle/>
                    <a:p>
                      <a:r>
                        <a:rPr sz="1600" b="1">
                          <a:solidFill>
                            <a:srgbClr val="1F2A44"/>
                          </a:solidFill>
                          <a:latin typeface="Arial"/>
                          <a:ea typeface="Microsoft YaHei"/>
                        </a:rPr>
                        <a:t>If I were in that position, I would…</a:t>
                      </a:r>
                    </a:p>
                  </a:txBody>
                  <a:tcPr anchor="ctr">
                    <a:solidFill>
                      <a:srgbClr val="FFFFFF"/>
                    </a:solidFill>
                  </a:tcPr>
                </a:tc>
                <a:tc>
                  <a:txBody>
                    <a:bodyPr wrap="square"/>
                    <a:lstStyle/>
                    <a:p>
                      <a:r>
                        <a:rPr sz="1600" b="0">
                          <a:solidFill>
                            <a:srgbClr val="1F2A44"/>
                          </a:solidFill>
                          <a:latin typeface="Arial"/>
                          <a:ea typeface="Microsoft YaHei"/>
                        </a:rPr>
                        <a:t>If I were you, I’d report it.</a:t>
                      </a:r>
                    </a:p>
                  </a:txBody>
                  <a:tcPr anchor="ctr">
                    <a:solidFill>
                      <a:srgbClr val="FFFFFF"/>
                    </a:solidFill>
                  </a:tcPr>
                </a:tc>
              </a:tr>
              <a:tr h="408432">
                <a:tc>
                  <a:txBody>
                    <a:bodyPr wrap="square"/>
                    <a:lstStyle/>
                    <a:p>
                      <a:r>
                        <a:rPr sz="1600" b="1">
                          <a:solidFill>
                            <a:srgbClr val="1F2A44"/>
                          </a:solidFill>
                          <a:latin typeface="Arial"/>
                          <a:ea typeface="Microsoft YaHei"/>
                        </a:rPr>
                        <a:t>I’d rather… than…</a:t>
                      </a:r>
                    </a:p>
                  </a:txBody>
                  <a:tcPr anchor="ctr">
                    <a:solidFill>
                      <a:srgbClr val="FFEFD9"/>
                    </a:solidFill>
                  </a:tcPr>
                </a:tc>
                <a:tc>
                  <a:txBody>
                    <a:bodyPr wrap="square"/>
                    <a:lstStyle/>
                    <a:p>
                      <a:r>
                        <a:rPr sz="1600" b="0">
                          <a:solidFill>
                            <a:srgbClr val="1F2A44"/>
                          </a:solidFill>
                          <a:latin typeface="Arial"/>
                          <a:ea typeface="Microsoft YaHei"/>
                        </a:rPr>
                        <a:t>I’d rather lose a sale than lie.</a:t>
                      </a:r>
                    </a:p>
                  </a:txBody>
                  <a:tcPr anchor="ctr">
                    <a:solidFill>
                      <a:srgbClr val="FFEFD9"/>
                    </a:solidFill>
                  </a:tcPr>
                </a:tc>
              </a:tr>
            </a:tbl>
          </a:graphicData>
        </a:graphic>
      </p:graphicFrame>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Expressing principles and hypothetical choices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表达原则与假设选择</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Second conditional: </a:t>
            </a:r>
            <a:r>
              <a:rPr sz="1700" b="0">
                <a:solidFill>
                  <a:srgbClr val="1F2A44"/>
                </a:solidFill>
                <a:latin typeface="Arial"/>
                <a:ea typeface="Microsoft YaHei"/>
              </a:rPr>
              <a:t>If + past simple, would + base. Use were for all persons: If I were you.</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against with the rules.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against the rules.</a:t>
            </a:r>
          </a:p>
          <a:p>
            <a:pPr algn="l">
              <a:spcAft>
                <a:spcPts val="200"/>
              </a:spcAft>
            </a:pPr>
            <a:r>
              <a:rPr sz="1200" b="0">
                <a:solidFill>
                  <a:srgbClr val="FFFFFF"/>
                </a:solidFill>
                <a:latin typeface="Arial"/>
                <a:ea typeface="Microsoft YaHei"/>
              </a:rPr>
              <a:t>against + 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was you, I will tell him.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were you, I would tell him.</a:t>
            </a:r>
          </a:p>
          <a:p>
            <a:pPr algn="l">
              <a:spcAft>
                <a:spcPts val="200"/>
              </a:spcAft>
            </a:pPr>
            <a:r>
              <a:rPr sz="1200" b="0">
                <a:solidFill>
                  <a:srgbClr val="FFFFFF"/>
                </a:solidFill>
                <a:latin typeface="Arial"/>
                <a:ea typeface="Microsoft YaHei"/>
              </a:rPr>
              <a:t>were / would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not ethic.</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not ethical.</a:t>
            </a:r>
          </a:p>
          <a:p>
            <a:pPr algn="l">
              <a:spcAft>
                <a:spcPts val="200"/>
              </a:spcAft>
            </a:pPr>
            <a:r>
              <a:rPr sz="1200" b="0">
                <a:solidFill>
                  <a:srgbClr val="FFFFFF"/>
                </a:solidFill>
                <a:latin typeface="Arial"/>
                <a:ea typeface="Microsoft YaHei"/>
              </a:rPr>
              <a:t>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worried about the ethic of this deal.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worried about the ethics of this deal.</a:t>
            </a:r>
          </a:p>
          <a:p>
            <a:pPr algn="l">
              <a:spcAft>
                <a:spcPts val="200"/>
              </a:spcAft>
            </a:pPr>
            <a:r>
              <a:rPr sz="1200" b="0">
                <a:solidFill>
                  <a:srgbClr val="FFFFFF"/>
                </a:solidFill>
                <a:latin typeface="Arial"/>
                <a:ea typeface="Microsoft YaHei"/>
              </a:rPr>
              <a:t>ethics 道德(名词)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was accused to fraud.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was accused of fraud.</a:t>
            </a:r>
          </a:p>
          <a:p>
            <a:pPr algn="l">
              <a:spcAft>
                <a:spcPts val="200"/>
              </a:spcAft>
            </a:pPr>
            <a:r>
              <a:rPr sz="1200" b="0">
                <a:solidFill>
                  <a:srgbClr val="FFFFFF"/>
                </a:solidFill>
                <a:latin typeface="Arial"/>
                <a:ea typeface="Microsoft YaHei"/>
              </a:rPr>
              <a:t>accused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insisted to pay.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insisted on paying.</a:t>
            </a:r>
          </a:p>
          <a:p>
            <a:pPr algn="l">
              <a:spcAft>
                <a:spcPts val="200"/>
              </a:spcAft>
            </a:pPr>
            <a:r>
              <a:rPr sz="1200" b="0">
                <a:solidFill>
                  <a:srgbClr val="FFFFFF"/>
                </a:solidFill>
                <a:latin typeface="Arial"/>
                <a:ea typeface="Microsoft YaHei"/>
              </a:rPr>
              <a:t>insist 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ethical (adj.), accused of, second conditional, insist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Gifts and hospitality. Many companies limit gifts; check policy before accepting.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Speak-up channels. Use official channels; keep confidentiality.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Avoid moralising. Say “I’m not comfortable with…” rather than “You are unethical”.</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Legal differences. Laws on bribery differ, but international firms often follow strict standards.</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business ethics with natural vocabulary.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refuse unethical requests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dilemmas using the second conditional.</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ethical, accused of and insist on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 · Lesson 75 Business ethics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what you would do in an ethical dilemma, using the second conditional.</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second conditional, accused of, insist 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perk / benefit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Free lunch is a nice perk.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same as you.</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the same as you.</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敬业度</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engagement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合乎/违背道德的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ethical / unethical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企业文化</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company culture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walk the talk</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Leaders must walk the talk.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“禁忌话题”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taboo subject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“重燃”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rekindle (motivation)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“贿赂”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bribe / bribery</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How much money do you get?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much do you earn?</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am boring at work.</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am bored at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251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14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