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18: Recruitment and Talent — Self-Study Workbook (Lessons 84–86)</a:t>
            </a:r>
          </a:p>
          <a:p/>
          <a:p>
            <a:r>
              <a:t>开场：简单介绍本单元的主题和要完成的 3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84 · The future of job search 求职的未来</a:t>
            </a:r>
          </a:p>
          <a:p>
            <a:r>
              <a:t>Goal: discuss how job searching is changing (AI, online platforms, networking) and give practical advice to job seekers.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“job search” 求职;“applicant tracking system (ATS)” 简历筛选系统。第 1 题过去式。</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how job searching is changing and give advice.</a:t>
            </a:r>
          </a:p>
          <a:p>
            <a:r>
              <a:t>Say: the old way → the new way → risks → advice.</a:t>
            </a:r>
          </a:p>
          <a:p>
            <a:r>
              <a:t>Useful starters: “Traditionally, …” / “These days, …” / “One risk is…” / “My advice would be to…”</a:t>
            </a:r>
          </a:p>
          <a:p>
            <a:r>
              <a:t>“Traditionally” vs “These days” 对比今昔。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few decades ago, people found jobs through newspaper adverts and personal contacts. Today, most openings appear online, and a single advert can attract hundreds of applicants. To cope, many employers use software that scans CVs for keywords before a human sees them. Some use short video interviews or online tests. For job seekers, this means tailoring each application to the advert, using clear headings and relevant keywords, and keeping a professional online profile. At the same time, networking still matters: many roles are filled through recommendations, sometimes before they are advertised. Experts also warn that automated tools can be biased or make mistakes, so candidates should not be discouraged by a quick rejection. The future may bring more skills-based hiring, where proven abilities count for more than degrees or job titles.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 employers cope with many applicants?</a:t>
            </a:r>
          </a:p>
          <a:p>
            <a:r>
              <a:t>A: Software scans CVs for keywords, plus videos and tests.</a:t>
            </a:r>
          </a:p>
          <a:p>
            <a:r>
              <a:t>Q2. Why does networking still matter?</a:t>
            </a:r>
          </a:p>
          <a:p>
            <a:r>
              <a:t>A: Many roles are filled by recommendations, sometimes before they are advertised.</a:t>
            </a:r>
          </a:p>
          <a:p>
            <a:r>
              <a:t>Q3. What might the future bring?</a:t>
            </a:r>
          </a:p>
          <a:p>
            <a:r>
              <a:t>A: More skills-based hiring.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Searching 求职</a:t>
            </a:r>
          </a:p>
          <a:p>
            <a:r>
              <a:t>领读 → 学员跟读 → 请学员用表达造一个和自己工作相关的句子。</a:t>
            </a:r>
          </a:p>
          <a:p>
            <a:r>
              <a:t>job board / platform (noun) 招聘网站 — “I check job boards daily.”</a:t>
            </a:r>
          </a:p>
          <a:p>
            <a:r>
              <a:t>tailor your CV (collocation) 定制简历 — “Tailor your CV to each role.”</a:t>
            </a:r>
          </a:p>
          <a:p>
            <a:r>
              <a:t>applicant tracking system (ATS) (noun) 招聘筛选系统 — “An ATS filters CVs.”</a:t>
            </a:r>
          </a:p>
          <a:p>
            <a:r>
              <a:t>★ headhunter (noun) 猎头 — “A headhunter contacted me.”</a:t>
            </a:r>
          </a:p>
          <a:p>
            <a:r>
              <a:t>★ the hidden job market (noun) 隐形职位市场 — “Many jobs are in the hidden job market.”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Technology 技术</a:t>
            </a:r>
          </a:p>
          <a:p>
            <a:r>
              <a:t>领读 → 学员跟读 → 请学员用表达造一个和自己工作相关的句子。</a:t>
            </a:r>
          </a:p>
          <a:p>
            <a:r>
              <a:t>AI screening (noun) AI 筛选 — “AI screening is controversial.”</a:t>
            </a:r>
          </a:p>
          <a:p>
            <a:r>
              <a:t>video interview (noun) 视频面试 — “I had a video interview.”</a:t>
            </a:r>
          </a:p>
          <a:p>
            <a:r>
              <a:t>skills-based hiring (noun) 基于技能的招聘 — “Skills-based hiring is growing.”</a:t>
            </a:r>
          </a:p>
          <a:p>
            <a:r>
              <a:t>★ keyword-optimised (adjective) 关键词优化的 — “A keyword-optimised CV.”</a:t>
            </a:r>
          </a:p>
          <a:p>
            <a:r>
              <a:t>★ algorithmic bias (noun) 算法偏见 — “Algorithmic bias is a concern.”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Networking 人脉</a:t>
            </a:r>
          </a:p>
          <a:p>
            <a:r>
              <a:t>领读 → 学员跟读 → 请学员用表达造一个和自己工作相关的句子。</a:t>
            </a:r>
          </a:p>
          <a:p>
            <a:r>
              <a:t>network (verb/noun) 拓展人脉 — “She networks at events.”</a:t>
            </a:r>
          </a:p>
          <a:p>
            <a:r>
              <a:t>referral (noun) 内推 — “I got the job through a referral.”</a:t>
            </a:r>
          </a:p>
          <a:p>
            <a:r>
              <a:t>reach out (phrasal verb) 联系 — “Reach out to alumni.”</a:t>
            </a:r>
          </a:p>
          <a:p>
            <a:r>
              <a:t>★ informational interview (noun) 信息访谈 — “I did an informational interview.”</a:t>
            </a:r>
          </a:p>
          <a:p>
            <a:r>
              <a:t>★ personal brand (noun) 个人品牌 — “Build your personal brand.”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board / tailor / tracking / referral / reach / brand</a:t>
            </a:r>
          </a:p>
          <a:p>
            <a:r>
              <a:t>1. I check the job _______ every morning. → board</a:t>
            </a:r>
          </a:p>
          <a:p>
            <a:r>
              <a:t>2. You should _______ your CV to each role. → tailor</a:t>
            </a:r>
          </a:p>
          <a:p>
            <a:r>
              <a:t>3. An applicant _______ system filters CVs. → tracking</a:t>
            </a:r>
          </a:p>
          <a:p>
            <a:r>
              <a:t>4. I got the interview through a _______. → referral</a:t>
            </a:r>
          </a:p>
          <a:p>
            <a:r>
              <a:t>5. Don’t be afraid to _______ out to people. → reach</a:t>
            </a:r>
          </a:p>
          <a:p>
            <a:r>
              <a:t>6. Build your personal _______ online. → brand</a:t>
            </a:r>
          </a:p>
          <a:p>
            <a:r>
              <a:t>Mistake Watch: (搭配) apply FOR a job,tailor sth TO,reach out TO someone;CV(英)/ résumé(美)。</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Advising a job seeker 给求职者建议</a:t>
            </a:r>
          </a:p>
          <a:p>
            <a:r>
              <a:t>情景：A friend asks for help.</a:t>
            </a:r>
          </a:p>
          <a:p>
            <a:r>
              <a:t>Role A: Job seeker Role B: Friend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I’ve sent fifty applications and heard nothing. What am I doing wrong?</a:t>
            </a:r>
          </a:p>
          <a:p>
            <a:r>
              <a:t>B: Do you tailor your CV to each advert?</a:t>
            </a:r>
          </a:p>
          <a:p>
            <a:r>
              <a:t>A: Not really. I use the same one.</a:t>
            </a:r>
          </a:p>
          <a:p>
            <a:r>
              <a:t>B: Many companies use software that scans for keywords. Match your wording to the advert.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see. What else?</a:t>
            </a:r>
          </a:p>
          <a:p>
            <a:r>
              <a:t>B: Reach out to people in the company. A referral can help a lot.</a:t>
            </a:r>
          </a:p>
          <a:p>
            <a:r>
              <a:t>A: I feel awkward doing that.</a:t>
            </a:r>
          </a:p>
          <a:p>
            <a:r>
              <a:t>B: Keep it short and polite. Most people are happy to help.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advise a job seeker.</a:t>
            </a:r>
          </a:p>
          <a:p>
            <a:r>
              <a:t>Your role (A) | Job seeker.</a:t>
            </a:r>
          </a:p>
          <a:p>
            <a:r>
              <a:t>Partner’s role (B) | Friend. Field: ______________</a:t>
            </a:r>
          </a:p>
          <a:p>
            <a:r>
              <a:t>Must use (3 or more) | tailor · keywords · referral · reach out · awkward</a:t>
            </a:r>
          </a:p>
          <a:p>
            <a:r>
              <a:t>Goal | Diagnose the problem and give three tips.</a:t>
            </a:r>
          </a:p>
          <a:p>
            <a:r>
              <a:t>My notes | ____________________________________________</a:t>
            </a:r>
          </a:p>
          <a:p>
            <a:r>
              <a:t>Mention a personal brand.</a:t>
            </a:r>
          </a:p>
          <a:p>
            <a:r>
              <a:t>Suggest an informational interview.</a:t>
            </a:r>
          </a:p>
          <a:p>
            <a:r>
              <a:t>Warn about a common mistake.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 message to a contact 给陌生联系人发消息</a:t>
            </a:r>
          </a:p>
          <a:p>
            <a:r>
              <a:t>情景：You contact someone on a professional network.</a:t>
            </a:r>
          </a:p>
          <a:p>
            <a:r>
              <a:t>Role A: You Role B: Contact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Hi Priya, I saw you work in product design. I’m exploring a move into the field.</a:t>
            </a:r>
          </a:p>
          <a:p>
            <a:r>
              <a:t>B: Hello! Nice to meet you. What can I do for you?</a:t>
            </a:r>
          </a:p>
          <a:p>
            <a:r>
              <a:t>A: Would you have fifteen minutes for a quick chat about your experience?</a:t>
            </a:r>
          </a:p>
          <a:p>
            <a:r>
              <a:t>B: Sure. How about Thursday at 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Perfect. I’ll send an invitation.</a:t>
            </a:r>
          </a:p>
          <a:p>
            <a:r>
              <a:t>B: What would you like to know?</a:t>
            </a:r>
          </a:p>
          <a:p>
            <a:r>
              <a:t>A: How you started, and what skills matter most.</a:t>
            </a:r>
          </a:p>
          <a:p>
            <a:r>
              <a:t>B: Happy to share. Talk soon.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reach out professionally.</a:t>
            </a:r>
          </a:p>
          <a:p>
            <a:r>
              <a:t>Your role (A) | Job seeker. Target field: ______________</a:t>
            </a:r>
          </a:p>
          <a:p>
            <a:r>
              <a:t>Partner’s role (B) | Contact.</a:t>
            </a:r>
          </a:p>
          <a:p>
            <a:r>
              <a:t>Must use (3 or more) | exploring a move into · fifteen minutes · quick chat · how you started · send an invitation</a:t>
            </a:r>
          </a:p>
          <a:p>
            <a:r>
              <a:t>Goal | Be brief, polite and specific.</a:t>
            </a:r>
          </a:p>
          <a:p>
            <a:r>
              <a:t>My notes | ____________________________________________</a:t>
            </a:r>
          </a:p>
          <a:p>
            <a:r>
              <a:t>Mention a mutual connection.</a:t>
            </a:r>
          </a:p>
          <a:p>
            <a:r>
              <a:t>Offer something useful.</a:t>
            </a:r>
          </a:p>
          <a:p>
            <a:r>
              <a:t>Follow up with thanks.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AI screening fair? | “It can be, but…”</a:t>
            </a:r>
          </a:p>
          <a:p>
            <a:r>
              <a:t>2. How important is a degree? | “In some fields… but…”</a:t>
            </a:r>
          </a:p>
          <a:p>
            <a:r>
              <a:t>3. How would you improve the hiring process? | “I’d…”</a:t>
            </a:r>
          </a:p>
          <a:p>
            <a:r>
              <a:t>4. Is networking comfortable for you? | “Not always, since…”</a:t>
            </a:r>
          </a:p>
          <a:p>
            <a:r>
              <a:t>5. What will job searching look like in ten years? | “I think…”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“It can be fair if the tools are tested and if humans remain involved. The problem is that algorithms learn from past data, and if that data contains bias, the tool may repeat it. So companies should audit their tools, explain how decisions are made, and offer a human review for rejected candidates.”</a:t>
            </a:r>
          </a:p>
          <a:p>
            <a:r>
              <a:t>“audit” 审计、核查;“human review” 人工复核。</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Contrasting past and present 对比过去与现在</a:t>
            </a:r>
          </a:p>
          <a:p>
            <a:r>
              <a:t>Structure | Example</a:t>
            </a:r>
          </a:p>
          <a:p>
            <a:r>
              <a:t>Traditionally, … These days, … | Traditionally, people used adverts. These days, they use platforms.</a:t>
            </a:r>
          </a:p>
          <a:p>
            <a:r>
              <a:t>used to + base | People used to send paper CVs.</a:t>
            </a:r>
          </a:p>
          <a:p>
            <a:r>
              <a:t>no longer | I no longer send paper CVs.</a:t>
            </a:r>
          </a:p>
          <a:p>
            <a:r>
              <a:t>increasingly | Employers increasingly use AI.</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Contrasting past and present 对比过去与现在</a:t>
            </a:r>
          </a:p>
          <a:p>
            <a:r>
              <a:t>Use increasingly + present for trends: Employers increasingly rely on skills tests.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search a job since January.  →  ✓ I’ve been looking for a job since January.  (现在完成进行时)</a:t>
            </a:r>
          </a:p>
          <a:p>
            <a:r>
              <a:t>✗ I send CV to many companies.  →  ✓ I send my CV to many companies.  (my CV)</a:t>
            </a:r>
          </a:p>
          <a:p>
            <a:r>
              <a:t>✗ I am waiting the answer.  →  ✓ I’m waiting for an answer.  (wait for)</a:t>
            </a:r>
          </a:p>
          <a:p>
            <a:r>
              <a:t>Mistake Watch: Check look for vs find, uncountable advice, wait for, third-person -s.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Please give me some advices.  →  ✓ Please give me some advice.  (advice 不可数)</a:t>
            </a:r>
          </a:p>
          <a:p>
            <a:r>
              <a:t>✗ I became a job.  →  ✓ I got a job.  (get a job)</a:t>
            </a:r>
          </a:p>
          <a:p>
            <a:r>
              <a:t>✗ The software scan my CV.  →  ✓ The software scans my CV.  (三单)</a:t>
            </a:r>
          </a:p>
          <a:p>
            <a:r>
              <a:t>Mistake Watch: Check look for vs find, uncountable advice, wait for, third-person -s.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CV vs résumé. UK: CV; US: résumé (usually 1 page).</a:t>
            </a:r>
          </a:p>
          <a:p>
            <a:r>
              <a:t>Photos and age are often omitted in English-speaking countries.</a:t>
            </a:r>
          </a:p>
          <a:p>
            <a:r>
              <a:t>Follow up. A polite follow-up after an interview is expected.</a:t>
            </a:r>
          </a:p>
          <a:p>
            <a:r>
              <a:t>Thank people. A short thank-you note helps.</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changes in job searching.</a:t>
            </a:r>
          </a:p>
          <a:p>
            <a:r>
              <a:t>I can give job-search advice.</a:t>
            </a:r>
          </a:p>
          <a:p>
            <a:r>
              <a:t>I can write a short professional outreach message.</a:t>
            </a:r>
          </a:p>
          <a:p>
            <a:r>
              <a:t>I use advice (uncountable), wait for and look for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Give three job-search tips in 60 seconds.</a:t>
            </a:r>
          </a:p>
          <a:p>
            <a:r>
              <a:t>8–10 | Listen to your recording. Check: advice uncountable, wait for, look for vs find.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85 · Brain waste 人才浪费</a:t>
            </a:r>
          </a:p>
          <a:p>
            <a:r>
              <a:t>Goal: discuss “brain waste” (skilled people in jobs below their qualifications), its causes and consequences, and what employers can do.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“brain waste” 人才浪费:有技能者从事低于其资质的工作。“underemployed” 就业不足。</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what brain waste is and why it matters.</a:t>
            </a:r>
          </a:p>
          <a:p>
            <a:r>
              <a:t>Say: definition → causes → effects → solutions.</a:t>
            </a:r>
          </a:p>
          <a:p>
            <a:r>
              <a:t>Useful starters: “Brain waste is when…” / “One cause is…” / “This means that…” / “Employers could…”</a:t>
            </a:r>
          </a:p>
          <a:p>
            <a:r>
              <a:t>“This means that…” 引出结果。</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“Brain waste” describes situations in which skilled people work in jobs that do not use their qualifications, such as a trained engineer driving a taxi or a nurse working as a cleaner. It often affects migrants, but also graduates in weak job markets and people returning to work after a break. Causes include foreign qualifications not being recognised, limited local networks, language barriers and employer caution. For individuals, the result can be frustration, lower income and a loss of confidence. For economies, it means that valuable skills are wasted at a time when many sectors report shortages. Solutions include faster qualification recognition, bridging courses, mentoring and employers who judge skills rather than country of origin. Hiring managers can also ask a simple question: what has this person actually done, and what could they do here?</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Give an example of brain waste.</a:t>
            </a:r>
          </a:p>
          <a:p>
            <a:r>
              <a:t>A: A trained engineer driving a taxi or a nurse working as a cleaner.</a:t>
            </a:r>
          </a:p>
          <a:p>
            <a:r>
              <a:t>Q2. Name two causes.</a:t>
            </a:r>
          </a:p>
          <a:p>
            <a:r>
              <a:t>A: Foreign qualifications not recognised, limited networks, language barriers, employer caution.</a:t>
            </a:r>
          </a:p>
          <a:p>
            <a:r>
              <a:t>Q3. What question can hiring managers ask?</a:t>
            </a:r>
          </a:p>
          <a:p>
            <a:r>
              <a:t>A: What has this person actually done, and what could they do here?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Underemployment 就业不足</a:t>
            </a:r>
          </a:p>
          <a:p>
            <a:r>
              <a:t>领读 → 学员跟读 → 请学员用表达造一个和自己工作相关的句子。</a:t>
            </a:r>
          </a:p>
          <a:p>
            <a:r>
              <a:t>brain waste (noun) 人才浪费 — “Brain waste is costly.”</a:t>
            </a:r>
          </a:p>
          <a:p>
            <a:r>
              <a:t>underemployed (adjective) 就业不足的 — “She is underemployed.”</a:t>
            </a:r>
          </a:p>
          <a:p>
            <a:r>
              <a:t>overqualified (adjective) 资质过高的 — “He was told he was overqualified.”</a:t>
            </a:r>
          </a:p>
          <a:p>
            <a:r>
              <a:t>★ skills mismatch (noun) 技能错配 — “There’s a skills mismatch.”</a:t>
            </a:r>
          </a:p>
          <a:p>
            <a:r>
              <a:t>★ underuse (verb) 未充分利用 — “We underuse talent.”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Barriers 障碍</a:t>
            </a:r>
          </a:p>
          <a:p>
            <a:r>
              <a:t>领读 → 学员跟读 → 请学员用表达造一个和自己工作相关的句子。</a:t>
            </a:r>
          </a:p>
          <a:p>
            <a:r>
              <a:t>recognition of qualifications (noun) 资格认证 — “Recognition of qualifications takes time.”</a:t>
            </a:r>
          </a:p>
          <a:p>
            <a:r>
              <a:t>language barrier (noun) 语言障碍 — “A language barrier slows progress.”</a:t>
            </a:r>
          </a:p>
          <a:p>
            <a:r>
              <a:t>local experience (noun) 本地经验 — “Employers ask for local experience.”</a:t>
            </a:r>
          </a:p>
          <a:p>
            <a:r>
              <a:t>★ glass ceiling (noun) 无形天花板 — “She hit a glass ceiling.”</a:t>
            </a:r>
          </a:p>
          <a:p>
            <a:r>
              <a:t>★ survival job (noun) 谋生工作 — “He took a survival job.”</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Solutions 解决办法</a:t>
            </a:r>
          </a:p>
          <a:p>
            <a:r>
              <a:t>领读 → 学员跟读 → 请学员用表达造一个和自己工作相关的句子。</a:t>
            </a:r>
          </a:p>
          <a:p>
            <a:r>
              <a:t>bridging programme (noun) 衔接项目 — “A bridging programme helped her.”</a:t>
            </a:r>
          </a:p>
          <a:p>
            <a:r>
              <a:t>upskill / retrain (verb) 提升/再培训 — “She retrained as a teacher.”</a:t>
            </a:r>
          </a:p>
          <a:p>
            <a:r>
              <a:t>credential assessment (noun) 资格评估 — “He applied for credential assessment.”</a:t>
            </a:r>
          </a:p>
          <a:p>
            <a:r>
              <a:t>★ tap into talent (collocation) 挖掘人才 — “Tap into untapped talent.”</a:t>
            </a:r>
          </a:p>
          <a:p>
            <a:r>
              <a:t>★ skills-first (adjective) 技能优先的 — “We have a skills-first policy.”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waste / underemployed / overqualified / barrier / bridging / retrain</a:t>
            </a:r>
          </a:p>
          <a:p>
            <a:r>
              <a:t>1. Brain _______ costs economies a lot. → waste</a:t>
            </a:r>
          </a:p>
          <a:p>
            <a:r>
              <a:t>2. She is highly skilled but _______. → underemployed</a:t>
            </a:r>
          </a:p>
          <a:p>
            <a:r>
              <a:t>3. He was told he was _______ for the job. → overqualified</a:t>
            </a:r>
          </a:p>
          <a:p>
            <a:r>
              <a:t>4. A language _______ slows progress. → barrier</a:t>
            </a:r>
          </a:p>
          <a:p>
            <a:r>
              <a:t>5. A _______ programme helped her get certified. → bridging</a:t>
            </a:r>
          </a:p>
          <a:p>
            <a:r>
              <a:t>6. She decided to _______ as a nurse. → retrain</a:t>
            </a:r>
          </a:p>
          <a:p>
            <a:r>
              <a:t>Mistake Watch: (搭配) overqualified FOR a job,retrain AS,a barrier TO employment;brain waste 不可数。</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Telling your story 讲述你的经历</a:t>
            </a:r>
          </a:p>
          <a:p>
            <a:r>
              <a:t>情景：A skilled migrant talks about work.</a:t>
            </a:r>
          </a:p>
          <a:p>
            <a:r>
              <a:t>Role A: Interviewer Role B: Skilled migrant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You were an engineer in your country. What do you do now?</a:t>
            </a:r>
          </a:p>
          <a:p>
            <a:r>
              <a:t>B: I work in a warehouse. My qualifications aren’t recognised here yet.</a:t>
            </a:r>
          </a:p>
          <a:p>
            <a:r>
              <a:t>A: That must be frustrating.</a:t>
            </a:r>
          </a:p>
          <a:p>
            <a:r>
              <a:t>B: It is, but I’m taking a bridging course to get certified.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would help you most?</a:t>
            </a:r>
          </a:p>
          <a:p>
            <a:r>
              <a:t>B: A chance to show my skills, and someone to mentor me.</a:t>
            </a:r>
          </a:p>
          <a:p>
            <a:r>
              <a:t>A: We have a mentoring scheme. I can introduce you.</a:t>
            </a:r>
          </a:p>
          <a:p>
            <a:r>
              <a:t>B: That would be wonderful. Thank you.</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discuss underemployment sensitively.</a:t>
            </a:r>
          </a:p>
          <a:p>
            <a:r>
              <a:t>Your role (A) | Interviewer.</a:t>
            </a:r>
          </a:p>
          <a:p>
            <a:r>
              <a:t>Partner’s role (B) | Skilled professional. Field: ______________</a:t>
            </a:r>
          </a:p>
          <a:p>
            <a:r>
              <a:t>Must use (3 or more) | qualifications aren’t recognised · frustrating · bridging course · mentor · introduce you</a:t>
            </a:r>
          </a:p>
          <a:p>
            <a:r>
              <a:t>Goal | Ask respectfully and offer concrete help.</a:t>
            </a:r>
          </a:p>
          <a:p>
            <a:r>
              <a:t>My notes | ____________________________________________</a:t>
            </a:r>
          </a:p>
          <a:p>
            <a:r>
              <a:t>Avoid “overqualified”.</a:t>
            </a:r>
          </a:p>
          <a:p>
            <a:r>
              <a:t>Ask what the person wants.</a:t>
            </a:r>
          </a:p>
          <a:p>
            <a:r>
              <a:t>Offer a skills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Rethinking a hiring decision 重新考虑招聘决定</a:t>
            </a:r>
          </a:p>
          <a:p>
            <a:r>
              <a:t>情景：Managers discuss a candidate.</a:t>
            </a:r>
          </a:p>
          <a:p>
            <a:r>
              <a:t>Role A: Manager 1 Role B: Manager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Her CV shows impressive experience, but from another country.</a:t>
            </a:r>
          </a:p>
          <a:p>
            <a:r>
              <a:t>B: We usually want local experience.</a:t>
            </a:r>
          </a:p>
          <a:p>
            <a:r>
              <a:t>A: Is that really necessary? Skills transfer.</a:t>
            </a:r>
          </a:p>
          <a:p>
            <a:r>
              <a:t>B: You may be right. What has she actually done?</a:t>
            </a:r>
          </a:p>
          <a:p>
            <a:r>
              <a:t>A: Led a team of fifteen and delivered large projects.</a:t>
            </a:r>
          </a:p>
          <a:p>
            <a:r>
              <a:t>B: Then she could probably do the job. Let’s interview her.</a:t>
            </a:r>
          </a:p>
          <a:p>
            <a:r>
              <a:t>A: Agreed. We shouldn’t waste talent.</a:t>
            </a:r>
          </a:p>
          <a:p>
            <a:r>
              <a:t>B: I’ll set it up.</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challenge a hiring assumption.</a:t>
            </a:r>
          </a:p>
          <a:p>
            <a:r>
              <a:t>Your role (A) | Manager. Candidate: ______________</a:t>
            </a:r>
          </a:p>
          <a:p>
            <a:r>
              <a:t>Partner’s role (B) | Colleague.</a:t>
            </a:r>
          </a:p>
          <a:p>
            <a:r>
              <a:t>Must use (3 or more) | local experience · skills transfer · what has she actually done · waste talent · interview</a:t>
            </a:r>
          </a:p>
          <a:p>
            <a:r>
              <a:t>Goal | Question the assumption politely and decide to interview.</a:t>
            </a:r>
          </a:p>
          <a:p>
            <a:r>
              <a:t>My notes | ____________________________________________</a:t>
            </a:r>
          </a:p>
          <a:p>
            <a:r>
              <a:t>Offer a practical task.</a:t>
            </a:r>
          </a:p>
          <a:p>
            <a:r>
              <a:t>Discuss language support.</a:t>
            </a:r>
          </a:p>
          <a:p>
            <a:r>
              <a:t>Compare with a local candidate.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does brain waste happen? | “Mainly because…”</a:t>
            </a:r>
          </a:p>
          <a:p>
            <a:r>
              <a:t>2. Who is responsible for solving it? | “Governments, employers and…”</a:t>
            </a:r>
          </a:p>
          <a:p>
            <a:r>
              <a:t>3. Do employers value local experience too much? | “Sometimes, since…”</a:t>
            </a:r>
          </a:p>
          <a:p>
            <a:r>
              <a:t>4. How can skilled newcomers show their value? | “By…”</a:t>
            </a:r>
          </a:p>
          <a:p>
            <a:r>
              <a:t>5. What does your country do about it? | “As far as I know…”</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employers sometimes rely too much on local experience because it feels safe. But skills are often transferable, and diverse backgrounds bring new ideas. A better approach is to test the skills directly, for example with a practical task, rather than assuming.”</a:t>
            </a:r>
          </a:p>
          <a:p>
            <a:r>
              <a:t>“feels safe” 感觉保险;“test directly” 直接测试。</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sensitively about qualifications 谈资质时的措辞</a:t>
            </a:r>
          </a:p>
          <a:p>
            <a:r>
              <a:t>Insensitive | Sensitive</a:t>
            </a:r>
          </a:p>
          <a:p>
            <a:r>
              <a:t>You’re overqualified. | You have a lot of experience. Let me explain how this role fits.</a:t>
            </a:r>
          </a:p>
          <a:p>
            <a:r>
              <a:t>Your English isn’t good enough. | Let’s see how we can support your communication.</a:t>
            </a:r>
          </a:p>
          <a:p>
            <a:r>
              <a:t>We prefer locals. | We’re looking for specific experience in this market.</a:t>
            </a:r>
          </a:p>
          <a:p>
            <a:r>
              <a:t>You wasted your degree. | Your skills could be used more fully.</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sensitively about qualifications 谈资质时的措辞</a:t>
            </a:r>
          </a:p>
          <a:p>
            <a:r>
              <a:t>Say what you can offer, not what the person lacks.</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is a overqualified.  →  ✓ He is overqualified.  (形容词)</a:t>
            </a:r>
          </a:p>
          <a:p>
            <a:r>
              <a:t>✗ Her degree isn’t accepted from here.  →  ✓ Her degree isn’t recognised here.  (被动)</a:t>
            </a:r>
          </a:p>
          <a:p>
            <a:r>
              <a:t>✗ The brain waste are a problem.  →  ✓ Brain waste is a problem.  (不可数)</a:t>
            </a:r>
          </a:p>
          <a:p>
            <a:r>
              <a:t>Mistake Watch: Check below, recognised, due to + noun, brain waste is.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works under his level.  →  ✓ He works below his level.  (below)</a:t>
            </a:r>
          </a:p>
          <a:p>
            <a:r>
              <a:t>✗ She has lack of local experience.  →  ✓ She lacks local experience. / She has a lack of local experience.  (lack)</a:t>
            </a:r>
          </a:p>
          <a:p>
            <a:r>
              <a:t>✗ They can’t find work due to they are foreigners.  →  ✓ …because they are foreigners. / due to being foreigners  (due to + 名词)</a:t>
            </a:r>
          </a:p>
          <a:p>
            <a:r>
              <a:t>Mistake Watch: Check below, recognised, due to + noun, brain waste is.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Qualification recognition varies; check local bodies.</a:t>
            </a:r>
          </a:p>
          <a:p>
            <a:r>
              <a:t>Avoid labels like “foreigners”; say “newcomers” or “people from other countries”.</a:t>
            </a:r>
          </a:p>
          <a:p>
            <a:r>
              <a:t>Mentoring schemes help newcomers build networks.</a:t>
            </a:r>
          </a:p>
          <a:p>
            <a:r>
              <a:t>Name the skills. “Led a team of fifteen” is clearer than “senior”.</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brain waste and its causes.</a:t>
            </a:r>
          </a:p>
          <a:p>
            <a:r>
              <a:t>I can talk about skills and qualifications sensitively.</a:t>
            </a:r>
          </a:p>
          <a:p>
            <a:r>
              <a:t>I can challenge a hiring assumption politely.</a:t>
            </a:r>
          </a:p>
          <a:p>
            <a:r>
              <a:t>I use brain waste is, below, due to + noun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brain waste to a colleague in 60 seconds.</a:t>
            </a:r>
          </a:p>
          <a:p>
            <a:r>
              <a:t>8–10 | Listen to your recording. Check: below, recognised, due to + noun, brain waste is.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86 · CEO fires 800 staff 首席执行官解雇800名员工</a:t>
            </a:r>
          </a:p>
          <a:p>
            <a:r>
              <a:t>Goal: analyse a case of mass layoffs: how bad news is communicated, how it affects trust, and how better communication can reduce harm.</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本课为案例讨论:大规模裁员的沟通方式。“fire” 口语解雇;“lay off / make redundant” 较正式。不涉及具体公司事实,请讨论原则。</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how a company should handle a large layoff.</a:t>
            </a:r>
          </a:p>
          <a:p>
            <a:r>
              <a:t>Say: the decision → how to tell people → support → rebuild trust.</a:t>
            </a:r>
          </a:p>
          <a:p>
            <a:r>
              <a:t>Useful starters: “If a company has to… it should…” / “The way it’s communicated matters because…” / “Leaders must…” / “Afterwards, …”</a:t>
            </a:r>
          </a:p>
          <a:p>
            <a:r>
              <a:t>“If a company has to… it should…” 第一条件句给建议。</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Imagine a company announces that eight hundred employees will lose their jobs. Even if the business reason is clear, the way the news is delivered shapes how people remember the company. Research on organisational trust suggests that employees accept bad news better when it is explained honestly, delivered promptly and personally, and accompanied by support. Poor practice includes surprise group emails, vague language, and no help afterwards. Better practice includes direct conversations, clear criteria for decisions, fair severance, and career support. Remaining staff, often called “survivors”, also need honest communication, as they may feel guilt, fear and extra workload. Leaders who admit the pain, explain the reasons and share the plan for the future usually rebuild trust faster than those who hide behind formal statements.</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helps employees accept bad news?</a:t>
            </a:r>
          </a:p>
          <a:p>
            <a:r>
              <a:t>A: Honest explanation, prompt and personal delivery, and support.</a:t>
            </a:r>
          </a:p>
          <a:p>
            <a:r>
              <a:t>Q2. Name one poor and one better practice.</a:t>
            </a:r>
          </a:p>
          <a:p>
            <a:r>
              <a:t>A: Poor: surprise group emails (or vague language); better: direct conversations, clear criteria, fair severance, career support.</a:t>
            </a:r>
          </a:p>
          <a:p>
            <a:r>
              <a:t>Q3. Who are “survivors”?</a:t>
            </a:r>
          </a:p>
          <a:p>
            <a:r>
              <a:t>A: The employees who remain after the layoffs.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Layoffs 裁员</a:t>
            </a:r>
          </a:p>
          <a:p>
            <a:r>
              <a:t>领读 → 学员跟读 → 请学员用表达造一个和自己工作相关的句子。</a:t>
            </a:r>
          </a:p>
          <a:p>
            <a:r>
              <a:t>lay off / make redundant (verb) 裁员 — “They laid off 800 people.”</a:t>
            </a:r>
          </a:p>
          <a:p>
            <a:r>
              <a:t>redundancy (noun) 裁员/冗余 — “Redundancies were announced.”</a:t>
            </a:r>
          </a:p>
          <a:p>
            <a:r>
              <a:t>severance (pay) (noun) 遣散费 — “Severance pay is fair.”</a:t>
            </a:r>
          </a:p>
          <a:p>
            <a:r>
              <a:t>★ downsizing (noun) 缩编 — “Downsizing hurts morale.”</a:t>
            </a:r>
          </a:p>
          <a:p>
            <a:r>
              <a:t>★ restructuring (noun) 重组 — “The company is restructuring.”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Communicating 沟通</a:t>
            </a:r>
          </a:p>
          <a:p>
            <a:r>
              <a:t>领读 → 学员跟读 → 请学员用表达造一个和自己工作相关的句子。</a:t>
            </a:r>
          </a:p>
          <a:p>
            <a:r>
              <a:t>break the news (collocation) 宣布消息 — “She broke the news gently.”</a:t>
            </a:r>
          </a:p>
          <a:p>
            <a:r>
              <a:t>transparent (adjective) 透明的 — “Be transparent.”</a:t>
            </a:r>
          </a:p>
          <a:p>
            <a:r>
              <a:t>show empathy (collocation) 表达同理心 — “Leaders should show empathy.”</a:t>
            </a:r>
          </a:p>
          <a:p>
            <a:r>
              <a:t>★ tone-deaf (adjective) 不合时宜的 — “The message was tone-deaf.”</a:t>
            </a:r>
          </a:p>
          <a:p>
            <a:r>
              <a:t>★ hide behind (corporate language) (phrase) 躲在(官话)后面 — “He hid behind jargon.”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Aftermath 善后</a:t>
            </a:r>
          </a:p>
          <a:p>
            <a:r>
              <a:t>领读 → 学员跟读 → 请学员用表达造一个和自己工作相关的句子。</a:t>
            </a:r>
          </a:p>
          <a:p>
            <a:r>
              <a:t>survivors (noun) 留任者 — “Survivors may feel guilty.”</a:t>
            </a:r>
          </a:p>
          <a:p>
            <a:r>
              <a:t>outplacement (noun) 再就业援助 — “We provide outplacement.”</a:t>
            </a:r>
          </a:p>
          <a:p>
            <a:r>
              <a:t>rebuild trust (collocation) 重建信任 — “It takes time to rebuild trust.”</a:t>
            </a:r>
          </a:p>
          <a:p>
            <a:r>
              <a:t>★ survivor guilt (noun) 幸存者内疚 — “Survivor guilt is real.”</a:t>
            </a:r>
          </a:p>
          <a:p>
            <a:r>
              <a:t>★ morale takes a hit (phrase) 士气受挫 — “Morale took a hit.”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redundancies / severance / transparent / empathy / outplacement / trust</a:t>
            </a:r>
          </a:p>
          <a:p>
            <a:r>
              <a:t>1. The company announced 800 _______. → redundancies</a:t>
            </a:r>
          </a:p>
          <a:p>
            <a:r>
              <a:t>2. Fair _______ pay helps people move on. → severance</a:t>
            </a:r>
          </a:p>
          <a:p>
            <a:r>
              <a:t>3. Leaders should be _______ about reasons. → transparent</a:t>
            </a:r>
          </a:p>
          <a:p>
            <a:r>
              <a:t>4. Show _______ when delivering bad news. → empathy</a:t>
            </a:r>
          </a:p>
          <a:p>
            <a:r>
              <a:t>5. The company provided _______ support. → outplacement</a:t>
            </a:r>
          </a:p>
          <a:p>
            <a:r>
              <a:t>6. It takes time to rebuild _______. → trust</a:t>
            </a:r>
          </a:p>
          <a:p>
            <a:r>
              <a:t>Mistake Watch: (英美) redundancy(英)/ layoff(美);be made redundant,lose your job;severance 不可数。</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Telling someone their job is ending 告知岗位被取消</a:t>
            </a:r>
          </a:p>
          <a:p>
            <a:r>
              <a:t>情景：A manager has a difficult conversation.</a:t>
            </a:r>
          </a:p>
          <a:p>
            <a:r>
              <a:t>Role A: Manager Role B: Employee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Thank you for coming in. I’m afraid I have difficult news. Your role is being made redundant.</a:t>
            </a:r>
          </a:p>
          <a:p>
            <a:r>
              <a:t>B: That’s a shock. Why?</a:t>
            </a:r>
          </a:p>
          <a:p>
            <a:r>
              <a:t>A: The company is restructuring, and your department is closing. It isn’t about your performance.</a:t>
            </a:r>
          </a:p>
          <a:p>
            <a:r>
              <a:t>B: What happens now?</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You’ll receive severance pay and career support. I’ll also write a reference.</a:t>
            </a:r>
          </a:p>
          <a:p>
            <a:r>
              <a:t>B: When is my last day?</a:t>
            </a:r>
          </a:p>
          <a:p>
            <a:r>
              <a:t>A: The end of next month. I’m very sorry.</a:t>
            </a:r>
          </a:p>
          <a:p>
            <a:r>
              <a:t>B: Thank you for telling me in person.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deliver difficult news.</a:t>
            </a:r>
          </a:p>
          <a:p>
            <a:r>
              <a:t>Your role (A) | Manager.</a:t>
            </a:r>
          </a:p>
          <a:p>
            <a:r>
              <a:t>Partner’s role (B) | Employee. Role: ______________</a:t>
            </a:r>
          </a:p>
          <a:p>
            <a:r>
              <a:t>Must use (3 or more) | I’m afraid · made redundant · restructuring · severance · It isn’t about your performance</a:t>
            </a:r>
          </a:p>
          <a:p>
            <a:r>
              <a:t>Goal | Be honest, kind and clear about next steps.</a:t>
            </a:r>
          </a:p>
          <a:p>
            <a:r>
              <a:t>My notes | ____________________________________________</a:t>
            </a:r>
          </a:p>
          <a:p>
            <a:r>
              <a:t>Avoid false hope.</a:t>
            </a:r>
          </a:p>
          <a:p>
            <a:r>
              <a:t>Offer a reference.</a:t>
            </a:r>
          </a:p>
          <a:p>
            <a:r>
              <a:t>Allow silence and questions.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to remaining staff 对留任员工说话</a:t>
            </a:r>
          </a:p>
          <a:p>
            <a:r>
              <a:t>情景：A leader addresses the team.</a:t>
            </a:r>
          </a:p>
          <a:p>
            <a:r>
              <a:t>Role A: Leader Role B: Employee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know many of you are worried after last week’s announcement.</a:t>
            </a:r>
          </a:p>
          <a:p>
            <a:r>
              <a:t>B: Yes, it’s been hard. People are afraid they’re next.</a:t>
            </a:r>
          </a:p>
          <a:p>
            <a:r>
              <a:t>A: I can’t promise there won’t be changes, but I’ll be honest with you at every step.</a:t>
            </a:r>
          </a:p>
          <a:p>
            <a:r>
              <a:t>B: What about our workload? We’ve lost colleagues.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We’ll review priorities this week and drop what isn’t essential.</a:t>
            </a:r>
          </a:p>
          <a:p>
            <a:r>
              <a:t>B: That would help.</a:t>
            </a:r>
          </a:p>
          <a:p>
            <a:r>
              <a:t>A: I’d also like to hear your concerns directly. Let’s meet weekly.</a:t>
            </a:r>
          </a:p>
          <a:p>
            <a:r>
              <a:t>B: Thank you for being open.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address survivors.</a:t>
            </a:r>
          </a:p>
          <a:p>
            <a:r>
              <a:t>Your role (A) | Leader.</a:t>
            </a:r>
          </a:p>
          <a:p>
            <a:r>
              <a:t>Partner’s role (B) | Employee. Concern: ______________</a:t>
            </a:r>
          </a:p>
          <a:p>
            <a:r>
              <a:t>Must use (3 or more) | worried · I’ll be honest · workload · drop what isn’t essential · meet weekly</a:t>
            </a:r>
          </a:p>
          <a:p>
            <a:r>
              <a:t>Goal | Acknowledge feelings, avoid empty promises and offer a plan.</a:t>
            </a:r>
          </a:p>
          <a:p>
            <a:r>
              <a:t>My notes | ____________________________________________</a:t>
            </a:r>
          </a:p>
          <a:p>
            <a:r>
              <a:t>Say what you don’t know.</a:t>
            </a:r>
          </a:p>
          <a:p>
            <a:r>
              <a:t>Thank people for their commitment.</a:t>
            </a:r>
          </a:p>
          <a:p>
            <a:r>
              <a:t>Set a regular update.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it ever right to lay off staff? | “It may be necessary if…”</a:t>
            </a:r>
          </a:p>
          <a:p>
            <a:r>
              <a:t>2. How should leaders deliver bad news? | “Face to face, …”</a:t>
            </a:r>
          </a:p>
          <a:p>
            <a:r>
              <a:t>3. What are alternatives to layoffs? | “Reduced hours, …”</a:t>
            </a:r>
          </a:p>
          <a:p>
            <a:r>
              <a:t>4. How do survivors feel? | “They may feel…”</a:t>
            </a:r>
          </a:p>
          <a:p>
            <a:r>
              <a:t>5. How can a company rebuild trust? | “By…”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“Alternatives include hiring freezes, reduced hours, pay cuts for senior staff, and retraining people for other roles. These options don’t always work, and sometimes layoffs are unavoidable, but exploring alternatives shows respect for employees and can protect the company’s reputation.”</a:t>
            </a:r>
          </a:p>
          <a:p>
            <a:r>
              <a:t>“hiring freeze” 冻结招聘;“unavoidable” 不可避免。</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Delivering bad news 传达坏消息</a:t>
            </a:r>
          </a:p>
          <a:p>
            <a:r>
              <a:t>Step | Example</a:t>
            </a:r>
          </a:p>
          <a:p>
            <a:r>
              <a:t>Warn | I’m afraid I have some difficult news.</a:t>
            </a:r>
          </a:p>
          <a:p>
            <a:r>
              <a:t>State clearly | Your position is being made redundant.</a:t>
            </a:r>
          </a:p>
          <a:p>
            <a:r>
              <a:t>Explain briefly | The department is closing.</a:t>
            </a:r>
          </a:p>
          <a:p>
            <a:r>
              <a:t>Show support | We’ll help with what comes next.</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Delivering bad news 传达坏消息</a:t>
            </a:r>
          </a:p>
          <a:p>
            <a:r>
              <a:t>Use “I’m afraid…”, “Unfortunately…” and passive voice to soften: Your role is being made redundant.</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company fired eight hundred peoples.  →  ✓ The company laid off 800 people.  (people / lay off)</a:t>
            </a:r>
          </a:p>
          <a:p>
            <a:r>
              <a:t>✗ I’m sorry to tell you that you are redundant.  →  ✓ I’m sorry to tell you that your role is redundant.  (说职位多余,不是说人多余)</a:t>
            </a:r>
          </a:p>
          <a:p>
            <a:r>
              <a:t>✗ I have to inform you a bad news.  →  ✓ I have some bad news.  (news 不可数)</a:t>
            </a:r>
          </a:p>
          <a:p>
            <a:r>
              <a:t>Mistake Watch: Check news uncountable, made redundant (adjective), sorry to tell, severance.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was made redundancy.  →  ✓ He was made redundant.  (形容词)</a:t>
            </a:r>
          </a:p>
          <a:p>
            <a:r>
              <a:t>✗ I’m sorry for tell you.  →  ✓ I’m sorry to tell you.  (sorry to)</a:t>
            </a:r>
          </a:p>
          <a:p>
            <a:r>
              <a:t>✗ We will pay you a severance.  →  ✓ We will pay you severance.  (不可数)</a:t>
            </a:r>
          </a:p>
          <a:p>
            <a:r>
              <a:t>Mistake Watch: Check news uncountable, made redundant (adjective), sorry to tell, severance.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Face to face first. Individuals should hear bad news personally before a group announcement.</a:t>
            </a:r>
          </a:p>
          <a:p>
            <a:r>
              <a:t>Avoid euphemisms like “rightsizing”. People often see through them.</a:t>
            </a:r>
          </a:p>
          <a:p>
            <a:r>
              <a:t>Legal process. Many countries require consultation and notice.</a:t>
            </a:r>
          </a:p>
          <a:p>
            <a:r>
              <a:t>Don’t blame. “It isn’t about you” is truthful and kind when it is true.</a:t>
            </a:r>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layoffs and communication principles.</a:t>
            </a:r>
          </a:p>
          <a:p>
            <a:r>
              <a:t>I can deliver difficult news with I’m afraid…</a:t>
            </a:r>
          </a:p>
          <a:p>
            <a:r>
              <a:t>I can address staff after a difficult announcement.</a:t>
            </a:r>
          </a:p>
          <a:p>
            <a:r>
              <a:t>I use news (uncountable) and made redundant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Practise delivering bad news in 60 seconds.</a:t>
            </a:r>
          </a:p>
          <a:p>
            <a:r>
              <a:t>8–10 | Listen to your recording. Check: news uncountable, made redundant, sorry to.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“表达同理心” in English? → show empathy</a:t>
            </a:r>
          </a:p>
          <a:p>
            <a:r>
              <a:t>“不合时宜的” in English? → tone-deaf</a:t>
            </a:r>
          </a:p>
          <a:p>
            <a:r>
              <a:t>“资格评估” in English? → credential assessment</a:t>
            </a:r>
          </a:p>
          <a:p>
            <a:r>
              <a:t>Fix it: I send CV to many companies. → I send my CV to many companies.</a:t>
            </a:r>
          </a:p>
          <a:p>
            <a:r>
              <a:t>Fix it: He is a overqualified. → He is overqualified.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 Id="rId4" Type="http://schemas.openxmlformats.org/officeDocument/2006/relationships/slide" Target="slide85.xml"/><Relationship Id="rId5" Type="http://schemas.openxmlformats.org/officeDocument/2006/relationships/slide" Target="slide86.xml"/><Relationship Id="rId6" Type="http://schemas.openxmlformats.org/officeDocument/2006/relationships/slide" Target="slide87.xml"/><Relationship Id="rId7" Type="http://schemas.openxmlformats.org/officeDocument/2006/relationships/slide" Target="slide88.xml"/><Relationship Id="rId8" Type="http://schemas.openxmlformats.org/officeDocument/2006/relationships/slide" Target="slide89.xml"/><Relationship Id="rId9" Type="http://schemas.openxmlformats.org/officeDocument/2006/relationships/slide" Target="slide90.xml"/><Relationship Id="rId10" Type="http://schemas.openxmlformats.org/officeDocument/2006/relationships/slide" Target="slide91.xml"/><Relationship Id="rId11" Type="http://schemas.openxmlformats.org/officeDocument/2006/relationships/slide" Target="slide92.xml"/><Relationship Id="rId12" Type="http://schemas.openxmlformats.org/officeDocument/2006/relationships/slide" Target="slide9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18</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18</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Recruitment and Talent</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3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L84 The future of job search · L85 Brain waste · L86 CEO fires 800 staff</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84</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future of job search</a:t>
            </a:r>
          </a:p>
          <a:p>
            <a:pPr algn="l">
              <a:lnSpc>
                <a:spcPct val="100000"/>
              </a:lnSpc>
              <a:spcAft>
                <a:spcPts val="800"/>
              </a:spcAft>
            </a:pPr>
            <a:r>
              <a:rPr sz="1400" b="0">
                <a:solidFill>
                  <a:srgbClr val="5F677A"/>
                </a:solidFill>
                <a:latin typeface="Arial"/>
                <a:ea typeface="Microsoft YaHei"/>
              </a:rPr>
              <a:t>求职的未来</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85</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Brain waste</a:t>
            </a:r>
          </a:p>
          <a:p>
            <a:pPr algn="l">
              <a:lnSpc>
                <a:spcPct val="100000"/>
              </a:lnSpc>
              <a:spcAft>
                <a:spcPts val="800"/>
              </a:spcAft>
            </a:pPr>
            <a:r>
              <a:rPr sz="1400" b="0">
                <a:solidFill>
                  <a:srgbClr val="5F677A"/>
                </a:solidFill>
                <a:latin typeface="Arial"/>
                <a:ea typeface="Microsoft YaHei"/>
              </a:rPr>
              <a:t>人才浪费</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86</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CEO fires 800 staff</a:t>
            </a:r>
          </a:p>
          <a:p>
            <a:pPr algn="l">
              <a:lnSpc>
                <a:spcPct val="100000"/>
              </a:lnSpc>
              <a:spcAft>
                <a:spcPts val="800"/>
              </a:spcAft>
            </a:pPr>
            <a:r>
              <a:rPr sz="1400" b="0">
                <a:solidFill>
                  <a:srgbClr val="5F677A"/>
                </a:solidFill>
                <a:latin typeface="Arial"/>
                <a:ea typeface="Microsoft YaHei"/>
              </a:rPr>
              <a:t>首席执行官解雇800名员工</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18 · Lesson 84 The future of job search</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future of job search</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求职的未来</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how job searching is changing (AI, online platforms, networking) and give practical advice to job seekers.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did you find your current or last job?</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used job platforms or recruiters?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AI will change how people apply for jobs?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networking more important than applications?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advice would you give to a job seeker today?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“job search” 求职;“applicant tracking system (ATS)” 简历筛选系统。第 1 题过去式。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how job searching is changing and give advice.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old way</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new way</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risks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advice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Traditionally, …   💬 These days, …   💬 One risk is…   💬 My advice would be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“Traditionally” vs “These days” 对比今昔。</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Searching smarter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A few decades ago, people found jobs through newspaper adverts and personal contacts. Today, most openings appear online, and a single advert can attract hundreds of applicants. To cope, many employers use software that scans CVs for keywords before a human sees them. Some use short video interviews or online tests. For job seekers, this means tailoring each application to the advert, using clear headings and relevant keywords, and keeping a professional online profile. At the same time, networking still matters: many roles are filled through recommendations, sometimes before they are advertised. Experts also warn that automated tools can be biased or make mistakes, so candidates should not be discouraged by a quick rejection. The future may bring more skills-based hiring, where proven abilities count for more than degrees or job titles.</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 employers cope with many applicants?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Software scans CVs for keywords, plus videos and tests.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does networking still matter?</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Many roles are filled by recommendations, sometimes before they are advertised.</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might the future bring?</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More skills-based hiring.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Searching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求职</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board / platform</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招聘网站</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check job boards daily.”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tailor your CV</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定制简历</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“Tailor your CV to each role.”</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applicant tracking system (ATS)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招聘筛选系统</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“An ATS filters CVs.”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headhunter</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猎头</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headhunter contacted me.”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hidden job market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隐形职位市场</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“Many jobs are in the hidden job market.”</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Technology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技术</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AI screening</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AI 筛选</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screening is controversial.”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video interview</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视频面试</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had a video interview.”</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skills-based hiring</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基于技能的招聘</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“Skills-based hiring is growing.”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keyword-optimised</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关键词优化的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keyword-optimised CV.”</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algorithmic bias</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算法偏见</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“Algorithmic bias is a concern.”</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Networking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人脉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network</a:t>
            </a:r>
          </a:p>
          <a:p>
            <a:pPr algn="l">
              <a:lnSpc>
                <a:spcPct val="115000"/>
              </a:lnSpc>
              <a:spcAft>
                <a:spcPts val="800"/>
              </a:spcAft>
            </a:pPr>
            <a:r>
              <a:rPr sz="1300" b="0">
                <a:solidFill>
                  <a:srgbClr val="5F677A"/>
                </a:solidFill>
                <a:latin typeface="Arial"/>
                <a:ea typeface="Microsoft YaHei"/>
              </a:rPr>
              <a:t>verb/noun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拓展人脉</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networks at events.”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referral</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内推</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got the job through a referral.”</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reach out</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联系</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“Reach out to alumni.”</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informational interview</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信息访谈</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did an informational interview.”</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personal brand</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个人品牌</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“Build your personal brand.”</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关键词优化的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keyword-optimised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招聘网站</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board / platform</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基于技能的招聘</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skills-based hiring</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信息访谈</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informational interview</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联系</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reach out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算法偏见</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algorithmic bias</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隐形职位市场</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hidden job market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定制简历</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tailor your CV</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board</a:t>
            </a:r>
          </a:p>
        </p:txBody>
      </p:sp>
      <p:sp>
        <p:nvSpPr>
          <p:cNvPr id="10" name="Rounded Rectangle 9"/>
          <p:cNvSpPr/>
          <p:nvPr/>
        </p:nvSpPr>
        <p:spPr>
          <a:xfrm>
            <a:off x="3017520"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tailor</a:t>
            </a:r>
          </a:p>
        </p:txBody>
      </p:sp>
      <p:sp>
        <p:nvSpPr>
          <p:cNvPr id="11" name="Rounded Rectangle 10"/>
          <p:cNvSpPr/>
          <p:nvPr/>
        </p:nvSpPr>
        <p:spPr>
          <a:xfrm>
            <a:off x="4133088"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tracking</a:t>
            </a:r>
          </a:p>
        </p:txBody>
      </p:sp>
      <p:sp>
        <p:nvSpPr>
          <p:cNvPr id="12" name="Rounded Rectangle 11"/>
          <p:cNvSpPr/>
          <p:nvPr/>
        </p:nvSpPr>
        <p:spPr>
          <a:xfrm>
            <a:off x="5468112"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referral</a:t>
            </a:r>
          </a:p>
        </p:txBody>
      </p:sp>
      <p:sp>
        <p:nvSpPr>
          <p:cNvPr id="13" name="Rounded Rectangle 12"/>
          <p:cNvSpPr/>
          <p:nvPr/>
        </p:nvSpPr>
        <p:spPr>
          <a:xfrm>
            <a:off x="6803136"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reach</a:t>
            </a:r>
          </a:p>
        </p:txBody>
      </p:sp>
      <p:sp>
        <p:nvSpPr>
          <p:cNvPr id="14" name="Rounded Rectangle 13"/>
          <p:cNvSpPr/>
          <p:nvPr/>
        </p:nvSpPr>
        <p:spPr>
          <a:xfrm>
            <a:off x="7808976"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brand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check the job _______ every morning.</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board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You should _______ your CV to each role.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tailor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An applicant _______ system filters CVs.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tracking</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got the interview through a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referral</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Don’t be afraid to _______ out to people.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reach</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Build your personal _______ online.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brand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apply FOR a job,tailor sth TO,reach out TO someone;CV(英)/ résumé(美)。</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Advising a job seeker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给求职者建议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friend asks for help.</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Job seeker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Friend</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Model Dialogue · Advising a job seeker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sent fifty applications and heard nothing. What am I doing wrong?</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tailor your CV to each advert?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really. I use the same one.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Many companies use software that scans for keywords. Match your wording to the advert.</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Advising a job seeker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What else?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Reach out to people in the company. A referral can help a lot.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feel awkward doing that.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Keep it short and polite. Most people are happy to help.</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Advising a job seeker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advise a job seeker.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Job seeker.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 Field: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tailor · keywords · referral · reach out · awkward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Diagnose the problem and give three tips.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personal brand.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an informational interview.</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Warn about a common mistake.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Cold message to a contact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给陌生联系人发消息</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contact someone on a professional network.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Contact</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Cold message to a contact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Priya, I saw you work in product design. I’m exploring a move into the field.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Nice to meet you. What can I do for you?</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you have fifteen minutes for a quick chat about your experience?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How about Thursday at 4?</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Cold message to a contact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I’ll send an invitation.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you like to know?</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you started, and what skills matter most.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Happy to share. Talk soon.</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Cold message to a contact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reach out professionally.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Job seeker. Target field: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Contact.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exploring a move into · fifteen minutes · quick chat · how you started · send an invitation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Be brief, polite and specific.</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mutual connection.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something useful.</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Follow up with thanks.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AI screening fair?</a:t>
            </a:r>
          </a:p>
          <a:p>
            <a:pPr algn="l">
              <a:lnSpc>
                <a:spcPct val="115000"/>
              </a:lnSpc>
              <a:spcAft>
                <a:spcPts val="800"/>
              </a:spcAft>
            </a:pPr>
            <a:r>
              <a:rPr sz="1400" b="0">
                <a:solidFill>
                  <a:srgbClr val="5F677A"/>
                </a:solidFill>
                <a:latin typeface="Arial"/>
                <a:ea typeface="Microsoft YaHei"/>
              </a:rPr>
              <a:t>💬 “It can be,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important is a degree?</a:t>
            </a:r>
          </a:p>
          <a:p>
            <a:pPr algn="l">
              <a:lnSpc>
                <a:spcPct val="115000"/>
              </a:lnSpc>
              <a:spcAft>
                <a:spcPts val="800"/>
              </a:spcAft>
            </a:pPr>
            <a:r>
              <a:rPr sz="1400" b="0">
                <a:solidFill>
                  <a:srgbClr val="5F677A"/>
                </a:solidFill>
                <a:latin typeface="Arial"/>
                <a:ea typeface="Microsoft YaHei"/>
              </a:rPr>
              <a:t>💬 “In some fields…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would you improve the hiring process?</a:t>
            </a:r>
          </a:p>
          <a:p>
            <a:pPr algn="l">
              <a:lnSpc>
                <a:spcPct val="115000"/>
              </a:lnSpc>
              <a:spcAft>
                <a:spcPts val="800"/>
              </a:spcAft>
            </a:pPr>
            <a:r>
              <a:rPr sz="1400" b="0">
                <a:solidFill>
                  <a:srgbClr val="5F677A"/>
                </a:solidFill>
                <a:latin typeface="Arial"/>
                <a:ea typeface="Microsoft YaHei"/>
              </a:rPr>
              <a:t>💬 “I’d…”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networking comfortable for you?</a:t>
            </a:r>
          </a:p>
          <a:p>
            <a:pPr algn="l">
              <a:lnSpc>
                <a:spcPct val="115000"/>
              </a:lnSpc>
              <a:spcAft>
                <a:spcPts val="800"/>
              </a:spcAft>
            </a:pPr>
            <a:r>
              <a:rPr sz="1400" b="0">
                <a:solidFill>
                  <a:srgbClr val="5F677A"/>
                </a:solidFill>
                <a:latin typeface="Arial"/>
                <a:ea typeface="Microsoft YaHei"/>
              </a:rPr>
              <a:t>💬 “Not always, since…”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will job searching look like in ten years?</a:t>
            </a:r>
          </a:p>
          <a:p>
            <a:pPr algn="l">
              <a:lnSpc>
                <a:spcPct val="115000"/>
              </a:lnSpc>
              <a:spcAft>
                <a:spcPts val="800"/>
              </a:spcAft>
            </a:pPr>
            <a:r>
              <a:rPr sz="1400" b="0">
                <a:solidFill>
                  <a:srgbClr val="5F677A"/>
                </a:solidFill>
                <a:latin typeface="Arial"/>
                <a:ea typeface="Microsoft YaHei"/>
              </a:rPr>
              <a:t>💬 “I think…”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It can be fair if the tools are tested and if humans remain involved. The problem is that algorithms learn from past data, and if that data contains bias, the tool may repeat it. So companies should audit their tools, explain how decisions are made, and offer a human review for rejected candidates.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“audit” 审计、核查;“human review” 人工复核。</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Contrasting past and present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对比过去与现在</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652272">
                <a:tc>
                  <a:txBody>
                    <a:bodyPr wrap="square"/>
                    <a:lstStyle/>
                    <a:p>
                      <a:r>
                        <a:rPr sz="1600" b="1">
                          <a:solidFill>
                            <a:srgbClr val="1F2A44"/>
                          </a:solidFill>
                          <a:latin typeface="Arial"/>
                          <a:ea typeface="Microsoft YaHei"/>
                        </a:rPr>
                        <a:t>Traditionally, … These days, …</a:t>
                      </a:r>
                    </a:p>
                  </a:txBody>
                  <a:tcPr anchor="ctr">
                    <a:solidFill>
                      <a:srgbClr val="FFFFFF"/>
                    </a:solidFill>
                  </a:tcPr>
                </a:tc>
                <a:tc>
                  <a:txBody>
                    <a:bodyPr wrap="square"/>
                    <a:lstStyle/>
                    <a:p>
                      <a:r>
                        <a:rPr sz="1600" b="0">
                          <a:solidFill>
                            <a:srgbClr val="1F2A44"/>
                          </a:solidFill>
                          <a:latin typeface="Arial"/>
                          <a:ea typeface="Microsoft YaHei"/>
                        </a:rPr>
                        <a:t>Traditionally, people used adverts. These days, they use platforms.</a:t>
                      </a:r>
                    </a:p>
                  </a:txBody>
                  <a:tcPr anchor="ctr">
                    <a:solidFill>
                      <a:srgbClr val="FFFFFF"/>
                    </a:solidFill>
                  </a:tcPr>
                </a:tc>
              </a:tr>
              <a:tr h="408432">
                <a:tc>
                  <a:txBody>
                    <a:bodyPr wrap="square"/>
                    <a:lstStyle/>
                    <a:p>
                      <a:r>
                        <a:rPr sz="1600" b="1">
                          <a:solidFill>
                            <a:srgbClr val="1F2A44"/>
                          </a:solidFill>
                          <a:latin typeface="Arial"/>
                          <a:ea typeface="Microsoft YaHei"/>
                        </a:rPr>
                        <a:t>used to + base</a:t>
                      </a:r>
                    </a:p>
                  </a:txBody>
                  <a:tcPr anchor="ctr">
                    <a:solidFill>
                      <a:srgbClr val="FFEFD9"/>
                    </a:solidFill>
                  </a:tcPr>
                </a:tc>
                <a:tc>
                  <a:txBody>
                    <a:bodyPr wrap="square"/>
                    <a:lstStyle/>
                    <a:p>
                      <a:r>
                        <a:rPr sz="1600" b="0">
                          <a:solidFill>
                            <a:srgbClr val="1F2A44"/>
                          </a:solidFill>
                          <a:latin typeface="Arial"/>
                          <a:ea typeface="Microsoft YaHei"/>
                        </a:rPr>
                        <a:t>People used to send paper CVs.</a:t>
                      </a:r>
                    </a:p>
                  </a:txBody>
                  <a:tcPr anchor="ctr">
                    <a:solidFill>
                      <a:srgbClr val="FFEFD9"/>
                    </a:solidFill>
                  </a:tcPr>
                </a:tc>
              </a:tr>
              <a:tr h="408432">
                <a:tc>
                  <a:txBody>
                    <a:bodyPr wrap="square"/>
                    <a:lstStyle/>
                    <a:p>
                      <a:r>
                        <a:rPr sz="1600" b="1">
                          <a:solidFill>
                            <a:srgbClr val="1F2A44"/>
                          </a:solidFill>
                          <a:latin typeface="Arial"/>
                          <a:ea typeface="Microsoft YaHei"/>
                        </a:rPr>
                        <a:t>no longer</a:t>
                      </a:r>
                    </a:p>
                  </a:txBody>
                  <a:tcPr anchor="ctr">
                    <a:solidFill>
                      <a:srgbClr val="FFFFFF"/>
                    </a:solidFill>
                  </a:tcPr>
                </a:tc>
                <a:tc>
                  <a:txBody>
                    <a:bodyPr wrap="square"/>
                    <a:lstStyle/>
                    <a:p>
                      <a:r>
                        <a:rPr sz="1600" b="0">
                          <a:solidFill>
                            <a:srgbClr val="1F2A44"/>
                          </a:solidFill>
                          <a:latin typeface="Arial"/>
                          <a:ea typeface="Microsoft YaHei"/>
                        </a:rPr>
                        <a:t>I no longer send paper CVs.</a:t>
                      </a:r>
                    </a:p>
                  </a:txBody>
                  <a:tcPr anchor="ctr">
                    <a:solidFill>
                      <a:srgbClr val="FFFFFF"/>
                    </a:solidFill>
                  </a:tcPr>
                </a:tc>
              </a:tr>
              <a:tr h="408432">
                <a:tc>
                  <a:txBody>
                    <a:bodyPr wrap="square"/>
                    <a:lstStyle/>
                    <a:p>
                      <a:r>
                        <a:rPr sz="1600" b="1">
                          <a:solidFill>
                            <a:srgbClr val="1F2A44"/>
                          </a:solidFill>
                          <a:latin typeface="Arial"/>
                          <a:ea typeface="Microsoft YaHei"/>
                        </a:rPr>
                        <a:t>increasingly</a:t>
                      </a:r>
                    </a:p>
                  </a:txBody>
                  <a:tcPr anchor="ctr">
                    <a:solidFill>
                      <a:srgbClr val="FFEFD9"/>
                    </a:solidFill>
                  </a:tcPr>
                </a:tc>
                <a:tc>
                  <a:txBody>
                    <a:bodyPr wrap="square"/>
                    <a:lstStyle/>
                    <a:p>
                      <a:r>
                        <a:rPr sz="1600" b="0">
                          <a:solidFill>
                            <a:srgbClr val="1F2A44"/>
                          </a:solidFill>
                          <a:latin typeface="Arial"/>
                          <a:ea typeface="Microsoft YaHei"/>
                        </a:rPr>
                        <a:t>Employers increasingly use AI.</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Contrasting past and present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对比过去与现在</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increasingly + present for trends: </a:t>
            </a:r>
            <a:r>
              <a:rPr sz="1700" b="0">
                <a:solidFill>
                  <a:srgbClr val="1F2A44"/>
                </a:solidFill>
                <a:latin typeface="Arial"/>
                <a:ea typeface="Microsoft YaHei"/>
              </a:rPr>
              <a:t>Employers increasingly rely on skills tests.</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search a job since January.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been looking for a job since January.</a:t>
            </a:r>
          </a:p>
          <a:p>
            <a:pPr algn="l">
              <a:spcAft>
                <a:spcPts val="200"/>
              </a:spcAft>
            </a:pPr>
            <a:r>
              <a:rPr sz="1200" b="0">
                <a:solidFill>
                  <a:srgbClr val="FFFFFF"/>
                </a:solidFill>
                <a:latin typeface="Arial"/>
                <a:ea typeface="Microsoft YaHei"/>
              </a:rPr>
              <a:t>现在完成进行时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send CV to many companies.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send my CV to many companies.</a:t>
            </a:r>
          </a:p>
          <a:p>
            <a:pPr algn="l">
              <a:spcAft>
                <a:spcPts val="200"/>
              </a:spcAft>
            </a:pPr>
            <a:r>
              <a:rPr sz="1200" b="0">
                <a:solidFill>
                  <a:srgbClr val="FFFFFF"/>
                </a:solidFill>
                <a:latin typeface="Arial"/>
                <a:ea typeface="Microsoft YaHei"/>
              </a:rPr>
              <a:t>my CV</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waiting the answer.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waiting for an answer.</a:t>
            </a:r>
          </a:p>
          <a:p>
            <a:pPr algn="l">
              <a:spcAft>
                <a:spcPts val="200"/>
              </a:spcAft>
            </a:pPr>
            <a:r>
              <a:rPr sz="1200" b="0">
                <a:solidFill>
                  <a:srgbClr val="FFFFFF"/>
                </a:solidFill>
                <a:latin typeface="Arial"/>
                <a:ea typeface="Microsoft YaHei"/>
              </a:rPr>
              <a:t>wait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give me some advices.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give me some advice.</a:t>
            </a:r>
          </a:p>
          <a:p>
            <a:pPr algn="l">
              <a:spcAft>
                <a:spcPts val="200"/>
              </a:spcAft>
            </a:pPr>
            <a:r>
              <a:rPr sz="1200" b="0">
                <a:solidFill>
                  <a:srgbClr val="FFFFFF"/>
                </a:solidFill>
                <a:latin typeface="Arial"/>
                <a:ea typeface="Microsoft YaHei"/>
              </a:rPr>
              <a:t>advice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became a job.</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got a job.</a:t>
            </a:r>
          </a:p>
          <a:p>
            <a:pPr algn="l">
              <a:spcAft>
                <a:spcPts val="200"/>
              </a:spcAft>
            </a:pPr>
            <a:r>
              <a:rPr sz="1200" b="0">
                <a:solidFill>
                  <a:srgbClr val="FFFFFF"/>
                </a:solidFill>
                <a:latin typeface="Arial"/>
                <a:ea typeface="Microsoft YaHei"/>
              </a:rPr>
              <a:t>get a job</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software scan my CV.</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software scans my CV.</a:t>
            </a:r>
          </a:p>
          <a:p>
            <a:pPr algn="l">
              <a:spcAft>
                <a:spcPts val="200"/>
              </a:spcAft>
            </a:pPr>
            <a:r>
              <a:rPr sz="1200" b="0">
                <a:solidFill>
                  <a:srgbClr val="FFFFFF"/>
                </a:solidFill>
                <a:latin typeface="Arial"/>
                <a:ea typeface="Microsoft YaHei"/>
              </a:rPr>
              <a:t>三单</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look for vs find, uncountable advice, wait for, third-person -s.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CV vs résumé. UK: </a:t>
            </a:r>
            <a:r>
              <a:rPr sz="1700" b="0">
                <a:solidFill>
                  <a:srgbClr val="1F2A44"/>
                </a:solidFill>
                <a:latin typeface="Arial"/>
                <a:ea typeface="Microsoft YaHei"/>
              </a:rPr>
              <a:t>CV; US: résumé (usually 1 page).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Photos and age are often omitted in English-speaking countries.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Follow up. A polite follow-up after an interview is expected.</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Thank people. A short thank-you note helps.</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changes in job searching.</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job-search advice.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write a short professional outreach message.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advice (uncountable), wait for and look for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84 The future of job search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Give three job-search tips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advice uncountable, wait for, look for vs find.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18 · Lesson 85 Brain waste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Brain waste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人才浪费</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“brain waste” (skilled people in jobs below their qualifications), its causes and consequences, and what employers can do.</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know anyone working below their skill level?</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might a qualified person take a lower-level job?</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barriers do skilled migrants face?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does underemployment affect individuals and the economy?</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could employers do to use skills better?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“brain waste” 人才浪费:有技能者从事低于其资质的工作。“underemployed” 就业不足。</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what brain waste is and why it matters.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definition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causes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effects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solutions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Brain waste is when…   💬 One cause is…   💬 This means that…   💬 Employers could…</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“This means that…” 引出结果。</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Skills going unused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“Brain waste” describes situations in which skilled people work in jobs that do not use their qualifications, such as a trained engineer driving a taxi or a nurse working as a cleaner. It often affects migrants, but also graduates in weak job markets and people returning to work after a break. Causes include foreign qualifications not being recognised, limited local networks, language barriers and employer caution. For individuals, the result can be frustration, lower income and a loss of confidence. For economies, it means that valuable skills are wasted at a time when many sectors report shortages. Solutions include faster qualification recognition, bridging courses, mentoring and employers who judge skills rather than country of origin. Hiring managers can also ask a simple question: what has this person actually done, and what could they do here?</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Give an example of brain waste.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trained engineer driving a taxi or a nurse working as a cleaner.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Name two causes.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Foreign qualifications not recognised, limited networks, language barriers, employer caution.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question can hiring managers ask?</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What has this person actually done, and what could they do here?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Underemployment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就业不足</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brain waste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人才浪费</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“Brain waste is costly.”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underemployed</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就业不足的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is underemployed.”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overqualified</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资质过高的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was told he was overqualified.”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skills mismatch</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技能错配</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skills mismatch.”</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underuse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未充分利用</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underuse talent.”</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Barriers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障碍</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recognition of qualifications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资格认证</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“Recognition of qualifications takes time.”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language barrier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语言障碍</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language barrier slows progress.”</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local experience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本地经验</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“Employers ask for local experience.”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glass ceiling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无形天花板</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hit a glass ceiling.”</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survival job</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谋生工作</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took a survival job.”</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Solutions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解决办法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bridging programme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衔接项目</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bridging programme helped her.”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upskill / retrain</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提升/再培训</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retrained as a teacher.”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credential assessment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资格评估</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applied for credential assessment.”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tap into talent</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挖掘人才</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“Tap into untapped talent.”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skills-first</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技能优先的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skills-first policy.”</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本地经验</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local experience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挖掘人才</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tap into talent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资格认证</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recognition of qualifications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资格评估</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credential assessment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资质过高的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overqualified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未充分利用</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underuse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技能优先的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skills-first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谋生工作</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survival job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waste</a:t>
            </a:r>
          </a:p>
        </p:txBody>
      </p:sp>
      <p:sp>
        <p:nvSpPr>
          <p:cNvPr id="10" name="Rounded Rectangle 9"/>
          <p:cNvSpPr/>
          <p:nvPr/>
        </p:nvSpPr>
        <p:spPr>
          <a:xfrm>
            <a:off x="3017520" y="987552"/>
            <a:ext cx="179222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underemployed</a:t>
            </a:r>
          </a:p>
        </p:txBody>
      </p:sp>
      <p:sp>
        <p:nvSpPr>
          <p:cNvPr id="11" name="Rounded Rectangle 10"/>
          <p:cNvSpPr/>
          <p:nvPr/>
        </p:nvSpPr>
        <p:spPr>
          <a:xfrm>
            <a:off x="4901184" y="987552"/>
            <a:ext cx="179222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overqualified</a:t>
            </a:r>
          </a:p>
        </p:txBody>
      </p:sp>
      <p:sp>
        <p:nvSpPr>
          <p:cNvPr id="12" name="Rounded Rectangle 11"/>
          <p:cNvSpPr/>
          <p:nvPr/>
        </p:nvSpPr>
        <p:spPr>
          <a:xfrm>
            <a:off x="6784848"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barrier</a:t>
            </a:r>
          </a:p>
        </p:txBody>
      </p:sp>
      <p:sp>
        <p:nvSpPr>
          <p:cNvPr id="13" name="Rounded Rectangle 12"/>
          <p:cNvSpPr/>
          <p:nvPr/>
        </p:nvSpPr>
        <p:spPr>
          <a:xfrm>
            <a:off x="8010144"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bridging</a:t>
            </a:r>
          </a:p>
        </p:txBody>
      </p:sp>
      <p:sp>
        <p:nvSpPr>
          <p:cNvPr id="14" name="Rounded Rectangle 13"/>
          <p:cNvSpPr/>
          <p:nvPr/>
        </p:nvSpPr>
        <p:spPr>
          <a:xfrm>
            <a:off x="9345168"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retrain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Brain _______ costs economies a lot.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waste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She is highly skilled but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underemployed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He was told he was _______ for the job.</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overqualified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language _______ slows progress.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barrier</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 _______ programme helped her get certified.</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bridging</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She decided to _______ as a nurse.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retrain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overqualified FOR a job,retrain AS,a barrier TO employment;brain waste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Telling your story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讲述你的经历</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skilled migrant talks about work.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Interviewer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Skilled migrant</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Model Dialogue · Telling your story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were an engineer in your country. What do you do now?</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work in a warehouse. My qualifications aren’t recognised here yet.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must be frustrating.</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is, but I’m taking a bridging course to get certified.</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Telling your story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help you most?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chance to show my skills, and someone to mentor me.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have a mentoring scheme. I can introduce you.</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wonderful. Thank you.</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Telling your story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underemployment sensitively.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Skilled professional. Field: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qualifications aren’t recognised · frustrating · bridging course · mentor · introduce you</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respectfully and offer concrete help.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“overqualified”.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what the person wants.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skills assessment.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Rethinking a hiring decision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重新考虑招聘决定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Managers discuss a candidate.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 2</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Rethinking a hiring decision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Her CV shows impressive experience, but from another country.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usually want local experience.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that really necessary? Skills transfer.</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may be right. What has she actually done?</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Led a team of fifteen and delivered large projects.</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she could probably do the job. Let’s interview her.</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We shouldn’t waste talent.</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set it up.</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Rethinking a hiring decision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challenge a hiring assumption.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Candidate: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local experience · skills transfer · what has she actually done · waste talent · interview</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Question the assumption politely and decide to interview.</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practical task.</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language support.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with a local candidate.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does brain waste happen?</a:t>
            </a:r>
          </a:p>
          <a:p>
            <a:pPr algn="l">
              <a:lnSpc>
                <a:spcPct val="115000"/>
              </a:lnSpc>
              <a:spcAft>
                <a:spcPts val="800"/>
              </a:spcAft>
            </a:pPr>
            <a:r>
              <a:rPr sz="1400" b="0">
                <a:solidFill>
                  <a:srgbClr val="5F677A"/>
                </a:solidFill>
                <a:latin typeface="Arial"/>
                <a:ea typeface="Microsoft YaHei"/>
              </a:rPr>
              <a:t>💬 “Mainly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is responsible for solving it?</a:t>
            </a:r>
          </a:p>
          <a:p>
            <a:pPr algn="l">
              <a:lnSpc>
                <a:spcPct val="115000"/>
              </a:lnSpc>
              <a:spcAft>
                <a:spcPts val="800"/>
              </a:spcAft>
            </a:pPr>
            <a:r>
              <a:rPr sz="1400" b="0">
                <a:solidFill>
                  <a:srgbClr val="5F677A"/>
                </a:solidFill>
                <a:latin typeface="Arial"/>
                <a:ea typeface="Microsoft YaHei"/>
              </a:rPr>
              <a:t>💬 “Governments, employers and…”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employers value local experience too much?</a:t>
            </a:r>
          </a:p>
          <a:p>
            <a:pPr algn="l">
              <a:lnSpc>
                <a:spcPct val="115000"/>
              </a:lnSpc>
              <a:spcAft>
                <a:spcPts val="800"/>
              </a:spcAft>
            </a:pPr>
            <a:r>
              <a:rPr sz="1400" b="0">
                <a:solidFill>
                  <a:srgbClr val="5F677A"/>
                </a:solidFill>
                <a:latin typeface="Arial"/>
                <a:ea typeface="Microsoft YaHei"/>
              </a:rPr>
              <a:t>💬 “Sometimes, since…”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skilled newcomers show their value?</a:t>
            </a:r>
          </a:p>
          <a:p>
            <a:pPr algn="l">
              <a:lnSpc>
                <a:spcPct val="115000"/>
              </a:lnSpc>
              <a:spcAft>
                <a:spcPts val="800"/>
              </a:spcAft>
            </a:pPr>
            <a:r>
              <a:rPr sz="1400" b="0">
                <a:solidFill>
                  <a:srgbClr val="5F677A"/>
                </a:solidFill>
                <a:latin typeface="Arial"/>
                <a:ea typeface="Microsoft YaHei"/>
              </a:rPr>
              <a:t>💬 “By…”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does your country do about it?</a:t>
            </a:r>
          </a:p>
          <a:p>
            <a:pPr algn="l">
              <a:lnSpc>
                <a:spcPct val="115000"/>
              </a:lnSpc>
              <a:spcAft>
                <a:spcPts val="800"/>
              </a:spcAft>
            </a:pPr>
            <a:r>
              <a:rPr sz="1400" b="0">
                <a:solidFill>
                  <a:srgbClr val="5F677A"/>
                </a:solidFill>
                <a:latin typeface="Arial"/>
                <a:ea typeface="Microsoft YaHei"/>
              </a:rPr>
              <a:t>💬 “As far as I know…”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employers sometimes rely too much on local experience because it feels safe. But skills are often transferable, and diverse backgrounds bring new ideas. A better approach is to test the skills directly, for example with a practical task, rather than assuming.</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“feels safe” 感觉保险;“test directly” 直接测试。</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Talking sensitively about qualifications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谈资质时的措辞</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Insensitive</a:t>
                      </a:r>
                    </a:p>
                  </a:txBody>
                  <a:tcPr anchor="ctr">
                    <a:solidFill>
                      <a:srgbClr val="3CC49A"/>
                    </a:solidFill>
                  </a:tcPr>
                </a:tc>
                <a:tc>
                  <a:txBody>
                    <a:bodyPr wrap="square"/>
                    <a:lstStyle/>
                    <a:p>
                      <a:r>
                        <a:rPr sz="1600" b="1">
                          <a:solidFill>
                            <a:srgbClr val="FFFFFF"/>
                          </a:solidFill>
                          <a:latin typeface="Arial"/>
                          <a:ea typeface="Microsoft YaHei"/>
                        </a:rPr>
                        <a:t>Sensitive</a:t>
                      </a:r>
                    </a:p>
                  </a:txBody>
                  <a:tcPr anchor="ctr">
                    <a:solidFill>
                      <a:srgbClr val="3CC49A"/>
                    </a:solidFill>
                  </a:tcPr>
                </a:tc>
              </a:tr>
              <a:tr h="652272">
                <a:tc>
                  <a:txBody>
                    <a:bodyPr wrap="square"/>
                    <a:lstStyle/>
                    <a:p>
                      <a:r>
                        <a:rPr sz="1600" b="1">
                          <a:solidFill>
                            <a:srgbClr val="1F2A44"/>
                          </a:solidFill>
                          <a:latin typeface="Arial"/>
                          <a:ea typeface="Microsoft YaHei"/>
                        </a:rPr>
                        <a:t>You’re overqualified.</a:t>
                      </a:r>
                    </a:p>
                  </a:txBody>
                  <a:tcPr anchor="ctr">
                    <a:solidFill>
                      <a:srgbClr val="FFFFFF"/>
                    </a:solidFill>
                  </a:tcPr>
                </a:tc>
                <a:tc>
                  <a:txBody>
                    <a:bodyPr wrap="square"/>
                    <a:lstStyle/>
                    <a:p>
                      <a:r>
                        <a:rPr sz="1600" b="0">
                          <a:solidFill>
                            <a:srgbClr val="1F2A44"/>
                          </a:solidFill>
                          <a:latin typeface="Arial"/>
                          <a:ea typeface="Microsoft YaHei"/>
                        </a:rPr>
                        <a:t>You have a lot of experience. Let me explain how this role fits.</a:t>
                      </a:r>
                    </a:p>
                  </a:txBody>
                  <a:tcPr anchor="ctr">
                    <a:solidFill>
                      <a:srgbClr val="FFFFFF"/>
                    </a:solidFill>
                  </a:tcPr>
                </a:tc>
              </a:tr>
              <a:tr h="408432">
                <a:tc>
                  <a:txBody>
                    <a:bodyPr wrap="square"/>
                    <a:lstStyle/>
                    <a:p>
                      <a:r>
                        <a:rPr sz="1600" b="1">
                          <a:solidFill>
                            <a:srgbClr val="1F2A44"/>
                          </a:solidFill>
                          <a:latin typeface="Arial"/>
                          <a:ea typeface="Microsoft YaHei"/>
                        </a:rPr>
                        <a:t>Your English isn’t good enough.</a:t>
                      </a:r>
                    </a:p>
                  </a:txBody>
                  <a:tcPr anchor="ctr">
                    <a:solidFill>
                      <a:srgbClr val="FFEFD9"/>
                    </a:solidFill>
                  </a:tcPr>
                </a:tc>
                <a:tc>
                  <a:txBody>
                    <a:bodyPr wrap="square"/>
                    <a:lstStyle/>
                    <a:p>
                      <a:r>
                        <a:rPr sz="1600" b="0">
                          <a:solidFill>
                            <a:srgbClr val="1F2A44"/>
                          </a:solidFill>
                          <a:latin typeface="Arial"/>
                          <a:ea typeface="Microsoft YaHei"/>
                        </a:rPr>
                        <a:t>Let’s see how we can support your communication.</a:t>
                      </a:r>
                    </a:p>
                  </a:txBody>
                  <a:tcPr anchor="ctr">
                    <a:solidFill>
                      <a:srgbClr val="FFEFD9"/>
                    </a:solidFill>
                  </a:tcPr>
                </a:tc>
              </a:tr>
              <a:tr h="652272">
                <a:tc>
                  <a:txBody>
                    <a:bodyPr wrap="square"/>
                    <a:lstStyle/>
                    <a:p>
                      <a:r>
                        <a:rPr sz="1600" b="1">
                          <a:solidFill>
                            <a:srgbClr val="1F2A44"/>
                          </a:solidFill>
                          <a:latin typeface="Arial"/>
                          <a:ea typeface="Microsoft YaHei"/>
                        </a:rPr>
                        <a:t>We prefer locals.</a:t>
                      </a:r>
                    </a:p>
                  </a:txBody>
                  <a:tcPr anchor="ctr">
                    <a:solidFill>
                      <a:srgbClr val="FFFFFF"/>
                    </a:solidFill>
                  </a:tcPr>
                </a:tc>
                <a:tc>
                  <a:txBody>
                    <a:bodyPr wrap="square"/>
                    <a:lstStyle/>
                    <a:p>
                      <a:r>
                        <a:rPr sz="1600" b="0">
                          <a:solidFill>
                            <a:srgbClr val="1F2A44"/>
                          </a:solidFill>
                          <a:latin typeface="Arial"/>
                          <a:ea typeface="Microsoft YaHei"/>
                        </a:rPr>
                        <a:t>We’re looking for specific experience in this market.</a:t>
                      </a:r>
                    </a:p>
                  </a:txBody>
                  <a:tcPr anchor="ctr">
                    <a:solidFill>
                      <a:srgbClr val="FFFFFF"/>
                    </a:solidFill>
                  </a:tcPr>
                </a:tc>
              </a:tr>
              <a:tr h="408432">
                <a:tc>
                  <a:txBody>
                    <a:bodyPr wrap="square"/>
                    <a:lstStyle/>
                    <a:p>
                      <a:r>
                        <a:rPr sz="1600" b="1">
                          <a:solidFill>
                            <a:srgbClr val="1F2A44"/>
                          </a:solidFill>
                          <a:latin typeface="Arial"/>
                          <a:ea typeface="Microsoft YaHei"/>
                        </a:rPr>
                        <a:t>You wasted your degree.</a:t>
                      </a:r>
                    </a:p>
                  </a:txBody>
                  <a:tcPr anchor="ctr">
                    <a:solidFill>
                      <a:srgbClr val="FFEFD9"/>
                    </a:solidFill>
                  </a:tcPr>
                </a:tc>
                <a:tc>
                  <a:txBody>
                    <a:bodyPr wrap="square"/>
                    <a:lstStyle/>
                    <a:p>
                      <a:r>
                        <a:rPr sz="1600" b="0">
                          <a:solidFill>
                            <a:srgbClr val="1F2A44"/>
                          </a:solidFill>
                          <a:latin typeface="Arial"/>
                          <a:ea typeface="Microsoft YaHei"/>
                        </a:rPr>
                        <a:t>Your skills could be used more fully.</a:t>
                      </a:r>
                    </a:p>
                  </a:txBody>
                  <a:tcPr anchor="ctr">
                    <a:solidFill>
                      <a:srgbClr val="FFEFD9"/>
                    </a:solidFill>
                  </a:tcPr>
                </a:tc>
              </a:tr>
            </a:tbl>
          </a:graphicData>
        </a:graphic>
      </p:graphicFrame>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Talking sensitively about qualifications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谈资质时的措辞</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Say what you can offer, not what the person lacks.</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a overqualified.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overqualified.</a:t>
            </a:r>
          </a:p>
          <a:p>
            <a:pPr algn="l">
              <a:spcAft>
                <a:spcPts val="200"/>
              </a:spcAft>
            </a:pPr>
            <a:r>
              <a:rPr sz="1200" b="0">
                <a:solidFill>
                  <a:srgbClr val="FFFFFF"/>
                </a:solidFill>
                <a:latin typeface="Arial"/>
                <a:ea typeface="Microsoft YaHei"/>
              </a:rPr>
              <a:t>形容词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Her degree isn’t accepted from here.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Her degree isn’t recognised here.</a:t>
            </a:r>
          </a:p>
          <a:p>
            <a:pPr algn="l">
              <a:spcAft>
                <a:spcPts val="200"/>
              </a:spcAft>
            </a:pPr>
            <a:r>
              <a:rPr sz="1200" b="0">
                <a:solidFill>
                  <a:srgbClr val="FFFFFF"/>
                </a:solidFill>
                <a:latin typeface="Arial"/>
                <a:ea typeface="Microsoft YaHei"/>
              </a:rPr>
              <a:t>被动</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brain waste are a problem.</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Brain waste is a problem.</a:t>
            </a:r>
          </a:p>
          <a:p>
            <a:pPr algn="l">
              <a:spcAft>
                <a:spcPts val="200"/>
              </a:spcAft>
            </a:pPr>
            <a:r>
              <a:rPr sz="1200" b="0">
                <a:solidFill>
                  <a:srgbClr val="FFFFFF"/>
                </a:solidFill>
                <a:latin typeface="Arial"/>
                <a:ea typeface="Microsoft YaHei"/>
              </a:rPr>
              <a:t>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works under his level.</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works below his level.</a:t>
            </a:r>
          </a:p>
          <a:p>
            <a:pPr algn="l">
              <a:spcAft>
                <a:spcPts val="200"/>
              </a:spcAft>
            </a:pPr>
            <a:r>
              <a:rPr sz="1200" b="0">
                <a:solidFill>
                  <a:srgbClr val="FFFFFF"/>
                </a:solidFill>
                <a:latin typeface="Arial"/>
                <a:ea typeface="Microsoft YaHei"/>
              </a:rPr>
              <a:t>below</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has lack of local experience.</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lacks local experience. / She has a lack of local experience.</a:t>
            </a:r>
          </a:p>
          <a:p>
            <a:pPr algn="l">
              <a:spcAft>
                <a:spcPts val="200"/>
              </a:spcAft>
            </a:pPr>
            <a:r>
              <a:rPr sz="1200" b="0">
                <a:solidFill>
                  <a:srgbClr val="FFFFFF"/>
                </a:solidFill>
                <a:latin typeface="Arial"/>
                <a:ea typeface="Microsoft YaHei"/>
              </a:rPr>
              <a:t>lack</a:t>
            </a:r>
          </a:p>
        </p:txBody>
      </p:sp>
      <p:sp>
        <p:nvSpPr>
          <p:cNvPr id="13" name="Rounded Rectangle 12"/>
          <p:cNvSpPr/>
          <p:nvPr/>
        </p:nvSpPr>
        <p:spPr>
          <a:xfrm>
            <a:off x="548640" y="310895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can’t find work due to they are foreigners.</a:t>
            </a:r>
          </a:p>
        </p:txBody>
      </p:sp>
      <p:sp>
        <p:nvSpPr>
          <p:cNvPr id="14" name="Rounded Rectangle 13"/>
          <p:cNvSpPr/>
          <p:nvPr/>
        </p:nvSpPr>
        <p:spPr>
          <a:xfrm>
            <a:off x="6187287" y="310895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…because they are foreigners. / due to being foreigners</a:t>
            </a:r>
          </a:p>
          <a:p>
            <a:pPr algn="l">
              <a:spcAft>
                <a:spcPts val="200"/>
              </a:spcAft>
            </a:pPr>
            <a:r>
              <a:rPr sz="1200" b="0">
                <a:solidFill>
                  <a:srgbClr val="FFFFFF"/>
                </a:solidFill>
                <a:latin typeface="Arial"/>
                <a:ea typeface="Microsoft YaHei"/>
              </a:rPr>
              <a:t>due to + 名词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below, recognised, due to + noun, brain waste 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Qualification recognition varies; check local bodies.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Avoid labels like “foreigners”; say “newcomers” or “people from other countries”.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Mentoring schemes help newcomers build networks.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Name the skills. “Led a team of fifteen” is clearer than “senior”.</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brain waste and its causes.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skills and qualifications sensitively.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challenge a hiring assumption politely.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brain waste is, below, due to + noun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85 Brain waste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brain waste to a colleague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below, recognised, due to + noun, brain waste is.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18 · Lesson 86 CEO fires 800 staff</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CEO fires 800 staff</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首席执行官解雇800名员工</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analyse a case of mass layoffs: how bad news is communicated, how it affects trust, and how better communication can reduce harm.</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should companies announce layoffs?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been affected by redundancies?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employees expect from leaders during difficult times?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survivors of layoffs stay motivated?</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alternatives are there to layoffs?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本课为案例讨论:大规模裁员的沟通方式。“fire” 口语解雇;“lay off / make redundant” 较正式。不涉及具体公司事实,请讨论原则。</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how a company should handle a large layoff.</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decision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how to tell people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support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rebuild trust</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If a company has to… it should…   💬 The way it’s communicated matters because…   💬 Leaders must…   💬 Afterwards,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“If a company has to… it should…” 第一条件句给建议。</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The way news is delivered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Imagine a company announces that eight hundred employees will lose their jobs. Even if the business reason is clear, the way the news is delivered shapes how people remember the company. Research on organisational trust suggests that employees accept bad news better when it is explained honestly, delivered promptly and personally, and accompanied by support. Poor practice includes surprise group emails, vague language, and no help afterwards. Better practice includes direct conversations, clear criteria for decisions, fair severance, and career support. Remaining staff, often called “survivors”, also need honest communication, as they may feel guilt, fear and extra workload. Leaders who admit the pain, explain the reasons and share the plan for the future usually rebuild trust faster than those who hide behind formal statements.</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helps employees accept bad news?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Honest explanation, prompt and personal delivery, and support.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Name one poor and one better practice.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Poor: surprise group emails (or vague language); better: direct conversations, clear criteria, fair severance, career support.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Who are “survivors”?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employees who remain after the layoffs.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Layoffs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裁员</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lay off / make redundant</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裁员</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laid off 800 people.”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redundancy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裁员/冗余</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“Redundancies were announced.”</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severance (pay)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遣散费</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“Severance pay is fair.”</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downsizing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缩编</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“Downsizing hurts morale.”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restructuring</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重组</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is restructuring.”</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Communicating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沟通</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break the news</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宣布消息</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broke the news gently.”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transparent</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透明的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 transparent.”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show empathy</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表达同理心</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“Leaders should show empathy.”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tone-deaf</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不合时宜的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message was tone-deaf.”</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hide behind (corporate language)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躲在(官话)后面</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hid behind jargon.”</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Aftermath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善后</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survivors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留任者</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“Survivors may feel guilty.”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outplacement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再就业援助</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provide outplacement.”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rebuild trust</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重建信任</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takes time to rebuild trust.”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survivor guilt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幸存者内疚</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“Survivor guilt is real.”</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morale takes a hit</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士气受挫</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“Morale took a hit.”</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restructuring</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留任者</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survivors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透明的</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transparent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宣布消息</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 the news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裁员/冗余</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redundancy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重建信任</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rebuild trust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不合时宜的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tone-deaf</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缩编</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downsizing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redundancies</a:t>
            </a:r>
          </a:p>
        </p:txBody>
      </p:sp>
      <p:sp>
        <p:nvSpPr>
          <p:cNvPr id="10" name="Rounded Rectangle 9"/>
          <p:cNvSpPr/>
          <p:nvPr/>
        </p:nvSpPr>
        <p:spPr>
          <a:xfrm>
            <a:off x="3785615"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severance</a:t>
            </a:r>
          </a:p>
        </p:txBody>
      </p:sp>
      <p:sp>
        <p:nvSpPr>
          <p:cNvPr id="11" name="Rounded Rectangle 10"/>
          <p:cNvSpPr/>
          <p:nvPr/>
        </p:nvSpPr>
        <p:spPr>
          <a:xfrm>
            <a:off x="5230367"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transparent</a:t>
            </a:r>
          </a:p>
        </p:txBody>
      </p:sp>
      <p:sp>
        <p:nvSpPr>
          <p:cNvPr id="12" name="Rounded Rectangle 11"/>
          <p:cNvSpPr/>
          <p:nvPr/>
        </p:nvSpPr>
        <p:spPr>
          <a:xfrm>
            <a:off x="6894574"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empathy</a:t>
            </a:r>
          </a:p>
        </p:txBody>
      </p:sp>
      <p:sp>
        <p:nvSpPr>
          <p:cNvPr id="13" name="Rounded Rectangle 12"/>
          <p:cNvSpPr/>
          <p:nvPr/>
        </p:nvSpPr>
        <p:spPr>
          <a:xfrm>
            <a:off x="8119870" y="987552"/>
            <a:ext cx="1682495"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outplacement</a:t>
            </a:r>
          </a:p>
        </p:txBody>
      </p:sp>
      <p:sp>
        <p:nvSpPr>
          <p:cNvPr id="14" name="Rounded Rectangle 13"/>
          <p:cNvSpPr/>
          <p:nvPr/>
        </p:nvSpPr>
        <p:spPr>
          <a:xfrm>
            <a:off x="9893805"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trust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company announced 800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redundancies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Fair _______ pay helps people move on.</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severance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Leaders should be _______ about reasons.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transparent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Show _______ when delivering bad news.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empathy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company provided _______ support.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outplacement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It takes time to rebuild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trust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(英美) redundancy(英)/ layoff(美);be made redundant,lose your job;severance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Telling someone their job is ending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告知岗位被取消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manager has a difficult conversation.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Employee</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Telling someone their job is ending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coming in. I’m afraid I have difficult news. Your role is being made redundant.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shock. Why?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company is restructuring, and your department is closing. It isn’t about your performance.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happens now?</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Telling someone their job is ending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You’ll receive severance pay and career support. I’ll also write a reference.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When is my last day?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end of next month. I’m very sorry.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telling me in person.</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Telling someone their job is ending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deliver difficult news.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Role: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afraid · made redundant · restructuring · severance · It isn’t about your performance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Be honest, kind and clear about next steps.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false hope.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reference.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Allow silence and questions.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Speaking to remaining staff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对留任员工说话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leader addresses the team.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Leader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Employee</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Speaking to remaining staff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many of you are worried after last week’s announcement.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it’s been hard. People are afraid they’re next.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can’t promise there won’t be changes, but I’ll be honest with you at every step.</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our workload? We’ve lost colleagues.</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Speaking to remaining staff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We’ll review priorities this week and drop what isn’t essential.</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help.</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also like to hear your concerns directly. Let’s meet weekly.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being open.</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Speaking to remaining staff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address survivors.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Leader.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Concern: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worried · I’ll be honest · workload · drop what isn’t essential · meet weekly</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Acknowledge feelings, avoid empty promises and offer a plan.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what you don’t know.</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Thank people for their commitment.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Set a regular update.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ever right to lay off staff?</a:t>
            </a:r>
          </a:p>
          <a:p>
            <a:pPr algn="l">
              <a:lnSpc>
                <a:spcPct val="115000"/>
              </a:lnSpc>
              <a:spcAft>
                <a:spcPts val="800"/>
              </a:spcAft>
            </a:pPr>
            <a:r>
              <a:rPr sz="1400" b="0">
                <a:solidFill>
                  <a:srgbClr val="5F677A"/>
                </a:solidFill>
                <a:latin typeface="Arial"/>
                <a:ea typeface="Microsoft YaHei"/>
              </a:rPr>
              <a:t>💬 “It may be necessary if…”</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leaders deliver bad news?</a:t>
            </a:r>
          </a:p>
          <a:p>
            <a:pPr algn="l">
              <a:lnSpc>
                <a:spcPct val="115000"/>
              </a:lnSpc>
              <a:spcAft>
                <a:spcPts val="800"/>
              </a:spcAft>
            </a:pPr>
            <a:r>
              <a:rPr sz="1400" b="0">
                <a:solidFill>
                  <a:srgbClr val="5F677A"/>
                </a:solidFill>
                <a:latin typeface="Arial"/>
                <a:ea typeface="Microsoft YaHei"/>
              </a:rPr>
              <a:t>💬 “Face to face, …”</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alternatives to layoffs?</a:t>
            </a:r>
          </a:p>
          <a:p>
            <a:pPr algn="l">
              <a:lnSpc>
                <a:spcPct val="115000"/>
              </a:lnSpc>
              <a:spcAft>
                <a:spcPts val="800"/>
              </a:spcAft>
            </a:pPr>
            <a:r>
              <a:rPr sz="1400" b="0">
                <a:solidFill>
                  <a:srgbClr val="5F677A"/>
                </a:solidFill>
                <a:latin typeface="Arial"/>
                <a:ea typeface="Microsoft YaHei"/>
              </a:rPr>
              <a:t>💬 “Reduced hours, …”</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survivors feel?</a:t>
            </a:r>
          </a:p>
          <a:p>
            <a:pPr algn="l">
              <a:lnSpc>
                <a:spcPct val="115000"/>
              </a:lnSpc>
              <a:spcAft>
                <a:spcPts val="800"/>
              </a:spcAft>
            </a:pPr>
            <a:r>
              <a:rPr sz="1400" b="0">
                <a:solidFill>
                  <a:srgbClr val="5F677A"/>
                </a:solidFill>
                <a:latin typeface="Arial"/>
                <a:ea typeface="Microsoft YaHei"/>
              </a:rPr>
              <a:t>💬 “They may feel…”</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a company rebuild trust?</a:t>
            </a:r>
          </a:p>
          <a:p>
            <a:pPr algn="l">
              <a:lnSpc>
                <a:spcPct val="115000"/>
              </a:lnSpc>
              <a:spcAft>
                <a:spcPts val="800"/>
              </a:spcAft>
            </a:pPr>
            <a:r>
              <a:rPr sz="1400" b="0">
                <a:solidFill>
                  <a:srgbClr val="5F677A"/>
                </a:solidFill>
                <a:latin typeface="Arial"/>
                <a:ea typeface="Microsoft YaHei"/>
              </a:rPr>
              <a:t>💬 “By…”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Alternatives include hiring freezes, reduced hours, pay cuts for senior staff, and retraining people for other roles. These options don’t always work, and sometimes layoffs are unavoidable, but exploring alternatives shows respect for employees and can protect the company’s reputation.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“hiring freeze” 冻结招聘;“unavoidable” 不可避免。</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Delivering bad news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传达坏消息</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Warn</a:t>
                      </a:r>
                    </a:p>
                  </a:txBody>
                  <a:tcPr anchor="ctr">
                    <a:solidFill>
                      <a:srgbClr val="FFFFFF"/>
                    </a:solidFill>
                  </a:tcPr>
                </a:tc>
                <a:tc>
                  <a:txBody>
                    <a:bodyPr wrap="square"/>
                    <a:lstStyle/>
                    <a:p>
                      <a:r>
                        <a:rPr sz="1600" b="0">
                          <a:solidFill>
                            <a:srgbClr val="1F2A44"/>
                          </a:solidFill>
                          <a:latin typeface="Arial"/>
                          <a:ea typeface="Microsoft YaHei"/>
                        </a:rPr>
                        <a:t>I’m afraid I have some difficult news.</a:t>
                      </a:r>
                    </a:p>
                  </a:txBody>
                  <a:tcPr anchor="ctr">
                    <a:solidFill>
                      <a:srgbClr val="FFFFFF"/>
                    </a:solidFill>
                  </a:tcPr>
                </a:tc>
              </a:tr>
              <a:tr h="408432">
                <a:tc>
                  <a:txBody>
                    <a:bodyPr wrap="square"/>
                    <a:lstStyle/>
                    <a:p>
                      <a:r>
                        <a:rPr sz="1600" b="1">
                          <a:solidFill>
                            <a:srgbClr val="1F2A44"/>
                          </a:solidFill>
                          <a:latin typeface="Arial"/>
                          <a:ea typeface="Microsoft YaHei"/>
                        </a:rPr>
                        <a:t>State clearly</a:t>
                      </a:r>
                    </a:p>
                  </a:txBody>
                  <a:tcPr anchor="ctr">
                    <a:solidFill>
                      <a:srgbClr val="FFEFD9"/>
                    </a:solidFill>
                  </a:tcPr>
                </a:tc>
                <a:tc>
                  <a:txBody>
                    <a:bodyPr wrap="square"/>
                    <a:lstStyle/>
                    <a:p>
                      <a:r>
                        <a:rPr sz="1600" b="0">
                          <a:solidFill>
                            <a:srgbClr val="1F2A44"/>
                          </a:solidFill>
                          <a:latin typeface="Arial"/>
                          <a:ea typeface="Microsoft YaHei"/>
                        </a:rPr>
                        <a:t>Your position is being made redundant.</a:t>
                      </a:r>
                    </a:p>
                  </a:txBody>
                  <a:tcPr anchor="ctr">
                    <a:solidFill>
                      <a:srgbClr val="FFEFD9"/>
                    </a:solidFill>
                  </a:tcPr>
                </a:tc>
              </a:tr>
              <a:tr h="408432">
                <a:tc>
                  <a:txBody>
                    <a:bodyPr wrap="square"/>
                    <a:lstStyle/>
                    <a:p>
                      <a:r>
                        <a:rPr sz="1600" b="1">
                          <a:solidFill>
                            <a:srgbClr val="1F2A44"/>
                          </a:solidFill>
                          <a:latin typeface="Arial"/>
                          <a:ea typeface="Microsoft YaHei"/>
                        </a:rPr>
                        <a:t>Explain briefly</a:t>
                      </a:r>
                    </a:p>
                  </a:txBody>
                  <a:tcPr anchor="ctr">
                    <a:solidFill>
                      <a:srgbClr val="FFFFFF"/>
                    </a:solidFill>
                  </a:tcPr>
                </a:tc>
                <a:tc>
                  <a:txBody>
                    <a:bodyPr wrap="square"/>
                    <a:lstStyle/>
                    <a:p>
                      <a:r>
                        <a:rPr sz="1600" b="0">
                          <a:solidFill>
                            <a:srgbClr val="1F2A44"/>
                          </a:solidFill>
                          <a:latin typeface="Arial"/>
                          <a:ea typeface="Microsoft YaHei"/>
                        </a:rPr>
                        <a:t>The department is closing.</a:t>
                      </a:r>
                    </a:p>
                  </a:txBody>
                  <a:tcPr anchor="ctr">
                    <a:solidFill>
                      <a:srgbClr val="FFFFFF"/>
                    </a:solidFill>
                  </a:tcPr>
                </a:tc>
              </a:tr>
              <a:tr h="408432">
                <a:tc>
                  <a:txBody>
                    <a:bodyPr wrap="square"/>
                    <a:lstStyle/>
                    <a:p>
                      <a:r>
                        <a:rPr sz="1600" b="1">
                          <a:solidFill>
                            <a:srgbClr val="1F2A44"/>
                          </a:solidFill>
                          <a:latin typeface="Arial"/>
                          <a:ea typeface="Microsoft YaHei"/>
                        </a:rPr>
                        <a:t>Show support</a:t>
                      </a:r>
                    </a:p>
                  </a:txBody>
                  <a:tcPr anchor="ctr">
                    <a:solidFill>
                      <a:srgbClr val="FFEFD9"/>
                    </a:solidFill>
                  </a:tcPr>
                </a:tc>
                <a:tc>
                  <a:txBody>
                    <a:bodyPr wrap="square"/>
                    <a:lstStyle/>
                    <a:p>
                      <a:r>
                        <a:rPr sz="1600" b="0">
                          <a:solidFill>
                            <a:srgbClr val="1F2A44"/>
                          </a:solidFill>
                          <a:latin typeface="Arial"/>
                          <a:ea typeface="Microsoft YaHei"/>
                        </a:rPr>
                        <a:t>We’ll help with what comes next.</a:t>
                      </a:r>
                    </a:p>
                  </a:txBody>
                  <a:tcPr anchor="ctr">
                    <a:solidFill>
                      <a:srgbClr val="FFEFD9"/>
                    </a:solidFill>
                  </a:tcPr>
                </a:tc>
              </a:tr>
            </a:tbl>
          </a:graphicData>
        </a:graphic>
      </p:graphicFrame>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Delivering bad news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传达坏消息</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Use “I’m afraid…”, “Unfortunately…” and passive voice to soften: Your role is being made redundant.</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fired eight hundred peoples.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laid off 800 people.</a:t>
            </a:r>
          </a:p>
          <a:p>
            <a:pPr algn="l">
              <a:spcAft>
                <a:spcPts val="200"/>
              </a:spcAft>
            </a:pPr>
            <a:r>
              <a:rPr sz="1200" b="0">
                <a:solidFill>
                  <a:srgbClr val="FFFFFF"/>
                </a:solidFill>
                <a:latin typeface="Arial"/>
                <a:ea typeface="Microsoft YaHei"/>
              </a:rPr>
              <a:t>people / lay off</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sorry to tell you that you are redundant.</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sorry to tell you that your role is redundant.</a:t>
            </a:r>
          </a:p>
          <a:p>
            <a:pPr algn="l">
              <a:spcAft>
                <a:spcPts val="200"/>
              </a:spcAft>
            </a:pPr>
            <a:r>
              <a:rPr sz="1200" b="0">
                <a:solidFill>
                  <a:srgbClr val="FFFFFF"/>
                </a:solidFill>
                <a:latin typeface="Arial"/>
                <a:ea typeface="Microsoft YaHei"/>
              </a:rPr>
              <a:t>说职位多余,不是说人多余</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to inform you a bad news.</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some bad news.</a:t>
            </a:r>
          </a:p>
          <a:p>
            <a:pPr algn="l">
              <a:spcAft>
                <a:spcPts val="200"/>
              </a:spcAft>
            </a:pPr>
            <a:r>
              <a:rPr sz="1200" b="0">
                <a:solidFill>
                  <a:srgbClr val="FFFFFF"/>
                </a:solidFill>
                <a:latin typeface="Arial"/>
                <a:ea typeface="Microsoft YaHei"/>
              </a:rPr>
              <a:t>news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was made redundancy.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was made redundant.</a:t>
            </a:r>
          </a:p>
          <a:p>
            <a:pPr algn="l">
              <a:spcAft>
                <a:spcPts val="200"/>
              </a:spcAft>
            </a:pPr>
            <a:r>
              <a:rPr sz="1200" b="0">
                <a:solidFill>
                  <a:srgbClr val="FFFFFF"/>
                </a:solidFill>
                <a:latin typeface="Arial"/>
                <a:ea typeface="Microsoft YaHei"/>
              </a:rPr>
              <a:t>形容词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sorry for tell you.</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sorry to tell you.</a:t>
            </a:r>
          </a:p>
          <a:p>
            <a:pPr algn="l">
              <a:spcAft>
                <a:spcPts val="200"/>
              </a:spcAft>
            </a:pPr>
            <a:r>
              <a:rPr sz="1200" b="0">
                <a:solidFill>
                  <a:srgbClr val="FFFFFF"/>
                </a:solidFill>
                <a:latin typeface="Arial"/>
                <a:ea typeface="Microsoft YaHei"/>
              </a:rPr>
              <a:t>sorry to</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pay you a severance.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pay you severance.</a:t>
            </a:r>
          </a:p>
          <a:p>
            <a:pPr algn="l">
              <a:spcAft>
                <a:spcPts val="200"/>
              </a:spcAft>
            </a:pPr>
            <a:r>
              <a:rPr sz="1200" b="0">
                <a:solidFill>
                  <a:srgbClr val="FFFFFF"/>
                </a:solidFill>
                <a:latin typeface="Arial"/>
                <a:ea typeface="Microsoft YaHei"/>
              </a:rPr>
              <a:t>不可数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news uncountable, made redundant (adjective), sorry to tell, severance.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Face to face first. Individuals should hear bad news personally before a group announcement.</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Avoid euphemisms like “rightsizing”. People often see through them.</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Legal process. Many countries require consultation and notice.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Don’t blame. “It isn’t about you” is truthful and kind when it is true.</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layoffs and communication principles.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deliver difficult news with I’m afraid…</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address staff after a difficult announcement.</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news (uncountable) and made redundant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 · Lesson 86 CEO fires 800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Practise delivering bad news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news uncountable, made redundant, sorry to.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Her degree isn’t accepted from here.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Her degree isn’t recognised here.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headhunter</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A headhunter contacted me.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资格认证</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recognition of qualifications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技能错配</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skills mismatch</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裁员</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lay off / make redundant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show empathy</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Leaders should show empathy.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“表达同理心”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show empathy</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“不合时宜的”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tone-deaf</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“资格评估”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credential assessment</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 send CV to many companies.</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send my CV to many companies.</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He is a overqualified.</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 is overqualified.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18</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18</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18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