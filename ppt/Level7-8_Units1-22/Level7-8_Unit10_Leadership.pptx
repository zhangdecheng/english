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10: Leadership — Self-Study Workbook (Lessons 46–48)</a:t>
            </a:r>
          </a:p>
          <a:p/>
          <a:p>
            <a:r>
              <a:t>开场：简单介绍本单元的主题和要完成的 3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46 · Forced into management 被迫走上管理岗位</a:t>
            </a:r>
          </a:p>
          <a:p>
            <a:r>
              <a:t>Goal: talk about becoming a manager unexpectedly, the challenges of the transition and how to lead former peers.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“be forced into” = 被迫进入;“first-time manager” = 新手管理者。第 4 题现在完成时。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what it is like to become a manager unexpectedly.</a:t>
            </a:r>
          </a:p>
          <a:p>
            <a:r>
              <a:t>Say: how it happened → how you felt → the biggest challenge → what helped.</a:t>
            </a:r>
          </a:p>
          <a:p>
            <a:r>
              <a:t>Useful starters: “I was asked to step up…” / “I wasn’t sure I was ready…” / “The biggest challenge was…” / “What helped was…”</a:t>
            </a:r>
          </a:p>
          <a:p>
            <a:r>
              <a:t>“step up” = 挺身而出;“be ready to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Many managers never planned to be managers. They were excellent engineers, salespeople or analysts, and one day the boss’s job became vacant and they were asked to step in. This can feel like a promotion, but also a loss: suddenly you spend less time on the work you enjoy and more on meetings, feedback and conflict. The hardest change is often with former peers. You may be managing friends who once competed with you for the role. Experienced leaders suggest a few steps. Talk openly with the team about the change. Ask what they need from you. Do not try to prove yourself by controlling everything. Instead, learn to delegate, because your success is now measured by the team’s results, not your own.</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Why can the promotion feel like a loss?</a:t>
            </a:r>
          </a:p>
          <a:p>
            <a:r>
              <a:t>A: You spend less time on work you enjoy and more on meetings, feedback and conflict.</a:t>
            </a:r>
          </a:p>
          <a:p>
            <a:r>
              <a:t>Q2. What is often the hardest change?</a:t>
            </a:r>
          </a:p>
          <a:p>
            <a:r>
              <a:t>A: Managing former peers.</a:t>
            </a:r>
          </a:p>
          <a:p>
            <a:r>
              <a:t>Q3. How is a manager’s success measured?</a:t>
            </a:r>
          </a:p>
          <a:p>
            <a:r>
              <a:t>A: By the team’s results, not their own.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Becoming a manager 成为管理者</a:t>
            </a:r>
          </a:p>
          <a:p>
            <a:r>
              <a:t>领读 → 学员跟读 → 请学员用表达造一个和自己工作相关的句子。</a:t>
            </a:r>
          </a:p>
          <a:p>
            <a:r>
              <a:t>step up / step into a role (phrasal verb) 担任(职位) — “She stepped into the manager role.”</a:t>
            </a:r>
          </a:p>
          <a:p>
            <a:r>
              <a:t>first-time manager (noun) 新手管理者 — “He is a first-time manager.”</a:t>
            </a:r>
          </a:p>
          <a:p>
            <a:r>
              <a:t>accidental manager (noun) 非计划中的管理者 — “I became an accidental manager.”</a:t>
            </a:r>
          </a:p>
          <a:p>
            <a:r>
              <a:t>★ be thrown in at the deep end (idiom) 被直接扔进深水区 — “I was thrown in at the deep end.”</a:t>
            </a:r>
          </a:p>
          <a:p>
            <a:r>
              <a:t>★ impostor syndrome (noun) 冒名顶替综合征 — “I felt impostor syndrome.”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Challenges 挑战</a:t>
            </a:r>
          </a:p>
          <a:p>
            <a:r>
              <a:t>领读 → 学员跟读 → 请学员用表达造一个和自己工作相关的句子。</a:t>
            </a:r>
          </a:p>
          <a:p>
            <a:r>
              <a:t>manage former peers (collocation) 管理前同事 — “Managing former peers is hard.”</a:t>
            </a:r>
          </a:p>
          <a:p>
            <a:r>
              <a:t>earn respect (collocation) 赢得尊重 — “You must earn their respect.”</a:t>
            </a:r>
          </a:p>
          <a:p>
            <a:r>
              <a:t>have a steep learning curve (phrase) 学习曲线陡 — “Management has a steep learning curve.”</a:t>
            </a:r>
          </a:p>
          <a:p>
            <a:r>
              <a:t>★ walk a fine line (idiom) 小心拿捏分寸 — “You walk a fine line between friend and boss.”</a:t>
            </a:r>
          </a:p>
          <a:p>
            <a:r>
              <a:t>★ micromanage (verb) 微观管理 — “Don’t micromanage your team.”</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Leading well 领导有方</a:t>
            </a:r>
          </a:p>
          <a:p>
            <a:r>
              <a:t>领读 → 学员跟读 → 请学员用表达造一个和自己工作相关的句子。</a:t>
            </a:r>
          </a:p>
          <a:p>
            <a:r>
              <a:t>delegate (verb) 授权 — “Learn to delegate.”</a:t>
            </a:r>
          </a:p>
          <a:p>
            <a:r>
              <a:t>give feedback (collocation) 给反馈 — “Give feedback regularly.”</a:t>
            </a:r>
          </a:p>
          <a:p>
            <a:r>
              <a:t>set expectations (collocation) 设定期望 — “Set clear expectations.”</a:t>
            </a:r>
          </a:p>
          <a:p>
            <a:r>
              <a:t>★ lead by example (idiom) 以身作则 — “She leads by example.”</a:t>
            </a:r>
          </a:p>
          <a:p>
            <a:r>
              <a:t>★ have someone’s back (idiom) 支持某人 — “A good manager has your back.”</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step / peers / respect / delegate / expectations / example</a:t>
            </a:r>
          </a:p>
          <a:p>
            <a:r>
              <a:t>1. She had to _______ into the manager role. → step</a:t>
            </a:r>
          </a:p>
          <a:p>
            <a:r>
              <a:t>2. Managing former _______ can be difficult. → peers</a:t>
            </a:r>
          </a:p>
          <a:p>
            <a:r>
              <a:t>3. You must earn their _______. → respect</a:t>
            </a:r>
          </a:p>
          <a:p>
            <a:r>
              <a:t>4. A new manager must learn to _______. → delegate</a:t>
            </a:r>
          </a:p>
          <a:p>
            <a:r>
              <a:t>5. Set clear _______ from the start. → expectations</a:t>
            </a:r>
          </a:p>
          <a:p>
            <a:r>
              <a:t>6. She leads by _______. → example</a:t>
            </a:r>
          </a:p>
          <a:p>
            <a:r>
              <a:t>Mistake Watch: (搭配) step up to / step into a role, earn respect, give feedback (不可数);peer 同级同事。</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Talking to former peers 与前同事谈话</a:t>
            </a:r>
          </a:p>
          <a:p>
            <a:r>
              <a:t>情景：You announce you have become the team’s manager.</a:t>
            </a:r>
          </a:p>
          <a:p>
            <a:r>
              <a:t>Role A: New manager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want to talk about my new role. I know it’s a change, and I’d like to be open about it.</a:t>
            </a:r>
          </a:p>
          <a:p>
            <a:r>
              <a:t>B: Thanks. Honestly, it feels a bit strange.</a:t>
            </a:r>
          </a:p>
          <a:p>
            <a:r>
              <a:t>A: It does for me, too. I wasn’t sure I was ready, but I’ll do my best.</a:t>
            </a:r>
          </a:p>
          <a:p>
            <a:r>
              <a:t>B: What will change?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I’ll need to give feedback and make some decisions. But I’ll still value your ideas.</a:t>
            </a:r>
          </a:p>
          <a:p>
            <a:r>
              <a:t>B: And what do you need from us?</a:t>
            </a:r>
          </a:p>
          <a:p>
            <a:r>
              <a:t>A: Honest input, and patience while I learn.</a:t>
            </a:r>
          </a:p>
          <a:p>
            <a:r>
              <a:t>B: You’ll have my support.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address former peers.</a:t>
            </a:r>
          </a:p>
          <a:p>
            <a:r>
              <a:t>Your role (A) | New manager.</a:t>
            </a:r>
          </a:p>
          <a:p>
            <a:r>
              <a:t>Partner’s role (B) | Team member. Concern: ______________</a:t>
            </a:r>
          </a:p>
          <a:p>
            <a:r>
              <a:t>Must use (3 or more) | step into the role · be open · value your ideas · what do you need from us · patience</a:t>
            </a:r>
          </a:p>
          <a:p>
            <a:r>
              <a:t>Goal | Acknowledge the change, set expectations and ask for input.</a:t>
            </a:r>
          </a:p>
          <a:p>
            <a:r>
              <a:t>My notes | ____________________________________________</a:t>
            </a:r>
          </a:p>
          <a:p>
            <a:r>
              <a:t>Address a colleague who applied for the role.</a:t>
            </a:r>
          </a:p>
          <a:p>
            <a:r>
              <a:t>Say what won’t change.</a:t>
            </a:r>
          </a:p>
          <a:p>
            <a:r>
              <a:t>Ask for feedback after a month.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Learning to delegate 学会授权</a:t>
            </a:r>
          </a:p>
          <a:p>
            <a:r>
              <a:t>情景：A mentor coaches you.</a:t>
            </a:r>
          </a:p>
          <a:p>
            <a:r>
              <a:t>Role A: Mentor Role B: New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 look exhausted. How many tasks do you handle yourself?</a:t>
            </a:r>
          </a:p>
          <a:p>
            <a:r>
              <a:t>B: Most of them. I don’t want to ask my team for too much.</a:t>
            </a:r>
          </a:p>
          <a:p>
            <a:r>
              <a:t>A: That’s a classic trap. Your job now is to get results through others.</a:t>
            </a:r>
          </a:p>
          <a:p>
            <a:r>
              <a:t>B: But I can do it faster.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Maybe, in the short term. Delegate one task this week, and explain what a good result looks like.</a:t>
            </a:r>
          </a:p>
          <a:p>
            <a:r>
              <a:t>B: What if they make mistakes?</a:t>
            </a:r>
          </a:p>
          <a:p>
            <a:r>
              <a:t>A: Be available, but don’t micromanage. Mistakes are how people learn.</a:t>
            </a:r>
          </a:p>
          <a:p>
            <a:r>
              <a:t>B: I’ll try it.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practise delegating.</a:t>
            </a:r>
          </a:p>
          <a:p>
            <a:r>
              <a:t>Your role (A) | Mentor.</a:t>
            </a:r>
          </a:p>
          <a:p>
            <a:r>
              <a:t>Partner’s role (B) | New manager. Task: ______________</a:t>
            </a:r>
          </a:p>
          <a:p>
            <a:r>
              <a:t>Must use (3 or more) | delegate · get results through others · micromanage · what a good result looks like · be available</a:t>
            </a:r>
          </a:p>
          <a:p>
            <a:r>
              <a:t>Goal | Identify why it’s hard and agree on one task to delegate.</a:t>
            </a:r>
          </a:p>
          <a:p>
            <a:r>
              <a:t>My notes | ____________________________________________</a:t>
            </a:r>
          </a:p>
          <a:p>
            <a:r>
              <a:t>Discuss trust.</a:t>
            </a:r>
          </a:p>
          <a:p>
            <a:r>
              <a:t>Set a check-in date.</a:t>
            </a:r>
          </a:p>
          <a:p>
            <a:r>
              <a:t>Respond to “I can do it faster”.</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the best performer always become the manager? | “Not necessarily, because…”</a:t>
            </a:r>
          </a:p>
          <a:p>
            <a:r>
              <a:t>2. What skills does a manager need that a specialist doesn’t? | “Skills like… and…”</a:t>
            </a:r>
          </a:p>
          <a:p>
            <a:r>
              <a:t>3. How can a manager earn respect? | “By… / They can…”</a:t>
            </a:r>
          </a:p>
          <a:p>
            <a:r>
              <a:t>4. Is it OK to manage friends? | “It can be, if…”</a:t>
            </a:r>
          </a:p>
          <a:p>
            <a:r>
              <a:t>5. What would you do in your first week as a manager? | “I’d start by…”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“Not necessarily. Being excellent at a job doesn’t mean you’ll be excellent at leading others. Management needs different skills: communication, delegation and conflict handling. A better approach is to train people before the promotion and offer a choice between a management path and a specialist path. That way, good specialists aren’t forced into roles they don’t want.”</a:t>
            </a:r>
          </a:p>
          <a:p>
            <a:r>
              <a:t>“Not necessarily” 不一定;“forced into” 被迫进入。</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instructions and delegating 下达指示与授权</a:t>
            </a:r>
          </a:p>
          <a:p>
            <a:r>
              <a:t>Direct | Polite &amp; clear</a:t>
            </a:r>
          </a:p>
          <a:p>
            <a:r>
              <a:t>Do this report. | Could you take charge of this report?</a:t>
            </a:r>
          </a:p>
          <a:p>
            <a:r>
              <a:t>Finish it by Friday. | I’d like you to have it ready by Friday.</a:t>
            </a:r>
          </a:p>
          <a:p>
            <a:r>
              <a:t>Don’t do it like that. | Let’s try it another way. What do you think?</a:t>
            </a:r>
          </a:p>
          <a:p>
            <a:r>
              <a:t>I don’t have time. | I’m tied up this week; can you take it on?</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Giving instructions and delegating 下达指示与授权</a:t>
            </a:r>
          </a:p>
          <a:p>
            <a:r>
              <a:t>Combine a clear outcome and a deadline with a polite structure: Could you… by…? / I’d like you to…</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become a manager last year.  →  ✓ I became a manager last year.  (过去式)</a:t>
            </a:r>
          </a:p>
          <a:p>
            <a:r>
              <a:t>✗ I’m not enough experienced.  →  ✓ I’m not experienced enough.  (enough 后置)</a:t>
            </a:r>
          </a:p>
          <a:p>
            <a:r>
              <a:t>✗ I was promoted to be manager last year.  →  ✓ I was promoted to manager last year.  (promote to + 职位(无冠词))</a:t>
            </a:r>
          </a:p>
          <a:p>
            <a:r>
              <a:t>Mistake Watch: Check enough word order, listen to, past simple, and uncountable experience / advice.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My team respects me and listens me.  →  ✓ My team respects me and listens to me.  (listen to)</a:t>
            </a:r>
          </a:p>
          <a:p>
            <a:r>
              <a:t>✗ I must to delegate.  →  ✓ I must delegate.  (情态动词)</a:t>
            </a:r>
          </a:p>
          <a:p>
            <a:r>
              <a:t>✗ He is a good leader because he has a big experience.  →  ✓ …because he has a lot of experience.  (experience 不可数)</a:t>
            </a:r>
          </a:p>
          <a:p>
            <a:r>
              <a:t>Mistake Watch: Check enough word order, listen to, past simple, and uncountable experience / advice.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Management is a new job, not a reward. Western companies often offer management training.</a:t>
            </a:r>
          </a:p>
          <a:p>
            <a:r>
              <a:t>Be honest about learning. Saying “I’m still learning this” earns trust.</a:t>
            </a:r>
          </a:p>
          <a:p>
            <a:r>
              <a:t>Be fair with former peers. Don’t favour friends.</a:t>
            </a:r>
          </a:p>
          <a:p>
            <a:r>
              <a:t>Delegate with outcomes. Describe the result, not every step.</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becoming a manager and its challenges.</a:t>
            </a:r>
          </a:p>
          <a:p>
            <a:r>
              <a:t>I can address former peers openly.</a:t>
            </a:r>
          </a:p>
          <a:p>
            <a:r>
              <a:t>I can delegate using polite structures.</a:t>
            </a:r>
          </a:p>
          <a:p>
            <a:r>
              <a:t>I use enough (after adjective) and listen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Give a 60-second speech introducing yourself as a new manager.</a:t>
            </a:r>
          </a:p>
          <a:p>
            <a:r>
              <a:t>8–10 | Listen to your recording. Check: enough after adjective, listen to, past simple.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47 · How to lead a successful global team 如何领导成功的跨国团队</a:t>
            </a:r>
          </a:p>
          <a:p>
            <a:r>
              <a:t>Goal: talk about leading a team across countries and cultures, running virtual meetings and building trust at a distance.</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“global team” = 跨国团队;“time zone” = 时区。第 1 题现在完成时问经历。</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Describe a multicultural team and how it works.</a:t>
            </a:r>
          </a:p>
          <a:p>
            <a:r>
              <a:t>Say: the team → the challenges → what works → your advice.</a:t>
            </a:r>
          </a:p>
          <a:p>
            <a:r>
              <a:t>Useful starters: “Our team is spread across…” / “One challenge is…” / “What works for us is…” / “I’d suggest…”</a:t>
            </a:r>
          </a:p>
          <a:p>
            <a:r>
              <a:t>“be spread across” 分布于;“What works for us is…” 强调结构。</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Leading a global team means managing differences in time zones, language and culture. Some cultures prefer direct feedback, while others consider it rude. In some, people speak up readily in meetings; in others, they wait to be invited. A good global leader notices these patterns without stereotyping individuals. Practical habits help. Rotate meeting times so the same people are not always working at midnight. Send an agenda in advance so non-native speakers can prepare. Summarise decisions in writing afterwards. Start meetings with a few minutes of personal conversation, because trust is harder to build without a coffee break. Finally, ask people how they prefer to work. Instead of guessing, a leader can create shared team rules, which all members help to write.</a:t>
            </a:r>
          </a:p>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Give two cultural differences mentioned.</a:t>
            </a:r>
          </a:p>
          <a:p>
            <a:r>
              <a:t>A: Direct vs indirect feedback; speaking up vs waiting to be invited.</a:t>
            </a:r>
          </a:p>
          <a:p>
            <a:r>
              <a:t>Q2. Why send an agenda in advance?</a:t>
            </a:r>
          </a:p>
          <a:p>
            <a:r>
              <a:t>A: So non-native speakers can prepare.</a:t>
            </a:r>
          </a:p>
          <a:p>
            <a:r>
              <a:t>Q3. What does the writer suggest instead of guessing preferences?</a:t>
            </a:r>
          </a:p>
          <a:p>
            <a:r>
              <a:t>A: Ask people their preferences and create shared team rules together.</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Global teams 跨国团队</a:t>
            </a:r>
          </a:p>
          <a:p>
            <a:r>
              <a:t>领读 → 学员跟读 → 请学员用表达造一个和自己工作相关的句子。</a:t>
            </a:r>
          </a:p>
          <a:p>
            <a:r>
              <a:t>time zone (noun) 时区 — “We work across five time zones.”</a:t>
            </a:r>
          </a:p>
          <a:p>
            <a:r>
              <a:t>cross-cultural / intercultural (adjective) 跨文化的 — “We have cross-cultural training.”</a:t>
            </a:r>
          </a:p>
          <a:p>
            <a:r>
              <a:t>remote team (noun) 远程团队 — “I manage a remote team.”</a:t>
            </a:r>
          </a:p>
          <a:p>
            <a:r>
              <a:t>★ follow the sun (collocation) 接力式工作 — “We follow the sun for support.”</a:t>
            </a:r>
          </a:p>
          <a:p>
            <a:r>
              <a:t>★ lost in translation (idiom) 翻译中丢失原意 — “Some jokes get lost in translation.”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Communication 沟通</a:t>
            </a:r>
          </a:p>
          <a:p>
            <a:r>
              <a:t>领读 → 学员跟读 → 请学员用表达造一个和自己工作相关的句子。</a:t>
            </a:r>
          </a:p>
          <a:p>
            <a:r>
              <a:t>direct vs indirect (adjective) 直接/间接 — “Some cultures are more indirect.”</a:t>
            </a:r>
          </a:p>
          <a:p>
            <a:r>
              <a:t>clarify (verb) 澄清 — “Please clarify what you mean.”</a:t>
            </a:r>
          </a:p>
          <a:p>
            <a:r>
              <a:t>read between the lines (idiom) 领会言外之意 — “You must read between the lines.”</a:t>
            </a:r>
          </a:p>
          <a:p>
            <a:r>
              <a:t>★ high-context / low-context (adjective) 高语境/低语境 — “China is a high-context culture.”</a:t>
            </a:r>
          </a:p>
          <a:p>
            <a:r>
              <a:t>★ speak up (phrasal verb) 大胆发言 — “Encourage people to speak up.”</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Leading 领导</a:t>
            </a:r>
          </a:p>
          <a:p>
            <a:r>
              <a:t>领读 → 学员跟读 → 请学员用表达造一个和自己工作相关的句子。</a:t>
            </a:r>
          </a:p>
          <a:p>
            <a:r>
              <a:t>build trust (collocation) 建立信任 — “Trust takes time to build.”</a:t>
            </a:r>
          </a:p>
          <a:p>
            <a:r>
              <a:t>rotate (verb) 轮换 — “We rotate meeting times.”</a:t>
            </a:r>
          </a:p>
          <a:p>
            <a:r>
              <a:t>ground rules (noun) 基本规则 — “Set ground rules.”</a:t>
            </a:r>
          </a:p>
          <a:p>
            <a:r>
              <a:t>★ accommodate (verb) 迁就/照顾 — “We try to accommodate everyone.”</a:t>
            </a:r>
          </a:p>
          <a:p>
            <a:r>
              <a:t>★ bridge the gap (collocation) 弥合差距 — “A leader bridges the gap.”</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zones / remote / clarify / lines / trust / ground</a:t>
            </a:r>
          </a:p>
          <a:p>
            <a:r>
              <a:t>1. We work across five time _______. → zones</a:t>
            </a:r>
          </a:p>
          <a:p>
            <a:r>
              <a:t>2. I manage a _______ team. → remote</a:t>
            </a:r>
          </a:p>
          <a:p>
            <a:r>
              <a:t>3. Please _______ what you mean. → clarify</a:t>
            </a:r>
          </a:p>
          <a:p>
            <a:r>
              <a:t>4. You must read between the _______. → lines</a:t>
            </a:r>
          </a:p>
          <a:p>
            <a:r>
              <a:t>5. Trust takes time to _______. → build</a:t>
            </a:r>
          </a:p>
          <a:p>
            <a:r>
              <a:t>6. Set _______ rules at the start. → ground</a:t>
            </a:r>
          </a:p>
          <a:p>
            <a:r>
              <a:t>Mistake Watch: (搭配) across time zones, build trust, in a different time zone;intercultural 可连写。</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Planning a global meeting 安排跨国会议</a:t>
            </a:r>
          </a:p>
          <a:p>
            <a:r>
              <a:t>情景：You schedule a team meeting.</a:t>
            </a:r>
          </a:p>
          <a:p>
            <a:r>
              <a:t>Role A: Team leader Role B: Team member (in another country)</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find a time that works for everyone.</a:t>
            </a:r>
          </a:p>
          <a:p>
            <a:r>
              <a:t>B: I’m eight hours ahead of you, so evenings are difficult.</a:t>
            </a:r>
          </a:p>
          <a:p>
            <a:r>
              <a:t>A: Could we rotate it, so that no one always takes the late slot?</a:t>
            </a:r>
          </a:p>
          <a:p>
            <a:r>
              <a:t>B: That would be fair.</a:t>
            </a:r>
          </a:p>
          <a:p>
            <a:r>
              <a:t>A: I’ll send the agenda in advance.</a:t>
            </a:r>
          </a:p>
          <a:p>
            <a:r>
              <a:t>B: Great. It helps me prepare in English.</a:t>
            </a:r>
          </a:p>
          <a:p>
            <a:r>
              <a:t>A: And I’ll send a written summary afterwards.</a:t>
            </a:r>
          </a:p>
          <a:p>
            <a:r>
              <a:t>B: Thanks, that makes it easier.</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plan a meeting across time zones.</a:t>
            </a:r>
          </a:p>
          <a:p>
            <a:r>
              <a:t>Your role (A) | Leader.</a:t>
            </a:r>
          </a:p>
          <a:p>
            <a:r>
              <a:t>Partner’s role (B) | Remote member. Time zone: ______________</a:t>
            </a:r>
          </a:p>
          <a:p>
            <a:r>
              <a:t>Must use (3 or more) | time zone · rotate · agenda in advance · written summary · works for everyone</a:t>
            </a:r>
          </a:p>
          <a:p>
            <a:r>
              <a:t>Goal | Find a fair time and agree on support.</a:t>
            </a:r>
          </a:p>
          <a:p>
            <a:r>
              <a:t>My notes | ____________________________________________</a:t>
            </a:r>
          </a:p>
          <a:p>
            <a:r>
              <a:t>Propose alternating schedules.</a:t>
            </a:r>
          </a:p>
          <a:p>
            <a:r>
              <a:t>Ask how people like to communicate.</a:t>
            </a:r>
          </a:p>
          <a:p>
            <a:r>
              <a:t>Respond to an overlap problem.</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Handling a cultural misunderstanding 处理文化误会</a:t>
            </a:r>
          </a:p>
          <a:p>
            <a:r>
              <a:t>情景：A team member did not speak up.</a:t>
            </a:r>
          </a:p>
          <a:p>
            <a:r>
              <a:t>Role A: Leader Role B: Team member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noticed you didn’t say much in the meeting. Is everything OK?</a:t>
            </a:r>
          </a:p>
          <a:p>
            <a:r>
              <a:t>B: I had a concern, but I didn’t want to interrupt.</a:t>
            </a:r>
          </a:p>
          <a:p>
            <a:r>
              <a:t>A: I appreciate that. In this team, we encourage people to speak up.</a:t>
            </a:r>
          </a:p>
          <a:p>
            <a:r>
              <a:t>B: In my country, we usually wait to be asked.</a:t>
            </a:r>
          </a:p>
          <a:p>
            <a:r>
              <a:t>A: I understand. I’ll invite you by name next time.</a:t>
            </a:r>
          </a:p>
          <a:p>
            <a:r>
              <a:t>B: That would help.</a:t>
            </a:r>
          </a:p>
          <a:p>
            <a:r>
              <a:t>A: And you can send me a message if you prefer.</a:t>
            </a:r>
          </a:p>
          <a:p>
            <a:r>
              <a:t>B: Thank you for understanding.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bridge a cultural gap.</a:t>
            </a:r>
          </a:p>
          <a:p>
            <a:r>
              <a:t>Your role (A) | Leader.</a:t>
            </a:r>
          </a:p>
          <a:p>
            <a:r>
              <a:t>Partner’s role (B) | Team member. Situation: ______________</a:t>
            </a:r>
          </a:p>
          <a:p>
            <a:r>
              <a:t>Must use (3 or more) | speak up · I understand · wait to be asked · invite you · prefer</a:t>
            </a:r>
          </a:p>
          <a:p>
            <a:r>
              <a:t>Goal | Listen without judging and agree on a practical solution.</a:t>
            </a:r>
          </a:p>
          <a:p>
            <a:r>
              <a:t>My notes | ____________________________________________</a:t>
            </a:r>
          </a:p>
          <a:p>
            <a:r>
              <a:t>Don’t stereotype.</a:t>
            </a:r>
          </a:p>
          <a:p>
            <a:r>
              <a:t>Create a team norm together.</a:t>
            </a:r>
          </a:p>
          <a:p>
            <a:r>
              <a:t>Follow up after a week.</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What is the biggest challenge of leading a global team? | “I’d say it’s… because…”</a:t>
            </a:r>
          </a:p>
          <a:p>
            <a:r>
              <a:t>2. How can you avoid misunderstandings? | “By… / It helps to…”</a:t>
            </a:r>
          </a:p>
          <a:p>
            <a:r>
              <a:t>3. Do cultural stereotypes help or hurt? | “They may help a little, but…”</a:t>
            </a:r>
          </a:p>
          <a:p>
            <a:r>
              <a:t>4. How can you build trust remotely? | “By… / I try to…”</a:t>
            </a:r>
          </a:p>
          <a:p>
            <a:r>
              <a:t>5. Which cultural difference have you seen? | “I’ve noticed that…”</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try to be reliable and to keep small promises, like replying on time and doing what I said I would. I also share a bit about myself and ask about others. In remote teams, trust grows through consistent behaviour more than big gestures. A short video call to check in can help too, because we see each other’s expressions.”</a:t>
            </a:r>
          </a:p>
          <a:p>
            <a:r>
              <a:t>“keep promises” 守信;“consistent behaviour” 一致的行为。</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Hedging about culture 谈文化时缓和语气</a:t>
            </a:r>
          </a:p>
          <a:p>
            <a:r>
              <a:t>Too general | More careful</a:t>
            </a:r>
          </a:p>
          <a:p>
            <a:r>
              <a:t>Americans are direct. | Many Americans tend to be direct.</a:t>
            </a:r>
          </a:p>
          <a:p>
            <a:r>
              <a:t>Chinese people are shy. | Some people may find it hard to speak up.</a:t>
            </a:r>
          </a:p>
          <a:p>
            <a:r>
              <a:t>This culture is rude. | This is a different norm from mine.</a:t>
            </a:r>
          </a:p>
          <a:p>
            <a:r>
              <a:t>They don’t understand. | There may be a misunderstanding.</a:t>
            </a:r>
          </a:p>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Hedging about culture 谈文化时缓和语气</a:t>
            </a:r>
          </a:p>
          <a:p>
            <a:r>
              <a:t>Use tend to, may, some, many to avoid generalising and stereotyping.</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We have a meeting in the 9 o’clock.  →  ✓ We have a meeting at 9 o’clock.  (at)</a:t>
            </a:r>
          </a:p>
          <a:p>
            <a:r>
              <a:t>✗ He lives in a different time zone with me.  →  ✓ He lives in a different time zone from me.  (different from)</a:t>
            </a:r>
          </a:p>
          <a:p>
            <a:r>
              <a:t>✗ I’m working with the people from different cultures.  →  ✓ I work with people from different cultures.  (无冠词/时态)</a:t>
            </a:r>
          </a:p>
          <a:p>
            <a:r>
              <a:t>Mistake Watch: Check at 9 o’clock, different from, agree (no ‘am’), held.</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agree with her.  →  ✓ I agree with her.  (agree 动词)</a:t>
            </a:r>
          </a:p>
          <a:p>
            <a:r>
              <a:t>✗ We discuss about the plan.  →  ✓ We discuss the plan.  (discuss)</a:t>
            </a:r>
          </a:p>
          <a:p>
            <a:r>
              <a:t>✗ The meeting will be hold at 8.  →  ✓ The meeting will be held at 8.  (被动 be held)</a:t>
            </a:r>
          </a:p>
          <a:p>
            <a:r>
              <a:t>Mistake Watch: Check at 9 o’clock, different from, agree (no ‘am’), held.</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Know your own style. Direct style is not “better”; it is a preference.</a:t>
            </a:r>
          </a:p>
          <a:p>
            <a:r>
              <a:t>Check understanding. “Can you say it in your own words?” is polite.</a:t>
            </a:r>
          </a:p>
          <a:p>
            <a:r>
              <a:t>Public holidays. Check local holidays before planning deadlines.</a:t>
            </a:r>
          </a:p>
          <a:p>
            <a:r>
              <a:t>Use simple English. Avoid idioms with non-native speakers when clarity matters.</a:t>
            </a:r>
          </a:p>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describe a global team and its challenges.</a:t>
            </a:r>
          </a:p>
          <a:p>
            <a:r>
              <a:t>I can plan an inclusive meeting.</a:t>
            </a:r>
          </a:p>
          <a:p>
            <a:r>
              <a:t>I can talk about cultural differences without stereotyping.</a:t>
            </a:r>
          </a:p>
          <a:p>
            <a:r>
              <a:t>I use at/on/in with time and different from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Describe your team’s way of working to a new member.</a:t>
            </a:r>
          </a:p>
          <a:p>
            <a:r>
              <a:t>8–10 | Listen to your recording. Check: at/in/on, different from, discuss + object.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48 · The Halo effect 光环效应</a:t>
            </a:r>
          </a:p>
          <a:p>
            <a:r>
              <a:t>Goal: explain the halo effect, give examples in hiring, performance reviews and marketing, and suggest how to avoid it.</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“halo effect” = 光环效应:因某一突出特点而高估整体。第 1 题现在完成时。</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the halo effect to a colleague with an example.</a:t>
            </a:r>
          </a:p>
          <a:p>
            <a:r>
              <a:t>Say: what it is → example → problem → how to reduce it.</a:t>
            </a:r>
          </a:p>
          <a:p>
            <a:r>
              <a:t>Useful starters: “The halo effect is when…” / “For example, …” / “The problem is that…” / “To avoid it, we can…”</a:t>
            </a:r>
          </a:p>
          <a:p>
            <a:r>
              <a:t>“when” 引导定义;“To avoid it, we can + 动词原形”。</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The halo effect is a bias in which one positive trait influences our overall judgement. A confident, attractive candidate may seem more intelligent or reliable than another person with the same record. A manager who admires an employee’s presentation skills may rate that person highly in all areas. Brands use the effect too: if a company makes one successful product, customers often assume that its other products are excellent. The opposite is sometimes called the “horn effect”, where one negative detail spoils the whole picture. These shortcuts happen quickly and often without awareness. Organisations can reduce them by scoring each skill separately, using the same questions for every candidate, and asking a second person to review ratings. Leaders should also ask themselves: what facts support my opinion?</a:t>
            </a:r>
          </a:p>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is the halo effect?</a:t>
            </a:r>
          </a:p>
          <a:p>
            <a:r>
              <a:t>A: One positive trait influences overall judgement.</a:t>
            </a:r>
          </a:p>
          <a:p>
            <a:r>
              <a:t>Q2. What is the “horn effect”?</a:t>
            </a:r>
          </a:p>
          <a:p>
            <a:r>
              <a:t>A: One negative detail spoils the whole picture.</a:t>
            </a:r>
          </a:p>
          <a:p>
            <a:r>
              <a:t>Q3. Name one way to reduce the effect.</a:t>
            </a:r>
          </a:p>
          <a:p>
            <a:r>
              <a:t>A: Score skills separately, use the same questions, or ask a second person to review.</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Halo effect 光环效应</a:t>
            </a:r>
          </a:p>
          <a:p>
            <a:r>
              <a:t>领读 → 学员跟读 → 请学员用表达造一个和自己工作相关的句子。</a:t>
            </a:r>
          </a:p>
          <a:p>
            <a:r>
              <a:t>the halo effect (noun) 光环效应 — “The halo effect affects ratings.”</a:t>
            </a:r>
          </a:p>
          <a:p>
            <a:r>
              <a:t>overall impression (noun) 整体印象 — “His overall impression was positive.”</a:t>
            </a:r>
          </a:p>
          <a:p>
            <a:r>
              <a:t>jump to conclusions (idiom) 草率下结论 — “Don’t jump to conclusions.”</a:t>
            </a:r>
          </a:p>
          <a:p>
            <a:r>
              <a:t>★ the horn effect (noun) 负面光环/魔鬼效应 — “The horn effect makes one flaw look huge.”</a:t>
            </a:r>
          </a:p>
          <a:p>
            <a:r>
              <a:t>★ cognitive bias (noun) 认知偏差 — “It’s a common cognitive bias.”</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Judging fairly 公平判断</a:t>
            </a:r>
          </a:p>
          <a:p>
            <a:r>
              <a:t>领读 → 学员跟读 → 请学员用表达造一个和自己工作相关的句子。</a:t>
            </a:r>
          </a:p>
          <a:p>
            <a:r>
              <a:t>rate / rating (verb/noun) 评分 — “Rate each skill separately.”</a:t>
            </a:r>
          </a:p>
          <a:p>
            <a:r>
              <a:t>objective (adjective) 客观的 — “Try to be objective.”</a:t>
            </a:r>
          </a:p>
          <a:p>
            <a:r>
              <a:t>evidence-based (adjective) 基于证据的 — “We want evidence-based reviews.”</a:t>
            </a:r>
          </a:p>
          <a:p>
            <a:r>
              <a:t>★ take (something) at face value (idiom) 只看表面 — “Don’t take it at face value.”</a:t>
            </a:r>
          </a:p>
          <a:p>
            <a:r>
              <a:t>★ calibrate (verb) 校准 — “Managers calibrate ratings together.”</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Brands and reputation 品牌与声誉</a:t>
            </a:r>
          </a:p>
          <a:p>
            <a:r>
              <a:t>领读 → 学员跟读 → 请学员用表达造一个和自己工作相关的句子。</a:t>
            </a:r>
          </a:p>
          <a:p>
            <a:r>
              <a:t>brand reputation (noun) 品牌声誉 — “Brand reputation drives sales.”</a:t>
            </a:r>
          </a:p>
          <a:p>
            <a:r>
              <a:t>trust the brand (collocation) 信任品牌 — “People trust the brand.”</a:t>
            </a:r>
          </a:p>
          <a:p>
            <a:r>
              <a:t>★ trade on (a reputation) (phrasal verb) 利用声誉 — “They trade on their name.”</a:t>
            </a:r>
          </a:p>
          <a:p>
            <a:r>
              <a:t>★ a flagship product (noun) 旗舰产品 — “The flagship product sells well.”</a:t>
            </a:r>
          </a:p>
          <a:p>
            <a:r>
              <a:t>★ bask in reflected glory (idiom) 借他人光环 — “She basked in reflected glory.”</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halo / impression / conclusions / objective / rating / bias</a:t>
            </a:r>
          </a:p>
          <a:p>
            <a:r>
              <a:t>1. The _______ effect can affect performance reviews. → halo</a:t>
            </a:r>
          </a:p>
          <a:p>
            <a:r>
              <a:t>2. His overall _______ of her was positive. → impression</a:t>
            </a:r>
          </a:p>
          <a:p>
            <a:r>
              <a:t>3. Don’t jump to _______. → conclusions</a:t>
            </a:r>
          </a:p>
          <a:p>
            <a:r>
              <a:t>4. Try to be _______ when you judge people. → objective</a:t>
            </a:r>
          </a:p>
          <a:p>
            <a:r>
              <a:t>5. Give each skill a separate _______. → rating</a:t>
            </a:r>
          </a:p>
          <a:p>
            <a:r>
              <a:t>6. It’s a common cognitive _______. → bias</a:t>
            </a:r>
          </a:p>
          <a:p>
            <a:r>
              <a:t>Mistake Watch: (词性) objective(形容词/名词)、objectively(副词);conclusion 拼写;jump to conclusions 复数。</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Spotting the halo effect 发现光环效应</a:t>
            </a:r>
          </a:p>
          <a:p>
            <a:r>
              <a:t>情景：A review meeting.</a:t>
            </a:r>
          </a:p>
          <a:p>
            <a:r>
              <a:t>Role A: HR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You’ve rated Jake five out of five in everything. Is that right?</a:t>
            </a:r>
          </a:p>
          <a:p>
            <a:r>
              <a:t>B: He’s great at presentations, and he’s very confident.</a:t>
            </a:r>
          </a:p>
          <a:p>
            <a:r>
              <a:t>A: But his reports have been late three times.</a:t>
            </a:r>
          </a:p>
          <a:p>
            <a:r>
              <a:t>B: You’re right. I may be influenced by his presentation skills.</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That sounds like the halo effect. Could we rate each skill separately?</a:t>
            </a:r>
          </a:p>
          <a:p>
            <a:r>
              <a:t>B: Yes. I’d also like to see the evidence for each rating.</a:t>
            </a:r>
          </a:p>
          <a:p>
            <a:r>
              <a:t>A: Good. Let’s calibrate with another manager.</a:t>
            </a:r>
          </a:p>
          <a:p>
            <a:r>
              <a:t>B: OK. Thanks for pointing it out.</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5 | </a:t>
            </a:r>
          </a:p>
          <a:p>
            <a:r>
              <a:t>Situation | You point out a possible bias.</a:t>
            </a:r>
          </a:p>
          <a:p>
            <a:r>
              <a:t>Your role (A) | HR.</a:t>
            </a:r>
          </a:p>
          <a:p>
            <a:r>
              <a:t>Partner’s role (B) | Manager. Person rated: ______________</a:t>
            </a:r>
          </a:p>
          <a:p>
            <a:r>
              <a:t>Must use (3 or more) | the halo effect · influenced by · rate separately · evidence · calibrate</a:t>
            </a:r>
          </a:p>
          <a:p>
            <a:r>
              <a:t>Goal | Raise the concern tactfully and agree a fairer method.</a:t>
            </a:r>
          </a:p>
          <a:p>
            <a:r>
              <a:t>My notes | ____________________________________________</a:t>
            </a:r>
          </a:p>
          <a:p>
            <a:r>
              <a:t>Use “I wonder if…”</a:t>
            </a:r>
          </a:p>
          <a:p>
            <a:r>
              <a:t>Give a data point.</a:t>
            </a:r>
          </a:p>
          <a:p>
            <a:r>
              <a:t>Suggest a second reviewer.</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the effect to a colleague 向同事解释光环效应</a:t>
            </a:r>
          </a:p>
          <a:p>
            <a:r>
              <a:t>情景：A casual conversation.</a:t>
            </a:r>
          </a:p>
          <a:p>
            <a:r>
              <a:t>Role A: Colleague Role B: You</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always trust products from that brand. Why is that?</a:t>
            </a:r>
          </a:p>
          <a:p>
            <a:r>
              <a:t>B: It might be the halo effect. One great product makes you assume all of them are good.</a:t>
            </a:r>
          </a:p>
          <a:p>
            <a:r>
              <a:t>A: Isn’t that logical?</a:t>
            </a:r>
          </a:p>
          <a:p>
            <a:r>
              <a:t>B: Not always. A strong brand doesn’t guarantee every product is strong.</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So how can I avoid it?</a:t>
            </a:r>
          </a:p>
          <a:p>
            <a:r>
              <a:t>B: Look at the details, read independent reviews and don’t take the name at face value.</a:t>
            </a:r>
          </a:p>
          <a:p>
            <a:r>
              <a:t>A: Good tip. And does it work for people too?</a:t>
            </a:r>
          </a:p>
          <a:p>
            <a:r>
              <a:t>B: Yes, which is why we should be careful in interviews.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6 | </a:t>
            </a:r>
          </a:p>
          <a:p>
            <a:r>
              <a:t>Situation | You explain the halo effect.</a:t>
            </a:r>
          </a:p>
          <a:p>
            <a:r>
              <a:t>Your role (A) | Curious colleague.</a:t>
            </a:r>
          </a:p>
          <a:p>
            <a:r>
              <a:t>Partner’s role (B) | Explainer. Example: ______________</a:t>
            </a:r>
          </a:p>
          <a:p>
            <a:r>
              <a:t>Must use (3 or more) | halo effect · assume · at face value · independent reviews · be careful</a:t>
            </a:r>
          </a:p>
          <a:p>
            <a:r>
              <a:t>Goal | Define it, give an example and suggest how to avoid it.</a:t>
            </a:r>
          </a:p>
          <a:p>
            <a:r>
              <a:t>My notes | ____________________________________________</a:t>
            </a:r>
          </a:p>
          <a:p>
            <a:r>
              <a:t>Contrast with the horn effect.</a:t>
            </a:r>
          </a:p>
          <a:p>
            <a:r>
              <a:t>Give an example from your workplace.</a:t>
            </a:r>
          </a:p>
          <a:p>
            <a:r>
              <a:t>Discuss how marketing uses it.</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Have you experienced the halo effect? | “I think I have, when…”</a:t>
            </a:r>
          </a:p>
          <a:p>
            <a:r>
              <a:t>2. Do good-looking people get an advantage at work? | “Research suggests… but…”</a:t>
            </a:r>
          </a:p>
          <a:p>
            <a:r>
              <a:t>3. How can brands benefit from the halo effect? | “They can… / By…”</a:t>
            </a:r>
          </a:p>
          <a:p>
            <a:r>
              <a:t>4. How can you be fairer in a review? | “I’d rate… separately / I’d use…”</a:t>
            </a:r>
          </a:p>
          <a:p>
            <a:r>
              <a:t>5. Is it possible to be completely objective? | “Probably not, but…”</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“To be fairer in a review, I’d start with a checklist of skills and rate each one separately, with an example. I’d also review my notes from the whole year, not just recent events. Finally, I’d ask a colleague to check my ratings. This can reduce the effect of any single impression.”</a:t>
            </a:r>
          </a:p>
          <a:p>
            <a:r>
              <a:t>“recent events” 近期事件(近因效应);“check my ratings” 复核评分。</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causes and effects of bias 解释偏见的原因和影响</a:t>
            </a:r>
          </a:p>
          <a:p>
            <a:r>
              <a:t>Structure | Example</a:t>
            </a:r>
          </a:p>
          <a:p>
            <a:r>
              <a:t>cause → effect | One trait influences overall judgement.</a:t>
            </a:r>
          </a:p>
          <a:p>
            <a:r>
              <a:t>lead to / result in | Bias can lead to unfair ratings.</a:t>
            </a:r>
          </a:p>
          <a:p>
            <a:r>
              <a:t>tend to + verb | We tend to like people who are like us.</a:t>
            </a:r>
          </a:p>
          <a:p>
            <a:r>
              <a:t>may be influenced by | I may be influenced by his confidence.</a:t>
            </a:r>
          </a:p>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causes and effects of bias 解释偏见的原因和影响</a:t>
            </a:r>
          </a:p>
          <a:p>
            <a:r>
              <a:t>Express your own possible bias with modals: I may be influenced by… — this shows self-awareness.</a:t>
            </a:r>
          </a:p>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Halo effect is a bias.  →  ✓ The halo effect is a bias.  (the)</a:t>
            </a:r>
          </a:p>
          <a:p>
            <a:r>
              <a:t>✗ He is very beautiful, so he is clever.  →  ✓ He is very attractive, so people assume he is clever.  (assume)</a:t>
            </a:r>
          </a:p>
          <a:p>
            <a:r>
              <a:t>✗ We should not judge from appearance.  →  ✓ We should not judge by appearance.  (by appearance)</a:t>
            </a:r>
          </a:p>
          <a:p>
            <a:r>
              <a:t>Mistake Watch: Check the halo effect, judge by, influenced by, make + base verb.</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It makes me to think he is good.  →  ✓ It makes me think he is good.  (make + 宾语 + 动词原形)</a:t>
            </a:r>
          </a:p>
          <a:p>
            <a:r>
              <a:t>✗ I’m influenced from his opinion.  →  ✓ I’m influenced by his opinion.  (by)</a:t>
            </a:r>
          </a:p>
          <a:p>
            <a:r>
              <a:t>✗ The reviews are objectively.  →  ✓ The reviews are objective.  (形容词)</a:t>
            </a:r>
          </a:p>
          <a:p>
            <a:r>
              <a:t>Mistake Watch: Check the halo effect, judge by, influenced by, make + base verb.</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Calibration meetings. Managers compare ratings to reduce bias.</a:t>
            </a:r>
          </a:p>
          <a:p>
            <a:r>
              <a:t>360 feedback. Many firms collect feedback from several people.</a:t>
            </a:r>
          </a:p>
          <a:p>
            <a:r>
              <a:t>Avoid commenting on appearance. It’s inappropriate in most Western workplaces.</a:t>
            </a:r>
          </a:p>
          <a:p>
            <a:r>
              <a:t>Use specific examples. “She met every deadline” beats “she is great”.</a:t>
            </a:r>
          </a:p>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explain the halo effect with an example.</a:t>
            </a:r>
          </a:p>
          <a:p>
            <a:r>
              <a:t>I can point out a possible bias tactfully.</a:t>
            </a:r>
          </a:p>
          <a:p>
            <a:r>
              <a:t>I can suggest ways to reduce bias in reviews.</a:t>
            </a:r>
          </a:p>
          <a:p>
            <a:r>
              <a:t>I use the halo effect, judge by, influenced by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the halo effect in 60 seconds with a real example.</a:t>
            </a:r>
          </a:p>
          <a:p>
            <a:r>
              <a:t>8–10 | Listen to your recording. Check: the halo effect, judge by, influenced by, make + base.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“赢得尊重” in English? → earn respect</a:t>
            </a:r>
          </a:p>
          <a:p>
            <a:r>
              <a:t>“被直接扔进深水区” in English? → be thrown in at the deep end</a:t>
            </a:r>
          </a:p>
          <a:p>
            <a:r>
              <a:t>“弥合差距” in English? → bridge the gap</a:t>
            </a:r>
          </a:p>
          <a:p>
            <a:r>
              <a:t>Fix it: The reviews are objectively. → The reviews are objective.</a:t>
            </a:r>
          </a:p>
          <a:p>
            <a:r>
              <a:t>Fix it: We have a meeting in the 9 o’clock. → We have a meeting at 9 o’clock.</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1.xml"/><Relationship Id="rId5" Type="http://schemas.openxmlformats.org/officeDocument/2006/relationships/slide" Target="slide56.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3.xml"/><Relationship Id="rId4" Type="http://schemas.openxmlformats.org/officeDocument/2006/relationships/slide" Target="slide84.xml"/><Relationship Id="rId5" Type="http://schemas.openxmlformats.org/officeDocument/2006/relationships/slide" Target="slide85.xml"/><Relationship Id="rId6" Type="http://schemas.openxmlformats.org/officeDocument/2006/relationships/slide" Target="slide86.xml"/><Relationship Id="rId7" Type="http://schemas.openxmlformats.org/officeDocument/2006/relationships/slide" Target="slide87.xml"/><Relationship Id="rId8" Type="http://schemas.openxmlformats.org/officeDocument/2006/relationships/slide" Target="slide88.xml"/><Relationship Id="rId9" Type="http://schemas.openxmlformats.org/officeDocument/2006/relationships/slide" Target="slide89.xml"/><Relationship Id="rId10" Type="http://schemas.openxmlformats.org/officeDocument/2006/relationships/slide" Target="slide90.xml"/><Relationship Id="rId11" Type="http://schemas.openxmlformats.org/officeDocument/2006/relationships/slide" Target="slide91.xml"/><Relationship Id="rId12" Type="http://schemas.openxmlformats.org/officeDocument/2006/relationships/slide" Target="slide9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8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4.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5.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10</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Leadership</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3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L46 Forced into management · L47 How to lead a successful global team · L48 The Halo effect</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46</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Forced into management</a:t>
            </a:r>
          </a:p>
          <a:p>
            <a:pPr algn="l">
              <a:lnSpc>
                <a:spcPct val="100000"/>
              </a:lnSpc>
              <a:spcAft>
                <a:spcPts val="800"/>
              </a:spcAft>
            </a:pPr>
            <a:r>
              <a:rPr sz="1400" b="0">
                <a:solidFill>
                  <a:srgbClr val="5F677A"/>
                </a:solidFill>
                <a:latin typeface="Arial"/>
                <a:ea typeface="Microsoft YaHei"/>
              </a:rPr>
              <a:t>被迫走上管理岗位</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47</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How to lead a successful global team</a:t>
            </a:r>
          </a:p>
          <a:p>
            <a:pPr algn="l">
              <a:lnSpc>
                <a:spcPct val="100000"/>
              </a:lnSpc>
              <a:spcAft>
                <a:spcPts val="800"/>
              </a:spcAft>
            </a:pPr>
            <a:r>
              <a:rPr sz="1400" b="0">
                <a:solidFill>
                  <a:srgbClr val="5F677A"/>
                </a:solidFill>
                <a:latin typeface="Arial"/>
                <a:ea typeface="Microsoft YaHei"/>
              </a:rPr>
              <a:t>如何领导成功的跨国团队</a:t>
            </a:r>
          </a:p>
        </p:txBody>
      </p:sp>
      <p:sp>
        <p:nvSpPr>
          <p:cNvPr id="13" name="Rounded Rectangle 12">
            <a:hlinkClick action="ppaction://hlinksldjump" r:id="rId5"/>
          </p:cNvPr>
          <p:cNvSpPr/>
          <p:nvPr/>
        </p:nvSpPr>
        <p:spPr>
          <a:xfrm>
            <a:off x="8066836" y="1554480"/>
            <a:ext cx="3576218" cy="1234440"/>
          </a:xfrm>
          <a:prstGeom prst="roundRect">
            <a:avLst>
              <a:gd name="adj" fmla="val 12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8176564" y="1851660"/>
            <a:ext cx="868680" cy="640080"/>
          </a:xfrm>
          <a:prstGeom prst="roundRect">
            <a:avLst>
              <a:gd name="adj" fmla="val 3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48</a:t>
            </a:r>
          </a:p>
        </p:txBody>
      </p:sp>
      <p:sp>
        <p:nvSpPr>
          <p:cNvPr id="15" name="TextBox 14"/>
          <p:cNvSpPr txBox="1"/>
          <p:nvPr/>
        </p:nvSpPr>
        <p:spPr>
          <a:xfrm>
            <a:off x="9164116"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Halo effect</a:t>
            </a:r>
          </a:p>
          <a:p>
            <a:pPr algn="l">
              <a:lnSpc>
                <a:spcPct val="100000"/>
              </a:lnSpc>
              <a:spcAft>
                <a:spcPts val="800"/>
              </a:spcAft>
            </a:pPr>
            <a:r>
              <a:rPr sz="1400" b="0">
                <a:solidFill>
                  <a:srgbClr val="5F677A"/>
                </a:solidFill>
                <a:latin typeface="Arial"/>
                <a:ea typeface="Microsoft YaHei"/>
              </a:rPr>
              <a:t>光环效应</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10 · Lesson 46 Forced into management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46</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Forced into management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被迫走上管理岗位</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becoming a manager unexpectedly, the challenges of the transition and how to lead former peers.</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Would you like to be a manager? Why or why not?</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is the hardest part of leading former colleagues?</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a good first-time manager?</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been given a role you did not choose?</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advice would you give a new manager?</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forced into” = 被迫进入;“first-time manager” = 新手管理者。第 4 题现在完成时。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what it is like to become a manager unexpectedly.</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how it happened</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how you felt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the biggest challenge</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helped</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 was asked to step up…   💬 I wasn’t sure I was ready…   💬 The biggest challenge was…   💬 What helped was…</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“step up” = 挺身而出;“be ready to + 动词原形”。</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The accidental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123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Many managers never planned to be managers. They were excellent engineers, salespeople or analysts, and one day the boss’s job became vacant and they were asked to step in. This can feel like a promotion, but also a loss: suddenly you spend less time on the work you enjoy and more on meetings, feedback and conflict. The hardest change is often with former peers. You may be managing friends who once competed with you for the role. Experienced leaders suggest a few steps. Talk openly with the team about the change. Ask what they need from you. Do not try to prove yourself by controlling everything. Instead, learn to delegate, because your success is now measured by the team’s results, not your own.</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Why can the promotion feel like a loss?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You spend less time on work you enjoy and more on meetings, feedback and conflict.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often the hardest change?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Managing former peers.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is a manager’s success measured?</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By the team’s results, not their own.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Becoming a manager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成为管理者</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step up / step into a role</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担任(职位)</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stepped into the manager role.”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first-time manager</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新手管理者</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is a first-time manager.”</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accidental manager</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非计划中的管理者</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became an accidental manager.”</a:t>
            </a:r>
          </a:p>
        </p:txBody>
      </p:sp>
      <p:sp>
        <p:nvSpPr>
          <p:cNvPr id="24" name="Rounded Rectangle 23"/>
          <p:cNvSpPr/>
          <p:nvPr/>
        </p:nvSpPr>
        <p:spPr>
          <a:xfrm>
            <a:off x="548640" y="38328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be thrown in at the deep end</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被直接扔进深水区</a:t>
            </a:r>
          </a:p>
        </p:txBody>
      </p:sp>
      <p:sp>
        <p:nvSpPr>
          <p:cNvPr id="28" name="TextBox 27"/>
          <p:cNvSpPr txBox="1"/>
          <p:nvPr/>
        </p:nvSpPr>
        <p:spPr>
          <a:xfrm>
            <a:off x="6675120" y="38785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was thrown in at the deep end.”</a:t>
            </a:r>
          </a:p>
        </p:txBody>
      </p:sp>
      <p:sp>
        <p:nvSpPr>
          <p:cNvPr id="29" name="Rounded Rectangle 28"/>
          <p:cNvSpPr/>
          <p:nvPr/>
        </p:nvSpPr>
        <p:spPr>
          <a:xfrm>
            <a:off x="548640" y="48412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8412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8869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impostor syndrome</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8869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冒名顶替综合征</a:t>
            </a:r>
          </a:p>
        </p:txBody>
      </p:sp>
      <p:sp>
        <p:nvSpPr>
          <p:cNvPr id="33" name="TextBox 32"/>
          <p:cNvSpPr txBox="1"/>
          <p:nvPr/>
        </p:nvSpPr>
        <p:spPr>
          <a:xfrm>
            <a:off x="6675120" y="48869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felt impostor syndrome.”</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Challenges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挑战</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manage former peers</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管理前同事</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“Managing former peers is hard.”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earn respect</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赢得尊重</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must earn their respect.”</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have a steep learning curve</a:t>
            </a:r>
          </a:p>
          <a:p>
            <a:pPr algn="l">
              <a:lnSpc>
                <a:spcPct val="115000"/>
              </a:lnSpc>
              <a:spcAft>
                <a:spcPts val="800"/>
              </a:spcAft>
            </a:pPr>
            <a:r>
              <a:rPr sz="1300" b="0">
                <a:solidFill>
                  <a:srgbClr val="5F677A"/>
                </a:solidFill>
                <a:latin typeface="Arial"/>
                <a:ea typeface="Microsoft YaHei"/>
              </a:rPr>
              <a:t>phrase</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学习曲线陡</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“Management has a steep learning curve.”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walk a fine line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小心拿捏分寸</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walk a fine line between friend and boss.”</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micromanage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微观管理</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micromanage your team.”</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Leading well</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领导有方</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delegate</a:t>
            </a:r>
          </a:p>
          <a:p>
            <a:pPr algn="l">
              <a:lnSpc>
                <a:spcPct val="115000"/>
              </a:lnSpc>
              <a:spcAft>
                <a:spcPts val="800"/>
              </a:spcAft>
            </a:pPr>
            <a:r>
              <a:rPr sz="1300" b="0">
                <a:solidFill>
                  <a:srgbClr val="5F677A"/>
                </a:solidFill>
                <a:latin typeface="Arial"/>
                <a:ea typeface="Microsoft YaHei"/>
              </a:rPr>
              <a:t>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授权</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“Learn to delegate.”</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give feedback</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给反馈</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“Give feedback regularly.”</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set expectations</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设定期望</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clear expectations.”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lead by example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以身作则</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leads by example.”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have someone’s back</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支持某人</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good manager has your back.”</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以身作则</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lead by example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冒名顶替综合征</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impostor syndrome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小心拿捏分寸</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walk a fine line</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新手管理者</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first-time manager</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设定期望</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set expectations</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支持某人</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have someone’s back</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授权</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管理前同事</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manage former peers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step</a:t>
            </a:r>
          </a:p>
        </p:txBody>
      </p:sp>
      <p:sp>
        <p:nvSpPr>
          <p:cNvPr id="10" name="Rounded Rectangle 9"/>
          <p:cNvSpPr/>
          <p:nvPr/>
        </p:nvSpPr>
        <p:spPr>
          <a:xfrm>
            <a:off x="2907792" y="987552"/>
            <a:ext cx="91440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peers</a:t>
            </a:r>
          </a:p>
        </p:txBody>
      </p:sp>
      <p:sp>
        <p:nvSpPr>
          <p:cNvPr id="11" name="Rounded Rectangle 10"/>
          <p:cNvSpPr/>
          <p:nvPr/>
        </p:nvSpPr>
        <p:spPr>
          <a:xfrm>
            <a:off x="3913632"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respect</a:t>
            </a:r>
          </a:p>
        </p:txBody>
      </p:sp>
      <p:sp>
        <p:nvSpPr>
          <p:cNvPr id="12" name="Rounded Rectangle 11"/>
          <p:cNvSpPr/>
          <p:nvPr/>
        </p:nvSpPr>
        <p:spPr>
          <a:xfrm>
            <a:off x="5138928"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delegate</a:t>
            </a:r>
          </a:p>
        </p:txBody>
      </p:sp>
      <p:sp>
        <p:nvSpPr>
          <p:cNvPr id="13" name="Rounded Rectangle 12"/>
          <p:cNvSpPr/>
          <p:nvPr/>
        </p:nvSpPr>
        <p:spPr>
          <a:xfrm>
            <a:off x="6473952" y="987552"/>
            <a:ext cx="1682495"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expectations</a:t>
            </a:r>
          </a:p>
        </p:txBody>
      </p:sp>
      <p:sp>
        <p:nvSpPr>
          <p:cNvPr id="14" name="Rounded Rectangle 13"/>
          <p:cNvSpPr/>
          <p:nvPr/>
        </p:nvSpPr>
        <p:spPr>
          <a:xfrm>
            <a:off x="8247887" y="987552"/>
            <a:ext cx="1133856"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example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She had to _______ into the manager role.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step</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Managing former _______ can be difficult.</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peers</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You must earn their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respect</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A new manager must learn to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delegate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Set clear _______ from the start.</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expectations</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She leads by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example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step up to / step into a role, earn respect, give feedback (不可数);peer 同级同事。</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Role Play · Talking to former peers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与前同事谈话</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announce you have become the team’s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New 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Talking to former peers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want to talk about my new role. I know it’s a change, and I’d like to be open about it.</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Honestly, it feels a bit strange.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does for me, too. I wasn’t sure I was ready, but I’ll do my best.</a:t>
            </a:r>
          </a:p>
        </p:txBody>
      </p:sp>
      <p:sp>
        <p:nvSpPr>
          <p:cNvPr id="17" name="Rounded Rectangle 16"/>
          <p:cNvSpPr/>
          <p:nvPr/>
        </p:nvSpPr>
        <p:spPr>
          <a:xfrm>
            <a:off x="10911535" y="365150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409041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65150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will change?</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Talking to former peers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need to give feedback and make some decisions. But I’ll still value your ideas.</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what do you need from us?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Honest input, and patience while I learn.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You’ll have my support.</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100" b="1">
                <a:solidFill>
                  <a:srgbClr val="1F2A44"/>
                </a:solidFill>
                <a:latin typeface="Arial"/>
                <a:ea typeface="Microsoft YaHei"/>
              </a:rPr>
              <a:t>🎯 Your Turn · Talking to former peers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address former peers.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Concern: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step into the role · be open · value your ideas · what do you need from us · patience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Acknowledge the change, set expectations and ask for input.</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Address a colleague who applied for the role.</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won’t change.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for feedback after a month.</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Learning to delegate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学会授权</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mentor coaches you.</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Mentor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New manager</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Learning to delegate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 look exhausted. How many tasks do you handle yourself?</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Most of them. I don’t want to ask my team for too much.</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a classic trap. Your job now is to get results through others.</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I can do it faster.</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Learning to delegate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Maybe, in the short term. Delegate one task this week, and explain what a good result looks like.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they make mistakes?</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Be available, but don’t micromanage. Mistakes are how people learn.</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try it.</a:t>
            </a:r>
          </a:p>
        </p:txBody>
      </p:sp>
    </p:spTree>
  </p:cSld>
  <p:clrMapOvr>
    <a:masterClrMapping/>
  </p:clrMapOvr>
  <p:transition spd="med">
    <p:fade/>
  </p:transition>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Learning to delegate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practise delegating.</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Mentor.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manager. Task: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delegate · get results through others · micromanage · what a good result looks like · be available</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Identify why it’s hard and agree on one task to delegate.</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trust.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check-in date.</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“I can do it faster”.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the best performer always become the manager?</a:t>
            </a:r>
          </a:p>
          <a:p>
            <a:pPr algn="l">
              <a:lnSpc>
                <a:spcPct val="115000"/>
              </a:lnSpc>
              <a:spcAft>
                <a:spcPts val="800"/>
              </a:spcAft>
            </a:pPr>
            <a:r>
              <a:rPr sz="1400" b="0">
                <a:solidFill>
                  <a:srgbClr val="5F677A"/>
                </a:solidFill>
                <a:latin typeface="Arial"/>
                <a:ea typeface="Microsoft YaHei"/>
              </a:rPr>
              <a:t>💬 “Not necessarily,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skills does a manager need that a specialist doesn’t?</a:t>
            </a:r>
          </a:p>
          <a:p>
            <a:pPr algn="l">
              <a:lnSpc>
                <a:spcPct val="115000"/>
              </a:lnSpc>
              <a:spcAft>
                <a:spcPts val="800"/>
              </a:spcAft>
            </a:pPr>
            <a:r>
              <a:rPr sz="1400" b="0">
                <a:solidFill>
                  <a:srgbClr val="5F677A"/>
                </a:solidFill>
                <a:latin typeface="Arial"/>
                <a:ea typeface="Microsoft YaHei"/>
              </a:rPr>
              <a:t>💬 “Skills like… and…”</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a manager earn respect?</a:t>
            </a:r>
          </a:p>
          <a:p>
            <a:pPr algn="l">
              <a:lnSpc>
                <a:spcPct val="115000"/>
              </a:lnSpc>
              <a:spcAft>
                <a:spcPts val="800"/>
              </a:spcAft>
            </a:pPr>
            <a:r>
              <a:rPr sz="1400" b="0">
                <a:solidFill>
                  <a:srgbClr val="5F677A"/>
                </a:solidFill>
                <a:latin typeface="Arial"/>
                <a:ea typeface="Microsoft YaHei"/>
              </a:rPr>
              <a:t>💬 “By… / They can…”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OK to manage friends?</a:t>
            </a:r>
          </a:p>
          <a:p>
            <a:pPr algn="l">
              <a:lnSpc>
                <a:spcPct val="115000"/>
              </a:lnSpc>
              <a:spcAft>
                <a:spcPts val="800"/>
              </a:spcAft>
            </a:pPr>
            <a:r>
              <a:rPr sz="1400" b="0">
                <a:solidFill>
                  <a:srgbClr val="5F677A"/>
                </a:solidFill>
                <a:latin typeface="Arial"/>
                <a:ea typeface="Microsoft YaHei"/>
              </a:rPr>
              <a:t>💬 “It can be, if…”</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would you do in your first week as a manager?</a:t>
            </a:r>
          </a:p>
          <a:p>
            <a:pPr algn="l">
              <a:lnSpc>
                <a:spcPct val="115000"/>
              </a:lnSpc>
              <a:spcAft>
                <a:spcPts val="800"/>
              </a:spcAft>
            </a:pPr>
            <a:r>
              <a:rPr sz="1400" b="0">
                <a:solidFill>
                  <a:srgbClr val="5F677A"/>
                </a:solidFill>
                <a:latin typeface="Arial"/>
                <a:ea typeface="Microsoft YaHei"/>
              </a:rPr>
              <a:t>💬 “I’d start by…”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Not necessarily. Being excellent at a job doesn’t mean you’ll be excellent at leading others. Management needs different skills: communication, delegation and conflict handling. A better approach is to train people before the promotion and offer a choice between a management path and a specialist path. That way, good specialists aren’t forced into roles they don’t want.</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“Not necessarily” 不一定;“forced into” 被迫进入。</a:t>
            </a:r>
          </a:p>
        </p:txBody>
      </p:sp>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instructions and delegating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下达指示与授权</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Direct</a:t>
                      </a:r>
                    </a:p>
                  </a:txBody>
                  <a:tcPr anchor="ctr">
                    <a:solidFill>
                      <a:srgbClr val="3CC49A"/>
                    </a:solidFill>
                  </a:tcPr>
                </a:tc>
                <a:tc>
                  <a:txBody>
                    <a:bodyPr wrap="square"/>
                    <a:lstStyle/>
                    <a:p>
                      <a:r>
                        <a:rPr sz="1600" b="1">
                          <a:solidFill>
                            <a:srgbClr val="FFFFFF"/>
                          </a:solidFill>
                          <a:latin typeface="Arial"/>
                          <a:ea typeface="Microsoft YaHei"/>
                        </a:rPr>
                        <a:t>Polite &amp; clear</a:t>
                      </a:r>
                    </a:p>
                  </a:txBody>
                  <a:tcPr anchor="ctr">
                    <a:solidFill>
                      <a:srgbClr val="3CC49A"/>
                    </a:solidFill>
                  </a:tcPr>
                </a:tc>
              </a:tr>
              <a:tr h="408432">
                <a:tc>
                  <a:txBody>
                    <a:bodyPr wrap="square"/>
                    <a:lstStyle/>
                    <a:p>
                      <a:r>
                        <a:rPr sz="1600" b="1">
                          <a:solidFill>
                            <a:srgbClr val="1F2A44"/>
                          </a:solidFill>
                          <a:latin typeface="Arial"/>
                          <a:ea typeface="Microsoft YaHei"/>
                        </a:rPr>
                        <a:t>Do this report.</a:t>
                      </a:r>
                    </a:p>
                  </a:txBody>
                  <a:tcPr anchor="ctr">
                    <a:solidFill>
                      <a:srgbClr val="FFFFFF"/>
                    </a:solidFill>
                  </a:tcPr>
                </a:tc>
                <a:tc>
                  <a:txBody>
                    <a:bodyPr wrap="square"/>
                    <a:lstStyle/>
                    <a:p>
                      <a:r>
                        <a:rPr sz="1600" b="0">
                          <a:solidFill>
                            <a:srgbClr val="1F2A44"/>
                          </a:solidFill>
                          <a:latin typeface="Arial"/>
                          <a:ea typeface="Microsoft YaHei"/>
                        </a:rPr>
                        <a:t>Could you take charge of this report?</a:t>
                      </a:r>
                    </a:p>
                  </a:txBody>
                  <a:tcPr anchor="ctr">
                    <a:solidFill>
                      <a:srgbClr val="FFFFFF"/>
                    </a:solidFill>
                  </a:tcPr>
                </a:tc>
              </a:tr>
              <a:tr h="408432">
                <a:tc>
                  <a:txBody>
                    <a:bodyPr wrap="square"/>
                    <a:lstStyle/>
                    <a:p>
                      <a:r>
                        <a:rPr sz="1600" b="1">
                          <a:solidFill>
                            <a:srgbClr val="1F2A44"/>
                          </a:solidFill>
                          <a:latin typeface="Arial"/>
                          <a:ea typeface="Microsoft YaHei"/>
                        </a:rPr>
                        <a:t>Finish it by Friday.</a:t>
                      </a:r>
                    </a:p>
                  </a:txBody>
                  <a:tcPr anchor="ctr">
                    <a:solidFill>
                      <a:srgbClr val="FFEFD9"/>
                    </a:solidFill>
                  </a:tcPr>
                </a:tc>
                <a:tc>
                  <a:txBody>
                    <a:bodyPr wrap="square"/>
                    <a:lstStyle/>
                    <a:p>
                      <a:r>
                        <a:rPr sz="1600" b="0">
                          <a:solidFill>
                            <a:srgbClr val="1F2A44"/>
                          </a:solidFill>
                          <a:latin typeface="Arial"/>
                          <a:ea typeface="Microsoft YaHei"/>
                        </a:rPr>
                        <a:t>I’d like you to have it ready by Friday.</a:t>
                      </a:r>
                    </a:p>
                  </a:txBody>
                  <a:tcPr anchor="ctr">
                    <a:solidFill>
                      <a:srgbClr val="FFEFD9"/>
                    </a:solidFill>
                  </a:tcPr>
                </a:tc>
              </a:tr>
              <a:tr h="408432">
                <a:tc>
                  <a:txBody>
                    <a:bodyPr wrap="square"/>
                    <a:lstStyle/>
                    <a:p>
                      <a:r>
                        <a:rPr sz="1600" b="1">
                          <a:solidFill>
                            <a:srgbClr val="1F2A44"/>
                          </a:solidFill>
                          <a:latin typeface="Arial"/>
                          <a:ea typeface="Microsoft YaHei"/>
                        </a:rPr>
                        <a:t>Don’t do it like that.</a:t>
                      </a:r>
                    </a:p>
                  </a:txBody>
                  <a:tcPr anchor="ctr">
                    <a:solidFill>
                      <a:srgbClr val="FFFFFF"/>
                    </a:solidFill>
                  </a:tcPr>
                </a:tc>
                <a:tc>
                  <a:txBody>
                    <a:bodyPr wrap="square"/>
                    <a:lstStyle/>
                    <a:p>
                      <a:r>
                        <a:rPr sz="1600" b="0">
                          <a:solidFill>
                            <a:srgbClr val="1F2A44"/>
                          </a:solidFill>
                          <a:latin typeface="Arial"/>
                          <a:ea typeface="Microsoft YaHei"/>
                        </a:rPr>
                        <a:t>Let’s try it another way. What do you think?</a:t>
                      </a:r>
                    </a:p>
                  </a:txBody>
                  <a:tcPr anchor="ctr">
                    <a:solidFill>
                      <a:srgbClr val="FFFFFF"/>
                    </a:solidFill>
                  </a:tcPr>
                </a:tc>
              </a:tr>
              <a:tr h="408432">
                <a:tc>
                  <a:txBody>
                    <a:bodyPr wrap="square"/>
                    <a:lstStyle/>
                    <a:p>
                      <a:r>
                        <a:rPr sz="1600" b="1">
                          <a:solidFill>
                            <a:srgbClr val="1F2A44"/>
                          </a:solidFill>
                          <a:latin typeface="Arial"/>
                          <a:ea typeface="Microsoft YaHei"/>
                        </a:rPr>
                        <a:t>I don’t have time.</a:t>
                      </a:r>
                    </a:p>
                  </a:txBody>
                  <a:tcPr anchor="ctr">
                    <a:solidFill>
                      <a:srgbClr val="FFEFD9"/>
                    </a:solidFill>
                  </a:tcPr>
                </a:tc>
                <a:tc>
                  <a:txBody>
                    <a:bodyPr wrap="square"/>
                    <a:lstStyle/>
                    <a:p>
                      <a:r>
                        <a:rPr sz="1600" b="0">
                          <a:solidFill>
                            <a:srgbClr val="1F2A44"/>
                          </a:solidFill>
                          <a:latin typeface="Arial"/>
                          <a:ea typeface="Microsoft YaHei"/>
                        </a:rPr>
                        <a:t>I’m tied up this week; can you take it on?</a:t>
                      </a:r>
                    </a:p>
                  </a:txBody>
                  <a:tcPr anchor="ctr">
                    <a:solidFill>
                      <a:srgbClr val="FFEFD9"/>
                    </a:solidFill>
                  </a:tcPr>
                </a:tc>
              </a:tr>
            </a:tbl>
          </a:graphicData>
        </a:graphic>
      </p:graphicFrame>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Giving instructions and delegating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下达指示与授权</a:t>
            </a:r>
          </a:p>
        </p:txBody>
      </p:sp>
      <p:sp>
        <p:nvSpPr>
          <p:cNvPr id="9" name="Rounded Rectangle 8"/>
          <p:cNvSpPr/>
          <p:nvPr/>
        </p:nvSpPr>
        <p:spPr>
          <a:xfrm>
            <a:off x="548640" y="1417320"/>
            <a:ext cx="11094415" cy="70103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70103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701039"/>
          </a:xfrm>
          <a:prstGeom prst="rect">
            <a:avLst/>
          </a:prstGeom>
          <a:noFill/>
        </p:spPr>
        <p:txBody>
          <a:bodyPr wrap="square" anchor="ctr">
            <a:spAutoFit/>
          </a:bodyPr>
          <a:lstStyle/>
          <a:p>
            <a:r>
              <a:rPr sz="1700" b="0">
                <a:solidFill>
                  <a:srgbClr val="1F2A44"/>
                </a:solidFill>
                <a:latin typeface="Arial"/>
                <a:ea typeface="Microsoft YaHei"/>
              </a:rPr>
              <a:t>Combine a clear outcome and a deadline with a polite structure: Could you… by…? / I’d like you to…</a:t>
            </a:r>
          </a:p>
        </p:txBody>
      </p:sp>
    </p:spTree>
  </p:cSld>
  <p:clrMapOvr>
    <a:masterClrMapping/>
  </p:clrMapOvr>
  <p:transition spd="med">
    <p:fade/>
  </p:transition>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become a manager last year.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became a manager last year.</a:t>
            </a:r>
          </a:p>
          <a:p>
            <a:pPr algn="l">
              <a:spcAft>
                <a:spcPts val="200"/>
              </a:spcAft>
            </a:pPr>
            <a:r>
              <a:rPr sz="1200" b="0">
                <a:solidFill>
                  <a:srgbClr val="FFFFFF"/>
                </a:solidFill>
                <a:latin typeface="Arial"/>
                <a:ea typeface="Microsoft YaHei"/>
              </a:rPr>
              <a:t>过去式</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not enough experienced.</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not experienced enough.</a:t>
            </a:r>
          </a:p>
          <a:p>
            <a:pPr algn="l">
              <a:spcAft>
                <a:spcPts val="200"/>
              </a:spcAft>
            </a:pPr>
            <a:r>
              <a:rPr sz="1200" b="0">
                <a:solidFill>
                  <a:srgbClr val="FFFFFF"/>
                </a:solidFill>
                <a:latin typeface="Arial"/>
                <a:ea typeface="Microsoft YaHei"/>
              </a:rPr>
              <a:t>enough 后置</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was promoted to be manager last year.</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was promoted to manager last year.</a:t>
            </a:r>
          </a:p>
          <a:p>
            <a:pPr algn="l">
              <a:spcAft>
                <a:spcPts val="200"/>
              </a:spcAft>
            </a:pPr>
            <a:r>
              <a:rPr sz="1200" b="0">
                <a:solidFill>
                  <a:srgbClr val="FFFFFF"/>
                </a:solidFill>
                <a:latin typeface="Arial"/>
                <a:ea typeface="Microsoft YaHei"/>
              </a:rPr>
              <a:t>promote to + 职位(无冠词)</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team respects me and listens me.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My team respects me and listens to me.</a:t>
            </a:r>
          </a:p>
          <a:p>
            <a:pPr algn="l">
              <a:spcAft>
                <a:spcPts val="200"/>
              </a:spcAft>
            </a:pPr>
            <a:r>
              <a:rPr sz="1200" b="0">
                <a:solidFill>
                  <a:srgbClr val="FFFFFF"/>
                </a:solidFill>
                <a:latin typeface="Arial"/>
                <a:ea typeface="Microsoft YaHei"/>
              </a:rPr>
              <a:t>listen to</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must to delegate.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must delegate.</a:t>
            </a:r>
          </a:p>
          <a:p>
            <a:pPr algn="l">
              <a:spcAft>
                <a:spcPts val="200"/>
              </a:spcAft>
            </a:pPr>
            <a:r>
              <a:rPr sz="1200" b="0">
                <a:solidFill>
                  <a:srgbClr val="FFFFFF"/>
                </a:solidFill>
                <a:latin typeface="Arial"/>
                <a:ea typeface="Microsoft YaHei"/>
              </a:rPr>
              <a:t>情态动词</a:t>
            </a:r>
          </a:p>
        </p:txBody>
      </p:sp>
      <p:sp>
        <p:nvSpPr>
          <p:cNvPr id="13" name="Rounded Rectangle 12"/>
          <p:cNvSpPr/>
          <p:nvPr/>
        </p:nvSpPr>
        <p:spPr>
          <a:xfrm>
            <a:off x="548640" y="2865118"/>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a good leader because he has a big experience.</a:t>
            </a:r>
          </a:p>
        </p:txBody>
      </p:sp>
      <p:sp>
        <p:nvSpPr>
          <p:cNvPr id="14" name="Rounded Rectangle 13"/>
          <p:cNvSpPr/>
          <p:nvPr/>
        </p:nvSpPr>
        <p:spPr>
          <a:xfrm>
            <a:off x="6187287" y="2865118"/>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…because he has a lot of experience.</a:t>
            </a:r>
          </a:p>
          <a:p>
            <a:pPr algn="l">
              <a:spcAft>
                <a:spcPts val="200"/>
              </a:spcAft>
            </a:pPr>
            <a:r>
              <a:rPr sz="1200" b="0">
                <a:solidFill>
                  <a:srgbClr val="FFFFFF"/>
                </a:solidFill>
                <a:latin typeface="Arial"/>
                <a:ea typeface="Microsoft YaHei"/>
              </a:rPr>
              <a:t>experience 不可数</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enough word order, listen to, past simple, and uncountable experience / advice.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Management is a new job, not a reward. Western companies often offer management training.</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Be honest about learning. Saying “I’m still learning this” earns trust.</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Be fair with former peers. Don’t favour friends.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Delegate with outcomes. Describe the result, not every step.</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46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becoming a manager and its challenges.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address former peers openly.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delegate using polite structures.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enough (after adjective) and listen to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46 Forced into management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Give a 60-second speech introducing yourself as a new manager.</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enough after adjective, listen to, past simple.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10 · Lesson 47 How to lead a successful global team</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31</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47</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4100" b="1">
                <a:solidFill>
                  <a:srgbClr val="FFFFFF"/>
                </a:solidFill>
                <a:latin typeface="Arial"/>
                <a:ea typeface="Microsoft YaHei"/>
              </a:rPr>
              <a:t>How to lead a successful global team</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如何领导成功的跨国团队</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leading a team across countries and cultures, running virtual meetings and building trust at a distance.</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worked with colleagues in another country?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cultural differences have you noticed at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deal with time zones?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makes global teamwork difficult?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do you build trust with someone you have never met?</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“global team” = 跨国团队;“time zone” = 时区。第 1 题现在完成时问经历。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Describe a multicultural team and how it works.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team</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the challenges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what works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advice</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Our team is spread across…   💬 One challenge is…   💬 What works for us is…   💬 I’d suggest…</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spread across” 分布于;“What works for us is…” 强调结构。</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Leading across borders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122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Leading a global team means managing differences in time zones, language and culture. Some cultures prefer direct feedback, while others consider it rude. In some, people speak up readily in meetings; in others, they wait to be invited. A good global leader notices these patterns without stereotyping individuals. Practical habits help. Rotate meeting times so the same people are not always working at midnight. Send an agenda in advance so non-native speakers can prepare. Summarise decisions in writing afterwards. Start meetings with a few minutes of personal conversation, because trust is harder to build without a coffee break. Finally, ask people how they prefer to work. Instead of guessing, a leader can create shared team rules, which all members help to write.</a:t>
            </a:r>
          </a:p>
        </p:txBody>
      </p:sp>
    </p:spTree>
  </p:cSld>
  <p:clrMapOvr>
    <a:masterClrMapping/>
  </p:clrMapOvr>
  <p:transition spd="med">
    <p:fade/>
  </p:transition>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Give two cultural differences mentioned.</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Direct vs indirect feedback; speaking up vs waiting to be invited.</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send an agenda in advance?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So non-native speakers can prepare.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does the writer suggest instead of guessing preferences?</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Ask people their preferences and create shared team rules together.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Global teams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跨国团队</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time zone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时区</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work across five time zones.”</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cross-cultural / intercultural</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跨文化的</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have cross-cultural training.”</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remote team</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远程团队</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manage a remote team.”</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follow the sun</a:t>
            </a:r>
          </a:p>
          <a:p>
            <a:pPr algn="l">
              <a:lnSpc>
                <a:spcPct val="115000"/>
              </a:lnSpc>
              <a:spcAft>
                <a:spcPts val="800"/>
              </a:spcAft>
            </a:pPr>
            <a:r>
              <a:rPr sz="1300" b="0">
                <a:solidFill>
                  <a:srgbClr val="5F677A"/>
                </a:solidFill>
                <a:latin typeface="Arial"/>
                <a:ea typeface="Microsoft YaHei"/>
              </a:rPr>
              <a:t>collocation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接力式工作</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follow the sun for support.”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lost in translation</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翻译中丢失原意</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jokes get lost in translation.”</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Communication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沟通</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direct vs indirect</a:t>
            </a:r>
          </a:p>
          <a:p>
            <a:pPr algn="l">
              <a:lnSpc>
                <a:spcPct val="115000"/>
              </a:lnSpc>
              <a:spcAft>
                <a:spcPts val="800"/>
              </a:spcAft>
            </a:pPr>
            <a:r>
              <a:rPr sz="1300" b="0">
                <a:solidFill>
                  <a:srgbClr val="5F677A"/>
                </a:solidFill>
                <a:latin typeface="Arial"/>
                <a:ea typeface="Microsoft YaHei"/>
              </a:rPr>
              <a:t>adjective</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直接/间接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“Some cultures are more indirect.”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clarify</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澄清</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“Please clarify what you mean.”</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read between the lines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领会言外之意</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 must read between the lines.”</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high-context / low-context</a:t>
            </a:r>
          </a:p>
          <a:p>
            <a:pPr algn="l">
              <a:lnSpc>
                <a:spcPct val="115000"/>
              </a:lnSpc>
              <a:spcAft>
                <a:spcPts val="800"/>
              </a:spcAft>
            </a:pPr>
            <a:r>
              <a:rPr sz="1300" b="0">
                <a:solidFill>
                  <a:srgbClr val="5F677A"/>
                </a:solidFill>
                <a:latin typeface="Arial"/>
                <a:ea typeface="Microsoft YaHei"/>
              </a:rPr>
              <a:t>adjective</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高语境/低语境</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“China is a high-context culture.”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speak up</a:t>
            </a:r>
          </a:p>
          <a:p>
            <a:pPr algn="l">
              <a:lnSpc>
                <a:spcPct val="115000"/>
              </a:lnSpc>
              <a:spcAft>
                <a:spcPts val="800"/>
              </a:spcAft>
            </a:pPr>
            <a:r>
              <a:rPr sz="1300" b="0">
                <a:solidFill>
                  <a:srgbClr val="5F677A"/>
                </a:solidFill>
                <a:latin typeface="Arial"/>
                <a:ea typeface="Microsoft YaHei"/>
              </a:rPr>
              <a:t>phrasal 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大胆发言</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“Encourage people to speak up.”</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Leading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领导</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build trust</a:t>
            </a:r>
          </a:p>
          <a:p>
            <a:pPr algn="l">
              <a:lnSpc>
                <a:spcPct val="115000"/>
              </a:lnSpc>
              <a:spcAft>
                <a:spcPts val="800"/>
              </a:spcAft>
            </a:pPr>
            <a:r>
              <a:rPr sz="1300" b="0">
                <a:solidFill>
                  <a:srgbClr val="5F677A"/>
                </a:solidFill>
                <a:latin typeface="Arial"/>
                <a:ea typeface="Microsoft YaHei"/>
              </a:rPr>
              <a:t>collocation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建立信任</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“Trust takes time to build.”</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rotate</a:t>
            </a:r>
          </a:p>
          <a:p>
            <a:pPr algn="l">
              <a:lnSpc>
                <a:spcPct val="115000"/>
              </a:lnSpc>
              <a:spcAft>
                <a:spcPts val="800"/>
              </a:spcAft>
            </a:pPr>
            <a:r>
              <a:rPr sz="1300" b="0">
                <a:solidFill>
                  <a:srgbClr val="5F677A"/>
                </a:solidFill>
                <a:latin typeface="Arial"/>
                <a:ea typeface="Microsoft YaHei"/>
              </a:rPr>
              <a:t>verb</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轮换</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rotate meeting times.”</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ground rules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基本规则</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“Set ground rules.”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accommodate</a:t>
            </a:r>
          </a:p>
          <a:p>
            <a:pPr algn="l">
              <a:lnSpc>
                <a:spcPct val="115000"/>
              </a:lnSpc>
              <a:spcAft>
                <a:spcPts val="800"/>
              </a:spcAft>
            </a:pPr>
            <a:r>
              <a:rPr sz="1300" b="0">
                <a:solidFill>
                  <a:srgbClr val="5F677A"/>
                </a:solidFill>
                <a:latin typeface="Arial"/>
                <a:ea typeface="Microsoft YaHei"/>
              </a:rPr>
              <a:t>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迁就/照顾</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try to accommodate everyone.”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bridge the gap</a:t>
            </a:r>
          </a:p>
          <a:p>
            <a:pPr algn="l">
              <a:lnSpc>
                <a:spcPct val="115000"/>
              </a:lnSpc>
              <a:spcAft>
                <a:spcPts val="800"/>
              </a:spcAft>
            </a:pPr>
            <a:r>
              <a:rPr sz="1300" b="0">
                <a:solidFill>
                  <a:srgbClr val="5F677A"/>
                </a:solidFill>
                <a:latin typeface="Arial"/>
                <a:ea typeface="Microsoft YaHei"/>
              </a:rPr>
              <a:t>collocation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弥合差距</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“A leader bridges the gap.”</a:t>
            </a:r>
          </a:p>
        </p:txBody>
      </p:sp>
    </p:spTree>
  </p:cSld>
  <p:clrMapOvr>
    <a:masterClrMapping/>
  </p:clrMapOvr>
  <p:transition spd="med">
    <p:fade/>
  </p:transition>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时区</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time zone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迁就/照顾</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accommodate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领会言外之意</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read between the lines</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远程团队</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remote team</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高语境/低语境</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high-context / low-context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轮换</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rotate</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翻译中丢失原意</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lost in translation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跨文化的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cross-cultural / intercultural</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zones</a:t>
            </a:r>
          </a:p>
        </p:txBody>
      </p:sp>
      <p:sp>
        <p:nvSpPr>
          <p:cNvPr id="10" name="Rounded Rectangle 9"/>
          <p:cNvSpPr/>
          <p:nvPr/>
        </p:nvSpPr>
        <p:spPr>
          <a:xfrm>
            <a:off x="3017520" y="987552"/>
            <a:ext cx="1024128"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remote</a:t>
            </a:r>
          </a:p>
        </p:txBody>
      </p:sp>
      <p:sp>
        <p:nvSpPr>
          <p:cNvPr id="11" name="Rounded Rectangle 10"/>
          <p:cNvSpPr/>
          <p:nvPr/>
        </p:nvSpPr>
        <p:spPr>
          <a:xfrm>
            <a:off x="4133088" y="987552"/>
            <a:ext cx="1133856"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clarify</a:t>
            </a:r>
          </a:p>
        </p:txBody>
      </p:sp>
      <p:sp>
        <p:nvSpPr>
          <p:cNvPr id="12" name="Rounded Rectangle 11"/>
          <p:cNvSpPr/>
          <p:nvPr/>
        </p:nvSpPr>
        <p:spPr>
          <a:xfrm>
            <a:off x="5358384" y="987552"/>
            <a:ext cx="914400"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lines</a:t>
            </a:r>
          </a:p>
        </p:txBody>
      </p:sp>
      <p:sp>
        <p:nvSpPr>
          <p:cNvPr id="13" name="Rounded Rectangle 12"/>
          <p:cNvSpPr/>
          <p:nvPr/>
        </p:nvSpPr>
        <p:spPr>
          <a:xfrm>
            <a:off x="6364224" y="987552"/>
            <a:ext cx="914400"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trust</a:t>
            </a:r>
          </a:p>
        </p:txBody>
      </p:sp>
      <p:sp>
        <p:nvSpPr>
          <p:cNvPr id="14" name="Rounded Rectangle 13"/>
          <p:cNvSpPr/>
          <p:nvPr/>
        </p:nvSpPr>
        <p:spPr>
          <a:xfrm>
            <a:off x="7370064" y="987552"/>
            <a:ext cx="1024128"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ground</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We work across five time _______.</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zones</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I manage a _______ team.</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remote</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Please _______ what you mean.</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clarify</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You must read between the _______.</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lines</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Trust takes time to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build</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Set _______ rules at the start.</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ground</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across time zones, build trust, in a different time zone;intercultural 可连写。</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Planning a global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安排跨国会议</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schedule a team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Team leader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 (in another country)</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Planning a global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find a time that works for everyone.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eight hours ahead of you, so evenings are difficult.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Could we rotate it, so that no one always takes the late slot?</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be fair.</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send the agenda in advance.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Great. It helps me prepare in English.</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I’ll send a written summary afterwards.</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that makes it easier.</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Planning a global meeting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plan a meeting across time zones.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Leader.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Remote member. Time zone: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time zone · rotate · agenda in advance · written summary · works for everyone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Find a fair time and agree on support.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Propose alternating schedules.</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how people like to communicate.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an overlap problem.</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Handling a cultural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处理文化误会</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team member did not speak up.</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Leader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Team member</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Handling a cultural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noticed you didn’t say much in the meeting. Is everything OK?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had a concern, but I didn’t want to interrupt.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appreciate that. In this team, we encourage people to speak up.</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In my country, we usually wait to be asked.</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understand. I’ll invite you by name next time.</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would help.</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And you can send me a message if you prefer.</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for understanding.</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Handling a cultural misunderstanding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bridge a cultural gap.</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Leader.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Team member. Situation: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speak up · I understand · wait to be asked · invite you · prefer</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Listen without judging and agree on a practical solution.</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Don’t stereotype.</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Create a team norm together.</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Follow up after a week.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biggest challenge of leading a global team?</a:t>
            </a:r>
          </a:p>
          <a:p>
            <a:pPr algn="l">
              <a:lnSpc>
                <a:spcPct val="115000"/>
              </a:lnSpc>
              <a:spcAft>
                <a:spcPts val="800"/>
              </a:spcAft>
            </a:pPr>
            <a:r>
              <a:rPr sz="1400" b="0">
                <a:solidFill>
                  <a:srgbClr val="5F677A"/>
                </a:solidFill>
                <a:latin typeface="Arial"/>
                <a:ea typeface="Microsoft YaHei"/>
              </a:rPr>
              <a:t>💬 “I’d say it’s…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avoid misunderstandings?</a:t>
            </a:r>
          </a:p>
          <a:p>
            <a:pPr algn="l">
              <a:lnSpc>
                <a:spcPct val="115000"/>
              </a:lnSpc>
              <a:spcAft>
                <a:spcPts val="800"/>
              </a:spcAft>
            </a:pPr>
            <a:r>
              <a:rPr sz="1400" b="0">
                <a:solidFill>
                  <a:srgbClr val="5F677A"/>
                </a:solidFill>
                <a:latin typeface="Arial"/>
                <a:ea typeface="Microsoft YaHei"/>
              </a:rPr>
              <a:t>💬 “By… / It helps to…”</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cultural stereotypes help or hurt?</a:t>
            </a:r>
          </a:p>
          <a:p>
            <a:pPr algn="l">
              <a:lnSpc>
                <a:spcPct val="115000"/>
              </a:lnSpc>
              <a:spcAft>
                <a:spcPts val="800"/>
              </a:spcAft>
            </a:pPr>
            <a:r>
              <a:rPr sz="1400" b="0">
                <a:solidFill>
                  <a:srgbClr val="5F677A"/>
                </a:solidFill>
                <a:latin typeface="Arial"/>
                <a:ea typeface="Microsoft YaHei"/>
              </a:rPr>
              <a:t>💬 “They may help a little,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build trust remotely?</a:t>
            </a:r>
          </a:p>
          <a:p>
            <a:pPr algn="l">
              <a:lnSpc>
                <a:spcPct val="115000"/>
              </a:lnSpc>
              <a:spcAft>
                <a:spcPts val="800"/>
              </a:spcAft>
            </a:pPr>
            <a:r>
              <a:rPr sz="1400" b="0">
                <a:solidFill>
                  <a:srgbClr val="5F677A"/>
                </a:solidFill>
                <a:latin typeface="Arial"/>
                <a:ea typeface="Microsoft YaHei"/>
              </a:rPr>
              <a:t>💬 “By… / I try to…”</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cultural difference have you seen?</a:t>
            </a:r>
          </a:p>
          <a:p>
            <a:pPr algn="l">
              <a:lnSpc>
                <a:spcPct val="115000"/>
              </a:lnSpc>
              <a:spcAft>
                <a:spcPts val="800"/>
              </a:spcAft>
            </a:pPr>
            <a:r>
              <a:rPr sz="1400" b="0">
                <a:solidFill>
                  <a:srgbClr val="5F677A"/>
                </a:solidFill>
                <a:latin typeface="Arial"/>
                <a:ea typeface="Microsoft YaHei"/>
              </a:rPr>
              <a:t>💬 “I’ve noticed that…”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try to be reliable and to keep small promises, like replying on time and doing what I said I would. I also share a bit about myself and ask about others. In remote teams, trust grows through consistent behaviour more than big gestures. A short video call to check in can help too, because we see each other’s expressions.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“keep promises” 守信;“consistent behaviour” 一致的行为。</a:t>
            </a:r>
          </a:p>
        </p:txBody>
      </p:sp>
    </p:spTree>
  </p:cSld>
  <p:clrMapOvr>
    <a:masterClrMapping/>
  </p:clrMapOvr>
  <p:transition spd="med">
    <p:fade/>
  </p:transition>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Hedging about culture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谈文化时缓和语气</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Too general</a:t>
                      </a:r>
                    </a:p>
                  </a:txBody>
                  <a:tcPr anchor="ctr">
                    <a:solidFill>
                      <a:srgbClr val="3CC49A"/>
                    </a:solidFill>
                  </a:tcPr>
                </a:tc>
                <a:tc>
                  <a:txBody>
                    <a:bodyPr wrap="square"/>
                    <a:lstStyle/>
                    <a:p>
                      <a:r>
                        <a:rPr sz="1600" b="1">
                          <a:solidFill>
                            <a:srgbClr val="FFFFFF"/>
                          </a:solidFill>
                          <a:latin typeface="Arial"/>
                          <a:ea typeface="Microsoft YaHei"/>
                        </a:rPr>
                        <a:t>More careful</a:t>
                      </a:r>
                    </a:p>
                  </a:txBody>
                  <a:tcPr anchor="ctr">
                    <a:solidFill>
                      <a:srgbClr val="3CC49A"/>
                    </a:solidFill>
                  </a:tcPr>
                </a:tc>
              </a:tr>
              <a:tr h="408432">
                <a:tc>
                  <a:txBody>
                    <a:bodyPr wrap="square"/>
                    <a:lstStyle/>
                    <a:p>
                      <a:r>
                        <a:rPr sz="1600" b="1">
                          <a:solidFill>
                            <a:srgbClr val="1F2A44"/>
                          </a:solidFill>
                          <a:latin typeface="Arial"/>
                          <a:ea typeface="Microsoft YaHei"/>
                        </a:rPr>
                        <a:t>Americans are direct.</a:t>
                      </a:r>
                    </a:p>
                  </a:txBody>
                  <a:tcPr anchor="ctr">
                    <a:solidFill>
                      <a:srgbClr val="FFFFFF"/>
                    </a:solidFill>
                  </a:tcPr>
                </a:tc>
                <a:tc>
                  <a:txBody>
                    <a:bodyPr wrap="square"/>
                    <a:lstStyle/>
                    <a:p>
                      <a:r>
                        <a:rPr sz="1600" b="0">
                          <a:solidFill>
                            <a:srgbClr val="1F2A44"/>
                          </a:solidFill>
                          <a:latin typeface="Arial"/>
                          <a:ea typeface="Microsoft YaHei"/>
                        </a:rPr>
                        <a:t>Many Americans tend to be direct.</a:t>
                      </a:r>
                    </a:p>
                  </a:txBody>
                  <a:tcPr anchor="ctr">
                    <a:solidFill>
                      <a:srgbClr val="FFFFFF"/>
                    </a:solidFill>
                  </a:tcPr>
                </a:tc>
              </a:tr>
              <a:tr h="408432">
                <a:tc>
                  <a:txBody>
                    <a:bodyPr wrap="square"/>
                    <a:lstStyle/>
                    <a:p>
                      <a:r>
                        <a:rPr sz="1600" b="1">
                          <a:solidFill>
                            <a:srgbClr val="1F2A44"/>
                          </a:solidFill>
                          <a:latin typeface="Arial"/>
                          <a:ea typeface="Microsoft YaHei"/>
                        </a:rPr>
                        <a:t>Chinese people are shy.</a:t>
                      </a:r>
                    </a:p>
                  </a:txBody>
                  <a:tcPr anchor="ctr">
                    <a:solidFill>
                      <a:srgbClr val="FFEFD9"/>
                    </a:solidFill>
                  </a:tcPr>
                </a:tc>
                <a:tc>
                  <a:txBody>
                    <a:bodyPr wrap="square"/>
                    <a:lstStyle/>
                    <a:p>
                      <a:r>
                        <a:rPr sz="1600" b="0">
                          <a:solidFill>
                            <a:srgbClr val="1F2A44"/>
                          </a:solidFill>
                          <a:latin typeface="Arial"/>
                          <a:ea typeface="Microsoft YaHei"/>
                        </a:rPr>
                        <a:t>Some people may find it hard to speak up.</a:t>
                      </a:r>
                    </a:p>
                  </a:txBody>
                  <a:tcPr anchor="ctr">
                    <a:solidFill>
                      <a:srgbClr val="FFEFD9"/>
                    </a:solidFill>
                  </a:tcPr>
                </a:tc>
              </a:tr>
              <a:tr h="408432">
                <a:tc>
                  <a:txBody>
                    <a:bodyPr wrap="square"/>
                    <a:lstStyle/>
                    <a:p>
                      <a:r>
                        <a:rPr sz="1600" b="1">
                          <a:solidFill>
                            <a:srgbClr val="1F2A44"/>
                          </a:solidFill>
                          <a:latin typeface="Arial"/>
                          <a:ea typeface="Microsoft YaHei"/>
                        </a:rPr>
                        <a:t>This culture is rude.</a:t>
                      </a:r>
                    </a:p>
                  </a:txBody>
                  <a:tcPr anchor="ctr">
                    <a:solidFill>
                      <a:srgbClr val="FFFFFF"/>
                    </a:solidFill>
                  </a:tcPr>
                </a:tc>
                <a:tc>
                  <a:txBody>
                    <a:bodyPr wrap="square"/>
                    <a:lstStyle/>
                    <a:p>
                      <a:r>
                        <a:rPr sz="1600" b="0">
                          <a:solidFill>
                            <a:srgbClr val="1F2A44"/>
                          </a:solidFill>
                          <a:latin typeface="Arial"/>
                          <a:ea typeface="Microsoft YaHei"/>
                        </a:rPr>
                        <a:t>This is a different norm from mine.</a:t>
                      </a:r>
                    </a:p>
                  </a:txBody>
                  <a:tcPr anchor="ctr">
                    <a:solidFill>
                      <a:srgbClr val="FFFFFF"/>
                    </a:solidFill>
                  </a:tcPr>
                </a:tc>
              </a:tr>
              <a:tr h="408432">
                <a:tc>
                  <a:txBody>
                    <a:bodyPr wrap="square"/>
                    <a:lstStyle/>
                    <a:p>
                      <a:r>
                        <a:rPr sz="1600" b="1">
                          <a:solidFill>
                            <a:srgbClr val="1F2A44"/>
                          </a:solidFill>
                          <a:latin typeface="Arial"/>
                          <a:ea typeface="Microsoft YaHei"/>
                        </a:rPr>
                        <a:t>They don’t understand.</a:t>
                      </a:r>
                    </a:p>
                  </a:txBody>
                  <a:tcPr anchor="ctr">
                    <a:solidFill>
                      <a:srgbClr val="FFEFD9"/>
                    </a:solidFill>
                  </a:tcPr>
                </a:tc>
                <a:tc>
                  <a:txBody>
                    <a:bodyPr wrap="square"/>
                    <a:lstStyle/>
                    <a:p>
                      <a:r>
                        <a:rPr sz="1600" b="0">
                          <a:solidFill>
                            <a:srgbClr val="1F2A44"/>
                          </a:solidFill>
                          <a:latin typeface="Arial"/>
                          <a:ea typeface="Microsoft YaHei"/>
                        </a:rPr>
                        <a:t>There may be a misunderstanding.</a:t>
                      </a:r>
                    </a:p>
                  </a:txBody>
                  <a:tcPr anchor="ctr">
                    <a:solidFill>
                      <a:srgbClr val="FFEFD9"/>
                    </a:solidFill>
                  </a:tcPr>
                </a:tc>
              </a:tr>
            </a:tbl>
          </a:graphicData>
        </a:graphic>
      </p:graphicFrame>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Hedging about culture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谈文化时缓和语气</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tend to, may, some, many to avoid generalising and stereotyping.</a:t>
            </a:r>
          </a:p>
        </p:txBody>
      </p:sp>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have a meeting in the 9 o’clock.</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have a meeting at 9 o’clock.</a:t>
            </a:r>
          </a:p>
          <a:p>
            <a:pPr algn="l">
              <a:spcAft>
                <a:spcPts val="200"/>
              </a:spcAft>
            </a:pPr>
            <a:r>
              <a:rPr sz="1200" b="0">
                <a:solidFill>
                  <a:srgbClr val="FFFFFF"/>
                </a:solidFill>
                <a:latin typeface="Arial"/>
                <a:ea typeface="Microsoft YaHei"/>
              </a:rPr>
              <a:t>at</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lives in a different time zone with me.</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lives in a different time zone from me.</a:t>
            </a:r>
          </a:p>
          <a:p>
            <a:pPr algn="l">
              <a:spcAft>
                <a:spcPts val="200"/>
              </a:spcAft>
            </a:pPr>
            <a:r>
              <a:rPr sz="1200" b="0">
                <a:solidFill>
                  <a:srgbClr val="FFFFFF"/>
                </a:solidFill>
                <a:latin typeface="Arial"/>
                <a:ea typeface="Microsoft YaHei"/>
              </a:rPr>
              <a:t>different from</a:t>
            </a:r>
          </a:p>
        </p:txBody>
      </p:sp>
      <p:sp>
        <p:nvSpPr>
          <p:cNvPr id="13" name="Rounded Rectangle 12"/>
          <p:cNvSpPr/>
          <p:nvPr/>
        </p:nvSpPr>
        <p:spPr>
          <a:xfrm>
            <a:off x="548640" y="2865118"/>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working with the people from different cultures.</a:t>
            </a:r>
          </a:p>
        </p:txBody>
      </p:sp>
      <p:sp>
        <p:nvSpPr>
          <p:cNvPr id="14" name="Rounded Rectangle 13"/>
          <p:cNvSpPr/>
          <p:nvPr/>
        </p:nvSpPr>
        <p:spPr>
          <a:xfrm>
            <a:off x="6187287" y="2865118"/>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work with people from different cultures.</a:t>
            </a:r>
          </a:p>
          <a:p>
            <a:pPr algn="l">
              <a:spcAft>
                <a:spcPts val="200"/>
              </a:spcAft>
            </a:pPr>
            <a:r>
              <a:rPr sz="1200" b="0">
                <a:solidFill>
                  <a:srgbClr val="FFFFFF"/>
                </a:solidFill>
                <a:latin typeface="Arial"/>
                <a:ea typeface="Microsoft YaHei"/>
              </a:rPr>
              <a:t>无冠词/时态</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agree with her.</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agree with her.</a:t>
            </a:r>
          </a:p>
          <a:p>
            <a:pPr algn="l">
              <a:spcAft>
                <a:spcPts val="200"/>
              </a:spcAft>
            </a:pPr>
            <a:r>
              <a:rPr sz="1200" b="0">
                <a:solidFill>
                  <a:srgbClr val="FFFFFF"/>
                </a:solidFill>
                <a:latin typeface="Arial"/>
                <a:ea typeface="Microsoft YaHei"/>
              </a:rPr>
              <a:t>agree 动词</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discuss about the plan.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discuss the plan.</a:t>
            </a:r>
          </a:p>
          <a:p>
            <a:pPr algn="l">
              <a:spcAft>
                <a:spcPts val="200"/>
              </a:spcAft>
            </a:pPr>
            <a:r>
              <a:rPr sz="1200" b="0">
                <a:solidFill>
                  <a:srgbClr val="FFFFFF"/>
                </a:solidFill>
                <a:latin typeface="Arial"/>
                <a:ea typeface="Microsoft YaHei"/>
              </a:rPr>
              <a:t>discuss</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meeting will be hold at 8.</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meeting will be held at 8.</a:t>
            </a:r>
          </a:p>
          <a:p>
            <a:pPr algn="l">
              <a:spcAft>
                <a:spcPts val="200"/>
              </a:spcAft>
            </a:pPr>
            <a:r>
              <a:rPr sz="1200" b="0">
                <a:solidFill>
                  <a:srgbClr val="FFFFFF"/>
                </a:solidFill>
                <a:latin typeface="Arial"/>
                <a:ea typeface="Microsoft YaHei"/>
              </a:rPr>
              <a:t>被动 be held</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at 9 o’clock, different from, agree (no ‘am’), held.</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Know your own style. Direct style is not “better”; it is a preference.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Check understanding. “Can you say it in your own words?” is polite.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Public holidays. Check local holidays before planning deadlines.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Use simple English. Avoid idioms with non-native speakers when clarity matters.</a:t>
            </a:r>
          </a:p>
        </p:txBody>
      </p:sp>
    </p:spTree>
  </p:cSld>
  <p:clrMapOvr>
    <a:masterClrMapping/>
  </p:clrMapOvr>
  <p:transition spd="med">
    <p:fade/>
  </p:transition>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47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describe a global team and its challenges.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plan an inclusive meeting.</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cultural differences without stereotyping.</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at/on/in with time and different from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47 How to lead a successful global team</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Describe your team’s way of working to a new member.</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at/in/on, different from, discuss + object.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10 · Lesson 48 The Halo effect</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56</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48</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The Halo effect</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光环效应</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explain the halo effect, give examples in hiring, performance reviews and marketing, and suggest how to avoid it.</a:t>
            </a:r>
          </a:p>
        </p:txBody>
      </p:sp>
      <p:sp>
        <p:nvSpPr>
          <p:cNvPr id="10" name="Rounded Rectangle 9"/>
          <p:cNvSpPr/>
          <p:nvPr/>
        </p:nvSpPr>
        <p:spPr>
          <a:xfrm>
            <a:off x="822960"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Have you ever judged someone by their appearance?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first impressions matter at work?</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one good quality make us overrate a person?</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brands use this effect?</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can managers be fairer in reviews?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“halo effect” = 光环效应:因某一突出特点而高估整体。第 1 题现在完成时。</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the halo effect to a colleague with an example.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what it is</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example</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problem</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how to reduce it</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The halo effect is when…   💬 For example, …   💬 The problem is that…   💬 To avoid it, we can…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“when” 引导定义;“To avoid it, we can + 动词原形”。</a:t>
            </a:r>
          </a:p>
        </p:txBody>
      </p:sp>
    </p:spTree>
  </p:cSld>
  <p:clrMapOvr>
    <a:masterClrMapping/>
  </p:clrMapOvr>
  <p:transition spd="med">
    <p:fade/>
  </p:transition>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Reading · When one quality shines too bright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127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The halo effect is a bias in which one positive trait influences our overall judgement. A confident, attractive candidate may seem more intelligent or reliable than another person with the same record. A manager who admires an employee’s presentation skills may rate that person highly in all areas. Brands use the effect too: if a company makes one successful product, customers often assume that its other products are excellent. The opposite is sometimes called the “horn effect”, where one negative detail spoils the whole picture. These shortcuts happen quickly and often without awareness. Organisations can reduce them by scoring each skill separately, using the same questions for every candidate, and asking a second person to review ratings. Leaders should also ask themselves: what facts support my opinion?</a:t>
            </a:r>
          </a:p>
        </p:txBody>
      </p:sp>
    </p:spTree>
  </p:cSld>
  <p:clrMapOvr>
    <a:masterClrMapping/>
  </p:clrMapOvr>
  <p:transition spd="med">
    <p:fade/>
  </p:transition>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is the halo effect?</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One positive trait influences overall judgement.</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“horn effect”?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One negative detail spoils the whole picture.</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Name one way to reduce the effect.</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Score skills separately, use the same questions, or ask a second person to review.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Halo effect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光环效应</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the halo effect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光环效应</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halo effect affects ratings.”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overall impression</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整体印象</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“His overall impression was positive.”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jump to conclusions</a:t>
            </a:r>
          </a:p>
          <a:p>
            <a:pPr algn="l">
              <a:lnSpc>
                <a:spcPct val="115000"/>
              </a:lnSpc>
              <a:spcAft>
                <a:spcPts val="800"/>
              </a:spcAft>
            </a:pPr>
            <a:r>
              <a:rPr sz="1300" b="0">
                <a:solidFill>
                  <a:srgbClr val="5F677A"/>
                </a:solidFill>
                <a:latin typeface="Arial"/>
                <a:ea typeface="Microsoft YaHei"/>
              </a:rPr>
              <a:t>idiom</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草率下结论</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jump to conclusions.”</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horn effect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负面光环/魔鬼效应</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horn effect makes one flaw look huge.”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cognitive bias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认知偏差</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“It’s a common cognitive bias.”</a:t>
            </a:r>
          </a:p>
        </p:txBody>
      </p:sp>
    </p:spTree>
  </p:cSld>
  <p:clrMapOvr>
    <a:masterClrMapping/>
  </p:clrMapOvr>
  <p:transition spd="med">
    <p:fade/>
  </p:transition>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Judging fairly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公平判断</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rate / rating</a:t>
            </a:r>
          </a:p>
          <a:p>
            <a:pPr algn="l">
              <a:lnSpc>
                <a:spcPct val="115000"/>
              </a:lnSpc>
              <a:spcAft>
                <a:spcPts val="800"/>
              </a:spcAft>
            </a:pPr>
            <a:r>
              <a:rPr sz="1300" b="0">
                <a:solidFill>
                  <a:srgbClr val="5F677A"/>
                </a:solidFill>
                <a:latin typeface="Arial"/>
                <a:ea typeface="Microsoft YaHei"/>
              </a:rPr>
              <a:t>verb/noun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评分</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“Rate each skill separately.”</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objective</a:t>
            </a:r>
          </a:p>
          <a:p>
            <a:pPr algn="l">
              <a:lnSpc>
                <a:spcPct val="115000"/>
              </a:lnSpc>
              <a:spcAft>
                <a:spcPts val="800"/>
              </a:spcAft>
            </a:pPr>
            <a:r>
              <a:rPr sz="1300" b="0">
                <a:solidFill>
                  <a:srgbClr val="5F677A"/>
                </a:solidFill>
                <a:latin typeface="Arial"/>
                <a:ea typeface="Microsoft YaHei"/>
              </a:rPr>
              <a:t>adjective</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客观的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“Try to be objective.”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evidence-based</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基于证据的</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evidence-based reviews.”</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take (something) at face value</a:t>
            </a:r>
          </a:p>
          <a:p>
            <a:pPr algn="l">
              <a:lnSpc>
                <a:spcPct val="115000"/>
              </a:lnSpc>
              <a:spcAft>
                <a:spcPts val="800"/>
              </a:spcAft>
            </a:pPr>
            <a:r>
              <a:rPr sz="1300" b="0">
                <a:solidFill>
                  <a:srgbClr val="5F677A"/>
                </a:solidFill>
                <a:latin typeface="Arial"/>
                <a:ea typeface="Microsoft YaHei"/>
              </a:rPr>
              <a:t>idiom</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只看表面</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“Don’t take it at face value.”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calibrate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校准</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“Managers calibrate ratings together.”</a:t>
            </a:r>
          </a:p>
        </p:txBody>
      </p:sp>
    </p:spTree>
  </p:cSld>
  <p:clrMapOvr>
    <a:masterClrMapping/>
  </p:clrMapOvr>
  <p:transition spd="med">
    <p:fade/>
  </p:transition>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Brands and reputation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品牌与声誉</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brand reputation</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品牌声誉</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“Brand reputation drives sales.”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trust the brand</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信任品牌</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“People trust the brand.”</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trade on (a reputation)</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利用声誉</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trade on their name.”</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a flagship product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旗舰产品</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flagship product sells well.”</a:t>
            </a:r>
          </a:p>
        </p:txBody>
      </p:sp>
      <p:sp>
        <p:nvSpPr>
          <p:cNvPr id="29" name="Rounded Rectangle 28"/>
          <p:cNvSpPr/>
          <p:nvPr/>
        </p:nvSpPr>
        <p:spPr>
          <a:xfrm>
            <a:off x="548640" y="453644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bask in reflected glory</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58216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借他人光环</a:t>
            </a:r>
          </a:p>
        </p:txBody>
      </p:sp>
      <p:sp>
        <p:nvSpPr>
          <p:cNvPr id="33" name="TextBox 32"/>
          <p:cNvSpPr txBox="1"/>
          <p:nvPr/>
        </p:nvSpPr>
        <p:spPr>
          <a:xfrm>
            <a:off x="6675120" y="458216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basked in reflected glory.”</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校准</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calibrate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只看表面</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(something) at face value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整体印象</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overall impression</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基于证据的</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evidence-based</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负面光环/魔鬼效应</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horn effect</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信任品牌</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trust the brand</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利用声誉</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 on (a reputation)</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品牌声誉</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brand reputation</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halo</a:t>
            </a:r>
          </a:p>
        </p:txBody>
      </p:sp>
      <p:sp>
        <p:nvSpPr>
          <p:cNvPr id="10" name="Rounded Rectangle 9"/>
          <p:cNvSpPr/>
          <p:nvPr/>
        </p:nvSpPr>
        <p:spPr>
          <a:xfrm>
            <a:off x="2907792" y="987552"/>
            <a:ext cx="1463040"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impression</a:t>
            </a:r>
          </a:p>
        </p:txBody>
      </p:sp>
      <p:sp>
        <p:nvSpPr>
          <p:cNvPr id="11" name="Rounded Rectangle 10"/>
          <p:cNvSpPr/>
          <p:nvPr/>
        </p:nvSpPr>
        <p:spPr>
          <a:xfrm>
            <a:off x="4462272" y="987552"/>
            <a:ext cx="1572767"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conclusions</a:t>
            </a:r>
          </a:p>
        </p:txBody>
      </p:sp>
      <p:sp>
        <p:nvSpPr>
          <p:cNvPr id="12" name="Rounded Rectangle 11"/>
          <p:cNvSpPr/>
          <p:nvPr/>
        </p:nvSpPr>
        <p:spPr>
          <a:xfrm>
            <a:off x="6126479" y="987552"/>
            <a:ext cx="1353312"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objective</a:t>
            </a:r>
          </a:p>
        </p:txBody>
      </p:sp>
      <p:sp>
        <p:nvSpPr>
          <p:cNvPr id="13" name="Rounded Rectangle 12"/>
          <p:cNvSpPr/>
          <p:nvPr/>
        </p:nvSpPr>
        <p:spPr>
          <a:xfrm>
            <a:off x="7571231"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rating</a:t>
            </a:r>
          </a:p>
        </p:txBody>
      </p:sp>
      <p:sp>
        <p:nvSpPr>
          <p:cNvPr id="14" name="Rounded Rectangle 13"/>
          <p:cNvSpPr/>
          <p:nvPr/>
        </p:nvSpPr>
        <p:spPr>
          <a:xfrm>
            <a:off x="8686799" y="987552"/>
            <a:ext cx="80467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bias</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The _______ effect can affect performance reviews.</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halo</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His overall _______ of her was positive.</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impression</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Don’t jump to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conclusions</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Try to be _______ when you judge people.</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objective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Give each skill a separate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rating</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It’s a common cognitive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bias</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(词性) objective(形容词/名词)、objectively(副词);conclusion 拼写;jump to conclusions 复数。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Role Play · Spotting the halo effect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发现光环效应</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review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HR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700" b="1">
                <a:solidFill>
                  <a:srgbClr val="1F2A44"/>
                </a:solidFill>
                <a:latin typeface="Arial"/>
                <a:ea typeface="Microsoft YaHei"/>
              </a:rPr>
              <a:t>🎭 Model Dialogue · Spotting the halo effect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You’ve rated Jake five out of five in everything. Is that right?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He’s great at presentations, and he’s very confident.</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But his reports have been late three times.</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You’re right. I may be influenced by his presentation skills.</a:t>
            </a:r>
          </a:p>
        </p:txBody>
      </p:sp>
    </p:spTree>
  </p:cSld>
  <p:clrMapOvr>
    <a:masterClrMapping/>
  </p:clrMapOvr>
  <p:transition spd="med">
    <p:fade/>
  </p:transition>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Model Dialogue · Spotting the halo effect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 sounds like the halo effect. Could we rate each skill separately?</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I’d also like to see the evidence for each rating.</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Let’s calibrate with another manager.</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OK. Thanks for pointing it out.</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Your Turn · Spotting the halo effect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point out a possible bias.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 Person rated: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the halo effect · influenced by · rate separately · evidence · calibrate</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the concern tactfully and agree a fairer method.</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Use “I wonder if…”</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 data point.</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Suggest a second reviewer.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Explaining the effect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向同事解释光环效应</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casual conversation.</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You</a:t>
            </a:r>
          </a:p>
        </p:txBody>
      </p:sp>
    </p:spTree>
  </p:cSld>
  <p:clrMapOvr>
    <a:masterClrMapping/>
  </p:clrMapOvr>
  <p:transition spd="med">
    <p:fade/>
  </p:transition>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the effect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always trust products from that brand. Why is that?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 might be the halo effect. One great product makes you assume all of them are good.</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Isn’t that logical?</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always. A strong brand doesn’t guarantee every product is strong.</a:t>
            </a:r>
          </a:p>
        </p:txBody>
      </p:sp>
    </p:spTree>
  </p:cSld>
  <p:clrMapOvr>
    <a:masterClrMapping/>
  </p:clrMapOvr>
  <p:transition spd="med">
    <p:fade/>
  </p:transition>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the effect to a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So how can I avoid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Look at the details, read independent reviews and don’t take the name at face value.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Good tip. And does it work for people too?</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which is why we should be careful in interviews.</a:t>
            </a:r>
          </a:p>
        </p:txBody>
      </p:sp>
    </p:spTree>
  </p:cSld>
  <p:clrMapOvr>
    <a:masterClrMapping/>
  </p:clrMapOvr>
  <p:transition spd="med">
    <p:fade/>
  </p:transition>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Explaining the effect to a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the halo effect.</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Curious 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Explainer. Example: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halo effect · assume · at face value · independent reviews · be careful</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Define it, give an example and suggest how to avoid it.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Contrast with the horn effect.</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Give an example from your workplace.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Discuss how marketing uses it.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Have you experienced the halo effect?</a:t>
            </a:r>
          </a:p>
          <a:p>
            <a:pPr algn="l">
              <a:lnSpc>
                <a:spcPct val="115000"/>
              </a:lnSpc>
              <a:spcAft>
                <a:spcPts val="800"/>
              </a:spcAft>
            </a:pPr>
            <a:r>
              <a:rPr sz="1400" b="0">
                <a:solidFill>
                  <a:srgbClr val="5F677A"/>
                </a:solidFill>
                <a:latin typeface="Arial"/>
                <a:ea typeface="Microsoft YaHei"/>
              </a:rPr>
              <a:t>💬 “I think I have, when…”</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good-looking people get an advantage at work?</a:t>
            </a:r>
          </a:p>
          <a:p>
            <a:pPr algn="l">
              <a:lnSpc>
                <a:spcPct val="115000"/>
              </a:lnSpc>
              <a:spcAft>
                <a:spcPts val="800"/>
              </a:spcAft>
            </a:pPr>
            <a:r>
              <a:rPr sz="1400" b="0">
                <a:solidFill>
                  <a:srgbClr val="5F677A"/>
                </a:solidFill>
                <a:latin typeface="Arial"/>
                <a:ea typeface="Microsoft YaHei"/>
              </a:rPr>
              <a:t>💬 “Research suggests… but…”</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brands benefit from the halo effect?</a:t>
            </a:r>
          </a:p>
          <a:p>
            <a:pPr algn="l">
              <a:lnSpc>
                <a:spcPct val="115000"/>
              </a:lnSpc>
              <a:spcAft>
                <a:spcPts val="800"/>
              </a:spcAft>
            </a:pPr>
            <a:r>
              <a:rPr sz="1400" b="0">
                <a:solidFill>
                  <a:srgbClr val="5F677A"/>
                </a:solidFill>
                <a:latin typeface="Arial"/>
                <a:ea typeface="Microsoft YaHei"/>
              </a:rPr>
              <a:t>💬 “They can… / By…”</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you be fairer in a review?</a:t>
            </a:r>
          </a:p>
          <a:p>
            <a:pPr algn="l">
              <a:lnSpc>
                <a:spcPct val="115000"/>
              </a:lnSpc>
              <a:spcAft>
                <a:spcPts val="800"/>
              </a:spcAft>
            </a:pPr>
            <a:r>
              <a:rPr sz="1400" b="0">
                <a:solidFill>
                  <a:srgbClr val="5F677A"/>
                </a:solidFill>
                <a:latin typeface="Arial"/>
                <a:ea typeface="Microsoft YaHei"/>
              </a:rPr>
              <a:t>💬 “I’d rate… separately / I’d use…”</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Is it possible to be completely objective?</a:t>
            </a:r>
          </a:p>
          <a:p>
            <a:pPr algn="l">
              <a:lnSpc>
                <a:spcPct val="115000"/>
              </a:lnSpc>
              <a:spcAft>
                <a:spcPts val="800"/>
              </a:spcAft>
            </a:pPr>
            <a:r>
              <a:rPr sz="1400" b="0">
                <a:solidFill>
                  <a:srgbClr val="5F677A"/>
                </a:solidFill>
                <a:latin typeface="Arial"/>
                <a:ea typeface="Microsoft YaHei"/>
              </a:rPr>
              <a:t>💬 “Probably not, but…”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4)</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To be fairer in a review, I’d start with a checklist of skills and rate each one separately, with an example. I’d also review my notes from the whole year, not just recent events. Finally, I’d ask a colleague to check my ratings. This can reduce the effect of any single impression.</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“recent events” 近期事件(近因效应);“check my ratings” 复核评分。</a:t>
            </a:r>
          </a:p>
        </p:txBody>
      </p:sp>
    </p:spTree>
  </p:cSld>
  <p:clrMapOvr>
    <a:masterClrMapping/>
  </p:clrMapOvr>
  <p:transition spd="med">
    <p:fade/>
  </p:transition>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Explaining causes and effects of bias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解释偏见的原因和影响</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Structure</a:t>
                      </a:r>
                    </a:p>
                  </a:txBody>
                  <a:tcPr anchor="ctr">
                    <a:solidFill>
                      <a:srgbClr val="3CC49A"/>
                    </a:solidFill>
                  </a:tcPr>
                </a:tc>
                <a:tc>
                  <a:txBody>
                    <a:bodyPr wrap="square"/>
                    <a:lstStyle/>
                    <a:p>
                      <a:r>
                        <a:rPr sz="1600" b="1">
                          <a:solidFill>
                            <a:srgbClr val="FFFFFF"/>
                          </a:solidFill>
                          <a:latin typeface="Arial"/>
                          <a:ea typeface="Microsoft YaHei"/>
                        </a:rPr>
                        <a:t>Example</a:t>
                      </a:r>
                    </a:p>
                  </a:txBody>
                  <a:tcPr anchor="ctr">
                    <a:solidFill>
                      <a:srgbClr val="3CC49A"/>
                    </a:solidFill>
                  </a:tcPr>
                </a:tc>
              </a:tr>
              <a:tr h="408432">
                <a:tc>
                  <a:txBody>
                    <a:bodyPr wrap="square"/>
                    <a:lstStyle/>
                    <a:p>
                      <a:r>
                        <a:rPr sz="1600" b="1">
                          <a:solidFill>
                            <a:srgbClr val="1F2A44"/>
                          </a:solidFill>
                          <a:latin typeface="Arial"/>
                          <a:ea typeface="Microsoft YaHei"/>
                        </a:rPr>
                        <a:t>cause → effect</a:t>
                      </a:r>
                    </a:p>
                  </a:txBody>
                  <a:tcPr anchor="ctr">
                    <a:solidFill>
                      <a:srgbClr val="FFFFFF"/>
                    </a:solidFill>
                  </a:tcPr>
                </a:tc>
                <a:tc>
                  <a:txBody>
                    <a:bodyPr wrap="square"/>
                    <a:lstStyle/>
                    <a:p>
                      <a:r>
                        <a:rPr sz="1600" b="0">
                          <a:solidFill>
                            <a:srgbClr val="1F2A44"/>
                          </a:solidFill>
                          <a:latin typeface="Arial"/>
                          <a:ea typeface="Microsoft YaHei"/>
                        </a:rPr>
                        <a:t>One trait influences overall judgement.</a:t>
                      </a:r>
                    </a:p>
                  </a:txBody>
                  <a:tcPr anchor="ctr">
                    <a:solidFill>
                      <a:srgbClr val="FFFFFF"/>
                    </a:solidFill>
                  </a:tcPr>
                </a:tc>
              </a:tr>
              <a:tr h="408432">
                <a:tc>
                  <a:txBody>
                    <a:bodyPr wrap="square"/>
                    <a:lstStyle/>
                    <a:p>
                      <a:r>
                        <a:rPr sz="1600" b="1">
                          <a:solidFill>
                            <a:srgbClr val="1F2A44"/>
                          </a:solidFill>
                          <a:latin typeface="Arial"/>
                          <a:ea typeface="Microsoft YaHei"/>
                        </a:rPr>
                        <a:t>lead to / result in</a:t>
                      </a:r>
                    </a:p>
                  </a:txBody>
                  <a:tcPr anchor="ctr">
                    <a:solidFill>
                      <a:srgbClr val="FFEFD9"/>
                    </a:solidFill>
                  </a:tcPr>
                </a:tc>
                <a:tc>
                  <a:txBody>
                    <a:bodyPr wrap="square"/>
                    <a:lstStyle/>
                    <a:p>
                      <a:r>
                        <a:rPr sz="1600" b="0">
                          <a:solidFill>
                            <a:srgbClr val="1F2A44"/>
                          </a:solidFill>
                          <a:latin typeface="Arial"/>
                          <a:ea typeface="Microsoft YaHei"/>
                        </a:rPr>
                        <a:t>Bias can lead to unfair ratings.</a:t>
                      </a:r>
                    </a:p>
                  </a:txBody>
                  <a:tcPr anchor="ctr">
                    <a:solidFill>
                      <a:srgbClr val="FFEFD9"/>
                    </a:solidFill>
                  </a:tcPr>
                </a:tc>
              </a:tr>
              <a:tr h="408432">
                <a:tc>
                  <a:txBody>
                    <a:bodyPr wrap="square"/>
                    <a:lstStyle/>
                    <a:p>
                      <a:r>
                        <a:rPr sz="1600" b="1">
                          <a:solidFill>
                            <a:srgbClr val="1F2A44"/>
                          </a:solidFill>
                          <a:latin typeface="Arial"/>
                          <a:ea typeface="Microsoft YaHei"/>
                        </a:rPr>
                        <a:t>tend to + verb</a:t>
                      </a:r>
                    </a:p>
                  </a:txBody>
                  <a:tcPr anchor="ctr">
                    <a:solidFill>
                      <a:srgbClr val="FFFFFF"/>
                    </a:solidFill>
                  </a:tcPr>
                </a:tc>
                <a:tc>
                  <a:txBody>
                    <a:bodyPr wrap="square"/>
                    <a:lstStyle/>
                    <a:p>
                      <a:r>
                        <a:rPr sz="1600" b="0">
                          <a:solidFill>
                            <a:srgbClr val="1F2A44"/>
                          </a:solidFill>
                          <a:latin typeface="Arial"/>
                          <a:ea typeface="Microsoft YaHei"/>
                        </a:rPr>
                        <a:t>We tend to like people who are like us.</a:t>
                      </a:r>
                    </a:p>
                  </a:txBody>
                  <a:tcPr anchor="ctr">
                    <a:solidFill>
                      <a:srgbClr val="FFFFFF"/>
                    </a:solidFill>
                  </a:tcPr>
                </a:tc>
              </a:tr>
              <a:tr h="408432">
                <a:tc>
                  <a:txBody>
                    <a:bodyPr wrap="square"/>
                    <a:lstStyle/>
                    <a:p>
                      <a:r>
                        <a:rPr sz="1600" b="1">
                          <a:solidFill>
                            <a:srgbClr val="1F2A44"/>
                          </a:solidFill>
                          <a:latin typeface="Arial"/>
                          <a:ea typeface="Microsoft YaHei"/>
                        </a:rPr>
                        <a:t>may be influenced by</a:t>
                      </a:r>
                    </a:p>
                  </a:txBody>
                  <a:tcPr anchor="ctr">
                    <a:solidFill>
                      <a:srgbClr val="FFEFD9"/>
                    </a:solidFill>
                  </a:tcPr>
                </a:tc>
                <a:tc>
                  <a:txBody>
                    <a:bodyPr wrap="square"/>
                    <a:lstStyle/>
                    <a:p>
                      <a:r>
                        <a:rPr sz="1600" b="0">
                          <a:solidFill>
                            <a:srgbClr val="1F2A44"/>
                          </a:solidFill>
                          <a:latin typeface="Arial"/>
                          <a:ea typeface="Microsoft YaHei"/>
                        </a:rPr>
                        <a:t>I may be influenced by his confidence.</a:t>
                      </a:r>
                    </a:p>
                  </a:txBody>
                  <a:tcPr anchor="ctr">
                    <a:solidFill>
                      <a:srgbClr val="FFEFD9"/>
                    </a:solidFill>
                  </a:tcPr>
                </a:tc>
              </a:tr>
            </a:tbl>
          </a:graphicData>
        </a:graphic>
      </p:graphicFrame>
    </p:spTree>
  </p:cSld>
  <p:clrMapOvr>
    <a:masterClrMapping/>
  </p:clrMapOvr>
  <p:transition spd="med">
    <p:fade/>
  </p:transition>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Explaining causes and effects of bias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解释偏见的原因和影响</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1">
                <a:solidFill>
                  <a:srgbClr val="FF6B5B"/>
                </a:solidFill>
                <a:latin typeface="Arial"/>
                <a:ea typeface="Microsoft YaHei"/>
              </a:rPr>
              <a:t>Express your own possible bias with modals: </a:t>
            </a:r>
            <a:r>
              <a:rPr sz="1700" b="0">
                <a:solidFill>
                  <a:srgbClr val="1F2A44"/>
                </a:solidFill>
                <a:latin typeface="Arial"/>
                <a:ea typeface="Microsoft YaHei"/>
              </a:rPr>
              <a:t>I may be influenced by… — this shows self-awareness.</a:t>
            </a:r>
          </a:p>
        </p:txBody>
      </p:sp>
    </p:spTree>
  </p:cSld>
  <p:clrMapOvr>
    <a:masterClrMapping/>
  </p:clrMapOvr>
  <p:transition spd="med">
    <p:fade/>
  </p:transition>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Halo effect is a bias.</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halo effect is a bias.</a:t>
            </a:r>
          </a:p>
          <a:p>
            <a:pPr algn="l">
              <a:spcAft>
                <a:spcPts val="200"/>
              </a:spcAft>
            </a:pPr>
            <a:r>
              <a:rPr sz="1200" b="0">
                <a:solidFill>
                  <a:srgbClr val="FFFFFF"/>
                </a:solidFill>
                <a:latin typeface="Arial"/>
                <a:ea typeface="Microsoft YaHei"/>
              </a:rPr>
              <a:t>the</a:t>
            </a:r>
          </a:p>
        </p:txBody>
      </p:sp>
      <p:sp>
        <p:nvSpPr>
          <p:cNvPr id="11" name="Rounded Rectangle 10"/>
          <p:cNvSpPr/>
          <p:nvPr/>
        </p:nvSpPr>
        <p:spPr>
          <a:xfrm>
            <a:off x="548640" y="2164079"/>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very beautiful, so he is clever.</a:t>
            </a:r>
          </a:p>
        </p:txBody>
      </p:sp>
      <p:sp>
        <p:nvSpPr>
          <p:cNvPr id="12" name="Rounded Rectangle 11"/>
          <p:cNvSpPr/>
          <p:nvPr/>
        </p:nvSpPr>
        <p:spPr>
          <a:xfrm>
            <a:off x="6187287" y="2164079"/>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very attractive, so people assume he is clever.</a:t>
            </a:r>
          </a:p>
          <a:p>
            <a:pPr algn="l">
              <a:spcAft>
                <a:spcPts val="200"/>
              </a:spcAft>
            </a:pPr>
            <a:r>
              <a:rPr sz="1200" b="0">
                <a:solidFill>
                  <a:srgbClr val="FFFFFF"/>
                </a:solidFill>
                <a:latin typeface="Arial"/>
                <a:ea typeface="Microsoft YaHei"/>
              </a:rPr>
              <a:t>assume</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should not judge from appearance.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should not judge by appearance.</a:t>
            </a:r>
          </a:p>
          <a:p>
            <a:pPr algn="l">
              <a:spcAft>
                <a:spcPts val="200"/>
              </a:spcAft>
            </a:pPr>
            <a:r>
              <a:rPr sz="1200" b="0">
                <a:solidFill>
                  <a:srgbClr val="FFFFFF"/>
                </a:solidFill>
                <a:latin typeface="Arial"/>
                <a:ea typeface="Microsoft YaHei"/>
              </a:rPr>
              <a:t>by appearance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It makes me to think he is good.</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makes me think he is good.</a:t>
            </a:r>
          </a:p>
          <a:p>
            <a:pPr algn="l">
              <a:spcAft>
                <a:spcPts val="200"/>
              </a:spcAft>
            </a:pPr>
            <a:r>
              <a:rPr sz="1200" b="0">
                <a:solidFill>
                  <a:srgbClr val="FFFFFF"/>
                </a:solidFill>
                <a:latin typeface="Arial"/>
                <a:ea typeface="Microsoft YaHei"/>
              </a:rPr>
              <a:t>make + 宾语 + 动词原形</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influenced from his opinion.</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influenced by his opinion.</a:t>
            </a:r>
          </a:p>
          <a:p>
            <a:pPr algn="l">
              <a:spcAft>
                <a:spcPts val="200"/>
              </a:spcAft>
            </a:pPr>
            <a:r>
              <a:rPr sz="1200" b="0">
                <a:solidFill>
                  <a:srgbClr val="FFFFFF"/>
                </a:solidFill>
                <a:latin typeface="Arial"/>
                <a:ea typeface="Microsoft YaHei"/>
              </a:rPr>
              <a:t>by</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reviews are objectively.</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reviews are objective.</a:t>
            </a:r>
          </a:p>
          <a:p>
            <a:pPr algn="l">
              <a:spcAft>
                <a:spcPts val="200"/>
              </a:spcAft>
            </a:pPr>
            <a:r>
              <a:rPr sz="1200" b="0">
                <a:solidFill>
                  <a:srgbClr val="FFFFFF"/>
                </a:solidFill>
                <a:latin typeface="Arial"/>
                <a:ea typeface="Microsoft YaHei"/>
              </a:rPr>
              <a:t>形容词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the halo effect, judge by, influenced by, make + base verb.</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Calibration meetings. Managers compare ratings to reduce bias.</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360 feedback. Many firms collect feedback from several people.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Avoid commenting on appearance. It’s inappropriate in most Western workplaces.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Use specific examples. “She met every deadline” beats “she is great”.</a:t>
            </a:r>
          </a:p>
        </p:txBody>
      </p:sp>
    </p:spTree>
  </p:cSld>
  <p:clrMapOvr>
    <a:masterClrMapping/>
  </p:clrMapOvr>
  <p:transition spd="med">
    <p:fade/>
  </p:transition>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48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the halo effect with an example.</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point out a possible bias tactfully.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suggest ways to reduce bias in reviews.</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the halo effect, judge by, influenced by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 · Lesson 48 The Halo effect</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the halo effect in 60 seconds with a real example.</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the halo effect, judge by, influenced by, make + base.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8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84</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草率下结论</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jump to conclusions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87</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8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冒名顶替综合征</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impostor syndrome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impostor syndrome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felt impostor syndrome.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90</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It makes me to think he is good.</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It makes me think he is good.</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the halo effect</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The halo effect affects ratings.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跨文化的</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cross-cultural / intercultural</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10</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“赢得尊重”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earn respect</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“被直接扔进深水区”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thrown in at the deep end</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“弥合差距”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bridge the gap</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The reviews are objectively.</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reviews are objective.</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We have a meeting in the 9 o’clock.</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We have a meeting at 9 o’clock.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10</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95</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10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