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Mid-to-Advanced Level 9-10</a:t>
            </a:r>
          </a:p>
          <a:p>
            <a:r>
              <a:t>Unit 2: Business Communication and Workplace Expression — Self-Study Workbook (Lessons 10–14)</a:t>
            </a:r>
          </a:p>
          <a:p/>
          <a:p>
            <a:r>
              <a:t>开场：简单介绍本单元的主题和要完成的 5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10 · Telephone Messages 电话留言</a:t>
            </a:r>
          </a:p>
          <a:p>
            <a:r>
              <a:t>Goal: take, leave and pass on telephone and voicemail messages clearly: spell names, repeat numbers, check details and sound polite.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3 题讲过去的经历,用过去式。第 5 题可以用 “I usually repeat it back…”。voicemail = 语音信箱留言。</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Leave a 30-second voicemail for a client asking them to call you back.</a:t>
            </a:r>
          </a:p>
          <a:p>
            <a:r>
              <a:t>Say: who you are → why you are calling → when you are available → your number, slowly</a:t>
            </a:r>
          </a:p>
          <a:p>
            <a:r>
              <a:t>Useful starters: “Hello, this is… from…” / “I’m calling about…” / “Could you give me a call back on…?”</a:t>
            </a:r>
          </a:p>
          <a:p>
            <a:r>
              <a:t>留言要短:姓名、公司、事由、回电时间、号码(慢读两遍)。号码按小组读,例如 0-2-1, 5-5-5, 0-1-4-2。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good phone message is short, clear and complete. Most voicemails that fail do so because they leave out something important, or because the caller speaks too fast. Think of four facts and a number. First, say who you are and which company you represent. Second, say why you are calling in one sentence. Third, say when you are available for a call back. Fourth, if you need a particular action, say what it is, such as confirming a delivery time. Then give your phone number slowly, in groups, and repeat it at the end. When you take a message for someone else, write the caller’s name, company, number and request, and read it back to check. If you aren’t sure about a spelling, ask politely: “Could you spell that for me, please?” A minute of care here saves a lot of confusion later.</a:t>
            </a:r>
          </a:p>
          <a:p>
            <a:r>
              <a:t>call back / callback 回电。”leave out” = 遗漏。”in groups” = 分组念数字。read it back = 复述核对。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the “four facts” a good voicemail should include?</a:t>
            </a:r>
          </a:p>
          <a:p>
            <a:r>
              <a:t>A: Who you are and your company, why you are calling, when you are available, and any action you need.</a:t>
            </a:r>
          </a:p>
          <a:p>
            <a:r>
              <a:t>Q2. How should you give your phone number?</a:t>
            </a:r>
          </a:p>
          <a:p>
            <a:r>
              <a:t>A: Slowly, in groups, and repeat it at the end.</a:t>
            </a:r>
          </a:p>
          <a:p>
            <a:r>
              <a:t>Q3. What should you do when you take a message for someone else?</a:t>
            </a:r>
          </a:p>
          <a:p>
            <a:r>
              <a:t>A: Write down the name, company, number and request, and read it back to check.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Messages and calls 电话与留言</a:t>
            </a:r>
          </a:p>
          <a:p>
            <a:r>
              <a:t>领读 → 学员跟读 → 请学员用表达造一个和自己工作相关的句子。</a:t>
            </a:r>
          </a:p>
          <a:p>
            <a:r>
              <a:t>leave / take a message (collocation) 留言 / 代接留言 — “Can I take a message for Ms Lin?”</a:t>
            </a:r>
          </a:p>
          <a:p>
            <a:r>
              <a:t>call back / return a call (phrasal verb) 回电话 — “I’ll ask her to call you back this afternoon.”</a:t>
            </a:r>
          </a:p>
          <a:p>
            <a:r>
              <a:t>voicemail (noun) 语音留言 — “I left you a voicemail about the delivery.”</a:t>
            </a:r>
          </a:p>
          <a:p>
            <a:r>
              <a:t>hold the line (phrase) 请稍等(不要挂断) — “Could you hold the line, please? I’ll check.”</a:t>
            </a:r>
          </a:p>
          <a:p>
            <a:r>
              <a:t>put someone through (phrasal verb) 转接电话 — “I’ll put you through to the sales department.”</a:t>
            </a:r>
          </a:p>
          <a:p>
            <a:r>
              <a:t>be in a meeting / tied up (phrase) 在开会 / 走不开 — “I’m afraid he’s tied up until 3 pm.”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Sounding natural and clear ★ 自然而清晰</a:t>
            </a:r>
          </a:p>
          <a:p>
            <a:r>
              <a:t>领读 → 学员跟读 → 请学员用表达造一个和自己工作相关的句子。</a:t>
            </a:r>
          </a:p>
          <a:p>
            <a:r>
              <a:t>★ get back to someone (phrasal verb) 回复某人 — “I’ll get back to you by the end of the day.”</a:t>
            </a:r>
          </a:p>
          <a:p>
            <a:r>
              <a:t>★ reach someone / get hold of someone (collocation) 联系上某人 — “I’ve been trying to get hold of Mr Davis all morning.”</a:t>
            </a:r>
          </a:p>
          <a:p>
            <a:r>
              <a:t>★ bad line / break up (phrase) 信号不好 / 断断续续 — “Sorry, you’re breaking up. Could you say that again?”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Sounding natural and clear ★ 自然而清晰</a:t>
            </a:r>
          </a:p>
          <a:p>
            <a:r>
              <a:t>领读 → 学员跟读 → 请学员用表达造一个和自己工作相关的句子。</a:t>
            </a:r>
          </a:p>
          <a:p>
            <a:r>
              <a:t>★ pass on a message (phrasal verb) 转达信息 — “I’ll make sure I pass on your message.”</a:t>
            </a:r>
          </a:p>
          <a:p>
            <a:r>
              <a:t>★ it’s regarding / it’s about (phrase) 事由是… — “It’s regarding the invoice we sent last week.”</a:t>
            </a:r>
          </a:p>
          <a:p>
            <a:r>
              <a:t>★ Could you spell that for me? (polite request) 请您拼写一下 — “Could you spell that for me, please? I want to make sure I get it right.”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message / put / hold / get back / breaking up / pass on</a:t>
            </a:r>
          </a:p>
          <a:p>
            <a:r>
              <a:t>1. Can I take a _______ for Ms Lin? → message</a:t>
            </a:r>
          </a:p>
          <a:p>
            <a:r>
              <a:t>2. I’ll _______ you through to the sales department. → put</a:t>
            </a:r>
          </a:p>
          <a:p>
            <a:r>
              <a:t>3. Could you _______ the line, please? I’ll check. → hold</a:t>
            </a:r>
          </a:p>
          <a:p>
            <a:r>
              <a:t>4. I’ll _______ to you by the end of the day. → get back</a:t>
            </a:r>
          </a:p>
          <a:p>
            <a:r>
              <a:t>5. Sorry, you’re _______. Could you say that again? → breaking up</a:t>
            </a:r>
          </a:p>
          <a:p>
            <a:r>
              <a:t>6. I’ll make sure I _______ your message to Mr Davis. → pass on</a:t>
            </a:r>
          </a:p>
          <a:p>
            <a:r>
              <a:t>Mistake Watch (拼写与读法): Spell out names with clear examples: “M as in Mike, N as in November”. Breaking up = connection problems, not “broken up” (which means ended a relationship). Voicemail is one word.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Taking a message for a colleague 为同事代接电话留言</a:t>
            </a:r>
          </a:p>
          <a:p>
            <a:r>
              <a:t>情景：A client, Mr Davis, phones for your colleague, Ms Lin, who is in a meeting. You take the message.</a:t>
            </a:r>
          </a:p>
          <a:p>
            <a:r>
              <a:t>Role A: Alex Chen, receptionist (you) Role B: Paul Davis,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(Alex): Good afternoon, Greenfield Systems, Alex speaking. How can I help you?</a:t>
            </a:r>
          </a:p>
          <a:p>
            <a:r>
              <a:t>B (Paul): Hello, this is Paul Davis from Harper Foods. Could I speak to Ms Lin, please?</a:t>
            </a:r>
          </a:p>
          <a:p>
            <a:r>
              <a:t>A: I’m afraid she’s tied up in a meeting until three. Can I take a message?</a:t>
            </a:r>
          </a:p>
          <a:p>
            <a:r>
              <a:t>B: Yes, please. It’s regarding the order we placed last week. I’d like to know when it will be delivered.</a:t>
            </a:r>
          </a:p>
          <a:p>
            <a:r>
              <a:t>A: Certainly. Could you spell your surname for me, please?</a:t>
            </a:r>
          </a:p>
          <a:p>
            <a:r>
              <a:t>B: D-A-V-I-S. Davis, like the actor.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Thank you, Mr Davis. And your number?</a:t>
            </a:r>
          </a:p>
          <a:p>
            <a:r>
              <a:t>B: It’s 0-2-0, 7-9-4-6, 0-3-1-8.</a:t>
            </a:r>
          </a:p>
          <a:p>
            <a:r>
              <a:t>A: Let me read that back: 0-2-0, 7-9-4-6, 0-3-1-8. Is that right?</a:t>
            </a:r>
          </a:p>
          <a:p>
            <a:r>
              <a:t>B: That’s right. Could she call me back before five?</a:t>
            </a:r>
          </a:p>
          <a:p>
            <a:r>
              <a:t>A: Of course. I’ll pass on your message and ask her to get back to you this afternoon.</a:t>
            </a:r>
          </a:p>
          <a:p>
            <a:r>
              <a:t>B: Great, thank you for your help. Goodbye.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10 | </a:t>
            </a:r>
          </a:p>
          <a:p>
            <a:r>
              <a:t>Situation | You take a phone message for a colleague.</a:t>
            </a:r>
          </a:p>
          <a:p>
            <a:r>
              <a:t>Your role (A) | Receptionist. Your company and name: ______________</a:t>
            </a:r>
          </a:p>
          <a:p>
            <a:r>
              <a:t>Partner’s role (B) | Caller. Name, company and reason for calling: ______________</a:t>
            </a:r>
          </a:p>
          <a:p>
            <a:r>
              <a:t>Must use (4 or more) | take a message · spell · read back · get back to · tied up · pass on</a:t>
            </a:r>
          </a:p>
          <a:p>
            <a:r>
              <a:t>Goal | Get the name, number, reason and best time for a call back, and read them back.</a:t>
            </a:r>
          </a:p>
          <a:p>
            <a:r>
              <a:t>My notes | ____________________________________________</a:t>
            </a:r>
          </a:p>
          <a:p>
            <a:r>
              <a:t>The line is bad. Ask the caller to repeat: “Sorry, you’re breaking up. Could you say that again?” Check each number twice.</a:t>
            </a:r>
          </a:p>
          <a:p>
            <a:r>
              <a:t>The caller is annoyed: “This is the third time I’ve called!” Apologise sincerely and promise a specific action.</a:t>
            </a:r>
          </a:p>
          <a:p>
            <a:r>
              <a:t>Leave the same message as a 20-second voicemail instead, with your number repeated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prefer phone calls or written messages for work? Why? | “I prefer… because it’s…” / “A call is better for…, but a message is better for…”</a:t>
            </a:r>
          </a:p>
          <a:p>
            <a:r>
              <a:t>2. Why do many people dislike leaving voicemail messages today? | “Some people think voicemails are… because…” / “A text is quicker, so…”</a:t>
            </a:r>
          </a:p>
          <a:p>
            <a:r>
              <a:t>3. How should you handle a caller who speaks too fast or has a strong accent? | “I’d politely ask them to… by saying…” / “It helps to repeat key details.”</a:t>
            </a:r>
          </a:p>
          <a:p>
            <a:r>
              <a:t>4. What are the most useful phrases to know when you cannot hear well? | “I’d say… / I’d ask…”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“Many people dislike voicemails because they take time to listen to and are hard to search. A text or an email is quicker to read, and you can reply when it suits you. I only leave a voicemail when the matter is urgent or when I need to explain something in my own words. Even then, I keep it under thirty seconds and repeat my number at the end.”</a:t>
            </a:r>
          </a:p>
          <a:p>
            <a:r>
              <a:t>“hard to search” = 难以检索。”when it suits you” = 在你方便的时候。”take time to + 动词原形”。注意 voicemail 前面可用 leave / listen 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Who are you? | May I ask who’s calling? | 询问来电者,委婉</a:t>
            </a:r>
          </a:p>
          <a:p>
            <a:r>
              <a:t>He’s not here. | I’m afraid he’s not available at the moment. | 礼貌回应</a:t>
            </a:r>
          </a:p>
          <a:p>
            <a:r>
              <a:t>Call me back. | Could you give me a call back when you have a moment? | 请求回电</a:t>
            </a:r>
          </a:p>
          <a:p>
            <a:r>
              <a:t>Wait. | Could you hold the line for a moment? | 请稍等</a:t>
            </a:r>
          </a:p>
          <a:p>
            <a:r>
              <a:t>I didn’t hear you. | Sorry, I didn’t catch that. Could you repeat it? | 没听清</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Polite requests: Could you…? / Would you mind + -ing? are softer than Can you…? Reply with “Not at all” (= I don’t mind).</a:t>
            </a:r>
          </a:p>
          <a:p>
            <a:r>
              <a:t>Numbers: say phone numbers digit by digit, with oh or zero for 0, and use double in UK English: “double five” = 55.</a:t>
            </a:r>
          </a:p>
          <a:p>
            <a:r>
              <a:t>Check understanding: “Let me read that back.” / “Just to confirm, that’s…” / “Did I get that right?”</a:t>
            </a:r>
          </a:p>
          <a:p>
            <a:r>
              <a:t>Caller’s phrases: This is… speaking (not “I am…”). Could I speak to…? / Is that…?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Paul Davis. (on the phone)  →  ✓ This is Paul Davis.  (电话里自我介绍用 This is…)</a:t>
            </a:r>
          </a:p>
          <a:p>
            <a:r>
              <a:t>✗ Who are you?  →  ✓ May I ask who’s calling?  (太直接,不礼貌)</a:t>
            </a:r>
          </a:p>
          <a:p>
            <a:r>
              <a:t>✗ Please wait a moment, I give you through.  →  ✓ Please hold. I’ll put you through.  (put through 转接)</a:t>
            </a:r>
          </a:p>
          <a:p>
            <a:r>
              <a:t>Mistake Watch: Check This is… on the phone, leave … with, and polite forms such as May I ask who’s calling?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is not in the seat.  →  ✓ He’s not at his desk. / He’s away from his desk.  (中式表达)</a:t>
            </a:r>
          </a:p>
          <a:p>
            <a:r>
              <a:t>✗ Please leave your phone number to me.  →  ✓ Please leave your number with me.  (leave … with sb)</a:t>
            </a:r>
          </a:p>
          <a:p>
            <a:r>
              <a:t>✗ I will inform him your message.  →  ✓ I’ll pass on your message to him.  (inform sb of sth / pass on)</a:t>
            </a:r>
          </a:p>
          <a:p>
            <a:r>
              <a:t>Mistake Watch: Check This is… on the phone, leave … with, and polite forms such as May I ask who’s calling?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Identify yourself first: In English calls, say your name and company before you ask for someone: “Hello, this is Li Wei from Orion Foods.”</a:t>
            </a:r>
          </a:p>
          <a:p>
            <a:r>
              <a:t>Smiling voice: On the phone you can’t use body language, so tone and speed matter a lot. Speak slightly slower than normal, and smile.</a:t>
            </a:r>
          </a:p>
          <a:p>
            <a:r>
              <a:t>Time zones: Before calling an international partner, check their local time. A short message (“Is now a good time?”) is polite.</a:t>
            </a:r>
          </a:p>
          <a:p>
            <a:r>
              <a:t>电话里自我介绍用 This is… 而不用 I am…。听不清楚时直接说 Sorry, I didn’t catch that. 不失礼。数字和拼写要复述确认(read back)。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take a message and read it back to check details.</a:t>
            </a:r>
          </a:p>
          <a:p>
            <a:r>
              <a:t>I can leave a clear 30-second voicemail with my number repeated.</a:t>
            </a:r>
          </a:p>
          <a:p>
            <a:r>
              <a:t>I can use polite phrases such as May I ask who’s calling? and Could you hold the line?</a:t>
            </a:r>
          </a:p>
          <a:p>
            <a:r>
              <a:t>I can ask for repetition or spelling politely.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This is… on the phone, polite requests, and prepositions in phrases such as leave … with.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11 · Business Idioms and Expressions 商业习语和表达方式</a:t>
            </a:r>
          </a:p>
          <a:p>
            <a:r>
              <a:t>Goal: understand and use common business idioms naturally and in moderation, and know when plain English is better.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3 题可以对比:比如 “kill two birds with one stone” ≈ 一举两得。第 5 题答案可以是 “Could you explain what you mean by…?”。idiom = 习语,不能逐字翻译。</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three business idioms and use each in a sentence about your work.</a:t>
            </a:r>
          </a:p>
          <a:p>
            <a:r>
              <a:t>Say: idiom 1 + meaning → example → idiom 2 → idiom 3</a:t>
            </a:r>
          </a:p>
          <a:p>
            <a:r>
              <a:t>Useful starters: “…means…” / “For example, in my team we…” / “You might say… when…”</a:t>
            </a:r>
          </a:p>
          <a:p>
            <a:r>
              <a:t>习语要整句记忆,例如 “get the ball rolling” 不要拆成单词翻译。解释习语用 “It means…”。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Business English is full of idioms: phrases whose meaning is not obvious from the individual words. A colleague might say that a project is “on track”, that a deadline “is looming”, or that you should “hit the ground running”. Idioms make speech vivid and friendly, and native speakers use them without thinking. For learners, though, they can be confusing, especially if the idiom comes from sport or another culture. The best strategy is to learn the most common ones as whole chunks and to use them sparingly. One well-chosen idiom sounds natural; five in a row sounds like a performance. In international meetings, remember that not everyone shares the same references, so a clear plain sentence is sometimes safer. If you don’t understand an idiom, simply ask: “Sorry, what do you mean by that?” Nobody will mind.</a:t>
            </a:r>
          </a:p>
          <a:p>
            <a:r>
              <a:t>on track = 进展顺利。”is looming” = 迫近。sparingly = 适度地、不过度。”like a performance” 暗示“显得刻意”。</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an idiom, according to the text?</a:t>
            </a:r>
          </a:p>
          <a:p>
            <a:r>
              <a:t>A: A phrase whose meaning is not obvious from the individual words.</a:t>
            </a:r>
          </a:p>
          <a:p>
            <a:r>
              <a:t>Q2. What does the writer advise about using idioms?</a:t>
            </a:r>
          </a:p>
          <a:p>
            <a:r>
              <a:t>A: Learn the common ones as chunks and use them sparingly.</a:t>
            </a:r>
          </a:p>
          <a:p>
            <a:r>
              <a:t>Q3. What should you do if you don’t understand an idiom?</a:t>
            </a:r>
          </a:p>
          <a:p>
            <a:r>
              <a:t>A: Ask politely what the speaker means.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Common idioms 常用习语</a:t>
            </a:r>
          </a:p>
          <a:p>
            <a:r>
              <a:t>领读 → 学员跟读 → 请学员用表达造一个和自己工作相关的句子。</a:t>
            </a:r>
          </a:p>
          <a:p>
            <a:r>
              <a:t>on the same page (idiom) 想法一致 — “Before we start, let’s make sure we’re all on the same page.”</a:t>
            </a:r>
          </a:p>
          <a:p>
            <a:r>
              <a:t>get the ball rolling (idiom) 开始行动 — “Let’s get the ball rolling with the budget.”</a:t>
            </a:r>
          </a:p>
          <a:p>
            <a:r>
              <a:t>touch base (with) (idiom) 联络一下 — “I’ll touch base with you on Friday.”</a:t>
            </a:r>
          </a:p>
          <a:p>
            <a:r>
              <a:t>ballpark figure (noun phrase) 大致数字 — “Can you give me a ballpark figure for the cost?”</a:t>
            </a:r>
          </a:p>
          <a:p>
            <a:r>
              <a:t>in the loop (idiom) 知情 — “Please keep me in the loop on the contract.”</a:t>
            </a:r>
          </a:p>
          <a:p>
            <a:r>
              <a:t>a win-win situation (noun phrase) 双赢局面 — “A longer contract would be a win-win for both sides.”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More idiomatic English ★ 进阶习语</a:t>
            </a:r>
          </a:p>
          <a:p>
            <a:r>
              <a:t>领读 → 学员跟读 → 请学员用表达造一个和自己工作相关的句子。</a:t>
            </a:r>
          </a:p>
          <a:p>
            <a:r>
              <a:t>★ move the goalposts (idiom) 临时改变规则 — “The client keeps moving the goalposts, and the project never ends.”</a:t>
            </a:r>
          </a:p>
          <a:p>
            <a:r>
              <a:t>★ bite the bullet (idiom) 硬着头皮做 — “We had to bite the bullet and cut the budget.”</a:t>
            </a:r>
          </a:p>
          <a:p>
            <a:r>
              <a:t>★ the elephant in the room (idiom) 大家避而不谈的问题 — “Let’s address the elephant in the room: the delays.”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More idiomatic English ★ 进阶习语</a:t>
            </a:r>
          </a:p>
          <a:p>
            <a:r>
              <a:t>领读 → 学员跟读 → 请学员用表达造一个和自己工作相关的句子。</a:t>
            </a:r>
          </a:p>
          <a:p>
            <a:r>
              <a:t>★ cut corners (idiom) 偷工减料 — “We shouldn’t cut corners on safety.”</a:t>
            </a:r>
          </a:p>
          <a:p>
            <a:r>
              <a:t>★ go back to the drawing board (idiom) 重新来过 — “The prototype failed, so it’s back to the drawing board.”</a:t>
            </a:r>
          </a:p>
          <a:p>
            <a:r>
              <a:t>★ the ball is in your court (idiom) 该你行动了 — “We’ve sent our offer. The ball is in your court now.”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page / rolling / base / ballpark / loop / goalposts</a:t>
            </a:r>
          </a:p>
          <a:p>
            <a:r>
              <a:t>1. Before we start, let’s make sure we’re all on the same _______. → page</a:t>
            </a:r>
          </a:p>
          <a:p>
            <a:r>
              <a:t>2. Let’s get the ball _______ with the budget. → rolling</a:t>
            </a:r>
          </a:p>
          <a:p>
            <a:r>
              <a:t>3. I’ll touch _______ with you on Friday. → base</a:t>
            </a:r>
          </a:p>
          <a:p>
            <a:r>
              <a:t>4. Can you give me a _______ figure for the cost? → ballpark</a:t>
            </a:r>
          </a:p>
          <a:p>
            <a:r>
              <a:t>5. Please keep me in the _______ on the contract. → loop</a:t>
            </a:r>
          </a:p>
          <a:p>
            <a:r>
              <a:t>6. The client keeps moving the _______, and the project never ends. → goalposts</a:t>
            </a:r>
          </a:p>
          <a:p>
            <a:r>
              <a:t>Mistake Watch (拼写与固定搭配): idioms are fixed: touch base (not “touch the base”), in the loop, on the same page. Ballpark is one word in ballpark figure. Don’t change words: not “get the ball running”.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Idioms in a project check-in 项目例会中的习语</a:t>
            </a:r>
          </a:p>
          <a:p>
            <a:r>
              <a:t>情景：Two colleagues check progress on a product launch. One uses a lot of idioms and the other asks for clarification.</a:t>
            </a:r>
          </a:p>
          <a:p>
            <a:r>
              <a:t>Role A: Sam Parker, project lead (native speaker) Role B: Ling Zhou, project coordinator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(Sam): Morning, Ling. Let’s get the ball rolling. Where are we on the launch?</a:t>
            </a:r>
          </a:p>
          <a:p>
            <a:r>
              <a:t>B (Ling): Morning, Sam. Mostly on track, but I want to flag one thing.</a:t>
            </a:r>
          </a:p>
          <a:p>
            <a:r>
              <a:t>A: Go ahead. I want to keep everyone in the loop.</a:t>
            </a:r>
          </a:p>
          <a:p>
            <a:r>
              <a:t>B: Design has asked for changes to the packaging again. I’m worried that they keep moving the goalposts.</a:t>
            </a:r>
          </a:p>
          <a:p>
            <a:r>
              <a:t>A: Hmm. We’re against the clock, so we can’t cut corners on quality. Can you give me a ballpark figure for the extra cost?</a:t>
            </a:r>
          </a:p>
          <a:p>
            <a:r>
              <a:t>B: Sorry, what do you mean by “ballpark figure”?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Oh, sorry. A rough number. It doesn’t have to be exact.</a:t>
            </a:r>
          </a:p>
          <a:p>
            <a:r>
              <a:t>B: Got it. I’d say roughly 5,000 dollars.</a:t>
            </a:r>
          </a:p>
          <a:p>
            <a:r>
              <a:t>A: Okay. I’ll touch base with Finance and make sure we’re all on the same page.</a:t>
            </a:r>
          </a:p>
          <a:p>
            <a:r>
              <a:t>B: Thank you. And if they say no, we may have to go back to the drawing board.</a:t>
            </a:r>
          </a:p>
          <a:p>
            <a:r>
              <a:t>A: Let’s not jump the gun. I’ll get back to you by lunchtime.</a:t>
            </a:r>
          </a:p>
          <a:p>
            <a:r>
              <a:t>B: That works. Thanks, Sam.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11 | </a:t>
            </a:r>
          </a:p>
          <a:p>
            <a:r>
              <a:t>Situation | A colleague uses idioms and you ask for clarification.</a:t>
            </a:r>
          </a:p>
          <a:p>
            <a:r>
              <a:t>Your role (A) | Coordinator. You ask politely when you don’t understand: ______________</a:t>
            </a:r>
          </a:p>
          <a:p>
            <a:r>
              <a:t>Partner’s role (B) | Project lead who uses idioms.</a:t>
            </a:r>
          </a:p>
          <a:p>
            <a:r>
              <a:t>Must use (4 or more) | on the same page · in the loop · ballpark figure · touch base · back to the drawing board · what do you mean by…</a:t>
            </a:r>
          </a:p>
          <a:p>
            <a:r>
              <a:t>Goal | Use at least three idioms correctly and ask for one explanation.</a:t>
            </a:r>
          </a:p>
          <a:p>
            <a:r>
              <a:t>My notes | ____________________________________________</a:t>
            </a:r>
          </a:p>
          <a:p>
            <a:r>
              <a:t>Explain an idiom to someone with a simple example: “It means… For example, …”</a:t>
            </a:r>
          </a:p>
          <a:p>
            <a:r>
              <a:t>Replace three idioms with plain English: “Let’s get the ball rolling” → “Let’s start.”</a:t>
            </a:r>
          </a:p>
          <a:p>
            <a:r>
              <a:t>A client from another country looks confused. Rephrase your last sentence without idioms.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idioms make business English easier or harder to understand? | “They make it more… but they can also…”</a:t>
            </a:r>
          </a:p>
          <a:p>
            <a:r>
              <a:t>2. Which idioms do you like or find useful? Why? | “One idiom I like is… because…”</a:t>
            </a:r>
          </a:p>
          <a:p>
            <a:r>
              <a:t>3. Do Chinese and English idioms ever mean the same thing? | “In Chinese we say… which is similar to…”</a:t>
            </a:r>
          </a:p>
          <a:p>
            <a:r>
              <a:t>4. When should you avoid idioms in international meetings? | “I’d avoid them when… because…”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 avoid idioms when I’m speaking to people who don’t speak English as a first language, or when I’m giving an important instruction. For example, if I say “Let’s park that issue”, some people might not realise it means “Let’s discuss it later”. In a global team, clarity is more important than style. I’d use plain words first and keep idioms for casual chats with colleagues who know me well.”</a:t>
            </a:r>
          </a:p>
          <a:p>
            <a:r>
              <a:t>“park” 在这里是动词,意为搁置。”more important than” 比较级。first language = 母语。注意 “people who don’t speak English as a first language” 的写法。</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Let’s start. | Let’s get the ball rolling. | 习语更口语、更生动</a:t>
            </a:r>
          </a:p>
          <a:p>
            <a:r>
              <a:t>Is everyone on the same opinion? | Are we all on the same page? | 惯用说法</a:t>
            </a:r>
          </a:p>
          <a:p>
            <a:r>
              <a:t>Please tell me what’s happening. | Please keep me in the loop. | 保持知情</a:t>
            </a:r>
          </a:p>
          <a:p>
            <a:r>
              <a:t>About how much? | Can you give me a ballpark figure? | 估算</a:t>
            </a:r>
          </a:p>
          <a:p>
            <a:r>
              <a:t>That’s the real problem nobody talks about. | That’s the elephant in the room. | 比喻</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Use sparingly: one idiom per few sentences is natural. More than that sounds forced.</a:t>
            </a:r>
          </a:p>
          <a:p>
            <a:r>
              <a:t>Learn as chunks, with a verb: get the ball rolling, touch base with sb, keep sb in the loop, cut corners.</a:t>
            </a:r>
          </a:p>
          <a:p>
            <a:r>
              <a:t>Know the register: bite the bullet and the elephant in the room are fine in meetings; avoid them in formal contracts or legal documents.</a:t>
            </a:r>
          </a:p>
          <a:p>
            <a:r>
              <a:t>Do not translate word for word. “Break the ice” is about starting a friendly conversation, not about ice.</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Let’s touch the base next week.  →  ✓ Let’s touch base next week.  (固定搭配,没有 the)</a:t>
            </a:r>
          </a:p>
          <a:p>
            <a:r>
              <a:t>✗ We should be on the same paper.  →  ✓ We should be on the same page.  (习语不能换词)</a:t>
            </a:r>
          </a:p>
          <a:p>
            <a:r>
              <a:t>✗ I keep you in the loop.  →  ✓ I’ll keep you in the loop.  (承诺用 will)</a:t>
            </a:r>
          </a:p>
          <a:p>
            <a:r>
              <a:t>Mistake Watch: Check word order and articles in fixed phrases. Idioms cannot be rearranged.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moved the goalpost.  →  ✓ He keeps moving the goalposts.  (goalposts 通常用复数)</a:t>
            </a:r>
          </a:p>
          <a:p>
            <a:r>
              <a:t>✗ Let’s go back to the board drawing.  →  ✓ Let’s go back to the drawing board.  (顺序固定)</a:t>
            </a:r>
          </a:p>
          <a:p>
            <a:r>
              <a:t>✗ It’s a win-win for the both sides.  →  ✓ It’s a win-win for both sides.  (both 前不加 the)</a:t>
            </a:r>
          </a:p>
          <a:p>
            <a:r>
              <a:t>Mistake Watch: Check word order and articles in fixed phrases. Idioms cannot be rearranged.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Sports and war metaphors are very common in American English: touchdown, home run, a level playing field, the ball is in your court. British English also uses cricket idioms such as on a sticky wicket.</a:t>
            </a:r>
          </a:p>
          <a:p>
            <a:r>
              <a:t>Idioms change: Some idioms are old-fashioned (e.g. keep your powder dry). Learn the ones you hear in current meetings or podcasts.</a:t>
            </a:r>
          </a:p>
          <a:p>
            <a:r>
              <a:t>In writing: Idioms are fine in emails to colleagues, but in reports or contracts use plain language.</a:t>
            </a:r>
          </a:p>
          <a:p>
            <a:r>
              <a:t>习语最好成块学习,先学常用的 6–10 个。国际会议里,清晰比”花哨”更重要。听不懂习语时,直接问 What do you mean by…? 很正常。</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use six business idioms correctly in sentences.</a:t>
            </a:r>
          </a:p>
          <a:p>
            <a:r>
              <a:t>I can ask for an explanation when I don’t know an idiom.</a:t>
            </a:r>
          </a:p>
          <a:p>
            <a:r>
              <a:t>I can explain an idiom simply in English.</a:t>
            </a:r>
          </a:p>
          <a:p>
            <a:r>
              <a:t>I can decide when plain English is better than an idiom.</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fixed word order and articles in idioms (touch base, the drawing board) and plural forms (goalposts).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12 · Business Protocol 商务礼仪</a:t>
            </a:r>
          </a:p>
          <a:p>
            <a:r>
              <a:t>Goal: understand and explain business etiquette across cultures: greetings, titles, punctuality, dress, gifts and meals.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 题用过去式。protocol = 礼仪规范。第 5 题可以用 “It depends on…” 并提到价值不宜太高。</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a visitor from abroad three pieces of advice about business etiquette in your country.</a:t>
            </a:r>
          </a:p>
          <a:p>
            <a:r>
              <a:t>Say: greetings and names → punctuality → gifts or meals → one thing to avoid</a:t>
            </a:r>
          </a:p>
          <a:p>
            <a:r>
              <a:t>Useful starters: “It’s customary to…” / “You’re expected to…” / “It’s best not to…”</a:t>
            </a:r>
          </a:p>
          <a:p>
            <a:r>
              <a:t>讲礼仪常用:It’s customary to…(惯例是…),It’s considered rude to…(被认为不礼貌)。被动语态很常用。</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in Rome, do as the Romans do” is a useful rule for business travellers, but it only works if you know what the Romans actually do. In the United States and Britain, a firm handshake and eye contact are standard, and first names are used quickly. In Japan, a business card should be offered and received with both hands, and a slight bow is common. In many Middle Eastern countries, the main meal is long and relationship-building is part of the business. Punctuality also varies: in Germany, arriving five minutes early is normal, while in some other places, meetings may start late. You can’t learn every custom, but you can show respect. Do a little research, watch what others do, and ask politely if you are not sure. Most people appreciate the effort, even if you make a small mistake.</a:t>
            </a:r>
          </a:p>
          <a:p>
            <a:r>
              <a:t>“When in Rome…” 入乡随俗。relationship-building 建立关系。custom = 习俗(单数),customs 海关/习俗(复数)。</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does the writer say the Roman proverb only works “if you know what the Romans actually do”?</a:t>
            </a:r>
          </a:p>
          <a:p>
            <a:r>
              <a:t>A: You can only follow local customs if you know what they are.</a:t>
            </a:r>
          </a:p>
          <a:p>
            <a:r>
              <a:t>Q2. What is the custom with business cards in Japan, according to the text?</a:t>
            </a:r>
          </a:p>
          <a:p>
            <a:r>
              <a:t>A: Offer and receive them with both hands.</a:t>
            </a:r>
          </a:p>
          <a:p>
            <a:r>
              <a:t>Q3. What does the writer say about making small mistakes?</a:t>
            </a:r>
          </a:p>
          <a:p>
            <a:r>
              <a:t>A: Most people appreciate the effort, even if you make a small mistake.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Etiquette basics 礼仪基础</a:t>
            </a:r>
          </a:p>
          <a:p>
            <a:r>
              <a:t>领读 → 学员跟读 → 请学员用表达造一个和自己工作相关的句子。</a:t>
            </a:r>
          </a:p>
          <a:p>
            <a:r>
              <a:t>etiquette (noun (uncountable)) 礼仪 — “Business etiquette varies from country to country.”</a:t>
            </a:r>
          </a:p>
          <a:p>
            <a:r>
              <a:t>protocol (noun) 礼仪规范,惯例 — “Follow the company protocol when you meet senior guests.”</a:t>
            </a:r>
          </a:p>
          <a:p>
            <a:r>
              <a:t>dress code (noun) 着装要求 — “The dress code is business casual on Fridays.”</a:t>
            </a:r>
          </a:p>
          <a:p>
            <a:r>
              <a:t>punctual (adjective) 守时的 — “Being punctual is a sign of respect.”</a:t>
            </a:r>
          </a:p>
          <a:p>
            <a:r>
              <a:t>host / guest (noun) 主人 / 客人 — “The host usually pays for the meal.”</a:t>
            </a:r>
          </a:p>
          <a:p>
            <a:r>
              <a:t>formal / informal (adjective) 正式的 / 非正式的 — “The meeting was formal, but dinner was informal.”</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Cultural awareness ★ 文化意识</a:t>
            </a:r>
          </a:p>
          <a:p>
            <a:r>
              <a:t>领读 → 学员跟读 → 请学员用表达造一个和自己工作相关的句子。</a:t>
            </a:r>
          </a:p>
          <a:p>
            <a:r>
              <a:t>★ it’s customary to (phrase) 惯例是… — “It’s customary to bring a small gift when visiting a client.”</a:t>
            </a:r>
          </a:p>
          <a:p>
            <a:r>
              <a:t>★ be considered rude (phrase) 被认为失礼 — “Checking your phone is considered rude in some meetings.”</a:t>
            </a:r>
          </a:p>
          <a:p>
            <a:r>
              <a:t>★ faux pas (noun) 失礼、失态 — “Calling him by his first name was a faux pas.”</a:t>
            </a:r>
          </a:p>
          <a:p>
            <a:r>
              <a:t>★ observe (verb) 遵守、观察 — “Please observe local customs when you visit.”</a:t>
            </a:r>
          </a:p>
          <a:p>
            <a:r>
              <a:t>★ break the ice (idiom) 打破僵局 — “A bit of small talk helps to break the ice.”</a:t>
            </a:r>
          </a:p>
          <a:p>
            <a:r>
              <a:t>★ show respect (to) (phrase) 表示尊重 — “Showing respect to senior colleagues is important in many cultures.”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etiquette / dress code / punctual / customary / faux pas / break the ice</a:t>
            </a:r>
          </a:p>
          <a:p>
            <a:r>
              <a:t>1. Business _______ varies from country to country. → etiquette</a:t>
            </a:r>
          </a:p>
          <a:p>
            <a:r>
              <a:t>2. The _______ is business casual on Fridays. → dress code</a:t>
            </a:r>
          </a:p>
          <a:p>
            <a:r>
              <a:t>3. Being _______ is a sign of respect. → punctual</a:t>
            </a:r>
          </a:p>
          <a:p>
            <a:r>
              <a:t>4. It’s _______ to bring a small gift when visiting a client. → customary</a:t>
            </a:r>
          </a:p>
          <a:p>
            <a:r>
              <a:t>5. Using his first name was a _______. I should have waited. → faux pas</a:t>
            </a:r>
          </a:p>
          <a:p>
            <a:r>
              <a:t>6. A bit of small talk helps to _______. → break the ice</a:t>
            </a:r>
          </a:p>
          <a:p>
            <a:r>
              <a:t>Mistake Watch (拼写与读音): etiquette (not “etiquete”), punctual (not “punctal”), faux pas is French: pronounced “foh pah”, and it is the same in the plural. Etiquette is uncountable: not “an etiquette”.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etiquette to a visitor 向来访者介绍礼仪</a:t>
            </a:r>
          </a:p>
          <a:p>
            <a:r>
              <a:t>情景：A visiting executive from Germany, Anna Weber, will join a client dinner in China. You are her host and give some advice.</a:t>
            </a:r>
          </a:p>
          <a:p>
            <a:r>
              <a:t>Role A: Li Na, local manager (you) Role B: Anna Weber, visiting executive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Na): Anna, welcome. Before tomorrow’s dinner, I’d like to give you a few tips, if that’s helpful.</a:t>
            </a:r>
          </a:p>
          <a:p>
            <a:r>
              <a:t>B (Anna): Please do. I’d hate to make a faux pas.</a:t>
            </a:r>
          </a:p>
          <a:p>
            <a:r>
              <a:t>A: First, the seating. The seat of honour is usually the one facing the door, and the host will show everyone where to sit.</a:t>
            </a:r>
          </a:p>
          <a:p>
            <a:r>
              <a:t>B: Interesting. So I wait to be shown my seat?</a:t>
            </a:r>
          </a:p>
          <a:p>
            <a:r>
              <a:t>A: Exactly. Also, it’s customary for the host to order for the table and to offer food to guests. You’re not expected to finish everything.</a:t>
            </a:r>
          </a:p>
          <a:p>
            <a:r>
              <a:t>B: Noted. What about toasts?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There will probably be a few. When you toast someone senior, make eye contact and hold your glass with both hands. Then say “Ganbei”.</a:t>
            </a:r>
          </a:p>
          <a:p>
            <a:r>
              <a:t>B: And what about business cards? I have a stack of them.</a:t>
            </a:r>
          </a:p>
          <a:p>
            <a:r>
              <a:t>A: Offer yours with both hands and take a moment to read theirs. Don’t write on a card or put it in your back pocket.</a:t>
            </a:r>
          </a:p>
          <a:p>
            <a:r>
              <a:t>B: That’s very helpful. Is there anything I should avoid?</a:t>
            </a:r>
          </a:p>
          <a:p>
            <a:r>
              <a:t>A: Avoid giving gifts in sets of four, because the number four is associated with bad luck. And don’t worry, people will appreciate your effort.</a:t>
            </a:r>
          </a:p>
          <a:p>
            <a:r>
              <a:t>B: Thank you. I feel much better prepared now.</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12 | </a:t>
            </a:r>
          </a:p>
          <a:p>
            <a:r>
              <a:t>Situation | You advise a visitor on business etiquette.</a:t>
            </a:r>
          </a:p>
          <a:p>
            <a:r>
              <a:t>Your role (A) | Host. A country or culture you know well: ______________</a:t>
            </a:r>
          </a:p>
          <a:p>
            <a:r>
              <a:t>Partner’s role (B) | Visitor who wants to avoid mistakes.</a:t>
            </a:r>
          </a:p>
          <a:p>
            <a:r>
              <a:t>Must use (4 or more) | customary · considered rude · faux pas · observe · dress code · break the ice</a:t>
            </a:r>
          </a:p>
          <a:p>
            <a:r>
              <a:t>Goal | Give three tips (greeting, gifts or meals, one thing to avoid), with reasons.</a:t>
            </a:r>
          </a:p>
          <a:p>
            <a:r>
              <a:t>My notes | ____________________________________________</a:t>
            </a:r>
          </a:p>
          <a:p>
            <a:r>
              <a:t>The visitor says: “In my country we are always punctual. Is that the same here?” Compare politely.</a:t>
            </a:r>
          </a:p>
          <a:p>
            <a:r>
              <a:t>You make an etiquette mistake. Apologise briefly and recover: “I’m sorry, I didn’t realise… Thank you for letting me know.”</a:t>
            </a:r>
          </a:p>
          <a:p>
            <a:r>
              <a:t>Prepare a 30-second welcome speech for a foreign delegation that includes one cultural reference.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business customs in your country might surprise a foreigner? | “A visitor might be surprised that…” / “In my culture, it’s normal to…”</a:t>
            </a:r>
          </a:p>
          <a:p>
            <a:r>
              <a:t>2. How can you learn about the etiquette of a country before you visit? | “I’d start by… / It’s also helpful to…”</a:t>
            </a:r>
          </a:p>
          <a:p>
            <a:r>
              <a:t>3. Is business etiquette becoming more global? Does it matter? | “To some extent, yes, because…” / “It still matters, since…”</a:t>
            </a:r>
          </a:p>
          <a:p>
            <a:r>
              <a:t>4. Should foreigners be forgiven for mistakes, or should they learn the rules? | “I think people should be forgiven if… but…”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“To some extent, yes. Younger professionals in big cities are more used to international business, and many companies share similar basic rules, such as being on time and dressing neatly. But local customs still matter, especially for building trust. A simple gesture like offering a card with two hands or learning a few words of the local language shows respect. So I think etiquette is becoming more similar, but it hasn’t disappeared.”</a:t>
            </a:r>
          </a:p>
          <a:p>
            <a:r>
              <a:t>to some extent = 在某种程度上。”more used to” = 更习惯于。gesture = 姿态/举动。注意 “is becoming more similar” 用进行时表示趋势。</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Don’t be late. | It’s important to be punctual. | 正式的建议</a:t>
            </a:r>
          </a:p>
          <a:p>
            <a:r>
              <a:t>You must wear a suit. | The dress code is formal; a suit is expected. | 解释规则而不是命令</a:t>
            </a:r>
          </a:p>
          <a:p>
            <a:r>
              <a:t>That is not polite. | That would be considered impolite in this context. | 用被动语态缓和</a:t>
            </a:r>
          </a:p>
          <a:p>
            <a:r>
              <a:t>Please sit here. | May I suggest that you sit here? | 礼貌建议</a:t>
            </a:r>
          </a:p>
          <a:p>
            <a:r>
              <a:t>We usually don’t do that. | That isn’t really the custom here. | 委婉说明</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Passive for customs: It is customary to…, It is considered rude to…, It is expected that…, It is not done to…</a:t>
            </a:r>
          </a:p>
          <a:p>
            <a:r>
              <a:t>Modals for advice: should, ought to, had better (stronger) and it’s best to…</a:t>
            </a:r>
          </a:p>
          <a:p>
            <a:r>
              <a:t>Titles: Mr / Ms + surname for first meetings. Use Dr, Professor or Sir when appropriate. Don’t use “Manager Wang”.</a:t>
            </a:r>
          </a:p>
          <a:p>
            <a:r>
              <a:t>Custom / customs: a custom is one tradition; customs can mean several traditions, and customs (uncountable) is also the checkpoint at the border.</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should obey the local custom.  →  ✓ We should follow / observe the local customs.  (obey = 服从命令;follow customs 更自然)</a:t>
            </a:r>
          </a:p>
          <a:p>
            <a:r>
              <a:t>✗ In my country, it is very polite to give gifts.  →  ✓ In my country, it’s customary to give gifts.  (customary 更地道)</a:t>
            </a:r>
          </a:p>
          <a:p>
            <a:r>
              <a:t>✗ Don’t forget bring a gift.  →  ✓ Don’t forget to bring a gift.  (forget to + 动词原形)</a:t>
            </a:r>
          </a:p>
          <a:p>
            <a:r>
              <a:t>Mistake Watch: Check to + verb after polite / customary / forget, for + -ing after prepositions, and avoid redundant words (punctual of time).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is not polite for opening your phone.  →  ✓ It’s not polite to check your phone.  (for + -ing 不能作主语补语)</a:t>
            </a:r>
          </a:p>
          <a:p>
            <a:r>
              <a:t>✗ He is very punctual of time.  →  ✓ He is very punctual.  (punctual 本身含“守时”)</a:t>
            </a:r>
          </a:p>
          <a:p>
            <a:r>
              <a:t>✗ Please accept my sincere apology for I was late.  →  ✓ Please accept my apologies for being late.  (for + -ing)</a:t>
            </a:r>
          </a:p>
          <a:p>
            <a:r>
              <a:t>Mistake Watch: Check to + verb after polite / customary / forget, for + -ing after prepositions, and avoid redundant words (punctual of time).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Titles and names: UK and US: first names quickly. Germany, France: titles and surnames for longer. China: job titles are widely used. When in doubt, wait for the other person to suggest first names.</a:t>
            </a:r>
          </a:p>
          <a:p>
            <a:r>
              <a:t>Gifts: In the US, many companies limit the value of gifts. In China and Japan, gifts are common but should be modest and wrapped properly. Avoid items with negative symbolism.</a:t>
            </a:r>
          </a:p>
          <a:p>
            <a:r>
              <a:t>Punctuality and agendas: In Germany and the UK, arrive on time or a few minutes early. If you will be late, send a message in advance.</a:t>
            </a:r>
          </a:p>
          <a:p>
            <a:r>
              <a:t>谈礼仪时多用被动语态:It is considered rude to…。出国前查一下对方国家的惯例,宁可保守。说错了就简短道歉,感谢对方指出。</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three etiquette rules of my culture in English.</a:t>
            </a:r>
          </a:p>
          <a:p>
            <a:r>
              <a:t>I can give polite advice using It’s customary to… and It’s considered rude to…</a:t>
            </a:r>
          </a:p>
          <a:p>
            <a:r>
              <a:t>I can apologise briefly for a cultural mistake.</a:t>
            </a:r>
          </a:p>
          <a:p>
            <a:r>
              <a:t>I can use titles and names correctly in meetings.</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to + verb after adjectives (polite to), for + -ing, and passive forms such as is considered.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13 · Leading and Participating in Business Meetings 主持和参与商务会议</a:t>
            </a:r>
          </a:p>
          <a:p>
            <a:r>
              <a:t>Goal: lead and take part in a meeting: open it, follow an agenda, give your opinion, interrupt politely, summarise and agree action points.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5 题讲过去,用过去式(went, happened)。chair 在会议中指“主持人”,也可作动词 to chair a meeting。</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Open a meeting: welcome people, state the purpose, go through the agenda, and set a time limit.</a:t>
            </a:r>
          </a:p>
          <a:p>
            <a:r>
              <a:t>Say: welcome → purpose → agenda in 3 points → ground rules and time</a:t>
            </a:r>
          </a:p>
          <a:p>
            <a:r>
              <a:t>Useful starters: “Let’s get started.” / “The purpose of today’s meeting is to…” / “We have 45 minutes, so let’s keep to the agenda.”</a:t>
            </a:r>
          </a:p>
          <a:p>
            <a:r>
              <a:t>开场四步:欢迎—目的—议程—时间。”keep to the agenda” = 紧扣议程。”We have 45 minutes” 表示可用的时间。</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Most people have sat through meetings that could have been emails. A good meeting begins before it starts: the chair sends a clear agenda, invites only those who are needed and decides in advance what a successful outcome would look like. In the room, the chair opens by stating the purpose, keeps discussion focused and makes sure everyone has a chance to speak. Quieter people are often invited by name: “Mei, what’s your view on this?” When someone talks for too long, the chair can step in politely: “That’s a useful point; let’s hear from others now.” Before the meeting ends, a short summary and a list of actions with names and dates turn talk into results. Participants share the responsibility, too. They should arrive prepared, listen carefully and disagree in a constructive way.</a:t>
            </a:r>
          </a:p>
          <a:p>
            <a:r>
              <a:t>sit through = 熬过(冗长的会)。outcome 结果。step in = 介入。constructive = 建设性的。第 1 句 “could have been” 表示“本来可以是”。</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should a chair do before the meeting?</a:t>
            </a:r>
          </a:p>
          <a:p>
            <a:r>
              <a:t>A: Send a clear agenda, invite only the necessary people and decide what a successful outcome would be.</a:t>
            </a:r>
          </a:p>
          <a:p>
            <a:r>
              <a:t>Q2. How can a chair involve quieter people?</a:t>
            </a:r>
          </a:p>
          <a:p>
            <a:r>
              <a:t>A: By inviting them by name to give their view.</a:t>
            </a:r>
          </a:p>
          <a:p>
            <a:r>
              <a:t>Q3. What turns “talk into results”?</a:t>
            </a:r>
          </a:p>
          <a:p>
            <a:r>
              <a:t>A: A short summary and a list of actions with names and dates.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Running a meeting 主持会议</a:t>
            </a:r>
          </a:p>
          <a:p>
            <a:r>
              <a:t>领读 → 学员跟读 → 请学员用表达造一个和自己工作相关的句子。</a:t>
            </a:r>
          </a:p>
          <a:p>
            <a:r>
              <a:t>agenda (noun) 议程 — “Please send the agenda to everyone in advance.”</a:t>
            </a:r>
          </a:p>
          <a:p>
            <a:r>
              <a:t>minutes (noun (plural)) 会议纪要 — “Maria will take the minutes.”</a:t>
            </a:r>
          </a:p>
          <a:p>
            <a:r>
              <a:t>chair a meeting (verb phrase) 主持会议 — “Who is going to chair the meeting?”</a:t>
            </a:r>
          </a:p>
          <a:p>
            <a:r>
              <a:t>action points / action items (noun) 行动事项 — “Let’s agree the action points before we finish.”</a:t>
            </a:r>
          </a:p>
          <a:p>
            <a:r>
              <a:t>deadline (noun) 截止日期 — “The deadline for the report is Friday.”</a:t>
            </a:r>
          </a:p>
          <a:p>
            <a:r>
              <a:t>any other business (AOB) (noun phrase) 其他事项 — “We have a few minutes for any other business.”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Taking part effectively ★ 有效参与</a:t>
            </a:r>
          </a:p>
          <a:p>
            <a:r>
              <a:t>领读 → 学员跟读 → 请学员用表达造一个和自己工作相关的句子。</a:t>
            </a:r>
          </a:p>
          <a:p>
            <a:r>
              <a:t>★ stick to the agenda (phrase) 紧扣议程 — “Let’s stick to the agenda so we finish on time.”</a:t>
            </a:r>
          </a:p>
          <a:p>
            <a:r>
              <a:t>★ go off topic / go off on a tangent (phrase) 跑题 — “We seem to be going off on a tangent. Shall we get back to the point?”</a:t>
            </a:r>
          </a:p>
          <a:p>
            <a:r>
              <a:t>★ jump in / cut in (phrasal verb) 插话 — “Sorry to jump in, but can I add something here?”</a:t>
            </a:r>
          </a:p>
          <a:p>
            <a:r>
              <a:t>★ wrap up (phrasal verb) 总结、结束 — “Let’s wrap up with a quick summary.”</a:t>
            </a:r>
          </a:p>
          <a:p>
            <a:r>
              <a:t>★ follow up on (phrasal verb) 跟进 — “I’ll follow up on this with the client.”</a:t>
            </a:r>
          </a:p>
          <a:p>
            <a:r>
              <a:t>★ park an issue (phrase) 暂时搁置议题 — “Let’s park that issue and come back to it next week.”</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agenda / minutes / action points / stick to / tangent / wrap up</a:t>
            </a:r>
          </a:p>
          <a:p>
            <a:r>
              <a:t>1. I’ll send the _______ to everyone before the meeting. → agenda</a:t>
            </a:r>
          </a:p>
          <a:p>
            <a:r>
              <a:t>2. Maria will take the _______ and circulate them tomorrow. → minutes</a:t>
            </a:r>
          </a:p>
          <a:p>
            <a:r>
              <a:t>3. Let’s agree the _______ before we finish. → action points</a:t>
            </a:r>
          </a:p>
          <a:p>
            <a:r>
              <a:t>4. Let’s _______ the agenda so we finish on time. → stick to</a:t>
            </a:r>
          </a:p>
          <a:p>
            <a:r>
              <a:t>5. We seem to be going off on a _______. Shall we get back to the point? → tangent</a:t>
            </a:r>
          </a:p>
          <a:p>
            <a:r>
              <a:t>6. Let’s _______ with a quick summary. → wrap up</a:t>
            </a:r>
          </a:p>
          <a:p>
            <a:r>
              <a:t>Mistake Watch (拼写与单复数): minutes is always plural in this meaning; agenda is singular in modern English (the agenda is…). Spelling: schedule (not “shedule”), chairperson (not “chaireperson”). Say take the minutes, not “make the minutes”.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Chairing a project meeting 主持项目会议</a:t>
            </a:r>
          </a:p>
          <a:p>
            <a:r>
              <a:t>情景：You chair a weekly project meeting with three colleagues. You must keep to time and agree action points.</a:t>
            </a:r>
          </a:p>
          <a:p>
            <a:r>
              <a:t>Role A: Eva Li, project manager (chair, you) Role B: Tom, Sara and Ken, team members (B plays all three)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(Eva): Good morning, everyone. Let’s get started. The purpose of today’s meeting is to review progress and agree the next steps. We have 45 minutes.</a:t>
            </a:r>
          </a:p>
          <a:p>
            <a:r>
              <a:t>B (Tom): Morning, Eva.</a:t>
            </a:r>
          </a:p>
          <a:p>
            <a:r>
              <a:t>A: First item: the supplier update. Tom, could you start?</a:t>
            </a:r>
          </a:p>
          <a:p>
            <a:r>
              <a:t>B: Sure. The supplier has confirmed delivery for the 12th, but there’s a risk of a one-week delay.</a:t>
            </a:r>
          </a:p>
          <a:p>
            <a:r>
              <a:t>A: Thanks, Tom. Sara, what’s your view on that?</a:t>
            </a:r>
          </a:p>
          <a:p>
            <a:r>
              <a:t>B: Sorry to jump in, but I think we should find a back-up supplier now, just in case.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That’s a good point. Ken, can you look into that?</a:t>
            </a:r>
          </a:p>
          <a:p>
            <a:r>
              <a:t>B: I’ll check two options and report back by Thursday.</a:t>
            </a:r>
          </a:p>
          <a:p>
            <a:r>
              <a:t>A: Great. Let’s park the budget discussion for now, as we’re running short of time. Does everyone agree?</a:t>
            </a:r>
          </a:p>
          <a:p>
            <a:r>
              <a:t>B: Fine by me.</a:t>
            </a:r>
          </a:p>
          <a:p>
            <a:r>
              <a:t>A: To wrap up: Tom will confirm the delivery date, Ken will research suppliers by Thursday, and I’ll update the client. Anything else?</a:t>
            </a:r>
          </a:p>
          <a:p>
            <a:r>
              <a:t>B: No, that covers it.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13 | </a:t>
            </a:r>
          </a:p>
          <a:p>
            <a:r>
              <a:t>Situation | You chair a short project meeting.</a:t>
            </a:r>
          </a:p>
          <a:p>
            <a:r>
              <a:t>Your role (A) | Chair. The project and three agenda items: ______________</a:t>
            </a:r>
          </a:p>
          <a:p>
            <a:r>
              <a:t>Partner’s role (B) | Team members (2 or 3). One of them goes off topic.</a:t>
            </a:r>
          </a:p>
          <a:p>
            <a:r>
              <a:t>Must use (4 or more) | stick to the agenda · jump in · park · wrap up · action points · follow up</a:t>
            </a:r>
          </a:p>
          <a:p>
            <a:r>
              <a:t>Goal | Open, keep to time, handle an interruption and agree actions with names and dates.</a:t>
            </a:r>
          </a:p>
          <a:p>
            <a:r>
              <a:t>My notes | ____________________________________________</a:t>
            </a:r>
          </a:p>
          <a:p>
            <a:r>
              <a:t>One person dominates the discussion. Step in politely: “Thanks, that’s helpful. Let’s hear from others now.”</a:t>
            </a:r>
          </a:p>
          <a:p>
            <a:r>
              <a:t>Two participants disagree strongly. Summarise both views and find a next step.</a:t>
            </a:r>
          </a:p>
          <a:p>
            <a:r>
              <a:t>Run the same meeting by video call. Start with “Can everyone see my screen?”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a meeting a waste of time? How can it be improved? | “Meetings are a waste when… To improve them, I’d…”</a:t>
            </a:r>
          </a:p>
          <a:p>
            <a:r>
              <a:t>2. Is it OK to interrupt in a meeting? How can you do it politely? | “It depends on… A polite way is to say…”</a:t>
            </a:r>
          </a:p>
          <a:p>
            <a:r>
              <a:t>3. Who should be invited to a meeting? Is it better to have fewer people? | “I think only those who… should attend because…”</a:t>
            </a:r>
          </a:p>
          <a:p>
            <a:r>
              <a:t>4. Should meetings have a time limit? Would you ever cancel a meeting? | “A time limit helps because…” / “I’d cancel it if…”</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“Meetings are a waste of time when there is no clear purpose, no agenda or no follow-up. To improve them, I’d always send an agenda, invite fewer people and set a time limit. I’d also end every meeting with action points that name the person responsible and the deadline. If a meeting can be replaced by a short email, I’d cancel it.”</a:t>
            </a:r>
          </a:p>
          <a:p>
            <a:r>
              <a:t>“a waste of time” 浪费时间。”follow-up” 名词,指后续跟进。”the person responsible” 名词 + 形容词后置。could be replaced = 被动 + 情态。</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Let’s start. | Shall we get started? | 礼貌的提议</a:t>
            </a:r>
          </a:p>
          <a:p>
            <a:r>
              <a:t>Don’t talk about other things. | Let’s keep to the agenda. | 避免批评</a:t>
            </a:r>
          </a:p>
          <a:p>
            <a:r>
              <a:t>You’re wrong. | I see it a little differently. | 委婉表示不同意见</a:t>
            </a:r>
          </a:p>
          <a:p>
            <a:r>
              <a:t>Stop. I want to say something. | Sorry to interrupt, but may I add something here? | 礼貌插话</a:t>
            </a:r>
          </a:p>
          <a:p>
            <a:r>
              <a:t>The meeting is finished. | I think we’ve covered everything. Let’s wrap up. | 结束会议</a:t>
            </a:r>
          </a:p>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Opening phrases: Let’s get started. / Shall we begin? / The purpose of today’s meeting is to…</a:t>
            </a:r>
          </a:p>
          <a:p>
            <a:r>
              <a:t>Interrupting: Sorry to interrupt, but… / Can I just add something here? / May I come in here? Not: “Wait!”</a:t>
            </a:r>
          </a:p>
          <a:p>
            <a:r>
              <a:t>Summarising: To sum up… / So, to recap… / Let me summarise what we’ve agreed.</a:t>
            </a:r>
          </a:p>
          <a:p>
            <a:r>
              <a:t>Careful with table: in UK English to table an item means to put it forward for discussion, but in US English it means to postpone it. To avoid confusion, say park or put on hold.</a:t>
            </a:r>
          </a:p>
          <a:p>
            <a:r>
              <a:t>Agreeing and disagreeing: I agree. / Exactly. / I see your point, but… / I’m not sure I agree.</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Let’s begin our meeting now.  →  ✓ Let’s get started.  (太生硬)</a:t>
            </a:r>
          </a:p>
          <a:p>
            <a:r>
              <a:t>✗ The meeting will hold at 3 pm.  →  ✓ The meeting will be held at 3 pm. / The meeting starts at 3 pm.  (被动 be held)</a:t>
            </a:r>
          </a:p>
          <a:p>
            <a:r>
              <a:t>✗ I want to talk about my opinion.  →  ✓ I’d like to share my view.  (更自然)</a:t>
            </a:r>
          </a:p>
          <a:p>
            <a:r>
              <a:t>Mistake Watch: Check discuss (no about), at + -ing, does everybody…?, and the passive be held.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discussed about the budget.  →  ✓ We discussed the budget.  (discuss 是及物动词)</a:t>
            </a:r>
          </a:p>
          <a:p>
            <a:r>
              <a:t>✗ She is very good at to speak.  →  ✓ She is very good at speaking.  (at + -ing)</a:t>
            </a:r>
          </a:p>
          <a:p>
            <a:r>
              <a:t>✗ Everybody agree with the plan?  →  ✓ Does everybody agree with the plan?  (助动词 does)</a:t>
            </a:r>
          </a:p>
          <a:p>
            <a:r>
              <a:t>Mistake Watch: Check discuss (no about), at + -ing, does everybody…?, and the passive be held.</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Starting on time: In the UK, US and Germany, meetings usually start on time. If you will be late, send a message in advance.</a:t>
            </a:r>
          </a:p>
          <a:p>
            <a:r>
              <a:t>Speaking up: In many English-speaking workplaces, people are expected to contribute. Silence can be read as no opinion. Prepare one point in advance.</a:t>
            </a:r>
          </a:p>
          <a:p>
            <a:r>
              <a:t>Disagreeing politely: Direct disagreement is acceptable if it is softened: “I see it a little differently.” In some cultures, saying no directly is rude, so build bridges with phrases like “That’s an interesting idea.”</a:t>
            </a:r>
          </a:p>
          <a:p>
            <a:r>
              <a:t>主持人要先说目的和时间,会议结束时一定要总结行动事项(who、what、by when)。想插话时用 Sorry to jump in, but… 不显得粗鲁。</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open a meeting with the purpose and agenda.</a:t>
            </a:r>
          </a:p>
          <a:p>
            <a:r>
              <a:t>I can interrupt and disagree politely.</a:t>
            </a:r>
          </a:p>
          <a:p>
            <a:r>
              <a:t>I can summarise and agree action points with names and dates.</a:t>
            </a:r>
          </a:p>
          <a:p>
            <a:r>
              <a:t>I can use at least four ★ items in a meeting role play.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discuss (no about), at + -ing, question forms (Does everybody…?) and the passive be held.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14 · Flying for Business 商务出行</a:t>
            </a:r>
          </a:p>
          <a:p>
            <a:r>
              <a:t>Goal: handle business travel in English: airport, flight and hotel situations, delays, small talk, and expense reports.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2、4 题讲过去的经历。第 5 题表达预测,可用 “I think it’ll decline, but…”。lost luggage = 行李丢失。</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business trip (real or imagined) and what happened.</a:t>
            </a:r>
          </a:p>
          <a:p>
            <a:r>
              <a:t>Say: where and why → one problem → how you solved it → what you learned</a:t>
            </a:r>
          </a:p>
          <a:p>
            <a:r>
              <a:t>Useful starters: “I flew to… to…” / “Unfortunately, my flight was…” / “In the end, I managed to…”</a:t>
            </a:r>
          </a:p>
          <a:p>
            <a:r>
              <a:t>讲故事要用一般过去式,并用连接词(first, then, in the end)。manage to + 动词原形 = 设法做到。</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For many professionals, business travel is a mix of glamour and fatigue. On one hand, it offers a chance to meet clients face to face, see new places and build stronger relationships. On the other, it means early alarms, security queues and hotel rooms that all look the same. Experienced travellers have developed a few habits. They pack light, with a carry-on bag that can survive a delayed flight. They keep important documents and chargers within reach, arrive early, and sleep on the plane when they need to. They also plan time to adjust to a new time zone before any key meeting. With video calls available, companies now think harder about whether a trip is necessary. Still, many deals are done over dinner, and some conversations simply work better in person.</a:t>
            </a:r>
          </a:p>
          <a:p>
            <a:r>
              <a:t>glamour 光鲜。fatigue 疲劳。carry-on bag 随身行李。within reach 触手可及。”On one hand… On the other” 对比结构。</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two benefits of business travel mentioned in the text?</a:t>
            </a:r>
          </a:p>
          <a:p>
            <a:r>
              <a:t>A: Meeting clients face to face and building stronger relationships (and seeing new places).</a:t>
            </a:r>
          </a:p>
          <a:p>
            <a:r>
              <a:t>Q2. What habits do experienced travellers have?</a:t>
            </a:r>
          </a:p>
          <a:p>
            <a:r>
              <a:t>A: They pack light, keep documents and chargers within reach, arrive early, and sleep on the plane when needed.</a:t>
            </a:r>
          </a:p>
          <a:p>
            <a:r>
              <a:t>Q3. Why might a trip still be worth it despite video calls?</a:t>
            </a:r>
          </a:p>
          <a:p>
            <a:r>
              <a:t>A: Many deals are done over dinner, and some conversations work better in person.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Travel basics 差旅基础</a:t>
            </a:r>
          </a:p>
          <a:p>
            <a:r>
              <a:t>领读 → 学员跟读 → 请学员用表达造一个和自己工作相关的句子。</a:t>
            </a:r>
          </a:p>
          <a:p>
            <a:r>
              <a:t>boarding pass (noun) 登机牌 — “Please have your boarding pass ready.”</a:t>
            </a:r>
          </a:p>
          <a:p>
            <a:r>
              <a:t>check in / check-in desk (phrasal verb / noun) 办理登机 / 值机柜台 — “You can check in online 24 hours before.”</a:t>
            </a:r>
          </a:p>
          <a:p>
            <a:r>
              <a:t>carry-on (luggage) / hand luggage (noun) 随身行李 — “I only travelled with carry-on luggage.”</a:t>
            </a:r>
          </a:p>
          <a:p>
            <a:r>
              <a:t>layover / stopover (noun) 中转停留 — “I have a three-hour layover in Dubai.”</a:t>
            </a:r>
          </a:p>
          <a:p>
            <a:r>
              <a:t>delayed / cancelled (adjective) 延误 / 取消 — “Our flight has been delayed by two hours.”</a:t>
            </a:r>
          </a:p>
          <a:p>
            <a:r>
              <a:t>expense report / claim (noun) 报销单 — “Remember to submit your expense report by Friday.”</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Handling problems and small talk ★ 应对问题与寒暄</a:t>
            </a:r>
          </a:p>
          <a:p>
            <a:r>
              <a:t>领读 → 学员跟读 → 请学员用表达造一个和自己工作相关的句子。</a:t>
            </a:r>
          </a:p>
          <a:p>
            <a:r>
              <a:t>★ jet lag (noun) 时差反应 — “I’m still suffering from jet lag after the long flight.”</a:t>
            </a:r>
          </a:p>
          <a:p>
            <a:r>
              <a:t>★ get rebooked (verb phrase) 被改签 — “We were rebooked on the next flight.”</a:t>
            </a:r>
          </a:p>
          <a:p>
            <a:r>
              <a:t>★ run late / be running behind (phrase) 晚点 — “I’m running late. My flight was delayed.”</a:t>
            </a:r>
          </a:p>
          <a:p>
            <a:r>
              <a:t>★ catch / miss a connection (collocation) 赶上 / 错过转机 — “I just missed my connection in Frankfurt.”</a:t>
            </a:r>
          </a:p>
          <a:p>
            <a:r>
              <a:t>★ upgrade (verb / noun) 升舱;升级 — “They upgraded me to business class because the flight was full.”</a:t>
            </a:r>
          </a:p>
          <a:p>
            <a:r>
              <a:t>★ make the most of (phrasal) 充分利用 — “I made the most of the layover to answer emails.”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boarding pass / check in / delayed / expense report / jet lag / missed</a:t>
            </a:r>
          </a:p>
          <a:p>
            <a:r>
              <a:t>1. Please have your _______ ready at the gate. → boarding pass</a:t>
            </a:r>
          </a:p>
          <a:p>
            <a:r>
              <a:t>2. You can _______ online 24 hours before departure. → check in</a:t>
            </a:r>
          </a:p>
          <a:p>
            <a:r>
              <a:t>3. Our flight has been _______ by two hours. → delayed</a:t>
            </a:r>
          </a:p>
          <a:p>
            <a:r>
              <a:t>4. Remember to submit your _______ by Friday. → expense report</a:t>
            </a:r>
          </a:p>
          <a:p>
            <a:r>
              <a:t>5. I’m still suffering from _______ after the long flight. → jet lag</a:t>
            </a:r>
          </a:p>
          <a:p>
            <a:r>
              <a:t>6. I just _______ my connection in Frankfurt. → missed</a:t>
            </a:r>
          </a:p>
          <a:p>
            <a:r>
              <a:t>Mistake Watch (拼写与搭配): luggage / baggage are uncountable (a piece of luggage). Check in (verb) vs check-in (noun). Jet lag is two words. Say “on a flight” and “by air”, but “arrive at the airport”, “arrive in Beijing”.</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Dealing with a delayed flight at the airport 机场航班延误</a:t>
            </a:r>
          </a:p>
          <a:p>
            <a:r>
              <a:t>情景：Your flight to a client meeting has been delayed and you will miss your connection. You speak to an airline agent.</a:t>
            </a:r>
          </a:p>
          <a:p>
            <a:r>
              <a:t>Role A: Wei Zhang, traveller (you) Role B: Helen Brooks, airline agent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(Wei): Excuse me. My flight from Beijing was delayed, and now I’m going to miss my connection to Singapore. Could you help me?</a:t>
            </a:r>
          </a:p>
          <a:p>
            <a:r>
              <a:t>B (Helen): I’m sorry to hear that. Let me have a look. Could I see your boarding pass and passport?</a:t>
            </a:r>
          </a:p>
          <a:p>
            <a:r>
              <a:t>A: Of course. Here you are.</a:t>
            </a:r>
          </a:p>
          <a:p>
            <a:r>
              <a:t>B: Thank you. The next flight to Singapore leaves at 9 pm. I can rebook you on that one.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would be great. Is there any chance of a seat at the front? I have an important meeting early tomorrow.</a:t>
            </a:r>
          </a:p>
          <a:p>
            <a:r>
              <a:t>B: There’s one seat in business class, and I can upgrade you at no extra cost, since it’s our delay.</a:t>
            </a:r>
          </a:p>
          <a:p>
            <a:r>
              <a:t>A: That’s very kind, thank you. Will my luggage be transferred automatically?</a:t>
            </a:r>
          </a:p>
          <a:p>
            <a:r>
              <a:t>B: Yes, it will be transferred. Here’s your new boarding pass. Gate 14, boarding at 8.30.</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Thank you. Could I also get a meal voucher? I’ll have a long wait.</a:t>
            </a:r>
          </a:p>
          <a:p>
            <a:r>
              <a:t>B: Certainly. Here you go. We apologise for the inconvenience.</a:t>
            </a:r>
          </a:p>
          <a:p>
            <a:r>
              <a:t>A: No problem. You’ve been very helpful.</a:t>
            </a:r>
          </a:p>
          <a:p>
            <a:r>
              <a:t>B: Have a good flight, Mr Zhang.</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14 | </a:t>
            </a:r>
          </a:p>
          <a:p>
            <a:r>
              <a:t>Situation | You solve a travel problem with an airline agent.</a:t>
            </a:r>
          </a:p>
          <a:p>
            <a:r>
              <a:t>Your role (A) | Traveller. Your destination and the reason for the trip: ______________</a:t>
            </a:r>
          </a:p>
          <a:p>
            <a:r>
              <a:t>Partner’s role (B) | Airline agent. Helpful, but limited options.</a:t>
            </a:r>
          </a:p>
          <a:p>
            <a:r>
              <a:t>Must use (4 or more) | delayed · miss the connection · rebook · upgrade · boarding pass · luggage</a:t>
            </a:r>
          </a:p>
          <a:p>
            <a:r>
              <a:t>Goal | Explain the problem, ask for a solution, and check what happens to your luggage.</a:t>
            </a:r>
          </a:p>
          <a:p>
            <a:r>
              <a:t>My notes | ____________________________________________</a:t>
            </a:r>
          </a:p>
          <a:p>
            <a:r>
              <a:t>The agent says the only option is tomorrow morning. Politely ask for compensation or a hotel: “Would it be possible to…?”</a:t>
            </a:r>
          </a:p>
          <a:p>
            <a:r>
              <a:t>Your bag is lost. Report it: describe the bag, give your flight number and ask what happens next.</a:t>
            </a:r>
          </a:p>
          <a:p>
            <a:r>
              <a:t>Phone your client to say you will be late. Apologise and suggest a new time.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business travel still necessary now that video calls are common? | “In many cases, a video call is enough, but…” / “Some things need to be done in person, such as…”</a:t>
            </a:r>
          </a:p>
          <a:p>
            <a:r>
              <a:t>2. What makes a good business trip? What makes a bad one? | “A good trip is one where… A bad one is when…”</a:t>
            </a:r>
          </a:p>
          <a:p>
            <a:r>
              <a:t>3. How do you deal with jet lag and tiredness during a trip? | “I try to… / I find it helps to…”</a:t>
            </a:r>
          </a:p>
          <a:p>
            <a:r>
              <a:t>4. Should companies pay for business class on long flights? | “On long flights, I’d say yes, because… / No, because…”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“In many cases, a video call is enough, especially for regular updates. But some things really need to be done in person, such as building trust with a new client or negotiating a complicated deal. You also notice things you can’t see on screen, like how people react. So I think companies should travel less, but more carefully. When they do send people, the trip should have a clear purpose and be worth the cost and the time.”</a:t>
            </a:r>
          </a:p>
          <a:p>
            <a:r>
              <a:t>“In many cases” = 在很多情况下。”more carefully” 副词比较级。 “the trip should have a clear purpose” 结构清楚。</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My plane is late. | My flight has been delayed. | 更准确</a:t>
            </a:r>
          </a:p>
          <a:p>
            <a:r>
              <a:t>I want to change my ticket. | I’d like to rebook my flight. | 礼貌、专业</a:t>
            </a:r>
          </a:p>
          <a:p>
            <a:r>
              <a:t>I can’t find my bag. | My luggage hasn’t arrived. | 描述事实</a:t>
            </a:r>
          </a:p>
          <a:p>
            <a:r>
              <a:t>I’m very tired from flying. | I’m suffering from jet lag. | 固定搭配</a:t>
            </a:r>
          </a:p>
          <a:p>
            <a:r>
              <a:t>Can you give me a better seat? | Would it be possible to be upgraded? | 委婉请求</a:t>
            </a:r>
          </a:p>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Present perfect for current results: “Our flight has been delayed.” / “My bag hasn’t arrived.”</a:t>
            </a:r>
          </a:p>
          <a:p>
            <a:r>
              <a:t>Passive for events: was delayed, was cancelled, will be transferred.</a:t>
            </a:r>
          </a:p>
          <a:p>
            <a:r>
              <a:t>Polite requests: Would it be possible to…? · I was wondering if I could… · Could you…?</a:t>
            </a:r>
          </a:p>
          <a:p>
            <a:r>
              <a:t>Prepositions: at the airport · in the terminal · on the plane · on a flight · by air · for business.</a:t>
            </a:r>
          </a:p>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My flight was delay.  →  ✓ My flight was delayed.  (被动用过去分词)</a:t>
            </a:r>
          </a:p>
          <a:p>
            <a:r>
              <a:t>✗ I arrived to the airport.  →  ✓ I arrived at the airport. / I arrived in Shanghai.  (arrive at / in)</a:t>
            </a:r>
          </a:p>
          <a:p>
            <a:r>
              <a:t>✗ I have two luggages.  →  ✓ I have two pieces of luggage. / two bags  (luggage 不可数)</a:t>
            </a:r>
          </a:p>
          <a:p>
            <a:r>
              <a:t>Mistake Watch: Check arrive at / in, uncountable luggage, passive participles (delayed), and word order in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plane was late for two hours.  →  ✓ The plane was two hours late. / The flight was delayed by two hours.  (英语习惯)</a:t>
            </a:r>
          </a:p>
          <a:p>
            <a:r>
              <a:t>✗ I am going to business trip.  →  ✓ I’m going on a business trip.  (go on a trip)</a:t>
            </a:r>
          </a:p>
          <a:p>
            <a:r>
              <a:t>✗ I want to know the price of this ticket how much.  →  ✓ How much is this ticket?  (疑问句语序)</a:t>
            </a:r>
          </a:p>
          <a:p>
            <a:r>
              <a:t>Mistake Watch: Check arrive at / in, uncountable luggage, passive participles (delayed), and word order in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Security and politeness: Be patient with security checks; frustration won’t help. A friendly “Thank you” goes a long way.</a:t>
            </a:r>
          </a:p>
          <a:p>
            <a:r>
              <a:t>Small talk on planes and at hotels: Light conversation (“Are you travelling for work?”) is common in the US and UK. It’s fine to stay quiet if you want.</a:t>
            </a:r>
          </a:p>
          <a:p>
            <a:r>
              <a:t>Expenses: Keep receipts and follow the company’s policy: economy vs business class, hotel limits and per-diem allowances.</a:t>
            </a:r>
          </a:p>
          <a:p>
            <a:r>
              <a:t>航班延误或行李丢失时,先说明问题,再用 Would it be possible to…? 提出请求。luggage 不可数,要说 a piece of luggage。差旅报销要保留发票。</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handle check-in, delays and rebooking in English.</a:t>
            </a:r>
          </a:p>
          <a:p>
            <a:r>
              <a:t>I can tell a short travel story in the past tense.</a:t>
            </a:r>
          </a:p>
          <a:p>
            <a:r>
              <a:t>I can make polite requests using Would it be possible to…?</a:t>
            </a:r>
          </a:p>
          <a:p>
            <a:r>
              <a:t>I can use at least four ★ items from this lesson.</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passive participles (delayed), uncountable luggage, and prepositions (arrive at / in).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“请稍等(不要挂断)” in English? → hold the line</a:t>
            </a:r>
          </a:p>
          <a:p>
            <a:r>
              <a:t>“遵守、观察” in English? → observe</a:t>
            </a:r>
          </a:p>
          <a:p>
            <a:r>
              <a:t>“正式的 / 非正式的” in English? → formal / informal</a:t>
            </a:r>
          </a:p>
          <a:p>
            <a:r>
              <a:t>Fix it: I am going to business trip. → I’m going on a business trip.</a:t>
            </a:r>
          </a:p>
          <a:p>
            <a:r>
              <a:t>Fix it: I am Paul Davis. (on the phone) → This is Paul Davis.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27.xml"/><Relationship Id="rId5" Type="http://schemas.openxmlformats.org/officeDocument/2006/relationships/slide" Target="slide50.xml"/><Relationship Id="rId6" Type="http://schemas.openxmlformats.org/officeDocument/2006/relationships/slide" Target="slide72.xml"/><Relationship Id="rId7" Type="http://schemas.openxmlformats.org/officeDocument/2006/relationships/slide" Target="slide9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 Id="rId4" Type="http://schemas.openxmlformats.org/officeDocument/2006/relationships/slide" Target="slide118.xml"/><Relationship Id="rId5" Type="http://schemas.openxmlformats.org/officeDocument/2006/relationships/slide" Target="slide119.xml"/><Relationship Id="rId6" Type="http://schemas.openxmlformats.org/officeDocument/2006/relationships/slide" Target="slide120.xml"/><Relationship Id="rId7" Type="http://schemas.openxmlformats.org/officeDocument/2006/relationships/slide" Target="slide121.xml"/><Relationship Id="rId8" Type="http://schemas.openxmlformats.org/officeDocument/2006/relationships/slide" Target="slide122.xml"/><Relationship Id="rId9" Type="http://schemas.openxmlformats.org/officeDocument/2006/relationships/slide" Target="slide123.xml"/><Relationship Id="rId10" Type="http://schemas.openxmlformats.org/officeDocument/2006/relationships/slide" Target="slide124.xml"/><Relationship Id="rId11" Type="http://schemas.openxmlformats.org/officeDocument/2006/relationships/slide" Target="slide125.xml"/><Relationship Id="rId12" Type="http://schemas.openxmlformats.org/officeDocument/2006/relationships/slide" Target="slide12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2</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9-10 · UNIT 2</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4800" b="1">
                <a:solidFill>
                  <a:srgbClr val="FFFFFF"/>
                </a:solidFill>
                <a:latin typeface="Arial"/>
                <a:ea typeface="Microsoft YaHei"/>
              </a:rPr>
              <a:t>Business Communication and Workplace Expression</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5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L10 Telephone Messages · L11 Business Idioms and Expressions · L12 Business Protocol · L13 Leading and Participating in Business Meetings · L14 Flying for Business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10</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Telephone Messages</a:t>
            </a:r>
          </a:p>
          <a:p>
            <a:pPr algn="l">
              <a:lnSpc>
                <a:spcPct val="100000"/>
              </a:lnSpc>
              <a:spcAft>
                <a:spcPts val="800"/>
              </a:spcAft>
            </a:pPr>
            <a:r>
              <a:rPr sz="1400" b="0">
                <a:solidFill>
                  <a:srgbClr val="5F677A"/>
                </a:solidFill>
                <a:latin typeface="Arial"/>
                <a:ea typeface="Microsoft YaHei"/>
              </a:rPr>
              <a:t>电话留言</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11</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Business Idioms and Expressions</a:t>
            </a:r>
          </a:p>
          <a:p>
            <a:pPr algn="l">
              <a:lnSpc>
                <a:spcPct val="100000"/>
              </a:lnSpc>
              <a:spcAft>
                <a:spcPts val="800"/>
              </a:spcAft>
            </a:pPr>
            <a:r>
              <a:rPr sz="1400" b="0">
                <a:solidFill>
                  <a:srgbClr val="5F677A"/>
                </a:solidFill>
                <a:latin typeface="Arial"/>
                <a:ea typeface="Microsoft YaHei"/>
              </a:rPr>
              <a:t>商业习语和表达方式</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12</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Business Protocol</a:t>
            </a:r>
          </a:p>
          <a:p>
            <a:pPr algn="l">
              <a:lnSpc>
                <a:spcPct val="100000"/>
              </a:lnSpc>
              <a:spcAft>
                <a:spcPts val="800"/>
              </a:spcAft>
            </a:pPr>
            <a:r>
              <a:rPr sz="1400" b="0">
                <a:solidFill>
                  <a:srgbClr val="5F677A"/>
                </a:solidFill>
                <a:latin typeface="Arial"/>
                <a:ea typeface="Microsoft YaHei"/>
              </a:rPr>
              <a:t>商务礼仪</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13</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Leading and Participating in Business Meetings</a:t>
            </a:r>
          </a:p>
          <a:p>
            <a:pPr algn="l">
              <a:lnSpc>
                <a:spcPct val="100000"/>
              </a:lnSpc>
              <a:spcAft>
                <a:spcPts val="800"/>
              </a:spcAft>
            </a:pPr>
            <a:r>
              <a:rPr sz="1400" b="0">
                <a:solidFill>
                  <a:srgbClr val="5F677A"/>
                </a:solidFill>
                <a:latin typeface="Arial"/>
                <a:ea typeface="Microsoft YaHei"/>
              </a:rPr>
              <a:t>主持和参与商务会议</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14</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Flying for Business</a:t>
            </a:r>
          </a:p>
          <a:p>
            <a:pPr algn="l">
              <a:lnSpc>
                <a:spcPct val="100000"/>
              </a:lnSpc>
              <a:spcAft>
                <a:spcPts val="800"/>
              </a:spcAft>
            </a:pPr>
            <a:r>
              <a:rPr sz="1400" b="0">
                <a:solidFill>
                  <a:srgbClr val="5F677A"/>
                </a:solidFill>
                <a:latin typeface="Arial"/>
                <a:ea typeface="Microsoft YaHei"/>
              </a:rPr>
              <a:t>商务出行</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2 · Lesson 10 Telephone Messages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Telephone Messages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电话留言</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take, leave and pass on telephone and voicemail messages clearly: spell names, repeat numbers, check details and sound polite.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often do you make phone calls at work? Do you prefer calls, emails or messaging apps?</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find most difficult about phone calls in English?</a:t>
            </a:r>
          </a:p>
        </p:txBody>
      </p:sp>
      <p:sp>
        <p:nvSpPr>
          <p:cNvPr id="15" name="Oval 14"/>
          <p:cNvSpPr/>
          <p:nvPr/>
        </p:nvSpPr>
        <p:spPr>
          <a:xfrm>
            <a:off x="548640" y="343509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Have you ever had to take a message for a colleague? What went wrong or right?</a:t>
            </a:r>
          </a:p>
        </p:txBody>
      </p:sp>
      <p:sp>
        <p:nvSpPr>
          <p:cNvPr id="18" name="Oval 17"/>
          <p:cNvSpPr/>
          <p:nvPr/>
        </p:nvSpPr>
        <p:spPr>
          <a:xfrm>
            <a:off x="548640" y="427634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245864"/>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245864"/>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information should a good voicemail message contain?</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check that you’ve understood a name or a number correctly?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3 题讲过去的经历,用过去式。第 5 题可以用 “I usually repeat it back…”。voicemail = 语音信箱留言。</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Leave a 30-second voicemail for a client asking them to call you back.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who you are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you are calling</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when you are available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number, slowly</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Hello, this is… from…   💬 I’m calling about…   💬 Could you give me a call back on…?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留言要短:姓名、公司、事由、回电时间、号码(慢读两遍)。号码按小组读,例如 0-2-1, 5-5-5, 0-1-4-2。</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Four Facts and a Number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good phone message is short, clear and complete. Most voicemails that fail do so because they leave out something important, or because the caller speaks too fast. Think of four facts and a number. First, say who you are and which company you represent. Second, say why you are calling in one sentence. Third, say when you are available for a call back. Fourth, if you need a particular action, say what it is, such as confirming a delivery time. Then give your phone number slowly, in groups, and repeat it at the end. When you take a message for someone else, write the caller’s name, company, number and request, and read it back to check. If you aren’t sure about a spelling, ask politely: “Could you spell that for me, please?” A minute of care here saves a lot of confusion later.</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the “four facts” a good voicemail should include?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Who you are and your company, why you are calling, when you are available, and any action you need.</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should you give your phone number?</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Slowly, in groups, and repeat it at the end.</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you do when you take a message for someone else?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Write down the name, company, number and request, and read it back to check.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Messages and calls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电话与留言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leave / take a message</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留言 / 代接留言</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I take a message for Ms Lin?”</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call back / return a call</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回电话</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ask her to call you back this afternoon.”</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voicemail</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语音留言</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left you a voicemail about the delivery.”</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hold the line</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请稍等(不要挂断)</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hold the line, please? I’ll check.”</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put someone through</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转接电话</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put you through to the sales department.”</a:t>
            </a:r>
          </a:p>
        </p:txBody>
      </p:sp>
      <p:sp>
        <p:nvSpPr>
          <p:cNvPr id="34" name="Rounded Rectangle 33"/>
          <p:cNvSpPr/>
          <p:nvPr/>
        </p:nvSpPr>
        <p:spPr>
          <a:xfrm>
            <a:off x="548640" y="52400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in a meeting / tied up</a:t>
            </a:r>
          </a:p>
          <a:p>
            <a:pPr algn="l">
              <a:lnSpc>
                <a:spcPct val="115000"/>
              </a:lnSpc>
              <a:spcAft>
                <a:spcPts val="800"/>
              </a:spcAft>
            </a:pPr>
            <a:r>
              <a:rPr sz="1300" b="0">
                <a:solidFill>
                  <a:srgbClr val="5F677A"/>
                </a:solidFill>
                <a:latin typeface="Arial"/>
                <a:ea typeface="Microsoft YaHei"/>
              </a:rPr>
              <a:t>phrase</a:t>
            </a:r>
          </a:p>
        </p:txBody>
      </p:sp>
      <p:sp>
        <p:nvSpPr>
          <p:cNvPr id="37" name="TextBox 36"/>
          <p:cNvSpPr txBox="1"/>
          <p:nvPr/>
        </p:nvSpPr>
        <p:spPr>
          <a:xfrm>
            <a:off x="4206240" y="52857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在开会 / 走不开</a:t>
            </a:r>
          </a:p>
        </p:txBody>
      </p:sp>
      <p:sp>
        <p:nvSpPr>
          <p:cNvPr id="38" name="TextBox 37"/>
          <p:cNvSpPr txBox="1"/>
          <p:nvPr/>
        </p:nvSpPr>
        <p:spPr>
          <a:xfrm>
            <a:off x="6675120" y="52857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he’s tied up until 3 pm.”</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Sounding natural and clear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自然而清晰</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back to someone</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回复某人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get back to you by the end of the day.”</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reach someone / get hold of someone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联系上某人</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been trying to get hold of Mr Davis all morning.”</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bad line / break up</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信号不好 / 断断续续</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you’re breaking up. Could you say that again?”</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Chunk 2: Sounding natural and clear ★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自然而清晰</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pass on a message</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转达信息</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make sure I pass on your message.”</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it’s regarding / it’s about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事由是…</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regarding the invoice we sent last week.”</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you spell that for me?</a:t>
            </a:r>
          </a:p>
          <a:p>
            <a:pPr algn="l">
              <a:lnSpc>
                <a:spcPct val="115000"/>
              </a:lnSpc>
              <a:spcAft>
                <a:spcPts val="800"/>
              </a:spcAft>
            </a:pPr>
            <a:r>
              <a:rPr sz="1300" b="0">
                <a:solidFill>
                  <a:srgbClr val="5F677A"/>
                </a:solidFill>
                <a:latin typeface="Arial"/>
                <a:ea typeface="Microsoft YaHei"/>
              </a:rPr>
              <a:t>polite request</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请您拼写一下</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spell that for me, please? I want to make sure I get it right.”</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留言 / 代接留言</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leave / take a message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联系上某人</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reach someone / get hold of someone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事由是…</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it’s regarding / it’s about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语音留言</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voicemail</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信号不好 / 断断续续</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bad line / break up</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回复某人</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back to someone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请您拼写一下</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you spell that for me?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在开会 / 走不开</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in a meeting / tied up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message</a:t>
            </a:r>
          </a:p>
        </p:txBody>
      </p:sp>
      <p:sp>
        <p:nvSpPr>
          <p:cNvPr id="10" name="Rounded Rectangle 9"/>
          <p:cNvSpPr/>
          <p:nvPr/>
        </p:nvSpPr>
        <p:spPr>
          <a:xfrm>
            <a:off x="3236976" y="987552"/>
            <a:ext cx="69494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put</a:t>
            </a:r>
          </a:p>
        </p:txBody>
      </p:sp>
      <p:sp>
        <p:nvSpPr>
          <p:cNvPr id="11" name="Rounded Rectangle 10"/>
          <p:cNvSpPr/>
          <p:nvPr/>
        </p:nvSpPr>
        <p:spPr>
          <a:xfrm>
            <a:off x="4023360"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hold</a:t>
            </a:r>
          </a:p>
        </p:txBody>
      </p:sp>
      <p:sp>
        <p:nvSpPr>
          <p:cNvPr id="12" name="Rounded Rectangle 11"/>
          <p:cNvSpPr/>
          <p:nvPr/>
        </p:nvSpPr>
        <p:spPr>
          <a:xfrm>
            <a:off x="4919472"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get back</a:t>
            </a:r>
          </a:p>
        </p:txBody>
      </p:sp>
      <p:sp>
        <p:nvSpPr>
          <p:cNvPr id="13" name="Rounded Rectangle 12"/>
          <p:cNvSpPr/>
          <p:nvPr/>
        </p:nvSpPr>
        <p:spPr>
          <a:xfrm>
            <a:off x="6254496"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breaking up</a:t>
            </a:r>
          </a:p>
        </p:txBody>
      </p:sp>
      <p:sp>
        <p:nvSpPr>
          <p:cNvPr id="14" name="Rounded Rectangle 13"/>
          <p:cNvSpPr/>
          <p:nvPr/>
        </p:nvSpPr>
        <p:spPr>
          <a:xfrm>
            <a:off x="7918703"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pass on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Can I take a _______ for Ms Lin?</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message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I’ll _______ you through to the sales department.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Could you _______ the line, please? I’ll check.</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hold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I’ll _______ to you by the end of the day.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back</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Sorry, you’re _______. Could you say that again?</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breaking up</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I’ll make sure I _______ your message to Mr Davis.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pass on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拼写与读法): Spell out names with clear examples: “M as in Mike, N as in November”. Breaking up = connection problems, not “broken up” (which means ended a relationship). Voicemail is one word.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Taking a message for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为同事代接电话留言</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client, Mr Davis, phones for your colleague, Ms Lin, who is in a meeting. You take the message.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Alex Chen, receptionist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Paul Davis, client</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Taking a message for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Alex</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afternoon, Greenfield Systems, Alex speaking. How can I help you?</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Paul</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this is Paul Davis from Harper Foods. Could I speak to Ms Lin, please?</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she’s tied up in a meeting until three. Can I take a message?</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please. It’s regarding the order we placed last week. I’d like to know when it will be delivered.</a:t>
            </a:r>
          </a:p>
        </p:txBody>
      </p:sp>
      <p:sp>
        <p:nvSpPr>
          <p:cNvPr id="20" name="Rounded Rectangle 19"/>
          <p:cNvSpPr/>
          <p:nvPr/>
        </p:nvSpPr>
        <p:spPr>
          <a:xfrm>
            <a:off x="548640" y="481279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525170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81279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Certainly. Could you spell your surname for me, please?</a:t>
            </a:r>
          </a:p>
        </p:txBody>
      </p:sp>
      <p:sp>
        <p:nvSpPr>
          <p:cNvPr id="23" name="Rounded Rectangle 22"/>
          <p:cNvSpPr/>
          <p:nvPr/>
        </p:nvSpPr>
        <p:spPr>
          <a:xfrm>
            <a:off x="10911535" y="539496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6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D-A-V-I-S. Davis, like the actor.</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Taking a message for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Mr Davis. And your number?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0-2-0, 7-9-4-6, 0-3-1-8.</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read that back: 0-2-0, 7-9-4-6, 0-3-1-8. Is that right?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right. Could she call me back before five?</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pass on your message and ask her to get back to you this afternoon.</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thank you for your help. Goodbye.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Taking a message for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take a phone message for a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Receptionist. Your company and name: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Name, company and reason for calling: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take a message · spell · read back · get back to · tied up · pass on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Get the name, number, reason and best time for a call back, and read them back.</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line is bad. Ask the caller to repeat: “Sorry, you’re breaking up. Could you say that again?” Check each number twice.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caller is annoyed: “This is the third time I’ve called!” Apologise sincerely and promise a specific action.</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Leave the same message as a 20-second voicemail instead, with your number repeated at the end.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phone calls or written messages for work? Why?</a:t>
            </a:r>
          </a:p>
          <a:p>
            <a:pPr algn="l">
              <a:lnSpc>
                <a:spcPct val="115000"/>
              </a:lnSpc>
              <a:spcAft>
                <a:spcPts val="800"/>
              </a:spcAft>
            </a:pPr>
            <a:r>
              <a:rPr sz="1400" b="0">
                <a:solidFill>
                  <a:srgbClr val="5F677A"/>
                </a:solidFill>
                <a:latin typeface="Arial"/>
                <a:ea typeface="Microsoft YaHei"/>
              </a:rPr>
              <a:t>💬 “I prefer… because it’s…” / “A call is better for…, but a message is better for…”</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many people dislike leaving voicemail messages today?</a:t>
            </a:r>
          </a:p>
          <a:p>
            <a:pPr algn="l">
              <a:lnSpc>
                <a:spcPct val="115000"/>
              </a:lnSpc>
              <a:spcAft>
                <a:spcPts val="800"/>
              </a:spcAft>
            </a:pPr>
            <a:r>
              <a:rPr sz="1400" b="0">
                <a:solidFill>
                  <a:srgbClr val="5F677A"/>
                </a:solidFill>
                <a:latin typeface="Arial"/>
                <a:ea typeface="Microsoft YaHei"/>
              </a:rPr>
              <a:t>💬 “Some people think voicemails are… because…” / “A text is quicker, so…”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you handle a caller who speaks too fast or has a strong accent?</a:t>
            </a:r>
          </a:p>
          <a:p>
            <a:pPr algn="l">
              <a:lnSpc>
                <a:spcPct val="115000"/>
              </a:lnSpc>
              <a:spcAft>
                <a:spcPts val="800"/>
              </a:spcAft>
            </a:pPr>
            <a:r>
              <a:rPr sz="1400" b="0">
                <a:solidFill>
                  <a:srgbClr val="5F677A"/>
                </a:solidFill>
                <a:latin typeface="Arial"/>
                <a:ea typeface="Microsoft YaHei"/>
              </a:rPr>
              <a:t>💬 “I’d politely ask them to… by saying…” / “It helps to repeat key details.”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most useful phrases to know when you cannot hear well?</a:t>
            </a:r>
          </a:p>
          <a:p>
            <a:pPr algn="l">
              <a:lnSpc>
                <a:spcPct val="115000"/>
              </a:lnSpc>
              <a:spcAft>
                <a:spcPts val="800"/>
              </a:spcAft>
            </a:pPr>
            <a:r>
              <a:rPr sz="1400" b="0">
                <a:solidFill>
                  <a:srgbClr val="5F677A"/>
                </a:solidFill>
                <a:latin typeface="Arial"/>
                <a:ea typeface="Microsoft YaHei"/>
              </a:rPr>
              <a:t>💬 “I’d say… / I’d ask…”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Many people dislike voicemails because they take time to listen to and are hard to search. A text or an email is quicker to read, and you can reply when it suits you. I only leave a voicemail when the matter is urgent or when I need to explain something in my own words. Even then, I keep it under thirty seconds and repeat my number at the end.</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“hard to search” = 难以检索。”when it suits you” = 在你方便的时候。”take time to + 动词原形”。注意 voicemail 前面可用 leave / listen to。</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Who are you?</a:t>
                      </a:r>
                    </a:p>
                  </a:txBody>
                  <a:tcPr anchor="ctr">
                    <a:solidFill>
                      <a:srgbClr val="FFFFFF"/>
                    </a:solidFill>
                  </a:tcPr>
                </a:tc>
                <a:tc>
                  <a:txBody>
                    <a:bodyPr wrap="square"/>
                    <a:lstStyle/>
                    <a:p>
                      <a:r>
                        <a:rPr sz="1600" b="0">
                          <a:solidFill>
                            <a:srgbClr val="1F2A44"/>
                          </a:solidFill>
                          <a:latin typeface="Arial"/>
                          <a:ea typeface="Microsoft YaHei"/>
                        </a:rPr>
                        <a:t>May I ask who’s calling?</a:t>
                      </a:r>
                    </a:p>
                  </a:txBody>
                  <a:tcPr anchor="ctr">
                    <a:solidFill>
                      <a:srgbClr val="FFFFFF"/>
                    </a:solidFill>
                  </a:tcPr>
                </a:tc>
                <a:tc>
                  <a:txBody>
                    <a:bodyPr wrap="square"/>
                    <a:lstStyle/>
                    <a:p>
                      <a:r>
                        <a:rPr sz="1600" b="0">
                          <a:solidFill>
                            <a:srgbClr val="FF6B5B"/>
                          </a:solidFill>
                          <a:latin typeface="Arial"/>
                          <a:ea typeface="Microsoft YaHei"/>
                        </a:rPr>
                        <a:t>询问来电者,委婉</a:t>
                      </a:r>
                    </a:p>
                  </a:txBody>
                  <a:tcPr anchor="ctr">
                    <a:solidFill>
                      <a:srgbClr val="FFFFFF"/>
                    </a:solidFill>
                  </a:tcPr>
                </a:tc>
              </a:tr>
              <a:tr h="652272">
                <a:tc>
                  <a:txBody>
                    <a:bodyPr wrap="square"/>
                    <a:lstStyle/>
                    <a:p>
                      <a:r>
                        <a:rPr sz="1600" b="1">
                          <a:solidFill>
                            <a:srgbClr val="1F2A44"/>
                          </a:solidFill>
                          <a:latin typeface="Arial"/>
                          <a:ea typeface="Microsoft YaHei"/>
                        </a:rPr>
                        <a:t>He’s not here.</a:t>
                      </a:r>
                    </a:p>
                  </a:txBody>
                  <a:tcPr anchor="ctr">
                    <a:solidFill>
                      <a:srgbClr val="FFEFD9"/>
                    </a:solidFill>
                  </a:tcPr>
                </a:tc>
                <a:tc>
                  <a:txBody>
                    <a:bodyPr wrap="square"/>
                    <a:lstStyle/>
                    <a:p>
                      <a:r>
                        <a:rPr sz="1600" b="0">
                          <a:solidFill>
                            <a:srgbClr val="1F2A44"/>
                          </a:solidFill>
                          <a:latin typeface="Arial"/>
                          <a:ea typeface="Microsoft YaHei"/>
                        </a:rPr>
                        <a:t>I’m afraid he’s not available at the moment.</a:t>
                      </a:r>
                    </a:p>
                  </a:txBody>
                  <a:tcPr anchor="ctr">
                    <a:solidFill>
                      <a:srgbClr val="FFEFD9"/>
                    </a:solidFill>
                  </a:tcPr>
                </a:tc>
                <a:tc>
                  <a:txBody>
                    <a:bodyPr wrap="square"/>
                    <a:lstStyle/>
                    <a:p>
                      <a:r>
                        <a:rPr sz="1600" b="0">
                          <a:solidFill>
                            <a:srgbClr val="FF6B5B"/>
                          </a:solidFill>
                          <a:latin typeface="Arial"/>
                          <a:ea typeface="Microsoft YaHei"/>
                        </a:rPr>
                        <a:t>礼貌回应</a:t>
                      </a:r>
                    </a:p>
                  </a:txBody>
                  <a:tcPr anchor="ctr">
                    <a:solidFill>
                      <a:srgbClr val="FFEFD9"/>
                    </a:solidFill>
                  </a:tcPr>
                </a:tc>
              </a:tr>
              <a:tr h="652272">
                <a:tc>
                  <a:txBody>
                    <a:bodyPr wrap="square"/>
                    <a:lstStyle/>
                    <a:p>
                      <a:r>
                        <a:rPr sz="1600" b="1">
                          <a:solidFill>
                            <a:srgbClr val="1F2A44"/>
                          </a:solidFill>
                          <a:latin typeface="Arial"/>
                          <a:ea typeface="Microsoft YaHei"/>
                        </a:rPr>
                        <a:t>Call me back.</a:t>
                      </a:r>
                    </a:p>
                  </a:txBody>
                  <a:tcPr anchor="ctr">
                    <a:solidFill>
                      <a:srgbClr val="FFFFFF"/>
                    </a:solidFill>
                  </a:tcPr>
                </a:tc>
                <a:tc>
                  <a:txBody>
                    <a:bodyPr wrap="square"/>
                    <a:lstStyle/>
                    <a:p>
                      <a:r>
                        <a:rPr sz="1600" b="0">
                          <a:solidFill>
                            <a:srgbClr val="1F2A44"/>
                          </a:solidFill>
                          <a:latin typeface="Arial"/>
                          <a:ea typeface="Microsoft YaHei"/>
                        </a:rPr>
                        <a:t>Could you give me a call back when you have a moment?</a:t>
                      </a:r>
                    </a:p>
                  </a:txBody>
                  <a:tcPr anchor="ctr">
                    <a:solidFill>
                      <a:srgbClr val="FFFFFF"/>
                    </a:solidFill>
                  </a:tcPr>
                </a:tc>
                <a:tc>
                  <a:txBody>
                    <a:bodyPr wrap="square"/>
                    <a:lstStyle/>
                    <a:p>
                      <a:r>
                        <a:rPr sz="1600" b="0">
                          <a:solidFill>
                            <a:srgbClr val="FF6B5B"/>
                          </a:solidFill>
                          <a:latin typeface="Arial"/>
                          <a:ea typeface="Microsoft YaHei"/>
                        </a:rPr>
                        <a:t>请求回电</a:t>
                      </a:r>
                    </a:p>
                  </a:txBody>
                  <a:tcPr anchor="ctr">
                    <a:solidFill>
                      <a:srgbClr val="FFFFFF"/>
                    </a:solidFill>
                  </a:tcPr>
                </a:tc>
              </a:tr>
              <a:tr h="652272">
                <a:tc>
                  <a:txBody>
                    <a:bodyPr wrap="square"/>
                    <a:lstStyle/>
                    <a:p>
                      <a:r>
                        <a:rPr sz="1600" b="1">
                          <a:solidFill>
                            <a:srgbClr val="1F2A44"/>
                          </a:solidFill>
                          <a:latin typeface="Arial"/>
                          <a:ea typeface="Microsoft YaHei"/>
                        </a:rPr>
                        <a:t>Wait.</a:t>
                      </a:r>
                    </a:p>
                  </a:txBody>
                  <a:tcPr anchor="ctr">
                    <a:solidFill>
                      <a:srgbClr val="FFEFD9"/>
                    </a:solidFill>
                  </a:tcPr>
                </a:tc>
                <a:tc>
                  <a:txBody>
                    <a:bodyPr wrap="square"/>
                    <a:lstStyle/>
                    <a:p>
                      <a:r>
                        <a:rPr sz="1600" b="0">
                          <a:solidFill>
                            <a:srgbClr val="1F2A44"/>
                          </a:solidFill>
                          <a:latin typeface="Arial"/>
                          <a:ea typeface="Microsoft YaHei"/>
                        </a:rPr>
                        <a:t>Could you hold the line for a moment?</a:t>
                      </a:r>
                    </a:p>
                  </a:txBody>
                  <a:tcPr anchor="ctr">
                    <a:solidFill>
                      <a:srgbClr val="FFEFD9"/>
                    </a:solidFill>
                  </a:tcPr>
                </a:tc>
                <a:tc>
                  <a:txBody>
                    <a:bodyPr wrap="square"/>
                    <a:lstStyle/>
                    <a:p>
                      <a:r>
                        <a:rPr sz="1600" b="0">
                          <a:solidFill>
                            <a:srgbClr val="FF6B5B"/>
                          </a:solidFill>
                          <a:latin typeface="Arial"/>
                          <a:ea typeface="Microsoft YaHei"/>
                        </a:rPr>
                        <a:t>请稍等</a:t>
                      </a:r>
                    </a:p>
                  </a:txBody>
                  <a:tcPr anchor="ctr">
                    <a:solidFill>
                      <a:srgbClr val="FFEFD9"/>
                    </a:solidFill>
                  </a:tcPr>
                </a:tc>
              </a:tr>
              <a:tr h="652272">
                <a:tc>
                  <a:txBody>
                    <a:bodyPr wrap="square"/>
                    <a:lstStyle/>
                    <a:p>
                      <a:r>
                        <a:rPr sz="1600" b="1">
                          <a:solidFill>
                            <a:srgbClr val="1F2A44"/>
                          </a:solidFill>
                          <a:latin typeface="Arial"/>
                          <a:ea typeface="Microsoft YaHei"/>
                        </a:rPr>
                        <a:t>I didn’t hear you.</a:t>
                      </a:r>
                    </a:p>
                  </a:txBody>
                  <a:tcPr anchor="ctr">
                    <a:solidFill>
                      <a:srgbClr val="FFFFFF"/>
                    </a:solidFill>
                  </a:tcPr>
                </a:tc>
                <a:tc>
                  <a:txBody>
                    <a:bodyPr wrap="square"/>
                    <a:lstStyle/>
                    <a:p>
                      <a:r>
                        <a:rPr sz="1600" b="0">
                          <a:solidFill>
                            <a:srgbClr val="1F2A44"/>
                          </a:solidFill>
                          <a:latin typeface="Arial"/>
                          <a:ea typeface="Microsoft YaHei"/>
                        </a:rPr>
                        <a:t>Sorry, I didn’t catch that. Could you repeat it?</a:t>
                      </a:r>
                    </a:p>
                  </a:txBody>
                  <a:tcPr anchor="ctr">
                    <a:solidFill>
                      <a:srgbClr val="FFFFFF"/>
                    </a:solidFill>
                  </a:tcPr>
                </a:tc>
                <a:tc>
                  <a:txBody>
                    <a:bodyPr wrap="square"/>
                    <a:lstStyle/>
                    <a:p>
                      <a:r>
                        <a:rPr sz="1600" b="0">
                          <a:solidFill>
                            <a:srgbClr val="FF6B5B"/>
                          </a:solidFill>
                          <a:latin typeface="Arial"/>
                          <a:ea typeface="Microsoft YaHei"/>
                        </a:rPr>
                        <a:t>没听清</a:t>
                      </a:r>
                    </a:p>
                  </a:txBody>
                  <a:tcPr anchor="ctr">
                    <a:solidFill>
                      <a:srgbClr val="FFFFFF"/>
                    </a:solidFill>
                  </a:tcPr>
                </a:tc>
              </a:tr>
            </a:tbl>
          </a:graphicData>
        </a:graphic>
      </p:graphicFrame>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Polite requests: </a:t>
            </a:r>
            <a:r>
              <a:rPr sz="1700" b="0">
                <a:solidFill>
                  <a:srgbClr val="1F2A44"/>
                </a:solidFill>
                <a:latin typeface="Arial"/>
                <a:ea typeface="Microsoft YaHei"/>
              </a:rPr>
              <a:t>Could you…? / Would you mind + -ing? are softer than Can you…? Reply with “Not at all” (= I don’t mind).</a:t>
            </a:r>
          </a:p>
        </p:txBody>
      </p:sp>
      <p:sp>
        <p:nvSpPr>
          <p:cNvPr id="11" name="Rounded Rectangle 10"/>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Numbers: </a:t>
            </a:r>
            <a:r>
              <a:rPr sz="1700" b="0">
                <a:solidFill>
                  <a:srgbClr val="1F2A44"/>
                </a:solidFill>
                <a:latin typeface="Arial"/>
                <a:ea typeface="Microsoft YaHei"/>
              </a:rPr>
              <a:t>say phone numbers digit by digit, with oh or zero for 0, and use double in UK English: “double five” = 55.</a:t>
            </a:r>
          </a:p>
        </p:txBody>
      </p:sp>
      <p:sp>
        <p:nvSpPr>
          <p:cNvPr id="14" name="Rounded Rectangle 13"/>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Check understanding: </a:t>
            </a:r>
            <a:r>
              <a:rPr sz="1700" b="0">
                <a:solidFill>
                  <a:srgbClr val="1F2A44"/>
                </a:solidFill>
                <a:latin typeface="Arial"/>
                <a:ea typeface="Microsoft YaHei"/>
              </a:rPr>
              <a:t>“Let me read that back.” / “Just to confirm, that’s…” / “Did I get that right?”</a:t>
            </a:r>
          </a:p>
        </p:txBody>
      </p:sp>
      <p:sp>
        <p:nvSpPr>
          <p:cNvPr id="17" name="Rounded Rectangle 16"/>
          <p:cNvSpPr/>
          <p:nvPr/>
        </p:nvSpPr>
        <p:spPr>
          <a:xfrm>
            <a:off x="548640" y="379475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9475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794757"/>
            <a:ext cx="10728655" cy="441959"/>
          </a:xfrm>
          <a:prstGeom prst="rect">
            <a:avLst/>
          </a:prstGeom>
          <a:noFill/>
        </p:spPr>
        <p:txBody>
          <a:bodyPr wrap="square" anchor="ctr">
            <a:spAutoFit/>
          </a:bodyPr>
          <a:lstStyle/>
          <a:p>
            <a:r>
              <a:rPr sz="1700" b="1">
                <a:solidFill>
                  <a:srgbClr val="FFC857"/>
                </a:solidFill>
                <a:latin typeface="Arial"/>
                <a:ea typeface="Microsoft YaHei"/>
              </a:rPr>
              <a:t>Caller’s phrases: </a:t>
            </a:r>
            <a:r>
              <a:rPr sz="1700" b="0">
                <a:solidFill>
                  <a:srgbClr val="1F2A44"/>
                </a:solidFill>
                <a:latin typeface="Arial"/>
                <a:ea typeface="Microsoft YaHei"/>
              </a:rPr>
              <a:t>This is… speaking (not “I am…”). Could I speak to…? / Is that…?</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Paul Davis. (on the phone)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is Paul Davis.</a:t>
            </a:r>
          </a:p>
          <a:p>
            <a:pPr algn="l">
              <a:spcAft>
                <a:spcPts val="200"/>
              </a:spcAft>
            </a:pPr>
            <a:r>
              <a:rPr sz="1200" b="0">
                <a:solidFill>
                  <a:srgbClr val="FFFFFF"/>
                </a:solidFill>
                <a:latin typeface="Arial"/>
                <a:ea typeface="Microsoft YaHei"/>
              </a:rPr>
              <a:t>电话里自我介绍用 This is…</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Who are you?</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May I ask who’s calling?</a:t>
            </a:r>
          </a:p>
          <a:p>
            <a:pPr algn="l">
              <a:spcAft>
                <a:spcPts val="200"/>
              </a:spcAft>
            </a:pPr>
            <a:r>
              <a:rPr sz="1200" b="0">
                <a:solidFill>
                  <a:srgbClr val="FFFFFF"/>
                </a:solidFill>
                <a:latin typeface="Arial"/>
                <a:ea typeface="Microsoft YaHei"/>
              </a:rPr>
              <a:t>太直接,不礼貌</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wait a moment, I give you through.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hold. I’ll put you through.</a:t>
            </a:r>
          </a:p>
          <a:p>
            <a:pPr algn="l">
              <a:spcAft>
                <a:spcPts val="200"/>
              </a:spcAft>
            </a:pPr>
            <a:r>
              <a:rPr sz="1200" b="0">
                <a:solidFill>
                  <a:srgbClr val="FFFFFF"/>
                </a:solidFill>
                <a:latin typeface="Arial"/>
                <a:ea typeface="Microsoft YaHei"/>
              </a:rPr>
              <a:t>put through 转接</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not in the seat.</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He’s not at his desk. / He’s away from his desk.</a:t>
            </a:r>
          </a:p>
          <a:p>
            <a:pPr algn="l">
              <a:spcAft>
                <a:spcPts val="200"/>
              </a:spcAft>
            </a:pPr>
            <a:r>
              <a:rPr sz="1200" b="0">
                <a:solidFill>
                  <a:srgbClr val="FFFFFF"/>
                </a:solidFill>
                <a:latin typeface="Arial"/>
                <a:ea typeface="Microsoft YaHei"/>
              </a:rPr>
              <a:t>中式表达</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leave your phone number to me.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leave your number with me.</a:t>
            </a:r>
          </a:p>
          <a:p>
            <a:pPr algn="l">
              <a:spcAft>
                <a:spcPts val="200"/>
              </a:spcAft>
            </a:pPr>
            <a:r>
              <a:rPr sz="1200" b="0">
                <a:solidFill>
                  <a:srgbClr val="FFFFFF"/>
                </a:solidFill>
                <a:latin typeface="Arial"/>
                <a:ea typeface="Microsoft YaHei"/>
              </a:rPr>
              <a:t>leave … with sb</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inform him your message.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pass on your message to him.</a:t>
            </a:r>
          </a:p>
          <a:p>
            <a:pPr algn="l">
              <a:spcAft>
                <a:spcPts val="200"/>
              </a:spcAft>
            </a:pPr>
            <a:r>
              <a:rPr sz="1200" b="0">
                <a:solidFill>
                  <a:srgbClr val="FFFFFF"/>
                </a:solidFill>
                <a:latin typeface="Arial"/>
                <a:ea typeface="Microsoft YaHei"/>
              </a:rPr>
              <a:t>inform sb of sth / pass on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This is… on the phone, leave … with, and polite forms such as May I ask who’s calling?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Identify yourself first: </a:t>
            </a:r>
            <a:r>
              <a:rPr sz="1700" b="0">
                <a:solidFill>
                  <a:srgbClr val="1F2A44"/>
                </a:solidFill>
                <a:latin typeface="Arial"/>
                <a:ea typeface="Microsoft YaHei"/>
              </a:rPr>
              <a:t>In English calls, say your name and company before you ask for someone: “Hello, this is Li Wei from Orion Foods.”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Smiling voice: </a:t>
            </a:r>
            <a:r>
              <a:rPr sz="1700" b="0">
                <a:solidFill>
                  <a:srgbClr val="1F2A44"/>
                </a:solidFill>
                <a:latin typeface="Arial"/>
                <a:ea typeface="Microsoft YaHei"/>
              </a:rPr>
              <a:t>On the phone you can’t use body language, so tone and speed matter a lot. Speak slightly slower than normal, and smile.</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Time zones: </a:t>
            </a:r>
            <a:r>
              <a:rPr sz="1700" b="0">
                <a:solidFill>
                  <a:srgbClr val="1F2A44"/>
                </a:solidFill>
                <a:latin typeface="Arial"/>
                <a:ea typeface="Microsoft YaHei"/>
              </a:rPr>
              <a:t>Before calling an international partner, check their local time. A short message (“Is now a good time?”) is polite.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电话里自我介绍用 This is… 而不用 I am…。听不清楚时直接说 Sorry, I didn’t catch that. 不失礼。数字和拼写要复述确认(read back)。</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take a message and read it back to check details.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leave a clear 30-second voicemail with my number repeated.</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polite phrases such as May I ask who’s calling? and Could you hold the line?</a:t>
            </a:r>
          </a:p>
        </p:txBody>
      </p:sp>
      <p:sp>
        <p:nvSpPr>
          <p:cNvPr id="20" name="TextBox 19"/>
          <p:cNvSpPr txBox="1"/>
          <p:nvPr/>
        </p:nvSpPr>
        <p:spPr>
          <a:xfrm>
            <a:off x="9539935" y="30083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for repetition or spelling politely.</a:t>
            </a:r>
          </a:p>
        </p:txBody>
      </p:sp>
      <p:sp>
        <p:nvSpPr>
          <p:cNvPr id="24" name="TextBox 23"/>
          <p:cNvSpPr txBox="1"/>
          <p:nvPr/>
        </p:nvSpPr>
        <p:spPr>
          <a:xfrm>
            <a:off x="9539935" y="39105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10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This is… on the phone, polite requests, and prepositions in phrases such as leave … with.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2 · Lesson 11 Business Idioms and Expressions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800" b="1">
                <a:solidFill>
                  <a:srgbClr val="FFFFFF"/>
                </a:solidFill>
                <a:latin typeface="Arial"/>
                <a:ea typeface="Microsoft YaHei"/>
              </a:rPr>
              <a:t>Business Idioms and Expressions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商业习语和表达方式</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understand and use common business idioms naturally and in moderation, and know when plain English is better.</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Which English idioms have you heard at work? Did you understand them?</a:t>
            </a:r>
          </a:p>
        </p:txBody>
      </p:sp>
      <p:sp>
        <p:nvSpPr>
          <p:cNvPr id="12" name="Oval 11"/>
          <p:cNvSpPr/>
          <p:nvPr/>
        </p:nvSpPr>
        <p:spPr>
          <a:xfrm>
            <a:off x="548640" y="225856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Why do native speakers use so many idioms in business?</a:t>
            </a:r>
          </a:p>
        </p:txBody>
      </p:sp>
      <p:sp>
        <p:nvSpPr>
          <p:cNvPr id="15" name="Oval 14"/>
          <p:cNvSpPr/>
          <p:nvPr/>
        </p:nvSpPr>
        <p:spPr>
          <a:xfrm>
            <a:off x="548640" y="309981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01696"/>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01696"/>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Can you think of a Chinese idiom (成语) that is similar to an English one?</a:t>
            </a:r>
          </a:p>
        </p:txBody>
      </p:sp>
      <p:sp>
        <p:nvSpPr>
          <p:cNvPr id="18" name="Oval 17"/>
          <p:cNvSpPr/>
          <p:nvPr/>
        </p:nvSpPr>
        <p:spPr>
          <a:xfrm>
            <a:off x="548640" y="394106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When might using an idiom be a bad idea?</a:t>
            </a:r>
          </a:p>
        </p:txBody>
      </p:sp>
      <p:sp>
        <p:nvSpPr>
          <p:cNvPr id="21" name="Oval 20"/>
          <p:cNvSpPr/>
          <p:nvPr/>
        </p:nvSpPr>
        <p:spPr>
          <a:xfrm>
            <a:off x="548640" y="461467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58419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58419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do when someone uses an idiom you don’t know?</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第 3 题可以对比:比如 “kill two birds with one stone” ≈ 一举两得。第 5 题答案可以是 “Could you explain what you mean by…?”。idiom = 习语,不能逐字翻译。</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three business idioms and use each in a sentence about your work.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idiom 1 + meaning</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example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idiom 2</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idiom 3</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…means…   💬 For example, in my team we…   💬 You might say… when…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习语要整句记忆,例如 “get the ball rolling” 不要拆成单词翻译。解释习语用 “It means…”。</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Handle With Care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Business English is full of idioms: phrases whose meaning is not obvious from the individual words. A colleague might say that a project is “on track”, that a deadline “is looming”, or that you should “hit the ground running”. Idioms make speech vivid and friendly, and native speakers use them without thinking. For learners, though, they can be confusing, especially if the idiom comes from sport or another culture. The best strategy is to learn the most common ones as whole chunks and to use them sparingly. One well-chosen idiom sounds natural; five in a row sounds like a performance. In international meetings, remember that not everyone shares the same references, so a clear plain sentence is sometimes safer. If you don’t understand an idiom, simply ask: “Sorry, what do you mean by that?” Nobody will mind.</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an idiom, according to the text?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phrase whose meaning is not obvious from the individual words.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does the writer advise about using idioms?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Learn the common ones as chunks and use them sparingly.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you do if you don’t understand an idiom?</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Ask politely what the speaker means.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Common idioms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常用习语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on the same page</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想法一致</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“Before we start, let’s make sure we’re all on the same page.”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get the ball rolling</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开始行动</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get the ball rolling with the budget.”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touch base (with)</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联络一下</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touch base with you on Friday.”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ballpark figure</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大致数字</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you give me a ballpark figure for the cost?”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 the loop</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知情</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keep me in the loop on the contract.”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 win-win situation</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双赢局面</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longer contract would be a win-win for both sides.”</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More idiomatic English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进阶习语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move the goalposts</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临时改变规则</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client keeps moving the goalposts, and the project never ends.”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bite the bullet</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硬着头皮做</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had to bite the bullet and cut the budget.”</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elephant in the room</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大家避而不谈的问题</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address the elephant in the room: the delays.”</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Chunk 2: More idiomatic English ★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进阶习语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 corners</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偷工减料</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shouldn’t cut corners on safety.”</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back to the drawing board</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重新来过</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prototype failed, so it’s back to the drawing board.”</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ball is in your court</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该你行动了</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“We’ve sent our offer. The ball is in your court now.”</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双赢局面</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win-win situation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想法一致</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 the same page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硬着头皮做</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bite the bullet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偷工减料</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corners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临时改变规则</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move the goalposts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该你行动了</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ball is in your court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大家避而不谈的问题</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elephant in the room</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大致数字</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ballpark figure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page</a:t>
            </a:r>
          </a:p>
        </p:txBody>
      </p:sp>
      <p:sp>
        <p:nvSpPr>
          <p:cNvPr id="10" name="Rounded Rectangle 9"/>
          <p:cNvSpPr/>
          <p:nvPr/>
        </p:nvSpPr>
        <p:spPr>
          <a:xfrm>
            <a:off x="2907792"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rolling</a:t>
            </a:r>
          </a:p>
        </p:txBody>
      </p:sp>
      <p:sp>
        <p:nvSpPr>
          <p:cNvPr id="11" name="Rounded Rectangle 10"/>
          <p:cNvSpPr/>
          <p:nvPr/>
        </p:nvSpPr>
        <p:spPr>
          <a:xfrm>
            <a:off x="4133088"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base</a:t>
            </a:r>
          </a:p>
        </p:txBody>
      </p:sp>
      <p:sp>
        <p:nvSpPr>
          <p:cNvPr id="12" name="Rounded Rectangle 11"/>
          <p:cNvSpPr/>
          <p:nvPr/>
        </p:nvSpPr>
        <p:spPr>
          <a:xfrm>
            <a:off x="5029200"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ballpark</a:t>
            </a:r>
          </a:p>
        </p:txBody>
      </p:sp>
      <p:sp>
        <p:nvSpPr>
          <p:cNvPr id="13" name="Rounded Rectangle 12"/>
          <p:cNvSpPr/>
          <p:nvPr/>
        </p:nvSpPr>
        <p:spPr>
          <a:xfrm>
            <a:off x="6364224"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loop</a:t>
            </a:r>
          </a:p>
        </p:txBody>
      </p:sp>
      <p:sp>
        <p:nvSpPr>
          <p:cNvPr id="14" name="Rounded Rectangle 13"/>
          <p:cNvSpPr/>
          <p:nvPr/>
        </p:nvSpPr>
        <p:spPr>
          <a:xfrm>
            <a:off x="7260336"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goalposts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1.  Before we start, let’s make sure we’re all on the same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page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2.  Let’s get the ball _______ with the budget.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rolling</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3.  I’ll touch _______ with you on Friday.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base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4.  Can you give me a _______ figure for the cost?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ballpark</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5.  Please keep me in the _______ on the contract.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loop</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6.  The client keeps moving the _______, and the project never ends.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goalposts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拼写与固定搭配): idioms are fixed: touch base (not “touch the base”), in the loop, on the same page. Ballpark is one word in ballpark figure. Don’t change words: not “get the ball running”.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Idioms in a project check-in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项目例会中的习语</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colleagues check progress on a product launch. One uses a lot of idioms and the other asks for clarification.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Sam Parker, project lead (native speaker)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Ling Zhou, project coordinator (you)</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Idioms in a project check-in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Sam</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Morning, Ling. Let’s get the ball rolling. Where are we on the launch?</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Ling</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Morning, Sam. Mostly on track, but I want to flag one thing.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 ahead. I want to keep everyone in the loop.</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Design has asked for changes to the packaging again. I’m worried that they keep moving the goalposts.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We’re against the clock, so we can’t cut corners on quality. Can you give me a ballpark figure for the extra cost?</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what do you mean by “ballpark figure”?</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Idioms in a project check-in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sorry. A rough number. It doesn’t have to be exact.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Got it. I’d say roughly 5,000 dollars.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Okay. I’ll touch base with Finance and make sure we’re all on the same page.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And if they say no, we may have to go back to the drawing board.</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not jump the gun. I’ll get back to you by lunchtime.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works. Thanks, Sam.</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Idioms in a project check-in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colleague uses idioms and you ask for clarification.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Coordinator. You ask politely when you don’t understand: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Project lead who uses idioms.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on the same page · in the loop · ballpark figure · touch base · back to the drawing board · what do you mean by…</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Use at least three idioms correctly and ask for one explanation.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an idiom to someone with a simple example: “It means… For example, …”</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Replace three idioms with plain English: “Let’s get the ball rolling” → “Let’s start.”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client from another country looks confused. Rephrase your last sentence without idioms.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idioms make business English easier or harder to understand?</a:t>
            </a:r>
          </a:p>
          <a:p>
            <a:pPr algn="l">
              <a:lnSpc>
                <a:spcPct val="115000"/>
              </a:lnSpc>
              <a:spcAft>
                <a:spcPts val="800"/>
              </a:spcAft>
            </a:pPr>
            <a:r>
              <a:rPr sz="1400" b="0">
                <a:solidFill>
                  <a:srgbClr val="5F677A"/>
                </a:solidFill>
                <a:latin typeface="Arial"/>
                <a:ea typeface="Microsoft YaHei"/>
              </a:rPr>
              <a:t>💬 “They make it more… but they can also…”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idioms do you like or find useful? Why?</a:t>
            </a:r>
          </a:p>
          <a:p>
            <a:pPr algn="l">
              <a:lnSpc>
                <a:spcPct val="115000"/>
              </a:lnSpc>
              <a:spcAft>
                <a:spcPts val="800"/>
              </a:spcAft>
            </a:pPr>
            <a:r>
              <a:rPr sz="1400" b="0">
                <a:solidFill>
                  <a:srgbClr val="5F677A"/>
                </a:solidFill>
                <a:latin typeface="Arial"/>
                <a:ea typeface="Microsoft YaHei"/>
              </a:rPr>
              <a:t>💬 “One idiom I like is…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Chinese and English idioms ever mean the same thing?</a:t>
            </a:r>
          </a:p>
          <a:p>
            <a:pPr algn="l">
              <a:lnSpc>
                <a:spcPct val="115000"/>
              </a:lnSpc>
              <a:spcAft>
                <a:spcPts val="800"/>
              </a:spcAft>
            </a:pPr>
            <a:r>
              <a:rPr sz="1400" b="0">
                <a:solidFill>
                  <a:srgbClr val="5F677A"/>
                </a:solidFill>
                <a:latin typeface="Arial"/>
                <a:ea typeface="Microsoft YaHei"/>
              </a:rPr>
              <a:t>💬 “In Chinese we say… which is similar to…”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When should you avoid idioms in international meetings?</a:t>
            </a:r>
          </a:p>
          <a:p>
            <a:pPr algn="l">
              <a:lnSpc>
                <a:spcPct val="115000"/>
              </a:lnSpc>
              <a:spcAft>
                <a:spcPts val="800"/>
              </a:spcAft>
            </a:pPr>
            <a:r>
              <a:rPr sz="1400" b="0">
                <a:solidFill>
                  <a:srgbClr val="5F677A"/>
                </a:solidFill>
                <a:latin typeface="Arial"/>
                <a:ea typeface="Microsoft YaHei"/>
              </a:rPr>
              <a:t>💬 “I’d avoid them when…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 avoid idioms when I’m speaking to people who don’t speak English as a first language, or when I’m giving an important instruction. For example, if I say “Let’s park that issue”, some people might not realise it means “Let’s discuss it later”. In a global team, clarity is more important than style. I’d use plain words first and keep idioms for casual chats with colleagues who know me well.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“park” 在这里是动词,意为搁置。”more important than” 比较级。first language = 母语。注意 “people who don’t speak English as a first language” 的写法。</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Let’s start.</a:t>
                      </a:r>
                    </a:p>
                  </a:txBody>
                  <a:tcPr anchor="ctr">
                    <a:solidFill>
                      <a:srgbClr val="FFFFFF"/>
                    </a:solidFill>
                  </a:tcPr>
                </a:tc>
                <a:tc>
                  <a:txBody>
                    <a:bodyPr wrap="square"/>
                    <a:lstStyle/>
                    <a:p>
                      <a:r>
                        <a:rPr sz="1600" b="0">
                          <a:solidFill>
                            <a:srgbClr val="1F2A44"/>
                          </a:solidFill>
                          <a:latin typeface="Arial"/>
                          <a:ea typeface="Microsoft YaHei"/>
                        </a:rPr>
                        <a:t>Let’s get the ball rolling.</a:t>
                      </a:r>
                    </a:p>
                  </a:txBody>
                  <a:tcPr anchor="ctr">
                    <a:solidFill>
                      <a:srgbClr val="FFFFFF"/>
                    </a:solidFill>
                  </a:tcPr>
                </a:tc>
                <a:tc>
                  <a:txBody>
                    <a:bodyPr wrap="square"/>
                    <a:lstStyle/>
                    <a:p>
                      <a:r>
                        <a:rPr sz="1600" b="0">
                          <a:solidFill>
                            <a:srgbClr val="FF6B5B"/>
                          </a:solidFill>
                          <a:latin typeface="Arial"/>
                          <a:ea typeface="Microsoft YaHei"/>
                        </a:rPr>
                        <a:t>习语更口语、更生动</a:t>
                      </a:r>
                    </a:p>
                  </a:txBody>
                  <a:tcPr anchor="ctr">
                    <a:solidFill>
                      <a:srgbClr val="FFFFFF"/>
                    </a:solidFill>
                  </a:tcPr>
                </a:tc>
              </a:tr>
              <a:tr h="408432">
                <a:tc>
                  <a:txBody>
                    <a:bodyPr wrap="square"/>
                    <a:lstStyle/>
                    <a:p>
                      <a:r>
                        <a:rPr sz="1600" b="1">
                          <a:solidFill>
                            <a:srgbClr val="1F2A44"/>
                          </a:solidFill>
                          <a:latin typeface="Arial"/>
                          <a:ea typeface="Microsoft YaHei"/>
                        </a:rPr>
                        <a:t>Is everyone on the same opinion?</a:t>
                      </a:r>
                    </a:p>
                  </a:txBody>
                  <a:tcPr anchor="ctr">
                    <a:solidFill>
                      <a:srgbClr val="FFEFD9"/>
                    </a:solidFill>
                  </a:tcPr>
                </a:tc>
                <a:tc>
                  <a:txBody>
                    <a:bodyPr wrap="square"/>
                    <a:lstStyle/>
                    <a:p>
                      <a:r>
                        <a:rPr sz="1600" b="0">
                          <a:solidFill>
                            <a:srgbClr val="1F2A44"/>
                          </a:solidFill>
                          <a:latin typeface="Arial"/>
                          <a:ea typeface="Microsoft YaHei"/>
                        </a:rPr>
                        <a:t>Are we all on the same page?</a:t>
                      </a:r>
                    </a:p>
                  </a:txBody>
                  <a:tcPr anchor="ctr">
                    <a:solidFill>
                      <a:srgbClr val="FFEFD9"/>
                    </a:solidFill>
                  </a:tcPr>
                </a:tc>
                <a:tc>
                  <a:txBody>
                    <a:bodyPr wrap="square"/>
                    <a:lstStyle/>
                    <a:p>
                      <a:r>
                        <a:rPr sz="1600" b="0">
                          <a:solidFill>
                            <a:srgbClr val="FF6B5B"/>
                          </a:solidFill>
                          <a:latin typeface="Arial"/>
                          <a:ea typeface="Microsoft YaHei"/>
                        </a:rPr>
                        <a:t>惯用说法</a:t>
                      </a:r>
                    </a:p>
                  </a:txBody>
                  <a:tcPr anchor="ctr">
                    <a:solidFill>
                      <a:srgbClr val="FFEFD9"/>
                    </a:solidFill>
                  </a:tcPr>
                </a:tc>
              </a:tr>
              <a:tr h="408432">
                <a:tc>
                  <a:txBody>
                    <a:bodyPr wrap="square"/>
                    <a:lstStyle/>
                    <a:p>
                      <a:r>
                        <a:rPr sz="1600" b="1">
                          <a:solidFill>
                            <a:srgbClr val="1F2A44"/>
                          </a:solidFill>
                          <a:latin typeface="Arial"/>
                          <a:ea typeface="Microsoft YaHei"/>
                        </a:rPr>
                        <a:t>Please tell me what’s happening.</a:t>
                      </a:r>
                    </a:p>
                  </a:txBody>
                  <a:tcPr anchor="ctr">
                    <a:solidFill>
                      <a:srgbClr val="FFFFFF"/>
                    </a:solidFill>
                  </a:tcPr>
                </a:tc>
                <a:tc>
                  <a:txBody>
                    <a:bodyPr wrap="square"/>
                    <a:lstStyle/>
                    <a:p>
                      <a:r>
                        <a:rPr sz="1600" b="0">
                          <a:solidFill>
                            <a:srgbClr val="1F2A44"/>
                          </a:solidFill>
                          <a:latin typeface="Arial"/>
                          <a:ea typeface="Microsoft YaHei"/>
                        </a:rPr>
                        <a:t>Please keep me in the loop.</a:t>
                      </a:r>
                    </a:p>
                  </a:txBody>
                  <a:tcPr anchor="ctr">
                    <a:solidFill>
                      <a:srgbClr val="FFFFFF"/>
                    </a:solidFill>
                  </a:tcPr>
                </a:tc>
                <a:tc>
                  <a:txBody>
                    <a:bodyPr wrap="square"/>
                    <a:lstStyle/>
                    <a:p>
                      <a:r>
                        <a:rPr sz="1600" b="0">
                          <a:solidFill>
                            <a:srgbClr val="FF6B5B"/>
                          </a:solidFill>
                          <a:latin typeface="Arial"/>
                          <a:ea typeface="Microsoft YaHei"/>
                        </a:rPr>
                        <a:t>保持知情</a:t>
                      </a:r>
                    </a:p>
                  </a:txBody>
                  <a:tcPr anchor="ctr">
                    <a:solidFill>
                      <a:srgbClr val="FFFFFF"/>
                    </a:solidFill>
                  </a:tcPr>
                </a:tc>
              </a:tr>
              <a:tr h="652272">
                <a:tc>
                  <a:txBody>
                    <a:bodyPr wrap="square"/>
                    <a:lstStyle/>
                    <a:p>
                      <a:r>
                        <a:rPr sz="1600" b="1">
                          <a:solidFill>
                            <a:srgbClr val="1F2A44"/>
                          </a:solidFill>
                          <a:latin typeface="Arial"/>
                          <a:ea typeface="Microsoft YaHei"/>
                        </a:rPr>
                        <a:t>About how much?</a:t>
                      </a:r>
                    </a:p>
                  </a:txBody>
                  <a:tcPr anchor="ctr">
                    <a:solidFill>
                      <a:srgbClr val="FFEFD9"/>
                    </a:solidFill>
                  </a:tcPr>
                </a:tc>
                <a:tc>
                  <a:txBody>
                    <a:bodyPr wrap="square"/>
                    <a:lstStyle/>
                    <a:p>
                      <a:r>
                        <a:rPr sz="1600" b="0">
                          <a:solidFill>
                            <a:srgbClr val="1F2A44"/>
                          </a:solidFill>
                          <a:latin typeface="Arial"/>
                          <a:ea typeface="Microsoft YaHei"/>
                        </a:rPr>
                        <a:t>Can you give me a ballpark figure?</a:t>
                      </a:r>
                    </a:p>
                  </a:txBody>
                  <a:tcPr anchor="ctr">
                    <a:solidFill>
                      <a:srgbClr val="FFEFD9"/>
                    </a:solidFill>
                  </a:tcPr>
                </a:tc>
                <a:tc>
                  <a:txBody>
                    <a:bodyPr wrap="square"/>
                    <a:lstStyle/>
                    <a:p>
                      <a:r>
                        <a:rPr sz="1600" b="0">
                          <a:solidFill>
                            <a:srgbClr val="FF6B5B"/>
                          </a:solidFill>
                          <a:latin typeface="Arial"/>
                          <a:ea typeface="Microsoft YaHei"/>
                        </a:rPr>
                        <a:t>估算</a:t>
                      </a:r>
                    </a:p>
                  </a:txBody>
                  <a:tcPr anchor="ctr">
                    <a:solidFill>
                      <a:srgbClr val="FFEFD9"/>
                    </a:solidFill>
                  </a:tcPr>
                </a:tc>
              </a:tr>
              <a:tr h="652272">
                <a:tc>
                  <a:txBody>
                    <a:bodyPr wrap="square"/>
                    <a:lstStyle/>
                    <a:p>
                      <a:r>
                        <a:rPr sz="1600" b="1">
                          <a:solidFill>
                            <a:srgbClr val="1F2A44"/>
                          </a:solidFill>
                          <a:latin typeface="Arial"/>
                          <a:ea typeface="Microsoft YaHei"/>
                        </a:rPr>
                        <a:t>That’s the real problem nobody talks about.</a:t>
                      </a:r>
                    </a:p>
                  </a:txBody>
                  <a:tcPr anchor="ctr">
                    <a:solidFill>
                      <a:srgbClr val="FFFFFF"/>
                    </a:solidFill>
                  </a:tcPr>
                </a:tc>
                <a:tc>
                  <a:txBody>
                    <a:bodyPr wrap="square"/>
                    <a:lstStyle/>
                    <a:p>
                      <a:r>
                        <a:rPr sz="1600" b="0">
                          <a:solidFill>
                            <a:srgbClr val="1F2A44"/>
                          </a:solidFill>
                          <a:latin typeface="Arial"/>
                          <a:ea typeface="Microsoft YaHei"/>
                        </a:rPr>
                        <a:t>That’s the elephant in the room.</a:t>
                      </a:r>
                    </a:p>
                  </a:txBody>
                  <a:tcPr anchor="ctr">
                    <a:solidFill>
                      <a:srgbClr val="FFFFFF"/>
                    </a:solidFill>
                  </a:tcPr>
                </a:tc>
                <a:tc>
                  <a:txBody>
                    <a:bodyPr wrap="square"/>
                    <a:lstStyle/>
                    <a:p>
                      <a:r>
                        <a:rPr sz="1600" b="0">
                          <a:solidFill>
                            <a:srgbClr val="FF6B5B"/>
                          </a:solidFill>
                          <a:latin typeface="Arial"/>
                          <a:ea typeface="Microsoft YaHei"/>
                        </a:rPr>
                        <a:t>比喻</a:t>
                      </a:r>
                    </a:p>
                  </a:txBody>
                  <a:tcPr anchor="ctr">
                    <a:solidFill>
                      <a:srgbClr val="FFFFFF"/>
                    </a:solidFill>
                  </a:tcPr>
                </a:tc>
              </a:tr>
            </a:tbl>
          </a:graphicData>
        </a:graphic>
      </p:graphicFrame>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sparingly: </a:t>
            </a:r>
            <a:r>
              <a:rPr sz="1700" b="0">
                <a:solidFill>
                  <a:srgbClr val="1F2A44"/>
                </a:solidFill>
                <a:latin typeface="Arial"/>
                <a:ea typeface="Microsoft YaHei"/>
              </a:rPr>
              <a:t>one idiom per few sentences is natural. More than that sounds forced.</a:t>
            </a:r>
          </a:p>
        </p:txBody>
      </p:sp>
      <p:sp>
        <p:nvSpPr>
          <p:cNvPr id="11" name="Rounded Rectangle 10"/>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Learn as chunks, with a verb: </a:t>
            </a:r>
            <a:r>
              <a:rPr sz="1700" b="0">
                <a:solidFill>
                  <a:srgbClr val="1F2A44"/>
                </a:solidFill>
                <a:latin typeface="Arial"/>
                <a:ea typeface="Microsoft YaHei"/>
              </a:rPr>
              <a:t>get the ball rolling, touch base with sb, keep sb in the loop, cut corners.</a:t>
            </a:r>
          </a:p>
        </p:txBody>
      </p:sp>
      <p:sp>
        <p:nvSpPr>
          <p:cNvPr id="14" name="Rounded Rectangle 13"/>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Know the register: </a:t>
            </a:r>
            <a:r>
              <a:rPr sz="1700" b="0">
                <a:solidFill>
                  <a:srgbClr val="1F2A44"/>
                </a:solidFill>
                <a:latin typeface="Arial"/>
                <a:ea typeface="Microsoft YaHei"/>
              </a:rPr>
              <a:t>bite the bullet and the elephant in the room are fine in meetings; avoid them in formal contracts or legal documents.</a:t>
            </a:r>
          </a:p>
        </p:txBody>
      </p:sp>
      <p:sp>
        <p:nvSpPr>
          <p:cNvPr id="17" name="Rounded Rectangle 16"/>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535677"/>
            <a:ext cx="10728655" cy="701039"/>
          </a:xfrm>
          <a:prstGeom prst="rect">
            <a:avLst/>
          </a:prstGeom>
          <a:noFill/>
        </p:spPr>
        <p:txBody>
          <a:bodyPr wrap="square" anchor="ctr">
            <a:spAutoFit/>
          </a:bodyPr>
          <a:lstStyle/>
          <a:p>
            <a:r>
              <a:rPr sz="1700" b="0">
                <a:solidFill>
                  <a:srgbClr val="1F2A44"/>
                </a:solidFill>
                <a:latin typeface="Arial"/>
                <a:ea typeface="Microsoft YaHei"/>
              </a:rPr>
              <a:t>Do not translate word for word. “Break the ice” is about starting a friendly conversation, not about ice.</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Let’s touch the base next week.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touch base next week.</a:t>
            </a:r>
          </a:p>
          <a:p>
            <a:pPr algn="l">
              <a:spcAft>
                <a:spcPts val="200"/>
              </a:spcAft>
            </a:pPr>
            <a:r>
              <a:rPr sz="1200" b="0">
                <a:solidFill>
                  <a:srgbClr val="FFFFFF"/>
                </a:solidFill>
                <a:latin typeface="Arial"/>
                <a:ea typeface="Microsoft YaHei"/>
              </a:rPr>
              <a:t>固定搭配,没有 the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be on the same paper.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be on the same page.</a:t>
            </a:r>
          </a:p>
          <a:p>
            <a:pPr algn="l">
              <a:spcAft>
                <a:spcPts val="200"/>
              </a:spcAft>
            </a:pPr>
            <a:r>
              <a:rPr sz="1200" b="0">
                <a:solidFill>
                  <a:srgbClr val="FFFFFF"/>
                </a:solidFill>
                <a:latin typeface="Arial"/>
                <a:ea typeface="Microsoft YaHei"/>
              </a:rPr>
              <a:t>习语不能换词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keep you in the loop.</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keep you in the loop.</a:t>
            </a:r>
          </a:p>
          <a:p>
            <a:pPr algn="l">
              <a:spcAft>
                <a:spcPts val="200"/>
              </a:spcAft>
            </a:pPr>
            <a:r>
              <a:rPr sz="1200" b="0">
                <a:solidFill>
                  <a:srgbClr val="FFFFFF"/>
                </a:solidFill>
                <a:latin typeface="Arial"/>
                <a:ea typeface="Microsoft YaHei"/>
              </a:rPr>
              <a:t>承诺用 will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moved the goalpost.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keeps moving the goalposts.</a:t>
            </a:r>
          </a:p>
          <a:p>
            <a:pPr algn="l">
              <a:spcAft>
                <a:spcPts val="200"/>
              </a:spcAft>
            </a:pPr>
            <a:r>
              <a:rPr sz="1200" b="0">
                <a:solidFill>
                  <a:srgbClr val="FFFFFF"/>
                </a:solidFill>
                <a:latin typeface="Arial"/>
                <a:ea typeface="Microsoft YaHei"/>
              </a:rPr>
              <a:t>goalposts 通常用复数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Let’s go back to the board drawing.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go back to the drawing board.</a:t>
            </a:r>
          </a:p>
          <a:p>
            <a:pPr algn="l">
              <a:spcAft>
                <a:spcPts val="200"/>
              </a:spcAft>
            </a:pPr>
            <a:r>
              <a:rPr sz="1200" b="0">
                <a:solidFill>
                  <a:srgbClr val="FFFFFF"/>
                </a:solidFill>
                <a:latin typeface="Arial"/>
                <a:ea typeface="Microsoft YaHei"/>
              </a:rPr>
              <a:t>顺序固定</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a win-win for the both sides.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a win-win for both sides.</a:t>
            </a:r>
          </a:p>
          <a:p>
            <a:pPr algn="l">
              <a:spcAft>
                <a:spcPts val="200"/>
              </a:spcAft>
            </a:pPr>
            <a:r>
              <a:rPr sz="1200" b="0">
                <a:solidFill>
                  <a:srgbClr val="FFFFFF"/>
                </a:solidFill>
                <a:latin typeface="Arial"/>
                <a:ea typeface="Microsoft YaHei"/>
              </a:rPr>
              <a:t>both 前不加 the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word order and articles in fixed phrases. Idioms cannot be rearranged.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960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6012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960120"/>
          </a:xfrm>
          <a:prstGeom prst="rect">
            <a:avLst/>
          </a:prstGeom>
          <a:noFill/>
        </p:spPr>
        <p:txBody>
          <a:bodyPr wrap="square" anchor="ctr">
            <a:spAutoFit/>
          </a:bodyPr>
          <a:lstStyle/>
          <a:p>
            <a:r>
              <a:rPr sz="1700" b="0">
                <a:solidFill>
                  <a:srgbClr val="1F2A44"/>
                </a:solidFill>
                <a:latin typeface="Arial"/>
                <a:ea typeface="Microsoft YaHei"/>
              </a:rPr>
              <a:t>Sports and war metaphors are very common in American English: touchdown, home run, a level playing field, the ball is in your court. British English also uses cricket idioms such as on a sticky wicket.</a:t>
            </a:r>
          </a:p>
        </p:txBody>
      </p:sp>
      <p:sp>
        <p:nvSpPr>
          <p:cNvPr id="12" name="Rounded Rectangle 11"/>
          <p:cNvSpPr/>
          <p:nvPr/>
        </p:nvSpPr>
        <p:spPr>
          <a:xfrm>
            <a:off x="548640" y="246888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468880"/>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468880"/>
            <a:ext cx="10728655" cy="701039"/>
          </a:xfrm>
          <a:prstGeom prst="rect">
            <a:avLst/>
          </a:prstGeom>
          <a:noFill/>
        </p:spPr>
        <p:txBody>
          <a:bodyPr wrap="square" anchor="ctr">
            <a:spAutoFit/>
          </a:bodyPr>
          <a:lstStyle/>
          <a:p>
            <a:r>
              <a:rPr sz="1700" b="1">
                <a:solidFill>
                  <a:srgbClr val="4A90E2"/>
                </a:solidFill>
                <a:latin typeface="Arial"/>
                <a:ea typeface="Microsoft YaHei"/>
              </a:rPr>
              <a:t>Idioms change: </a:t>
            </a:r>
            <a:r>
              <a:rPr sz="1700" b="0">
                <a:solidFill>
                  <a:srgbClr val="1F2A44"/>
                </a:solidFill>
                <a:latin typeface="Arial"/>
                <a:ea typeface="Microsoft YaHei"/>
              </a:rPr>
              <a:t>Some idioms are old-fashioned (e.g. keep your powder dry). Learn the ones you hear in current meetings or podcasts.</a:t>
            </a:r>
          </a:p>
        </p:txBody>
      </p:sp>
      <p:sp>
        <p:nvSpPr>
          <p:cNvPr id="15" name="Rounded Rectangle 14"/>
          <p:cNvSpPr/>
          <p:nvPr/>
        </p:nvSpPr>
        <p:spPr>
          <a:xfrm>
            <a:off x="548640" y="326135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61359"/>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261359"/>
            <a:ext cx="10728655" cy="701039"/>
          </a:xfrm>
          <a:prstGeom prst="rect">
            <a:avLst/>
          </a:prstGeom>
          <a:noFill/>
        </p:spPr>
        <p:txBody>
          <a:bodyPr wrap="square" anchor="ctr">
            <a:spAutoFit/>
          </a:bodyPr>
          <a:lstStyle/>
          <a:p>
            <a:r>
              <a:rPr sz="1700" b="1">
                <a:solidFill>
                  <a:srgbClr val="3CC49A"/>
                </a:solidFill>
                <a:latin typeface="Arial"/>
                <a:ea typeface="Microsoft YaHei"/>
              </a:rPr>
              <a:t>In writing: </a:t>
            </a:r>
            <a:r>
              <a:rPr sz="1700" b="0">
                <a:solidFill>
                  <a:srgbClr val="1F2A44"/>
                </a:solidFill>
                <a:latin typeface="Arial"/>
                <a:ea typeface="Microsoft YaHei"/>
              </a:rPr>
              <a:t>Idioms are fine in emails to colleagues, but in reports or contracts use plain language.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习语最好成块学习,先学常用的 6–10 个。国际会议里,清晰比”花哨”更重要。听不懂习语时,直接问 What do you mean by…? 很正常。</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six business idioms correctly in sentences.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for an explanation when I don’t know an idiom.</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an idiom simply in English.</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decide when plain English is better than an idiom.</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11 Business Idioms and Expressions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fixed word order and articles in idioms (touch base, the drawing board) and plural forms (goalposts).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2 · Lesson 12 Business Protocol</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Business Protocol</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商务礼仪</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understand and explain business etiquette across cultures: greetings, titles, punctuality, dress, gifts and meals.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7734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What are the most important rules of business etiquette in your country?</a:t>
            </a:r>
          </a:p>
        </p:txBody>
      </p:sp>
      <p:sp>
        <p:nvSpPr>
          <p:cNvPr id="12" name="Oval 11"/>
          <p:cNvSpPr/>
          <p:nvPr/>
        </p:nvSpPr>
        <p:spPr>
          <a:xfrm>
            <a:off x="548640" y="223570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12848"/>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12848"/>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Have you ever made a mistake in a business situation abroad? What happened?</a:t>
            </a:r>
          </a:p>
        </p:txBody>
      </p:sp>
      <p:sp>
        <p:nvSpPr>
          <p:cNvPr id="15" name="Oval 14"/>
          <p:cNvSpPr/>
          <p:nvPr/>
        </p:nvSpPr>
        <p:spPr>
          <a:xfrm>
            <a:off x="548640" y="28940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871216"/>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871216"/>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How do you usually greet someone in a business meeting?</a:t>
            </a:r>
          </a:p>
        </p:txBody>
      </p:sp>
      <p:sp>
        <p:nvSpPr>
          <p:cNvPr id="18" name="Oval 17"/>
          <p:cNvSpPr/>
          <p:nvPr/>
        </p:nvSpPr>
        <p:spPr>
          <a:xfrm>
            <a:off x="548640" y="355244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529584"/>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529584"/>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How formal is the dress code in your workplace? Is it changing?</a:t>
            </a:r>
          </a:p>
        </p:txBody>
      </p:sp>
      <p:sp>
        <p:nvSpPr>
          <p:cNvPr id="21" name="Oval 20"/>
          <p:cNvSpPr/>
          <p:nvPr/>
        </p:nvSpPr>
        <p:spPr>
          <a:xfrm>
            <a:off x="548640" y="437083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187952"/>
            <a:ext cx="10408615" cy="8686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187952"/>
            <a:ext cx="10180015" cy="86868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Is it appropriate to give gifts to clients? What kind of gifts are suitable?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2 题用过去式。protocol = 礼仪规范。第 5 题可以用 “It depends on…” 并提到价值不宜太高。</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700" b="1">
                <a:solidFill>
                  <a:srgbClr val="1F2A44"/>
                </a:solidFill>
                <a:latin typeface="Arial"/>
                <a:ea typeface="Microsoft YaHei"/>
              </a:rPr>
              <a:t>Give a visitor from abroad three pieces of advice about business etiquette in your country.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greetings and names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punctuality</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gifts or meals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one thing to avoid</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It’s customary to…   💬 You’re expected to…   💬 It’s best not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讲礼仪常用:It’s customary to…(惯例是…),It’s considered rude to…(被认为不礼貌)。被动语态很常用。</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When in Rome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“When in Rome, do as the Romans do” is a useful rule for business travellers, but it only works if you know what the Romans actually do. In the United States and Britain, a firm handshake and eye contact are standard, and first names are used quickly. In Japan, a business card should be offered and received with both hands, and a slight bow is common. In many Middle Eastern countries, the main meal is long and relationship-building is part of the business. Punctuality also varies: in Germany, arriving five minutes early is normal, while in some other places, meetings may start late. You can’t learn every custom, but you can show respect. Do a little research, watch what others do, and ask politely if you are not sure. Most people appreciate the effort, even if you make a small mistake.</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1600" b="1">
                <a:solidFill>
                  <a:srgbClr val="1F2A44"/>
                </a:solidFill>
                <a:latin typeface="Arial"/>
                <a:ea typeface="Microsoft YaHei"/>
              </a:rPr>
              <a:t>Q1. Why does the writer say the Roman proverb only works “if you know what the Romans actually do”?</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You can only follow local customs if you know what they are.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the custom with business cards in Japan, according to the text?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Offer and receive them with both hands.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does the writer say about making small mistakes?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Most people appreciate the effort, even if you make a small mistake.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Etiquette basics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礼仪基础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etiquette</a:t>
            </a:r>
          </a:p>
          <a:p>
            <a:pPr algn="l">
              <a:lnSpc>
                <a:spcPct val="115000"/>
              </a:lnSpc>
              <a:spcAft>
                <a:spcPts val="800"/>
              </a:spcAft>
            </a:pPr>
            <a:r>
              <a:rPr sz="1300" b="0">
                <a:solidFill>
                  <a:srgbClr val="5F677A"/>
                </a:solidFill>
                <a:latin typeface="Arial"/>
                <a:ea typeface="Microsoft YaHei"/>
              </a:rPr>
              <a:t>noun (uncountable)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礼仪</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“Business etiquette varies from country to country.”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protocol</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礼仪规范,惯例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“Follow the company protocol when you meet senior guests.”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dress code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着装要求</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dress code is business casual on Fridays.”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punctual</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守时的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“Being punctual is a sign of respect.”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host / guest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主人 / 客人</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host usually pays for the meal.”</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formal / informal</a:t>
            </a:r>
          </a:p>
          <a:p>
            <a:pPr algn="l">
              <a:lnSpc>
                <a:spcPct val="115000"/>
              </a:lnSpc>
              <a:spcAft>
                <a:spcPts val="800"/>
              </a:spcAft>
            </a:pPr>
            <a:r>
              <a:rPr sz="1300" b="0">
                <a:solidFill>
                  <a:srgbClr val="5F677A"/>
                </a:solidFill>
                <a:latin typeface="Arial"/>
                <a:ea typeface="Microsoft YaHei"/>
              </a:rPr>
              <a:t>adjective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正式的 / 非正式的</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meeting was formal, but dinner was informal.”</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Cultural awareness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文化意识</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it’s customary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惯例是…</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customary to bring a small gift when visiting a client.”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considered rude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被认为失礼</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“Checking your phone is considered rude in some meetings.”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faux pas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失礼、失态</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“Calling him by his first name was a faux pas.”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observe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遵守、观察</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observe local customs when you visit.”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break the ice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打破僵局</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bit of small talk helps to break the ice.”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show respect (to)</a:t>
            </a:r>
          </a:p>
          <a:p>
            <a:pPr algn="l">
              <a:lnSpc>
                <a:spcPct val="115000"/>
              </a:lnSpc>
              <a:spcAft>
                <a:spcPts val="800"/>
              </a:spcAft>
            </a:pPr>
            <a:r>
              <a:rPr sz="1300" b="0">
                <a:solidFill>
                  <a:srgbClr val="5F677A"/>
                </a:solidFill>
                <a:latin typeface="Arial"/>
                <a:ea typeface="Microsoft YaHei"/>
              </a:rPr>
              <a:t>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表示尊重</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“Showing respect to senior colleagues is important in many cultures.”</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正式的 / 非正式的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formal / informal</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打破僵局</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 the ice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礼仪规范,惯例</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protocol</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遵守、观察</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observe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惯例是…</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it’s customary to</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守时的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punctual</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被认为失礼</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considered rude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表示尊重</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show respect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etiquette</a:t>
            </a:r>
          </a:p>
        </p:txBody>
      </p:sp>
      <p:sp>
        <p:nvSpPr>
          <p:cNvPr id="10" name="Rounded Rectangle 9"/>
          <p:cNvSpPr/>
          <p:nvPr/>
        </p:nvSpPr>
        <p:spPr>
          <a:xfrm>
            <a:off x="3456432"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dress code</a:t>
            </a:r>
          </a:p>
        </p:txBody>
      </p:sp>
      <p:sp>
        <p:nvSpPr>
          <p:cNvPr id="11" name="Rounded Rectangle 10"/>
          <p:cNvSpPr/>
          <p:nvPr/>
        </p:nvSpPr>
        <p:spPr>
          <a:xfrm>
            <a:off x="5010912"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punctual</a:t>
            </a:r>
          </a:p>
        </p:txBody>
      </p:sp>
      <p:sp>
        <p:nvSpPr>
          <p:cNvPr id="12" name="Rounded Rectangle 11"/>
          <p:cNvSpPr/>
          <p:nvPr/>
        </p:nvSpPr>
        <p:spPr>
          <a:xfrm>
            <a:off x="6345936"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customary</a:t>
            </a:r>
          </a:p>
        </p:txBody>
      </p:sp>
      <p:sp>
        <p:nvSpPr>
          <p:cNvPr id="13" name="Rounded Rectangle 12"/>
          <p:cNvSpPr/>
          <p:nvPr/>
        </p:nvSpPr>
        <p:spPr>
          <a:xfrm>
            <a:off x="7790688"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faux pas</a:t>
            </a:r>
          </a:p>
        </p:txBody>
      </p:sp>
      <p:sp>
        <p:nvSpPr>
          <p:cNvPr id="14" name="Rounded Rectangle 13"/>
          <p:cNvSpPr/>
          <p:nvPr/>
        </p:nvSpPr>
        <p:spPr>
          <a:xfrm>
            <a:off x="9125712" y="987552"/>
            <a:ext cx="179222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break the ice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Business _______ varies from country to country.</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etiquette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_______ is business casual on Fridays.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dress code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Being _______ is a sign of respect.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punctual</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It’s _______ to bring a small gift when visiting a client.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customary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Using his first name was a _______. I should have waited.</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faux pas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 bit of small talk helps to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 the ice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拼写与读音): etiquette (not “etiquete”), punctual (not “punctal”), faux pas is French: pronounced “foh pah”, and it is the same in the plural. Etiquette is uncountable: not “an etiquette”.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Explaining etiquette to a visitor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向来访者介绍礼仪</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visiting executive from Germany, Anna Weber, will join a client dinner in China. You are her host and give some advice.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Na, local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Anna Weber, visiting executive</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etiquette to a visitor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Anna, welcome. Before tomorrow’s dinner, I’d like to give you a few tips, if that’s helpful.</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Anna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do. I’d hate to make a faux pas.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First, the seating. The seat of honour is usually the one facing the door, and the host will show everyone where to sit.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So I wait to be shown my seat?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Also, it’s customary for the host to order for the table and to offer food to guests. You’re not expected to finish everything.</a:t>
            </a:r>
          </a:p>
        </p:txBody>
      </p:sp>
      <p:sp>
        <p:nvSpPr>
          <p:cNvPr id="23" name="Rounded Rectangle 22"/>
          <p:cNvSpPr/>
          <p:nvPr/>
        </p:nvSpPr>
        <p:spPr>
          <a:xfrm>
            <a:off x="10911535" y="5394959"/>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1"/>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59"/>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Noted. What about toasts?</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etiquette to a visitor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 will probably be a few. When you toast someone senior, make eye contact and hold your glass with both hands. Then say “Ganbei”.</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about business cards? I have a stack of them.</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Offer yours with both hands and take a moment to read theirs. Don’t write on a card or put it in your back pocket.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very helpful. Is there anything I should avoid?</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Avoid giving gifts in sets of four, because the number four is associated with bad luck. And don’t worry, people will appreciate your effort.</a:t>
            </a:r>
          </a:p>
        </p:txBody>
      </p:sp>
      <p:sp>
        <p:nvSpPr>
          <p:cNvPr id="23" name="Rounded Rectangle 22"/>
          <p:cNvSpPr/>
          <p:nvPr/>
        </p:nvSpPr>
        <p:spPr>
          <a:xfrm>
            <a:off x="10911535" y="5394959"/>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1"/>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59"/>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 feel much better prepared now.</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Explaining etiquette to a visitor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advise a visitor on business etiquette.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Host. A country or culture you know well: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Visitor who wants to avoid mistakes.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customary · considered rude · faux pas · observe · dress code · break the ice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three tips (greeting, gifts or meals, one thing to avoid), with reasons.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visitor says: “In my country we are always punctual. Is that the same here?” Compare politely.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make an etiquette mistake. Apologise briefly and recover: “I’m sorry, I didn’t realise… Thank you for letting me know.”</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Prepare a 30-second welcome speech for a foreign delegation that includes one cultural reference.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business customs in your country might surprise a foreigner?</a:t>
            </a:r>
          </a:p>
          <a:p>
            <a:pPr algn="l">
              <a:lnSpc>
                <a:spcPct val="115000"/>
              </a:lnSpc>
              <a:spcAft>
                <a:spcPts val="800"/>
              </a:spcAft>
            </a:pPr>
            <a:r>
              <a:rPr sz="1400" b="0">
                <a:solidFill>
                  <a:srgbClr val="5F677A"/>
                </a:solidFill>
                <a:latin typeface="Arial"/>
                <a:ea typeface="Microsoft YaHei"/>
              </a:rPr>
              <a:t>💬 “A visitor might be surprised that…” / “In my culture, it’s normal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learn about the etiquette of a country before you visit?</a:t>
            </a:r>
          </a:p>
          <a:p>
            <a:pPr algn="l">
              <a:lnSpc>
                <a:spcPct val="115000"/>
              </a:lnSpc>
              <a:spcAft>
                <a:spcPts val="800"/>
              </a:spcAft>
            </a:pPr>
            <a:r>
              <a:rPr sz="1400" b="0">
                <a:solidFill>
                  <a:srgbClr val="5F677A"/>
                </a:solidFill>
                <a:latin typeface="Arial"/>
                <a:ea typeface="Microsoft YaHei"/>
              </a:rPr>
              <a:t>💬 “I’d start by… / It’s also helpful to…”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business etiquette becoming more global? Does it matter?</a:t>
            </a:r>
          </a:p>
          <a:p>
            <a:pPr algn="l">
              <a:lnSpc>
                <a:spcPct val="115000"/>
              </a:lnSpc>
              <a:spcAft>
                <a:spcPts val="800"/>
              </a:spcAft>
            </a:pPr>
            <a:r>
              <a:rPr sz="1400" b="0">
                <a:solidFill>
                  <a:srgbClr val="5F677A"/>
                </a:solidFill>
                <a:latin typeface="Arial"/>
                <a:ea typeface="Microsoft YaHei"/>
              </a:rPr>
              <a:t>💬 “To some extent, yes, because…” / “It still matters, since…”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foreigners be forgiven for mistakes, or should they learn the rules?</a:t>
            </a:r>
          </a:p>
          <a:p>
            <a:pPr algn="l">
              <a:lnSpc>
                <a:spcPct val="115000"/>
              </a:lnSpc>
              <a:spcAft>
                <a:spcPts val="800"/>
              </a:spcAft>
            </a:pPr>
            <a:r>
              <a:rPr sz="1400" b="0">
                <a:solidFill>
                  <a:srgbClr val="5F677A"/>
                </a:solidFill>
                <a:latin typeface="Arial"/>
                <a:ea typeface="Microsoft YaHei"/>
              </a:rPr>
              <a:t>💬 “I think people should be forgiven if… but…”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To some extent, yes. Younger professionals in big cities are more used to international business, and many companies share similar basic rules, such as being on time and dressing neatly. But local customs still matter, especially for building trust. A simple gesture like offering a card with two hands or learning a few words of the local language shows respect. So I think etiquette is becoming more similar, but it hasn’t disappeared.</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to some extent = 在某种程度上。”more used to” = 更习惯于。gesture = 姿态/举动。注意 “is becoming more similar” 用进行时表示趋势。</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Don’t be late.</a:t>
                      </a:r>
                    </a:p>
                  </a:txBody>
                  <a:tcPr anchor="ctr">
                    <a:solidFill>
                      <a:srgbClr val="FFFFFF"/>
                    </a:solidFill>
                  </a:tcPr>
                </a:tc>
                <a:tc>
                  <a:txBody>
                    <a:bodyPr wrap="square"/>
                    <a:lstStyle/>
                    <a:p>
                      <a:r>
                        <a:rPr sz="1600" b="0">
                          <a:solidFill>
                            <a:srgbClr val="1F2A44"/>
                          </a:solidFill>
                          <a:latin typeface="Arial"/>
                          <a:ea typeface="Microsoft YaHei"/>
                        </a:rPr>
                        <a:t>It’s important to be punctual.</a:t>
                      </a:r>
                    </a:p>
                  </a:txBody>
                  <a:tcPr anchor="ctr">
                    <a:solidFill>
                      <a:srgbClr val="FFFFFF"/>
                    </a:solidFill>
                  </a:tcPr>
                </a:tc>
                <a:tc>
                  <a:txBody>
                    <a:bodyPr wrap="square"/>
                    <a:lstStyle/>
                    <a:p>
                      <a:r>
                        <a:rPr sz="1600" b="0">
                          <a:solidFill>
                            <a:srgbClr val="FF6B5B"/>
                          </a:solidFill>
                          <a:latin typeface="Arial"/>
                          <a:ea typeface="Microsoft YaHei"/>
                        </a:rPr>
                        <a:t>正式的建议</a:t>
                      </a:r>
                    </a:p>
                  </a:txBody>
                  <a:tcPr anchor="ctr">
                    <a:solidFill>
                      <a:srgbClr val="FFFFFF"/>
                    </a:solidFill>
                  </a:tcPr>
                </a:tc>
              </a:tr>
              <a:tr h="652272">
                <a:tc>
                  <a:txBody>
                    <a:bodyPr wrap="square"/>
                    <a:lstStyle/>
                    <a:p>
                      <a:r>
                        <a:rPr sz="1600" b="1">
                          <a:solidFill>
                            <a:srgbClr val="1F2A44"/>
                          </a:solidFill>
                          <a:latin typeface="Arial"/>
                          <a:ea typeface="Microsoft YaHei"/>
                        </a:rPr>
                        <a:t>You must wear a suit.</a:t>
                      </a:r>
                    </a:p>
                  </a:txBody>
                  <a:tcPr anchor="ctr">
                    <a:solidFill>
                      <a:srgbClr val="FFEFD9"/>
                    </a:solidFill>
                  </a:tcPr>
                </a:tc>
                <a:tc>
                  <a:txBody>
                    <a:bodyPr wrap="square"/>
                    <a:lstStyle/>
                    <a:p>
                      <a:r>
                        <a:rPr sz="1600" b="0">
                          <a:solidFill>
                            <a:srgbClr val="1F2A44"/>
                          </a:solidFill>
                          <a:latin typeface="Arial"/>
                          <a:ea typeface="Microsoft YaHei"/>
                        </a:rPr>
                        <a:t>The dress code is formal; a suit is expected.</a:t>
                      </a:r>
                    </a:p>
                  </a:txBody>
                  <a:tcPr anchor="ctr">
                    <a:solidFill>
                      <a:srgbClr val="FFEFD9"/>
                    </a:solidFill>
                  </a:tcPr>
                </a:tc>
                <a:tc>
                  <a:txBody>
                    <a:bodyPr wrap="square"/>
                    <a:lstStyle/>
                    <a:p>
                      <a:r>
                        <a:rPr sz="1600" b="0">
                          <a:solidFill>
                            <a:srgbClr val="FF6B5B"/>
                          </a:solidFill>
                          <a:latin typeface="Arial"/>
                          <a:ea typeface="Microsoft YaHei"/>
                        </a:rPr>
                        <a:t>解释规则而不是命令</a:t>
                      </a:r>
                    </a:p>
                  </a:txBody>
                  <a:tcPr anchor="ctr">
                    <a:solidFill>
                      <a:srgbClr val="FFEFD9"/>
                    </a:solidFill>
                  </a:tcPr>
                </a:tc>
              </a:tr>
              <a:tr h="652272">
                <a:tc>
                  <a:txBody>
                    <a:bodyPr wrap="square"/>
                    <a:lstStyle/>
                    <a:p>
                      <a:r>
                        <a:rPr sz="1600" b="1">
                          <a:solidFill>
                            <a:srgbClr val="1F2A44"/>
                          </a:solidFill>
                          <a:latin typeface="Arial"/>
                          <a:ea typeface="Microsoft YaHei"/>
                        </a:rPr>
                        <a:t>That is not polite.</a:t>
                      </a:r>
                    </a:p>
                  </a:txBody>
                  <a:tcPr anchor="ctr">
                    <a:solidFill>
                      <a:srgbClr val="FFFFFF"/>
                    </a:solidFill>
                  </a:tcPr>
                </a:tc>
                <a:tc>
                  <a:txBody>
                    <a:bodyPr wrap="square"/>
                    <a:lstStyle/>
                    <a:p>
                      <a:r>
                        <a:rPr sz="1600" b="0">
                          <a:solidFill>
                            <a:srgbClr val="1F2A44"/>
                          </a:solidFill>
                          <a:latin typeface="Arial"/>
                          <a:ea typeface="Microsoft YaHei"/>
                        </a:rPr>
                        <a:t>That would be considered impolite in this context.</a:t>
                      </a:r>
                    </a:p>
                  </a:txBody>
                  <a:tcPr anchor="ctr">
                    <a:solidFill>
                      <a:srgbClr val="FFFFFF"/>
                    </a:solidFill>
                  </a:tcPr>
                </a:tc>
                <a:tc>
                  <a:txBody>
                    <a:bodyPr wrap="square"/>
                    <a:lstStyle/>
                    <a:p>
                      <a:r>
                        <a:rPr sz="1600" b="0">
                          <a:solidFill>
                            <a:srgbClr val="FF6B5B"/>
                          </a:solidFill>
                          <a:latin typeface="Arial"/>
                          <a:ea typeface="Microsoft YaHei"/>
                        </a:rPr>
                        <a:t>用被动语态缓和</a:t>
                      </a:r>
                    </a:p>
                  </a:txBody>
                  <a:tcPr anchor="ctr">
                    <a:solidFill>
                      <a:srgbClr val="FFFFFF"/>
                    </a:solidFill>
                  </a:tcPr>
                </a:tc>
              </a:tr>
              <a:tr h="408432">
                <a:tc>
                  <a:txBody>
                    <a:bodyPr wrap="square"/>
                    <a:lstStyle/>
                    <a:p>
                      <a:r>
                        <a:rPr sz="1600" b="1">
                          <a:solidFill>
                            <a:srgbClr val="1F2A44"/>
                          </a:solidFill>
                          <a:latin typeface="Arial"/>
                          <a:ea typeface="Microsoft YaHei"/>
                        </a:rPr>
                        <a:t>Please sit here.</a:t>
                      </a:r>
                    </a:p>
                  </a:txBody>
                  <a:tcPr anchor="ctr">
                    <a:solidFill>
                      <a:srgbClr val="FFEFD9"/>
                    </a:solidFill>
                  </a:tcPr>
                </a:tc>
                <a:tc>
                  <a:txBody>
                    <a:bodyPr wrap="square"/>
                    <a:lstStyle/>
                    <a:p>
                      <a:r>
                        <a:rPr sz="1600" b="0">
                          <a:solidFill>
                            <a:srgbClr val="1F2A44"/>
                          </a:solidFill>
                          <a:latin typeface="Arial"/>
                          <a:ea typeface="Microsoft YaHei"/>
                        </a:rPr>
                        <a:t>May I suggest that you sit here?</a:t>
                      </a:r>
                    </a:p>
                  </a:txBody>
                  <a:tcPr anchor="ctr">
                    <a:solidFill>
                      <a:srgbClr val="FFEFD9"/>
                    </a:solidFill>
                  </a:tcPr>
                </a:tc>
                <a:tc>
                  <a:txBody>
                    <a:bodyPr wrap="square"/>
                    <a:lstStyle/>
                    <a:p>
                      <a:r>
                        <a:rPr sz="1600" b="0">
                          <a:solidFill>
                            <a:srgbClr val="FF6B5B"/>
                          </a:solidFill>
                          <a:latin typeface="Arial"/>
                          <a:ea typeface="Microsoft YaHei"/>
                        </a:rPr>
                        <a:t>礼貌建议</a:t>
                      </a:r>
                    </a:p>
                  </a:txBody>
                  <a:tcPr anchor="ctr">
                    <a:solidFill>
                      <a:srgbClr val="FFEFD9"/>
                    </a:solidFill>
                  </a:tcPr>
                </a:tc>
              </a:tr>
              <a:tr h="652272">
                <a:tc>
                  <a:txBody>
                    <a:bodyPr wrap="square"/>
                    <a:lstStyle/>
                    <a:p>
                      <a:r>
                        <a:rPr sz="1600" b="1">
                          <a:solidFill>
                            <a:srgbClr val="1F2A44"/>
                          </a:solidFill>
                          <a:latin typeface="Arial"/>
                          <a:ea typeface="Microsoft YaHei"/>
                        </a:rPr>
                        <a:t>We usually don’t do that.</a:t>
                      </a:r>
                    </a:p>
                  </a:txBody>
                  <a:tcPr anchor="ctr">
                    <a:solidFill>
                      <a:srgbClr val="FFFFFF"/>
                    </a:solidFill>
                  </a:tcPr>
                </a:tc>
                <a:tc>
                  <a:txBody>
                    <a:bodyPr wrap="square"/>
                    <a:lstStyle/>
                    <a:p>
                      <a:r>
                        <a:rPr sz="1600" b="0">
                          <a:solidFill>
                            <a:srgbClr val="1F2A44"/>
                          </a:solidFill>
                          <a:latin typeface="Arial"/>
                          <a:ea typeface="Microsoft YaHei"/>
                        </a:rPr>
                        <a:t>That isn’t really the custom here.</a:t>
                      </a:r>
                    </a:p>
                  </a:txBody>
                  <a:tcPr anchor="ctr">
                    <a:solidFill>
                      <a:srgbClr val="FFFFFF"/>
                    </a:solidFill>
                  </a:tcPr>
                </a:tc>
                <a:tc>
                  <a:txBody>
                    <a:bodyPr wrap="square"/>
                    <a:lstStyle/>
                    <a:p>
                      <a:r>
                        <a:rPr sz="1600" b="0">
                          <a:solidFill>
                            <a:srgbClr val="FF6B5B"/>
                          </a:solidFill>
                          <a:latin typeface="Arial"/>
                          <a:ea typeface="Microsoft YaHei"/>
                        </a:rPr>
                        <a:t>委婉说明</a:t>
                      </a:r>
                    </a:p>
                  </a:txBody>
                  <a:tcPr anchor="ctr">
                    <a:solidFill>
                      <a:srgbClr val="FFFFFF"/>
                    </a:solidFill>
                  </a:tcPr>
                </a:tc>
              </a:tr>
            </a:tbl>
          </a:graphicData>
        </a:graphic>
      </p:graphicFrame>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Passive for customs: </a:t>
            </a:r>
            <a:r>
              <a:rPr sz="1700" b="0">
                <a:solidFill>
                  <a:srgbClr val="1F2A44"/>
                </a:solidFill>
                <a:latin typeface="Arial"/>
                <a:ea typeface="Microsoft YaHei"/>
              </a:rPr>
              <a:t>It is customary to…, It is considered rude to…, It is expected that…, It is not done to…</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Modals for advice: </a:t>
            </a:r>
            <a:r>
              <a:rPr sz="1700" b="0">
                <a:solidFill>
                  <a:srgbClr val="1F2A44"/>
                </a:solidFill>
                <a:latin typeface="Arial"/>
                <a:ea typeface="Microsoft YaHei"/>
              </a:rPr>
              <a:t>should, ought to, had better (stronger) and it’s best to…</a:t>
            </a:r>
          </a:p>
        </p:txBody>
      </p:sp>
      <p:sp>
        <p:nvSpPr>
          <p:cNvPr id="14" name="Rounded Rectangle 13"/>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Titles: </a:t>
            </a:r>
            <a:r>
              <a:rPr sz="1700" b="0">
                <a:solidFill>
                  <a:srgbClr val="1F2A44"/>
                </a:solidFill>
                <a:latin typeface="Arial"/>
                <a:ea typeface="Microsoft YaHei"/>
              </a:rPr>
              <a:t>Mr / Ms + surname for first meetings. Use Dr, Professor or Sir when appropriate. Don’t use “Manager Wang”.</a:t>
            </a:r>
          </a:p>
        </p:txBody>
      </p:sp>
      <p:sp>
        <p:nvSpPr>
          <p:cNvPr id="17" name="Rounded Rectangle 16"/>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535677"/>
            <a:ext cx="10728655" cy="701039"/>
          </a:xfrm>
          <a:prstGeom prst="rect">
            <a:avLst/>
          </a:prstGeom>
          <a:noFill/>
        </p:spPr>
        <p:txBody>
          <a:bodyPr wrap="square" anchor="ctr">
            <a:spAutoFit/>
          </a:bodyPr>
          <a:lstStyle/>
          <a:p>
            <a:r>
              <a:rPr sz="1700" b="1">
                <a:solidFill>
                  <a:srgbClr val="FFC857"/>
                </a:solidFill>
                <a:latin typeface="Arial"/>
                <a:ea typeface="Microsoft YaHei"/>
              </a:rPr>
              <a:t>Custom / customs: </a:t>
            </a:r>
            <a:r>
              <a:rPr sz="1700" b="0">
                <a:solidFill>
                  <a:srgbClr val="1F2A44"/>
                </a:solidFill>
                <a:latin typeface="Arial"/>
                <a:ea typeface="Microsoft YaHei"/>
              </a:rPr>
              <a:t>a custom is one tradition; customs can mean several traditions, and customs (uncountable) is also the checkpoint at the border.</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obey the local custom.</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follow / observe the local customs.</a:t>
            </a:r>
          </a:p>
          <a:p>
            <a:pPr algn="l">
              <a:spcAft>
                <a:spcPts val="200"/>
              </a:spcAft>
            </a:pPr>
            <a:r>
              <a:rPr sz="1200" b="0">
                <a:solidFill>
                  <a:srgbClr val="FFFFFF"/>
                </a:solidFill>
                <a:latin typeface="Arial"/>
                <a:ea typeface="Microsoft YaHei"/>
              </a:rPr>
              <a:t>obey = 服从命令;follow customs 更自然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In my country, it is very polite to give gifts.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 my country, it’s customary to give gifts.</a:t>
            </a:r>
          </a:p>
          <a:p>
            <a:pPr algn="l">
              <a:spcAft>
                <a:spcPts val="200"/>
              </a:spcAft>
            </a:pPr>
            <a:r>
              <a:rPr sz="1200" b="0">
                <a:solidFill>
                  <a:srgbClr val="FFFFFF"/>
                </a:solidFill>
                <a:latin typeface="Arial"/>
                <a:ea typeface="Microsoft YaHei"/>
              </a:rPr>
              <a:t>customary 更地道</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Don’t forget bring a gift.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Don’t forget to bring a gift.</a:t>
            </a:r>
          </a:p>
          <a:p>
            <a:pPr algn="l">
              <a:spcAft>
                <a:spcPts val="200"/>
              </a:spcAft>
            </a:pPr>
            <a:r>
              <a:rPr sz="1200" b="0">
                <a:solidFill>
                  <a:srgbClr val="FFFFFF"/>
                </a:solidFill>
                <a:latin typeface="Arial"/>
                <a:ea typeface="Microsoft YaHei"/>
              </a:rPr>
              <a:t>forget to + 动词原形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is not polite for opening your phone.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not polite to check your phone.</a:t>
            </a:r>
          </a:p>
          <a:p>
            <a:pPr algn="l">
              <a:spcAft>
                <a:spcPts val="200"/>
              </a:spcAft>
            </a:pPr>
            <a:r>
              <a:rPr sz="1200" b="0">
                <a:solidFill>
                  <a:srgbClr val="FFFFFF"/>
                </a:solidFill>
                <a:latin typeface="Arial"/>
                <a:ea typeface="Microsoft YaHei"/>
              </a:rPr>
              <a:t>for + -ing 不能作主语补语</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very punctual of time.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very punctual.</a:t>
            </a:r>
          </a:p>
          <a:p>
            <a:pPr algn="l">
              <a:spcAft>
                <a:spcPts val="200"/>
              </a:spcAft>
            </a:pPr>
            <a:r>
              <a:rPr sz="1200" b="0">
                <a:solidFill>
                  <a:srgbClr val="FFFFFF"/>
                </a:solidFill>
                <a:latin typeface="Arial"/>
                <a:ea typeface="Microsoft YaHei"/>
              </a:rPr>
              <a:t>punctual 本身含“守时”</a:t>
            </a:r>
          </a:p>
        </p:txBody>
      </p:sp>
      <p:sp>
        <p:nvSpPr>
          <p:cNvPr id="13" name="Rounded Rectangle 12"/>
          <p:cNvSpPr/>
          <p:nvPr/>
        </p:nvSpPr>
        <p:spPr>
          <a:xfrm>
            <a:off x="548640" y="2865118"/>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accept my sincere apology for I was late.</a:t>
            </a:r>
          </a:p>
        </p:txBody>
      </p:sp>
      <p:sp>
        <p:nvSpPr>
          <p:cNvPr id="14" name="Rounded Rectangle 13"/>
          <p:cNvSpPr/>
          <p:nvPr/>
        </p:nvSpPr>
        <p:spPr>
          <a:xfrm>
            <a:off x="6187287" y="2865118"/>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accept my apologies for being late.</a:t>
            </a:r>
          </a:p>
          <a:p>
            <a:pPr algn="l">
              <a:spcAft>
                <a:spcPts val="200"/>
              </a:spcAft>
            </a:pPr>
            <a:r>
              <a:rPr sz="1200" b="0">
                <a:solidFill>
                  <a:srgbClr val="FFFFFF"/>
                </a:solidFill>
                <a:latin typeface="Arial"/>
                <a:ea typeface="Microsoft YaHei"/>
              </a:rPr>
              <a:t>for + -ing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Check to + verb after polite / customary / forget, for + -ing after prepositions, and avoid redundant words (punctual of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960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6012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960120"/>
          </a:xfrm>
          <a:prstGeom prst="rect">
            <a:avLst/>
          </a:prstGeom>
          <a:noFill/>
        </p:spPr>
        <p:txBody>
          <a:bodyPr wrap="square" anchor="ctr">
            <a:spAutoFit/>
          </a:bodyPr>
          <a:lstStyle/>
          <a:p>
            <a:r>
              <a:rPr sz="1700" b="1">
                <a:solidFill>
                  <a:srgbClr val="FF6B5B"/>
                </a:solidFill>
                <a:latin typeface="Arial"/>
                <a:ea typeface="Microsoft YaHei"/>
              </a:rPr>
              <a:t>Titles and names: </a:t>
            </a:r>
            <a:r>
              <a:rPr sz="1700" b="0">
                <a:solidFill>
                  <a:srgbClr val="1F2A44"/>
                </a:solidFill>
                <a:latin typeface="Arial"/>
                <a:ea typeface="Microsoft YaHei"/>
              </a:rPr>
              <a:t>UK and US: first names quickly. Germany, France: titles and surnames for longer. China: job titles are widely used. When in doubt, wait for the other person to suggest first names.</a:t>
            </a:r>
          </a:p>
        </p:txBody>
      </p:sp>
      <p:sp>
        <p:nvSpPr>
          <p:cNvPr id="12" name="Rounded Rectangle 11"/>
          <p:cNvSpPr/>
          <p:nvPr/>
        </p:nvSpPr>
        <p:spPr>
          <a:xfrm>
            <a:off x="548640" y="246888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468880"/>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468880"/>
            <a:ext cx="10728655" cy="701039"/>
          </a:xfrm>
          <a:prstGeom prst="rect">
            <a:avLst/>
          </a:prstGeom>
          <a:noFill/>
        </p:spPr>
        <p:txBody>
          <a:bodyPr wrap="square" anchor="ctr">
            <a:spAutoFit/>
          </a:bodyPr>
          <a:lstStyle/>
          <a:p>
            <a:r>
              <a:rPr sz="1700" b="1">
                <a:solidFill>
                  <a:srgbClr val="4A90E2"/>
                </a:solidFill>
                <a:latin typeface="Arial"/>
                <a:ea typeface="Microsoft YaHei"/>
              </a:rPr>
              <a:t>Gifts: </a:t>
            </a:r>
            <a:r>
              <a:rPr sz="1700" b="0">
                <a:solidFill>
                  <a:srgbClr val="1F2A44"/>
                </a:solidFill>
                <a:latin typeface="Arial"/>
                <a:ea typeface="Microsoft YaHei"/>
              </a:rPr>
              <a:t>In the US, many companies limit the value of gifts. In China and Japan, gifts are common but should be modest and wrapped properly. Avoid items with negative symbolism.</a:t>
            </a:r>
          </a:p>
        </p:txBody>
      </p:sp>
      <p:sp>
        <p:nvSpPr>
          <p:cNvPr id="15" name="Rounded Rectangle 14"/>
          <p:cNvSpPr/>
          <p:nvPr/>
        </p:nvSpPr>
        <p:spPr>
          <a:xfrm>
            <a:off x="548640" y="326135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61359"/>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261359"/>
            <a:ext cx="10728655" cy="701039"/>
          </a:xfrm>
          <a:prstGeom prst="rect">
            <a:avLst/>
          </a:prstGeom>
          <a:noFill/>
        </p:spPr>
        <p:txBody>
          <a:bodyPr wrap="square" anchor="ctr">
            <a:spAutoFit/>
          </a:bodyPr>
          <a:lstStyle/>
          <a:p>
            <a:r>
              <a:rPr sz="1700" b="1">
                <a:solidFill>
                  <a:srgbClr val="3CC49A"/>
                </a:solidFill>
                <a:latin typeface="Arial"/>
                <a:ea typeface="Microsoft YaHei"/>
              </a:rPr>
              <a:t>Punctuality and agendas: </a:t>
            </a:r>
            <a:r>
              <a:rPr sz="1700" b="0">
                <a:solidFill>
                  <a:srgbClr val="1F2A44"/>
                </a:solidFill>
                <a:latin typeface="Arial"/>
                <a:ea typeface="Microsoft YaHei"/>
              </a:rPr>
              <a:t>In Germany and the UK, arrive on time or a few minutes early. If you will be late, send a message in advance.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谈礼仪时多用被动语态:It is considered rude to…。出国前查一下对方国家的惯例,宁可保守。说错了就简短道歉,感谢对方指出。</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three etiquette rules of my culture in English.</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polite advice using It’s customary to… and It’s considered rude to…</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apologise briefly for a cultural mistake.</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titles and names correctly in meetings.</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12 Business Protocol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to + verb after adjectives (polite to), for + -ing, and passive forms such as is considered.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2 · Lesson 13 Leading and Participating in Business Meetings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72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3700" b="1">
                <a:solidFill>
                  <a:srgbClr val="FFFFFF"/>
                </a:solidFill>
                <a:latin typeface="Arial"/>
                <a:ea typeface="Microsoft YaHei"/>
              </a:rPr>
              <a:t>Leading and Participating in Business Meetings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主持和参与商务会议</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lead and take part in a meeting: open it, follow an agenda, give your opinion, interrupt politely, summarise and agree action points.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many meetings do you attend in a typical week? Which ones are useful?</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someone a good meeting chair?</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find it easy to speak up in meetings? Why or why not?</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best way to interrupt politely?</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happened in the last meeting that did not go well?</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5 题讲过去,用过去式(went, happened)。chair 在会议中指“主持人”,也可作动词 to chair a meeting。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600" b="1">
                <a:solidFill>
                  <a:srgbClr val="1F2A44"/>
                </a:solidFill>
                <a:latin typeface="Arial"/>
                <a:ea typeface="Microsoft YaHei"/>
              </a:rPr>
              <a:t>Open a meeting: welcome people, state the purpose, go through the agenda, and set a time limit.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welcome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purpose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agenda in 3 points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ground rules and time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Let’s get started.   💬 The purpose of today’s meeting is to…   💬 We have 45 minutes, so let’s keep to the agenda.</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开场四步:欢迎—目的—议程—时间。”keep to the agenda” = 紧扣议程。”We have 45 minutes” 表示可用的时间。</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A Meeting With a Point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Most people have sat through meetings that could have been emails. A good meeting begins before it starts: the chair sends a clear agenda, invites only those who are needed and decides in advance what a successful outcome would look like. In the room, the chair opens by stating the purpose, keeps discussion focused and makes sure everyone has a chance to speak. Quieter people are often invited by name: “Mei, what’s your view on this?” When someone talks for too long, the chair can step in politely: “That’s a useful point; let’s hear from others now.” Before the meeting ends, a short summary and a list of actions with names and dates turn talk into results. Participants share the responsibility, too. They should arrive prepared, listen carefully and disagree in a constructive way.</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should a chair do before the meeting?</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Send a clear agenda, invite only the necessary people and decide what a successful outcome would be.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can a chair involve quieter people?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By inviting them by name to give their view.</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turns “talk into results”?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short summary and a list of actions with names and dates.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Running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主持会议</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agenda</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议程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send the agenda to everyone in advance.”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minutes</a:t>
            </a:r>
          </a:p>
          <a:p>
            <a:pPr algn="l">
              <a:lnSpc>
                <a:spcPct val="115000"/>
              </a:lnSpc>
              <a:spcAft>
                <a:spcPts val="800"/>
              </a:spcAft>
            </a:pPr>
            <a:r>
              <a:rPr sz="1300" b="0">
                <a:solidFill>
                  <a:srgbClr val="5F677A"/>
                </a:solidFill>
                <a:latin typeface="Arial"/>
                <a:ea typeface="Microsoft YaHei"/>
              </a:rPr>
              <a:t>noun (plural)</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会议纪要</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“Maria will take the minutes.”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chair a meeting</a:t>
            </a:r>
          </a:p>
          <a:p>
            <a:pPr algn="l">
              <a:lnSpc>
                <a:spcPct val="115000"/>
              </a:lnSpc>
              <a:spcAft>
                <a:spcPts val="800"/>
              </a:spcAft>
            </a:pPr>
            <a:r>
              <a:rPr sz="1300" b="0">
                <a:solidFill>
                  <a:srgbClr val="5F677A"/>
                </a:solidFill>
                <a:latin typeface="Arial"/>
                <a:ea typeface="Microsoft YaHei"/>
              </a:rPr>
              <a:t>verb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主持会议</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“Who is going to chair the meeting?”</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action points / action items</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行动事项</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agree the action points before we finish.”</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deadline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截止日期</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deadline for the report is Friday.”</a:t>
            </a:r>
          </a:p>
        </p:txBody>
      </p:sp>
      <p:sp>
        <p:nvSpPr>
          <p:cNvPr id="34" name="Rounded Rectangle 33"/>
          <p:cNvSpPr/>
          <p:nvPr/>
        </p:nvSpPr>
        <p:spPr>
          <a:xfrm>
            <a:off x="548640" y="52400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any other business (AOB)</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52857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其他事项</a:t>
            </a:r>
          </a:p>
        </p:txBody>
      </p:sp>
      <p:sp>
        <p:nvSpPr>
          <p:cNvPr id="38" name="TextBox 37"/>
          <p:cNvSpPr txBox="1"/>
          <p:nvPr/>
        </p:nvSpPr>
        <p:spPr>
          <a:xfrm>
            <a:off x="6675120" y="52857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few minutes for any other business.”</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Taking part effectively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有效参与</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stick to the agenda</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紧扣议程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stick to the agenda so we finish on time.”</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off topic / go off on a tangent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跑题</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seem to be going off on a tangent. Shall we get back to the point?”</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jump in / cut in</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插话</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to jump in, but can I add something here?”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wrap up</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总结、结束</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wrap up with a quick summary.”</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follow up on</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跟进</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follow up on this with the client.”</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park an issue</a:t>
            </a:r>
          </a:p>
          <a:p>
            <a:pPr algn="l">
              <a:lnSpc>
                <a:spcPct val="115000"/>
              </a:lnSpc>
              <a:spcAft>
                <a:spcPts val="800"/>
              </a:spcAft>
            </a:pPr>
            <a:r>
              <a:rPr sz="1300" b="0">
                <a:solidFill>
                  <a:srgbClr val="5F677A"/>
                </a:solidFill>
                <a:latin typeface="Arial"/>
                <a:ea typeface="Microsoft YaHei"/>
              </a:rPr>
              <a:t>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暂时搁置议题</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park that issue and come back to it next week.”</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行动事项</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action points / action items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跟进</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follow up on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跑题</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go off topic / go off on a tangent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总结、结束</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wrap up</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紧扣议程</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stick to the agenda</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其他事项</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any other business (AOB)</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插话</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jump in / cut in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议程</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agenda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agenda</a:t>
            </a:r>
          </a:p>
        </p:txBody>
      </p:sp>
      <p:sp>
        <p:nvSpPr>
          <p:cNvPr id="10" name="Rounded Rectangle 9"/>
          <p:cNvSpPr/>
          <p:nvPr/>
        </p:nvSpPr>
        <p:spPr>
          <a:xfrm>
            <a:off x="3127248"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minutes</a:t>
            </a:r>
          </a:p>
        </p:txBody>
      </p:sp>
      <p:sp>
        <p:nvSpPr>
          <p:cNvPr id="11" name="Rounded Rectangle 10"/>
          <p:cNvSpPr/>
          <p:nvPr/>
        </p:nvSpPr>
        <p:spPr>
          <a:xfrm>
            <a:off x="4352544" y="987552"/>
            <a:ext cx="179222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action points</a:t>
            </a:r>
          </a:p>
        </p:txBody>
      </p:sp>
      <p:sp>
        <p:nvSpPr>
          <p:cNvPr id="12" name="Rounded Rectangle 11"/>
          <p:cNvSpPr/>
          <p:nvPr/>
        </p:nvSpPr>
        <p:spPr>
          <a:xfrm>
            <a:off x="6236208"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stick to</a:t>
            </a:r>
          </a:p>
        </p:txBody>
      </p:sp>
      <p:sp>
        <p:nvSpPr>
          <p:cNvPr id="13" name="Rounded Rectangle 12"/>
          <p:cNvSpPr/>
          <p:nvPr/>
        </p:nvSpPr>
        <p:spPr>
          <a:xfrm>
            <a:off x="7571232"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tangent</a:t>
            </a:r>
          </a:p>
        </p:txBody>
      </p:sp>
      <p:sp>
        <p:nvSpPr>
          <p:cNvPr id="14" name="Rounded Rectangle 13"/>
          <p:cNvSpPr/>
          <p:nvPr/>
        </p:nvSpPr>
        <p:spPr>
          <a:xfrm>
            <a:off x="8796528"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wrap up</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1.  I’ll send the _______ to everyone before the meeting.</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agenda</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2.  Maria will take the _______ and circulate them tomorrow.</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minutes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3.  Let’s agree the _______ before we finish.</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action points</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4.  Let’s _______ the agenda so we finish on time.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stick to</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5.  We seem to be going off on a _______. Shall we get back to the point?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tangent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6.  Let’s _______ with a quick summary.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wrap up</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拼写与单复数): minutes is always plural in this meaning; agenda is singular in modern English (the agenda is…). Spelling: schedule (not “shedule”), chairperson (not “chaireperson”). Say take the minutes, not “make the minutes”.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Chairing a project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主持项目会议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chair a weekly project meeting with three colleagues. You must keep to time and agree action points.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Eva Li, project manager (chair,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Tom, Sara and Ken, team members (B plays all three)</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Chairing a project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Eva</a:t>
            </a:r>
          </a:p>
        </p:txBody>
      </p:sp>
      <p:sp>
        <p:nvSpPr>
          <p:cNvPr id="10" name="Rounded Rectangle 9"/>
          <p:cNvSpPr/>
          <p:nvPr/>
        </p:nvSpPr>
        <p:spPr>
          <a:xfrm>
            <a:off x="1463040" y="1325880"/>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everyone. Let’s get started. The purpose of today’s meeting is to review progress and agree the next steps. We have 45 minutes.</a:t>
            </a:r>
          </a:p>
        </p:txBody>
      </p:sp>
      <p:sp>
        <p:nvSpPr>
          <p:cNvPr id="11" name="Rounded Rectangle 10"/>
          <p:cNvSpPr/>
          <p:nvPr/>
        </p:nvSpPr>
        <p:spPr>
          <a:xfrm>
            <a:off x="10911535" y="2487167"/>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926079"/>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Tom</a:t>
            </a:r>
          </a:p>
        </p:txBody>
      </p:sp>
      <p:sp>
        <p:nvSpPr>
          <p:cNvPr id="13" name="Rounded Rectangle 12"/>
          <p:cNvSpPr/>
          <p:nvPr/>
        </p:nvSpPr>
        <p:spPr>
          <a:xfrm>
            <a:off x="2133295" y="2487167"/>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Morning, Eva.</a:t>
            </a:r>
          </a:p>
        </p:txBody>
      </p:sp>
      <p:sp>
        <p:nvSpPr>
          <p:cNvPr id="14" name="Rounded Rectangle 13"/>
          <p:cNvSpPr/>
          <p:nvPr/>
        </p:nvSpPr>
        <p:spPr>
          <a:xfrm>
            <a:off x="548640" y="3069335"/>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7"/>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5"/>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First item: the supplier update. Tom, could you start?</a:t>
            </a:r>
          </a:p>
        </p:txBody>
      </p:sp>
      <p:sp>
        <p:nvSpPr>
          <p:cNvPr id="17" name="Rounded Rectangle 16"/>
          <p:cNvSpPr/>
          <p:nvPr/>
        </p:nvSpPr>
        <p:spPr>
          <a:xfrm>
            <a:off x="10911535" y="365150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3"/>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The supplier has confirmed delivery for the 12th, but there’s a risk of a one-week delay.</a:t>
            </a:r>
          </a:p>
        </p:txBody>
      </p:sp>
      <p:sp>
        <p:nvSpPr>
          <p:cNvPr id="20" name="Rounded Rectangle 19"/>
          <p:cNvSpPr/>
          <p:nvPr/>
        </p:nvSpPr>
        <p:spPr>
          <a:xfrm>
            <a:off x="548640" y="452323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1"/>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Tom. Sara, what’s your view on that?</a:t>
            </a:r>
          </a:p>
        </p:txBody>
      </p:sp>
      <p:sp>
        <p:nvSpPr>
          <p:cNvPr id="23" name="Rounded Rectangle 22"/>
          <p:cNvSpPr/>
          <p:nvPr/>
        </p:nvSpPr>
        <p:spPr>
          <a:xfrm>
            <a:off x="10911535" y="5105399"/>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1"/>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399"/>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to jump in, but I think we should find a back-up supplier now, just in case.</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Chairing a project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good point. Ken, can you look into that?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check two options and report back by Thursday.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Let’s park the budget discussion for now, as we’re running short of time. Does everyone agree?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Fine by me.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wrap up: Tom will confirm the delivery date, Ken will research suppliers by Thursday, and I’ll update the client. Anything else?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that covers it.</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Chairing a project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chair a short project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The project and three agenda items: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members (2 or 3). One of them goes off topic.</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stick to the agenda · jump in · park · wrap up · action points · follow up</a:t>
            </a:r>
          </a:p>
        </p:txBody>
      </p:sp>
      <p:sp>
        <p:nvSpPr>
          <p:cNvPr id="16" name="Rounded Rectangle 15"/>
          <p:cNvSpPr/>
          <p:nvPr/>
        </p:nvSpPr>
        <p:spPr>
          <a:xfrm>
            <a:off x="548640" y="325221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Open, keep to time, handle an interruption and agree actions with names and dates.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One person dominates the discussion. Step in politely: “Thanks, that’s helpful. Let’s hear from others now.”</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Two participants disagree strongly. Summarise both views and find a next step.</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Run the same meeting by video call. Start with “Can everyone see my screen?”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meeting a waste of time? How can it be improved?</a:t>
            </a:r>
          </a:p>
          <a:p>
            <a:pPr algn="l">
              <a:lnSpc>
                <a:spcPct val="115000"/>
              </a:lnSpc>
              <a:spcAft>
                <a:spcPts val="800"/>
              </a:spcAft>
            </a:pPr>
            <a:r>
              <a:rPr sz="1400" b="0">
                <a:solidFill>
                  <a:srgbClr val="5F677A"/>
                </a:solidFill>
                <a:latin typeface="Arial"/>
                <a:ea typeface="Microsoft YaHei"/>
              </a:rPr>
              <a:t>💬 “Meetings are a waste when… To improve them, I’d…”</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interrupt in a meeting? How can you do it politely?</a:t>
            </a:r>
          </a:p>
          <a:p>
            <a:pPr algn="l">
              <a:lnSpc>
                <a:spcPct val="115000"/>
              </a:lnSpc>
              <a:spcAft>
                <a:spcPts val="800"/>
              </a:spcAft>
            </a:pPr>
            <a:r>
              <a:rPr sz="1400" b="0">
                <a:solidFill>
                  <a:srgbClr val="5F677A"/>
                </a:solidFill>
                <a:latin typeface="Arial"/>
                <a:ea typeface="Microsoft YaHei"/>
              </a:rPr>
              <a:t>💬 “It depends on… A polite way is to say…”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be invited to a meeting? Is it better to have fewer people?</a:t>
            </a:r>
          </a:p>
          <a:p>
            <a:pPr algn="l">
              <a:lnSpc>
                <a:spcPct val="115000"/>
              </a:lnSpc>
              <a:spcAft>
                <a:spcPts val="800"/>
              </a:spcAft>
            </a:pPr>
            <a:r>
              <a:rPr sz="1400" b="0">
                <a:solidFill>
                  <a:srgbClr val="5F677A"/>
                </a:solidFill>
                <a:latin typeface="Arial"/>
                <a:ea typeface="Microsoft YaHei"/>
              </a:rPr>
              <a:t>💬 “I think only those who… should attend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meetings have a time limit? Would you ever cancel a meeting?</a:t>
            </a:r>
          </a:p>
          <a:p>
            <a:pPr algn="l">
              <a:lnSpc>
                <a:spcPct val="115000"/>
              </a:lnSpc>
              <a:spcAft>
                <a:spcPts val="800"/>
              </a:spcAft>
            </a:pPr>
            <a:r>
              <a:rPr sz="1400" b="0">
                <a:solidFill>
                  <a:srgbClr val="5F677A"/>
                </a:solidFill>
                <a:latin typeface="Arial"/>
                <a:ea typeface="Microsoft YaHei"/>
              </a:rPr>
              <a:t>💬 “A time limit helps because…” / “I’d cancel it if…”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Meetings are a waste of time when there is no clear purpose, no agenda or no follow-up. To improve them, I’d always send an agenda, invite fewer people and set a time limit. I’d also end every meeting with action points that name the person responsible and the deadline. If a meeting can be replaced by a short email, I’d cancel it.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“a waste of time” 浪费时间。”follow-up” 名词,指后续跟进。”the person responsible” 名词 + 形容词后置。could be replaced = 被动 + 情态。</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Let’s start.</a:t>
                      </a:r>
                    </a:p>
                  </a:txBody>
                  <a:tcPr anchor="ctr">
                    <a:solidFill>
                      <a:srgbClr val="FFFFFF"/>
                    </a:solidFill>
                  </a:tcPr>
                </a:tc>
                <a:tc>
                  <a:txBody>
                    <a:bodyPr wrap="square"/>
                    <a:lstStyle/>
                    <a:p>
                      <a:r>
                        <a:rPr sz="1600" b="0">
                          <a:solidFill>
                            <a:srgbClr val="1F2A44"/>
                          </a:solidFill>
                          <a:latin typeface="Arial"/>
                          <a:ea typeface="Microsoft YaHei"/>
                        </a:rPr>
                        <a:t>Shall we get started?</a:t>
                      </a:r>
                    </a:p>
                  </a:txBody>
                  <a:tcPr anchor="ctr">
                    <a:solidFill>
                      <a:srgbClr val="FFFFFF"/>
                    </a:solidFill>
                  </a:tcPr>
                </a:tc>
                <a:tc>
                  <a:txBody>
                    <a:bodyPr wrap="square"/>
                    <a:lstStyle/>
                    <a:p>
                      <a:r>
                        <a:rPr sz="1600" b="0">
                          <a:solidFill>
                            <a:srgbClr val="FF6B5B"/>
                          </a:solidFill>
                          <a:latin typeface="Arial"/>
                          <a:ea typeface="Microsoft YaHei"/>
                        </a:rPr>
                        <a:t>礼貌的提议</a:t>
                      </a:r>
                    </a:p>
                  </a:txBody>
                  <a:tcPr anchor="ctr">
                    <a:solidFill>
                      <a:srgbClr val="FFFFFF"/>
                    </a:solidFill>
                  </a:tcPr>
                </a:tc>
              </a:tr>
              <a:tr h="408432">
                <a:tc>
                  <a:txBody>
                    <a:bodyPr wrap="square"/>
                    <a:lstStyle/>
                    <a:p>
                      <a:r>
                        <a:rPr sz="1600" b="1">
                          <a:solidFill>
                            <a:srgbClr val="1F2A44"/>
                          </a:solidFill>
                          <a:latin typeface="Arial"/>
                          <a:ea typeface="Microsoft YaHei"/>
                        </a:rPr>
                        <a:t>Don’t talk about other things.</a:t>
                      </a:r>
                    </a:p>
                  </a:txBody>
                  <a:tcPr anchor="ctr">
                    <a:solidFill>
                      <a:srgbClr val="FFEFD9"/>
                    </a:solidFill>
                  </a:tcPr>
                </a:tc>
                <a:tc>
                  <a:txBody>
                    <a:bodyPr wrap="square"/>
                    <a:lstStyle/>
                    <a:p>
                      <a:r>
                        <a:rPr sz="1600" b="0">
                          <a:solidFill>
                            <a:srgbClr val="1F2A44"/>
                          </a:solidFill>
                          <a:latin typeface="Arial"/>
                          <a:ea typeface="Microsoft YaHei"/>
                        </a:rPr>
                        <a:t>Let’s keep to the agenda.</a:t>
                      </a:r>
                    </a:p>
                  </a:txBody>
                  <a:tcPr anchor="ctr">
                    <a:solidFill>
                      <a:srgbClr val="FFEFD9"/>
                    </a:solidFill>
                  </a:tcPr>
                </a:tc>
                <a:tc>
                  <a:txBody>
                    <a:bodyPr wrap="square"/>
                    <a:lstStyle/>
                    <a:p>
                      <a:r>
                        <a:rPr sz="1600" b="0">
                          <a:solidFill>
                            <a:srgbClr val="FF6B5B"/>
                          </a:solidFill>
                          <a:latin typeface="Arial"/>
                          <a:ea typeface="Microsoft YaHei"/>
                        </a:rPr>
                        <a:t>避免批评</a:t>
                      </a:r>
                    </a:p>
                  </a:txBody>
                  <a:tcPr anchor="ctr">
                    <a:solidFill>
                      <a:srgbClr val="FFEFD9"/>
                    </a:solidFill>
                  </a:tcPr>
                </a:tc>
              </a:tr>
              <a:tr h="408432">
                <a:tc>
                  <a:txBody>
                    <a:bodyPr wrap="square"/>
                    <a:lstStyle/>
                    <a:p>
                      <a:r>
                        <a:rPr sz="1600" b="1">
                          <a:solidFill>
                            <a:srgbClr val="1F2A44"/>
                          </a:solidFill>
                          <a:latin typeface="Arial"/>
                          <a:ea typeface="Microsoft YaHei"/>
                        </a:rPr>
                        <a:t>You’re wrong.</a:t>
                      </a:r>
                    </a:p>
                  </a:txBody>
                  <a:tcPr anchor="ctr">
                    <a:solidFill>
                      <a:srgbClr val="FFFFFF"/>
                    </a:solidFill>
                  </a:tcPr>
                </a:tc>
                <a:tc>
                  <a:txBody>
                    <a:bodyPr wrap="square"/>
                    <a:lstStyle/>
                    <a:p>
                      <a:r>
                        <a:rPr sz="1600" b="0">
                          <a:solidFill>
                            <a:srgbClr val="1F2A44"/>
                          </a:solidFill>
                          <a:latin typeface="Arial"/>
                          <a:ea typeface="Microsoft YaHei"/>
                        </a:rPr>
                        <a:t>I see it a little differently.</a:t>
                      </a:r>
                    </a:p>
                  </a:txBody>
                  <a:tcPr anchor="ctr">
                    <a:solidFill>
                      <a:srgbClr val="FFFFFF"/>
                    </a:solidFill>
                  </a:tcPr>
                </a:tc>
                <a:tc>
                  <a:txBody>
                    <a:bodyPr wrap="square"/>
                    <a:lstStyle/>
                    <a:p>
                      <a:r>
                        <a:rPr sz="1600" b="0">
                          <a:solidFill>
                            <a:srgbClr val="FF6B5B"/>
                          </a:solidFill>
                          <a:latin typeface="Arial"/>
                          <a:ea typeface="Microsoft YaHei"/>
                        </a:rPr>
                        <a:t>委婉表示不同意见</a:t>
                      </a:r>
                    </a:p>
                  </a:txBody>
                  <a:tcPr anchor="ctr">
                    <a:solidFill>
                      <a:srgbClr val="FFFFFF"/>
                    </a:solidFill>
                  </a:tcPr>
                </a:tc>
              </a:tr>
              <a:tr h="652272">
                <a:tc>
                  <a:txBody>
                    <a:bodyPr wrap="square"/>
                    <a:lstStyle/>
                    <a:p>
                      <a:r>
                        <a:rPr sz="1600" b="1">
                          <a:solidFill>
                            <a:srgbClr val="1F2A44"/>
                          </a:solidFill>
                          <a:latin typeface="Arial"/>
                          <a:ea typeface="Microsoft YaHei"/>
                        </a:rPr>
                        <a:t>Stop. I want to say something.</a:t>
                      </a:r>
                    </a:p>
                  </a:txBody>
                  <a:tcPr anchor="ctr">
                    <a:solidFill>
                      <a:srgbClr val="FFEFD9"/>
                    </a:solidFill>
                  </a:tcPr>
                </a:tc>
                <a:tc>
                  <a:txBody>
                    <a:bodyPr wrap="square"/>
                    <a:lstStyle/>
                    <a:p>
                      <a:r>
                        <a:rPr sz="1600" b="0">
                          <a:solidFill>
                            <a:srgbClr val="1F2A44"/>
                          </a:solidFill>
                          <a:latin typeface="Arial"/>
                          <a:ea typeface="Microsoft YaHei"/>
                        </a:rPr>
                        <a:t>Sorry to interrupt, but may I add something here?</a:t>
                      </a:r>
                    </a:p>
                  </a:txBody>
                  <a:tcPr anchor="ctr">
                    <a:solidFill>
                      <a:srgbClr val="FFEFD9"/>
                    </a:solidFill>
                  </a:tcPr>
                </a:tc>
                <a:tc>
                  <a:txBody>
                    <a:bodyPr wrap="square"/>
                    <a:lstStyle/>
                    <a:p>
                      <a:r>
                        <a:rPr sz="1600" b="0">
                          <a:solidFill>
                            <a:srgbClr val="FF6B5B"/>
                          </a:solidFill>
                          <a:latin typeface="Arial"/>
                          <a:ea typeface="Microsoft YaHei"/>
                        </a:rPr>
                        <a:t>礼貌插话</a:t>
                      </a:r>
                    </a:p>
                  </a:txBody>
                  <a:tcPr anchor="ctr">
                    <a:solidFill>
                      <a:srgbClr val="FFEFD9"/>
                    </a:solidFill>
                  </a:tcPr>
                </a:tc>
              </a:tr>
              <a:tr h="652272">
                <a:tc>
                  <a:txBody>
                    <a:bodyPr wrap="square"/>
                    <a:lstStyle/>
                    <a:p>
                      <a:r>
                        <a:rPr sz="1600" b="1">
                          <a:solidFill>
                            <a:srgbClr val="1F2A44"/>
                          </a:solidFill>
                          <a:latin typeface="Arial"/>
                          <a:ea typeface="Microsoft YaHei"/>
                        </a:rPr>
                        <a:t>The meeting is finished.</a:t>
                      </a:r>
                    </a:p>
                  </a:txBody>
                  <a:tcPr anchor="ctr">
                    <a:solidFill>
                      <a:srgbClr val="FFFFFF"/>
                    </a:solidFill>
                  </a:tcPr>
                </a:tc>
                <a:tc>
                  <a:txBody>
                    <a:bodyPr wrap="square"/>
                    <a:lstStyle/>
                    <a:p>
                      <a:r>
                        <a:rPr sz="1600" b="0">
                          <a:solidFill>
                            <a:srgbClr val="1F2A44"/>
                          </a:solidFill>
                          <a:latin typeface="Arial"/>
                          <a:ea typeface="Microsoft YaHei"/>
                        </a:rPr>
                        <a:t>I think we’ve covered everything. Let’s wrap up.</a:t>
                      </a:r>
                    </a:p>
                  </a:txBody>
                  <a:tcPr anchor="ctr">
                    <a:solidFill>
                      <a:srgbClr val="FFFFFF"/>
                    </a:solidFill>
                  </a:tcPr>
                </a:tc>
                <a:tc>
                  <a:txBody>
                    <a:bodyPr wrap="square"/>
                    <a:lstStyle/>
                    <a:p>
                      <a:r>
                        <a:rPr sz="1600" b="0">
                          <a:solidFill>
                            <a:srgbClr val="FF6B5B"/>
                          </a:solidFill>
                          <a:latin typeface="Arial"/>
                          <a:ea typeface="Microsoft YaHei"/>
                        </a:rPr>
                        <a:t>结束会议</a:t>
                      </a:r>
                    </a:p>
                  </a:txBody>
                  <a:tcPr anchor="ctr">
                    <a:solidFill>
                      <a:srgbClr val="FFFFFF"/>
                    </a:solidFill>
                  </a:tcPr>
                </a:tc>
              </a:tr>
            </a:tbl>
          </a:graphicData>
        </a:graphic>
      </p:graphicFrame>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Opening phrases: </a:t>
            </a:r>
            <a:r>
              <a:rPr sz="1700" b="0">
                <a:solidFill>
                  <a:srgbClr val="1F2A44"/>
                </a:solidFill>
                <a:latin typeface="Arial"/>
                <a:ea typeface="Microsoft YaHei"/>
              </a:rPr>
              <a:t>Let’s get started. / Shall we begin? / The purpose of today’s meeting is to…</a:t>
            </a:r>
          </a:p>
        </p:txBody>
      </p:sp>
      <p:sp>
        <p:nvSpPr>
          <p:cNvPr id="11" name="Rounded Rectangle 10"/>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Interrupting: </a:t>
            </a:r>
            <a:r>
              <a:rPr sz="1700" b="0">
                <a:solidFill>
                  <a:srgbClr val="1F2A44"/>
                </a:solidFill>
                <a:latin typeface="Arial"/>
                <a:ea typeface="Microsoft YaHei"/>
              </a:rPr>
              <a:t>Sorry to interrupt, but… / Can I just add something here? / May I come in here? Not: “Wait!”</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Summarising: </a:t>
            </a:r>
            <a:r>
              <a:rPr sz="1700" b="0">
                <a:solidFill>
                  <a:srgbClr val="1F2A44"/>
                </a:solidFill>
                <a:latin typeface="Arial"/>
                <a:ea typeface="Microsoft YaHei"/>
              </a:rPr>
              <a:t>To sum up… / So, to recap… / Let me summarise what we’ve agreed.</a:t>
            </a:r>
          </a:p>
        </p:txBody>
      </p:sp>
      <p:sp>
        <p:nvSpPr>
          <p:cNvPr id="17" name="Rounded Rectangle 16"/>
          <p:cNvSpPr/>
          <p:nvPr/>
        </p:nvSpPr>
        <p:spPr>
          <a:xfrm>
            <a:off x="548640" y="327659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701039"/>
          </a:xfrm>
          <a:prstGeom prst="rect">
            <a:avLst/>
          </a:prstGeom>
          <a:noFill/>
        </p:spPr>
        <p:txBody>
          <a:bodyPr wrap="square" anchor="ctr">
            <a:spAutoFit/>
          </a:bodyPr>
          <a:lstStyle/>
          <a:p>
            <a:r>
              <a:rPr sz="1700" b="1">
                <a:solidFill>
                  <a:srgbClr val="FFC857"/>
                </a:solidFill>
                <a:latin typeface="Arial"/>
                <a:ea typeface="Microsoft YaHei"/>
              </a:rPr>
              <a:t>Careful with table: </a:t>
            </a:r>
            <a:r>
              <a:rPr sz="1700" b="0">
                <a:solidFill>
                  <a:srgbClr val="1F2A44"/>
                </a:solidFill>
                <a:latin typeface="Arial"/>
                <a:ea typeface="Microsoft YaHei"/>
              </a:rPr>
              <a:t>in UK English to table an item means to put it forward for discussion, but in US English it means to postpone it. To avoid confusion, say park or put on hold.</a:t>
            </a:r>
          </a:p>
        </p:txBody>
      </p:sp>
      <p:sp>
        <p:nvSpPr>
          <p:cNvPr id="20" name="Rounded Rectangle 19"/>
          <p:cNvSpPr/>
          <p:nvPr/>
        </p:nvSpPr>
        <p:spPr>
          <a:xfrm>
            <a:off x="548640" y="406907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6907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069076"/>
            <a:ext cx="10728655" cy="441959"/>
          </a:xfrm>
          <a:prstGeom prst="rect">
            <a:avLst/>
          </a:prstGeom>
          <a:noFill/>
        </p:spPr>
        <p:txBody>
          <a:bodyPr wrap="square" anchor="ctr">
            <a:spAutoFit/>
          </a:bodyPr>
          <a:lstStyle/>
          <a:p>
            <a:r>
              <a:rPr sz="1700" b="1">
                <a:solidFill>
                  <a:srgbClr val="9B6BE0"/>
                </a:solidFill>
                <a:latin typeface="Arial"/>
                <a:ea typeface="Microsoft YaHei"/>
              </a:rPr>
              <a:t>Agreeing and disagreeing: </a:t>
            </a:r>
            <a:r>
              <a:rPr sz="1700" b="0">
                <a:solidFill>
                  <a:srgbClr val="1F2A44"/>
                </a:solidFill>
                <a:latin typeface="Arial"/>
                <a:ea typeface="Microsoft YaHei"/>
              </a:rPr>
              <a:t>I agree. / Exactly. / I see your point, but… / I’m not sure I agree.</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Let’s begin our meeting now.</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get started.</a:t>
            </a:r>
          </a:p>
          <a:p>
            <a:pPr algn="l">
              <a:spcAft>
                <a:spcPts val="200"/>
              </a:spcAft>
            </a:pPr>
            <a:r>
              <a:rPr sz="1200" b="0">
                <a:solidFill>
                  <a:srgbClr val="FFFFFF"/>
                </a:solidFill>
                <a:latin typeface="Arial"/>
                <a:ea typeface="Microsoft YaHei"/>
              </a:rPr>
              <a:t>太生硬</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will hold at 3 pm.</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will be held at 3 pm. / The meeting starts at 3 pm.</a:t>
            </a:r>
          </a:p>
          <a:p>
            <a:pPr algn="l">
              <a:spcAft>
                <a:spcPts val="200"/>
              </a:spcAft>
            </a:pPr>
            <a:r>
              <a:rPr sz="1200" b="0">
                <a:solidFill>
                  <a:srgbClr val="FFFFFF"/>
                </a:solidFill>
                <a:latin typeface="Arial"/>
                <a:ea typeface="Microsoft YaHei"/>
              </a:rPr>
              <a:t>被动 be held</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talk about my opinion.</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share my view.</a:t>
            </a:r>
          </a:p>
          <a:p>
            <a:pPr algn="l">
              <a:spcAft>
                <a:spcPts val="200"/>
              </a:spcAft>
            </a:pPr>
            <a:r>
              <a:rPr sz="1200" b="0">
                <a:solidFill>
                  <a:srgbClr val="FFFFFF"/>
                </a:solidFill>
                <a:latin typeface="Arial"/>
                <a:ea typeface="Microsoft YaHei"/>
              </a:rPr>
              <a:t>更自然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discussed about the budget.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discussed the budget.</a:t>
            </a:r>
          </a:p>
          <a:p>
            <a:pPr algn="l">
              <a:spcAft>
                <a:spcPts val="200"/>
              </a:spcAft>
            </a:pPr>
            <a:r>
              <a:rPr sz="1200" b="0">
                <a:solidFill>
                  <a:srgbClr val="FFFFFF"/>
                </a:solidFill>
                <a:latin typeface="Arial"/>
                <a:ea typeface="Microsoft YaHei"/>
              </a:rPr>
              <a:t>discuss 是及物动词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is very good at to speak.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is very good at speaking.</a:t>
            </a:r>
          </a:p>
          <a:p>
            <a:pPr algn="l">
              <a:spcAft>
                <a:spcPts val="200"/>
              </a:spcAft>
            </a:pPr>
            <a:r>
              <a:rPr sz="1200" b="0">
                <a:solidFill>
                  <a:srgbClr val="FFFFFF"/>
                </a:solidFill>
                <a:latin typeface="Arial"/>
                <a:ea typeface="Microsoft YaHei"/>
              </a:rPr>
              <a:t>at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Everybody agree with the plan?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Does everybody agree with the plan?</a:t>
            </a:r>
          </a:p>
          <a:p>
            <a:pPr algn="l">
              <a:spcAft>
                <a:spcPts val="200"/>
              </a:spcAft>
            </a:pPr>
            <a:r>
              <a:rPr sz="1200" b="0">
                <a:solidFill>
                  <a:srgbClr val="FFFFFF"/>
                </a:solidFill>
                <a:latin typeface="Arial"/>
                <a:ea typeface="Microsoft YaHei"/>
              </a:rPr>
              <a:t>助动词 does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discuss (no about), at + -ing, does everybody…?, and the passive be held.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Starting on time: </a:t>
            </a:r>
            <a:r>
              <a:rPr sz="1700" b="0">
                <a:solidFill>
                  <a:srgbClr val="1F2A44"/>
                </a:solidFill>
                <a:latin typeface="Arial"/>
                <a:ea typeface="Microsoft YaHei"/>
              </a:rPr>
              <a:t>In the UK, US and Germany, meetings usually start on time. If you will be late, send a message in advance.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Speaking up: </a:t>
            </a:r>
            <a:r>
              <a:rPr sz="1700" b="0">
                <a:solidFill>
                  <a:srgbClr val="1F2A44"/>
                </a:solidFill>
                <a:latin typeface="Arial"/>
                <a:ea typeface="Microsoft YaHei"/>
              </a:rPr>
              <a:t>In many English-speaking workplaces, people are expected to contribute. Silence can be read as no opinion. Prepare one point in advance.</a:t>
            </a:r>
          </a:p>
        </p:txBody>
      </p:sp>
      <p:sp>
        <p:nvSpPr>
          <p:cNvPr id="15" name="Rounded Rectangle 14"/>
          <p:cNvSpPr/>
          <p:nvPr/>
        </p:nvSpPr>
        <p:spPr>
          <a:xfrm>
            <a:off x="548640" y="3002278"/>
            <a:ext cx="11094415" cy="960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96012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960120"/>
          </a:xfrm>
          <a:prstGeom prst="rect">
            <a:avLst/>
          </a:prstGeom>
          <a:noFill/>
        </p:spPr>
        <p:txBody>
          <a:bodyPr wrap="square" anchor="ctr">
            <a:spAutoFit/>
          </a:bodyPr>
          <a:lstStyle/>
          <a:p>
            <a:r>
              <a:rPr sz="1700" b="1">
                <a:solidFill>
                  <a:srgbClr val="3CC49A"/>
                </a:solidFill>
                <a:latin typeface="Arial"/>
                <a:ea typeface="Microsoft YaHei"/>
              </a:rPr>
              <a:t>Disagreeing politely: </a:t>
            </a:r>
            <a:r>
              <a:rPr sz="1700" b="0">
                <a:solidFill>
                  <a:srgbClr val="1F2A44"/>
                </a:solidFill>
                <a:latin typeface="Arial"/>
                <a:ea typeface="Microsoft YaHei"/>
              </a:rPr>
              <a:t>Direct disagreement is acceptable if it is softened: “I see it a little differently.” In some cultures, saying no directly is rude, so build bridges with phrases like “That’s an interesting idea.”</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主持人要先说目的和时间,会议结束时一定要总结行动事项(who、what、by when)。想插话时用 Sorry to jump in, but… 不显得粗鲁。</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open a meeting with the purpose and agenda.</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interrupt and disagree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summarise and agree action points with names and dates.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four ★ items in a meeting role play.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13 Leading and Participating in Business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discuss (no about), at + -ing, question forms (Does everybody…?) and the passive be held.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2 · Lesson 14 Flying for Business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Flying for Business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商务出行</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handle business travel in English: airport, flight and hotel situations, delays, small talk, and expense reports.</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9258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often do you travel for work? What is the best and worst part?</a:t>
            </a:r>
          </a:p>
        </p:txBody>
      </p:sp>
      <p:sp>
        <p:nvSpPr>
          <p:cNvPr id="12" name="Oval 11"/>
          <p:cNvSpPr/>
          <p:nvPr/>
        </p:nvSpPr>
        <p:spPr>
          <a:xfrm>
            <a:off x="548640" y="228142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43328"/>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43328"/>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was your most memorable business trip?</a:t>
            </a:r>
          </a:p>
        </p:txBody>
      </p:sp>
      <p:sp>
        <p:nvSpPr>
          <p:cNvPr id="15" name="Oval 14"/>
          <p:cNvSpPr/>
          <p:nvPr/>
        </p:nvSpPr>
        <p:spPr>
          <a:xfrm>
            <a:off x="548640" y="29702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32176"/>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32176"/>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do you make long flights productive, or do you prefer to rest?</a:t>
            </a:r>
          </a:p>
        </p:txBody>
      </p:sp>
      <p:sp>
        <p:nvSpPr>
          <p:cNvPr id="18" name="Oval 17"/>
          <p:cNvSpPr/>
          <p:nvPr/>
        </p:nvSpPr>
        <p:spPr>
          <a:xfrm>
            <a:off x="548640" y="365912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21024"/>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21024"/>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Have you ever had a delay or a lost bag? What did you do?</a:t>
            </a:r>
          </a:p>
        </p:txBody>
      </p:sp>
      <p:sp>
        <p:nvSpPr>
          <p:cNvPr id="21" name="Oval 20"/>
          <p:cNvSpPr/>
          <p:nvPr/>
        </p:nvSpPr>
        <p:spPr>
          <a:xfrm>
            <a:off x="548640" y="452323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09872"/>
            <a:ext cx="10408615" cy="929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09872"/>
            <a:ext cx="10180015" cy="92964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Do you think business travel will decline because of video calls? Why or why not?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2、4 题讲过去的经历。第 5 题表达预测,可用 “I think it’ll decline, but…”。lost luggage = 行李丢失。</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business trip (real or imagined) and what happened.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where and why</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one problem</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you solved it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learned</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flew to… to…   💬 Unfortunately, my flight was…   💬 In the end, I managed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讲故事要用一般过去式,并用连接词(first, then, in the end)。manage to + 动词原形 = 设法做到。</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Cleared for Take-off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For many professionals, business travel is a mix of glamour and fatigue. On one hand, it offers a chance to meet clients face to face, see new places and build stronger relationships. On the other, it means early alarms, security queues and hotel rooms that all look the same. Experienced travellers have developed a few habits. They pack light, with a carry-on bag that can survive a delayed flight. They keep important documents and chargers within reach, arrive early, and sleep on the plane when they need to. They also plan time to adjust to a new time zone before any key meeting. With video calls available, companies now think harder about whether a trip is necessary. Still, many deals are done over dinner, and some conversations simply work better in person.</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two benefits of business travel mentioned in the text?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Meeting clients face to face and building stronger relationships (and seeing new places).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habits do experienced travellers have?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pack light, keep documents and chargers within reach, arrive early, and sleep on the plane when needed.</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might a trip still be worth it despite video calls?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Many deals are done over dinner, and some conversations work better in person.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Travel basics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差旅基础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boarding pass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登机牌</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have your boarding pass ready.”</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check in / check-in desk</a:t>
            </a:r>
          </a:p>
          <a:p>
            <a:pPr algn="l">
              <a:lnSpc>
                <a:spcPct val="115000"/>
              </a:lnSpc>
              <a:spcAft>
                <a:spcPts val="800"/>
              </a:spcAft>
            </a:pPr>
            <a:r>
              <a:rPr sz="1300" b="0">
                <a:solidFill>
                  <a:srgbClr val="5F677A"/>
                </a:solidFill>
                <a:latin typeface="Arial"/>
                <a:ea typeface="Microsoft YaHei"/>
              </a:rPr>
              <a:t>phrasal verb / noun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办理登机 / 值机柜台</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can check in online 24 hours before.”</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carry-on (luggage) / hand luggage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随身行李</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only travelled with carry-on luggage.”</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layover / stopover</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中转停留</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 a three-hour layover in Dubai.”</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delayed / cancelled</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延误 / 取消</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flight has been delayed by two hours.”</a:t>
            </a:r>
          </a:p>
        </p:txBody>
      </p:sp>
      <p:sp>
        <p:nvSpPr>
          <p:cNvPr id="34" name="Rounded Rectangle 33"/>
          <p:cNvSpPr/>
          <p:nvPr/>
        </p:nvSpPr>
        <p:spPr>
          <a:xfrm>
            <a:off x="548640" y="55448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5448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5905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expense report / claim</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55905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报销单</a:t>
            </a:r>
          </a:p>
        </p:txBody>
      </p:sp>
      <p:sp>
        <p:nvSpPr>
          <p:cNvPr id="38" name="TextBox 37"/>
          <p:cNvSpPr txBox="1"/>
          <p:nvPr/>
        </p:nvSpPr>
        <p:spPr>
          <a:xfrm>
            <a:off x="6675120" y="55905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“Remember to submit your expense report by Friday.”</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Chunk 2: Handling problems and small talk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应对问题与寒暄</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jet lag</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时差反应</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still suffering from jet lag after the long flight.”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rebooked</a:t>
            </a:r>
          </a:p>
          <a:p>
            <a:pPr algn="l">
              <a:lnSpc>
                <a:spcPct val="115000"/>
              </a:lnSpc>
              <a:spcAft>
                <a:spcPts val="800"/>
              </a:spcAft>
            </a:pPr>
            <a:r>
              <a:rPr sz="1300" b="0">
                <a:solidFill>
                  <a:srgbClr val="5F677A"/>
                </a:solidFill>
                <a:latin typeface="Arial"/>
                <a:ea typeface="Microsoft YaHei"/>
              </a:rPr>
              <a:t>verb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被改签</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were rebooked on the next flight.”</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run late / be running behind</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晚点</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running late. My flight was delayed.”</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catch / miss a connection</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赶上 / 错过转机</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just missed my connection in Frankfurt.”</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upgrade</a:t>
            </a:r>
          </a:p>
          <a:p>
            <a:pPr algn="l">
              <a:lnSpc>
                <a:spcPct val="115000"/>
              </a:lnSpc>
              <a:spcAft>
                <a:spcPts val="800"/>
              </a:spcAft>
            </a:pPr>
            <a:r>
              <a:rPr sz="1300" b="0">
                <a:solidFill>
                  <a:srgbClr val="5F677A"/>
                </a:solidFill>
                <a:latin typeface="Arial"/>
                <a:ea typeface="Microsoft YaHei"/>
              </a:rPr>
              <a:t>verb / noun</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升舱;升级</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upgraded me to business class because the flight was full.”</a:t>
            </a:r>
          </a:p>
        </p:txBody>
      </p:sp>
      <p:sp>
        <p:nvSpPr>
          <p:cNvPr id="34" name="Rounded Rectangle 33"/>
          <p:cNvSpPr/>
          <p:nvPr/>
        </p:nvSpPr>
        <p:spPr>
          <a:xfrm>
            <a:off x="548640" y="55448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5448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5905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the most of</a:t>
            </a:r>
          </a:p>
          <a:p>
            <a:pPr algn="l">
              <a:lnSpc>
                <a:spcPct val="115000"/>
              </a:lnSpc>
              <a:spcAft>
                <a:spcPts val="800"/>
              </a:spcAft>
            </a:pPr>
            <a:r>
              <a:rPr sz="1300" b="0">
                <a:solidFill>
                  <a:srgbClr val="5F677A"/>
                </a:solidFill>
                <a:latin typeface="Arial"/>
                <a:ea typeface="Microsoft YaHei"/>
              </a:rPr>
              <a:t>phrasal</a:t>
            </a:r>
          </a:p>
        </p:txBody>
      </p:sp>
      <p:sp>
        <p:nvSpPr>
          <p:cNvPr id="37" name="TextBox 36"/>
          <p:cNvSpPr txBox="1"/>
          <p:nvPr/>
        </p:nvSpPr>
        <p:spPr>
          <a:xfrm>
            <a:off x="4206240" y="55905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充分利用</a:t>
            </a:r>
          </a:p>
        </p:txBody>
      </p:sp>
      <p:sp>
        <p:nvSpPr>
          <p:cNvPr id="38" name="TextBox 37"/>
          <p:cNvSpPr txBox="1"/>
          <p:nvPr/>
        </p:nvSpPr>
        <p:spPr>
          <a:xfrm>
            <a:off x="6675120" y="55905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made the most of the layover to answer emails.”</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中转停留</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layover / stopover</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登机牌</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boarding pass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延误 / 取消</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delayed / cancelled</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报销单</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expense report / claim</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升舱;升级</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upgrade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时差反应</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jet lag</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赶上 / 错过转机</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catch / miss a connection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办理登机 / 值机柜台</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check in / check-in desk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79222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boarding pass</a:t>
            </a:r>
          </a:p>
        </p:txBody>
      </p:sp>
      <p:sp>
        <p:nvSpPr>
          <p:cNvPr id="10" name="Rounded Rectangle 9"/>
          <p:cNvSpPr/>
          <p:nvPr/>
        </p:nvSpPr>
        <p:spPr>
          <a:xfrm>
            <a:off x="3895344"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check in</a:t>
            </a:r>
          </a:p>
        </p:txBody>
      </p:sp>
      <p:sp>
        <p:nvSpPr>
          <p:cNvPr id="11" name="Rounded Rectangle 10"/>
          <p:cNvSpPr/>
          <p:nvPr/>
        </p:nvSpPr>
        <p:spPr>
          <a:xfrm>
            <a:off x="5230368"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delayed</a:t>
            </a:r>
          </a:p>
        </p:txBody>
      </p:sp>
      <p:sp>
        <p:nvSpPr>
          <p:cNvPr id="12" name="Rounded Rectangle 11"/>
          <p:cNvSpPr/>
          <p:nvPr/>
        </p:nvSpPr>
        <p:spPr>
          <a:xfrm>
            <a:off x="6455664" y="987552"/>
            <a:ext cx="190195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expense report</a:t>
            </a:r>
          </a:p>
        </p:txBody>
      </p:sp>
      <p:sp>
        <p:nvSpPr>
          <p:cNvPr id="13" name="Rounded Rectangle 12"/>
          <p:cNvSpPr/>
          <p:nvPr/>
        </p:nvSpPr>
        <p:spPr>
          <a:xfrm>
            <a:off x="8449056"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jet lag</a:t>
            </a:r>
          </a:p>
        </p:txBody>
      </p:sp>
      <p:sp>
        <p:nvSpPr>
          <p:cNvPr id="14" name="Rounded Rectangle 13"/>
          <p:cNvSpPr/>
          <p:nvPr/>
        </p:nvSpPr>
        <p:spPr>
          <a:xfrm>
            <a:off x="9674352"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missed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Please have your _______ ready at the gate.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boarding pass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You can _______ online 24 hours before departure.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check in</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Our flight has been _______ by two hours.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delayed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Remember to submit your _______ by Friday.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expense report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I’m still suffering from _______ after the long flight.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jet lag</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just _______ my connection in Frankfurt.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missed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luggage / baggage are uncountable (a piece of luggage). Check in (verb) vs check-in (noun). Jet lag is two words. Say “on a flight” and “by air”, but “arrive at the airport”, “arrive in Beijing”.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Dealing with a delayed flight at the airport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机场航班延误</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flight to a client meeting has been delayed and you will miss your connection. You speak to an airline agent.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Wei Zhang, traveller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Helen Brooks, airline agent</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Dealing with a delayed flight at the airport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Excuse me. My flight from Beijing was delayed, and now I’m going to miss my connection to Singapore. Could you help me?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Helen</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to hear that. Let me have a look. Could I see your boarding pass and passport?</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Here you are.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The next flight to Singapore leaves at 9 pm. I can rebook you on that one.</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Dealing with a delayed flight at the airport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great. Is there any chance of a seat at the front? I have an important meeting early tomorrow.</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There’s one seat in business class, and I can upgrade you at no extra cost, since it’s our delay.</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very kind, thank you. Will my luggage be transferred automatically?</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it will be transferred. Here’s your new boarding pass. Gate 14, boarding at 8.30.</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Dealing with a delayed flight at the airport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Could I also get a meal voucher? I’ll have a long wait.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Certainly. Here you go. We apologise for the inconvenience.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You’ve been very helpful.</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Have a good flight, Mr Zhang.</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Dealing with a delayed flight at the airport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solve a travel problem with an airline agent.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Traveller. Your destination and the reason for the trip: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Airline agent. Helpful, but limited options.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delayed · miss the connection · rebook · upgrade · boarding pass · luggage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the problem, ask for a solution, and check what happens to your luggage.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agent says the only option is tomorrow morning. Politely ask for compensation or a hotel: “Would it be possible to…?”</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Your bag is lost. Report it: describe the bag, give your flight number and ask what happens next.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Phone your client to say you will be late. Apologise and suggest a new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business travel still necessary now that video calls are common?</a:t>
            </a:r>
          </a:p>
          <a:p>
            <a:pPr algn="l">
              <a:lnSpc>
                <a:spcPct val="115000"/>
              </a:lnSpc>
              <a:spcAft>
                <a:spcPts val="800"/>
              </a:spcAft>
            </a:pPr>
            <a:r>
              <a:rPr sz="1400" b="0">
                <a:solidFill>
                  <a:srgbClr val="5F677A"/>
                </a:solidFill>
                <a:latin typeface="Arial"/>
                <a:ea typeface="Microsoft YaHei"/>
              </a:rPr>
              <a:t>💬 “In many cases, a video call is enough, but…” / “Some things need to be done in person, such as…”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good business trip? What makes a bad one?</a:t>
            </a:r>
          </a:p>
          <a:p>
            <a:pPr algn="l">
              <a:lnSpc>
                <a:spcPct val="115000"/>
              </a:lnSpc>
              <a:spcAft>
                <a:spcPts val="800"/>
              </a:spcAft>
            </a:pPr>
            <a:r>
              <a:rPr sz="1400" b="0">
                <a:solidFill>
                  <a:srgbClr val="5F677A"/>
                </a:solidFill>
                <a:latin typeface="Arial"/>
                <a:ea typeface="Microsoft YaHei"/>
              </a:rPr>
              <a:t>💬 “A good trip is one where… A bad one is when…”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deal with jet lag and tiredness during a trip?</a:t>
            </a:r>
          </a:p>
          <a:p>
            <a:pPr algn="l">
              <a:lnSpc>
                <a:spcPct val="115000"/>
              </a:lnSpc>
              <a:spcAft>
                <a:spcPts val="800"/>
              </a:spcAft>
            </a:pPr>
            <a:r>
              <a:rPr sz="1400" b="0">
                <a:solidFill>
                  <a:srgbClr val="5F677A"/>
                </a:solidFill>
                <a:latin typeface="Arial"/>
                <a:ea typeface="Microsoft YaHei"/>
              </a:rPr>
              <a:t>💬 “I try to… / I find it helps to…”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companies pay for business class on long flights?</a:t>
            </a:r>
          </a:p>
          <a:p>
            <a:pPr algn="l">
              <a:lnSpc>
                <a:spcPct val="115000"/>
              </a:lnSpc>
              <a:spcAft>
                <a:spcPts val="800"/>
              </a:spcAft>
            </a:pPr>
            <a:r>
              <a:rPr sz="1400" b="0">
                <a:solidFill>
                  <a:srgbClr val="5F677A"/>
                </a:solidFill>
                <a:latin typeface="Arial"/>
                <a:ea typeface="Microsoft YaHei"/>
              </a:rPr>
              <a:t>💬 “On long flights, I’d say yes, because… / No,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In many cases, a video call is enough, especially for regular updates. But some things really need to be done in person, such as building trust with a new client or negotiating a complicated deal. You also notice things you can’t see on screen, like how people react. So I think companies should travel less, but more carefully. When they do send people, the trip should have a clear purpose and be worth the cost and the time.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“In many cases” = 在很多情况下。”more carefully” 副词比较级。 “the trip should have a clear purpose” 结构清楚。</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69443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My plane is late.</a:t>
                      </a:r>
                    </a:p>
                  </a:txBody>
                  <a:tcPr anchor="ctr">
                    <a:solidFill>
                      <a:srgbClr val="FFFFFF"/>
                    </a:solidFill>
                  </a:tcPr>
                </a:tc>
                <a:tc>
                  <a:txBody>
                    <a:bodyPr wrap="square"/>
                    <a:lstStyle/>
                    <a:p>
                      <a:r>
                        <a:rPr sz="1600" b="0">
                          <a:solidFill>
                            <a:srgbClr val="1F2A44"/>
                          </a:solidFill>
                          <a:latin typeface="Arial"/>
                          <a:ea typeface="Microsoft YaHei"/>
                        </a:rPr>
                        <a:t>My flight has been delayed.</a:t>
                      </a:r>
                    </a:p>
                  </a:txBody>
                  <a:tcPr anchor="ctr">
                    <a:solidFill>
                      <a:srgbClr val="FFFFFF"/>
                    </a:solidFill>
                  </a:tcPr>
                </a:tc>
                <a:tc>
                  <a:txBody>
                    <a:bodyPr wrap="square"/>
                    <a:lstStyle/>
                    <a:p>
                      <a:r>
                        <a:rPr sz="1600" b="0">
                          <a:solidFill>
                            <a:srgbClr val="FF6B5B"/>
                          </a:solidFill>
                          <a:latin typeface="Arial"/>
                          <a:ea typeface="Microsoft YaHei"/>
                        </a:rPr>
                        <a:t>更准确</a:t>
                      </a:r>
                    </a:p>
                  </a:txBody>
                  <a:tcPr anchor="ctr">
                    <a:solidFill>
                      <a:srgbClr val="FFFFFF"/>
                    </a:solidFill>
                  </a:tcPr>
                </a:tc>
              </a:tr>
              <a:tr h="408432">
                <a:tc>
                  <a:txBody>
                    <a:bodyPr wrap="square"/>
                    <a:lstStyle/>
                    <a:p>
                      <a:r>
                        <a:rPr sz="1600" b="1">
                          <a:solidFill>
                            <a:srgbClr val="1F2A44"/>
                          </a:solidFill>
                          <a:latin typeface="Arial"/>
                          <a:ea typeface="Microsoft YaHei"/>
                        </a:rPr>
                        <a:t>I want to change my ticket.</a:t>
                      </a:r>
                    </a:p>
                  </a:txBody>
                  <a:tcPr anchor="ctr">
                    <a:solidFill>
                      <a:srgbClr val="FFEFD9"/>
                    </a:solidFill>
                  </a:tcPr>
                </a:tc>
                <a:tc>
                  <a:txBody>
                    <a:bodyPr wrap="square"/>
                    <a:lstStyle/>
                    <a:p>
                      <a:r>
                        <a:rPr sz="1600" b="0">
                          <a:solidFill>
                            <a:srgbClr val="1F2A44"/>
                          </a:solidFill>
                          <a:latin typeface="Arial"/>
                          <a:ea typeface="Microsoft YaHei"/>
                        </a:rPr>
                        <a:t>I’d like to rebook my flight.</a:t>
                      </a:r>
                    </a:p>
                  </a:txBody>
                  <a:tcPr anchor="ctr">
                    <a:solidFill>
                      <a:srgbClr val="FFEFD9"/>
                    </a:solidFill>
                  </a:tcPr>
                </a:tc>
                <a:tc>
                  <a:txBody>
                    <a:bodyPr wrap="square"/>
                    <a:lstStyle/>
                    <a:p>
                      <a:r>
                        <a:rPr sz="1600" b="0">
                          <a:solidFill>
                            <a:srgbClr val="FF6B5B"/>
                          </a:solidFill>
                          <a:latin typeface="Arial"/>
                          <a:ea typeface="Microsoft YaHei"/>
                        </a:rPr>
                        <a:t>礼貌、专业</a:t>
                      </a:r>
                    </a:p>
                  </a:txBody>
                  <a:tcPr anchor="ctr">
                    <a:solidFill>
                      <a:srgbClr val="FFEFD9"/>
                    </a:solidFill>
                  </a:tcPr>
                </a:tc>
              </a:tr>
              <a:tr h="408432">
                <a:tc>
                  <a:txBody>
                    <a:bodyPr wrap="square"/>
                    <a:lstStyle/>
                    <a:p>
                      <a:r>
                        <a:rPr sz="1600" b="1">
                          <a:solidFill>
                            <a:srgbClr val="1F2A44"/>
                          </a:solidFill>
                          <a:latin typeface="Arial"/>
                          <a:ea typeface="Microsoft YaHei"/>
                        </a:rPr>
                        <a:t>I can’t find my bag.</a:t>
                      </a:r>
                    </a:p>
                  </a:txBody>
                  <a:tcPr anchor="ctr">
                    <a:solidFill>
                      <a:srgbClr val="FFFFFF"/>
                    </a:solidFill>
                  </a:tcPr>
                </a:tc>
                <a:tc>
                  <a:txBody>
                    <a:bodyPr wrap="square"/>
                    <a:lstStyle/>
                    <a:p>
                      <a:r>
                        <a:rPr sz="1600" b="0">
                          <a:solidFill>
                            <a:srgbClr val="1F2A44"/>
                          </a:solidFill>
                          <a:latin typeface="Arial"/>
                          <a:ea typeface="Microsoft YaHei"/>
                        </a:rPr>
                        <a:t>My luggage hasn’t arrived.</a:t>
                      </a:r>
                    </a:p>
                  </a:txBody>
                  <a:tcPr anchor="ctr">
                    <a:solidFill>
                      <a:srgbClr val="FFFFFF"/>
                    </a:solidFill>
                  </a:tcPr>
                </a:tc>
                <a:tc>
                  <a:txBody>
                    <a:bodyPr wrap="square"/>
                    <a:lstStyle/>
                    <a:p>
                      <a:r>
                        <a:rPr sz="1600" b="0">
                          <a:solidFill>
                            <a:srgbClr val="FF6B5B"/>
                          </a:solidFill>
                          <a:latin typeface="Arial"/>
                          <a:ea typeface="Microsoft YaHei"/>
                        </a:rPr>
                        <a:t>描述事实</a:t>
                      </a:r>
                    </a:p>
                  </a:txBody>
                  <a:tcPr anchor="ctr">
                    <a:solidFill>
                      <a:srgbClr val="FFFFFF"/>
                    </a:solidFill>
                  </a:tcPr>
                </a:tc>
              </a:tr>
              <a:tr h="408432">
                <a:tc>
                  <a:txBody>
                    <a:bodyPr wrap="square"/>
                    <a:lstStyle/>
                    <a:p>
                      <a:r>
                        <a:rPr sz="1600" b="1">
                          <a:solidFill>
                            <a:srgbClr val="1F2A44"/>
                          </a:solidFill>
                          <a:latin typeface="Arial"/>
                          <a:ea typeface="Microsoft YaHei"/>
                        </a:rPr>
                        <a:t>I’m very tired from flying.</a:t>
                      </a:r>
                    </a:p>
                  </a:txBody>
                  <a:tcPr anchor="ctr">
                    <a:solidFill>
                      <a:srgbClr val="FFEFD9"/>
                    </a:solidFill>
                  </a:tcPr>
                </a:tc>
                <a:tc>
                  <a:txBody>
                    <a:bodyPr wrap="square"/>
                    <a:lstStyle/>
                    <a:p>
                      <a:r>
                        <a:rPr sz="1600" b="0">
                          <a:solidFill>
                            <a:srgbClr val="1F2A44"/>
                          </a:solidFill>
                          <a:latin typeface="Arial"/>
                          <a:ea typeface="Microsoft YaHei"/>
                        </a:rPr>
                        <a:t>I’m suffering from jet lag.</a:t>
                      </a:r>
                    </a:p>
                  </a:txBody>
                  <a:tcPr anchor="ctr">
                    <a:solidFill>
                      <a:srgbClr val="FFEFD9"/>
                    </a:solidFill>
                  </a:tcPr>
                </a:tc>
                <a:tc>
                  <a:txBody>
                    <a:bodyPr wrap="square"/>
                    <a:lstStyle/>
                    <a:p>
                      <a:r>
                        <a:rPr sz="1600" b="0">
                          <a:solidFill>
                            <a:srgbClr val="FF6B5B"/>
                          </a:solidFill>
                          <a:latin typeface="Arial"/>
                          <a:ea typeface="Microsoft YaHei"/>
                        </a:rPr>
                        <a:t>固定搭配</a:t>
                      </a:r>
                    </a:p>
                  </a:txBody>
                  <a:tcPr anchor="ctr">
                    <a:solidFill>
                      <a:srgbClr val="FFEFD9"/>
                    </a:solidFill>
                  </a:tcPr>
                </a:tc>
              </a:tr>
              <a:tr h="652272">
                <a:tc>
                  <a:txBody>
                    <a:bodyPr wrap="square"/>
                    <a:lstStyle/>
                    <a:p>
                      <a:r>
                        <a:rPr sz="1600" b="1">
                          <a:solidFill>
                            <a:srgbClr val="1F2A44"/>
                          </a:solidFill>
                          <a:latin typeface="Arial"/>
                          <a:ea typeface="Microsoft YaHei"/>
                        </a:rPr>
                        <a:t>Can you give me a better seat?</a:t>
                      </a:r>
                    </a:p>
                  </a:txBody>
                  <a:tcPr anchor="ctr">
                    <a:solidFill>
                      <a:srgbClr val="FFFFFF"/>
                    </a:solidFill>
                  </a:tcPr>
                </a:tc>
                <a:tc>
                  <a:txBody>
                    <a:bodyPr wrap="square"/>
                    <a:lstStyle/>
                    <a:p>
                      <a:r>
                        <a:rPr sz="1600" b="0">
                          <a:solidFill>
                            <a:srgbClr val="1F2A44"/>
                          </a:solidFill>
                          <a:latin typeface="Arial"/>
                          <a:ea typeface="Microsoft YaHei"/>
                        </a:rPr>
                        <a:t>Would it be possible to be upgraded?</a:t>
                      </a:r>
                    </a:p>
                  </a:txBody>
                  <a:tcPr anchor="ctr">
                    <a:solidFill>
                      <a:srgbClr val="FFFFFF"/>
                    </a:solidFill>
                  </a:tcPr>
                </a:tc>
                <a:tc>
                  <a:txBody>
                    <a:bodyPr wrap="square"/>
                    <a:lstStyle/>
                    <a:p>
                      <a:r>
                        <a:rPr sz="1600" b="0">
                          <a:solidFill>
                            <a:srgbClr val="FF6B5B"/>
                          </a:solidFill>
                          <a:latin typeface="Arial"/>
                          <a:ea typeface="Microsoft YaHei"/>
                        </a:rPr>
                        <a:t>委婉请求</a:t>
                      </a:r>
                    </a:p>
                  </a:txBody>
                  <a:tcPr anchor="ctr">
                    <a:solidFill>
                      <a:srgbClr val="FFFFFF"/>
                    </a:solidFill>
                  </a:tcPr>
                </a:tc>
              </a:tr>
            </a:tbl>
          </a:graphicData>
        </a:graphic>
      </p:graphicFrame>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Present perfect for current results: </a:t>
            </a:r>
            <a:r>
              <a:rPr sz="1700" b="0">
                <a:solidFill>
                  <a:srgbClr val="1F2A44"/>
                </a:solidFill>
                <a:latin typeface="Arial"/>
                <a:ea typeface="Microsoft YaHei"/>
              </a:rPr>
              <a:t>“Our flight has been delayed.” / “My bag hasn’t arrived.”</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Passive for events: </a:t>
            </a:r>
            <a:r>
              <a:rPr sz="1700" b="0">
                <a:solidFill>
                  <a:srgbClr val="1F2A44"/>
                </a:solidFill>
                <a:latin typeface="Arial"/>
                <a:ea typeface="Microsoft YaHei"/>
              </a:rPr>
              <a:t>was delayed, was cancelled, will be transferred.</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Polite requests: </a:t>
            </a:r>
            <a:r>
              <a:rPr sz="1700" b="0">
                <a:solidFill>
                  <a:srgbClr val="1F2A44"/>
                </a:solidFill>
                <a:latin typeface="Arial"/>
                <a:ea typeface="Microsoft YaHei"/>
              </a:rPr>
              <a:t>Would it be possible to…? · I was wondering if I could… · Could you…?</a:t>
            </a:r>
          </a:p>
        </p:txBody>
      </p:sp>
      <p:sp>
        <p:nvSpPr>
          <p:cNvPr id="17" name="Rounded Rectangle 16"/>
          <p:cNvSpPr/>
          <p:nvPr/>
        </p:nvSpPr>
        <p:spPr>
          <a:xfrm>
            <a:off x="548640" y="301751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701039"/>
          </a:xfrm>
          <a:prstGeom prst="rect">
            <a:avLst/>
          </a:prstGeom>
          <a:noFill/>
        </p:spPr>
        <p:txBody>
          <a:bodyPr wrap="square" anchor="ctr">
            <a:spAutoFit/>
          </a:bodyPr>
          <a:lstStyle/>
          <a:p>
            <a:r>
              <a:rPr sz="1700" b="1">
                <a:solidFill>
                  <a:srgbClr val="FFC857"/>
                </a:solidFill>
                <a:latin typeface="Arial"/>
                <a:ea typeface="Microsoft YaHei"/>
              </a:rPr>
              <a:t>Prepositions: </a:t>
            </a:r>
            <a:r>
              <a:rPr sz="1700" b="0">
                <a:solidFill>
                  <a:srgbClr val="1F2A44"/>
                </a:solidFill>
                <a:latin typeface="Arial"/>
                <a:ea typeface="Microsoft YaHei"/>
              </a:rPr>
              <a:t>at the airport · in the terminal · on the plane · on a flight · by air · for business.</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flight was delay.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flight was delayed.</a:t>
            </a:r>
          </a:p>
          <a:p>
            <a:pPr algn="l">
              <a:spcAft>
                <a:spcPts val="200"/>
              </a:spcAft>
            </a:pPr>
            <a:r>
              <a:rPr sz="1200" b="0">
                <a:solidFill>
                  <a:srgbClr val="FFFFFF"/>
                </a:solidFill>
                <a:latin typeface="Arial"/>
                <a:ea typeface="Microsoft YaHei"/>
              </a:rPr>
              <a:t>被动用过去分词</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arrived to the airport.</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arrived at the airport. / I arrived in Shanghai.</a:t>
            </a:r>
          </a:p>
          <a:p>
            <a:pPr algn="l">
              <a:spcAft>
                <a:spcPts val="200"/>
              </a:spcAft>
            </a:pPr>
            <a:r>
              <a:rPr sz="1200" b="0">
                <a:solidFill>
                  <a:srgbClr val="FFFFFF"/>
                </a:solidFill>
                <a:latin typeface="Arial"/>
                <a:ea typeface="Microsoft YaHei"/>
              </a:rPr>
              <a:t>arrive at / in</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two luggages.</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two pieces of luggage. / two bags</a:t>
            </a:r>
          </a:p>
          <a:p>
            <a:pPr algn="l">
              <a:spcAft>
                <a:spcPts val="200"/>
              </a:spcAft>
            </a:pPr>
            <a:r>
              <a:rPr sz="1200" b="0">
                <a:solidFill>
                  <a:srgbClr val="FFFFFF"/>
                </a:solidFill>
                <a:latin typeface="Arial"/>
                <a:ea typeface="Microsoft YaHei"/>
              </a:rPr>
              <a:t>luggage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plane was late for two hours.</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plane was two hours late. / The flight was delayed by two hours.</a:t>
            </a:r>
          </a:p>
          <a:p>
            <a:pPr algn="l">
              <a:spcAft>
                <a:spcPts val="200"/>
              </a:spcAft>
            </a:pPr>
            <a:r>
              <a:rPr sz="1200" b="0">
                <a:solidFill>
                  <a:srgbClr val="FFFFFF"/>
                </a:solidFill>
                <a:latin typeface="Arial"/>
                <a:ea typeface="Microsoft YaHei"/>
              </a:rPr>
              <a:t>英语习惯</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going to business trip.</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going on a business trip.</a:t>
            </a:r>
          </a:p>
          <a:p>
            <a:pPr algn="l">
              <a:spcAft>
                <a:spcPts val="200"/>
              </a:spcAft>
            </a:pPr>
            <a:r>
              <a:rPr sz="1200" b="0">
                <a:solidFill>
                  <a:srgbClr val="FFFFFF"/>
                </a:solidFill>
                <a:latin typeface="Arial"/>
                <a:ea typeface="Microsoft YaHei"/>
              </a:rPr>
              <a:t>go on a trip</a:t>
            </a:r>
          </a:p>
        </p:txBody>
      </p:sp>
      <p:sp>
        <p:nvSpPr>
          <p:cNvPr id="13" name="Rounded Rectangle 12"/>
          <p:cNvSpPr/>
          <p:nvPr/>
        </p:nvSpPr>
        <p:spPr>
          <a:xfrm>
            <a:off x="548640" y="3108958"/>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know the price of this ticket how much.</a:t>
            </a:r>
          </a:p>
        </p:txBody>
      </p:sp>
      <p:sp>
        <p:nvSpPr>
          <p:cNvPr id="14" name="Rounded Rectangle 13"/>
          <p:cNvSpPr/>
          <p:nvPr/>
        </p:nvSpPr>
        <p:spPr>
          <a:xfrm>
            <a:off x="6187287" y="3108958"/>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How much is this ticket?</a:t>
            </a:r>
          </a:p>
          <a:p>
            <a:pPr algn="l">
              <a:spcAft>
                <a:spcPts val="200"/>
              </a:spcAft>
            </a:pPr>
            <a:r>
              <a:rPr sz="1200" b="0">
                <a:solidFill>
                  <a:srgbClr val="FFFFFF"/>
                </a:solidFill>
                <a:latin typeface="Arial"/>
                <a:ea typeface="Microsoft YaHei"/>
              </a:rPr>
              <a:t>疑问句语序</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arrive at / in, uncountable luggage, passive participles (delayed), and word order in questions.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Security and politeness: </a:t>
            </a:r>
            <a:r>
              <a:rPr sz="1700" b="0">
                <a:solidFill>
                  <a:srgbClr val="1F2A44"/>
                </a:solidFill>
                <a:latin typeface="Arial"/>
                <a:ea typeface="Microsoft YaHei"/>
              </a:rPr>
              <a:t>Be patient with security checks; frustration won’t help. A friendly “Thank you” goes a long way.</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Small talk on planes and at hotels: </a:t>
            </a:r>
            <a:r>
              <a:rPr sz="1700" b="0">
                <a:solidFill>
                  <a:srgbClr val="1F2A44"/>
                </a:solidFill>
                <a:latin typeface="Arial"/>
                <a:ea typeface="Microsoft YaHei"/>
              </a:rPr>
              <a:t>Light conversation (“Are you travelling for work?”) is common in the US and UK. It’s fine to stay quiet if you want.</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Expenses: </a:t>
            </a:r>
            <a:r>
              <a:rPr sz="1700" b="0">
                <a:solidFill>
                  <a:srgbClr val="1F2A44"/>
                </a:solidFill>
                <a:latin typeface="Arial"/>
                <a:ea typeface="Microsoft YaHei"/>
              </a:rPr>
              <a:t>Keep receipts and follow the company’s policy: economy vs business class, hotel limits and per-diem allowances.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航班延误或行李丢失时,先说明问题,再用 Would it be possible to…? 提出请求。luggage 不可数,要说 a piece of luggage。差旅报销要保留发票。</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handle check-in, delays and rebooking in English.</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tell a short travel story in the past tense.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make polite requests using Would it be possible to…?</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four ★ items from this lesson.</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 · Lesson 14 Flying for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passive participles (delayed), uncountable luggage, and prepositions (arrive at / in).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着装要求</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dress code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wrap up</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Let’s wrap up with a quick summary.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protocol</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Follow the company protocol when you meet senior guests.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其他事项</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any other business (AOB)</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 am going to business trip.</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 going on a business trip.</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遵守、观察</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observe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“请稍等(不要挂断)”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hold the line</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“遵守、观察”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observe</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“正式的 / 非正式的”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formal / informal</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 am going to business trip.</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going on a business trip.</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 am Paul Davis. (on the phone)</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This is Paul Davis.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2</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128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2</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129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2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