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10: AI and Future Business — Self-Study Workbook (Lessons 90–100)</a:t>
            </a:r>
          </a:p>
          <a:p/>
          <a:p>
            <a:r>
              <a:t>开场：简单介绍本单元的主题和要完成的 11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90 · Using AI 使用AI</a:t>
            </a:r>
          </a:p>
          <a:p>
            <a:r>
              <a:t>Goal: talk about using AI tools at work: everyday uses, benefits, limits, checking output, confidentiality and good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AI = artificial intelligence;prompt = 提示词;generate = 生成;hallucination = (AI)编造内容。第 3 题要用 verify / double-check。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use AI at work and what precautions you take.</a:t>
            </a:r>
          </a:p>
          <a:p>
            <a:r>
              <a:t>Say: what you use it for → benefits → limits → precautions</a:t>
            </a:r>
          </a:p>
          <a:p>
            <a:r>
              <a:t>Useful starters: “I use it to…” / “It’s good at…, but it can’t…” / “I always double-check…”</a:t>
            </a:r>
          </a:p>
          <a:p>
            <a:r>
              <a:t>be good at + -ing。double-check = 复核。I use it to + 动词(目的)。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professionals now use AI tools to draft emails, summarise long documents, brainstorm ideas, translate or write simple code. Used well, they save time and help people get started. But they have limits. AI systems can produce answers that sound confident and yet contain mistakes, a problem sometimes called “hallucination”. They may reflect biases in the data they were trained on, and they do not understand the context of your organisation unless you provide it. Sensible users therefore treat AI output as a first draft. They check facts, adjust the tone and take responsibility for the final result. They also follow company rules about confidential data, because information typed into some tools may be stored or used in ways they did not intend. AI works best as an assistant, with a human in charge.</a:t>
            </a:r>
          </a:p>
          <a:p>
            <a:r>
              <a:t>brainstorm = 头脑风暴。bias = 偏见。”trained on” = 以……训练。”in charge” = 负责。</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tasks can AI help with at work?</a:t>
            </a:r>
          </a:p>
          <a:p>
            <a:r>
              <a:t>A: Drafting emails, summarising documents, brainstorming, translating or simple coding.</a:t>
            </a:r>
          </a:p>
          <a:p>
            <a:r>
              <a:t>Q2. What is “hallucination”?</a:t>
            </a:r>
          </a:p>
          <a:p>
            <a:r>
              <a:t>A: When AI produces confident-sounding answers that contain mistakes.</a:t>
            </a:r>
          </a:p>
          <a:p>
            <a:r>
              <a:t>Q3. What should sensible users do?</a:t>
            </a:r>
          </a:p>
          <a:p>
            <a:r>
              <a:t>A: Treat output as a first draft, check facts, take responsibility and follow data-confidentiality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Using AI tools 使用AI工具</a:t>
            </a:r>
          </a:p>
          <a:p>
            <a:r>
              <a:t>领读 → 学员跟读 → 请学员用表达造一个和自己工作相关的句子。</a:t>
            </a:r>
          </a:p>
          <a:p>
            <a:r>
              <a:t>artificial intelligence (AI) (noun) 人工智能 — “AI is used in many industries.”</a:t>
            </a:r>
          </a:p>
          <a:p>
            <a:r>
              <a:t>prompt (noun / verb) 提示词 / 提示 — “A clear prompt gets a better answer.”</a:t>
            </a:r>
          </a:p>
          <a:p>
            <a:r>
              <a:t>generate (verb) 生成 — “The tool generated a draft.”</a:t>
            </a:r>
          </a:p>
          <a:p>
            <a:r>
              <a:t>summarise (verb) 概括 — “It summarised the report.”</a:t>
            </a:r>
          </a:p>
          <a:p>
            <a:r>
              <a:t>accuracy (noun) 准确性 — “Accuracy is a concern.”</a:t>
            </a:r>
          </a:p>
          <a:p>
            <a:r>
              <a:t>automate (verb) 自动化 — “We automate routine tasks.”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Using AI wisely ★ 明智使用AI</a:t>
            </a:r>
          </a:p>
          <a:p>
            <a:r>
              <a:t>领读 → 学员跟读 → 请学员用表达造一个和自己工作相关的句子。</a:t>
            </a:r>
          </a:p>
          <a:p>
            <a:r>
              <a:t>★ hallucination (noun) (AI)编造内容 — “Watch out for hallucinations.”</a:t>
            </a:r>
          </a:p>
          <a:p>
            <a:r>
              <a:t>★ fact-check (verb) 核实事实 — “Always fact-check the output.”</a:t>
            </a:r>
          </a:p>
          <a:p>
            <a:r>
              <a:t>★ human in the loop (noun phrase) 人工参与 — “We keep a human in the loop.”</a:t>
            </a:r>
          </a:p>
          <a:p>
            <a:r>
              <a:t>★ sensitive data (noun phrase) 敏感数据 — “Never enter sensitive data.”</a:t>
            </a:r>
          </a:p>
          <a:p>
            <a:r>
              <a:t>★ streamline (verb) 简化流程 — “AI helps streamline reporting.”</a:t>
            </a:r>
          </a:p>
          <a:p>
            <a:r>
              <a:t>★ take with a pinch of salt (idiom) 持保留态度 — “Take AI answers with a pinch of salt.”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prompt / generate / summarise / Accuracy / hallucination / fact-check</a:t>
            </a:r>
          </a:p>
          <a:p>
            <a:r>
              <a:t>1. A clear _______ usually produces a better response. → prompt</a:t>
            </a:r>
          </a:p>
          <a:p>
            <a:r>
              <a:t>2. The tool can _______ a first draft in seconds. → generate</a:t>
            </a:r>
          </a:p>
          <a:p>
            <a:r>
              <a:t>3. I asked it to _______ the 40-page report. → summarise</a:t>
            </a:r>
          </a:p>
          <a:p>
            <a:r>
              <a:t>4. _______ is a concern when AI answers medical questions. → Accuracy</a:t>
            </a:r>
          </a:p>
          <a:p>
            <a:r>
              <a:t>5. Sometimes AI invents facts; this is called a _______. → hallucination</a:t>
            </a:r>
          </a:p>
          <a:p>
            <a:r>
              <a:t>6. You should always _______ AI-generated statistics. → fact-check</a:t>
            </a:r>
          </a:p>
          <a:p>
            <a:r>
              <a:t>Mistake Watch (拼写与搭配): artificial (not “artifical”), intelligence, accuracy. AI is (singular). Use AI to do (not “for do”). Rely on, depend on. Ask AI a question / ask AI for help. Output (uncountable). Information (uncountable). Trust AI output (not “trust 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AI use with a colleague 与同事谈AI使用</a:t>
            </a:r>
          </a:p>
          <a:p>
            <a:r>
              <a:t>情景：A team leader discusses with a colleague how the team should use an AI writing tool.</a:t>
            </a:r>
          </a:p>
          <a:p>
            <a:r>
              <a:t>Role A: Tina Mo, team leader (you) Role B: Owen Day,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(Tina): Owen, I’ve noticed you’ve been using the AI tool for client emails.</a:t>
            </a:r>
          </a:p>
          <a:p>
            <a:r>
              <a:t>B (Owen): Yes. It saves a lot of time. I use it to draft a first version.</a:t>
            </a:r>
          </a:p>
          <a:p>
            <a:r>
              <a:t>A: Good. What do you do after that?</a:t>
            </a:r>
          </a:p>
          <a:p>
            <a:r>
              <a:t>B: I check the facts and adjust the tone, because it can sound generic.</a:t>
            </a:r>
          </a:p>
          <a:p>
            <a:r>
              <a:t>A: Exactly. It’s good at structure, but it can’t know our client relationships.</a:t>
            </a:r>
          </a:p>
          <a:p>
            <a:r>
              <a:t>B: Right. Last week it gave me a wrong date, so I always double-check.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sensible. One more thing: please don’t paste client data into it.</a:t>
            </a:r>
          </a:p>
          <a:p>
            <a:r>
              <a:t>B: Is that against policy?</a:t>
            </a:r>
          </a:p>
          <a:p>
            <a:r>
              <a:t>A: Yes. Confidential information shouldn’t go into public tools.</a:t>
            </a:r>
          </a:p>
          <a:p>
            <a:r>
              <a:t>B: Understood. What should we use it for, then?</a:t>
            </a:r>
          </a:p>
          <a:p>
            <a:r>
              <a:t>A: Drafts, summaries of public documents and brainstorming. A human always reviews the final version.</a:t>
            </a:r>
          </a:p>
          <a:p>
            <a:r>
              <a:t>B: That seems reasonable. Can we share good prompts?</a:t>
            </a:r>
          </a:p>
          <a:p>
            <a:r>
              <a:t>A: Great idea. Let’s create a shared document.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90 | </a:t>
            </a:r>
          </a:p>
          <a:p>
            <a:r>
              <a:t>Situation | You discuss AI use at work.</a:t>
            </a:r>
          </a:p>
          <a:p>
            <a:r>
              <a:t>Your role (A) | Team leader. Rules: ______________</a:t>
            </a:r>
          </a:p>
          <a:p>
            <a:r>
              <a:t>Partner’s role (B) | Colleague. Describe how you use AI and one problem.</a:t>
            </a:r>
          </a:p>
          <a:p>
            <a:r>
              <a:t>Must use (4 or more) | I use it to · good at · double-check · confidential · first draft · human in the loop</a:t>
            </a:r>
          </a:p>
          <a:p>
            <a:r>
              <a:t>Goal | Agree three rules for using AI.</a:t>
            </a:r>
          </a:p>
          <a:p>
            <a:r>
              <a:t>My notes | ____________________________________________</a:t>
            </a:r>
          </a:p>
          <a:p>
            <a:r>
              <a:t>Owen says: “AI will replace my tasks.” Respond.</a:t>
            </a:r>
          </a:p>
          <a:p>
            <a:r>
              <a:t>Write three do’s and don’ts for using AI at work.</a:t>
            </a:r>
          </a:p>
          <a:p>
            <a:r>
              <a:t>Explain a good prompt to a beginner.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use AI in your work or study? | “I mainly use it to… / I find it helpful for…”</a:t>
            </a:r>
          </a:p>
          <a:p>
            <a:r>
              <a:t>2. What are the dangers of relying on AI? | “One danger is… / It may…”</a:t>
            </a:r>
          </a:p>
          <a:p>
            <a:r>
              <a:t>3. Should companies set rules for AI use? | “Yes, because… / Clear guidelines…”</a:t>
            </a:r>
          </a:p>
          <a:p>
            <a:r>
              <a:t>4. Can AI be creative? | “In a sense it can… but…”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think companies should set clear rules for AI use, because the risks are real: data leaks, copyright problems and incorrect information. Rules shouldn’t be so strict that people can’t benefit, though. Good guidelines explain what data is off limits, require human review of important outputs and offer training. They should also be reviewed regularly, since the technology changes quickly.”</a:t>
            </a:r>
          </a:p>
          <a:p>
            <a:r>
              <a:t>data leak = 数据泄露。off limits = 禁止涉及。”human review” = 人工审核。”change quickly” = 变化快。</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AI helps me. | AI helps me work more efficiently. | 具体</a:t>
            </a:r>
          </a:p>
          <a:p>
            <a:r>
              <a:t>It is wrong sometimes. | It sometimes makes mistakes, so I check. | 具体</a:t>
            </a:r>
          </a:p>
          <a:p>
            <a:r>
              <a:t>I do it by AI. | I use AI to draft it. | use ... to</a:t>
            </a:r>
          </a:p>
          <a:p>
            <a:r>
              <a:t>Don’t trust. | Treat the output with caution. | 稳妥</a:t>
            </a:r>
          </a:p>
          <a:p>
            <a:r>
              <a:t>AI works alone. | A human stays in the loop. | 习语</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Purpose with “to”: “I use it to draft emails.” (not “for draft”)</a:t>
            </a:r>
          </a:p>
          <a:p>
            <a:r>
              <a:t>Collocations: generate content, draft a document, analyse data, automate a task.</a:t>
            </a:r>
          </a:p>
          <a:p>
            <a:r>
              <a:t>Modal advice: should, shouldn’t, must, make sure to.</a:t>
            </a:r>
          </a:p>
          <a:p>
            <a:r>
              <a:t>Linking: however, but, although, so, because.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use AI for write emails.  →  ✓ I use AI to write emails. / I use AI for writing emails.  (purpose)</a:t>
            </a:r>
          </a:p>
          <a:p>
            <a:r>
              <a:t>✗ AI are useful.  →  ✓ AI is useful.  (AI 为单数)</a:t>
            </a:r>
          </a:p>
          <a:p>
            <a:r>
              <a:t>✗ I rely AI for everything.  →  ✓ I rely on AI for a lot of things.  (rely on)</a:t>
            </a:r>
          </a:p>
          <a:p>
            <a:r>
              <a:t>Mistake Watch: Check purpose structures, uncountable information, and rely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gives me many informations.  →  ✓ It gives me a lot of information.  (information 不可数)</a:t>
            </a:r>
          </a:p>
          <a:p>
            <a:r>
              <a:t>✗ The AI did the all work.  →  ✓ The AI did all the work.  (all the)</a:t>
            </a:r>
          </a:p>
          <a:p>
            <a:r>
              <a:t>✗ AI can’t to understand the context.  →  ✓ AI can’t understand the context.  (can’t + 原形)</a:t>
            </a:r>
          </a:p>
          <a:p>
            <a:r>
              <a:t>Mistake Watch: Check purpose structures, uncountable information, and rely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Company policy: Many companies restrict which AI tools can be used with company data. Check before using.</a:t>
            </a:r>
          </a:p>
          <a:p>
            <a:r>
              <a:t>Transparency: Some organisations expect you to say when AI helped produce something.</a:t>
            </a:r>
          </a:p>
          <a:p>
            <a:r>
              <a:t>Rapid change: Tools and rules change fast; keep up to date.</a:t>
            </a:r>
          </a:p>
          <a:p>
            <a:r>
              <a:t>use AI to do sth / use AI for doing sth;information 不可数;rely on。AI 输出是草稿,责任仍在人。</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how I use AI at work and its limits.</a:t>
            </a:r>
          </a:p>
          <a:p>
            <a:r>
              <a:t>I can state basic rules for safe use.</a:t>
            </a:r>
          </a:p>
          <a:p>
            <a:r>
              <a:t>I can use purpose structures correctly.</a:t>
            </a:r>
          </a:p>
          <a:p>
            <a:r>
              <a:t>I can use uncountable information and rely on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purpose structures (use AI to…), uncountable information, and modal advice.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91 · Microsoft Expands Its AI Operations 微软扩大AI业务</a:t>
            </a:r>
          </a:p>
          <a:p>
            <a:r>
              <a:t>Goal: discuss how large technology companies expand their AI operations: investment, partnerships, infrastructure and competition, using careful, general language.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本课以大型科技公司(如微软)的AI扩张为背景,只讨论一般性趋势;具体数字、日期和合作细节请以官方公告为准。infrastructure = 基础设施。data centre = 数据中心(英)。</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why and how a big company might expand its AI operations.</a:t>
            </a:r>
          </a:p>
          <a:p>
            <a:r>
              <a:t>Say: motive → investment → partnerships → risks → effects on customers</a:t>
            </a:r>
          </a:p>
          <a:p>
            <a:r>
              <a:t>Useful starters: “Companies expand into AI because…” / “This typically involves…” / “A potential risk is…”</a:t>
            </a:r>
          </a:p>
          <a:p>
            <a:r>
              <a:t>typically = 通常。involve + -ing。a potential risk is… 指可能风险。</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Large technology companies have been expanding their AI operations, and Microsoft is often mentioned as one example. The general pattern is similar across the sector. Firms invest in computing infrastructure, such as data centres and specialised chips, and recruit researchers and engineers. They build AI features into existing products used by millions of business customers, for example by adding assistants to office software. Many also form partnerships with start-ups or research groups to gain access to new technology. The motives are clear: AI is seen as a source of future growth and a way to keep customers loyal. However, the spending is huge, results are uncertain and regulators are watching competition and data use. Customers, meanwhile, may benefit from new tools but also need to consider cost, privacy and dependence on a single supplier. (General overview only; check official sources for company details.)</a:t>
            </a:r>
          </a:p>
          <a:p>
            <a:r>
              <a:t>specialised = 专用的。regulator = 监管机构。dependence = 依赖。”on a single supplier” = 单一供应商。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large tech firms invest in?</a:t>
            </a:r>
          </a:p>
          <a:p>
            <a:r>
              <a:t>A: Computing infrastructure such as data centres and chips, and talent.</a:t>
            </a:r>
          </a:p>
          <a:p>
            <a:r>
              <a:t>Q2. Why do they expand into AI?</a:t>
            </a:r>
          </a:p>
          <a:p>
            <a:r>
              <a:t>A: AI is seen as a source of future growth and a way to keep customers loyal.</a:t>
            </a:r>
          </a:p>
          <a:p>
            <a:r>
              <a:t>Q3. What should customers consider?</a:t>
            </a:r>
          </a:p>
          <a:p>
            <a:r>
              <a:t>A: Cost, privacy and dependence on a single supplier.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Corporate AI expansion 企业AI扩张</a:t>
            </a:r>
          </a:p>
          <a:p>
            <a:r>
              <a:t>领读 → 学员跟读 → 请学员用表达造一个和自己工作相关的句子。</a:t>
            </a:r>
          </a:p>
          <a:p>
            <a:r>
              <a:t>data centre (noun) 数据中心 — “The firm built a new data centre.”</a:t>
            </a:r>
          </a:p>
          <a:p>
            <a:r>
              <a:t>infrastructure (noun) 基础设施 — “AI needs a lot of infrastructure.”</a:t>
            </a:r>
          </a:p>
          <a:p>
            <a:r>
              <a:t>partnership (noun) 合作关系 — “The partnership gives access to new models.”</a:t>
            </a:r>
          </a:p>
          <a:p>
            <a:r>
              <a:t>invest in (phrasal verb) 投资于 — “They invested in AI research.”</a:t>
            </a:r>
          </a:p>
          <a:p>
            <a:r>
              <a:t>integrate (verb) 整合 — “They integrated AI into their software.”</a:t>
            </a:r>
          </a:p>
          <a:p>
            <a:r>
              <a:t>rollout (noun) 推出 — “The rollout begins next quarter.”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Strategy and competition ★ 战略与竞争</a:t>
            </a:r>
          </a:p>
          <a:p>
            <a:r>
              <a:t>领读 → 学员跟读 → 请学员用表达造一个和自己工作相关的句子。</a:t>
            </a:r>
          </a:p>
          <a:p>
            <a:r>
              <a:t>★ ramp up (phrasal verb) 加大力度 — “They are ramping up production.”</a:t>
            </a:r>
          </a:p>
          <a:p>
            <a:r>
              <a:t>★ gain a competitive edge (collocation) 取得竞争优势 — “AI could give a competitive edge.”</a:t>
            </a:r>
          </a:p>
          <a:p>
            <a:r>
              <a:t>★ lock-in (noun) 锁定(客户) — “Customers worry about vendor lock-in.”</a:t>
            </a:r>
          </a:p>
          <a:p>
            <a:r>
              <a:t>★ under regulatory scrutiny (phrase) 受到监管审查 — “The deal is under regulatory scrutiny.”</a:t>
            </a:r>
          </a:p>
          <a:p>
            <a:r>
              <a:t>★ pour money into (idiom) 大量投资 — “Firms are pouring money into AI.”</a:t>
            </a:r>
          </a:p>
          <a:p>
            <a:r>
              <a:t>★ race to (phrase) 竞相 — “There’s a race to build better models.”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data centre / infrastructure / partnership / integrate / ramp up / competitive edge</a:t>
            </a:r>
          </a:p>
          <a:p>
            <a:r>
              <a:t>1. AI needs a large _______ full of powerful computers. → data centre</a:t>
            </a:r>
          </a:p>
          <a:p>
            <a:r>
              <a:t>2. Reliable _______ is essential for AI services. → infrastructure</a:t>
            </a:r>
          </a:p>
          <a:p>
            <a:r>
              <a:t>3. The _______ gives them access to advanced research. → partnership</a:t>
            </a:r>
          </a:p>
          <a:p>
            <a:r>
              <a:t>4. Companies are trying to _______ AI into their products. → integrate</a:t>
            </a:r>
          </a:p>
          <a:p>
            <a:r>
              <a:t>5. Many firms are planning to _______ their AI investment. → ramp up</a:t>
            </a:r>
          </a:p>
          <a:p>
            <a:r>
              <a:t>6. Early adoption may give a company a _______. → competitive edge</a:t>
            </a:r>
          </a:p>
          <a:p>
            <a:r>
              <a:t>Mistake Watch (拼写与搭配): centre (UK) / center (US), infrastructure (not “infrastracture”), partnership. Invest in (not “invest to”). Expand into a market, expand its operations. Operations (plural) = business activities. Rollout (noun) vs roll out (verb). Supplier/vendor. A race 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company’s AI expansion with a manager 与经理讨论公司的AI扩张</a:t>
            </a:r>
          </a:p>
          <a:p>
            <a:r>
              <a:t>情景：You discuss with your manager how the expansion of a major supplier’s AI products might affect your company.</a:t>
            </a:r>
          </a:p>
          <a:p>
            <a:r>
              <a:t>Role A: Mia Dong, IT analyst (you) Role B: Mr Reid, IT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(Mia): Mr Reid, our software supplier is expanding its AI features. Should we plan for that?</a:t>
            </a:r>
          </a:p>
          <a:p>
            <a:r>
              <a:t>B (Mr Reid): Yes. What are the likely effects?</a:t>
            </a:r>
          </a:p>
          <a:p>
            <a:r>
              <a:t>A: Companies expand into AI because they see future growth. For us, that may bring useful new tools.</a:t>
            </a:r>
          </a:p>
          <a:p>
            <a:r>
              <a:t>B: What’s the potential benefit?</a:t>
            </a:r>
          </a:p>
          <a:p>
            <a:r>
              <a:t>A: Faster reporting, better search and automated summaries.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the risks?</a:t>
            </a:r>
          </a:p>
          <a:p>
            <a:r>
              <a:t>A: A potential risk is cost, because these features may require extra licences.</a:t>
            </a:r>
          </a:p>
          <a:p>
            <a:r>
              <a:t>B: What else?</a:t>
            </a:r>
          </a:p>
          <a:p>
            <a:r>
              <a:t>A: Dependence on one supplier. If we use their AI everywhere, switching later could be hard.</a:t>
            </a:r>
          </a:p>
          <a:p>
            <a:r>
              <a:t>B: Is data a concern?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We need to check where our data is stored and how it’s used.</a:t>
            </a:r>
          </a:p>
          <a:p>
            <a:r>
              <a:t>B: Good. Could you prepare a short assessment?</a:t>
            </a:r>
          </a:p>
          <a:p>
            <a:r>
              <a:t>A: Of course. I’ll compare costs, benefits and risks, and I’ll propose a small pilot.</a:t>
            </a:r>
          </a:p>
          <a:p>
            <a:r>
              <a:t>B: Perfect. Let’s discuss it next week.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91 | </a:t>
            </a:r>
          </a:p>
          <a:p>
            <a:r>
              <a:t>Situation | You assess a supplier’s AI expansion.</a:t>
            </a:r>
          </a:p>
          <a:p>
            <a:r>
              <a:t>Your role (A) | Analyst. Supplier: ______________</a:t>
            </a:r>
          </a:p>
          <a:p>
            <a:r>
              <a:t>Partner’s role (B) | Manager. Ask about benefits, costs and risks.</a:t>
            </a:r>
          </a:p>
          <a:p>
            <a:r>
              <a:t>Must use (4 or more) | expand into · potential benefit · a risk is · dependence · pilot · assess</a:t>
            </a:r>
          </a:p>
          <a:p>
            <a:r>
              <a:t>Goal | Present benefits, risks and a recommendation.</a:t>
            </a:r>
          </a:p>
          <a:p>
            <a:r>
              <a:t>My notes | ____________________________________________</a:t>
            </a:r>
          </a:p>
          <a:p>
            <a:r>
              <a:t>Mr Reid says: “Maybe we should wait.” Respond.</a:t>
            </a:r>
          </a:p>
          <a:p>
            <a:r>
              <a:t>Explain “vendor lock-in” in two sentences.</a:t>
            </a:r>
          </a:p>
          <a:p>
            <a:r>
              <a:t>List three questions to ask an AI supplier.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big companies invest in AI? | “They see… / It could help them to…”</a:t>
            </a:r>
          </a:p>
          <a:p>
            <a:r>
              <a:t>2. Is it risky to depend on one AI supplier? | “Yes, because… / It can limit…”</a:t>
            </a:r>
          </a:p>
          <a:p>
            <a:r>
              <a:t>3. Should governments regulate big tech’s AI expansion? | “Some regulation is needed to… but…”</a:t>
            </a:r>
          </a:p>
          <a:p>
            <a:r>
              <a:t>4. How can smaller companies compete in AI? | “By focusing on… / Partnering with…”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“Smaller companies are unlikely to compete with the largest firms on building general AI systems, because that requires huge resources. But they can compete by focusing on a niche, using their specialised data and customer relationships, and building services on top of existing technology. They can also be faster and more flexible. So the competition may be less about size and more about finding the right problem to solve.”</a:t>
            </a:r>
          </a:p>
          <a:p>
            <a:r>
              <a:t>general AI systems = 通用AI系统。”on top of” = 在……基础上。niche = 利基。resource = 资源。</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Microsoft makes AI. | Large technology companies are expanding their AI operations. | 一般化</a:t>
            </a:r>
          </a:p>
          <a:p>
            <a:r>
              <a:t>They spend a lot. | They are investing heavily in infrastructure. | 搭配</a:t>
            </a:r>
          </a:p>
          <a:p>
            <a:r>
              <a:t>Many people use it. | It is used by many business customers. | 被动</a:t>
            </a:r>
          </a:p>
          <a:p>
            <a:r>
              <a:t>We depend on them. | We rely on a single supplier. | 搭配</a:t>
            </a:r>
          </a:p>
          <a:p>
            <a:r>
              <a:t>It’s uncertain. | The outcome is uncertain. | 完整</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continuous for trends: “Firms have been expanding their AI operations.”</a:t>
            </a:r>
          </a:p>
          <a:p>
            <a:r>
              <a:t>Hedging claims: reportedly, is widely seen as, appears to, may.</a:t>
            </a:r>
          </a:p>
          <a:p>
            <a:r>
              <a:t>Attributing information: According to…, X says that…, Analysts suggest that…</a:t>
            </a:r>
          </a:p>
          <a:p>
            <a:r>
              <a:t>Linking cause and effect: as a result, consequently, which means that.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Companies is investing in AI.  →  ✓ Companies are investing in AI.  (复数)</a:t>
            </a:r>
          </a:p>
          <a:p>
            <a:r>
              <a:t>✗ They invest on AI.  →  ✓ They invest in AI.  (invest in)</a:t>
            </a:r>
          </a:p>
          <a:p>
            <a:r>
              <a:t>✗ According to me, …  →  ✓ In my opinion, …  (固定表达)</a:t>
            </a:r>
          </a:p>
          <a:p>
            <a:r>
              <a:t>Mistake Watch: Check subject-verb agreement, invest in, and in my opinion vs according to.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has expanding.  →  ✓ The company has been expanding.  (完成进行时)</a:t>
            </a:r>
          </a:p>
          <a:p>
            <a:r>
              <a:t>✗ It give them advantage.  →  ✓ It gives them an advantage.  (冠词)</a:t>
            </a:r>
          </a:p>
          <a:p>
            <a:r>
              <a:t>✗ Customers should concern about price.  →  ✓ Customers should be concerned about price.  (be concerned)</a:t>
            </a:r>
          </a:p>
          <a:p>
            <a:r>
              <a:t>Mistake Watch: Check subject-verb agreement, invest in, and in my opinion vs according to.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Facts and sources: Company news changes. Quote the source and date when you cite company information.</a:t>
            </a:r>
          </a:p>
          <a:p>
            <a:r>
              <a:t>Neutral tone: Avoid hype (“revolutionary”) and avoid unfounded criticism.</a:t>
            </a:r>
          </a:p>
          <a:p>
            <a:r>
              <a:t>Procurement: Check contract terms, data location and exit options before adopting a supplier’s AI.</a:t>
            </a:r>
          </a:p>
          <a:p>
            <a:r>
              <a:t>according to me 不是地道说法,用 in my opinion;invest in;主谓一致。引用公司消息要说明来源,谈预测要用谨慎词。</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why companies expand AI operations.</a:t>
            </a:r>
          </a:p>
          <a:p>
            <a:r>
              <a:t>I can assess benefits, costs and risks of supplier AI.</a:t>
            </a:r>
          </a:p>
          <a:p>
            <a:r>
              <a:t>I can use attribution phrases (according to).</a:t>
            </a:r>
          </a:p>
          <a:p>
            <a:r>
              <a:t>I can use invest in and present perfect continuous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attribution phrases, invest in, and subject-verb agreement.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92 · Marketing in the Age of AI 人工智能时代的营销</a:t>
            </a:r>
          </a:p>
          <a:p>
            <a:r>
              <a:t>Goal: discuss how AI affects marketing: content creation, personalisation, analytics, trust and ethics, and the role of human creativity.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personalisation = 个性化;analytics = 数据分析;synthetic = 合成的(人工生成)。human touch = 人情味。</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Recommend how a marketing team should use AI responsibly.</a:t>
            </a:r>
          </a:p>
          <a:p>
            <a:r>
              <a:t>Say: where AI helps → where humans lead → risks → guidelines</a:t>
            </a:r>
          </a:p>
          <a:p>
            <a:r>
              <a:t>Useful starters: “AI can help with…, but humans should…” / “One safeguard is…” / “Transparency matters because…”</a:t>
            </a:r>
          </a:p>
          <a:p>
            <a:r>
              <a:t>safeguard = 保障措施。Transparency matters because… 强调透明。AI helps with... but 对比。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Marketing teams are testing AI in many areas. Tools can draft headlines, create image variations, analyse customer data, predict which messages work best and answer simple questions through chatbots. These uses save time and allow small teams to do more. Yet brands face questions of trust. Customers may feel uneasy if they are not told when content is generated by AI or if personalisation feels intrusive. AI can also repeat bland, generic ideas or produce errors that embarrass a brand. Many marketers therefore use AI for first drafts and data, but keep humans responsible for strategy, tone and final approval. They set guidelines about disclosure, check for bias and respect copyright and privacy. The aim is to use technology to support creativity, not to replace the understanding of real people.</a:t>
            </a:r>
          </a:p>
          <a:p>
            <a:r>
              <a:t>bland = 平淡无味的。embarrass = 使难堪。disclosure = 披露。”respect copyright” = 尊重版权。</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can AI tools do for marketing teams?</a:t>
            </a:r>
          </a:p>
          <a:p>
            <a:r>
              <a:t>A: Draft headlines, create image variations, analyse data, predict messages and run chatbots.</a:t>
            </a:r>
          </a:p>
          <a:p>
            <a:r>
              <a:t>Q2. Why might customers feel uneasy?</a:t>
            </a:r>
          </a:p>
          <a:p>
            <a:r>
              <a:t>A: If they are not told content is AI-generated or personalisation feels intrusive.</a:t>
            </a:r>
          </a:p>
          <a:p>
            <a:r>
              <a:t>Q3. What do many marketers keep humans responsible for?</a:t>
            </a:r>
          </a:p>
          <a:p>
            <a:r>
              <a:t>A: Strategy, tone and final approval.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AI in marketing 营销中的AI</a:t>
            </a:r>
          </a:p>
          <a:p>
            <a:r>
              <a:t>领读 → 学员跟读 → 请学员用表达造一个和自己工作相关的句子。</a:t>
            </a:r>
          </a:p>
          <a:p>
            <a:r>
              <a:t>chatbot (noun) 聊天机器人 — “Our chatbot answers basic questions.”</a:t>
            </a:r>
          </a:p>
          <a:p>
            <a:r>
              <a:t>analytics (noun (uncountable)) 数据分析 — “Analytics show what works.”</a:t>
            </a:r>
          </a:p>
          <a:p>
            <a:r>
              <a:t>personalisation (noun) 个性化 — “Personalisation boosts engagement.”</a:t>
            </a:r>
          </a:p>
          <a:p>
            <a:r>
              <a:t>AI-generated (adjective) AI生成的 — “The image is AI-generated.”</a:t>
            </a:r>
          </a:p>
          <a:p>
            <a:r>
              <a:t>A/B testing (noun) A/B测试 — “We use A/B testing for headlines.”</a:t>
            </a:r>
          </a:p>
          <a:p>
            <a:r>
              <a:t>customer insight (noun) 客户洞察 — “Data gives customer insights.”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Trust and ethics ★ 信任与伦理</a:t>
            </a:r>
          </a:p>
          <a:p>
            <a:r>
              <a:t>领读 → 学员跟读 → 请学员用表达造一个和自己工作相关的句子。</a:t>
            </a:r>
          </a:p>
          <a:p>
            <a:r>
              <a:t>★ human touch (noun phrase) 人情味 — “Customers still value a human touch.”</a:t>
            </a:r>
          </a:p>
          <a:p>
            <a:r>
              <a:t>★ be upfront about (collocation) 坦率说明 — “Be upfront about using AI.”</a:t>
            </a:r>
          </a:p>
          <a:p>
            <a:r>
              <a:t>★ disclosure (noun) 披露 — “Disclosure builds trust.”</a:t>
            </a:r>
          </a:p>
          <a:p>
            <a:r>
              <a:t>★ brand voice (noun phrase) 品牌声音 — “AI must follow our brand voice.”</a:t>
            </a:r>
          </a:p>
          <a:p>
            <a:r>
              <a:t>★ generic (adjective) 千篇一律的 — “AI copy can sound generic.”</a:t>
            </a:r>
          </a:p>
          <a:p>
            <a:r>
              <a:t>★ safeguard (noun) 保障措施 — “Human review is a key safeguard.”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chatbot / Analytics / Personalisation / AI-generated / human touch / safeguard</a:t>
            </a:r>
          </a:p>
          <a:p>
            <a:r>
              <a:t>1. Our _______ answers simple questions at night. → chatbot</a:t>
            </a:r>
          </a:p>
          <a:p>
            <a:r>
              <a:t>2. _______ show which campaigns performed best. → Analytics</a:t>
            </a:r>
          </a:p>
          <a:p>
            <a:r>
              <a:t>3. _______ can make emails feel more relevant. → Personalisation</a:t>
            </a:r>
          </a:p>
          <a:p>
            <a:r>
              <a:t>4. The picture is _______, so we need to label it. → AI-generated</a:t>
            </a:r>
          </a:p>
          <a:p>
            <a:r>
              <a:t>5. Customers still value a _______ in service. → human touch</a:t>
            </a:r>
          </a:p>
          <a:p>
            <a:r>
              <a:t>6. Human review is an important _______. → safeguard</a:t>
            </a:r>
          </a:p>
          <a:p>
            <a:r>
              <a:t>Mistake Watch (拼写与搭配): analytics (plural form, takes singular verb), personalisation (UK; US personalization), chatbot (one word). Analytics is / analytics are (both used). Generate content, create content. Be upfront about (not “upfront for”). Disclose (verb) disclosure (noun). Label as AI-generated.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Recommending guidelines for AI in marketing 为营销团队制定AI使用建议</a:t>
            </a:r>
          </a:p>
          <a:p>
            <a:r>
              <a:t>情景：You meet with the marketing director to propose rules for AI use in the team.</a:t>
            </a:r>
          </a:p>
          <a:p>
            <a:r>
              <a:t>Role A: Vera Hsu, marketing manager (you) Role B: Ms Orr, marketing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(Vera): Ms Orr, I’d like to propose some guidelines for using AI in our campaigns.</a:t>
            </a:r>
          </a:p>
          <a:p>
            <a:r>
              <a:t>B (Ms Orr): Go ahead.</a:t>
            </a:r>
          </a:p>
          <a:p>
            <a:r>
              <a:t>A: AI can help with drafts, image variations and analytics, but humans should decide strategy and approve the final content.</a:t>
            </a:r>
          </a:p>
          <a:p>
            <a:r>
              <a:t>B: Why not let AI write everything?</a:t>
            </a:r>
          </a:p>
          <a:p>
            <a:r>
              <a:t>A: It can sound generic, and it may make mistakes. Our brand voice should come from people.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about customer trust?</a:t>
            </a:r>
          </a:p>
          <a:p>
            <a:r>
              <a:t>A: Transparency matters because customers may feel uneasy. We should be upfront about AI-generated images and chatbots.</a:t>
            </a:r>
          </a:p>
          <a:p>
            <a:r>
              <a:t>B: Good point. What else?</a:t>
            </a:r>
          </a:p>
          <a:p>
            <a:r>
              <a:t>A: One safeguard is checking for bias and copyright issues before publishing.</a:t>
            </a:r>
          </a:p>
          <a:p>
            <a:r>
              <a:t>B: And personalisation?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should use only data customers have agreed to share, and avoid anything that feels intrusive.</a:t>
            </a:r>
          </a:p>
          <a:p>
            <a:r>
              <a:t>B: Sensible. Can you write that up as a one-page policy?</a:t>
            </a:r>
          </a:p>
          <a:p>
            <a:r>
              <a:t>A: Yes, and I’d suggest a short training session for the team.</a:t>
            </a:r>
          </a:p>
          <a:p>
            <a:r>
              <a:t>B: Great. Let’s review the policy after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92 | </a:t>
            </a:r>
          </a:p>
          <a:p>
            <a:r>
              <a:t>Situation | You propose AI guidelines.</a:t>
            </a:r>
          </a:p>
          <a:p>
            <a:r>
              <a:t>Your role (A) | Marketing manager. Guideline: ______________</a:t>
            </a:r>
          </a:p>
          <a:p>
            <a:r>
              <a:t>Partner’s role (B) | Director. Challenge one point.</a:t>
            </a:r>
          </a:p>
          <a:p>
            <a:r>
              <a:t>Must use (4 or more) | AI can help with · humans should · transparency · safeguard · brand voice · review</a:t>
            </a:r>
          </a:p>
          <a:p>
            <a:r>
              <a:t>Goal | Propose three guidelines with reasons.</a:t>
            </a:r>
          </a:p>
          <a:p>
            <a:r>
              <a:t>My notes | ____________________________________________</a:t>
            </a:r>
          </a:p>
          <a:p>
            <a:r>
              <a:t>Ms Orr says: “Competitors use AI more.” Respond.</a:t>
            </a:r>
          </a:p>
          <a:p>
            <a:r>
              <a:t>Write a one-sentence AI disclosure for a website.</a:t>
            </a:r>
          </a:p>
          <a:p>
            <a:r>
              <a:t>Explain how you would test whether customers accept AI-generated content.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buy something advertised by an AI-generated model? | “I wouldn’t mind if… / I’d feel…”</a:t>
            </a:r>
          </a:p>
          <a:p>
            <a:r>
              <a:t>2. Should brands tell customers when AI is used? | “Yes, because… / It depends…”</a:t>
            </a:r>
          </a:p>
          <a:p>
            <a:r>
              <a:t>3. Which marketing tasks should stay human? | “Strategy, ethics and… because…”</a:t>
            </a:r>
          </a:p>
          <a:p>
            <a:r>
              <a:t>4. Could AI make advertising worse? | “It could if… / It might lead to…”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think brands should tell customers when AI is used in a way that might affect their decisions, such as a chatbot or an AI-generated image of a product. People value honesty, and discovering it later can damage trust. For minor uses, like spelling checks, disclosure may not be necessary. A good rule is: if a reasonable person would feel misled, then be upfront.”</a:t>
            </a:r>
          </a:p>
          <a:p>
            <a:r>
              <a:t>misled = 被误导。”reasonable person” = 理性的人。minor = 次要的。”upfront” = 坦诚。</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AI writes ads. | AI can generate first drafts of ad copy. | 具体</a:t>
            </a:r>
          </a:p>
          <a:p>
            <a:r>
              <a:t>It is not creative. | It tends to produce generic ideas. | 谨慎</a:t>
            </a:r>
          </a:p>
          <a:p>
            <a:r>
              <a:t>Customers don’t trust. | Customers may feel uneasy if AI isn’t disclosed. | 谨慎</a:t>
            </a:r>
          </a:p>
          <a:p>
            <a:r>
              <a:t>Personal ads are good. | Personalisation can improve relevance. | 术语</a:t>
            </a:r>
          </a:p>
          <a:p>
            <a:r>
              <a:t>We check by human. | A human reviews the final version. | 被动</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Modal verbs for policy: should, must, may, are expected to, are required to.</a:t>
            </a:r>
          </a:p>
          <a:p>
            <a:r>
              <a:t>Contrast: but, however, yet, although.</a:t>
            </a:r>
          </a:p>
          <a:p>
            <a:r>
              <a:t>Reasons: because, since, as, so that.</a:t>
            </a:r>
          </a:p>
          <a:p>
            <a:r>
              <a:t>Hedging: can, may, might, tends to, is likely to.</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AI can helps writing.  →  ✓ AI can help with writing.  (can + 原形)</a:t>
            </a:r>
          </a:p>
          <a:p>
            <a:r>
              <a:t>✗ The AI is generate ads.  →  ✓ The AI generates ads.  (动词)</a:t>
            </a:r>
          </a:p>
          <a:p>
            <a:r>
              <a:t>✗ Customers don’t like be cheated.  →  ✓ Customers don’t like being cheated.  (like + -ing)</a:t>
            </a:r>
          </a:p>
          <a:p>
            <a:r>
              <a:t>Mistake Watch: Check can + base verb, like + -ing, and tell customers when….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This is a human touch thing.  →  ✓ This needs a human touch.  (搭配)</a:t>
            </a:r>
          </a:p>
          <a:p>
            <a:r>
              <a:t>✗ The chatbot answer questions.  →  ✓ The chatbot answers questions.  (第三人称单数)</a:t>
            </a:r>
          </a:p>
          <a:p>
            <a:r>
              <a:t>✗ We have to tell the customers about use AI.  →  ✓ We have to tell customers when we use AI.  (when 从句)</a:t>
            </a:r>
          </a:p>
          <a:p>
            <a:r>
              <a:t>Mistake Watch: Check can + base verb, like + -ing, and tell customers when….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Disclosure laws: Some jurisdictions require labelling of AI-generated content in advertising. Check local rules.</a:t>
            </a:r>
          </a:p>
          <a:p>
            <a:r>
              <a:t>Brand safety: One poorly checked AI post can damage a brand quickly.</a:t>
            </a:r>
          </a:p>
          <a:p>
            <a:r>
              <a:t>Human review: Human review is usually expected for public-facing content.</a:t>
            </a:r>
          </a:p>
          <a:p>
            <a:r>
              <a:t>can 后用动词原形;like + -ing;tell customers when we use AI。AI 用于营销时要保持透明、保留人工审核。</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where AI helps in marketing.</a:t>
            </a:r>
          </a:p>
          <a:p>
            <a:r>
              <a:t>I can propose guidelines with reasons.</a:t>
            </a:r>
          </a:p>
          <a:p>
            <a:r>
              <a:t>I can use policy modals correctly.</a:t>
            </a:r>
          </a:p>
          <a:p>
            <a:r>
              <a:t>I can use can + base verb and like + -ing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modal verbs for policy, like + -ing, and hedging.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93 · AI and Recruitment AI 与招聘</a:t>
            </a:r>
          </a:p>
          <a:p>
            <a:r>
              <a:t>Goal: discuss AI in hiring: screening CVs, chatbots, video interviews, bias and fairness, candidate experience and how to use it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screening = 初筛;applicant tracking system (ATS) = 招聘管理系统;keyword = 关键词。bias in algorithms = 算法偏见。</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the pros and cons of using AI in recruitment.</a:t>
            </a:r>
          </a:p>
          <a:p>
            <a:r>
              <a:t>Say: how it’s used → benefits → risks → safeguards → your view</a:t>
            </a:r>
          </a:p>
          <a:p>
            <a:r>
              <a:t>Useful starters: “AI can speed up…, but it may also…” / “To reduce bias, recruiters should…” / “Candidates deserve to know…”</a:t>
            </a:r>
          </a:p>
          <a:p>
            <a:r>
              <a:t>deserve to know = 有权知道。To reduce bias, … 目的状语开头。 may also 表示可能性。</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Recruiters often receive hundreds of applications for one role, so many organisations use software to sort CVs, schedule interviews and answer candidates’ questions. Some tools analyse language or video responses. Supporters say these systems save time, apply the same criteria to everyone and let recruiters focus on conversations. Critics warn that algorithms learn from past hiring data, which may contain bias, and that qualified people may be rejected for reasons that are hard to explain. Candidates may also feel they are being judged by a machine. To use AI responsibly, employers should test tools for fairness, keep humans involved in decisions and tell candidates how technology is used. Applicants, for their part, can use clear job-related language in their CVs and prepare for automated steps just as they would for a normal interview.</a:t>
            </a:r>
          </a:p>
          <a:p>
            <a:r>
              <a:t>criteria = 标准。bias = 偏见。automated = 自动化的。job-related = 与工作相关的。</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organisations use software in recruitment?</a:t>
            </a:r>
          </a:p>
          <a:p>
            <a:r>
              <a:t>A: To sort CVs, schedule interviews and answer candidate questions.</a:t>
            </a:r>
          </a:p>
          <a:p>
            <a:r>
              <a:t>Q2. What do critics warn about?</a:t>
            </a:r>
          </a:p>
          <a:p>
            <a:r>
              <a:t>A: Algorithms may learn bias from past data and reject qualified people for reasons that are hard to explain.</a:t>
            </a:r>
          </a:p>
          <a:p>
            <a:r>
              <a:t>Q3. How can employers use AI responsibly?</a:t>
            </a:r>
          </a:p>
          <a:p>
            <a:r>
              <a:t>A: Test for fairness, keep humans involved and tell candidates how it is used.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Hiring technology 招聘技术</a:t>
            </a:r>
          </a:p>
          <a:p>
            <a:r>
              <a:t>领读 → 学员跟读 → 请学员用表达造一个和自己工作相关的句子。</a:t>
            </a:r>
          </a:p>
          <a:p>
            <a:r>
              <a:t>applicant (noun) 申请人 — “We received 300 applicants.”</a:t>
            </a:r>
          </a:p>
          <a:p>
            <a:r>
              <a:t>screening (noun) 初筛 — “CV screening is automated.”</a:t>
            </a:r>
          </a:p>
          <a:p>
            <a:r>
              <a:t>shortlist (verb / noun) 入围名单 — “The shortlist has five names.”</a:t>
            </a:r>
          </a:p>
          <a:p>
            <a:r>
              <a:t>algorithm (noun) 算法 — “The algorithm ranks CVs.”</a:t>
            </a:r>
          </a:p>
          <a:p>
            <a:r>
              <a:t>candidate experience (noun phrase) 求职者体验 — “A poor candidate experience harms the brand.”</a:t>
            </a:r>
          </a:p>
          <a:p>
            <a:r>
              <a:t>applicant tracking system (ATS) (noun) 招聘管理系统 — “The ATS filters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Fairness and judgement ★ 公平与判断</a:t>
            </a:r>
          </a:p>
          <a:p>
            <a:r>
              <a:t>领读 → 学员跟读 → 请学员用表达造一个和自己工作相关的句子。</a:t>
            </a:r>
          </a:p>
          <a:p>
            <a:r>
              <a:t>★ algorithmic bias (noun phrase) 算法偏见 — “Algorithmic bias can exclude good candidates.”</a:t>
            </a:r>
          </a:p>
          <a:p>
            <a:r>
              <a:t>★ screen out (phrasal verb) 筛掉 — “The system screened out qualified people.”</a:t>
            </a:r>
          </a:p>
          <a:p>
            <a:r>
              <a:t>★ transparent (adjective) 透明的 — “The process should be transparent.”</a:t>
            </a:r>
          </a:p>
          <a:p>
            <a:r>
              <a:t>★ audit (verb / noun) 审计 — “Companies audit their tools for bias.”</a:t>
            </a:r>
          </a:p>
          <a:p>
            <a:r>
              <a:t>★ level playing field (idiom) 公平竞争环境 — “AI should create a level playing field.”</a:t>
            </a:r>
          </a:p>
          <a:p>
            <a:r>
              <a:t>★ human oversight (noun phrase) 人工监督 — “Human oversight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applicant / screening / shortlist / algorithm / Algorithmic bias / human oversight</a:t>
            </a:r>
          </a:p>
          <a:p>
            <a:r>
              <a:t>1. Each _______ has to complete an online form. → applicant</a:t>
            </a:r>
          </a:p>
          <a:p>
            <a:r>
              <a:t>2. Automated _______ saves recruiters time. → screening</a:t>
            </a:r>
          </a:p>
          <a:p>
            <a:r>
              <a:t>3. We invited five people from the _______. → shortlist</a:t>
            </a:r>
          </a:p>
          <a:p>
            <a:r>
              <a:t>4. An _______ ranks CVs by relevance. → algorithm</a:t>
            </a:r>
          </a:p>
          <a:p>
            <a:r>
              <a:t>5. _______ can reproduce unfairness from historical data. → Algorithmic bias</a:t>
            </a:r>
          </a:p>
          <a:p>
            <a:r>
              <a:t>6. Fair hiring needs _______ at every stage. → human oversight</a:t>
            </a:r>
          </a:p>
          <a:p>
            <a:r>
              <a:t>Mistake Watch (拼写与搭配): candidate/applicant, algorithm (not “algorythm”), recruitment (not “recruitement”). Apply for a job (not “apply to a job”), apply to a company. Be shortlisted for. Screen candidates. Bias against (not “bias to”). Reject an application / turn down a candidate.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AI screening in a hiring meeting 在招聘会议上讨论AI初筛</a:t>
            </a:r>
          </a:p>
          <a:p>
            <a:r>
              <a:t>情景：HR is considering an AI tool to screen CVs. You discuss pros and cons with the HR director.</a:t>
            </a:r>
          </a:p>
          <a:p>
            <a:r>
              <a:t>Role A: Anne Ho, HR manager (you) Role B: Mr Pike, HR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(Anne): Mr Pike, I’ve looked at the AI screening tool we discussed.</a:t>
            </a:r>
          </a:p>
          <a:p>
            <a:r>
              <a:t>B (Mr Pike): What are your first impressions?</a:t>
            </a:r>
          </a:p>
          <a:p>
            <a:r>
              <a:t>A: It can speed up the process. We get several hundred applicants for each post.</a:t>
            </a:r>
          </a:p>
          <a:p>
            <a:r>
              <a:t>B: What’s the downside?</a:t>
            </a:r>
          </a:p>
          <a:p>
            <a:r>
              <a:t>A: Algorithms may learn bias from past data, so qualified candidates could be screened out unfairly.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How would we reduce that?</a:t>
            </a:r>
          </a:p>
          <a:p>
            <a:r>
              <a:t>A: To reduce bias, we should test the tool on sample data and audit the results regularly.</a:t>
            </a:r>
          </a:p>
          <a:p>
            <a:r>
              <a:t>B: Should people still be involved?</a:t>
            </a:r>
          </a:p>
          <a:p>
            <a:r>
              <a:t>A: Definitely. Humans should review the shortlist and make the final decisions.</a:t>
            </a:r>
          </a:p>
          <a:p>
            <a:r>
              <a:t>B: And candidates?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They deserve to know how technology is used. We should explain it on our careers page.</a:t>
            </a:r>
          </a:p>
          <a:p>
            <a:r>
              <a:t>B: Reasonable. Can we run a pilot?</a:t>
            </a:r>
          </a:p>
          <a:p>
            <a:r>
              <a:t>A: Yes, on one department for three months.</a:t>
            </a:r>
          </a:p>
          <a:p>
            <a:r>
              <a:t>B: Good. Please draft the pilot plan.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93 | </a:t>
            </a:r>
          </a:p>
          <a:p>
            <a:r>
              <a:t>Situation | You discuss AI screening.</a:t>
            </a:r>
          </a:p>
          <a:p>
            <a:r>
              <a:t>Your role (A) | HR manager. Concern: ______________</a:t>
            </a:r>
          </a:p>
          <a:p>
            <a:r>
              <a:t>Partner’s role (B) | HR director. Ask about benefits and risks.</a:t>
            </a:r>
          </a:p>
          <a:p>
            <a:r>
              <a:t>Must use (4 or more) | speed up · bias · screened out · audit · human oversight · deserve to know</a:t>
            </a:r>
          </a:p>
          <a:p>
            <a:r>
              <a:t>Goal | Give benefits, risks and safeguards, and agree a pilot.</a:t>
            </a:r>
          </a:p>
          <a:p>
            <a:r>
              <a:t>My notes | ____________________________________________</a:t>
            </a:r>
          </a:p>
          <a:p>
            <a:r>
              <a:t>Mr Pike says: “Humans are biased too.” Respond.</a:t>
            </a:r>
          </a:p>
          <a:p>
            <a:r>
              <a:t>Write a short notice to candidates explaining use of AI.</a:t>
            </a:r>
          </a:p>
          <a:p>
            <a:r>
              <a:t>Give three tips for candidates facing automated screening.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apply for a job if AI screened your CV? | “I would, but I’d want to know… “</a:t>
            </a:r>
          </a:p>
          <a:p>
            <a:r>
              <a:t>2. Can AI make hiring fairer? | “It can in some ways, e.g.… but…”</a:t>
            </a:r>
          </a:p>
          <a:p>
            <a:r>
              <a:t>3. What should companies tell candidates about AI? | “They should explain… / Candidates deserve…”</a:t>
            </a:r>
          </a:p>
          <a:p>
            <a:r>
              <a:t>4. What skills will recruiters need in the future? | “They’ll need to understand… / interpret…”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“AI can make hiring fairer in some ways, for example by applying the same criteria to every application and ignoring details like name or photo. But it can also make hiring less fair if it learns from biased past decisions. So the answer depends on how the system is designed, tested and supervised. I’d say AI is a tool that can support fairness, but it can’t guarantee it without human oversight.”</a:t>
            </a:r>
          </a:p>
          <a:p>
            <a:r>
              <a:t>supervised = 被监督。”applying the same criteria” = 采用相同标准。guarantee = 保证。”depends on” = 取决于。</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AI chooses people. | AI helps to screen and rank applications. | 准确</a:t>
            </a:r>
          </a:p>
          <a:p>
            <a:r>
              <a:t>It is unfair. | It may disadvantage certain groups. | 谨慎</a:t>
            </a:r>
          </a:p>
          <a:p>
            <a:r>
              <a:t>The machine decides. | A human makes the final decision. | 强调人</a:t>
            </a:r>
          </a:p>
          <a:p>
            <a:r>
              <a:t>Tell them. | Candidates should be informed. | 被动</a:t>
            </a:r>
          </a:p>
          <a:p>
            <a:r>
              <a:t>Test it. | We should test it for bias before use. | 完整</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Modal verbs for recommendations: should, ought to, need to, deserve to.</a:t>
            </a:r>
          </a:p>
          <a:p>
            <a:r>
              <a:t>Concession: Although AI is fast, it can be biased.</a:t>
            </a:r>
          </a:p>
          <a:p>
            <a:r>
              <a:t>Purpose infinitive: To reduce bias, we…</a:t>
            </a:r>
          </a:p>
          <a:p>
            <a:r>
              <a:t>Passive: “Applications are screened by software.” / “Candidates should be informed.”</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Apply to a job  →  ✓ Apply for a job  (apply for)</a:t>
            </a:r>
          </a:p>
          <a:p>
            <a:r>
              <a:t>✗ AI is biased to some groups.  →  ✓ AI can be biased against some groups.  (bias against)</a:t>
            </a:r>
          </a:p>
          <a:p>
            <a:r>
              <a:t>✗ AI can’t to be fair.  →  ✓ AI can’t be fair.  (can’t + 原形)</a:t>
            </a:r>
          </a:p>
          <a:p>
            <a:r>
              <a:t>Mistake Watch: Check apply for, bias against, and possessives (applicants’).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received many applicants CVs.  →  ✓ We received many applicants’ CVs.  (所有格)</a:t>
            </a:r>
          </a:p>
          <a:p>
            <a:r>
              <a:t>✗ It makes the process more faster.  →  ✓ It makes the process faster.  (faster)</a:t>
            </a:r>
          </a:p>
          <a:p>
            <a:r>
              <a:t>✗ I’m agree with using AI.  →  ✓ I agree with using AI.  (agree)</a:t>
            </a:r>
          </a:p>
          <a:p>
            <a:r>
              <a:t>Mistake Watch: Check apply for, bias against, and possessives (applicants’).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Legal rules: Some places regulate automated decision-making in hiring. Employers must comply.</a:t>
            </a:r>
          </a:p>
          <a:p>
            <a:r>
              <a:t>CV language: Clear, job-related wording and standard headings help both humans and software.</a:t>
            </a:r>
          </a:p>
          <a:p>
            <a:r>
              <a:t>Candidate feedback: Even automated processes should provide a respectful candidate experience.</a:t>
            </a:r>
          </a:p>
          <a:p>
            <a:r>
              <a:t>apply for a job;bias against;所有格 applicants’ CVs。AI 招聘需要透明、测试和人工监督。</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pros and cons of AI in recruitment.</a:t>
            </a:r>
          </a:p>
          <a:p>
            <a:r>
              <a:t>I can recommend safeguards.</a:t>
            </a:r>
          </a:p>
          <a:p>
            <a:r>
              <a:t>I can use passive and modal structures for recommendations.</a:t>
            </a:r>
          </a:p>
          <a:p>
            <a:r>
              <a:t>I can use apply for, bias against and possessives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apply for, bias against, and possessives.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94 · Losing Jobs to AI AI 会抢走工作吗?</a:t>
            </a:r>
          </a:p>
          <a:p>
            <a:r>
              <a:t>Goal: discuss the effect of AI on jobs: which tasks are affected, new roles, reskilling, how employers and governments might respond, and how to argue about uncertain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displace = 取代;reskill / upskill = 转换/提升技能;automation = 自动化。第 1 题可用 “I’m not too worried because…”。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balanced view of AI and employment.</a:t>
            </a:r>
          </a:p>
          <a:p>
            <a:r>
              <a:t>Say: tasks vs jobs → who is affected → new opportunities → support → conclusion</a:t>
            </a:r>
          </a:p>
          <a:p>
            <a:r>
              <a:t>Useful starters: “AI is more likely to change tasks than eliminate whole jobs.” / “Some roles may…” / “Workers can prepare by…”</a:t>
            </a:r>
          </a:p>
          <a:p>
            <a:r>
              <a:t>more likely to… than… 比较。eliminate = 消除。prepare by + -ing。</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Whenever a new technology arrives, people worry about jobs. AI is no exception. Forecasts about its effects differ widely, and nobody can say with certainty what will happen. What seems likely is that AI will change many tasks, particularly routine ones such as drafting standard documents, sorting information and answering common questions. A job is usually a bundle of tasks, so some roles may shrink, others may change and new ones, such as AI trainers or data specialists, may appear. Workers with skills that complement AI, like judgement, creativity and interpersonal skills, are often expected to be in demand. Even so, the transition could be painful for some people, especially if it is fast. Training, career support and sensible policy will matter. The question is not only how many jobs change, but how fairly the change is managed.</a:t>
            </a:r>
          </a:p>
          <a:p>
            <a:r>
              <a:t>bundle = 一组。complement = 补充。interpersonal = 人际的。”in demand” = 受需求。</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forecasts differ?</a:t>
            </a:r>
          </a:p>
          <a:p>
            <a:r>
              <a:t>A: Nobody can say with certainty; the effects are uncertain and vary widely.</a:t>
            </a:r>
          </a:p>
          <a:p>
            <a:r>
              <a:t>Q2. What is a job, according to the passage?</a:t>
            </a:r>
          </a:p>
          <a:p>
            <a:r>
              <a:t>A: A bundle of tasks, so some tasks may change while the job continues.</a:t>
            </a:r>
          </a:p>
          <a:p>
            <a:r>
              <a:t>Q3. What skills may be in demand?</a:t>
            </a:r>
          </a:p>
          <a:p>
            <a:r>
              <a:t>A: Skills that complement AI: judgement, creativity and interpersonal skills.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AI and employment AI 与就业</a:t>
            </a:r>
          </a:p>
          <a:p>
            <a:r>
              <a:t>领读 → 学员跟读 → 请学员用表达造一个和自己工作相关的句子。</a:t>
            </a:r>
          </a:p>
          <a:p>
            <a:r>
              <a:t>automation (noun) 自动化 — “Automation affects factory jobs.”</a:t>
            </a:r>
          </a:p>
          <a:p>
            <a:r>
              <a:t>redundancy (noun) 裁员/失业(英) — “The company announced redundancies.”</a:t>
            </a:r>
          </a:p>
          <a:p>
            <a:r>
              <a:t>reskill / upskill (verb) 转换/提升技能 — “We upskill staff for new tools.”</a:t>
            </a:r>
          </a:p>
          <a:p>
            <a:r>
              <a:t>job market (noun) 就业市场 — “The job market is changing.”</a:t>
            </a:r>
          </a:p>
          <a:p>
            <a:r>
              <a:t>displace (verb) 取代 — “AI could displace some workers.”</a:t>
            </a:r>
          </a:p>
          <a:p>
            <a:r>
              <a:t>workforce (noun) 劳动力 — “The workforce needs training.”</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Preparing for change ★ 为变化做准备</a:t>
            </a:r>
          </a:p>
          <a:p>
            <a:r>
              <a:t>领读 → 学员跟读 → 请学员用表达造一个和自己工作相关的句子。</a:t>
            </a:r>
          </a:p>
          <a:p>
            <a:r>
              <a:t>★ job security (noun phrase) 工作保障 — “Job security is a worry.”</a:t>
            </a:r>
          </a:p>
          <a:p>
            <a:r>
              <a:t>★ future-proof (verb) 使不被淘汰 — “Learn skills that future-proof your career.”</a:t>
            </a:r>
          </a:p>
          <a:p>
            <a:r>
              <a:t>★ transferable skills (noun phrase) 可迁移技能 — “Transferable skills are valuable.”</a:t>
            </a:r>
          </a:p>
          <a:p>
            <a:r>
              <a:t>★ lifelong learning (noun phrase) 终身学习 — “Lifelong learning is essential.”</a:t>
            </a:r>
          </a:p>
          <a:p>
            <a:r>
              <a:t>★ in demand (adjective phrase) 受欢迎/需求大 — “Data skills are in demand.”</a:t>
            </a:r>
          </a:p>
          <a:p>
            <a:r>
              <a:t>★ safety net (noun phrase) 保障网 — “A safety net helps displaced workers.”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Automation / redundancies / upskill / job market / future-proof / safety net</a:t>
            </a:r>
          </a:p>
          <a:p>
            <a:r>
              <a:t>1. _______ has changed many tasks in factories. → Automation</a:t>
            </a:r>
          </a:p>
          <a:p>
            <a:r>
              <a:t>2. The firm announced 200 _______ last month. → redundancies</a:t>
            </a:r>
          </a:p>
          <a:p>
            <a:r>
              <a:t>3. Employers should help staff to _______ for new technology. → upskill</a:t>
            </a:r>
          </a:p>
          <a:p>
            <a:r>
              <a:t>4. The _______ is competitive for new graduates. → job market</a:t>
            </a:r>
          </a:p>
          <a:p>
            <a:r>
              <a:t>5. Learning new skills can help to _______ your career. → future-proof</a:t>
            </a:r>
          </a:p>
          <a:p>
            <a:r>
              <a:t>6. Retraining programmes act as a _______ for displaced workers. → safety net</a:t>
            </a:r>
          </a:p>
          <a:p>
            <a:r>
              <a:t>Mistake Watch (拼写与搭配): redundancy (UK: losing a job because the role is no longer needed; US: layoff), unemployment, automation. Lose a job, be made redundant (UK), be laid off (US). Replace vs displace. Workforce (singular), employees. Skills (countable). Training (uncountable). Likely to (not “possible to”).</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AI and jobs with a colleague 与同事讨论AI与就业</a:t>
            </a:r>
          </a:p>
          <a:p>
            <a:r>
              <a:t>情景：At lunch, you and a colleague discuss whether AI could affect your department.</a:t>
            </a:r>
          </a:p>
          <a:p>
            <a:r>
              <a:t>Role A: Nick Sun, analyst (you) Role B: Lisa Ford,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(Nick): Lisa, have you been following the news about AI and jobs?</a:t>
            </a:r>
          </a:p>
          <a:p>
            <a:r>
              <a:t>B (Lisa): Yes. Some people say it will take over a lot of work. Does it worry you?</a:t>
            </a:r>
          </a:p>
          <a:p>
            <a:r>
              <a:t>A: A bit, but I’m not too worried. AI is more likely to change tasks than eliminate entire jobs.</a:t>
            </a:r>
          </a:p>
          <a:p>
            <a:r>
              <a:t>B: Which tasks?</a:t>
            </a:r>
          </a:p>
          <a:p>
            <a:r>
              <a:t>A: Routine ones, like preparing standard reports. That could free us for analysis.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But what if the company needs fewer people?</a:t>
            </a:r>
          </a:p>
          <a:p>
            <a:r>
              <a:t>A: That’s possible. Some roles may shrink. That’s why it’s wise to build transferable skills.</a:t>
            </a:r>
          </a:p>
          <a:p>
            <a:r>
              <a:t>B: Such as?</a:t>
            </a:r>
          </a:p>
          <a:p>
            <a:r>
              <a:t>A: Communication, problem-solving and understanding the business. And learning to use AI tools well.</a:t>
            </a:r>
          </a:p>
          <a:p>
            <a:r>
              <a:t>B: I’ve started an online course on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idea. It may help to future-proof your career.</a:t>
            </a:r>
          </a:p>
          <a:p>
            <a:r>
              <a:t>B: Do you think the company should help?</a:t>
            </a:r>
          </a:p>
          <a:p>
            <a:r>
              <a:t>A: Yes. Training and clear communication are important. It’s better to prepare than to be surprised.</a:t>
            </a:r>
          </a:p>
          <a:p>
            <a:r>
              <a:t>B: Agreed.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94 | </a:t>
            </a:r>
          </a:p>
          <a:p>
            <a:r>
              <a:t>Situation | You discuss AI and jobs.</a:t>
            </a:r>
          </a:p>
          <a:p>
            <a:r>
              <a:t>Your role (A) | Speaker. View: ______________</a:t>
            </a:r>
          </a:p>
          <a:p>
            <a:r>
              <a:t>Partner’s role (B) | Colleague. Raise a worry.</a:t>
            </a:r>
          </a:p>
          <a:p>
            <a:r>
              <a:t>Must use (4 or more) | more likely to · routine tasks · transferable skills · upskill · future-proof · in demand</a:t>
            </a:r>
          </a:p>
          <a:p>
            <a:r>
              <a:t>Goal | Give a balanced view and one practical step.</a:t>
            </a:r>
          </a:p>
          <a:p>
            <a:r>
              <a:t>My notes | ____________________________________________</a:t>
            </a:r>
          </a:p>
          <a:p>
            <a:r>
              <a:t>Lisa says: “AI will take everyone’s job.” Respond calmly.</a:t>
            </a:r>
          </a:p>
          <a:p>
            <a:r>
              <a:t>List three skills that complement AI.</a:t>
            </a:r>
          </a:p>
          <a:p>
            <a:r>
              <a:t>Write two sentences predicting the effect of AI on your field, hedged.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jobs are most likely to change because of AI? | “Jobs with many routine tasks… “</a:t>
            </a:r>
          </a:p>
          <a:p>
            <a:r>
              <a:t>2. What new jobs might AI create? | “Roles such as… might appear.”</a:t>
            </a:r>
          </a:p>
          <a:p>
            <a:r>
              <a:t>3. Whose responsibility is it to support affected workers? | “It should be shared by…”</a:t>
            </a:r>
          </a:p>
          <a:p>
            <a:r>
              <a:t>4. How can you prepare for changes in your field? | “I can… by…”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responsibility should be shared. Employers should offer notice, retraining and fair treatment when roles change. Governments can fund training, support people between jobs and keep the safety net strong. Individuals also need to keep learning, but they can’t be expected to manage a big transition alone. If one group is left to bear all the cost, the result is likely to be unfair and unstable.”</a:t>
            </a:r>
          </a:p>
          <a:p>
            <a:r>
              <a:t>notice = 通知期。bear the cost = 承担成本。unstable = 不稳定的。”between jobs” = 失业过渡期间。</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AI will steal jobs. | AI may change the nature of some jobs. | 平衡</a:t>
            </a:r>
          </a:p>
          <a:p>
            <a:r>
              <a:t>I’ll lose my job. | My role might change, so I’m upskilling. | 积极</a:t>
            </a:r>
          </a:p>
          <a:p>
            <a:r>
              <a:t>Nobody knows. | The effects are uncertain. | 正式</a:t>
            </a:r>
          </a:p>
          <a:p>
            <a:r>
              <a:t>People must learn. | Workers will need to keep learning. | 完整</a:t>
            </a:r>
          </a:p>
          <a:p>
            <a:r>
              <a:t>It’s bad for workers. | It poses risks for some workers. | 谨慎</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Future predictions: will, may, might, is likely to, could.</a:t>
            </a:r>
          </a:p>
          <a:p>
            <a:r>
              <a:t>Contrast tasks vs jobs: rather than, instead of, not only… but also.</a:t>
            </a:r>
          </a:p>
          <a:p>
            <a:r>
              <a:t>Conditionals: If routine tasks are automated, workers could focus on…</a:t>
            </a:r>
          </a:p>
          <a:p>
            <a:r>
              <a:t>Careful claims: Some researchers believe…, Forecasts vary…, It seems likely that…</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AI will surely take all jobs.  →  ✓ AI may change many jobs.  (避免绝对化)</a:t>
            </a:r>
          </a:p>
          <a:p>
            <a:r>
              <a:t>✗ Many people will unemployed.  →  ✓ Many people may become unemployed.  (become)</a:t>
            </a:r>
          </a:p>
          <a:p>
            <a:r>
              <a:t>✗ I am afraid for lose my job.  →  ✓ I’m afraid of losing my job.  (afraid of + -ing)</a:t>
            </a:r>
          </a:p>
          <a:p>
            <a:r>
              <a:t>Mistake Watch: Check afraid of + -ing, passive with by, and avoiding absolutes.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workers will be replaced from AI.  →  ✓ Workers may be replaced by AI.  (by)</a:t>
            </a:r>
          </a:p>
          <a:p>
            <a:r>
              <a:t>✗ They fired because AI.  →  ✓ They were laid off because of AI.  (because of + 名词)</a:t>
            </a:r>
          </a:p>
          <a:p>
            <a:r>
              <a:t>✗ Technology take jobs.  →  ✓ Technology can take over jobs. / Technology changes jobs.  (谨慎表述)</a:t>
            </a:r>
          </a:p>
          <a:p>
            <a:r>
              <a:t>Mistake Watch: Check afraid of + -ing, passive with by, and avoiding absolutes.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Language of layoffs: “Redundancy” (UK) vs “layoff” (US). Both carry sensitivity; speak respectfully.</a:t>
            </a:r>
          </a:p>
          <a:p>
            <a:r>
              <a:t>Sensitive topic: Colleagues may be anxious; avoid dramatic predictions.</a:t>
            </a:r>
          </a:p>
          <a:p>
            <a:r>
              <a:t>Evidence: Forecasts vary widely; cite the source and date.</a:t>
            </a:r>
          </a:p>
          <a:p>
            <a:r>
              <a:t>afraid of + -ing;被动 by;because of + 名词。谈 AI 与就业要平衡、有证据,不要绝对化。</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a balanced view on AI and employment.</a:t>
            </a:r>
          </a:p>
          <a:p>
            <a:r>
              <a:t>I can use hedged predictions.</a:t>
            </a:r>
          </a:p>
          <a:p>
            <a:r>
              <a:t>I can use afraid of + -ing and passive with by correctly.</a:t>
            </a:r>
          </a:p>
          <a:p>
            <a:r>
              <a:t>I can name skills and steps to prepare for change.</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hedged predictions, afraid of + -ing, and passive with by.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95 · AI “supersonic Tsunami” AI“ 超音速海啸”</a:t>
            </a:r>
          </a:p>
          <a:p>
            <a:r>
              <a:t>Goal: use metaphors and strong language carefully when discussing the speed and scale of AI change; evaluate dramatic claims critically.</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tsunami = 海啸;supersonic = 超音速的;hype = 炒作。本课题目用比喻形容AI变化之快。第 4 题:look for evidence, sources, and specifics。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Evaluate a dramatic claim about AI using evidence and balanced language.</a:t>
            </a:r>
          </a:p>
          <a:p>
            <a:r>
              <a:t>Say: the claim → what’s true → what’s exaggerated → your conclusion</a:t>
            </a:r>
          </a:p>
          <a:p>
            <a:r>
              <a:t>Useful starters: “It’s true that…, but…” / “The claim seems exaggerated because…” / “What we can say with confidence is…”</a:t>
            </a:r>
          </a:p>
          <a:p>
            <a:r>
              <a:t>seem exaggerated = 似乎夸大。What we can say with confidence is… 表达有把握的结论。</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Commentators sometimes describe AI as a “tsunami” or a “supersonic” force that will sweep through every industry. Such images are memorable, and they capture a real feeling: new tools have appeared quickly, and many organisations struggle to keep up. But metaphors can mislead. A tsunami is destructive and unstoppable, whereas the effect of technology depends partly on choices people make about rules, training and use. Previous technologies, from electricity to the internet, also spread quickly in some ways but took years to change how companies actually worked. Careful readers ask questions: who is making the claim, what evidence do they offer and what do they want us to do? Strong language can attract attention or sell a product. A calm approach is to watch developments closely, experiment on a small scale and avoid both panic and complacency.</a:t>
            </a:r>
          </a:p>
          <a:p>
            <a:r>
              <a:t>sweep through = 席卷。mislead = 误导。complacency = 自满。”on a small scale” = 小规模。</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the “tsunami” metaphor capture?</a:t>
            </a:r>
          </a:p>
          <a:p>
            <a:r>
              <a:t>A: The feeling that new tools appeared quickly and organisations struggle to keep up.</a:t>
            </a:r>
          </a:p>
          <a:p>
            <a:r>
              <a:t>Q2. Why can metaphors mislead?</a:t>
            </a:r>
          </a:p>
          <a:p>
            <a:r>
              <a:t>A: A tsunami is unstoppable, but technology effects depend on human choices.</a:t>
            </a:r>
          </a:p>
          <a:p>
            <a:r>
              <a:t>Q3. What questions should careful readers ask?</a:t>
            </a:r>
          </a:p>
          <a:p>
            <a:r>
              <a:t>A: Who is making the claim, what evidence, and what they want us to do.</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Strong language and hype 强烈措辞与炒作</a:t>
            </a:r>
          </a:p>
          <a:p>
            <a:r>
              <a:t>领读 → 学员跟读 → 请学员用表达造一个和自己工作相关的句子。</a:t>
            </a:r>
          </a:p>
          <a:p>
            <a:r>
              <a:t>hype (noun) 炒作 — “There’s a lot of hype around AI.”</a:t>
            </a:r>
          </a:p>
          <a:p>
            <a:r>
              <a:t>metaphor (noun) 比喻 — “The metaphor is dramatic.”</a:t>
            </a:r>
          </a:p>
          <a:p>
            <a:r>
              <a:t>exaggerate (verb) 夸大 — “The headline exaggerates the risk.”</a:t>
            </a:r>
          </a:p>
          <a:p>
            <a:r>
              <a:t>evidence (noun (uncountable)) 证据 — “There’s little evidence for that claim.”</a:t>
            </a:r>
          </a:p>
          <a:p>
            <a:r>
              <a:t>claim (noun / verb) 声称 — “The company claims huge savings.”</a:t>
            </a:r>
          </a:p>
          <a:p>
            <a:r>
              <a:t>sceptical (adjective) 持怀疑态度的 — “I’m sceptical about big promises.”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Thinking critically ★ 批判性思考</a:t>
            </a:r>
          </a:p>
          <a:p>
            <a:r>
              <a:t>领读 → 学员跟读 → 请学员用表达造一个和自己工作相关的句子。</a:t>
            </a:r>
          </a:p>
          <a:p>
            <a:r>
              <a:t>★ a game-changer (noun) 改变格局的事物 — “Some call AI a game-changer.”</a:t>
            </a:r>
          </a:p>
          <a:p>
            <a:r>
              <a:t>★ sweep across (phrasal verb) 席卷 — “A new technology can sweep across industries.”</a:t>
            </a:r>
          </a:p>
          <a:p>
            <a:r>
              <a:t>★ keep up with (phrasal verb) 跟上 — “It’s hard to keep up with developments.”</a:t>
            </a:r>
          </a:p>
          <a:p>
            <a:r>
              <a:t>★ take with a pinch of salt (idiom) 持保留态度 — “I take dramatic claims with a pinch of salt.”</a:t>
            </a:r>
          </a:p>
          <a:p>
            <a:r>
              <a:t>★ separate hype from reality (collocation) 区分炒作与现实 — “We need to separate hype from reality.”</a:t>
            </a:r>
          </a:p>
          <a:p>
            <a:r>
              <a:t>★ overstate (verb) 夸大 — “The report overstates the speed of change.”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hype / metaphor / exaggerates / evidence / sceptical / game-changer</a:t>
            </a:r>
          </a:p>
          <a:p>
            <a:r>
              <a:t>1. There’s a lot of _______ around new AI products. → hype</a:t>
            </a:r>
          </a:p>
          <a:p>
            <a:r>
              <a:t>2. “Tsunami” is a dramatic _______ for rapid change. → metaphor</a:t>
            </a:r>
          </a:p>
          <a:p>
            <a:r>
              <a:t>3. The headline _______ the risk. → exaggerates</a:t>
            </a:r>
          </a:p>
          <a:p>
            <a:r>
              <a:t>4. Where’s the _______ for that claim? → evidence</a:t>
            </a:r>
          </a:p>
          <a:p>
            <a:r>
              <a:t>5. I’m _______ about big promises from vendors. → sceptical</a:t>
            </a:r>
          </a:p>
          <a:p>
            <a:r>
              <a:t>6. Some people call AI a _______ for business. → game-changer</a:t>
            </a:r>
          </a:p>
          <a:p>
            <a:r>
              <a:t>Mistake Watch (拼写与搭配): sceptical (UK) / skeptical (US), evidence (uncountable), exaggerate (double g, one r). Provide / give evidence, a piece of evidence. Make a claim, claim that…. Be sceptical about / of. Overstate/understate. Hype can be noun or verb. Keep up with (not “keep up to”).</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Questioning a dramatic claim 质疑夸张说法</a:t>
            </a:r>
          </a:p>
          <a:p>
            <a:r>
              <a:t>情景：At a team meeting, a colleague quotes an article calling AI a “supersonic tsunami”. You respond.</a:t>
            </a:r>
          </a:p>
          <a:p>
            <a:r>
              <a:t>Role A: Eve Choi, manager (you) Role B: Paul Wu,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(Eve): Paul, I saw that article too, with the “supersonic tsunami” headline. It’s certainly dramatic.</a:t>
            </a:r>
          </a:p>
          <a:p>
            <a:r>
              <a:t>B (Paul): Well, AI is advancing quickly. It feels like we can’t keep up.</a:t>
            </a:r>
          </a:p>
          <a:p>
            <a:r>
              <a:t>A: It’s true that tools have changed fast, but I think the claim seems exaggerated.</a:t>
            </a:r>
          </a:p>
          <a:p>
            <a:r>
              <a:t>B: Why?</a:t>
            </a:r>
          </a:p>
          <a:p>
            <a:r>
              <a:t>A: A tsunami is unstoppable. But how we use AI depends on choices, like training, rules and priorities.</a:t>
            </a:r>
          </a:p>
          <a:p>
            <a:r>
              <a:t>B: Fair. But aren’t some companies already using it widely?</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Some are, but many are still experimenting. What we can say with confidence is that change is real and uneven.</a:t>
            </a:r>
          </a:p>
          <a:p>
            <a:r>
              <a:t>B: So what should we do?</a:t>
            </a:r>
          </a:p>
          <a:p>
            <a:r>
              <a:t>A: Watch developments, try small pilots and avoid both panic and complacency.</a:t>
            </a:r>
          </a:p>
          <a:p>
            <a:r>
              <a:t>B: And check who’s making the claims?</a:t>
            </a:r>
          </a:p>
          <a:p>
            <a:r>
              <a:t>A: Exactly. Ask what evidence they give and what they want us to do.</a:t>
            </a:r>
          </a:p>
          <a:p>
            <a:r>
              <a:t>B: Good advice. Shall we plan a pilot?</a:t>
            </a:r>
          </a:p>
          <a:p>
            <a:r>
              <a:t>A: Yes. Let’s pick one task to test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95 | </a:t>
            </a:r>
          </a:p>
          <a:p>
            <a:r>
              <a:t>Situation | You question a dramatic claim.</a:t>
            </a:r>
          </a:p>
          <a:p>
            <a:r>
              <a:t>Your role (A) | Manager. Claim: ______________</a:t>
            </a:r>
          </a:p>
          <a:p>
            <a:r>
              <a:t>Partner’s role (B) | Colleague. Defend the claim.</a:t>
            </a:r>
          </a:p>
          <a:p>
            <a:r>
              <a:t>Must use (4 or more) | it’s true that · seems exaggerated · evidence · what we can say · pilot · take with a pinch of salt</a:t>
            </a:r>
          </a:p>
          <a:p>
            <a:r>
              <a:t>Goal | Acknowledge, question with evidence and propose a calm step.</a:t>
            </a:r>
          </a:p>
          <a:p>
            <a:r>
              <a:t>My notes | ____________________________________________</a:t>
            </a:r>
          </a:p>
          <a:p>
            <a:r>
              <a:t>Paul says: “If we don’t act now, we’ll be left behind.” Respond.</a:t>
            </a:r>
          </a:p>
          <a:p>
            <a:r>
              <a:t>Rewrite a dramatic headline in neutral language.</a:t>
            </a:r>
          </a:p>
          <a:p>
            <a:r>
              <a:t>List three questions to ask about a news claim.</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think AI is changing business faster than past technologies? | “It’s hard to say… / In some respects…”</a:t>
            </a:r>
          </a:p>
          <a:p>
            <a:r>
              <a:t>2. Why do people use dramatic language for technology? | “To attract attention… / To sell…”</a:t>
            </a:r>
          </a:p>
          <a:p>
            <a:r>
              <a:t>3. How can you tell hype from reality? | “By checking… / Looking for…”</a:t>
            </a:r>
          </a:p>
          <a:p>
            <a:r>
              <a:t>4. What is a sensible response to rapid change? | “Stay informed… / Test on a small scale…”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tell hype from reality, I look at who is making the claim and whether they have something to sell. I check for evidence such as data, examples and independent sources, rather than slogans. I also look for specifics: which tasks, which industries, by when? Vague claims with no details are often a warning sign. And I try to compare several sources before forming an opinion.”</a:t>
            </a:r>
          </a:p>
          <a:p>
            <a:r>
              <a:t>independent sources = 独立信源。specifics = 具体细节。”warning sign” = 警示信号。”forming an opinion” = 形成观点。</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This is false. | I’m not convinced by that claim. | 委婉</a:t>
            </a:r>
          </a:p>
          <a:p>
            <a:r>
              <a:t>It’s exaggeration. | That seems a bit exaggerated. | 委婉</a:t>
            </a:r>
          </a:p>
          <a:p>
            <a:r>
              <a:t>Where is proof? | What evidence is there for that? | 完整</a:t>
            </a:r>
          </a:p>
          <a:p>
            <a:r>
              <a:t>Don’t panic. | Let’s stay calm and look at the facts. | 积极</a:t>
            </a:r>
          </a:p>
          <a:p>
            <a:r>
              <a:t>Everyone says. | Some commentators argue that… | 具体来源</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Hedged disagreement: I’m not sure that’s the whole picture. / That may be overstated.</a:t>
            </a:r>
          </a:p>
          <a:p>
            <a:r>
              <a:t>Concession and contrast: It’s true that…, but…; Admittedly…, however…</a:t>
            </a:r>
          </a:p>
          <a:p>
            <a:r>
              <a:t>Careful verbs: suggest, indicate, appear, claim, argue (instead of “prove”).</a:t>
            </a:r>
          </a:p>
          <a:p>
            <a:r>
              <a:t>Questions about evidence: Where does that come from? How was it measured? Who is saying this?</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evidence are weak.  →  ✓ The evidence is weak.  (不可数)</a:t>
            </a:r>
          </a:p>
          <a:p>
            <a:r>
              <a:t>✗ I am skeptical to this claim.  →  ✓ I’m sceptical about this claim.  (sceptical about)</a:t>
            </a:r>
          </a:p>
          <a:p>
            <a:r>
              <a:t>✗ This prove AI is dangerous.  →  ✓ This doesn’t prove that AI is dangerous.  (prove that)</a:t>
            </a:r>
          </a:p>
          <a:p>
            <a:r>
              <a:t>Mistake Watch: Check uncountable evidence / hype, sceptical about, and prove that.</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Many hypes  →  ✓ A lot of hype  (不可数)</a:t>
            </a:r>
          </a:p>
          <a:p>
            <a:r>
              <a:t>✗ It exaggerates too much.  →  ✓ It exaggerates the risk.  (搭配)</a:t>
            </a:r>
          </a:p>
          <a:p>
            <a:r>
              <a:t>✗ Don’t be panic.  →  ✓ Don’t panic.  (panic 是动词)</a:t>
            </a:r>
          </a:p>
          <a:p>
            <a:r>
              <a:t>Mistake Watch: Check uncountable evidence / hype, sceptical about, and prove that.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Headlines: Newspaper headlines often use strong metaphors; read the article before judging.</a:t>
            </a:r>
          </a:p>
          <a:p>
            <a:r>
              <a:t>Spelling: UK: sceptical; US: skeptical.</a:t>
            </a:r>
          </a:p>
          <a:p>
            <a:r>
              <a:t>Tone: Disagree with the claim, not the person.</a:t>
            </a:r>
          </a:p>
          <a:p>
            <a:r>
              <a:t>evidence / hype 不可数;sceptical about;don’t panic。讨论炒作时要问证据、来源和细节。</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question dramatic claims politely.</a:t>
            </a:r>
          </a:p>
          <a:p>
            <a:r>
              <a:t>I can explain the difference between evidence and hype.</a:t>
            </a:r>
          </a:p>
          <a:p>
            <a:r>
              <a:t>I can use careful verbs (suggest, indicate).</a:t>
            </a:r>
          </a:p>
          <a:p>
            <a:r>
              <a:t>I can use uncountable evidence / hype and sceptical about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evidence / hype, sceptical about, and hedged disagreement.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96 · Digital Cloning 数字克隆</a:t>
            </a:r>
          </a:p>
          <a:p>
            <a:r>
              <a:t>Goal: discuss digital cloning (AI-generated copies of voices, faces or personalities): uses, consent, risks, business opportunities and the ethical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clone = 克隆;likeness = 肖像/形象;consent = 同意;deepfake = 深度伪造。第 4 题涉及版权、人格权。</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benefits and risks of digital cloning and propose rules.</a:t>
            </a:r>
          </a:p>
          <a:p>
            <a:r>
              <a:t>Say: what it is → uses → risks → rules</a:t>
            </a:r>
          </a:p>
          <a:p>
            <a:r>
              <a:t>Useful starters: “Digital cloning refers to…” / “It could be useful for…, but…” / “Anyone whose voice is used should have given…”</a:t>
            </a:r>
          </a:p>
          <a:p>
            <a:r>
              <a:t>refers to = 指的是。whose voice 是定语从句。should have given consent(被动更常用:consent should be obtained)。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Digital cloning uses AI to create realistic copies of a person’s voice, face or style of speech. Legitimate uses are easy to imagine: actors lending their voices to dubbing in other languages, companies creating training videos without repeated filming, or people with speech difficulties preserving their own voice. But the same technology can be misused. Fake audio or video can spread false information, damage reputations or be used in scams. Questions of consent and ownership arise: who controls a person’s likeness, and what happens after they die? Many experts argue that clear rules are needed, including permission before cloning, labels on synthetic content and protection for performers. Businesses that want to use the technology should be transparent, pay fairly for use of a person’s voice or image and keep records of consent.</a:t>
            </a:r>
          </a:p>
          <a:p>
            <a:r>
              <a:t>dubbing = 配音。preserve = 保存。scam = 骗局。synthetic = 合成的。</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legitimate uses are mentioned?</a:t>
            </a:r>
          </a:p>
          <a:p>
            <a:r>
              <a:t>A: Dubbing in other languages, training videos without repeated filming, and preserving the voices of people with speech difficulties.</a:t>
            </a:r>
          </a:p>
          <a:p>
            <a:r>
              <a:t>Q2. What are the risks?</a:t>
            </a:r>
          </a:p>
          <a:p>
            <a:r>
              <a:t>A: False information, damaged reputations and scams.</a:t>
            </a:r>
          </a:p>
          <a:p>
            <a:r>
              <a:t>Q3. What do many experts argue?</a:t>
            </a:r>
          </a:p>
          <a:p>
            <a:r>
              <a:t>A: Clear rules are needed: permission, labels on synthetic content and protection for performers.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Cloning and consent 克隆与同意</a:t>
            </a:r>
          </a:p>
          <a:p>
            <a:r>
              <a:t>领读 → 学员跟读 → 请学员用表达造一个和自己工作相关的句子。</a:t>
            </a:r>
          </a:p>
          <a:p>
            <a:r>
              <a:t>digital clone (noun) 数字克隆体 — “They created a digital clone of her voice.”</a:t>
            </a:r>
          </a:p>
          <a:p>
            <a:r>
              <a:t>deepfake (noun) 深度伪造 — “The video was a deepfake.”</a:t>
            </a:r>
          </a:p>
          <a:p>
            <a:r>
              <a:t>likeness (noun) 肖像/相貌 — “He sued over the use of his likeness.”</a:t>
            </a:r>
          </a:p>
          <a:p>
            <a:r>
              <a:t>consent (noun / verb) 同意 — “Written consent is required.”</a:t>
            </a:r>
          </a:p>
          <a:p>
            <a:r>
              <a:t>synthetic (adjective) 合成的 — “Synthetic voices sound natural.”</a:t>
            </a:r>
          </a:p>
          <a:p>
            <a:r>
              <a:t>impersonate (verb) 冒充 — “Scammers impersonate executives.”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Rules and responsibility ★ 规则与责任</a:t>
            </a:r>
          </a:p>
          <a:p>
            <a:r>
              <a:t>领读 → 学员跟读 → 请学员用表达造一个和自己工作相关的句子。</a:t>
            </a:r>
          </a:p>
          <a:p>
            <a:r>
              <a:t>★ misuse (verb / noun) 滥用 — “Technology can be misused.”</a:t>
            </a:r>
          </a:p>
          <a:p>
            <a:r>
              <a:t>★ obtain consent (collocation) 获得同意 — “Companies must obtain consent.”</a:t>
            </a:r>
          </a:p>
          <a:p>
            <a:r>
              <a:t>★ licence agreement (noun phrase) 授权协议 — “They signed a licence agreement.”</a:t>
            </a:r>
          </a:p>
          <a:p>
            <a:r>
              <a:t>★ watermark (noun / verb) 水印 — “AI content may carry a watermark.”</a:t>
            </a:r>
          </a:p>
          <a:p>
            <a:r>
              <a:t>★ cross the line (idiom) 越界 — “Cloning without permission crosses the line.”</a:t>
            </a:r>
          </a:p>
          <a:p>
            <a:r>
              <a:t>★ a grey area (idiom) 灰色地带 — “The law is a grey area here.”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digital clone / deepfake / likeness / consent / impersonate / grey area</a:t>
            </a:r>
          </a:p>
          <a:p>
            <a:r>
              <a:t>1. The studio created a _______ of the singer’s voice. → digital clone</a:t>
            </a:r>
          </a:p>
          <a:p>
            <a:r>
              <a:t>2. The video turned out to be a _______, not a real recording. → deepfake</a:t>
            </a:r>
          </a:p>
          <a:p>
            <a:r>
              <a:t>3. Companies need permission to use a person’s _______. → likeness</a:t>
            </a:r>
          </a:p>
          <a:p>
            <a:r>
              <a:t>4. Using someone’s voice without _______ is a serious issue. → consent</a:t>
            </a:r>
          </a:p>
          <a:p>
            <a:r>
              <a:t>5. Scammers try to _______ senior managers to ask for payments. → impersonate</a:t>
            </a:r>
          </a:p>
          <a:p>
            <a:r>
              <a:t>6. The law is still a _______ in many countries. → grey area</a:t>
            </a:r>
          </a:p>
          <a:p>
            <a:r>
              <a:t>Mistake Watch (拼写与搭配): clone (noun/verb), deepfake (one word), likeness. Ask for / give / obtain consent (uncountable). Impersonate sb (no “as”). Misuse (verb /mɪsˈjuːz/, noun /mɪsˈjuːs/). Grey (UK) / gray (US). Have the right to. Use sth without permission.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voice-cloning proposal 讨论语音克隆方案</a:t>
            </a:r>
          </a:p>
          <a:p>
            <a:r>
              <a:t>情景：Your company is considering using a cloned voice for training videos. You discuss with the legal adviser.</a:t>
            </a:r>
          </a:p>
          <a:p>
            <a:r>
              <a:t>Role A: Sue Lam, project manager (you) Role B: Mr Vale, legal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(Sue): Mr Vale, we’d like to use an AI clone of our presenter’s voice for training videos in several languages.</a:t>
            </a:r>
          </a:p>
          <a:p>
            <a:r>
              <a:t>B (Mr Vale): Interesting. Has she agreed?</a:t>
            </a:r>
          </a:p>
          <a:p>
            <a:r>
              <a:t>A: She’s open to it, but nothing is signed yet.</a:t>
            </a:r>
          </a:p>
          <a:p>
            <a:r>
              <a:t>B: Then consent is the first issue. It should be written, and it should specify how the voice may be used and for how long.</a:t>
            </a:r>
          </a:p>
          <a:p>
            <a:r>
              <a:t>A: Should she be paid?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I’d say yes, ideally through a licence agreement. Otherwise there could be disputes later.</a:t>
            </a:r>
          </a:p>
          <a:p>
            <a:r>
              <a:t>A: What about the risk of misuse?</a:t>
            </a:r>
          </a:p>
          <a:p>
            <a:r>
              <a:t>B: We should store the voice model securely and limit access. And we might add a note that the voice is synthetic.</a:t>
            </a:r>
          </a:p>
          <a:p>
            <a:r>
              <a:t>A: Is that required?</a:t>
            </a:r>
          </a:p>
          <a:p>
            <a:r>
              <a:t>B: In some places, yes. Even if not, it builds trust.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if she leaves the company?</a:t>
            </a:r>
          </a:p>
          <a:p>
            <a:r>
              <a:t>B: The agreement should cover that. Without it, you’d be in a grey area.</a:t>
            </a:r>
          </a:p>
          <a:p>
            <a:r>
              <a:t>A: Thank you. Could you draft the agreement?</a:t>
            </a:r>
          </a:p>
          <a:p>
            <a:r>
              <a:t>B: Yes, by the end of next week.</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96 | </a:t>
            </a:r>
          </a:p>
          <a:p>
            <a:r>
              <a:t>Situation | You discuss a cloning proposal.</a:t>
            </a:r>
          </a:p>
          <a:p>
            <a:r>
              <a:t>Your role (A) | Project manager. Use: ______________</a:t>
            </a:r>
          </a:p>
          <a:p>
            <a:r>
              <a:t>Partner’s role (B) | Legal adviser. Raise consent and misuse issues.</a:t>
            </a:r>
          </a:p>
          <a:p>
            <a:r>
              <a:t>Must use (4 or more) | consent · licence agreement · misuse · synthetic · grey area · limit access</a:t>
            </a:r>
          </a:p>
          <a:p>
            <a:r>
              <a:t>Goal | Identify two risks and agree safeguards.</a:t>
            </a:r>
          </a:p>
          <a:p>
            <a:r>
              <a:t>My notes | ____________________________________________</a:t>
            </a:r>
          </a:p>
          <a:p>
            <a:r>
              <a:t>Mr Vale asks: “What if the clone says something she never said?” Respond.</a:t>
            </a:r>
          </a:p>
          <a:p>
            <a:r>
              <a:t>Explain the difference between a digital clone and a deepfake.</a:t>
            </a:r>
          </a:p>
          <a:p>
            <a:r>
              <a:t>Write three rules for using a person’s voice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good uses of digital cloning? | “It can help… for example…”</a:t>
            </a:r>
          </a:p>
          <a:p>
            <a:r>
              <a:t>2. Should people have the right to control their own likeness? | “Yes, because… / It’s their identity…”</a:t>
            </a:r>
          </a:p>
          <a:p>
            <a:r>
              <a:t>3. How can we protect ourselves from scams that use cloned voices? | “By… / Verifying through another channel…”</a:t>
            </a:r>
          </a:p>
          <a:p>
            <a:r>
              <a:t>4. Would you allow a company to clone your voice? Under what conditions? | “Only if… / I would need…”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would only allow it under strict conditions: written consent that clearly defines the purpose, a time limit, fair payment and the right to withdraw. I’d also want to know how the recording would be stored and who could access it. And I would ask for a guarantee that it wouldn’t be used for anything misleading or embarrassing. Without those protections, I wouldn’t agree.”</a:t>
            </a:r>
          </a:p>
          <a:p>
            <a:r>
              <a:t>strict = 严格的。withdraw = 撤回。guarantee = 保证。misleading = 误导的。</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Fake voice is dangerous. | Cloned voices can be used to deceive people. | 具体</a:t>
            </a:r>
          </a:p>
          <a:p>
            <a:r>
              <a:t>Don’t use my face. | I don’t consent to the use of my likeness. | 正式</a:t>
            </a:r>
          </a:p>
          <a:p>
            <a:r>
              <a:t>The law is not clear. | The law is a grey area. | 习语</a:t>
            </a:r>
          </a:p>
          <a:p>
            <a:r>
              <a:t>Check him. | Verify through another channel. | 术语</a:t>
            </a:r>
          </a:p>
          <a:p>
            <a:r>
              <a:t>They made it by AI. | It was generated by AI. | 被动</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technology: “The voice was generated by AI.” / “Consent should be obtained.”</a:t>
            </a:r>
          </a:p>
          <a:p>
            <a:r>
              <a:t>Relative clauses: a person whose voice is used, a clone that sounds real.</a:t>
            </a:r>
          </a:p>
          <a:p>
            <a:r>
              <a:t>Conditionals: I would agree only if… / Unless consent is given, …</a:t>
            </a:r>
          </a:p>
          <a:p>
            <a:r>
              <a:t>Verification phrases: double-check, verify, confirm through another channel.</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clone my voice without agree.  →  ✓ They cloned my voice without my consent.  (consent)</a:t>
            </a:r>
          </a:p>
          <a:p>
            <a:r>
              <a:t>✗ The deepfake is dangerous thing.  →  ✓ Deepfakes are dangerous.  (复数)</a:t>
            </a:r>
          </a:p>
          <a:p>
            <a:r>
              <a:t>✗ Companies must to get permission.  →  ✓ Companies must get permission.  (must + 原形)</a:t>
            </a:r>
          </a:p>
          <a:p>
            <a:r>
              <a:t>Mistake Watch: Check allow sb to, must + base verb, and uncountable permission / consent.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don’t allow them use my voice.  →  ✓ I don’t allow them to use my voice.  (allow sb to)</a:t>
            </a:r>
          </a:p>
          <a:p>
            <a:r>
              <a:t>✗ He pretended to be as my boss.  →  ✓ He pretended to be my boss.  (无 as)</a:t>
            </a:r>
          </a:p>
          <a:p>
            <a:r>
              <a:t>✗ The voice was cloned by AI that it sounded real.  →  ✓ The voice was cloned by AI, so it sounded real.  (因果)</a:t>
            </a:r>
          </a:p>
          <a:p>
            <a:r>
              <a:t>Mistake Watch: Check allow sb to, must + base verb, and uncountable permission / consent.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Law varies: Rules on voice, likeness and AI content differ widely across countries and change fast.</a:t>
            </a:r>
          </a:p>
          <a:p>
            <a:r>
              <a:t>Scam awareness: If you receive an urgent voice request for money, verify through another channel.</a:t>
            </a:r>
          </a:p>
          <a:p>
            <a:r>
              <a:t>Memorials: Using the voice or image of someone who has died raises sensitive ethical questions; seek permission from family.</a:t>
            </a:r>
          </a:p>
          <a:p>
            <a:r>
              <a:t>allow sb to do sth;must + 动词原形;consent / permission 不可数。克隆需要明示同意、公平报酬与明确范围。</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digital cloning and its uses and risks.</a:t>
            </a:r>
          </a:p>
          <a:p>
            <a:r>
              <a:t>I can propose consent and safeguards.</a:t>
            </a:r>
          </a:p>
          <a:p>
            <a:r>
              <a:t>I can use passive voice and relative clauses.</a:t>
            </a:r>
          </a:p>
          <a:p>
            <a:r>
              <a:t>I can use allow sb to and uncountable consent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allow sb to, uncountable consent / permission, and relative clauses.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97 · AI Fraud Goes Industrial AI 欺诈已发展成产业化</a:t>
            </a:r>
          </a:p>
          <a:p>
            <a:r>
              <a:t>Goal: discuss how AI is used in fraud and scams: types of attack, impact on businesses, warning signs, and protective measures; practise advising on security.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fraud = 欺诈;phishing = 网络钓鱼;social engineering = 社会工程学。industrial 在此指“规模化”。第 5 题关键:report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Advise colleagues on spotting and reporting AI-assisted fraud.</a:t>
            </a:r>
          </a:p>
          <a:p>
            <a:r>
              <a:t>Say: types → warning signs → protective steps → what to do if targeted</a:t>
            </a:r>
          </a:p>
          <a:p>
            <a:r>
              <a:t>Useful starters: “Be cautious if…” / “A warning sign is…” / “If you suspect fraud, report it immediately.”</a:t>
            </a:r>
          </a:p>
          <a:p>
            <a:r>
              <a:t>Be cautious if… = 如果……请小心。a warning sign is… 引出警示信号。report it immediately 祈使句。</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Fraud is not new, but AI may be making it easier to carry out at scale. Criminals can generate convincing messages in many languages, create fake websites quickly and, in some cases, imitate voices or faces. Security experts warn that businesses are targeted with emails that appear to come from a senior manager, urgent calls requesting payments and fake invoices. The message is often designed to create pressure: “Pay now, it’s confidential.” Warning signs include unusual urgency, requests to bypass normal procedures, changes to bank details and small errors in addresses. Defences are mostly practical: verify unusual requests through a second channel, use multi-step approval for payments, train staff regularly and report suspected incidents quickly. No single tool can stop every scam, but good habits make attacks much harder to succeed.</a:t>
            </a:r>
          </a:p>
          <a:p>
            <a:r>
              <a:t>at scale = 大规模。bypass = 绕过。incident = 事件。procedure = 流程。</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may AI help criminals?</a:t>
            </a:r>
          </a:p>
          <a:p>
            <a:r>
              <a:t>A: It can generate convincing messages in many languages, create fake websites quickly and imitate voices or faces.</a:t>
            </a:r>
          </a:p>
          <a:p>
            <a:r>
              <a:t>Q2. What are some warning signs?</a:t>
            </a:r>
          </a:p>
          <a:p>
            <a:r>
              <a:t>A: Unusual urgency, requests to bypass procedures, changes to bank details and small errors.</a:t>
            </a:r>
          </a:p>
          <a:p>
            <a:r>
              <a:t>Q3. What practical defences are suggested?</a:t>
            </a:r>
          </a:p>
          <a:p>
            <a:r>
              <a:t>A: Verify requests through a second channel, multi-step approval, staff training and quick reporting.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Fraud and security 欺诈与安全</a:t>
            </a:r>
          </a:p>
          <a:p>
            <a:r>
              <a:t>领读 → 学员跟读 → 请学员用表达造一个和自己工作相关的句子。</a:t>
            </a:r>
          </a:p>
          <a:p>
            <a:r>
              <a:t>fraud (noun (uncountable)) 欺诈 — “Fraud costs businesses millions.”</a:t>
            </a:r>
          </a:p>
          <a:p>
            <a:r>
              <a:t>scam (noun) 骗局 — “I received a scam email.”</a:t>
            </a:r>
          </a:p>
          <a:p>
            <a:r>
              <a:t>phishing (noun) 网络钓鱼 — “Phishing emails look genuine.”</a:t>
            </a:r>
          </a:p>
          <a:p>
            <a:r>
              <a:t>invoice fraud (noun) 发票欺诈 — “Invoice fraud is common.”</a:t>
            </a:r>
          </a:p>
          <a:p>
            <a:r>
              <a:t>cybersecurity (noun) 网络安全 — “Cybersecurity training is mandatory.”</a:t>
            </a:r>
          </a:p>
          <a:p>
            <a:r>
              <a:t>report an incident (verb phrase) 上报事件 — “Please report any incident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Spotting and stopping ★ 识别与阻止</a:t>
            </a:r>
          </a:p>
          <a:p>
            <a:r>
              <a:t>领读 → 学员跟读 → 请学员用表达造一个和自己工作相关的句子。</a:t>
            </a:r>
          </a:p>
          <a:p>
            <a:r>
              <a:t>★ red flag (noun phrase) 危险信号 — “An urgent payment request is a red flag.”</a:t>
            </a:r>
          </a:p>
          <a:p>
            <a:r>
              <a:t>★ social engineering (noun phrase) 社会工程 — “Social engineering tricks people, not systems.”</a:t>
            </a:r>
          </a:p>
          <a:p>
            <a:r>
              <a:t>★ verify (verb) 核实 — “Always verify new bank details.”</a:t>
            </a:r>
          </a:p>
          <a:p>
            <a:r>
              <a:t>★ fall for (phrasal verb) 上当 — “Don’t fall for urgent requests.”</a:t>
            </a:r>
          </a:p>
          <a:p>
            <a:r>
              <a:t>★ two-factor authentication (noun phrase) 双重验证 — “Use two-factor authentication.”</a:t>
            </a:r>
          </a:p>
          <a:p>
            <a:r>
              <a:t>★ better safe than sorry (idiom) 宁可谨慎 — “Better safe than sorry: check again.”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fraud / scam / Phishing / cybersecurity / red flag / verify</a:t>
            </a:r>
          </a:p>
          <a:p>
            <a:r>
              <a:t>1. Online _______ is growing in many countries. → fraud</a:t>
            </a:r>
          </a:p>
          <a:p>
            <a:r>
              <a:t>2. The email was a _______ designed to steal passwords. → scam</a:t>
            </a:r>
          </a:p>
          <a:p>
            <a:r>
              <a:t>3. _______ emails often pretend to come from a bank. → Phishing</a:t>
            </a:r>
          </a:p>
          <a:p>
            <a:r>
              <a:t>4. All staff must attend _______ training. → cybersecurity</a:t>
            </a:r>
          </a:p>
          <a:p>
            <a:r>
              <a:t>5. An unusual request for urgent payment is a _______. → red flag</a:t>
            </a:r>
          </a:p>
          <a:p>
            <a:r>
              <a:t>6. Always _______ new bank details by phone. → verify</a:t>
            </a:r>
          </a:p>
          <a:p>
            <a:r>
              <a:t>Mistake Watch (拼写与搭配): fraud (uncountable), fraudulent, phishing (ph-), cybersecurity (one word). Commit fraud, be a victim of fraud, fall victim to. Report a crime to the police. Verify, double-check. Suspicious (not “suspecious”). Steal money (take) vs rob a person/bank. Transfer money to an account.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Warning colleagues about fraud 提醒同事防范欺诈</a:t>
            </a:r>
          </a:p>
          <a:p>
            <a:r>
              <a:t>情景：As the finance manager, you brief a team member after receiving a suspicious payment request.</a:t>
            </a:r>
          </a:p>
          <a:p>
            <a:r>
              <a:t>Role A: Helen Ma, finance manager (you) Role B: Jack Rowe, accounts assistant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(Helen): Jack, I want to talk about the email you forwarded. Thank you for flagging it.</a:t>
            </a:r>
          </a:p>
          <a:p>
            <a:r>
              <a:t>B (Jack): It looked like it came from the CEO, asking for an urgent transfer.</a:t>
            </a:r>
          </a:p>
          <a:p>
            <a:r>
              <a:t>A: That’s a classic red flag: urgency, secrecy and a request to bypass the normal process.</a:t>
            </a:r>
          </a:p>
          <a:p>
            <a:r>
              <a:t>B: Was it a scam?</a:t>
            </a:r>
          </a:p>
          <a:p>
            <a:r>
              <a:t>A: Almost certainly. Messages like that are now easier to produce convincingly, perhaps with AI help.</a:t>
            </a:r>
          </a:p>
          <a:p>
            <a:r>
              <a:t>B: What should I do in future?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Verify any unusual request through a second channel, such as a phone call to a known number.</a:t>
            </a:r>
          </a:p>
          <a:p>
            <a:r>
              <a:t>B: And payments?</a:t>
            </a:r>
          </a:p>
          <a:p>
            <a:r>
              <a:t>A: We use two-step approval. Nobody can make a large transfer alone.</a:t>
            </a:r>
          </a:p>
          <a:p>
            <a:r>
              <a:t>B: What if I make a mistake?</a:t>
            </a:r>
          </a:p>
          <a:p>
            <a:r>
              <a:t>A: Report it immediately. Speed matters, and nobody will be blamed for reporting honestly.</a:t>
            </a:r>
          </a:p>
          <a:p>
            <a:r>
              <a:t>B: That’s reassuring. Can we have training on this?</a:t>
            </a:r>
          </a:p>
          <a:p>
            <a:r>
              <a:t>A: Yes, I’ll arrange a session next week.</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97 | </a:t>
            </a:r>
          </a:p>
          <a:p>
            <a:r>
              <a:t>Situation | You warn about fraud.</a:t>
            </a:r>
          </a:p>
          <a:p>
            <a:r>
              <a:t>Your role (A) | Finance manager. Scam type: ______________</a:t>
            </a:r>
          </a:p>
          <a:p>
            <a:r>
              <a:t>Partner’s role (B) | Assistant. Ask what to do.</a:t>
            </a:r>
          </a:p>
          <a:p>
            <a:r>
              <a:t>Must use (4 or more) | red flag · urgency · verify · second channel · two-step approval · report immediately</a:t>
            </a:r>
          </a:p>
          <a:p>
            <a:r>
              <a:t>Goal | Explain warning signs and the procedure to follow.</a:t>
            </a:r>
          </a:p>
          <a:p>
            <a:r>
              <a:t>My notes | ____________________________________________</a:t>
            </a:r>
          </a:p>
          <a:p>
            <a:r>
              <a:t>Jack says: “But it came from the CEO’s address.” Respond.</a:t>
            </a:r>
          </a:p>
          <a:p>
            <a:r>
              <a:t>Write a short alert email to staff about a scam.</a:t>
            </a:r>
          </a:p>
          <a:p>
            <a:r>
              <a:t>Explain what to do if you click on a suspicious link.</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Have you ever received a scam message? What did you do? | “I once got… so I…”</a:t>
            </a:r>
          </a:p>
          <a:p>
            <a:r>
              <a:t>2. Why do scams still work? | “Because they exploit… / People are busy and…”</a:t>
            </a:r>
          </a:p>
          <a:p>
            <a:r>
              <a:t>3. What is the best defence for companies? | “A mix of training and procedures…”</a:t>
            </a:r>
          </a:p>
          <a:p>
            <a:r>
              <a:t>4. Should banks refund victims of scams? | “It depends on… / In some cases…”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“Scams still work because they exploit human psychology: urgency, fear, trust and routine. People are busy, so they respond quickly without checking. Criminals also keep changing their methods, and AI can help them to make messages look more convincing. That’s why training and simple procedures, such as always verifying payment changes, are so important. Technology helps, but people remain the front line.”</a:t>
            </a:r>
          </a:p>
          <a:p>
            <a:r>
              <a:t>exploit = 利用。psychology = 心理。front line = 第一道防线。”keep changing” = 不断变化。</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This is fake. | I think this might be a scam. | 谨慎</a:t>
            </a:r>
          </a:p>
          <a:p>
            <a:r>
              <a:t>Be careful. | Be cautious with unexpected requests. | 具体</a:t>
            </a:r>
          </a:p>
          <a:p>
            <a:r>
              <a:t>Don’t click. | Don’t click on links from unknown senders. | 完整</a:t>
            </a:r>
          </a:p>
          <a:p>
            <a:r>
              <a:t>I was cheated. | I was a victim of fraud. | 正式</a:t>
            </a:r>
          </a:p>
          <a:p>
            <a:r>
              <a:t>Tell the police. | Report it to the police. | 搭配</a:t>
            </a:r>
          </a:p>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Imperatives for instructions: “Don’t click. Verify. Report.”</a:t>
            </a:r>
          </a:p>
          <a:p>
            <a:r>
              <a:t>Cautious inference: might be, could be, looks like, seems to, almost certainly.</a:t>
            </a:r>
          </a:p>
          <a:p>
            <a:r>
              <a:t>Conditionals for procedures: If you receive a suspicious email, forward it to IT.</a:t>
            </a:r>
          </a:p>
          <a:p>
            <a:r>
              <a:t>Linking steps: first, then, after that, finally.</a:t>
            </a:r>
          </a:p>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was scammed 1000 pounds.  →  ✓ I lost £1,000 to a scam.  (搭配)</a:t>
            </a:r>
          </a:p>
          <a:p>
            <a:r>
              <a:t>✗ He cheated me my money.  →  ✓ He cheated me out of my money.  (cheat sb out of)</a:t>
            </a:r>
          </a:p>
          <a:p>
            <a:r>
              <a:t>✗ Please verify before to pay.  →  ✓ Please verify before paying.  (before + -ing)</a:t>
            </a:r>
          </a:p>
          <a:p>
            <a:r>
              <a:t>Mistake Watch: Check uncountable fraud, word order with report, and stative verbs (suspect).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Report to the police it.  →  ✓ Report it to the police.  (语序)</a:t>
            </a:r>
          </a:p>
          <a:p>
            <a:r>
              <a:t>✗ The fraud are increasing.  →  ✓ Fraud is increasing.  (不可数)</a:t>
            </a:r>
          </a:p>
          <a:p>
            <a:r>
              <a:t>✗ I’m suspecting that email.  →  ✓ I suspect that email is a scam.  (状态动词)</a:t>
            </a:r>
          </a:p>
          <a:p>
            <a:r>
              <a:t>Mistake Watch: Check uncountable fraud, word order with report, and stative verbs (suspect).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Speed: Reporting quickly is encouraged; blame culture prevents reporting.</a:t>
            </a:r>
          </a:p>
          <a:p>
            <a:r>
              <a:t>Official channels: Contact banks and authorities via numbers you know are genuine.</a:t>
            </a:r>
          </a:p>
          <a:p>
            <a:r>
              <a:t>Don’t be embarrassed: Anyone can be targeted; sharing experience helps others.</a:t>
            </a:r>
          </a:p>
          <a:p>
            <a:r>
              <a:t>fraud 不可数;report it to…;before + -ing。遇到紧急转账要求先核实,再汇报。</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types and warning signs of scams.</a:t>
            </a:r>
          </a:p>
          <a:p>
            <a:r>
              <a:t>I can advise on prevention and reporting.</a:t>
            </a:r>
          </a:p>
          <a:p>
            <a:r>
              <a:t>I can use imperatives and conditionals for procedures.</a:t>
            </a:r>
          </a:p>
          <a:p>
            <a:r>
              <a:t>I can use uncountable fraud and stative verbs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fraud, imperatives and conditionals for procedures, and stative verbs.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98 · AI and Content Rights AI 与内容版权</a:t>
            </a:r>
          </a:p>
          <a:p>
            <a:r>
              <a:t>Goal: discuss copyright and content rights in the AI era: training data, creators’ rights, licensing, fair use and what businesses should do.</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copyright = 版权;licence = 授权;fair use = 合理使用(美国概念);royalty = 版税。本课只讨论一般性争议,不构成法律意见。</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balanced arguments about AI and copyright.</a:t>
            </a:r>
          </a:p>
          <a:p>
            <a:r>
              <a:t>Say: the issue → creators’ view → AI developers’ view → possible solutions</a:t>
            </a:r>
          </a:p>
          <a:p>
            <a:r>
              <a:t>Useful starters: “Creators argue that…” / “AI developers respond that…” / “A possible compromise would be…”</a:t>
            </a:r>
          </a:p>
          <a:p>
            <a:r>
              <a:t>argue that / respond that 引述观点。A possible compromise would be… 提出折中。</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AI systems learn from huge collections of text, images and music, and this raises difficult questions about rights. Many writers, artists and musicians argue that their work should not be used to train commercial systems without permission or payment, since the results can compete with them. AI developers often respond that learning from examples is similar to how humans learn, and that such use may be allowed under existing exceptions in some countries. The law is still developing, and different countries may reach different conclusions. Courts, regulators and industry groups are all examining the issue. Possible solutions include licensing deals, opt-out systems for creators, clear labelling and payment schemes. Meanwhile, businesses using AI-generated material should check the terms of their tools, avoid copying identifiable styles or works and keep records of how content was produced. (General information only, not legal advice.)</a:t>
            </a:r>
          </a:p>
          <a:p>
            <a:r>
              <a:t>exception = 例外。licensing deal = 授权协议。opt-out = 退出机制。identifiable = 可识别的。</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creators argue?</a:t>
            </a:r>
          </a:p>
          <a:p>
            <a:r>
              <a:t>A: Their work shouldn’t be used to train commercial systems without permission or payment.</a:t>
            </a:r>
          </a:p>
          <a:p>
            <a:r>
              <a:t>Q2. What do AI developers often respond?</a:t>
            </a:r>
          </a:p>
          <a:p>
            <a:r>
              <a:t>A: Learning from examples is similar to how humans learn and may be allowed under existing exceptions in some countries.</a:t>
            </a:r>
          </a:p>
          <a:p>
            <a:r>
              <a:t>Q3. What should businesses do?</a:t>
            </a:r>
          </a:p>
          <a:p>
            <a:r>
              <a:t>A: Check tool terms, avoid copying identifiable works or styles and keep records.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Copyright vocabulary 版权词汇</a:t>
            </a:r>
          </a:p>
          <a:p>
            <a:r>
              <a:t>领读 → 学员跟读 → 请学员用表达造一个和自己工作相关的句子。</a:t>
            </a:r>
          </a:p>
          <a:p>
            <a:r>
              <a:t>copyright (noun) 版权 — “The book is protected by copyright.”</a:t>
            </a:r>
          </a:p>
          <a:p>
            <a:r>
              <a:t>infringe (verb) 侵犯 — “The use infringed copyright.”</a:t>
            </a:r>
          </a:p>
          <a:p>
            <a:r>
              <a:t>licence / license (noun / verb) 授权 — “We need a licence to use the image.”</a:t>
            </a:r>
          </a:p>
          <a:p>
            <a:r>
              <a:t>royalty (noun) 版税 — “Authors earn royalties.”</a:t>
            </a:r>
          </a:p>
          <a:p>
            <a:r>
              <a:t>public domain (noun) 公有领域 — “The work is in the public domain.”</a:t>
            </a:r>
          </a:p>
          <a:p>
            <a:r>
              <a:t>attribution (noun) 署名 — “Attribution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Rights debates ★ 权利争议</a:t>
            </a:r>
          </a:p>
          <a:p>
            <a:r>
              <a:t>领读 → 学员跟读 → 请学员用表达造一个和自己工作相关的句子。</a:t>
            </a:r>
          </a:p>
          <a:p>
            <a:r>
              <a:t>★ training data (noun phrase) 训练数据 — “Training data may include copyrighted work.”</a:t>
            </a:r>
          </a:p>
          <a:p>
            <a:r>
              <a:t>★ fair use (noun phrase) 合理使用 — “Fair use is a legal concept in some countries.”</a:t>
            </a:r>
          </a:p>
          <a:p>
            <a:r>
              <a:t>★ opt out (phrasal verb) 选择退出 — “Creators want to opt out.”</a:t>
            </a:r>
          </a:p>
          <a:p>
            <a:r>
              <a:t>★ derivative work (noun phrase) 衍生作品 — “A derivative work copies parts of another.”</a:t>
            </a:r>
          </a:p>
          <a:p>
            <a:r>
              <a:t>★ compensate (verb) 补偿 — “Creators should be compensated.”</a:t>
            </a:r>
          </a:p>
          <a:p>
            <a:r>
              <a:t>★ a legal grey area (noun phrase) 法律灰色地带 — “AI content is a legal grey area.”</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copyright / infringe / licence / royalties / public domain / compensated</a:t>
            </a:r>
          </a:p>
          <a:p>
            <a:r>
              <a:t>1. Most books are protected by _______ for many years. → copyright</a:t>
            </a:r>
          </a:p>
          <a:p>
            <a:r>
              <a:t>2. Copying the design without permission may _______ copyright. → infringe</a:t>
            </a:r>
          </a:p>
          <a:p>
            <a:r>
              <a:t>3. We bought a _______ to use the music in our video. → licence</a:t>
            </a:r>
          </a:p>
          <a:p>
            <a:r>
              <a:t>4. Musicians earn _______ when their songs are used. → royalties</a:t>
            </a:r>
          </a:p>
          <a:p>
            <a:r>
              <a:t>5. Works in the _______ can be used freely. → public domain</a:t>
            </a:r>
          </a:p>
          <a:p>
            <a:r>
              <a:t>6. Many creators say they should be _______ for training use. → compensated</a:t>
            </a:r>
          </a:p>
          <a:p>
            <a:r>
              <a:t>Mistake Watch (拼写与搭配): copyright (one word), licence (UK noun) / license (US noun and verb; UK verb: license), infringe (not “infringe on” for formal; both used). Infringe copyright, breach copyright (UK), violate. Hold the copyright to. Royalties (plural). Public domain (no “the” after “in” when generic: “in the public domain” is standard). Fair use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AI and copyright in a company meeting 在公司会议上讨论AI与版权</a:t>
            </a:r>
          </a:p>
          <a:p>
            <a:r>
              <a:t>情景：Your communications team wants to use AI-generated images in campaigns. You discuss risks with the legal adviser.</a:t>
            </a:r>
          </a:p>
          <a:p>
            <a:r>
              <a:t>Role A: Pam Kay, communications manager (you) Role B: Mr Rowe, legal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(Pam): Mr Rowe, we’d like to use AI-generated images in our brochures. Is that safe?</a:t>
            </a:r>
          </a:p>
          <a:p>
            <a:r>
              <a:t>B (Mr Rowe): There are some risks. The law on AI and copyright is still developing.</a:t>
            </a:r>
          </a:p>
          <a:p>
            <a:r>
              <a:t>A: What are the main issues?</a:t>
            </a:r>
          </a:p>
          <a:p>
            <a:r>
              <a:t>B: First, ownership. Depending on the country, it may be unclear who holds the rights to AI-generated images.</a:t>
            </a:r>
          </a:p>
          <a:p>
            <a:r>
              <a:t>A: And second?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The training data. Some creators argue that their work was used without permission.</a:t>
            </a:r>
          </a:p>
          <a:p>
            <a:r>
              <a:t>A: So what should we do?</a:t>
            </a:r>
          </a:p>
          <a:p>
            <a:r>
              <a:t>B: Check the terms of the tool carefully. Some provide licences for commercial use. Others don’t.</a:t>
            </a:r>
          </a:p>
          <a:p>
            <a:r>
              <a:t>A: Anything else?</a:t>
            </a:r>
          </a:p>
          <a:p>
            <a:r>
              <a:t>B: Avoid prompts that copy a living artist’s style, and keep records of how each image was made.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Should we mention AI use?</a:t>
            </a:r>
          </a:p>
          <a:p>
            <a:r>
              <a:t>B: It’s good practice, and in some places it might become required.</a:t>
            </a:r>
          </a:p>
          <a:p>
            <a:r>
              <a:t>A: Thank you. Could you draft a short policy?</a:t>
            </a:r>
          </a:p>
          <a:p>
            <a:r>
              <a:t>B: Of course. I’ll send it by Friday. This is general advice, not a formal opinion.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98 | </a:t>
            </a:r>
          </a:p>
          <a:p>
            <a:r>
              <a:t>Situation | You discuss AI content and copyright.</a:t>
            </a:r>
          </a:p>
          <a:p>
            <a:r>
              <a:t>Your role (A) | Communications manager. Plan: ______________</a:t>
            </a:r>
          </a:p>
          <a:p>
            <a:r>
              <a:t>Partner’s role (B) | Legal adviser. Warn of two risks.</a:t>
            </a:r>
          </a:p>
          <a:p>
            <a:r>
              <a:t>Must use (4 or more) | copyright · licence · training data · terms of use · keep records · good practice</a:t>
            </a:r>
          </a:p>
          <a:p>
            <a:r>
              <a:t>Goal | Ask about risks and agree three precautions.</a:t>
            </a:r>
          </a:p>
          <a:p>
            <a:r>
              <a:t>My notes | ____________________________________________</a:t>
            </a:r>
          </a:p>
          <a:p>
            <a:r>
              <a:t>Mr Rowe says: “The law is unclear.” Respond practically.</a:t>
            </a:r>
          </a:p>
          <a:p>
            <a:r>
              <a:t>Write one paragraph for a policy on AI content.</a:t>
            </a:r>
          </a:p>
          <a:p>
            <a:r>
              <a:t>Explain the difference between inspiration and infringement.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creators be paid when AI learns from their work? | “I think they should, because… / There are difficulties…”</a:t>
            </a:r>
          </a:p>
          <a:p>
            <a:r>
              <a:t>2. Who should own AI-generated content? | “It depends… the user, the developer…”</a:t>
            </a:r>
          </a:p>
          <a:p>
            <a:r>
              <a:t>3. How can businesses use AI content safely? | “By checking… / Keeping records…”</a:t>
            </a:r>
          </a:p>
          <a:p>
            <a:r>
              <a:t>4. Is it fair to copy a style? | “A style isn’t always protected, but…”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creators should have some form of compensation or control, especially when their work is used commercially. Without that, the people who create valuable content could be undermined by systems that learned from them. The practical difficulty is how to do this fairly, for example, through licensing deals or collective payment schemes. But the principle seems reasonable to me: if you build a business using someone’s work, you should share the benefit.”</a:t>
            </a:r>
          </a:p>
          <a:p>
            <a:r>
              <a:t>undermine = 削弱。collective = 集体的。”practical difficulty” = 实际困难。principle = 原则。</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AI steals art. | Some artists feel AI uses their work without permission. | 谨慎</a:t>
            </a:r>
          </a:p>
          <a:p>
            <a:r>
              <a:t>It’s free. | It may be available without charge, but the licence may restrict use. | 完整</a:t>
            </a:r>
          </a:p>
          <a:p>
            <a:r>
              <a:t>It’s legal. | It appears to be permitted, but we should check. | 谨慎</a:t>
            </a:r>
          </a:p>
          <a:p>
            <a:r>
              <a:t>Who owns it? | Who holds the rights? | 术语</a:t>
            </a:r>
          </a:p>
          <a:p>
            <a:r>
              <a:t>Don’t copy. | Avoid imitating identifiable works. | 具体</a:t>
            </a:r>
          </a:p>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Reporting positions: argue that, claim that, maintain that, respond that.</a:t>
            </a:r>
          </a:p>
          <a:p>
            <a:r>
              <a:t>Modal verbs for law: may, might, could, must, is allowed to, is required to.</a:t>
            </a:r>
          </a:p>
          <a:p>
            <a:r>
              <a:t>Disclaimers: This is general information, not legal advice.</a:t>
            </a:r>
          </a:p>
          <a:p>
            <a:r>
              <a:t>Hedged legal language: It appears that, in some countries, depending on the jurisdiction.</a:t>
            </a:r>
          </a:p>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AI steal our work.  →  ✓ AI may use our work without permission.  (避免指控)</a:t>
            </a:r>
          </a:p>
          <a:p>
            <a:r>
              <a:t>✗ Copyright is belong to the author.  →  ✓ Copyright belongs to the author.  (belong)</a:t>
            </a:r>
          </a:p>
          <a:p>
            <a:r>
              <a:t>✗ He got a license for infringe.  →  ✓ He obtained a licence to use it.  (搭配)</a:t>
            </a:r>
          </a:p>
          <a:p>
            <a:r>
              <a:t>Mistake Watch: Check belong to (no passive), without + -ing, and licence / license.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law are unclear.  →  ✓ The law is unclear.  (单数)</a:t>
            </a:r>
          </a:p>
          <a:p>
            <a:r>
              <a:t>✗ I have a copyright of the picture.  →  ✓ I hold the copyright to the picture.  (hold … to)</a:t>
            </a:r>
          </a:p>
          <a:p>
            <a:r>
              <a:t>✗ They copy my idea without ask.  →  ✓ They copied my idea without asking.  (without + -ing)</a:t>
            </a:r>
          </a:p>
          <a:p>
            <a:r>
              <a:t>Mistake Watch: Check belong to (no passive), without + -ing, and licence / license.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Law varies: Copyright rules differ by country, and AI-specific rules are developing. Get professional advice.</a:t>
            </a:r>
          </a:p>
          <a:p>
            <a:r>
              <a:t>Attribution: Crediting sources is a basic professional courtesy.</a:t>
            </a:r>
          </a:p>
          <a:p>
            <a:r>
              <a:t>Company policy: Many organisations restrict AI-generated content in external materials until rules are clearer.</a:t>
            </a:r>
          </a:p>
          <a:p>
            <a:r>
              <a:t>belong to 不用被动;without + -ing;licence(英名词)/ license(动词、美名词)。AI 内容版权仍在发展中,商业使用前要核对条款。</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present balanced arguments on AI and copyright.</a:t>
            </a:r>
          </a:p>
          <a:p>
            <a:r>
              <a:t>I can recommend precautions for using AI content.</a:t>
            </a:r>
          </a:p>
          <a:p>
            <a:r>
              <a:t>I can use reporting verbs and hedged legal language.</a:t>
            </a:r>
          </a:p>
          <a:p>
            <a:r>
              <a:t>I can use belong to and without + -ing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reporting verbs (argue, respond), belong to, and hedged legal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99 · AI on Trial 人工智能受审判</a:t>
            </a:r>
          </a:p>
          <a:p>
            <a:r>
              <a:t>Goal: discuss accountability and public scrutiny of AI: who is responsible when AI makes mistakes, lawsuits and regulation, trust, and how to present an argument for and against.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accountability = 问责;liable = 负有法律责任的;explainability = 可解释性。题目 on trial 既指法律诉讼也指公众检验,这里主要讨论一般性问题。</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Argue for or against holding AI developers accountable.</a:t>
            </a:r>
          </a:p>
          <a:p>
            <a:r>
              <a:t>Say: position → reasons → counterargument → conclusion</a:t>
            </a:r>
          </a:p>
          <a:p>
            <a:r>
              <a:t>Useful starters: “I’d argue that…” / “It could be objected that…” / “On balance, …”</a:t>
            </a:r>
          </a:p>
          <a:p>
            <a:r>
              <a:t>I’d argue that… 表达论点。It could be objected that… 提出反对意见。On balance 得出结论。</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As AI systems are used to make or support decisions about loans, hiring, medical advice and more, a serious question arises: when something goes wrong, who is responsible? The developer who built the system? The company that deployed it? The user who relied on it? Courts and regulators in various countries are beginning to examine such cases, and new laws are being discussed. Many experts argue for clear accountability, so that harmed people can seek remedies and organisations take safety seriously. Others warn that overly strict rules could slow useful innovation. Common ideas include requiring risk assessments for high-impact uses, keeping records of how systems make decisions, allowing human review and giving people the right to challenge automated decisions. Trust, in the end, depends on whether people can understand, question and correct what AI does.</a:t>
            </a:r>
          </a:p>
          <a:p>
            <a:r>
              <a:t>deploy = 部署。remedy = 补救。high-impact = 高影响。”seek remedies” = 寻求救济。</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Who might be responsible when AI goes wrong?</a:t>
            </a:r>
          </a:p>
          <a:p>
            <a:r>
              <a:t>A: The developer, the deploying company or the user who relied on it.</a:t>
            </a:r>
          </a:p>
          <a:p>
            <a:r>
              <a:t>Q2. What worry do some experts raise about strict rules?</a:t>
            </a:r>
          </a:p>
          <a:p>
            <a:r>
              <a:t>A: They could slow useful innovation.</a:t>
            </a:r>
          </a:p>
          <a:p>
            <a:r>
              <a:t>Q3. What common ideas are mentioned?</a:t>
            </a:r>
          </a:p>
          <a:p>
            <a:r>
              <a:t>A: Risk assessments, record-keeping, human review and the right to challenge automated decisions.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Accountability language 问责用语</a:t>
            </a:r>
          </a:p>
          <a:p>
            <a:r>
              <a:t>领读 → 学员跟读 → 请学员用表达造一个和自己工作相关的句子。</a:t>
            </a:r>
          </a:p>
          <a:p>
            <a:r>
              <a:t>accountability (noun) 问责 — “Accountability is essential.”</a:t>
            </a:r>
          </a:p>
          <a:p>
            <a:r>
              <a:t>liability (noun) 法律责任 — “The company accepts liability.”</a:t>
            </a:r>
          </a:p>
          <a:p>
            <a:r>
              <a:t>regulation (noun) 监管 — “Stronger regulation is expected.”</a:t>
            </a:r>
          </a:p>
          <a:p>
            <a:r>
              <a:t>lawsuit (noun) 诉讼 — “A lawsuit was filed.”</a:t>
            </a:r>
          </a:p>
          <a:p>
            <a:r>
              <a:t>transparency (noun) 透明度 — “Transparency builds trust.”</a:t>
            </a:r>
          </a:p>
          <a:p>
            <a:r>
              <a:t>risk assessment (noun phrase) 风险评估 — “A risk assessment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Arguing for and against ★ 正反论证</a:t>
            </a:r>
          </a:p>
          <a:p>
            <a:r>
              <a:t>领读 → 学员跟读 → 请学员用表达造一个和自己工作相关的句子。</a:t>
            </a:r>
          </a:p>
          <a:p>
            <a:r>
              <a:t>★ hold (someone) accountable (collocation) 追究责任 — “We must hold developers accountable.”</a:t>
            </a:r>
          </a:p>
          <a:p>
            <a:r>
              <a:t>★ burden of proof (noun phrase) 举证责任 — “The burden of proof is on the company.”</a:t>
            </a:r>
          </a:p>
          <a:p>
            <a:r>
              <a:t>★ stifle innovation (collocation) 扼杀创新 — “Over-regulation may stifle innovation.”</a:t>
            </a:r>
          </a:p>
          <a:p>
            <a:r>
              <a:t>★ explainable (adjective) 可解释的 — “Decisions should be explainable.”</a:t>
            </a:r>
          </a:p>
          <a:p>
            <a:r>
              <a:t>★ seek redress (collocation) 寻求补救 — “People should be able to seek redress.”</a:t>
            </a:r>
          </a:p>
          <a:p>
            <a:r>
              <a:t>★ on balance (adverbial phrase) 总的来说 — “On balance, I support regulation.”</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accountability / liability / regulation / lawsuit / Transparency / risk assessment</a:t>
            </a:r>
          </a:p>
          <a:p>
            <a:r>
              <a:t>1. Clear _______ means someone is responsible for AI decisions. → accountability</a:t>
            </a:r>
          </a:p>
          <a:p>
            <a:r>
              <a:t>2. The company accepted _______ for the error. → liability</a:t>
            </a:r>
          </a:p>
          <a:p>
            <a:r>
              <a:t>3. Stronger _______ of AI is being discussed in many countries. → regulation</a:t>
            </a:r>
          </a:p>
          <a:p>
            <a:r>
              <a:t>4. A customer filed a _______ after the system’s mistake. → lawsuit</a:t>
            </a:r>
          </a:p>
          <a:p>
            <a:r>
              <a:t>5. _______ helps people to understand how a system works. → Transparency</a:t>
            </a:r>
          </a:p>
          <a:p>
            <a:r>
              <a:t>6. A _______ must be completed before the system is used. → risk assessment</a:t>
            </a:r>
          </a:p>
          <a:p>
            <a:r>
              <a:t>Mistake Watch (拼写与搭配): liability / liable (not “liabel”), accountable (not “acountable”), regulation. Be liable for, be accountable for/to, take responsibility for. File / bring a lawsuit against. In court / on trial (a person is on trial). Fine (noun), penalty. Regulate (verb), regulator (person/body).</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Debating accountability for AI 辩论AI问责</a:t>
            </a:r>
          </a:p>
          <a:p>
            <a:r>
              <a:t>情景：In a seminar, two participants debate whether AI developers should be legally liable for harm.</a:t>
            </a:r>
          </a:p>
          <a:p>
            <a:r>
              <a:t>Role A: Quinn Lee, speaker for (you) Role B: Dr Hayes, speaker against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(Quinn): I’d argue that developers should be accountable, because they design the systems and understand the risks best.</a:t>
            </a:r>
          </a:p>
          <a:p>
            <a:r>
              <a:t>B (Dr Hayes): But they can’t control how every customer uses them. Isn’t it fairer to hold the user responsible?</a:t>
            </a:r>
          </a:p>
          <a:p>
            <a:r>
              <a:t>A: In many cases, both share responsibility. Developers should test for foreseeable harms and warn users.</a:t>
            </a:r>
          </a:p>
          <a:p>
            <a:r>
              <a:t>B: It could be objected that strict liability might stifle innovation. Smaller firms might not take risks.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fair point. But a lack of accountability can also harm public trust, which hurts innovation in the long run.</a:t>
            </a:r>
          </a:p>
          <a:p>
            <a:r>
              <a:t>B: What would you propose?</a:t>
            </a:r>
          </a:p>
          <a:p>
            <a:r>
              <a:t>A: Clear rules based on risk: stricter requirements for high-impact uses, such as healthcare or credit.</a:t>
            </a:r>
          </a:p>
          <a:p>
            <a:r>
              <a:t>B: I could accept that. I’d add that human review should be mandatory for those uses.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Agreed. And people should have a way to challenge automated decisions.</a:t>
            </a:r>
          </a:p>
          <a:p>
            <a:r>
              <a:t>B: On balance, then, we agree on shared accountability and proportionate rules.</a:t>
            </a:r>
          </a:p>
          <a:p>
            <a:r>
              <a:t>A: Yes. The details matter, of course.</a:t>
            </a:r>
          </a:p>
          <a:p>
            <a:r>
              <a:t>B: They do. Thank you for a constructive debate.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99 | </a:t>
            </a:r>
          </a:p>
          <a:p>
            <a:r>
              <a:t>Situation | You debate AI accountability.</a:t>
            </a:r>
          </a:p>
          <a:p>
            <a:r>
              <a:t>Your role (A) | Speaker. Side: ______________</a:t>
            </a:r>
          </a:p>
          <a:p>
            <a:r>
              <a:t>Partner’s role (B) | Speaker. Opposing side.</a:t>
            </a:r>
          </a:p>
          <a:p>
            <a:r>
              <a:t>Must use (4 or more) | I’d argue that · it could be objected · hold accountable · proportionate · on balance · mandatory</a:t>
            </a:r>
          </a:p>
          <a:p>
            <a:r>
              <a:t>Goal | Present an argument, handle an objection and reach a conclusion.</a:t>
            </a:r>
          </a:p>
          <a:p>
            <a:r>
              <a:t>My notes | ____________________________________________</a:t>
            </a:r>
          </a:p>
          <a:p>
            <a:r>
              <a:t>Dr Hayes says: “Regulation always lags behind technology.” Respond.</a:t>
            </a:r>
          </a:p>
          <a:p>
            <a:r>
              <a:t>Explain “explainable AI” simply.</a:t>
            </a:r>
          </a:p>
          <a:p>
            <a:r>
              <a:t>Write a closing statement of two sentences.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Who should be responsible when AI makes a harmful mistake? | “I think it should be shared… / Mainly the…”</a:t>
            </a:r>
          </a:p>
          <a:p>
            <a:r>
              <a:t>2. Should high-risk AI uses face stricter rules? | “Yes, because… / It makes sense to…”</a:t>
            </a:r>
          </a:p>
          <a:p>
            <a:r>
              <a:t>3. What would make you trust an AI system more? | “Knowing… / If it were…”</a:t>
            </a:r>
          </a:p>
          <a:p>
            <a:r>
              <a:t>4. Can regulation keep up with fast-moving technology? | “It’s difficult, but… / Flexible rules…”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“High-risk uses, such as medical diagnosis, credit decisions or criminal justice, should definitely face stricter rules, because mistakes can seriously harm people. Lower-risk uses, like a music recommendation, don’t need the same level of control. A risk-based approach protects people where it matters most without slowing down everything else. The key is to define “high risk” carefully and review it regularly.”</a:t>
            </a:r>
          </a:p>
          <a:p>
            <a:r>
              <a:t>criminal justice = 刑事司法。”risk-based approach” = 基于风险的方法。”slowing down” = 拖慢。define = 定义。</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Who is wrong? | Who bears responsibility? | 正式</a:t>
            </a:r>
          </a:p>
          <a:p>
            <a:r>
              <a:t>It’s the company’s fault. | The company may be held liable. | 谨慎</a:t>
            </a:r>
          </a:p>
          <a:p>
            <a:r>
              <a:t>This is a bad idea. | I have reservations about this approach. | 委婉</a:t>
            </a:r>
          </a:p>
          <a:p>
            <a:r>
              <a:t>Make rules. | Introduce proportionate regulation. | 正式</a:t>
            </a:r>
          </a:p>
          <a:p>
            <a:r>
              <a:t>People can complain. | People should be able to seek redress. | 正式</a:t>
            </a:r>
          </a:p>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Structuring an argument: Firstly… Secondly… However… On balance…</a:t>
            </a:r>
          </a:p>
          <a:p>
            <a:r>
              <a:t>Handling objections: That’s a fair point, but… / I take your point; nevertheless…</a:t>
            </a:r>
          </a:p>
          <a:p>
            <a:r>
              <a:t>Passive for responsibility: “The company may be held liable.” / “Decisions should be reviewed.”</a:t>
            </a:r>
          </a:p>
          <a:p>
            <a:r>
              <a:t>Formal register: proportionate, mandatory, foreseeable, accountable, redress.</a:t>
            </a:r>
          </a:p>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developer is responsible to the mistake.  →  ✓ The developer is responsible for the mistake.  (responsible for)</a:t>
            </a:r>
          </a:p>
          <a:p>
            <a:r>
              <a:t>✗ They were on trial because the AI.  →  ✓ They were taken to court because of the AI’s error.  (because of)</a:t>
            </a:r>
          </a:p>
          <a:p>
            <a:r>
              <a:t>✗ AI has to be accountable.  →  ✓ Those who deploy AI have to be accountable.  (逻辑主语)</a:t>
            </a:r>
          </a:p>
          <a:p>
            <a:r>
              <a:t>Mistake Watch: Check responsible for, subject-verb agreement in relative clauses, and discuss (no about).</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agree with regulations.  →  ✓ I agree with regulation.  (agree)</a:t>
            </a:r>
          </a:p>
          <a:p>
            <a:r>
              <a:t>✗ It’s the people who is responsible.  →  ✓ It’s the people who are responsible.  (主谓一致)</a:t>
            </a:r>
          </a:p>
          <a:p>
            <a:r>
              <a:t>✗ We should discuss about the rules.  →  ✓ We should discuss the rules.  (discuss)</a:t>
            </a:r>
          </a:p>
          <a:p>
            <a:r>
              <a:t>Mistake Watch: Check responsible for, subject-verb agreement in relative clauses, and discuss (no about).</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Debate manners: In English debates, say “I take your point” before disagreeing.</a:t>
            </a:r>
          </a:p>
          <a:p>
            <a:r>
              <a:t>Legal vocabulary: Terms like liability and accountability differ in meaning; define them.</a:t>
            </a:r>
          </a:p>
          <a:p>
            <a:r>
              <a:t>Evidence: Cite cases carefully; legal outcomes vary by place and change over time.</a:t>
            </a:r>
          </a:p>
          <a:p>
            <a:r>
              <a:t>responsible for;who 引导的从句中谓语随先行词(people → are);discuss 不加 about。辩论时先承认对方有理,再提出反驳。</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argue for or against holding AI accountable.</a:t>
            </a:r>
          </a:p>
          <a:p>
            <a:r>
              <a:t>I can respond to objections politely.</a:t>
            </a:r>
          </a:p>
          <a:p>
            <a:r>
              <a:t>I can use formal vocabulary for law and regulation.</a:t>
            </a:r>
          </a:p>
          <a:p>
            <a:r>
              <a:t>I can use responsible for and agreement in relative clauses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responsible for, agreement in relative clauses, and structured argument.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100 · Global Summit Tackles AI Risks 全球共同应对AI风险</a:t>
            </a:r>
          </a:p>
          <a:p>
            <a:r>
              <a:t>Goal: discuss international cooperation on AI safety: why countries meet, what they might agree, obstacles and how to report and discuss news about summits.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summit = 峰会;communiqué = 公报;binding = 有约束力的;voluntary = 自愿的。本课作综合练习,可复习本单元的假设语气、被动语态和谨慎措辞。</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Summarise a (hypothetical) summit outcome and give your view.</a:t>
            </a:r>
          </a:p>
          <a:p>
            <a:r>
              <a:t>Say: who met → what was discussed → what was agreed → what remains unresolved → your view</a:t>
            </a:r>
          </a:p>
          <a:p>
            <a:r>
              <a:t>Useful starters: “Leaders from … met to discuss…” / “They agreed to…” / “It remains to be seen whether…”</a:t>
            </a:r>
          </a:p>
          <a:p>
            <a:r>
              <a:t>agreed to + 动词。It remains to be seen whether… = 有待观察。reportedly = 据报道。</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Because AI is developed and used across borders, many governments argue that no single country can manage its risks alone. At international summits, officials, companies, researchers and civil-society groups discuss issues such as safety testing, misuse by criminals, bias, privacy and the effects on jobs. Reports of such meetings often describe statements of shared principles rather than detailed binding rules. Supporters say these gatherings build trust and create a common language. Critics point out that voluntary commitments are hard to enforce, that countries have different priorities and that rapid technological change makes agreements out of date quickly. A realistic view is that summits are a first step. Their value depends on whether commitments are followed by national laws, cooperation between regulators and ongoing dialogue with all affected groups. (This passage is a generic illustration, not a report of a specific event.)</a:t>
            </a:r>
          </a:p>
          <a:p>
            <a:r>
              <a:t>civil society = 公民社会。binding = 有约束力的。enforce = 执行。dialogue = 对话。</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governments say cooperation is needed?</a:t>
            </a:r>
          </a:p>
          <a:p>
            <a:r>
              <a:t>A: AI is developed and used across borders, so no country can manage its risks alone.</a:t>
            </a:r>
          </a:p>
          <a:p>
            <a:r>
              <a:t>Q2. What do summit reports often contain?</a:t>
            </a:r>
          </a:p>
          <a:p>
            <a:r>
              <a:t>A: Statements of shared principles rather than detailed binding rules.</a:t>
            </a:r>
          </a:p>
          <a:p>
            <a:r>
              <a:t>Q3. What does a summit’s value depend on?</a:t>
            </a:r>
          </a:p>
          <a:p>
            <a:r>
              <a:t>A: Whether commitments are followed by national laws, regulator cooperation and ongoing dialogue.</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Summit and policy language 峰会与政策用语</a:t>
            </a:r>
          </a:p>
          <a:p>
            <a:r>
              <a:t>领读 → 学员跟读 → 请学员用表达造一个和自己工作相关的句子。</a:t>
            </a:r>
          </a:p>
          <a:p>
            <a:r>
              <a:t>summit (noun) 峰会 — “The summit brought together leaders.”</a:t>
            </a:r>
          </a:p>
          <a:p>
            <a:r>
              <a:t>delegate (noun) 代表 — “Delegates met for three days.”</a:t>
            </a:r>
          </a:p>
          <a:p>
            <a:r>
              <a:t>agreement (noun) 协议 — “They reached an agreement.”</a:t>
            </a:r>
          </a:p>
          <a:p>
            <a:r>
              <a:t>voluntary commitment (noun phrase) 自愿承诺 — “Companies signed voluntary commitments.”</a:t>
            </a:r>
          </a:p>
          <a:p>
            <a:r>
              <a:t>safety testing (noun phrase) 安全测试 — “Safety testing is a priority.”</a:t>
            </a:r>
          </a:p>
          <a:p>
            <a:r>
              <a:t>stakeholder (noun) 利益相关方 — “All stakeholders should be involved.”</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Reporting and evaluating ★ 报道与评价</a:t>
            </a:r>
          </a:p>
          <a:p>
            <a:r>
              <a:t>领读 → 学员跟读 → 请学员用表达造一个和自己工作相关的句子。</a:t>
            </a:r>
          </a:p>
          <a:p>
            <a:r>
              <a:t>★ tackle (a problem) (verb) 着手解决 — “Leaders aim to tackle the risks.”</a:t>
            </a:r>
          </a:p>
          <a:p>
            <a:r>
              <a:t>★ common ground (noun phrase) 共同点 — “They found common ground on testing.”</a:t>
            </a:r>
          </a:p>
          <a:p>
            <a:r>
              <a:t>★ non-binding (adjective) 无约束力的 — “The declaration is non-binding.”</a:t>
            </a:r>
          </a:p>
          <a:p>
            <a:r>
              <a:t>★ it remains to be seen (phrase) 有待观察 — “It remains to be seen whether it works.”</a:t>
            </a:r>
          </a:p>
          <a:p>
            <a:r>
              <a:t>★ reportedly (adverb) 据报道 — “The talks reportedly went well.”</a:t>
            </a:r>
          </a:p>
          <a:p>
            <a:r>
              <a:t>★ step in the right direction (idiom) 朝正确方向迈出的一步 — “It’s a step in the right direction.”</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summit / Delegates / voluntary commitments / stakeholders / common ground / non-binding</a:t>
            </a:r>
          </a:p>
          <a:p>
            <a:r>
              <a:t>1. Leaders from many countries attended the _______. → summit</a:t>
            </a:r>
          </a:p>
          <a:p>
            <a:r>
              <a:t>2. _______ from over twenty countries took part. → Delegates</a:t>
            </a:r>
          </a:p>
          <a:p>
            <a:r>
              <a:t>3. Companies made _______ to test their systems for safety. → voluntary commitments</a:t>
            </a:r>
          </a:p>
          <a:p>
            <a:r>
              <a:t>4. All _______, including researchers and civil society, should be consulted. → stakeholders</a:t>
            </a:r>
          </a:p>
          <a:p>
            <a:r>
              <a:t>5. The countries found _______ on the need for safety testing. → common ground</a:t>
            </a:r>
          </a:p>
          <a:p>
            <a:r>
              <a:t>6. The declaration is _______, so it can’t be enforced. → non-binding</a:t>
            </a:r>
          </a:p>
          <a:p>
            <a:r>
              <a:t>Mistake Watch (拼写与搭配): summit (not “sumit”), delegate (noun /ˈdelɪɡət/), communiqué (accent). Attend / take part in a summit, host a summit. Reach / sign an agreement. Agree to do / agree on a plan / agree with a person. Reportedly (adverb) vs reported (adj). Binding vs non-binding. Tackle (informal-neutral), address.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Summarising a summit for colleagues 向同事概述峰会结果</a:t>
            </a:r>
          </a:p>
          <a:p>
            <a:r>
              <a:t>情景：You give a short briefing to colleagues about a hypothetical international AI-safety summit.</a:t>
            </a:r>
          </a:p>
          <a:p>
            <a:r>
              <a:t>Role A: Zoe Yim, policy analyst (you) Role B: Mr Fry,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(Zoe): Mr Fry, here’s a quick summary of the AI-safety summit.</a:t>
            </a:r>
          </a:p>
          <a:p>
            <a:r>
              <a:t>B (Mr Fry): Please. Who attended?</a:t>
            </a:r>
          </a:p>
          <a:p>
            <a:r>
              <a:t>A: Delegates from many countries met, along with company representatives and researchers.</a:t>
            </a:r>
          </a:p>
          <a:p>
            <a:r>
              <a:t>B: What did they discuss?</a:t>
            </a:r>
          </a:p>
          <a:p>
            <a:r>
              <a:t>A: Safety testing, misuse, bias and the effects on jobs.</a:t>
            </a:r>
          </a:p>
          <a:p>
            <a:r>
              <a:t>B: Did they agree anything?</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They agreed to cooperate on testing standards and to share information on risks. The statement is non-binding, though.</a:t>
            </a:r>
          </a:p>
          <a:p>
            <a:r>
              <a:t>B: So how much will change?</a:t>
            </a:r>
          </a:p>
          <a:p>
            <a:r>
              <a:t>A: It remains to be seen. Voluntary commitments are hard to enforce, and countries have different priorities.</a:t>
            </a:r>
          </a:p>
          <a:p>
            <a:r>
              <a:t>B: What’s your view?</a:t>
            </a:r>
          </a:p>
          <a:p>
            <a:r>
              <a:t>A: I’d say it’s a step in the right direction, but national laws and follow-up will matter more.</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100 | </a:t>
            </a:r>
          </a:p>
          <a:p>
            <a:r>
              <a:t>Situation | You brief colleagues about a summit.</a:t>
            </a:r>
          </a:p>
          <a:p>
            <a:r>
              <a:t>Your role (A) | Analyst. Summit topic: ______________</a:t>
            </a:r>
          </a:p>
          <a:p>
            <a:r>
              <a:t>Partner’s role (B) | Colleague. Ask what it means for the company.</a:t>
            </a:r>
          </a:p>
          <a:p>
            <a:r>
              <a:t>Must use (4 or more) | delegates · agreed to · non-binding · remains to be seen · step in the right direction · monitor</a:t>
            </a:r>
          </a:p>
          <a:p>
            <a:r>
              <a:t>Goal | Summarise, give your view and next steps.</a:t>
            </a:r>
          </a:p>
          <a:p>
            <a:r>
              <a:t>My notes | ____________________________________________</a:t>
            </a:r>
          </a:p>
          <a:p>
            <a:r>
              <a:t>Mr Fry says: “These summits never achieve anything.” Respond.</a:t>
            </a:r>
          </a:p>
          <a:p>
            <a:r>
              <a:t>Write a neutral two-sentence news summary of a summit.</a:t>
            </a:r>
          </a:p>
          <a:p>
            <a:r>
              <a:t>List three groups that should take part in AI safety talks.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international cooperation needed on AI? | “AI crosses borders, so… / Without cooperation…”</a:t>
            </a:r>
          </a:p>
          <a:p>
            <a:r>
              <a:t>2. Are voluntary agreements enough? | “They help to… but without enforcement…”</a:t>
            </a:r>
          </a:p>
          <a:p>
            <a:r>
              <a:t>3. Who should have a voice in AI policy? | “Governments, companies, researchers and… should…”</a:t>
            </a:r>
          </a:p>
          <a:p>
            <a:r>
              <a:t>4. What do you expect AI to look like in ten years? | “I’d expect… / It’s likely that… / Nobody knows, but…”</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“Voluntary agreements are a useful start because they bring people together and build trust, and companies can move faster than legislators. But they are not enough on their own, since there’s no guarantee that everyone follows them, and competitive pressure can lead firms to cut corners. Ideally, voluntary commitments should be followed by binding rules and independent checks, especially for high-risk uses.”</a:t>
            </a:r>
          </a:p>
          <a:p>
            <a:r>
              <a:t>legislator = 立法者。”cut corners” = 偷工减料。independent = 独立的。”binding rules” = 有约束力的规则。</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countries talked. | Delegates discussed shared risks and responses. | 具体</a:t>
            </a:r>
          </a:p>
          <a:p>
            <a:r>
              <a:t>They said yes. | They agreed to cooperate on testing. | 搭配</a:t>
            </a:r>
          </a:p>
          <a:p>
            <a:r>
              <a:t>It’s not a law. | The statement is non-binding. | 术语</a:t>
            </a:r>
          </a:p>
          <a:p>
            <a:r>
              <a:t>Maybe it works. | It remains to be seen whether it will work. | 地道</a:t>
            </a:r>
          </a:p>
          <a:p>
            <a:r>
              <a:t>I think good. | I see it as a positive first step. | 地道</a:t>
            </a:r>
          </a:p>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Reporting verbs: agreed to, announced that, stressed that, warned that, pledged to.</a:t>
            </a:r>
          </a:p>
          <a:p>
            <a:r>
              <a:t>Hedged evaluation: It could be argued that…, It may be too early to say…</a:t>
            </a:r>
          </a:p>
          <a:p>
            <a:r>
              <a:t>Passive in news style: “A declaration was signed.” / “Further talks are planned.”</a:t>
            </a:r>
          </a:p>
          <a:p>
            <a:r>
              <a:t>Summary structure: who → what → outcome → reaction → next steps.</a:t>
            </a:r>
          </a:p>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agreed for cooperate.  →  ✓ They agreed to cooperate.  (agree to do)</a:t>
            </a:r>
          </a:p>
          <a:p>
            <a:r>
              <a:t>✗ The summit was attended from many countries.  →  ✓ The summit was attended by delegates from many countries.  (by)</a:t>
            </a:r>
          </a:p>
          <a:p>
            <a:r>
              <a:t>✗ It remains see.  →  ✓ It remains to be seen.  (固定表达)</a:t>
            </a:r>
          </a:p>
          <a:p>
            <a:r>
              <a:t>Mistake Watch: Check agree to, passive with by, and fixed expressions (it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agreement is non binding.  →  ✓ The agreement is non-binding.  (连字符)</a:t>
            </a:r>
          </a:p>
          <a:p>
            <a:r>
              <a:t>✗ I’m hopeful for the result.  →  ✓ I’m hopeful about the outcome.  (about)</a:t>
            </a:r>
          </a:p>
          <a:p>
            <a:r>
              <a:t>✗ The delegates are discuss.  →  ✓ The delegates are discussing the issues.  (进行时)</a:t>
            </a:r>
          </a:p>
          <a:p>
            <a:r>
              <a:t>Mistake Watch: Check agree to, passive with by, and fixed expressions (it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Neutral reporting: Use reporting verbs and attribute claims (“according to officials”).</a:t>
            </a:r>
          </a:p>
          <a:p>
            <a:r>
              <a:t>Check facts: For real events, check official statements and several sources.</a:t>
            </a:r>
          </a:p>
          <a:p>
            <a:r>
              <a:t>Looking ahead: Summits are usually the start of a process, not the end.</a:t>
            </a:r>
          </a:p>
          <a:p>
            <a:r>
              <a:t>agree to do sth;it remains to be seen;passive 的 by 引出行为者。写新闻式摘要时中立、有出处、不过度判断。</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summarise a summit or policy event neutrally.</a:t>
            </a:r>
          </a:p>
          <a:p>
            <a:r>
              <a:t>I can give a balanced view of voluntary agreements.</a:t>
            </a:r>
          </a:p>
          <a:p>
            <a:r>
              <a:t>I can use reporting verbs and passive news style.</a:t>
            </a:r>
          </a:p>
          <a:p>
            <a:r>
              <a:t>I can use agree to and it remains to be seen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reporting verbs, passive news style, and balanced evaluation.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“上当” in English? → fall for</a:t>
            </a:r>
          </a:p>
          <a:p>
            <a:r>
              <a:t>“受到监管审查” in English? → under regulatory scrutiny</a:t>
            </a:r>
          </a:p>
          <a:p>
            <a:r>
              <a:t>“生成” in English? → generate</a:t>
            </a:r>
          </a:p>
          <a:p>
            <a:r>
              <a:t>Fix it: They fired because AI. → They were laid off because of AI.</a:t>
            </a:r>
          </a:p>
          <a:p>
            <a:r>
              <a:t>Fix it: He got a license for infringe. → He obtained a licence to use it.</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6.xml"/><Relationship Id="rId5" Type="http://schemas.openxmlformats.org/officeDocument/2006/relationships/slide" Target="slide49.xml"/><Relationship Id="rId6" Type="http://schemas.openxmlformats.org/officeDocument/2006/relationships/slide" Target="slide72.xml"/><Relationship Id="rId7" Type="http://schemas.openxmlformats.org/officeDocument/2006/relationships/slide" Target="slide95.xml"/><Relationship Id="rId8" Type="http://schemas.openxmlformats.org/officeDocument/2006/relationships/slide" Target="slide118.xml"/><Relationship Id="rId9" Type="http://schemas.openxmlformats.org/officeDocument/2006/relationships/slide" Target="slide140.xml"/><Relationship Id="rId10" Type="http://schemas.openxmlformats.org/officeDocument/2006/relationships/slide" Target="slide163.xml"/><Relationship Id="rId11" Type="http://schemas.openxmlformats.org/officeDocument/2006/relationships/slide" Target="slide185.xml"/><Relationship Id="rId12" Type="http://schemas.openxmlformats.org/officeDocument/2006/relationships/slide" Target="slide208.xml"/><Relationship Id="rId13" Type="http://schemas.openxmlformats.org/officeDocument/2006/relationships/slide" Target="slide2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3.xml"/><Relationship Id="rId4" Type="http://schemas.openxmlformats.org/officeDocument/2006/relationships/slide" Target="slide254.xml"/><Relationship Id="rId5" Type="http://schemas.openxmlformats.org/officeDocument/2006/relationships/slide" Target="slide255.xml"/><Relationship Id="rId6" Type="http://schemas.openxmlformats.org/officeDocument/2006/relationships/slide" Target="slide256.xml"/><Relationship Id="rId7" Type="http://schemas.openxmlformats.org/officeDocument/2006/relationships/slide" Target="slide257.xml"/><Relationship Id="rId8" Type="http://schemas.openxmlformats.org/officeDocument/2006/relationships/slide" Target="slide258.xml"/><Relationship Id="rId9" Type="http://schemas.openxmlformats.org/officeDocument/2006/relationships/slide" Target="slide259.xml"/><Relationship Id="rId10" Type="http://schemas.openxmlformats.org/officeDocument/2006/relationships/slide" Target="slide260.xml"/><Relationship Id="rId11" Type="http://schemas.openxmlformats.org/officeDocument/2006/relationships/slide" Target="slide261.xml"/><Relationship Id="rId12" Type="http://schemas.openxmlformats.org/officeDocument/2006/relationships/slide" Target="slide26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3.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4.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5.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10</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AI and Future Business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645920"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11 Lessons</a:t>
            </a:r>
          </a:p>
        </p:txBody>
      </p:sp>
      <p:sp>
        <p:nvSpPr>
          <p:cNvPr id="12" name="Rounded Rectangle 11"/>
          <p:cNvSpPr/>
          <p:nvPr/>
        </p:nvSpPr>
        <p:spPr>
          <a:xfrm>
            <a:off x="4389120"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L90 Using AI · L91 Microsoft Expands Its AI Operations · L92 Marketing in the Age of AI · L93 AI and Recruitment AI · L94 Losing Jobs to AI · L95 AI “supersonic Tsunami” AI“ · L96 Digital Cloning · L97 AI Fraud Goes Industrial AI  +3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90</a:t>
            </a:r>
          </a:p>
        </p:txBody>
      </p:sp>
      <p:sp>
        <p:nvSpPr>
          <p:cNvPr id="9" name="TextBox 8"/>
          <p:cNvSpPr txBox="1"/>
          <p:nvPr/>
        </p:nvSpPr>
        <p:spPr>
          <a:xfrm>
            <a:off x="1417320"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Using AI</a:t>
            </a:r>
          </a:p>
          <a:p>
            <a:pPr algn="l">
              <a:lnSpc>
                <a:spcPct val="100000"/>
              </a:lnSpc>
              <a:spcAft>
                <a:spcPts val="800"/>
              </a:spcAft>
            </a:pPr>
            <a:r>
              <a:rPr sz="1400" b="0">
                <a:solidFill>
                  <a:srgbClr val="5F677A"/>
                </a:solidFill>
                <a:latin typeface="Arial"/>
                <a:ea typeface="Microsoft YaHei"/>
              </a:rPr>
              <a:t>使用AI</a:t>
            </a:r>
          </a:p>
        </p:txBody>
      </p:sp>
      <p:sp>
        <p:nvSpPr>
          <p:cNvPr id="10" name="Rounded Rectangle 9">
            <a:hlinkClick action="ppaction://hlinksldjump" r:id="rId4"/>
          </p:cNvPr>
          <p:cNvSpPr/>
          <p:nvPr/>
        </p:nvSpPr>
        <p:spPr>
          <a:xfrm>
            <a:off x="3367963" y="155448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7691" y="185166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91</a:t>
            </a:r>
          </a:p>
        </p:txBody>
      </p:sp>
      <p:sp>
        <p:nvSpPr>
          <p:cNvPr id="12" name="TextBox 11"/>
          <p:cNvSpPr txBox="1"/>
          <p:nvPr/>
        </p:nvSpPr>
        <p:spPr>
          <a:xfrm>
            <a:off x="4236643"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Microsoft Expands Its AI Operations</a:t>
            </a:r>
          </a:p>
          <a:p>
            <a:pPr algn="l">
              <a:lnSpc>
                <a:spcPct val="100000"/>
              </a:lnSpc>
              <a:spcAft>
                <a:spcPts val="800"/>
              </a:spcAft>
            </a:pPr>
            <a:r>
              <a:rPr sz="1400" b="0">
                <a:solidFill>
                  <a:srgbClr val="5F677A"/>
                </a:solidFill>
                <a:latin typeface="Arial"/>
                <a:ea typeface="Microsoft YaHei"/>
              </a:rPr>
              <a:t>微软扩大AI业务</a:t>
            </a:r>
          </a:p>
        </p:txBody>
      </p:sp>
      <p:sp>
        <p:nvSpPr>
          <p:cNvPr id="13" name="Rounded Rectangle 12">
            <a:hlinkClick action="ppaction://hlinksldjump" r:id="rId5"/>
          </p:cNvPr>
          <p:cNvSpPr/>
          <p:nvPr/>
        </p:nvSpPr>
        <p:spPr>
          <a:xfrm>
            <a:off x="6187286" y="155448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7014" y="185166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92</a:t>
            </a:r>
          </a:p>
        </p:txBody>
      </p:sp>
      <p:sp>
        <p:nvSpPr>
          <p:cNvPr id="15" name="TextBox 14"/>
          <p:cNvSpPr txBox="1"/>
          <p:nvPr/>
        </p:nvSpPr>
        <p:spPr>
          <a:xfrm>
            <a:off x="7055966" y="1581912"/>
            <a:ext cx="1676323" cy="1179576"/>
          </a:xfrm>
          <a:prstGeom prst="rect">
            <a:avLst/>
          </a:prstGeom>
          <a:noFill/>
        </p:spPr>
        <p:txBody>
          <a:bodyPr wrap="square" anchor="ctr">
            <a:spAutoFit/>
          </a:bodyPr>
          <a:lstStyle/>
          <a:p>
            <a:pPr algn="l">
              <a:lnSpc>
                <a:spcPct val="100000"/>
              </a:lnSpc>
              <a:spcAft>
                <a:spcPts val="100"/>
              </a:spcAft>
            </a:pPr>
            <a:r>
              <a:rPr sz="1700" b="1">
                <a:solidFill>
                  <a:srgbClr val="1F2A44"/>
                </a:solidFill>
                <a:latin typeface="Arial"/>
                <a:ea typeface="Microsoft YaHei"/>
              </a:rPr>
              <a:t>Marketing in the Age of AI</a:t>
            </a:r>
          </a:p>
          <a:p>
            <a:pPr algn="l">
              <a:lnSpc>
                <a:spcPct val="100000"/>
              </a:lnSpc>
              <a:spcAft>
                <a:spcPts val="800"/>
              </a:spcAft>
            </a:pPr>
            <a:r>
              <a:rPr sz="1300" b="0">
                <a:solidFill>
                  <a:srgbClr val="5F677A"/>
                </a:solidFill>
                <a:latin typeface="Arial"/>
                <a:ea typeface="Microsoft YaHei"/>
              </a:rPr>
              <a:t>人工智能时代的营销</a:t>
            </a:r>
          </a:p>
        </p:txBody>
      </p:sp>
      <p:sp>
        <p:nvSpPr>
          <p:cNvPr id="16" name="Rounded Rectangle 15">
            <a:hlinkClick action="ppaction://hlinksldjump" r:id="rId6"/>
          </p:cNvPr>
          <p:cNvSpPr/>
          <p:nvPr/>
        </p:nvSpPr>
        <p:spPr>
          <a:xfrm>
            <a:off x="9006609" y="155448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16337" y="185166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93</a:t>
            </a:r>
          </a:p>
        </p:txBody>
      </p:sp>
      <p:sp>
        <p:nvSpPr>
          <p:cNvPr id="18" name="TextBox 17"/>
          <p:cNvSpPr txBox="1"/>
          <p:nvPr/>
        </p:nvSpPr>
        <p:spPr>
          <a:xfrm>
            <a:off x="9875289"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AI and Recruitment AI</a:t>
            </a:r>
          </a:p>
          <a:p>
            <a:pPr algn="l">
              <a:lnSpc>
                <a:spcPct val="100000"/>
              </a:lnSpc>
              <a:spcAft>
                <a:spcPts val="800"/>
              </a:spcAft>
            </a:pPr>
            <a:r>
              <a:rPr sz="1400" b="0">
                <a:solidFill>
                  <a:srgbClr val="5F677A"/>
                </a:solidFill>
                <a:latin typeface="Arial"/>
                <a:ea typeface="Microsoft YaHei"/>
              </a:rPr>
              <a:t>与招聘</a:t>
            </a:r>
          </a:p>
        </p:txBody>
      </p:sp>
      <p:sp>
        <p:nvSpPr>
          <p:cNvPr id="19" name="Rounded Rectangle 18">
            <a:hlinkClick action="ppaction://hlinksldjump" r:id="rId7"/>
          </p:cNvPr>
          <p:cNvSpPr/>
          <p:nvPr/>
        </p:nvSpPr>
        <p:spPr>
          <a:xfrm>
            <a:off x="548640" y="297180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326898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94</a:t>
            </a:r>
          </a:p>
        </p:txBody>
      </p:sp>
      <p:sp>
        <p:nvSpPr>
          <p:cNvPr id="21" name="TextBox 20"/>
          <p:cNvSpPr txBox="1"/>
          <p:nvPr/>
        </p:nvSpPr>
        <p:spPr>
          <a:xfrm>
            <a:off x="1417320"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Losing Jobs to AI</a:t>
            </a:r>
          </a:p>
          <a:p>
            <a:pPr algn="l">
              <a:lnSpc>
                <a:spcPct val="100000"/>
              </a:lnSpc>
              <a:spcAft>
                <a:spcPts val="800"/>
              </a:spcAft>
            </a:pPr>
            <a:r>
              <a:rPr sz="1400" b="0">
                <a:solidFill>
                  <a:srgbClr val="5F677A"/>
                </a:solidFill>
                <a:latin typeface="Arial"/>
                <a:ea typeface="Microsoft YaHei"/>
              </a:rPr>
              <a:t>AI 会抢走工作吗?</a:t>
            </a:r>
          </a:p>
        </p:txBody>
      </p:sp>
      <p:sp>
        <p:nvSpPr>
          <p:cNvPr id="22" name="Rounded Rectangle 21">
            <a:hlinkClick action="ppaction://hlinksldjump" r:id="rId8"/>
          </p:cNvPr>
          <p:cNvSpPr/>
          <p:nvPr/>
        </p:nvSpPr>
        <p:spPr>
          <a:xfrm>
            <a:off x="3367963" y="297180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7691" y="326898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95</a:t>
            </a:r>
          </a:p>
        </p:txBody>
      </p:sp>
      <p:sp>
        <p:nvSpPr>
          <p:cNvPr id="24" name="TextBox 23"/>
          <p:cNvSpPr txBox="1"/>
          <p:nvPr/>
        </p:nvSpPr>
        <p:spPr>
          <a:xfrm>
            <a:off x="4236643"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AI “supersonic Tsunami” AI“</a:t>
            </a:r>
          </a:p>
          <a:p>
            <a:pPr algn="l">
              <a:lnSpc>
                <a:spcPct val="100000"/>
              </a:lnSpc>
              <a:spcAft>
                <a:spcPts val="800"/>
              </a:spcAft>
            </a:pPr>
            <a:r>
              <a:rPr sz="1400" b="0">
                <a:solidFill>
                  <a:srgbClr val="5F677A"/>
                </a:solidFill>
                <a:latin typeface="Arial"/>
                <a:ea typeface="Microsoft YaHei"/>
              </a:rPr>
              <a:t>超音速海啸”</a:t>
            </a:r>
          </a:p>
        </p:txBody>
      </p:sp>
      <p:sp>
        <p:nvSpPr>
          <p:cNvPr id="25" name="Rounded Rectangle 24">
            <a:hlinkClick action="ppaction://hlinksldjump" r:id="rId9"/>
          </p:cNvPr>
          <p:cNvSpPr/>
          <p:nvPr/>
        </p:nvSpPr>
        <p:spPr>
          <a:xfrm>
            <a:off x="6187286" y="297180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7014" y="326898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96</a:t>
            </a:r>
          </a:p>
        </p:txBody>
      </p:sp>
      <p:sp>
        <p:nvSpPr>
          <p:cNvPr id="27" name="TextBox 26"/>
          <p:cNvSpPr txBox="1"/>
          <p:nvPr/>
        </p:nvSpPr>
        <p:spPr>
          <a:xfrm>
            <a:off x="7055966"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Digital Cloning</a:t>
            </a:r>
          </a:p>
          <a:p>
            <a:pPr algn="l">
              <a:lnSpc>
                <a:spcPct val="100000"/>
              </a:lnSpc>
              <a:spcAft>
                <a:spcPts val="800"/>
              </a:spcAft>
            </a:pPr>
            <a:r>
              <a:rPr sz="1400" b="0">
                <a:solidFill>
                  <a:srgbClr val="5F677A"/>
                </a:solidFill>
                <a:latin typeface="Arial"/>
                <a:ea typeface="Microsoft YaHei"/>
              </a:rPr>
              <a:t>数字克隆</a:t>
            </a:r>
          </a:p>
        </p:txBody>
      </p:sp>
      <p:sp>
        <p:nvSpPr>
          <p:cNvPr id="28" name="Rounded Rectangle 27">
            <a:hlinkClick action="ppaction://hlinksldjump" r:id="rId10"/>
          </p:cNvPr>
          <p:cNvSpPr/>
          <p:nvPr/>
        </p:nvSpPr>
        <p:spPr>
          <a:xfrm>
            <a:off x="9006609" y="297180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16337" y="326898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97</a:t>
            </a:r>
          </a:p>
        </p:txBody>
      </p:sp>
      <p:sp>
        <p:nvSpPr>
          <p:cNvPr id="30" name="TextBox 29"/>
          <p:cNvSpPr txBox="1"/>
          <p:nvPr/>
        </p:nvSpPr>
        <p:spPr>
          <a:xfrm>
            <a:off x="9875289" y="2999232"/>
            <a:ext cx="1676323" cy="1179576"/>
          </a:xfrm>
          <a:prstGeom prst="rect">
            <a:avLst/>
          </a:prstGeom>
          <a:noFill/>
        </p:spPr>
        <p:txBody>
          <a:bodyPr wrap="square" anchor="ctr">
            <a:spAutoFit/>
          </a:bodyPr>
          <a:lstStyle/>
          <a:p>
            <a:pPr algn="l">
              <a:lnSpc>
                <a:spcPct val="100000"/>
              </a:lnSpc>
              <a:spcAft>
                <a:spcPts val="100"/>
              </a:spcAft>
            </a:pPr>
            <a:r>
              <a:rPr sz="1700" b="1">
                <a:solidFill>
                  <a:srgbClr val="1F2A44"/>
                </a:solidFill>
                <a:latin typeface="Arial"/>
                <a:ea typeface="Microsoft YaHei"/>
              </a:rPr>
              <a:t>AI Fraud Goes Industrial AI</a:t>
            </a:r>
          </a:p>
          <a:p>
            <a:pPr algn="l">
              <a:lnSpc>
                <a:spcPct val="100000"/>
              </a:lnSpc>
              <a:spcAft>
                <a:spcPts val="800"/>
              </a:spcAft>
            </a:pPr>
            <a:r>
              <a:rPr sz="1300" b="0">
                <a:solidFill>
                  <a:srgbClr val="5F677A"/>
                </a:solidFill>
                <a:latin typeface="Arial"/>
                <a:ea typeface="Microsoft YaHei"/>
              </a:rPr>
              <a:t>欺诈已发展成产业化</a:t>
            </a:r>
          </a:p>
        </p:txBody>
      </p:sp>
      <p:sp>
        <p:nvSpPr>
          <p:cNvPr id="31" name="Rounded Rectangle 30">
            <a:hlinkClick action="ppaction://hlinksldjump" r:id="rId11"/>
          </p:cNvPr>
          <p:cNvSpPr/>
          <p:nvPr/>
        </p:nvSpPr>
        <p:spPr>
          <a:xfrm>
            <a:off x="548640" y="438912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468630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98</a:t>
            </a:r>
          </a:p>
        </p:txBody>
      </p:sp>
      <p:sp>
        <p:nvSpPr>
          <p:cNvPr id="33" name="TextBox 32"/>
          <p:cNvSpPr txBox="1"/>
          <p:nvPr/>
        </p:nvSpPr>
        <p:spPr>
          <a:xfrm>
            <a:off x="1417320"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AI and Content Rights AI</a:t>
            </a:r>
          </a:p>
          <a:p>
            <a:pPr algn="l">
              <a:lnSpc>
                <a:spcPct val="100000"/>
              </a:lnSpc>
              <a:spcAft>
                <a:spcPts val="800"/>
              </a:spcAft>
            </a:pPr>
            <a:r>
              <a:rPr sz="1400" b="0">
                <a:solidFill>
                  <a:srgbClr val="5F677A"/>
                </a:solidFill>
                <a:latin typeface="Arial"/>
                <a:ea typeface="Microsoft YaHei"/>
              </a:rPr>
              <a:t>与内容版权</a:t>
            </a:r>
          </a:p>
        </p:txBody>
      </p:sp>
      <p:sp>
        <p:nvSpPr>
          <p:cNvPr id="34" name="Rounded Rectangle 33">
            <a:hlinkClick action="ppaction://hlinksldjump" r:id="rId12"/>
          </p:cNvPr>
          <p:cNvSpPr/>
          <p:nvPr/>
        </p:nvSpPr>
        <p:spPr>
          <a:xfrm>
            <a:off x="3367963" y="438912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7691" y="468630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99</a:t>
            </a:r>
          </a:p>
        </p:txBody>
      </p:sp>
      <p:sp>
        <p:nvSpPr>
          <p:cNvPr id="36" name="TextBox 35"/>
          <p:cNvSpPr txBox="1"/>
          <p:nvPr/>
        </p:nvSpPr>
        <p:spPr>
          <a:xfrm>
            <a:off x="4236643"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AI on Trial</a:t>
            </a:r>
          </a:p>
          <a:p>
            <a:pPr algn="l">
              <a:lnSpc>
                <a:spcPct val="100000"/>
              </a:lnSpc>
              <a:spcAft>
                <a:spcPts val="800"/>
              </a:spcAft>
            </a:pPr>
            <a:r>
              <a:rPr sz="1400" b="0">
                <a:solidFill>
                  <a:srgbClr val="5F677A"/>
                </a:solidFill>
                <a:latin typeface="Arial"/>
                <a:ea typeface="Microsoft YaHei"/>
              </a:rPr>
              <a:t>人工智能受审判</a:t>
            </a:r>
          </a:p>
        </p:txBody>
      </p:sp>
      <p:sp>
        <p:nvSpPr>
          <p:cNvPr id="37" name="Rounded Rectangle 36">
            <a:hlinkClick action="ppaction://hlinksldjump" r:id="rId13"/>
          </p:cNvPr>
          <p:cNvSpPr/>
          <p:nvPr/>
        </p:nvSpPr>
        <p:spPr>
          <a:xfrm>
            <a:off x="6187286" y="438912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97014" y="468630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100</a:t>
            </a:r>
          </a:p>
        </p:txBody>
      </p:sp>
      <p:sp>
        <p:nvSpPr>
          <p:cNvPr id="39" name="TextBox 38"/>
          <p:cNvSpPr txBox="1"/>
          <p:nvPr/>
        </p:nvSpPr>
        <p:spPr>
          <a:xfrm>
            <a:off x="7055966" y="4416552"/>
            <a:ext cx="1676323" cy="1179576"/>
          </a:xfrm>
          <a:prstGeom prst="rect">
            <a:avLst/>
          </a:prstGeom>
          <a:noFill/>
        </p:spPr>
        <p:txBody>
          <a:bodyPr wrap="square" anchor="ctr">
            <a:spAutoFit/>
          </a:bodyPr>
          <a:lstStyle/>
          <a:p>
            <a:pPr algn="l">
              <a:lnSpc>
                <a:spcPct val="100000"/>
              </a:lnSpc>
              <a:spcAft>
                <a:spcPts val="100"/>
              </a:spcAft>
            </a:pPr>
            <a:r>
              <a:rPr sz="1700" b="1">
                <a:solidFill>
                  <a:srgbClr val="1F2A44"/>
                </a:solidFill>
                <a:latin typeface="Arial"/>
                <a:ea typeface="Microsoft YaHei"/>
              </a:rPr>
              <a:t>Global Summit Tackles AI Risks</a:t>
            </a:r>
          </a:p>
          <a:p>
            <a:pPr algn="l">
              <a:lnSpc>
                <a:spcPct val="100000"/>
              </a:lnSpc>
              <a:spcAft>
                <a:spcPts val="800"/>
              </a:spcAft>
            </a:pPr>
            <a:r>
              <a:rPr sz="1300" b="0">
                <a:solidFill>
                  <a:srgbClr val="5F677A"/>
                </a:solidFill>
                <a:latin typeface="Arial"/>
                <a:ea typeface="Microsoft YaHei"/>
              </a:rPr>
              <a:t>全球共同应对AI风险</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90 Using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Using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使用AI</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using AI tools at work: everyday uses, benefits, limits, checking output, confidentiality and good practice.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use AI tools in your work or studies? For what?</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tasks do you think AI does well? What tasks does it do badly?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check whether AI output is correct?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information should never be put into an AI tool?</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AI change your job in the next five years?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AI = artificial intelligence;prompt = 提示词;generate = 生成;hallucination = (AI)编造内容。第 3 题要用 verify / double-check。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use AI at work and what precautions you take.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use it for</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limits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precautions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use it to…   💬 It’s good at…, but it can’t…   💬 I always double-check…</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good at + -ing。double-check = 复核。I use it to + 动词(目的)。</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Reading · A Capable Assistant, Not an Authority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professionals now use AI tools to draft emails, summarise long documents, brainstorm ideas, translate or write simple code. Used well, they save time and help people get started. But they have limits. AI systems can produce answers that sound confident and yet contain mistakes, a problem sometimes called “hallucination”. They may reflect biases in the data they were trained on, and they do not understand the context of your organisation unless you provide it. Sensible users therefore treat AI output as a first draft. They check facts, adjust the tone and take responsibility for the final result. They also follow company rules about confidential data, because information typed into some tools may be stored or used in ways they did not intend. AI works best as an assistant, with a human in charge.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tasks can AI help with at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Drafting emails, summarising documents, brainstorming, translating or simple coding.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“hallucination”?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AI produces confident-sounding answers that contain mistakes.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sensible users do?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Treat output as a first draft, check facts, take responsibility and follow data-confidentiality rules.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Using AI tools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使用AI工具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artificial intelligence (AI)</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人工智能</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is used in many industries.”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prompt</a:t>
            </a:r>
          </a:p>
          <a:p>
            <a:pPr algn="l">
              <a:lnSpc>
                <a:spcPct val="115000"/>
              </a:lnSpc>
              <a:spcAft>
                <a:spcPts val="800"/>
              </a:spcAft>
            </a:pPr>
            <a:r>
              <a:rPr sz="1300" b="0">
                <a:solidFill>
                  <a:srgbClr val="5F677A"/>
                </a:solidFill>
                <a:latin typeface="Arial"/>
                <a:ea typeface="Microsoft YaHei"/>
              </a:rPr>
              <a:t>noun / verb</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提示词 / 提示</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clear prompt gets a better answer.”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generate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生成</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tool generated a draft.”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summarise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概括</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summarised the report.”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accuracy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准确性</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“Accuracy is a concern.”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automate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自动化</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automate routine tasks.”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Using AI wisely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明智使用AI</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hallucination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(AI)编造内容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“Watch out for hallucinations.”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fact-check</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核实事实</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fact-check the output.”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human in the loop</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人工参与</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keep a human in the loop.”</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sensitive data</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敏感数据</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“Never enter sensitive data.”</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streamline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简化流程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helps streamline reporting.”</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with a pinch of salt</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持保留态度</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AI answers with a pinch of salt.”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准确性</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accuracy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核实事实</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fact-check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持保留态度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with a pinch of salt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生成</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自动化</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敏感数据</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sensitive data</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提示词 / 提示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prompt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简化流程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streamline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prompt</a:t>
            </a:r>
          </a:p>
        </p:txBody>
      </p:sp>
      <p:sp>
        <p:nvSpPr>
          <p:cNvPr id="10" name="Rounded Rectangle 9"/>
          <p:cNvSpPr/>
          <p:nvPr/>
        </p:nvSpPr>
        <p:spPr>
          <a:xfrm>
            <a:off x="3127248"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generate</a:t>
            </a:r>
          </a:p>
        </p:txBody>
      </p:sp>
      <p:sp>
        <p:nvSpPr>
          <p:cNvPr id="11" name="Rounded Rectangle 10"/>
          <p:cNvSpPr/>
          <p:nvPr/>
        </p:nvSpPr>
        <p:spPr>
          <a:xfrm>
            <a:off x="446227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summarise</a:t>
            </a:r>
          </a:p>
        </p:txBody>
      </p:sp>
      <p:sp>
        <p:nvSpPr>
          <p:cNvPr id="12" name="Rounded Rectangle 11"/>
          <p:cNvSpPr/>
          <p:nvPr/>
        </p:nvSpPr>
        <p:spPr>
          <a:xfrm>
            <a:off x="5907024"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Accuracy</a:t>
            </a:r>
          </a:p>
        </p:txBody>
      </p:sp>
      <p:sp>
        <p:nvSpPr>
          <p:cNvPr id="13" name="Rounded Rectangle 12"/>
          <p:cNvSpPr/>
          <p:nvPr/>
        </p:nvSpPr>
        <p:spPr>
          <a:xfrm>
            <a:off x="7242048"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hallucination</a:t>
            </a:r>
          </a:p>
        </p:txBody>
      </p:sp>
      <p:sp>
        <p:nvSpPr>
          <p:cNvPr id="14" name="Rounded Rectangle 13"/>
          <p:cNvSpPr/>
          <p:nvPr/>
        </p:nvSpPr>
        <p:spPr>
          <a:xfrm>
            <a:off x="9125712"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fact-check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clear _______ usually produces a better response.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prompt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tool can _______ a first draft in seconds.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asked it to _______ the 40-page report.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summarise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is a concern when AI answers medical questions.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Accuracy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Sometimes AI invents facts; this is called a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hallucination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You should always _______ AI-generated statistics.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fact-check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artificial (not “artifical”), intelligence, accuracy. AI is (singular). Use AI to do (not “for do”). Rely on, depend on. Ask AI a question / ask AI for help. Output (uncountable). Information (uncountable). Trust AI output (not “trust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Talking about AI use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与同事谈AI使用</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leader discusses with a colleague how the team should use an AI writing tool.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Tina Mo, team leader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Owen Day, colleague</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AI use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Tina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Owen, I’ve noticed you’ve been using the AI tool for client emails.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Owen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saves a lot of time. I use it to draft a first version.</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What do you do after that?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check the facts and adjust the tone, because it can sound generic.</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It’s good at structure, but it can’t know our client relationships.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Last week it gave me a wrong date, so I always double-check.</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AI use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sensible. One more thing: please don’t paste client data into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against policy?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Confidential information shouldn’t go into public tools.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What should we use it for, then?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Drafts, summaries of public documents and brainstorming. A human always reviews the final version.</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reasonable. Can we share good prompts?</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idea. Let’s create a shared document.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Talking about AI use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use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Rules: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Describe how you use AI and one problem.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use it to · good at · double-check · confidential · first draft · human in the loop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three rules for using AI.</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Owen says: “AI will replace my tasks.”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three do’s and don’ts for using AI at work.</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a good prompt to a beginner.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use AI in your work or study?</a:t>
            </a:r>
          </a:p>
          <a:p>
            <a:pPr algn="l">
              <a:lnSpc>
                <a:spcPct val="115000"/>
              </a:lnSpc>
              <a:spcAft>
                <a:spcPts val="800"/>
              </a:spcAft>
            </a:pPr>
            <a:r>
              <a:rPr sz="1400" b="0">
                <a:solidFill>
                  <a:srgbClr val="5F677A"/>
                </a:solidFill>
                <a:latin typeface="Arial"/>
                <a:ea typeface="Microsoft YaHei"/>
              </a:rPr>
              <a:t>💬 “I mainly use it to… / I find it helpful for…”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dangers of relying on AI?</a:t>
            </a:r>
          </a:p>
          <a:p>
            <a:pPr algn="l">
              <a:lnSpc>
                <a:spcPct val="115000"/>
              </a:lnSpc>
              <a:spcAft>
                <a:spcPts val="800"/>
              </a:spcAft>
            </a:pPr>
            <a:r>
              <a:rPr sz="1400" b="0">
                <a:solidFill>
                  <a:srgbClr val="5F677A"/>
                </a:solidFill>
                <a:latin typeface="Arial"/>
                <a:ea typeface="Microsoft YaHei"/>
              </a:rPr>
              <a:t>💬 “One danger is… / It may…”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set rules for AI use?</a:t>
            </a:r>
          </a:p>
          <a:p>
            <a:pPr algn="l">
              <a:lnSpc>
                <a:spcPct val="115000"/>
              </a:lnSpc>
              <a:spcAft>
                <a:spcPts val="800"/>
              </a:spcAft>
            </a:pPr>
            <a:r>
              <a:rPr sz="1400" b="0">
                <a:solidFill>
                  <a:srgbClr val="5F677A"/>
                </a:solidFill>
                <a:latin typeface="Arial"/>
                <a:ea typeface="Microsoft YaHei"/>
              </a:rPr>
              <a:t>💬 “Yes, because… / Clear guidelines…”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AI be creative?</a:t>
            </a:r>
          </a:p>
          <a:p>
            <a:pPr algn="l">
              <a:lnSpc>
                <a:spcPct val="115000"/>
              </a:lnSpc>
              <a:spcAft>
                <a:spcPts val="800"/>
              </a:spcAft>
            </a:pPr>
            <a:r>
              <a:rPr sz="1400" b="0">
                <a:solidFill>
                  <a:srgbClr val="5F677A"/>
                </a:solidFill>
                <a:latin typeface="Arial"/>
                <a:ea typeface="Microsoft YaHei"/>
              </a:rPr>
              <a:t>💬 “In a sense it can…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think companies should set clear rules for AI use, because the risks are real: data leaks, copyright problems and incorrect information. Rules shouldn’t be so strict that people can’t benefit, though. Good guidelines explain what data is off limits, require human review of important outputs and offer training. They should also be reviewed regularly, since the technology changes quickly.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data leak = 数据泄露。off limits = 禁止涉及。”human review” = 人工审核。”change quickly” = 变化快。</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AI helps me.</a:t>
                      </a:r>
                    </a:p>
                  </a:txBody>
                  <a:tcPr anchor="ctr">
                    <a:solidFill>
                      <a:srgbClr val="FFFFFF"/>
                    </a:solidFill>
                  </a:tcPr>
                </a:tc>
                <a:tc>
                  <a:txBody>
                    <a:bodyPr wrap="square"/>
                    <a:lstStyle/>
                    <a:p>
                      <a:r>
                        <a:rPr sz="1600" b="0">
                          <a:solidFill>
                            <a:srgbClr val="1F2A44"/>
                          </a:solidFill>
                          <a:latin typeface="Arial"/>
                          <a:ea typeface="Microsoft YaHei"/>
                        </a:rPr>
                        <a:t>AI helps me work more efficiently.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It is wrong sometimes.</a:t>
                      </a:r>
                    </a:p>
                  </a:txBody>
                  <a:tcPr anchor="ctr">
                    <a:solidFill>
                      <a:srgbClr val="FFEFD9"/>
                    </a:solidFill>
                  </a:tcPr>
                </a:tc>
                <a:tc>
                  <a:txBody>
                    <a:bodyPr wrap="square"/>
                    <a:lstStyle/>
                    <a:p>
                      <a:r>
                        <a:rPr sz="1600" b="0">
                          <a:solidFill>
                            <a:srgbClr val="1F2A44"/>
                          </a:solidFill>
                          <a:latin typeface="Arial"/>
                          <a:ea typeface="Microsoft YaHei"/>
                        </a:rPr>
                        <a:t>It sometimes makes mistakes, so I check.</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I do it by AI.</a:t>
                      </a:r>
                    </a:p>
                  </a:txBody>
                  <a:tcPr anchor="ctr">
                    <a:solidFill>
                      <a:srgbClr val="FFFFFF"/>
                    </a:solidFill>
                  </a:tcPr>
                </a:tc>
                <a:tc>
                  <a:txBody>
                    <a:bodyPr wrap="square"/>
                    <a:lstStyle/>
                    <a:p>
                      <a:r>
                        <a:rPr sz="1600" b="0">
                          <a:solidFill>
                            <a:srgbClr val="1F2A44"/>
                          </a:solidFill>
                          <a:latin typeface="Arial"/>
                          <a:ea typeface="Microsoft YaHei"/>
                        </a:rPr>
                        <a:t>I use AI to draft it.</a:t>
                      </a:r>
                    </a:p>
                  </a:txBody>
                  <a:tcPr anchor="ctr">
                    <a:solidFill>
                      <a:srgbClr val="FFFFFF"/>
                    </a:solidFill>
                  </a:tcPr>
                </a:tc>
                <a:tc>
                  <a:txBody>
                    <a:bodyPr wrap="square"/>
                    <a:lstStyle/>
                    <a:p>
                      <a:r>
                        <a:rPr sz="1600" b="0">
                          <a:solidFill>
                            <a:srgbClr val="1F2A44"/>
                          </a:solidFill>
                          <a:latin typeface="Arial"/>
                          <a:ea typeface="Microsoft YaHei"/>
                        </a:rPr>
                        <a:t>use ... to</a:t>
                      </a:r>
                    </a:p>
                  </a:txBody>
                  <a:tcPr anchor="ctr">
                    <a:solidFill>
                      <a:srgbClr val="FFFFFF"/>
                    </a:solidFill>
                  </a:tcPr>
                </a:tc>
              </a:tr>
              <a:tr h="408432">
                <a:tc>
                  <a:txBody>
                    <a:bodyPr wrap="square"/>
                    <a:lstStyle/>
                    <a:p>
                      <a:r>
                        <a:rPr sz="1600" b="1">
                          <a:solidFill>
                            <a:srgbClr val="1F2A44"/>
                          </a:solidFill>
                          <a:latin typeface="Arial"/>
                          <a:ea typeface="Microsoft YaHei"/>
                        </a:rPr>
                        <a:t>Don’t trust.</a:t>
                      </a:r>
                    </a:p>
                  </a:txBody>
                  <a:tcPr anchor="ctr">
                    <a:solidFill>
                      <a:srgbClr val="FFEFD9"/>
                    </a:solidFill>
                  </a:tcPr>
                </a:tc>
                <a:tc>
                  <a:txBody>
                    <a:bodyPr wrap="square"/>
                    <a:lstStyle/>
                    <a:p>
                      <a:r>
                        <a:rPr sz="1600" b="0">
                          <a:solidFill>
                            <a:srgbClr val="1F2A44"/>
                          </a:solidFill>
                          <a:latin typeface="Arial"/>
                          <a:ea typeface="Microsoft YaHei"/>
                        </a:rPr>
                        <a:t>Treat the output with caution.</a:t>
                      </a:r>
                    </a:p>
                  </a:txBody>
                  <a:tcPr anchor="ctr">
                    <a:solidFill>
                      <a:srgbClr val="FFEFD9"/>
                    </a:solidFill>
                  </a:tcPr>
                </a:tc>
                <a:tc>
                  <a:txBody>
                    <a:bodyPr wrap="square"/>
                    <a:lstStyle/>
                    <a:p>
                      <a:r>
                        <a:rPr sz="1600" b="0">
                          <a:solidFill>
                            <a:srgbClr val="FF6B5B"/>
                          </a:solidFill>
                          <a:latin typeface="Arial"/>
                          <a:ea typeface="Microsoft YaHei"/>
                        </a:rPr>
                        <a:t>稳妥</a:t>
                      </a:r>
                    </a:p>
                  </a:txBody>
                  <a:tcPr anchor="ctr">
                    <a:solidFill>
                      <a:srgbClr val="FFEFD9"/>
                    </a:solidFill>
                  </a:tcPr>
                </a:tc>
              </a:tr>
              <a:tr h="408432">
                <a:tc>
                  <a:txBody>
                    <a:bodyPr wrap="square"/>
                    <a:lstStyle/>
                    <a:p>
                      <a:r>
                        <a:rPr sz="1600" b="1">
                          <a:solidFill>
                            <a:srgbClr val="1F2A44"/>
                          </a:solidFill>
                          <a:latin typeface="Arial"/>
                          <a:ea typeface="Microsoft YaHei"/>
                        </a:rPr>
                        <a:t>AI works alone.</a:t>
                      </a:r>
                    </a:p>
                  </a:txBody>
                  <a:tcPr anchor="ctr">
                    <a:solidFill>
                      <a:srgbClr val="FFFFFF"/>
                    </a:solidFill>
                  </a:tcPr>
                </a:tc>
                <a:tc>
                  <a:txBody>
                    <a:bodyPr wrap="square"/>
                    <a:lstStyle/>
                    <a:p>
                      <a:r>
                        <a:rPr sz="1600" b="0">
                          <a:solidFill>
                            <a:srgbClr val="1F2A44"/>
                          </a:solidFill>
                          <a:latin typeface="Arial"/>
                          <a:ea typeface="Microsoft YaHei"/>
                        </a:rPr>
                        <a:t>A human stays in the loop.</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Purpose with “to”: </a:t>
            </a:r>
            <a:r>
              <a:rPr sz="1700" b="0">
                <a:solidFill>
                  <a:srgbClr val="1F2A44"/>
                </a:solidFill>
                <a:latin typeface="Arial"/>
                <a:ea typeface="Microsoft YaHei"/>
              </a:rPr>
              <a:t>“I use it to draft emails.” (not “for draft”)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Collocations: </a:t>
            </a:r>
            <a:r>
              <a:rPr sz="1700" b="0">
                <a:solidFill>
                  <a:srgbClr val="1F2A44"/>
                </a:solidFill>
                <a:latin typeface="Arial"/>
                <a:ea typeface="Microsoft YaHei"/>
              </a:rPr>
              <a:t>generate content, draft a document, analyse data, automate a task.</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Modal advice: </a:t>
            </a:r>
            <a:r>
              <a:rPr sz="1700" b="0">
                <a:solidFill>
                  <a:srgbClr val="1F2A44"/>
                </a:solidFill>
                <a:latin typeface="Arial"/>
                <a:ea typeface="Microsoft YaHei"/>
              </a:rPr>
              <a:t>should, shouldn’t, must, make sure to.</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Linking: </a:t>
            </a:r>
            <a:r>
              <a:rPr sz="1700" b="0">
                <a:solidFill>
                  <a:srgbClr val="1F2A44"/>
                </a:solidFill>
                <a:latin typeface="Arial"/>
                <a:ea typeface="Microsoft YaHei"/>
              </a:rPr>
              <a:t>however, but, although, so, because.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use AI for write emails.</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use AI to write emails. / I use AI for writing emails.</a:t>
            </a:r>
          </a:p>
          <a:p>
            <a:pPr algn="l">
              <a:spcAft>
                <a:spcPts val="200"/>
              </a:spcAft>
            </a:pPr>
            <a:r>
              <a:rPr sz="1200" b="0">
                <a:solidFill>
                  <a:srgbClr val="FFFFFF"/>
                </a:solidFill>
                <a:latin typeface="Arial"/>
                <a:ea typeface="Microsoft YaHei"/>
              </a:rPr>
              <a:t>purpose</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are useful.</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is useful.</a:t>
            </a:r>
          </a:p>
          <a:p>
            <a:pPr algn="l">
              <a:spcAft>
                <a:spcPts val="200"/>
              </a:spcAft>
            </a:pPr>
            <a:r>
              <a:rPr sz="1200" b="0">
                <a:solidFill>
                  <a:srgbClr val="FFFFFF"/>
                </a:solidFill>
                <a:latin typeface="Arial"/>
                <a:ea typeface="Microsoft YaHei"/>
              </a:rPr>
              <a:t>AI 为单数</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rely AI for everything.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rely on AI for a lot of things.</a:t>
            </a:r>
          </a:p>
          <a:p>
            <a:pPr algn="l">
              <a:spcAft>
                <a:spcPts val="200"/>
              </a:spcAft>
            </a:pPr>
            <a:r>
              <a:rPr sz="1200" b="0">
                <a:solidFill>
                  <a:srgbClr val="FFFFFF"/>
                </a:solidFill>
                <a:latin typeface="Arial"/>
                <a:ea typeface="Microsoft YaHei"/>
              </a:rPr>
              <a:t>rely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gives me many informations.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gives me a lot of information.</a:t>
            </a:r>
          </a:p>
          <a:p>
            <a:pPr algn="l">
              <a:spcAft>
                <a:spcPts val="200"/>
              </a:spcAft>
            </a:pPr>
            <a:r>
              <a:rPr sz="1200" b="0">
                <a:solidFill>
                  <a:srgbClr val="FFFFFF"/>
                </a:solidFill>
                <a:latin typeface="Arial"/>
                <a:ea typeface="Microsoft YaHei"/>
              </a:rPr>
              <a:t>information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AI did the all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AI did all the work.</a:t>
            </a:r>
          </a:p>
          <a:p>
            <a:pPr algn="l">
              <a:spcAft>
                <a:spcPts val="200"/>
              </a:spcAft>
            </a:pPr>
            <a:r>
              <a:rPr sz="1200" b="0">
                <a:solidFill>
                  <a:srgbClr val="FFFFFF"/>
                </a:solidFill>
                <a:latin typeface="Arial"/>
                <a:ea typeface="Microsoft YaHei"/>
              </a:rPr>
              <a:t>all the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can’t to understand the context.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can’t understand the context.</a:t>
            </a:r>
          </a:p>
          <a:p>
            <a:pPr algn="l">
              <a:spcAft>
                <a:spcPts val="200"/>
              </a:spcAft>
            </a:pPr>
            <a:r>
              <a:rPr sz="1200" b="0">
                <a:solidFill>
                  <a:srgbClr val="FFFFFF"/>
                </a:solidFill>
                <a:latin typeface="Arial"/>
                <a:ea typeface="Microsoft YaHei"/>
              </a:rPr>
              <a:t>can’t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purpose structures, uncountable information, and rely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Company policy: </a:t>
            </a:r>
            <a:r>
              <a:rPr sz="1700" b="0">
                <a:solidFill>
                  <a:srgbClr val="1F2A44"/>
                </a:solidFill>
                <a:latin typeface="Arial"/>
                <a:ea typeface="Microsoft YaHei"/>
              </a:rPr>
              <a:t>Many companies restrict which AI tools can be used with company data. Check before using.</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Transparency: </a:t>
            </a:r>
            <a:r>
              <a:rPr sz="1700" b="0">
                <a:solidFill>
                  <a:srgbClr val="1F2A44"/>
                </a:solidFill>
                <a:latin typeface="Arial"/>
                <a:ea typeface="Microsoft YaHei"/>
              </a:rPr>
              <a:t>Some organisations expect you to say when AI helped produce something.</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Rapid change: </a:t>
            </a:r>
            <a:r>
              <a:rPr sz="1700" b="0">
                <a:solidFill>
                  <a:srgbClr val="1F2A44"/>
                </a:solidFill>
                <a:latin typeface="Arial"/>
                <a:ea typeface="Microsoft YaHei"/>
              </a:rPr>
              <a:t>Tools and rules change fast; keep up to date.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use AI to do sth / use AI for doing sth;information 不可数;rely on。AI 输出是草稿,责任仍在人。</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how I use AI at work and its limits.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state basic rules for safe use.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purpose structures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information and rely on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90 Using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purpose structures (use AI to…), uncountable information, and modal advice.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91 Microsoft Expands Its AI Operations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Microsoft Expands Its AI Operations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微软扩大AI业务</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large technology companies expand their AI operations: investment, partnerships, infrastructure and competition, using careful, general language.</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are large tech companies investing heavily in AI?</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a company need to build AI products? (data, chips, talent...)</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companies form partnerships in AI?</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putting a lot of money into one technology?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ordinary businesses benefit from big tech’s AI products?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本课以大型科技公司(如微软)的AI扩张为背景,只讨论一般性趋势;具体数字、日期和合作细节请以官方公告为准。infrastructure = 基础设施。data centre = 数据中心(英)。</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why and how a big company might expand its AI operations.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motive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investment</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partnerships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risks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effects on customers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Companies expand into AI because…   💬 This typically involves…   💬 A potential risk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typically = 通常。involve + -ing。a potential risk is… 指可能风险。</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Scaling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Large technology companies have been expanding their AI operations, and Microsoft is often mentioned as one example. The general pattern is similar across the sector. Firms invest in computing infrastructure, such as data centres and specialised chips, and recruit researchers and engineers. They build AI features into existing products used by millions of business customers, for example by adding assistants to office software. Many also form partnerships with start-ups or research groups to gain access to new technology. The motives are clear: AI is seen as a source of future growth and a way to keep customers loyal. However, the spending is huge, results are uncertain and regulators are watching competition and data use. Customers, meanwhile, may benefit from new tools but also need to consider cost, privacy and dependence on a single supplier. (General overview only; check official sources for company details.)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large tech firms invest in?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Computing infrastructure such as data centres and chips, and talent.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they expand into AI?</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AI is seen as a source of future growth and a way to keep customers loyal.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customers consider?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Cost, privacy and dependence on a single supplier.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Corporate AI expansion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企业AI扩张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data centre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数据中心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built a new data centre.”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infrastructure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基础设施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needs a lot of infrastructure.”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partnership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合作关系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partnership gives access to new models.”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invest in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invested in AI research.”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integrate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整合</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integrated AI into their software.”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rollout</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rollout begins next quarter.”</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Strategy and competition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战略与竞争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ramp up</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加大力度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are ramping up production.”</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gain a competitive edge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取得竞争优势</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could give a competitive edge.”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lock-in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锁定(客户)</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“Customers worry about vendor lock-in.”</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under regulatory scrutiny</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受到监管审查</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deal is under regulatory scrutiny.”</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pour money into</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大量投资</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“Firms are pouring money into AI.”</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race to</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竞相</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race to build better models.”</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竞相</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race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取得竞争优势</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a competitive edge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受到监管审查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 regulatory scrutiny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数据中心</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data centre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基础设施</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infrastructure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rollout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大量投资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pour money into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投资于</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data centre</a:t>
            </a:r>
          </a:p>
        </p:txBody>
      </p:sp>
      <p:sp>
        <p:nvSpPr>
          <p:cNvPr id="10" name="Rounded Rectangle 9"/>
          <p:cNvSpPr/>
          <p:nvPr/>
        </p:nvSpPr>
        <p:spPr>
          <a:xfrm>
            <a:off x="3675887" y="987552"/>
            <a:ext cx="190195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infrastructure</a:t>
            </a:r>
          </a:p>
        </p:txBody>
      </p:sp>
      <p:sp>
        <p:nvSpPr>
          <p:cNvPr id="11" name="Rounded Rectangle 10"/>
          <p:cNvSpPr/>
          <p:nvPr/>
        </p:nvSpPr>
        <p:spPr>
          <a:xfrm>
            <a:off x="5669279"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partnership</a:t>
            </a:r>
          </a:p>
        </p:txBody>
      </p:sp>
      <p:sp>
        <p:nvSpPr>
          <p:cNvPr id="12" name="Rounded Rectangle 11"/>
          <p:cNvSpPr/>
          <p:nvPr/>
        </p:nvSpPr>
        <p:spPr>
          <a:xfrm>
            <a:off x="733348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integrate</a:t>
            </a:r>
          </a:p>
        </p:txBody>
      </p:sp>
      <p:sp>
        <p:nvSpPr>
          <p:cNvPr id="13" name="Rounded Rectangle 12"/>
          <p:cNvSpPr/>
          <p:nvPr/>
        </p:nvSpPr>
        <p:spPr>
          <a:xfrm>
            <a:off x="877823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ramp up</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AI needs a large _______ full of powerful computers.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data centre</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Reliable _______ is essential for AI services.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infrastructure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_______ gives them access to advanced research.</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partnership</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Companies are trying to _______ AI into their products.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integrate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Many firms are planning to _______ their AI investment.</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ramp up</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Early adoption may give a company a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competitive edge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centre (UK) / center (US), infrastructure (not “infrastracture”), partnership. Invest in (not “invest to”). Expand into a market, expand its operations. Operations (plural) = business activities. Rollout (noun) vs roll out (verb). Supplier/vendor. A race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 company’s AI expansion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与经理讨论公司的AI扩张</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with your manager how the expansion of a major supplier’s AI products might affect your company.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Mia Dong, IT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Reid, IT manager</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company’s AI expansion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Reid, our software supplier is expanding its AI features. Should we plan for that?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Reid</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What are the likely effects?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Companies expand into AI because they see future growth. For us, that may bring useful new tools.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potential benefit?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Faster reporting, better search and automated summaries.</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company’s AI expansion with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risks?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potential risk is cost, because these features may require extra licences.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else?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Dependence on one supplier. If we use their AI everywhere, switching later could be hard.</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data a concern?</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company’s AI expansion with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 need to check where our data is stored and how it’s used.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Could you prepare a short assessment?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compare costs, benefits and risks, and I’ll propose a small pilot.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Let’s discuss it next week.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 company’s AI expansion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assess a supplier’s AI expansion.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Supplier: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 about benefits, costs and risks.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expand into · potential benefit · a risk is · dependence · pilot · assess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benefits, risks and a recommendation.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Reid says: “Maybe we should wait.”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“vendor lock-in” in two sentences.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questions to ask an AI supplier.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big companies invest in AI?</a:t>
            </a:r>
          </a:p>
          <a:p>
            <a:pPr algn="l">
              <a:lnSpc>
                <a:spcPct val="115000"/>
              </a:lnSpc>
              <a:spcAft>
                <a:spcPts val="800"/>
              </a:spcAft>
            </a:pPr>
            <a:r>
              <a:rPr sz="1400" b="0">
                <a:solidFill>
                  <a:srgbClr val="5F677A"/>
                </a:solidFill>
                <a:latin typeface="Arial"/>
                <a:ea typeface="Microsoft YaHei"/>
              </a:rPr>
              <a:t>💬 “They see… / It could help them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risky to depend on one AI supplier?</a:t>
            </a:r>
          </a:p>
          <a:p>
            <a:pPr algn="l">
              <a:lnSpc>
                <a:spcPct val="115000"/>
              </a:lnSpc>
              <a:spcAft>
                <a:spcPts val="800"/>
              </a:spcAft>
            </a:pPr>
            <a:r>
              <a:rPr sz="1400" b="0">
                <a:solidFill>
                  <a:srgbClr val="5F677A"/>
                </a:solidFill>
                <a:latin typeface="Arial"/>
                <a:ea typeface="Microsoft YaHei"/>
              </a:rPr>
              <a:t>💬 “Yes, because… / It can limit…”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regulate big tech’s AI expansion?</a:t>
            </a:r>
          </a:p>
          <a:p>
            <a:pPr algn="l">
              <a:lnSpc>
                <a:spcPct val="115000"/>
              </a:lnSpc>
              <a:spcAft>
                <a:spcPts val="800"/>
              </a:spcAft>
            </a:pPr>
            <a:r>
              <a:rPr sz="1400" b="0">
                <a:solidFill>
                  <a:srgbClr val="5F677A"/>
                </a:solidFill>
                <a:latin typeface="Arial"/>
                <a:ea typeface="Microsoft YaHei"/>
              </a:rPr>
              <a:t>💬 “Some regulation is needed to…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smaller companies compete in AI?</a:t>
            </a:r>
          </a:p>
          <a:p>
            <a:pPr algn="l">
              <a:lnSpc>
                <a:spcPct val="115000"/>
              </a:lnSpc>
              <a:spcAft>
                <a:spcPts val="800"/>
              </a:spcAft>
            </a:pPr>
            <a:r>
              <a:rPr sz="1400" b="0">
                <a:solidFill>
                  <a:srgbClr val="5F677A"/>
                </a:solidFill>
                <a:latin typeface="Arial"/>
                <a:ea typeface="Microsoft YaHei"/>
              </a:rPr>
              <a:t>💬 “By focusing on… / Partnering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Smaller companies are unlikely to compete with the largest firms on building general AI systems, because that requires huge resources. But they can compete by focusing on a niche, using their specialised data and customer relationships, and building services on top of existing technology. They can also be faster and more flexible. So the competition may be less about size and more about finding the right problem to solve.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general AI systems = 通用AI系统。”on top of” = 在……基础上。niche = 利基。resource = 资源。</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Microsoft makes AI.</a:t>
                      </a:r>
                    </a:p>
                  </a:txBody>
                  <a:tcPr anchor="ctr">
                    <a:solidFill>
                      <a:srgbClr val="FFFFFF"/>
                    </a:solidFill>
                  </a:tcPr>
                </a:tc>
                <a:tc>
                  <a:txBody>
                    <a:bodyPr wrap="square"/>
                    <a:lstStyle/>
                    <a:p>
                      <a:r>
                        <a:rPr sz="1600" b="0">
                          <a:solidFill>
                            <a:srgbClr val="1F2A44"/>
                          </a:solidFill>
                          <a:latin typeface="Arial"/>
                          <a:ea typeface="Microsoft YaHei"/>
                        </a:rPr>
                        <a:t>Large technology companies are expanding their AI operations.</a:t>
                      </a:r>
                    </a:p>
                  </a:txBody>
                  <a:tcPr anchor="ctr">
                    <a:solidFill>
                      <a:srgbClr val="FFFFFF"/>
                    </a:solidFill>
                  </a:tcPr>
                </a:tc>
                <a:tc>
                  <a:txBody>
                    <a:bodyPr wrap="square"/>
                    <a:lstStyle/>
                    <a:p>
                      <a:r>
                        <a:rPr sz="1600" b="0">
                          <a:solidFill>
                            <a:srgbClr val="FF6B5B"/>
                          </a:solidFill>
                          <a:latin typeface="Arial"/>
                          <a:ea typeface="Microsoft YaHei"/>
                        </a:rPr>
                        <a:t>一般化</a:t>
                      </a:r>
                    </a:p>
                  </a:txBody>
                  <a:tcPr anchor="ctr">
                    <a:solidFill>
                      <a:srgbClr val="FFFFFF"/>
                    </a:solidFill>
                  </a:tcPr>
                </a:tc>
              </a:tr>
              <a:tr h="652272">
                <a:tc>
                  <a:txBody>
                    <a:bodyPr wrap="square"/>
                    <a:lstStyle/>
                    <a:p>
                      <a:r>
                        <a:rPr sz="1600" b="1">
                          <a:solidFill>
                            <a:srgbClr val="1F2A44"/>
                          </a:solidFill>
                          <a:latin typeface="Arial"/>
                          <a:ea typeface="Microsoft YaHei"/>
                        </a:rPr>
                        <a:t>They spend a lot.</a:t>
                      </a:r>
                    </a:p>
                  </a:txBody>
                  <a:tcPr anchor="ctr">
                    <a:solidFill>
                      <a:srgbClr val="FFEFD9"/>
                    </a:solidFill>
                  </a:tcPr>
                </a:tc>
                <a:tc>
                  <a:txBody>
                    <a:bodyPr wrap="square"/>
                    <a:lstStyle/>
                    <a:p>
                      <a:r>
                        <a:rPr sz="1600" b="0">
                          <a:solidFill>
                            <a:srgbClr val="1F2A44"/>
                          </a:solidFill>
                          <a:latin typeface="Arial"/>
                          <a:ea typeface="Microsoft YaHei"/>
                        </a:rPr>
                        <a:t>They are investing heavily in infrastructure.</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Many people use it.</a:t>
                      </a:r>
                    </a:p>
                  </a:txBody>
                  <a:tcPr anchor="ctr">
                    <a:solidFill>
                      <a:srgbClr val="FFFFFF"/>
                    </a:solidFill>
                  </a:tcPr>
                </a:tc>
                <a:tc>
                  <a:txBody>
                    <a:bodyPr wrap="square"/>
                    <a:lstStyle/>
                    <a:p>
                      <a:r>
                        <a:rPr sz="1600" b="0">
                          <a:solidFill>
                            <a:srgbClr val="1F2A44"/>
                          </a:solidFill>
                          <a:latin typeface="Arial"/>
                          <a:ea typeface="Microsoft YaHei"/>
                        </a:rPr>
                        <a:t>It is used by many business customers.</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r h="408432">
                <a:tc>
                  <a:txBody>
                    <a:bodyPr wrap="square"/>
                    <a:lstStyle/>
                    <a:p>
                      <a:r>
                        <a:rPr sz="1600" b="1">
                          <a:solidFill>
                            <a:srgbClr val="1F2A44"/>
                          </a:solidFill>
                          <a:latin typeface="Arial"/>
                          <a:ea typeface="Microsoft YaHei"/>
                        </a:rPr>
                        <a:t>We depend on them.</a:t>
                      </a:r>
                    </a:p>
                  </a:txBody>
                  <a:tcPr anchor="ctr">
                    <a:solidFill>
                      <a:srgbClr val="FFEFD9"/>
                    </a:solidFill>
                  </a:tcPr>
                </a:tc>
                <a:tc>
                  <a:txBody>
                    <a:bodyPr wrap="square"/>
                    <a:lstStyle/>
                    <a:p>
                      <a:r>
                        <a:rPr sz="1600" b="0">
                          <a:solidFill>
                            <a:srgbClr val="1F2A44"/>
                          </a:solidFill>
                          <a:latin typeface="Arial"/>
                          <a:ea typeface="Microsoft YaHei"/>
                        </a:rPr>
                        <a:t>We rely on a single supplier.</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It’s uncertain.</a:t>
                      </a:r>
                    </a:p>
                  </a:txBody>
                  <a:tcPr anchor="ctr">
                    <a:solidFill>
                      <a:srgbClr val="FFFFFF"/>
                    </a:solidFill>
                  </a:tcPr>
                </a:tc>
                <a:tc>
                  <a:txBody>
                    <a:bodyPr wrap="square"/>
                    <a:lstStyle/>
                    <a:p>
                      <a:r>
                        <a:rPr sz="1600" b="0">
                          <a:solidFill>
                            <a:srgbClr val="1F2A44"/>
                          </a:solidFill>
                          <a:latin typeface="Arial"/>
                          <a:ea typeface="Microsoft YaHei"/>
                        </a:rPr>
                        <a:t>The outcome is uncertain.</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bl>
          </a:graphicData>
        </a:graphic>
      </p:graphicFrame>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perfect continuous for trends: </a:t>
            </a:r>
            <a:r>
              <a:rPr sz="1700" b="0">
                <a:solidFill>
                  <a:srgbClr val="1F2A44"/>
                </a:solidFill>
                <a:latin typeface="Arial"/>
                <a:ea typeface="Microsoft YaHei"/>
              </a:rPr>
              <a:t>“Firms have been expanding their AI operations.”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Hedging claims: </a:t>
            </a:r>
            <a:r>
              <a:rPr sz="1700" b="0">
                <a:solidFill>
                  <a:srgbClr val="1F2A44"/>
                </a:solidFill>
                <a:latin typeface="Arial"/>
                <a:ea typeface="Microsoft YaHei"/>
              </a:rPr>
              <a:t>reportedly, is widely seen as, appears to, may.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Attributing information: </a:t>
            </a:r>
            <a:r>
              <a:rPr sz="1700" b="0">
                <a:solidFill>
                  <a:srgbClr val="1F2A44"/>
                </a:solidFill>
                <a:latin typeface="Arial"/>
                <a:ea typeface="Microsoft YaHei"/>
              </a:rPr>
              <a:t>According to…, X says that…, Analysts suggest that…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Linking cause and effect: </a:t>
            </a:r>
            <a:r>
              <a:rPr sz="1700" b="0">
                <a:solidFill>
                  <a:srgbClr val="1F2A44"/>
                </a:solidFill>
                <a:latin typeface="Arial"/>
                <a:ea typeface="Microsoft YaHei"/>
              </a:rPr>
              <a:t>as a result, consequently, which means that.</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Companies is investing in AI.</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Companies are investing in AI.</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invest on AI.</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invest in AI.</a:t>
            </a:r>
          </a:p>
          <a:p>
            <a:pPr algn="l">
              <a:spcAft>
                <a:spcPts val="200"/>
              </a:spcAft>
            </a:pPr>
            <a:r>
              <a:rPr sz="1200" b="0">
                <a:solidFill>
                  <a:srgbClr val="FFFFFF"/>
                </a:solidFill>
                <a:latin typeface="Arial"/>
                <a:ea typeface="Microsoft YaHei"/>
              </a:rPr>
              <a:t>invest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According to me, …</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opinion, …</a:t>
            </a:r>
          </a:p>
          <a:p>
            <a:pPr algn="l">
              <a:spcAft>
                <a:spcPts val="200"/>
              </a:spcAft>
            </a:pPr>
            <a:r>
              <a:rPr sz="1200" b="0">
                <a:solidFill>
                  <a:srgbClr val="FFFFFF"/>
                </a:solidFill>
                <a:latin typeface="Arial"/>
                <a:ea typeface="Microsoft YaHei"/>
              </a:rPr>
              <a:t>固定表达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has expanding.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has been expanding.</a:t>
            </a:r>
          </a:p>
          <a:p>
            <a:pPr algn="l">
              <a:spcAft>
                <a:spcPts val="200"/>
              </a:spcAft>
            </a:pPr>
            <a:r>
              <a:rPr sz="1200" b="0">
                <a:solidFill>
                  <a:srgbClr val="FFFFFF"/>
                </a:solidFill>
                <a:latin typeface="Arial"/>
                <a:ea typeface="Microsoft YaHei"/>
              </a:rPr>
              <a:t>完成进行时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give them advantage.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gives them an advantage.</a:t>
            </a:r>
          </a:p>
          <a:p>
            <a:pPr algn="l">
              <a:spcAft>
                <a:spcPts val="200"/>
              </a:spcAft>
            </a:pPr>
            <a:r>
              <a:rPr sz="1200" b="0">
                <a:solidFill>
                  <a:srgbClr val="FFFFFF"/>
                </a:solidFill>
                <a:latin typeface="Arial"/>
                <a:ea typeface="Microsoft YaHei"/>
              </a:rPr>
              <a:t>冠词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Customers should concern about price.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should be concerned about price.</a:t>
            </a:r>
          </a:p>
          <a:p>
            <a:pPr algn="l">
              <a:spcAft>
                <a:spcPts val="200"/>
              </a:spcAft>
            </a:pPr>
            <a:r>
              <a:rPr sz="1200" b="0">
                <a:solidFill>
                  <a:srgbClr val="FFFFFF"/>
                </a:solidFill>
                <a:latin typeface="Arial"/>
                <a:ea typeface="Microsoft YaHei"/>
              </a:rPr>
              <a:t>be concerned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subject-verb agreement, invest in, and in my opinion vs according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Facts and sources: </a:t>
            </a:r>
            <a:r>
              <a:rPr sz="1700" b="0">
                <a:solidFill>
                  <a:srgbClr val="1F2A44"/>
                </a:solidFill>
                <a:latin typeface="Arial"/>
                <a:ea typeface="Microsoft YaHei"/>
              </a:rPr>
              <a:t>Company news changes. Quote the source and date when you cite company information.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Neutral tone: </a:t>
            </a:r>
            <a:r>
              <a:rPr sz="1700" b="0">
                <a:solidFill>
                  <a:srgbClr val="1F2A44"/>
                </a:solidFill>
                <a:latin typeface="Arial"/>
                <a:ea typeface="Microsoft YaHei"/>
              </a:rPr>
              <a:t>Avoid hype (“revolutionary”) and avoid unfounded criticism.</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Procurement: </a:t>
            </a:r>
            <a:r>
              <a:rPr sz="1700" b="0">
                <a:solidFill>
                  <a:srgbClr val="1F2A44"/>
                </a:solidFill>
                <a:latin typeface="Arial"/>
                <a:ea typeface="Microsoft YaHei"/>
              </a:rPr>
              <a:t>Check contract terms, data location and exit options before adopting a supplier’s AI.</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according to me 不是地道说法,用 in my opinion;invest in;主谓一致。引用公司消息要说明来源,谈预测要用谨慎词。</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why companies expand AI operations.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assess benefits, costs and risks of supplier AI.</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attribution phrases (according to).</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invest in and present perfect continuous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91 Microsoft Expands Its AI Operations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attribution phrases, invest in, and subject-verb agreement.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92 Marketing in the Age of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Marketing in the Age of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人工智能时代的营销</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AI affects marketing: content creation, personalisation, analytics, trust and ethics, and the role of human creativity.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AI change advertising and marketing?</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trust an ad written by AI? Why or why not?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marketing tasks can be automated?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brands use AI without losing a human touch?</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ethical issues with AI-generated content?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personalisation = 个性化;analytics = 数据分析;synthetic = 合成的(人工生成)。human touch = 人情味。</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Recommend how a marketing team should use AI responsibly.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where AI helps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where humans lead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guidelines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AI can help with…, but humans should…   💬 One safeguard is…   💬 Transparency matters because…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safeguard = 保障措施。Transparency matters because… 强调透明。AI helps with... but 对比。</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Creativity, Assisted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Marketing teams are testing AI in many areas. Tools can draft headlines, create image variations, analyse customer data, predict which messages work best and answer simple questions through chatbots. These uses save time and allow small teams to do more. Yet brands face questions of trust. Customers may feel uneasy if they are not told when content is generated by AI or if personalisation feels intrusive. AI can also repeat bland, generic ideas or produce errors that embarrass a brand. Many marketers therefore use AI for first drafts and data, but keep humans responsible for strategy, tone and final approval. They set guidelines about disclosure, check for bias and respect copyright and privacy. The aim is to use technology to support creativity, not to replace the understanding of real people.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can AI tools do for marketing teams?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Draft headlines, create image variations, analyse data, predict messages and run chatbots.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might customers feel uneasy?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If they are not told content is AI-generated or personalisation feels intrusive.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many marketers keep humans responsible for?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Strategy, tone and final approval.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AI in marketing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营销中的AI</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chatbot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聊天机器人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chatbot answers basic questions.”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analytics</a:t>
            </a:r>
          </a:p>
          <a:p>
            <a:pPr algn="l">
              <a:lnSpc>
                <a:spcPct val="115000"/>
              </a:lnSpc>
              <a:spcAft>
                <a:spcPts val="800"/>
              </a:spcAft>
            </a:pPr>
            <a:r>
              <a:rPr sz="1300" b="0">
                <a:solidFill>
                  <a:srgbClr val="5F677A"/>
                </a:solidFill>
                <a:latin typeface="Arial"/>
                <a:ea typeface="Microsoft YaHei"/>
              </a:rPr>
              <a:t>noun (uncountable)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数据分析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“Analytics show what works.”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personalisation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个性化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“Personalisation boosts engagement.”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AI-generated</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AI生成的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image is AI-generated.”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A/B testing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A/B测试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A/B testing for headlines.”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customer insight</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客户洞察</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gives customer insights.”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Trust and ethics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信任与伦理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human touch</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人情味</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“Customers still value a human touch.”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upfront about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坦率说明</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 upfront about using AI.”</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disclosure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披露</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“Disclosure builds trust.”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brand voice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品牌声音</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must follow our brand voice.”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generic</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千篇一律的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copy can sound generic.”</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safeguard</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保障措施</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“Human review is a key safeguard.”</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人情味</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human touch</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数据分析</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analytics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品牌声音</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voice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坦率说明</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upfront about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披露</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disclosure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个性化</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personalisation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千篇一律的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generic</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聊天机器人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chatbot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chatbot</a:t>
            </a:r>
          </a:p>
        </p:txBody>
      </p:sp>
      <p:sp>
        <p:nvSpPr>
          <p:cNvPr id="10" name="Rounded Rectangle 9"/>
          <p:cNvSpPr/>
          <p:nvPr/>
        </p:nvSpPr>
        <p:spPr>
          <a:xfrm>
            <a:off x="3236976"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Analytics</a:t>
            </a:r>
          </a:p>
        </p:txBody>
      </p:sp>
      <p:sp>
        <p:nvSpPr>
          <p:cNvPr id="11" name="Rounded Rectangle 10"/>
          <p:cNvSpPr/>
          <p:nvPr/>
        </p:nvSpPr>
        <p:spPr>
          <a:xfrm>
            <a:off x="4681728" y="987552"/>
            <a:ext cx="2011679"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Personalisation</a:t>
            </a:r>
          </a:p>
        </p:txBody>
      </p:sp>
      <p:sp>
        <p:nvSpPr>
          <p:cNvPr id="12" name="Rounded Rectangle 11"/>
          <p:cNvSpPr/>
          <p:nvPr/>
        </p:nvSpPr>
        <p:spPr>
          <a:xfrm>
            <a:off x="6784847"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AI-generated</a:t>
            </a:r>
          </a:p>
        </p:txBody>
      </p:sp>
      <p:sp>
        <p:nvSpPr>
          <p:cNvPr id="13" name="Rounded Rectangle 12"/>
          <p:cNvSpPr/>
          <p:nvPr/>
        </p:nvSpPr>
        <p:spPr>
          <a:xfrm>
            <a:off x="8558782"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human touch</a:t>
            </a:r>
          </a:p>
        </p:txBody>
      </p:sp>
      <p:sp>
        <p:nvSpPr>
          <p:cNvPr id="14" name="Rounded Rectangle 13"/>
          <p:cNvSpPr/>
          <p:nvPr/>
        </p:nvSpPr>
        <p:spPr>
          <a:xfrm>
            <a:off x="10222989"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safeguard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_______ answers simple questions at night.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chatbot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show which campaigns performed best.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Analytics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can make emails feel more relevant.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Personalisation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picture is _______, so we need to label it.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AI-generated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Customers still value a _______ in service.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human touch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Human review is an important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safeguard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Recommending guidelines for AI in marketing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为营销团队制定AI使用建议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meet with the marketing director to propose rules for AI use in the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Vera Hsu, marketing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Orr, marketing director</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Recommending guidelines for AI in marketing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Vera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Orr, I’d like to propose some guidelines for using AI in our campaigns.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Orr</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AI can help with drafts, image variations and analytics, but humans should decide strategy and approve the final content.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not let AI write everything?</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can sound generic, and it may make mistakes. Our brand voice should come from people.</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Recommending guidelines for AI in marketing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customer trust?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Transparency matters because customers may feel uneasy. We should be upfront about AI-generated images and chatbots.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What else?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safeguard is checking for bias and copyright issues before publishing.</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personalisation?</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Recommending guidelines for AI in marketing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 use only data customers have agreed to share, and avoid anything that feels intrusive.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Sensible. Can you write that up as a one-page policy?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I’d suggest a short training session for the team.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review the policy after three months.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Recommending guidelines for AI in marketing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AI guidelines.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manager. Guideline: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Challenge one point.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AI can help with · humans should · transparency · safeguard · brand voice · review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Propose three guidelines with reasons.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Orr says: “Competitors use AI more.”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one-sentence AI disclosure for a website.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how you would test whether customers accept AI-generated content.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buy something advertised by an AI-generated model?</a:t>
            </a:r>
          </a:p>
          <a:p>
            <a:pPr algn="l">
              <a:lnSpc>
                <a:spcPct val="115000"/>
              </a:lnSpc>
              <a:spcAft>
                <a:spcPts val="800"/>
              </a:spcAft>
            </a:pPr>
            <a:r>
              <a:rPr sz="1400" b="0">
                <a:solidFill>
                  <a:srgbClr val="5F677A"/>
                </a:solidFill>
                <a:latin typeface="Arial"/>
                <a:ea typeface="Microsoft YaHei"/>
              </a:rPr>
              <a:t>💬 “I wouldn’t mind if… / I’d feel…”</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brands tell customers when AI is used?</a:t>
            </a:r>
          </a:p>
          <a:p>
            <a:pPr algn="l">
              <a:lnSpc>
                <a:spcPct val="115000"/>
              </a:lnSpc>
              <a:spcAft>
                <a:spcPts val="800"/>
              </a:spcAft>
            </a:pPr>
            <a:r>
              <a:rPr sz="1400" b="0">
                <a:solidFill>
                  <a:srgbClr val="5F677A"/>
                </a:solidFill>
                <a:latin typeface="Arial"/>
                <a:ea typeface="Microsoft YaHei"/>
              </a:rPr>
              <a:t>💬 “Yes, because… / It depends…”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marketing tasks should stay human?</a:t>
            </a:r>
          </a:p>
          <a:p>
            <a:pPr algn="l">
              <a:lnSpc>
                <a:spcPct val="115000"/>
              </a:lnSpc>
              <a:spcAft>
                <a:spcPts val="800"/>
              </a:spcAft>
            </a:pPr>
            <a:r>
              <a:rPr sz="1400" b="0">
                <a:solidFill>
                  <a:srgbClr val="5F677A"/>
                </a:solidFill>
                <a:latin typeface="Arial"/>
                <a:ea typeface="Microsoft YaHei"/>
              </a:rPr>
              <a:t>💬 “Strategy, ethics and…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Could AI make advertising worse?</a:t>
            </a:r>
          </a:p>
          <a:p>
            <a:pPr algn="l">
              <a:lnSpc>
                <a:spcPct val="115000"/>
              </a:lnSpc>
              <a:spcAft>
                <a:spcPts val="800"/>
              </a:spcAft>
            </a:pPr>
            <a:r>
              <a:rPr sz="1400" b="0">
                <a:solidFill>
                  <a:srgbClr val="5F677A"/>
                </a:solidFill>
                <a:latin typeface="Arial"/>
                <a:ea typeface="Microsoft YaHei"/>
              </a:rPr>
              <a:t>💬 “It could if… / It might lead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think brands should tell customers when AI is used in a way that might affect their decisions, such as a chatbot or an AI-generated image of a product. People value honesty, and discovering it later can damage trust. For minor uses, like spelling checks, disclosure may not be necessary. A good rule is: if a reasonable person would feel misled, then be upfront.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misled = 被误导。”reasonable person” = 理性的人。minor = 次要的。”upfront” = 坦诚。</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AI writes ads.</a:t>
                      </a:r>
                    </a:p>
                  </a:txBody>
                  <a:tcPr anchor="ctr">
                    <a:solidFill>
                      <a:srgbClr val="FFFFFF"/>
                    </a:solidFill>
                  </a:tcPr>
                </a:tc>
                <a:tc>
                  <a:txBody>
                    <a:bodyPr wrap="square"/>
                    <a:lstStyle/>
                    <a:p>
                      <a:r>
                        <a:rPr sz="1600" b="0">
                          <a:solidFill>
                            <a:srgbClr val="1F2A44"/>
                          </a:solidFill>
                          <a:latin typeface="Arial"/>
                          <a:ea typeface="Microsoft YaHei"/>
                        </a:rPr>
                        <a:t>AI can generate first drafts of ad copy.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It is not creative.</a:t>
                      </a:r>
                    </a:p>
                  </a:txBody>
                  <a:tcPr anchor="ctr">
                    <a:solidFill>
                      <a:srgbClr val="FFEFD9"/>
                    </a:solidFill>
                  </a:tcPr>
                </a:tc>
                <a:tc>
                  <a:txBody>
                    <a:bodyPr wrap="square"/>
                    <a:lstStyle/>
                    <a:p>
                      <a:r>
                        <a:rPr sz="1600" b="0">
                          <a:solidFill>
                            <a:srgbClr val="1F2A44"/>
                          </a:solidFill>
                          <a:latin typeface="Arial"/>
                          <a:ea typeface="Microsoft YaHei"/>
                        </a:rPr>
                        <a:t>It tends to produce generic ideas.</a:t>
                      </a:r>
                    </a:p>
                  </a:txBody>
                  <a:tcPr anchor="ctr">
                    <a:solidFill>
                      <a:srgbClr val="FFEFD9"/>
                    </a:solidFill>
                  </a:tcPr>
                </a:tc>
                <a:tc>
                  <a:txBody>
                    <a:bodyPr wrap="square"/>
                    <a:lstStyle/>
                    <a:p>
                      <a:r>
                        <a:rPr sz="1600" b="0">
                          <a:solidFill>
                            <a:srgbClr val="FF6B5B"/>
                          </a:solidFill>
                          <a:latin typeface="Arial"/>
                          <a:ea typeface="Microsoft YaHei"/>
                        </a:rPr>
                        <a:t>谨慎</a:t>
                      </a:r>
                    </a:p>
                  </a:txBody>
                  <a:tcPr anchor="ctr">
                    <a:solidFill>
                      <a:srgbClr val="FFEFD9"/>
                    </a:solidFill>
                  </a:tcPr>
                </a:tc>
              </a:tr>
              <a:tr h="652272">
                <a:tc>
                  <a:txBody>
                    <a:bodyPr wrap="square"/>
                    <a:lstStyle/>
                    <a:p>
                      <a:r>
                        <a:rPr sz="1600" b="1">
                          <a:solidFill>
                            <a:srgbClr val="1F2A44"/>
                          </a:solidFill>
                          <a:latin typeface="Arial"/>
                          <a:ea typeface="Microsoft YaHei"/>
                        </a:rPr>
                        <a:t>Customers don’t trust.</a:t>
                      </a:r>
                    </a:p>
                  </a:txBody>
                  <a:tcPr anchor="ctr">
                    <a:solidFill>
                      <a:srgbClr val="FFFFFF"/>
                    </a:solidFill>
                  </a:tcPr>
                </a:tc>
                <a:tc>
                  <a:txBody>
                    <a:bodyPr wrap="square"/>
                    <a:lstStyle/>
                    <a:p>
                      <a:r>
                        <a:rPr sz="1600" b="0">
                          <a:solidFill>
                            <a:srgbClr val="1F2A44"/>
                          </a:solidFill>
                          <a:latin typeface="Arial"/>
                          <a:ea typeface="Microsoft YaHei"/>
                        </a:rPr>
                        <a:t>Customers may feel uneasy if AI isn’t disclosed.</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r h="652272">
                <a:tc>
                  <a:txBody>
                    <a:bodyPr wrap="square"/>
                    <a:lstStyle/>
                    <a:p>
                      <a:r>
                        <a:rPr sz="1600" b="1">
                          <a:solidFill>
                            <a:srgbClr val="1F2A44"/>
                          </a:solidFill>
                          <a:latin typeface="Arial"/>
                          <a:ea typeface="Microsoft YaHei"/>
                        </a:rPr>
                        <a:t>Personal ads are good.</a:t>
                      </a:r>
                    </a:p>
                  </a:txBody>
                  <a:tcPr anchor="ctr">
                    <a:solidFill>
                      <a:srgbClr val="FFEFD9"/>
                    </a:solidFill>
                  </a:tcPr>
                </a:tc>
                <a:tc>
                  <a:txBody>
                    <a:bodyPr wrap="square"/>
                    <a:lstStyle/>
                    <a:p>
                      <a:r>
                        <a:rPr sz="1600" b="0">
                          <a:solidFill>
                            <a:srgbClr val="1F2A44"/>
                          </a:solidFill>
                          <a:latin typeface="Arial"/>
                          <a:ea typeface="Microsoft YaHei"/>
                        </a:rPr>
                        <a:t>Personalisation can improve relevance.</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We check by human.</a:t>
                      </a:r>
                    </a:p>
                  </a:txBody>
                  <a:tcPr anchor="ctr">
                    <a:solidFill>
                      <a:srgbClr val="FFFFFF"/>
                    </a:solidFill>
                  </a:tcPr>
                </a:tc>
                <a:tc>
                  <a:txBody>
                    <a:bodyPr wrap="square"/>
                    <a:lstStyle/>
                    <a:p>
                      <a:r>
                        <a:rPr sz="1600" b="0">
                          <a:solidFill>
                            <a:srgbClr val="1F2A44"/>
                          </a:solidFill>
                          <a:latin typeface="Arial"/>
                          <a:ea typeface="Microsoft YaHei"/>
                        </a:rPr>
                        <a:t>A human reviews the final version.</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bl>
          </a:graphicData>
        </a:graphic>
      </p:graphicFrame>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Modal verbs for policy: </a:t>
            </a:r>
            <a:r>
              <a:rPr sz="1700" b="0">
                <a:solidFill>
                  <a:srgbClr val="1F2A44"/>
                </a:solidFill>
                <a:latin typeface="Arial"/>
                <a:ea typeface="Microsoft YaHei"/>
              </a:rPr>
              <a:t>should, must, may, are expected to, are required to.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Contrast: </a:t>
            </a:r>
            <a:r>
              <a:rPr sz="1700" b="0">
                <a:solidFill>
                  <a:srgbClr val="1F2A44"/>
                </a:solidFill>
                <a:latin typeface="Arial"/>
                <a:ea typeface="Microsoft YaHei"/>
              </a:rPr>
              <a:t>but, however, yet, although.</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Reasons: </a:t>
            </a:r>
            <a:r>
              <a:rPr sz="1700" b="0">
                <a:solidFill>
                  <a:srgbClr val="1F2A44"/>
                </a:solidFill>
                <a:latin typeface="Arial"/>
                <a:ea typeface="Microsoft YaHei"/>
              </a:rPr>
              <a:t>because, since, as, so that.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Hedging: </a:t>
            </a:r>
            <a:r>
              <a:rPr sz="1700" b="0">
                <a:solidFill>
                  <a:srgbClr val="1F2A44"/>
                </a:solidFill>
                <a:latin typeface="Arial"/>
                <a:ea typeface="Microsoft YaHei"/>
              </a:rPr>
              <a:t>can, may, might, tends to, is likely to.</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can helps writing.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can help with writing.</a:t>
            </a:r>
          </a:p>
          <a:p>
            <a:pPr algn="l">
              <a:spcAft>
                <a:spcPts val="200"/>
              </a:spcAft>
            </a:pPr>
            <a:r>
              <a:rPr sz="1200" b="0">
                <a:solidFill>
                  <a:srgbClr val="FFFFFF"/>
                </a:solidFill>
                <a:latin typeface="Arial"/>
                <a:ea typeface="Microsoft YaHei"/>
              </a:rPr>
              <a:t>can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AI is generate ads.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AI generates ads.</a:t>
            </a:r>
          </a:p>
          <a:p>
            <a:pPr algn="l">
              <a:spcAft>
                <a:spcPts val="200"/>
              </a:spcAft>
            </a:pPr>
            <a:r>
              <a:rPr sz="1200" b="0">
                <a:solidFill>
                  <a:srgbClr val="FFFFFF"/>
                </a:solidFill>
                <a:latin typeface="Arial"/>
                <a:ea typeface="Microsoft YaHei"/>
              </a:rPr>
              <a:t>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Customers don’t like be cheated.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don’t like being cheated.</a:t>
            </a:r>
          </a:p>
          <a:p>
            <a:pPr algn="l">
              <a:spcAft>
                <a:spcPts val="200"/>
              </a:spcAft>
            </a:pPr>
            <a:r>
              <a:rPr sz="1200" b="0">
                <a:solidFill>
                  <a:srgbClr val="FFFFFF"/>
                </a:solidFill>
                <a:latin typeface="Arial"/>
                <a:ea typeface="Microsoft YaHei"/>
              </a:rPr>
              <a:t>like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a human touch thing.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needs a human touch.</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chatbot answer questions.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chatbot answers questions.</a:t>
            </a:r>
          </a:p>
          <a:p>
            <a:pPr algn="l">
              <a:spcAft>
                <a:spcPts val="200"/>
              </a:spcAft>
            </a:pPr>
            <a:r>
              <a:rPr sz="1200" b="0">
                <a:solidFill>
                  <a:srgbClr val="FFFFFF"/>
                </a:solidFill>
                <a:latin typeface="Arial"/>
                <a:ea typeface="Microsoft YaHei"/>
              </a:rPr>
              <a:t>第三人称单数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to tell the customers about use AI.</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to tell customers when we use AI.</a:t>
            </a:r>
          </a:p>
          <a:p>
            <a:pPr algn="l">
              <a:spcAft>
                <a:spcPts val="200"/>
              </a:spcAft>
            </a:pPr>
            <a:r>
              <a:rPr sz="1200" b="0">
                <a:solidFill>
                  <a:srgbClr val="FFFFFF"/>
                </a:solidFill>
                <a:latin typeface="Arial"/>
                <a:ea typeface="Microsoft YaHei"/>
              </a:rPr>
              <a:t>when 从句</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can + base verb, like + -ing, and tell customers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Disclosure laws: </a:t>
            </a:r>
            <a:r>
              <a:rPr sz="1700" b="0">
                <a:solidFill>
                  <a:srgbClr val="1F2A44"/>
                </a:solidFill>
                <a:latin typeface="Arial"/>
                <a:ea typeface="Microsoft YaHei"/>
              </a:rPr>
              <a:t>Some jurisdictions require labelling of AI-generated content in advertising. Check local rules.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Brand safety: </a:t>
            </a:r>
            <a:r>
              <a:rPr sz="1700" b="0">
                <a:solidFill>
                  <a:srgbClr val="1F2A44"/>
                </a:solidFill>
                <a:latin typeface="Arial"/>
                <a:ea typeface="Microsoft YaHei"/>
              </a:rPr>
              <a:t>One poorly checked AI post can damage a brand quickly.</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Human review: </a:t>
            </a:r>
            <a:r>
              <a:rPr sz="1700" b="0">
                <a:solidFill>
                  <a:srgbClr val="1F2A44"/>
                </a:solidFill>
                <a:latin typeface="Arial"/>
                <a:ea typeface="Microsoft YaHei"/>
              </a:rPr>
              <a:t>Human review is usually expected for public-facing content.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can 后用动词原形;like + -ing;tell customers when we use AI。AI 用于营销时要保持透明、保留人工审核。</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where AI helps in marketing.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guidelines with reasons.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policy modals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can + base verb and like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92 Marketing in the Age of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modal verbs for policy, like + -ing, and hedging.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93 AI and Recruitment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and Recruitment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与招聘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AI in hiring: screening CVs, chatbots, video interviews, bias and fairness, candidate experience and how to use it responsibly.</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be comfortable being interviewed by an AI system?</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AI help recruiters?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using AI to screen candidates?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candidates prepare for AI-based screening?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candidates be told when AI is used in hiring?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screening = 初筛;applicant tracking system (ATS) = 招聘管理系统;keyword = 关键词。bias in algorithms = 算法偏见。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the pros and cons of using AI in recruitment.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how it’s used</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safeguards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your view</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AI can speed up…, but it may also…   💬 To reduce bias, recruiters should…   💬 Candidates deserve to know…</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deserve to know = 有权知道。To reduce bias, … 目的状语开头。 may also 表示可能性。</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Hired by an Algorithm?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Recruiters often receive hundreds of applications for one role, so many organisations use software to sort CVs, schedule interviews and answer candidates’ questions. Some tools analyse language or video responses. Supporters say these systems save time, apply the same criteria to everyone and let recruiters focus on conversations. Critics warn that algorithms learn from past hiring data, which may contain bias, and that qualified people may be rejected for reasons that are hard to explain. Candidates may also feel they are being judged by a machine. To use AI responsibly, employers should test tools for fairness, keep humans involved in decisions and tell candidates how technology is used. Applicants, for their part, can use clear job-related language in their CVs and prepare for automated steps just as they would for a normal interview.</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organisations use software in recruitment?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sort CVs, schedule interviews and answer candidate questions.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critics warn about?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Algorithms may learn bias from past data and reject qualified people for reasons that are hard to explain.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employers use AI responsibly?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Test for fairness, keep humans involved and tell candidates how it is used.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Hiring technology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招聘技术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applicant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申请人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received 300 applicants.”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screening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初筛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“CV screening is automated.”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shortlist</a:t>
            </a:r>
          </a:p>
          <a:p>
            <a:pPr algn="l">
              <a:lnSpc>
                <a:spcPct val="115000"/>
              </a:lnSpc>
              <a:spcAft>
                <a:spcPts val="800"/>
              </a:spcAft>
            </a:pPr>
            <a:r>
              <a:rPr sz="1300" b="0">
                <a:solidFill>
                  <a:srgbClr val="5F677A"/>
                </a:solidFill>
                <a:latin typeface="Arial"/>
                <a:ea typeface="Microsoft YaHei"/>
              </a:rPr>
              <a:t>verb / 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入围名单</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shortlist has five names.”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algorithm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算法</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algorithm ranks CVs.”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candidate experience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求职者体验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poor candidate experience harms the brand.”</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applicant tracking system (ATS)</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招聘管理系统</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ATS filters applications.”</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Fairness and judgement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公平与判断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algorithmic bias</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算法偏见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“Algorithmic bias can exclude good candidates.”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screen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筛掉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system screened out qualified people.”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transparent</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透明的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process should be transparent.”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audit</a:t>
            </a:r>
          </a:p>
          <a:p>
            <a:pPr algn="l">
              <a:lnSpc>
                <a:spcPct val="115000"/>
              </a:lnSpc>
              <a:spcAft>
                <a:spcPts val="800"/>
              </a:spcAft>
            </a:pPr>
            <a:r>
              <a:rPr sz="1300" b="0">
                <a:solidFill>
                  <a:srgbClr val="5F677A"/>
                </a:solidFill>
                <a:latin typeface="Arial"/>
                <a:ea typeface="Microsoft YaHei"/>
              </a:rPr>
              <a:t>verb / 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审计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“Companies audit their tools for bias.”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playing field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公平竞争环境</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should create a level playing field.”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human oversight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人工监督</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“Human oversight is essential.”</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入围名单</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求职者体验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candidate experience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申请人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applicant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公平竞争环境</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playing field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招聘管理系统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applicant tracking system (ATS)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人工监督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human oversight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初筛</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筛掉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 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applicant</a:t>
            </a:r>
          </a:p>
        </p:txBody>
      </p:sp>
      <p:sp>
        <p:nvSpPr>
          <p:cNvPr id="10" name="Rounded Rectangle 9"/>
          <p:cNvSpPr/>
          <p:nvPr/>
        </p:nvSpPr>
        <p:spPr>
          <a:xfrm>
            <a:off x="345643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screening</a:t>
            </a:r>
          </a:p>
        </p:txBody>
      </p:sp>
      <p:sp>
        <p:nvSpPr>
          <p:cNvPr id="11" name="Rounded Rectangle 10"/>
          <p:cNvSpPr/>
          <p:nvPr/>
        </p:nvSpPr>
        <p:spPr>
          <a:xfrm>
            <a:off x="490118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shortlist</a:t>
            </a:r>
          </a:p>
        </p:txBody>
      </p:sp>
      <p:sp>
        <p:nvSpPr>
          <p:cNvPr id="12" name="Rounded Rectangle 11"/>
          <p:cNvSpPr/>
          <p:nvPr/>
        </p:nvSpPr>
        <p:spPr>
          <a:xfrm>
            <a:off x="634593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algorithm</a:t>
            </a:r>
          </a:p>
        </p:txBody>
      </p:sp>
      <p:sp>
        <p:nvSpPr>
          <p:cNvPr id="13" name="Rounded Rectangle 12"/>
          <p:cNvSpPr/>
          <p:nvPr/>
        </p:nvSpPr>
        <p:spPr>
          <a:xfrm>
            <a:off x="7790688" y="987552"/>
            <a:ext cx="212140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Algorithmic bias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Each _______ has to complete an online form.</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applicant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Automated _______ saves recruiters time.</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screening</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invited five people from the _______.</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An _______ ranks CVs by relevance.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algorithm</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can reproduce unfairness from historical data.</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Algorithmic bias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Fair hiring needs _______ at every stage.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human oversight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candidate/applicant, algorithm (not “algorythm”), recruitment (not “recruitement”). Apply for a job (not “apply to a job”), apply to a company. Be shortlisted for. Screen candidates. Bias against (not “bias to”). Reject an application / turn down a candidate.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AI screening in a hiring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在招聘会议上讨论AI初筛</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HR is considering an AI tool to screen CVs. You discuss pros and cons with the HR director.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Anne Ho, HR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Pike, HR director</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screening in a hiring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Anne</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Pike, I’ve looked at the AI screening tool we discussed.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Pike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your first impressions?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can speed up the process. We get several hundred applicants for each post.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downside?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Algorithms may learn bias from past data, so qualified candidates could be screened out unfairly.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screening in a hiring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we reduce that?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reduce bias, we should test the tool on sample data and audit the results regularly.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people still be involved?</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Humans should review the shortlist and make the final decisions.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candidates?</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screening in a hiring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deserve to know how technology is used. We should explain it on our careers page.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Reasonable. Can we run a pilot?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on one department for three months.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draft the pilot plan.</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AI screening in a hiring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screening.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manager. Concern: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director. Ask about benefits and risks.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speed up · bias · screened out · audit · human oversight · deserve to know</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benefits, risks and safeguards, and agree a pilot.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Pike says: “Humans are biased too.”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notice to candidates explaining use of AI.</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three tips for candidates facing automated screening.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apply for a job if AI screened your CV?</a:t>
            </a:r>
          </a:p>
          <a:p>
            <a:pPr algn="l">
              <a:lnSpc>
                <a:spcPct val="115000"/>
              </a:lnSpc>
              <a:spcAft>
                <a:spcPts val="800"/>
              </a:spcAft>
            </a:pPr>
            <a:r>
              <a:rPr sz="1400" b="0">
                <a:solidFill>
                  <a:srgbClr val="5F677A"/>
                </a:solidFill>
                <a:latin typeface="Arial"/>
                <a:ea typeface="Microsoft YaHei"/>
              </a:rPr>
              <a:t>💬 “I would, but I’d want to know… “</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AI make hiring fairer?</a:t>
            </a:r>
          </a:p>
          <a:p>
            <a:pPr algn="l">
              <a:lnSpc>
                <a:spcPct val="115000"/>
              </a:lnSpc>
              <a:spcAft>
                <a:spcPts val="800"/>
              </a:spcAft>
            </a:pPr>
            <a:r>
              <a:rPr sz="1400" b="0">
                <a:solidFill>
                  <a:srgbClr val="5F677A"/>
                </a:solidFill>
                <a:latin typeface="Arial"/>
                <a:ea typeface="Microsoft YaHei"/>
              </a:rPr>
              <a:t>💬 “It can in some ways, e.g.…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companies tell candidates about AI?</a:t>
            </a:r>
          </a:p>
          <a:p>
            <a:pPr algn="l">
              <a:lnSpc>
                <a:spcPct val="115000"/>
              </a:lnSpc>
              <a:spcAft>
                <a:spcPts val="800"/>
              </a:spcAft>
            </a:pPr>
            <a:r>
              <a:rPr sz="1400" b="0">
                <a:solidFill>
                  <a:srgbClr val="5F677A"/>
                </a:solidFill>
                <a:latin typeface="Arial"/>
                <a:ea typeface="Microsoft YaHei"/>
              </a:rPr>
              <a:t>💬 “They should explain… / Candidates deserve…”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will recruiters need in the future?</a:t>
            </a:r>
          </a:p>
          <a:p>
            <a:pPr algn="l">
              <a:lnSpc>
                <a:spcPct val="115000"/>
              </a:lnSpc>
              <a:spcAft>
                <a:spcPts val="800"/>
              </a:spcAft>
            </a:pPr>
            <a:r>
              <a:rPr sz="1400" b="0">
                <a:solidFill>
                  <a:srgbClr val="5F677A"/>
                </a:solidFill>
                <a:latin typeface="Arial"/>
                <a:ea typeface="Microsoft YaHei"/>
              </a:rPr>
              <a:t>💬 “They’ll need to understand… / interpret…”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AI can make hiring fairer in some ways, for example by applying the same criteria to every application and ignoring details like name or photo. But it can also make hiring less fair if it learns from biased past decisions. So the answer depends on how the system is designed, tested and supervised. I’d say AI is a tool that can support fairness, but it can’t guarantee it without human oversight.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supervised = 被监督。”applying the same criteria” = 采用相同标准。guarantee = 保证。”depends on” = 取决于。</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AI chooses people.</a:t>
                      </a:r>
                    </a:p>
                  </a:txBody>
                  <a:tcPr anchor="ctr">
                    <a:solidFill>
                      <a:srgbClr val="FFFFFF"/>
                    </a:solidFill>
                  </a:tcPr>
                </a:tc>
                <a:tc>
                  <a:txBody>
                    <a:bodyPr wrap="square"/>
                    <a:lstStyle/>
                    <a:p>
                      <a:r>
                        <a:rPr sz="1600" b="0">
                          <a:solidFill>
                            <a:srgbClr val="1F2A44"/>
                          </a:solidFill>
                          <a:latin typeface="Arial"/>
                          <a:ea typeface="Microsoft YaHei"/>
                        </a:rPr>
                        <a:t>AI helps to screen and rank applications.</a:t>
                      </a:r>
                    </a:p>
                  </a:txBody>
                  <a:tcPr anchor="ctr">
                    <a:solidFill>
                      <a:srgbClr val="FFFFFF"/>
                    </a:solidFill>
                  </a:tcPr>
                </a:tc>
                <a:tc>
                  <a:txBody>
                    <a:bodyPr wrap="square"/>
                    <a:lstStyle/>
                    <a:p>
                      <a:r>
                        <a:rPr sz="1600" b="0">
                          <a:solidFill>
                            <a:srgbClr val="FF6B5B"/>
                          </a:solidFill>
                          <a:latin typeface="Arial"/>
                          <a:ea typeface="Microsoft YaHei"/>
                        </a:rPr>
                        <a:t>准确</a:t>
                      </a:r>
                    </a:p>
                  </a:txBody>
                  <a:tcPr anchor="ctr">
                    <a:solidFill>
                      <a:srgbClr val="FFFFFF"/>
                    </a:solidFill>
                  </a:tcPr>
                </a:tc>
              </a:tr>
              <a:tr h="652272">
                <a:tc>
                  <a:txBody>
                    <a:bodyPr wrap="square"/>
                    <a:lstStyle/>
                    <a:p>
                      <a:r>
                        <a:rPr sz="1600" b="1">
                          <a:solidFill>
                            <a:srgbClr val="1F2A44"/>
                          </a:solidFill>
                          <a:latin typeface="Arial"/>
                          <a:ea typeface="Microsoft YaHei"/>
                        </a:rPr>
                        <a:t>It is unfair.</a:t>
                      </a:r>
                    </a:p>
                  </a:txBody>
                  <a:tcPr anchor="ctr">
                    <a:solidFill>
                      <a:srgbClr val="FFEFD9"/>
                    </a:solidFill>
                  </a:tcPr>
                </a:tc>
                <a:tc>
                  <a:txBody>
                    <a:bodyPr wrap="square"/>
                    <a:lstStyle/>
                    <a:p>
                      <a:r>
                        <a:rPr sz="1600" b="0">
                          <a:solidFill>
                            <a:srgbClr val="1F2A44"/>
                          </a:solidFill>
                          <a:latin typeface="Arial"/>
                          <a:ea typeface="Microsoft YaHei"/>
                        </a:rPr>
                        <a:t>It may disadvantage certain groups.</a:t>
                      </a:r>
                    </a:p>
                  </a:txBody>
                  <a:tcPr anchor="ctr">
                    <a:solidFill>
                      <a:srgbClr val="FFEFD9"/>
                    </a:solidFill>
                  </a:tcPr>
                </a:tc>
                <a:tc>
                  <a:txBody>
                    <a:bodyPr wrap="square"/>
                    <a:lstStyle/>
                    <a:p>
                      <a:r>
                        <a:rPr sz="1600" b="0">
                          <a:solidFill>
                            <a:srgbClr val="FF6B5B"/>
                          </a:solidFill>
                          <a:latin typeface="Arial"/>
                          <a:ea typeface="Microsoft YaHei"/>
                        </a:rPr>
                        <a:t>谨慎</a:t>
                      </a:r>
                    </a:p>
                  </a:txBody>
                  <a:tcPr anchor="ctr">
                    <a:solidFill>
                      <a:srgbClr val="FFEFD9"/>
                    </a:solidFill>
                  </a:tcPr>
                </a:tc>
              </a:tr>
              <a:tr h="652272">
                <a:tc>
                  <a:txBody>
                    <a:bodyPr wrap="square"/>
                    <a:lstStyle/>
                    <a:p>
                      <a:r>
                        <a:rPr sz="1600" b="1">
                          <a:solidFill>
                            <a:srgbClr val="1F2A44"/>
                          </a:solidFill>
                          <a:latin typeface="Arial"/>
                          <a:ea typeface="Microsoft YaHei"/>
                        </a:rPr>
                        <a:t>The machine decides.</a:t>
                      </a:r>
                    </a:p>
                  </a:txBody>
                  <a:tcPr anchor="ctr">
                    <a:solidFill>
                      <a:srgbClr val="FFFFFF"/>
                    </a:solidFill>
                  </a:tcPr>
                </a:tc>
                <a:tc>
                  <a:txBody>
                    <a:bodyPr wrap="square"/>
                    <a:lstStyle/>
                    <a:p>
                      <a:r>
                        <a:rPr sz="1600" b="0">
                          <a:solidFill>
                            <a:srgbClr val="1F2A44"/>
                          </a:solidFill>
                          <a:latin typeface="Arial"/>
                          <a:ea typeface="Microsoft YaHei"/>
                        </a:rPr>
                        <a:t>A human makes the final decision.</a:t>
                      </a:r>
                    </a:p>
                  </a:txBody>
                  <a:tcPr anchor="ctr">
                    <a:solidFill>
                      <a:srgbClr val="FFFFFF"/>
                    </a:solidFill>
                  </a:tcPr>
                </a:tc>
                <a:tc>
                  <a:txBody>
                    <a:bodyPr wrap="square"/>
                    <a:lstStyle/>
                    <a:p>
                      <a:r>
                        <a:rPr sz="1600" b="0">
                          <a:solidFill>
                            <a:srgbClr val="FF6B5B"/>
                          </a:solidFill>
                          <a:latin typeface="Arial"/>
                          <a:ea typeface="Microsoft YaHei"/>
                        </a:rPr>
                        <a:t>强调人</a:t>
                      </a:r>
                    </a:p>
                  </a:txBody>
                  <a:tcPr anchor="ctr">
                    <a:solidFill>
                      <a:srgbClr val="FFFFFF"/>
                    </a:solidFill>
                  </a:tcPr>
                </a:tc>
              </a:tr>
              <a:tr h="408432">
                <a:tc>
                  <a:txBody>
                    <a:bodyPr wrap="square"/>
                    <a:lstStyle/>
                    <a:p>
                      <a:r>
                        <a:rPr sz="1600" b="1">
                          <a:solidFill>
                            <a:srgbClr val="1F2A44"/>
                          </a:solidFill>
                          <a:latin typeface="Arial"/>
                          <a:ea typeface="Microsoft YaHei"/>
                        </a:rPr>
                        <a:t>Tell them.</a:t>
                      </a:r>
                    </a:p>
                  </a:txBody>
                  <a:tcPr anchor="ctr">
                    <a:solidFill>
                      <a:srgbClr val="FFEFD9"/>
                    </a:solidFill>
                  </a:tcPr>
                </a:tc>
                <a:tc>
                  <a:txBody>
                    <a:bodyPr wrap="square"/>
                    <a:lstStyle/>
                    <a:p>
                      <a:r>
                        <a:rPr sz="1600" b="0">
                          <a:solidFill>
                            <a:srgbClr val="1F2A44"/>
                          </a:solidFill>
                          <a:latin typeface="Arial"/>
                          <a:ea typeface="Microsoft YaHei"/>
                        </a:rPr>
                        <a:t>Candidates should be informed.</a:t>
                      </a:r>
                    </a:p>
                  </a:txBody>
                  <a:tcPr anchor="ctr">
                    <a:solidFill>
                      <a:srgbClr val="FFEFD9"/>
                    </a:solidFill>
                  </a:tcPr>
                </a:tc>
                <a:tc>
                  <a:txBody>
                    <a:bodyPr wrap="square"/>
                    <a:lstStyle/>
                    <a:p>
                      <a:r>
                        <a:rPr sz="1600" b="0">
                          <a:solidFill>
                            <a:srgbClr val="FF6B5B"/>
                          </a:solidFill>
                          <a:latin typeface="Arial"/>
                          <a:ea typeface="Microsoft YaHei"/>
                        </a:rPr>
                        <a:t>被动</a:t>
                      </a:r>
                    </a:p>
                  </a:txBody>
                  <a:tcPr anchor="ctr">
                    <a:solidFill>
                      <a:srgbClr val="FFEFD9"/>
                    </a:solidFill>
                  </a:tcPr>
                </a:tc>
              </a:tr>
              <a:tr h="652272">
                <a:tc>
                  <a:txBody>
                    <a:bodyPr wrap="square"/>
                    <a:lstStyle/>
                    <a:p>
                      <a:r>
                        <a:rPr sz="1600" b="1">
                          <a:solidFill>
                            <a:srgbClr val="1F2A44"/>
                          </a:solidFill>
                          <a:latin typeface="Arial"/>
                          <a:ea typeface="Microsoft YaHei"/>
                        </a:rPr>
                        <a:t>Test it.</a:t>
                      </a:r>
                    </a:p>
                  </a:txBody>
                  <a:tcPr anchor="ctr">
                    <a:solidFill>
                      <a:srgbClr val="FFFFFF"/>
                    </a:solidFill>
                  </a:tcPr>
                </a:tc>
                <a:tc>
                  <a:txBody>
                    <a:bodyPr wrap="square"/>
                    <a:lstStyle/>
                    <a:p>
                      <a:r>
                        <a:rPr sz="1600" b="0">
                          <a:solidFill>
                            <a:srgbClr val="1F2A44"/>
                          </a:solidFill>
                          <a:latin typeface="Arial"/>
                          <a:ea typeface="Microsoft YaHei"/>
                        </a:rPr>
                        <a:t>We should test it for bias before use.</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bl>
          </a:graphicData>
        </a:graphic>
      </p:graphicFrame>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Modal verbs for recommendations: </a:t>
            </a:r>
            <a:r>
              <a:rPr sz="1700" b="0">
                <a:solidFill>
                  <a:srgbClr val="1F2A44"/>
                </a:solidFill>
                <a:latin typeface="Arial"/>
                <a:ea typeface="Microsoft YaHei"/>
              </a:rPr>
              <a:t>should, ought to, need to, deserve to.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Concession: </a:t>
            </a:r>
            <a:r>
              <a:rPr sz="1700" b="0">
                <a:solidFill>
                  <a:srgbClr val="1F2A44"/>
                </a:solidFill>
                <a:latin typeface="Arial"/>
                <a:ea typeface="Microsoft YaHei"/>
              </a:rPr>
              <a:t>Although AI is fast, it can be biased.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Purpose infinitive: </a:t>
            </a:r>
            <a:r>
              <a:rPr sz="1700" b="0">
                <a:solidFill>
                  <a:srgbClr val="1F2A44"/>
                </a:solidFill>
                <a:latin typeface="Arial"/>
                <a:ea typeface="Microsoft YaHei"/>
              </a:rPr>
              <a:t>To reduce bias, we…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Passive: </a:t>
            </a:r>
            <a:r>
              <a:rPr sz="1700" b="0">
                <a:solidFill>
                  <a:srgbClr val="1F2A44"/>
                </a:solidFill>
                <a:latin typeface="Arial"/>
                <a:ea typeface="Microsoft YaHei"/>
              </a:rPr>
              <a:t>“Applications are screened by software.” / “Candidates should be informed.”</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Apply to a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Apply for a job</a:t>
            </a:r>
          </a:p>
          <a:p>
            <a:pPr algn="l">
              <a:spcAft>
                <a:spcPts val="200"/>
              </a:spcAft>
            </a:pPr>
            <a:r>
              <a:rPr sz="1200" b="0">
                <a:solidFill>
                  <a:srgbClr val="FFFFFF"/>
                </a:solidFill>
                <a:latin typeface="Arial"/>
                <a:ea typeface="Microsoft YaHei"/>
              </a:rPr>
              <a:t>apply for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is biased to some groups.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can be biased against some groups.</a:t>
            </a:r>
          </a:p>
          <a:p>
            <a:pPr algn="l">
              <a:spcAft>
                <a:spcPts val="200"/>
              </a:spcAft>
            </a:pPr>
            <a:r>
              <a:rPr sz="1200" b="0">
                <a:solidFill>
                  <a:srgbClr val="FFFFFF"/>
                </a:solidFill>
                <a:latin typeface="Arial"/>
                <a:ea typeface="Microsoft YaHei"/>
              </a:rPr>
              <a:t>bias against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can’t to be fair.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can’t be fair.</a:t>
            </a:r>
          </a:p>
          <a:p>
            <a:pPr algn="l">
              <a:spcAft>
                <a:spcPts val="200"/>
              </a:spcAft>
            </a:pPr>
            <a:r>
              <a:rPr sz="1200" b="0">
                <a:solidFill>
                  <a:srgbClr val="FFFFFF"/>
                </a:solidFill>
                <a:latin typeface="Arial"/>
                <a:ea typeface="Microsoft YaHei"/>
              </a:rPr>
              <a:t>can’t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received many applicants CVs.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received many applicants’ CVs.</a:t>
            </a:r>
          </a:p>
          <a:p>
            <a:pPr algn="l">
              <a:spcAft>
                <a:spcPts val="200"/>
              </a:spcAft>
            </a:pPr>
            <a:r>
              <a:rPr sz="1200" b="0">
                <a:solidFill>
                  <a:srgbClr val="FFFFFF"/>
                </a:solidFill>
                <a:latin typeface="Arial"/>
                <a:ea typeface="Microsoft YaHei"/>
              </a:rPr>
              <a:t>所有格</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the process more faster.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the process faster.</a:t>
            </a:r>
          </a:p>
          <a:p>
            <a:pPr algn="l">
              <a:spcAft>
                <a:spcPts val="200"/>
              </a:spcAft>
            </a:pPr>
            <a:r>
              <a:rPr sz="1200" b="0">
                <a:solidFill>
                  <a:srgbClr val="FFFFFF"/>
                </a:solidFill>
                <a:latin typeface="Arial"/>
                <a:ea typeface="Microsoft YaHei"/>
              </a:rPr>
              <a:t>faster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using AI.</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using AI.</a:t>
            </a:r>
          </a:p>
          <a:p>
            <a:pPr algn="l">
              <a:spcAft>
                <a:spcPts val="200"/>
              </a:spcAft>
            </a:pPr>
            <a:r>
              <a:rPr sz="1200" b="0">
                <a:solidFill>
                  <a:srgbClr val="FFFFFF"/>
                </a:solidFill>
                <a:latin typeface="Arial"/>
                <a:ea typeface="Microsoft YaHei"/>
              </a:rPr>
              <a:t>agree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apply for, bias against, and possessives (applicants’).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Legal rules: </a:t>
            </a:r>
            <a:r>
              <a:rPr sz="1700" b="0">
                <a:solidFill>
                  <a:srgbClr val="1F2A44"/>
                </a:solidFill>
                <a:latin typeface="Arial"/>
                <a:ea typeface="Microsoft YaHei"/>
              </a:rPr>
              <a:t>Some places regulate automated decision-making in hiring. Employers must comply.</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CV language: </a:t>
            </a:r>
            <a:r>
              <a:rPr sz="1700" b="0">
                <a:solidFill>
                  <a:srgbClr val="1F2A44"/>
                </a:solidFill>
                <a:latin typeface="Arial"/>
                <a:ea typeface="Microsoft YaHei"/>
              </a:rPr>
              <a:t>Clear, job-related wording and standard headings help both humans and software.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Candidate feedback: </a:t>
            </a:r>
            <a:r>
              <a:rPr sz="1700" b="0">
                <a:solidFill>
                  <a:srgbClr val="1F2A44"/>
                </a:solidFill>
                <a:latin typeface="Arial"/>
                <a:ea typeface="Microsoft YaHei"/>
              </a:rPr>
              <a:t>Even automated processes should provide a respectful candidate experience.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apply for a job;bias against;所有格 applicants’ CVs。AI 招聘需要透明、测试和人工监督。</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pros and cons of AI in recruitment.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safeguards.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and modal structures for recommendations.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apply for, bias against and possessives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93 AI and Recruitment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apply for, bias against, and possessives.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94 Losing Jobs to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Losing Jobs to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AI 会抢走工作吗?</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discuss the effect of AI on jobs: which tasks are affected, new roles, reskilling, how employers and governments might respond, and how to argue about uncertain predictions.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worry that AI could affect your job? Why or why not?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jobs are most likely to change?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new jobs might AI create?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workers do to prepare?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Whose responsibility is it to help people who lose their jobs?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displace = 取代;reskill / upskill = 转换/提升技能;automation = 自动化。第 1 题可用 “I’m not too worried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balanced view of AI and employment.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tasks vs jobs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who is affected</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new opportunities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support</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conclusion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AI is more likely to change tasks than eliminate whole jobs.   💬 Some roles may…   💬 Workers can prepare by…</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more likely to… than… 比较。eliminate = 消除。prepare by + -ing。</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Tasks, Not Just Jobs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Whenever a new technology arrives, people worry about jobs. AI is no exception. Forecasts about its effects differ widely, and nobody can say with certainty what will happen. What seems likely is that AI will change many tasks, particularly routine ones such as drafting standard documents, sorting information and answering common questions. A job is usually a bundle of tasks, so some roles may shrink, others may change and new ones, such as AI trainers or data specialists, may appear. Workers with skills that complement AI, like judgement, creativity and interpersonal skills, are often expected to be in demand. Even so, the transition could be painful for some people, especially if it is fast. Training, career support and sensible policy will matter. The question is not only how many jobs change, but how fairly the change is managed.</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forecasts differ?</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Nobody can say with certainty; the effects are uncertain and vary widely.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job, according to the passage?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bundle of tasks, so some tasks may change while the job continues.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skills may be in demand?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Skills that complement AI: judgement, creativity and interpersonal skills.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AI and employment AI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与就业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automation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自动化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“Automation affects factory jobs.”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redundancy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裁员/失业(英)</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announced redundancies.”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reskill / upskill</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转换/提升技能</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upskill staff for new tools.”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market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就业市场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job market is changing.”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displace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could displace some workers.”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workforce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劳动力</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workforce needs training.”</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Preparing for change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为变化做准备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job security</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工作保障</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security is a worry.”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future-proof</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使不被淘汰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skills that future-proof your career.”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transferable skills</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可迁移技能</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“Transferable skills are valuable.”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lifelong learning</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终身学习</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“Lifelong learning is essential.”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demand</a:t>
            </a:r>
          </a:p>
          <a:p>
            <a:pPr algn="l">
              <a:lnSpc>
                <a:spcPct val="115000"/>
              </a:lnSpc>
              <a:spcAft>
                <a:spcPts val="800"/>
              </a:spcAft>
            </a:pPr>
            <a:r>
              <a:rPr sz="1300" b="0">
                <a:solidFill>
                  <a:srgbClr val="5F677A"/>
                </a:solidFill>
                <a:latin typeface="Arial"/>
                <a:ea typeface="Microsoft YaHei"/>
              </a:rPr>
              <a:t>adjective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受欢迎/需求大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skills are in demand.”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safety net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保障网</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safety net helps displaced workers.”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自动化</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转换/提升技能</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reskill / upskill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终身学习</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lifelong learning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保障网</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safety net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工作保障</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security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使不被淘汰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future-proof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取代</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displace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就业市场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market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Automation</a:t>
            </a:r>
          </a:p>
        </p:txBody>
      </p:sp>
      <p:sp>
        <p:nvSpPr>
          <p:cNvPr id="10" name="Rounded Rectangle 9"/>
          <p:cNvSpPr/>
          <p:nvPr/>
        </p:nvSpPr>
        <p:spPr>
          <a:xfrm>
            <a:off x="3566160"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redundancies</a:t>
            </a:r>
          </a:p>
        </p:txBody>
      </p:sp>
      <p:sp>
        <p:nvSpPr>
          <p:cNvPr id="11" name="Rounded Rectangle 10"/>
          <p:cNvSpPr/>
          <p:nvPr/>
        </p:nvSpPr>
        <p:spPr>
          <a:xfrm>
            <a:off x="5340095"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upskill</a:t>
            </a:r>
          </a:p>
        </p:txBody>
      </p:sp>
      <p:sp>
        <p:nvSpPr>
          <p:cNvPr id="12" name="Rounded Rectangle 11"/>
          <p:cNvSpPr/>
          <p:nvPr/>
        </p:nvSpPr>
        <p:spPr>
          <a:xfrm>
            <a:off x="6565391"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job market</a:t>
            </a:r>
          </a:p>
        </p:txBody>
      </p:sp>
      <p:sp>
        <p:nvSpPr>
          <p:cNvPr id="13" name="Rounded Rectangle 12"/>
          <p:cNvSpPr/>
          <p:nvPr/>
        </p:nvSpPr>
        <p:spPr>
          <a:xfrm>
            <a:off x="8119871"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future-proof</a:t>
            </a:r>
          </a:p>
        </p:txBody>
      </p:sp>
      <p:sp>
        <p:nvSpPr>
          <p:cNvPr id="14" name="Rounded Rectangle 13"/>
          <p:cNvSpPr/>
          <p:nvPr/>
        </p:nvSpPr>
        <p:spPr>
          <a:xfrm>
            <a:off x="9893806"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safety net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has changed many tasks in factories.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firm announced 200 _______ last month.</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redundancies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Employers should help staff to _______ for new technology.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upskill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_______ is competitive for new graduates.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market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Learning new skills can help to _______ your career.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future-proof</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Retraining programmes act as a _______ for displaced workers.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safety net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AI and jobs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与同事讨论AI与就业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lunch, you and a colleague discuss whether AI could affect your department.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Nick Sun,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Lisa Ford, colleague</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jobs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Nick</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Lisa, have you been following the news about AI and jobs?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Lisa</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Some people say it will take over a lot of work. Does it worry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bit, but I’m not too worried. AI is more likely to change tasks than eliminate entire jobs.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tasks?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Routine ones, like preparing standard reports. That could free us for analysis.</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jobs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what if the company needs fewer people?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possible. Some roles may shrink. That’s why it’s wise to build transferable skills.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Such as?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Communication, problem-solving and understanding the business. And learning to use AI tools well.</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started an online course on data analysis.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jobs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It may help to future-proof your career.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the company should help?</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Training and clear communication are important. It’s better to prepare than to be surprised.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AI and jobs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and jobs.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View: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Raise a worry.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more likely to · routine tasks · transferable skills · upskill · future-proof · in demand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balanced view and one practical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Lisa says: “AI will take everyone’s job.” Respond calmly.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skills that complement AI.</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two sentences predicting the effect of AI on your field, hedged.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jobs are most likely to change because of AI?</a:t>
            </a:r>
          </a:p>
          <a:p>
            <a:pPr algn="l">
              <a:lnSpc>
                <a:spcPct val="115000"/>
              </a:lnSpc>
              <a:spcAft>
                <a:spcPts val="800"/>
              </a:spcAft>
            </a:pPr>
            <a:r>
              <a:rPr sz="1400" b="0">
                <a:solidFill>
                  <a:srgbClr val="5F677A"/>
                </a:solidFill>
                <a:latin typeface="Arial"/>
                <a:ea typeface="Microsoft YaHei"/>
              </a:rPr>
              <a:t>💬 “Jobs with many routine tasks… “</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new jobs might AI create?</a:t>
            </a:r>
          </a:p>
          <a:p>
            <a:pPr algn="l">
              <a:lnSpc>
                <a:spcPct val="115000"/>
              </a:lnSpc>
              <a:spcAft>
                <a:spcPts val="800"/>
              </a:spcAft>
            </a:pPr>
            <a:r>
              <a:rPr sz="1400" b="0">
                <a:solidFill>
                  <a:srgbClr val="5F677A"/>
                </a:solidFill>
                <a:latin typeface="Arial"/>
                <a:ea typeface="Microsoft YaHei"/>
              </a:rPr>
              <a:t>💬 “Roles such as… might appear.”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Whose responsibility is it to support affected workers?</a:t>
            </a:r>
          </a:p>
          <a:p>
            <a:pPr algn="l">
              <a:lnSpc>
                <a:spcPct val="115000"/>
              </a:lnSpc>
              <a:spcAft>
                <a:spcPts val="800"/>
              </a:spcAft>
            </a:pPr>
            <a:r>
              <a:rPr sz="1400" b="0">
                <a:solidFill>
                  <a:srgbClr val="5F677A"/>
                </a:solidFill>
                <a:latin typeface="Arial"/>
                <a:ea typeface="Microsoft YaHei"/>
              </a:rPr>
              <a:t>💬 “It should be shared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prepare for changes in your field?</a:t>
            </a:r>
          </a:p>
          <a:p>
            <a:pPr algn="l">
              <a:lnSpc>
                <a:spcPct val="115000"/>
              </a:lnSpc>
              <a:spcAft>
                <a:spcPts val="800"/>
              </a:spcAft>
            </a:pPr>
            <a:r>
              <a:rPr sz="1400" b="0">
                <a:solidFill>
                  <a:srgbClr val="5F677A"/>
                </a:solidFill>
                <a:latin typeface="Arial"/>
                <a:ea typeface="Microsoft YaHei"/>
              </a:rPr>
              <a:t>💬 “I can…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responsibility should be shared. Employers should offer notice, retraining and fair treatment when roles change. Governments can fund training, support people between jobs and keep the safety net strong. Individuals also need to keep learning, but they can’t be expected to manage a big transition alone. If one group is left to bear all the cost, the result is likely to be unfair and unstable.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notice = 通知期。bear the cost = 承担成本。unstable = 不稳定的。”between jobs” = 失业过渡期间。</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AI will steal jobs.</a:t>
                      </a:r>
                    </a:p>
                  </a:txBody>
                  <a:tcPr anchor="ctr">
                    <a:solidFill>
                      <a:srgbClr val="FFFFFF"/>
                    </a:solidFill>
                  </a:tcPr>
                </a:tc>
                <a:tc>
                  <a:txBody>
                    <a:bodyPr wrap="square"/>
                    <a:lstStyle/>
                    <a:p>
                      <a:r>
                        <a:rPr sz="1600" b="0">
                          <a:solidFill>
                            <a:srgbClr val="1F2A44"/>
                          </a:solidFill>
                          <a:latin typeface="Arial"/>
                          <a:ea typeface="Microsoft YaHei"/>
                        </a:rPr>
                        <a:t>AI may change the nature of some jobs.</a:t>
                      </a:r>
                    </a:p>
                  </a:txBody>
                  <a:tcPr anchor="ctr">
                    <a:solidFill>
                      <a:srgbClr val="FFFFFF"/>
                    </a:solidFill>
                  </a:tcPr>
                </a:tc>
                <a:tc>
                  <a:txBody>
                    <a:bodyPr wrap="square"/>
                    <a:lstStyle/>
                    <a:p>
                      <a:r>
                        <a:rPr sz="1600" b="0">
                          <a:solidFill>
                            <a:srgbClr val="FF6B5B"/>
                          </a:solidFill>
                          <a:latin typeface="Arial"/>
                          <a:ea typeface="Microsoft YaHei"/>
                        </a:rPr>
                        <a:t>平衡</a:t>
                      </a:r>
                    </a:p>
                  </a:txBody>
                  <a:tcPr anchor="ctr">
                    <a:solidFill>
                      <a:srgbClr val="FFFFFF"/>
                    </a:solidFill>
                  </a:tcPr>
                </a:tc>
              </a:tr>
              <a:tr h="652272">
                <a:tc>
                  <a:txBody>
                    <a:bodyPr wrap="square"/>
                    <a:lstStyle/>
                    <a:p>
                      <a:r>
                        <a:rPr sz="1600" b="1">
                          <a:solidFill>
                            <a:srgbClr val="1F2A44"/>
                          </a:solidFill>
                          <a:latin typeface="Arial"/>
                          <a:ea typeface="Microsoft YaHei"/>
                        </a:rPr>
                        <a:t>I’ll lose my job.</a:t>
                      </a:r>
                    </a:p>
                  </a:txBody>
                  <a:tcPr anchor="ctr">
                    <a:solidFill>
                      <a:srgbClr val="FFEFD9"/>
                    </a:solidFill>
                  </a:tcPr>
                </a:tc>
                <a:tc>
                  <a:txBody>
                    <a:bodyPr wrap="square"/>
                    <a:lstStyle/>
                    <a:p>
                      <a:r>
                        <a:rPr sz="1600" b="0">
                          <a:solidFill>
                            <a:srgbClr val="1F2A44"/>
                          </a:solidFill>
                          <a:latin typeface="Arial"/>
                          <a:ea typeface="Microsoft YaHei"/>
                        </a:rPr>
                        <a:t>My role might change, so I’m upskilling.</a:t>
                      </a:r>
                    </a:p>
                  </a:txBody>
                  <a:tcPr anchor="ctr">
                    <a:solidFill>
                      <a:srgbClr val="FFEFD9"/>
                    </a:solidFill>
                  </a:tcPr>
                </a:tc>
                <a:tc>
                  <a:txBody>
                    <a:bodyPr wrap="square"/>
                    <a:lstStyle/>
                    <a:p>
                      <a:r>
                        <a:rPr sz="1600" b="0">
                          <a:solidFill>
                            <a:srgbClr val="FF6B5B"/>
                          </a:solidFill>
                          <a:latin typeface="Arial"/>
                          <a:ea typeface="Microsoft YaHei"/>
                        </a:rPr>
                        <a:t>积极</a:t>
                      </a:r>
                    </a:p>
                  </a:txBody>
                  <a:tcPr anchor="ctr">
                    <a:solidFill>
                      <a:srgbClr val="FFEFD9"/>
                    </a:solidFill>
                  </a:tcPr>
                </a:tc>
              </a:tr>
              <a:tr h="408432">
                <a:tc>
                  <a:txBody>
                    <a:bodyPr wrap="square"/>
                    <a:lstStyle/>
                    <a:p>
                      <a:r>
                        <a:rPr sz="1600" b="1">
                          <a:solidFill>
                            <a:srgbClr val="1F2A44"/>
                          </a:solidFill>
                          <a:latin typeface="Arial"/>
                          <a:ea typeface="Microsoft YaHei"/>
                        </a:rPr>
                        <a:t>Nobody knows.</a:t>
                      </a:r>
                    </a:p>
                  </a:txBody>
                  <a:tcPr anchor="ctr">
                    <a:solidFill>
                      <a:srgbClr val="FFFFFF"/>
                    </a:solidFill>
                  </a:tcPr>
                </a:tc>
                <a:tc>
                  <a:txBody>
                    <a:bodyPr wrap="square"/>
                    <a:lstStyle/>
                    <a:p>
                      <a:r>
                        <a:rPr sz="1600" b="0">
                          <a:solidFill>
                            <a:srgbClr val="1F2A44"/>
                          </a:solidFill>
                          <a:latin typeface="Arial"/>
                          <a:ea typeface="Microsoft YaHei"/>
                        </a:rPr>
                        <a:t>The effects are uncertain.</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652272">
                <a:tc>
                  <a:txBody>
                    <a:bodyPr wrap="square"/>
                    <a:lstStyle/>
                    <a:p>
                      <a:r>
                        <a:rPr sz="1600" b="1">
                          <a:solidFill>
                            <a:srgbClr val="1F2A44"/>
                          </a:solidFill>
                          <a:latin typeface="Arial"/>
                          <a:ea typeface="Microsoft YaHei"/>
                        </a:rPr>
                        <a:t>People must learn.</a:t>
                      </a:r>
                    </a:p>
                  </a:txBody>
                  <a:tcPr anchor="ctr">
                    <a:solidFill>
                      <a:srgbClr val="FFEFD9"/>
                    </a:solidFill>
                  </a:tcPr>
                </a:tc>
                <a:tc>
                  <a:txBody>
                    <a:bodyPr wrap="square"/>
                    <a:lstStyle/>
                    <a:p>
                      <a:r>
                        <a:rPr sz="1600" b="0">
                          <a:solidFill>
                            <a:srgbClr val="1F2A44"/>
                          </a:solidFill>
                          <a:latin typeface="Arial"/>
                          <a:ea typeface="Microsoft YaHei"/>
                        </a:rPr>
                        <a:t>Workers will need to keep learning.</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408432">
                <a:tc>
                  <a:txBody>
                    <a:bodyPr wrap="square"/>
                    <a:lstStyle/>
                    <a:p>
                      <a:r>
                        <a:rPr sz="1600" b="1">
                          <a:solidFill>
                            <a:srgbClr val="1F2A44"/>
                          </a:solidFill>
                          <a:latin typeface="Arial"/>
                          <a:ea typeface="Microsoft YaHei"/>
                        </a:rPr>
                        <a:t>It’s bad for workers.</a:t>
                      </a:r>
                    </a:p>
                  </a:txBody>
                  <a:tcPr anchor="ctr">
                    <a:solidFill>
                      <a:srgbClr val="FFFFFF"/>
                    </a:solidFill>
                  </a:tcPr>
                </a:tc>
                <a:tc>
                  <a:txBody>
                    <a:bodyPr wrap="square"/>
                    <a:lstStyle/>
                    <a:p>
                      <a:r>
                        <a:rPr sz="1600" b="0">
                          <a:solidFill>
                            <a:srgbClr val="1F2A44"/>
                          </a:solidFill>
                          <a:latin typeface="Arial"/>
                          <a:ea typeface="Microsoft YaHei"/>
                        </a:rPr>
                        <a:t>It poses risks for some workers.</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bl>
          </a:graphicData>
        </a:graphic>
      </p:graphicFrame>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Future predictions: </a:t>
            </a:r>
            <a:r>
              <a:rPr sz="1700" b="0">
                <a:solidFill>
                  <a:srgbClr val="1F2A44"/>
                </a:solidFill>
                <a:latin typeface="Arial"/>
                <a:ea typeface="Microsoft YaHei"/>
              </a:rPr>
              <a:t>will, may, might, is likely to, could.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Contrast tasks vs jobs: </a:t>
            </a:r>
            <a:r>
              <a:rPr sz="1700" b="0">
                <a:solidFill>
                  <a:srgbClr val="1F2A44"/>
                </a:solidFill>
                <a:latin typeface="Arial"/>
                <a:ea typeface="Microsoft YaHei"/>
              </a:rPr>
              <a:t>rather than, instead of, not only… but also.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Conditionals: </a:t>
            </a:r>
            <a:r>
              <a:rPr sz="1700" b="0">
                <a:solidFill>
                  <a:srgbClr val="1F2A44"/>
                </a:solidFill>
                <a:latin typeface="Arial"/>
                <a:ea typeface="Microsoft YaHei"/>
              </a:rPr>
              <a:t>If routine tasks are automated, workers could focus on…</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Careful claims: </a:t>
            </a:r>
            <a:r>
              <a:rPr sz="1700" b="0">
                <a:solidFill>
                  <a:srgbClr val="1F2A44"/>
                </a:solidFill>
                <a:latin typeface="Arial"/>
                <a:ea typeface="Microsoft YaHei"/>
              </a:rPr>
              <a:t>Some researchers believe…, Forecasts vary…, It seems likely that…</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will surely take all jobs.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may change many jobs.</a:t>
            </a:r>
          </a:p>
          <a:p>
            <a:pPr algn="l">
              <a:spcAft>
                <a:spcPts val="200"/>
              </a:spcAft>
            </a:pPr>
            <a:r>
              <a:rPr sz="1200" b="0">
                <a:solidFill>
                  <a:srgbClr val="FFFFFF"/>
                </a:solidFill>
                <a:latin typeface="Arial"/>
                <a:ea typeface="Microsoft YaHei"/>
              </a:rPr>
              <a:t>避免绝对化</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people will unemployed.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Many people may become unemployed.</a:t>
            </a:r>
          </a:p>
          <a:p>
            <a:pPr algn="l">
              <a:spcAft>
                <a:spcPts val="200"/>
              </a:spcAft>
            </a:pPr>
            <a:r>
              <a:rPr sz="1200" b="0">
                <a:solidFill>
                  <a:srgbClr val="FFFFFF"/>
                </a:solidFill>
                <a:latin typeface="Arial"/>
                <a:ea typeface="Microsoft YaHei"/>
              </a:rPr>
              <a:t>become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afraid for lose my job.</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of losing my job.</a:t>
            </a:r>
          </a:p>
          <a:p>
            <a:pPr algn="l">
              <a:spcAft>
                <a:spcPts val="200"/>
              </a:spcAft>
            </a:pPr>
            <a:r>
              <a:rPr sz="1200" b="0">
                <a:solidFill>
                  <a:srgbClr val="FFFFFF"/>
                </a:solidFill>
                <a:latin typeface="Arial"/>
                <a:ea typeface="Microsoft YaHei"/>
              </a:rPr>
              <a:t>afraid of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workers will be replaced from AI.</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Workers may be replaced by AI.</a:t>
            </a:r>
          </a:p>
          <a:p>
            <a:pPr algn="l">
              <a:spcAft>
                <a:spcPts val="200"/>
              </a:spcAft>
            </a:pPr>
            <a:r>
              <a:rPr sz="1200" b="0">
                <a:solidFill>
                  <a:srgbClr val="FFFFFF"/>
                </a:solidFill>
                <a:latin typeface="Arial"/>
                <a:ea typeface="Microsoft YaHei"/>
              </a:rPr>
              <a:t>by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fired because AI.</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were laid off because of AI.</a:t>
            </a:r>
          </a:p>
          <a:p>
            <a:pPr algn="l">
              <a:spcAft>
                <a:spcPts val="200"/>
              </a:spcAft>
            </a:pPr>
            <a:r>
              <a:rPr sz="1200" b="0">
                <a:solidFill>
                  <a:srgbClr val="FFFFFF"/>
                </a:solidFill>
                <a:latin typeface="Arial"/>
                <a:ea typeface="Microsoft YaHei"/>
              </a:rPr>
              <a:t>because of + 名词</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Technology take jobs.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Technology can take over jobs. / Technology changes jobs.</a:t>
            </a:r>
          </a:p>
          <a:p>
            <a:pPr algn="l">
              <a:spcAft>
                <a:spcPts val="200"/>
              </a:spcAft>
            </a:pPr>
            <a:r>
              <a:rPr sz="1200" b="0">
                <a:solidFill>
                  <a:srgbClr val="FFFFFF"/>
                </a:solidFill>
                <a:latin typeface="Arial"/>
                <a:ea typeface="Microsoft YaHei"/>
              </a:rPr>
              <a:t>谨慎表述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afraid of + -ing, passive with by, and avoiding absolutes.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Language of layoffs: </a:t>
            </a:r>
            <a:r>
              <a:rPr sz="1700" b="0">
                <a:solidFill>
                  <a:srgbClr val="1F2A44"/>
                </a:solidFill>
                <a:latin typeface="Arial"/>
                <a:ea typeface="Microsoft YaHei"/>
              </a:rPr>
              <a:t>“Redundancy” (UK) vs “layoff” (US). Both carry sensitivity; speak respectfully.</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Sensitive topic: </a:t>
            </a:r>
            <a:r>
              <a:rPr sz="1700" b="0">
                <a:solidFill>
                  <a:srgbClr val="1F2A44"/>
                </a:solidFill>
                <a:latin typeface="Arial"/>
                <a:ea typeface="Microsoft YaHei"/>
              </a:rPr>
              <a:t>Colleagues may be anxious; avoid dramatic predictions.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Evidence: </a:t>
            </a:r>
            <a:r>
              <a:rPr sz="1700" b="0">
                <a:solidFill>
                  <a:srgbClr val="1F2A44"/>
                </a:solidFill>
                <a:latin typeface="Arial"/>
                <a:ea typeface="Microsoft YaHei"/>
              </a:rPr>
              <a:t>Forecasts vary widely; cite the source and date.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afraid of + -ing;被动 by;because of + 名词。谈 AI 与就业要平衡、有证据,不要绝对化。</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balanced view on AI and employment.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hedged predictions.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afraid of + -ing and passive with by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skills and steps to prepare for change.</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94 Losing Jobs to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hedged predictions, afraid of + -ing, and passive with by.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95 AI “supersonic Tsunami”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“supersonic Tsunami”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超音速海啸”</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use metaphors and strong language carefully when discussing the speed and scale of AI change; evaluate dramatic claims critically.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dramatic phrases about AI, like “revolution” or “tsunami”? What do they mean?</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use strong metaphors for technology?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AI really changing things faster than other technologies did?</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tell hype from reality?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tell a nervous colleague about AI change?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tsunami = 海啸;supersonic = 超音速的;hype = 炒作。本课题目用比喻形容AI变化之快。第 4 题:look for evidence, sources, and specifics。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Evaluate a dramatic claim about AI using evidence and balanced language.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claim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what’s true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what’s exaggerated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conclusion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It’s true that…, but…   💬 The claim seems exaggerated because…   💬 What we can say with confidence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seem exaggerated = 似乎夸大。What we can say with confidence is… 表达有把握的结论。</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Wave or Ripple?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Commentators sometimes describe AI as a “tsunami” or a “supersonic” force that will sweep through every industry. Such images are memorable, and they capture a real feeling: new tools have appeared quickly, and many organisations struggle to keep up. But metaphors can mislead. A tsunami is destructive and unstoppable, whereas the effect of technology depends partly on choices people make about rules, training and use. Previous technologies, from electricity to the internet, also spread quickly in some ways but took years to change how companies actually worked. Careful readers ask questions: who is making the claim, what evidence do they offer and what do they want us to do? Strong language can attract attention or sell a product. A calm approach is to watch developments closely, experiment on a small scale and avoid both panic and complacency.</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the “tsunami” metaphor capture?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feeling that new tools appeared quickly and organisations struggle to keep up.</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metaphors mislead?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tsunami is unstoppable, but technology effects depend on human choices.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questions should careful readers ask?</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Who is making the claim, what evidence, and what they want us to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Strong language and hype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强烈措辞与炒作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hype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炒作</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lot of hype around AI.”</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metaphor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比喻</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metaphor is dramatic.”</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exaggerate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夸大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headline exaggerates the risk.”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evidence</a:t>
            </a:r>
          </a:p>
          <a:p>
            <a:pPr algn="l">
              <a:lnSpc>
                <a:spcPct val="115000"/>
              </a:lnSpc>
              <a:spcAft>
                <a:spcPts val="800"/>
              </a:spcAft>
            </a:pPr>
            <a:r>
              <a:rPr sz="1300" b="0">
                <a:solidFill>
                  <a:srgbClr val="5F677A"/>
                </a:solidFill>
                <a:latin typeface="Arial"/>
                <a:ea typeface="Microsoft YaHei"/>
              </a:rPr>
              <a:t>noun (uncountable)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证据</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little evidence for that claim.”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claim</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声称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claims huge savings.”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sceptical</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持怀疑态度的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sceptical about big promises.”</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Thinking critically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批判性思考</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game-changer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改变格局的事物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call AI a game-changer.”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sweep across</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席卷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new technology can sweep across industries.”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up with</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hard to keep up with developments.”</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with a pinch of salt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持保留态度</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take dramatic claims with a pinch of salt.”</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separate hype from reality</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区分炒作与现实</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separate hype from reality.”</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overstate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夸大</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report overstates the speed of change.”</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区分炒作与现实</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separate hype from reality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夸大</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exaggerate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比喻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metaphor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声称</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claim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炒作</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hype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证据</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evidence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持怀疑态度的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sceptical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跟上</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up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hype</a:t>
            </a:r>
          </a:p>
        </p:txBody>
      </p:sp>
      <p:sp>
        <p:nvSpPr>
          <p:cNvPr id="10" name="Rounded Rectangle 9"/>
          <p:cNvSpPr/>
          <p:nvPr/>
        </p:nvSpPr>
        <p:spPr>
          <a:xfrm>
            <a:off x="290779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metaphor</a:t>
            </a:r>
          </a:p>
        </p:txBody>
      </p:sp>
      <p:sp>
        <p:nvSpPr>
          <p:cNvPr id="11" name="Rounded Rectangle 10"/>
          <p:cNvSpPr/>
          <p:nvPr/>
        </p:nvSpPr>
        <p:spPr>
          <a:xfrm>
            <a:off x="4242816"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exaggerates</a:t>
            </a:r>
          </a:p>
        </p:txBody>
      </p:sp>
      <p:sp>
        <p:nvSpPr>
          <p:cNvPr id="12" name="Rounded Rectangle 11"/>
          <p:cNvSpPr/>
          <p:nvPr/>
        </p:nvSpPr>
        <p:spPr>
          <a:xfrm>
            <a:off x="5907023"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evidence</a:t>
            </a:r>
          </a:p>
        </p:txBody>
      </p:sp>
      <p:sp>
        <p:nvSpPr>
          <p:cNvPr id="13" name="Rounded Rectangle 12"/>
          <p:cNvSpPr/>
          <p:nvPr/>
        </p:nvSpPr>
        <p:spPr>
          <a:xfrm>
            <a:off x="7242047"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sceptical</a:t>
            </a:r>
          </a:p>
        </p:txBody>
      </p:sp>
      <p:sp>
        <p:nvSpPr>
          <p:cNvPr id="14" name="Rounded Rectangle 13"/>
          <p:cNvSpPr/>
          <p:nvPr/>
        </p:nvSpPr>
        <p:spPr>
          <a:xfrm>
            <a:off x="8686799"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game-changer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There’s a lot of _______ around new AI products.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hype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“Tsunami” is a dramatic _______ for rapid change.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metaphor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headline _______ the risk.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exaggerates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Where’s the _______ for that claim?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evidence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_______ about big promises from vendors.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sceptical</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 people call AI a _______ for business.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game-changer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Questioning a dramatic claim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质疑夸张说法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team meeting, a colleague quotes an article calling AI a “supersonic tsunami”. You respond.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Eve Choi,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Paul Wu, colleague</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Questioning a dramatic claim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Eve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Paul, I saw that article too, with the “supersonic tsunami” headline. It’s certainly dramatic.</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Paul</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AI is advancing quickly. It feels like we can’t keep up.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true that tools have changed fast, but I think the claim seems exaggerated.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tsunami is unstoppable. But how we use AI depends on choices, like training, rules and priorities.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But aren’t some companies already using it widely?</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Questioning a dramatic claim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are, but many are still experimenting. What we can say with confidence is that change is real and uneven.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should we do?</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Watch developments, try small pilots and avoid both panic and complacency.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check who’s making the claims?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Ask what evidence they give and what they want us to do.</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advice. Shall we plan a pilot?</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Let’s pick one task to test next month.</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Questioning a dramatic claim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question a dramatic claim.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Claim: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Defend the claim.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it’s true that · seems exaggerated · evidence · what we can say · pilot · take with a pinch of salt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question with evidence and propose a calm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Paul says: “If we don’t act now, we’ll be left behind.”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Rewrite a dramatic headline in neutral language.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questions to ask about a news claim.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AI is changing business faster than past technologies?</a:t>
            </a:r>
          </a:p>
          <a:p>
            <a:pPr algn="l">
              <a:lnSpc>
                <a:spcPct val="115000"/>
              </a:lnSpc>
              <a:spcAft>
                <a:spcPts val="800"/>
              </a:spcAft>
            </a:pPr>
            <a:r>
              <a:rPr sz="1400" b="0">
                <a:solidFill>
                  <a:srgbClr val="5F677A"/>
                </a:solidFill>
                <a:latin typeface="Arial"/>
                <a:ea typeface="Microsoft YaHei"/>
              </a:rPr>
              <a:t>💬 “It’s hard to say… / In some respects…”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use dramatic language for technology?</a:t>
            </a:r>
          </a:p>
          <a:p>
            <a:pPr algn="l">
              <a:lnSpc>
                <a:spcPct val="115000"/>
              </a:lnSpc>
              <a:spcAft>
                <a:spcPts val="800"/>
              </a:spcAft>
            </a:pPr>
            <a:r>
              <a:rPr sz="1400" b="0">
                <a:solidFill>
                  <a:srgbClr val="5F677A"/>
                </a:solidFill>
                <a:latin typeface="Arial"/>
                <a:ea typeface="Microsoft YaHei"/>
              </a:rPr>
              <a:t>💬 “To attract attention… / To sell…”</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tell hype from reality?</a:t>
            </a:r>
          </a:p>
          <a:p>
            <a:pPr algn="l">
              <a:lnSpc>
                <a:spcPct val="115000"/>
              </a:lnSpc>
              <a:spcAft>
                <a:spcPts val="800"/>
              </a:spcAft>
            </a:pPr>
            <a:r>
              <a:rPr sz="1400" b="0">
                <a:solidFill>
                  <a:srgbClr val="5F677A"/>
                </a:solidFill>
                <a:latin typeface="Arial"/>
                <a:ea typeface="Microsoft YaHei"/>
              </a:rPr>
              <a:t>💬 “By checking… / Looking for…”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sensible response to rapid change?</a:t>
            </a:r>
          </a:p>
          <a:p>
            <a:pPr algn="l">
              <a:lnSpc>
                <a:spcPct val="115000"/>
              </a:lnSpc>
              <a:spcAft>
                <a:spcPts val="800"/>
              </a:spcAft>
            </a:pPr>
            <a:r>
              <a:rPr sz="1400" b="0">
                <a:solidFill>
                  <a:srgbClr val="5F677A"/>
                </a:solidFill>
                <a:latin typeface="Arial"/>
                <a:ea typeface="Microsoft YaHei"/>
              </a:rPr>
              <a:t>💬 “Stay informed… / Test on a small scale…”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tell hype from reality, I look at who is making the claim and whether they have something to sell. I check for evidence such as data, examples and independent sources, rather than slogans. I also look for specifics: which tasks, which industries, by when? Vague claims with no details are often a warning sign. And I try to compare several sources before forming an opinion.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independent sources = 独立信源。specifics = 具体细节。”warning sign” = 警示信号。”forming an opinion” = 形成观点。</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This is false.</a:t>
                      </a:r>
                    </a:p>
                  </a:txBody>
                  <a:tcPr anchor="ctr">
                    <a:solidFill>
                      <a:srgbClr val="FFFFFF"/>
                    </a:solidFill>
                  </a:tcPr>
                </a:tc>
                <a:tc>
                  <a:txBody>
                    <a:bodyPr wrap="square"/>
                    <a:lstStyle/>
                    <a:p>
                      <a:r>
                        <a:rPr sz="1600" b="0">
                          <a:solidFill>
                            <a:srgbClr val="1F2A44"/>
                          </a:solidFill>
                          <a:latin typeface="Arial"/>
                          <a:ea typeface="Microsoft YaHei"/>
                        </a:rPr>
                        <a:t>I’m not convinced by that claim.</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408432">
                <a:tc>
                  <a:txBody>
                    <a:bodyPr wrap="square"/>
                    <a:lstStyle/>
                    <a:p>
                      <a:r>
                        <a:rPr sz="1600" b="1">
                          <a:solidFill>
                            <a:srgbClr val="1F2A44"/>
                          </a:solidFill>
                          <a:latin typeface="Arial"/>
                          <a:ea typeface="Microsoft YaHei"/>
                        </a:rPr>
                        <a:t>It’s exaggeration.</a:t>
                      </a:r>
                    </a:p>
                  </a:txBody>
                  <a:tcPr anchor="ctr">
                    <a:solidFill>
                      <a:srgbClr val="FFEFD9"/>
                    </a:solidFill>
                  </a:tcPr>
                </a:tc>
                <a:tc>
                  <a:txBody>
                    <a:bodyPr wrap="square"/>
                    <a:lstStyle/>
                    <a:p>
                      <a:r>
                        <a:rPr sz="1600" b="0">
                          <a:solidFill>
                            <a:srgbClr val="1F2A44"/>
                          </a:solidFill>
                          <a:latin typeface="Arial"/>
                          <a:ea typeface="Microsoft YaHei"/>
                        </a:rPr>
                        <a:t>That seems a bit exaggerated.</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408432">
                <a:tc>
                  <a:txBody>
                    <a:bodyPr wrap="square"/>
                    <a:lstStyle/>
                    <a:p>
                      <a:r>
                        <a:rPr sz="1600" b="1">
                          <a:solidFill>
                            <a:srgbClr val="1F2A44"/>
                          </a:solidFill>
                          <a:latin typeface="Arial"/>
                          <a:ea typeface="Microsoft YaHei"/>
                        </a:rPr>
                        <a:t>Where is proof?</a:t>
                      </a:r>
                    </a:p>
                  </a:txBody>
                  <a:tcPr anchor="ctr">
                    <a:solidFill>
                      <a:srgbClr val="FFFFFF"/>
                    </a:solidFill>
                  </a:tcPr>
                </a:tc>
                <a:tc>
                  <a:txBody>
                    <a:bodyPr wrap="square"/>
                    <a:lstStyle/>
                    <a:p>
                      <a:r>
                        <a:rPr sz="1600" b="0">
                          <a:solidFill>
                            <a:srgbClr val="1F2A44"/>
                          </a:solidFill>
                          <a:latin typeface="Arial"/>
                          <a:ea typeface="Microsoft YaHei"/>
                        </a:rPr>
                        <a:t>What evidence is there for that?</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Don’t panic.</a:t>
                      </a:r>
                    </a:p>
                  </a:txBody>
                  <a:tcPr anchor="ctr">
                    <a:solidFill>
                      <a:srgbClr val="FFEFD9"/>
                    </a:solidFill>
                  </a:tcPr>
                </a:tc>
                <a:tc>
                  <a:txBody>
                    <a:bodyPr wrap="square"/>
                    <a:lstStyle/>
                    <a:p>
                      <a:r>
                        <a:rPr sz="1600" b="0">
                          <a:solidFill>
                            <a:srgbClr val="1F2A44"/>
                          </a:solidFill>
                          <a:latin typeface="Arial"/>
                          <a:ea typeface="Microsoft YaHei"/>
                        </a:rPr>
                        <a:t>Let’s stay calm and look at the facts.</a:t>
                      </a:r>
                    </a:p>
                  </a:txBody>
                  <a:tcPr anchor="ctr">
                    <a:solidFill>
                      <a:srgbClr val="FFEFD9"/>
                    </a:solidFill>
                  </a:tcPr>
                </a:tc>
                <a:tc>
                  <a:txBody>
                    <a:bodyPr wrap="square"/>
                    <a:lstStyle/>
                    <a:p>
                      <a:r>
                        <a:rPr sz="1600" b="0">
                          <a:solidFill>
                            <a:srgbClr val="FF6B5B"/>
                          </a:solidFill>
                          <a:latin typeface="Arial"/>
                          <a:ea typeface="Microsoft YaHei"/>
                        </a:rPr>
                        <a:t>积极</a:t>
                      </a:r>
                    </a:p>
                  </a:txBody>
                  <a:tcPr anchor="ctr">
                    <a:solidFill>
                      <a:srgbClr val="FFEFD9"/>
                    </a:solidFill>
                  </a:tcPr>
                </a:tc>
              </a:tr>
              <a:tr h="408432">
                <a:tc>
                  <a:txBody>
                    <a:bodyPr wrap="square"/>
                    <a:lstStyle/>
                    <a:p>
                      <a:r>
                        <a:rPr sz="1600" b="1">
                          <a:solidFill>
                            <a:srgbClr val="1F2A44"/>
                          </a:solidFill>
                          <a:latin typeface="Arial"/>
                          <a:ea typeface="Microsoft YaHei"/>
                        </a:rPr>
                        <a:t>Everyone says.</a:t>
                      </a:r>
                    </a:p>
                  </a:txBody>
                  <a:tcPr anchor="ctr">
                    <a:solidFill>
                      <a:srgbClr val="FFFFFF"/>
                    </a:solidFill>
                  </a:tcPr>
                </a:tc>
                <a:tc>
                  <a:txBody>
                    <a:bodyPr wrap="square"/>
                    <a:lstStyle/>
                    <a:p>
                      <a:r>
                        <a:rPr sz="1600" b="0">
                          <a:solidFill>
                            <a:srgbClr val="1F2A44"/>
                          </a:solidFill>
                          <a:latin typeface="Arial"/>
                          <a:ea typeface="Microsoft YaHei"/>
                        </a:rPr>
                        <a:t>Some commentators argue that…</a:t>
                      </a:r>
                    </a:p>
                  </a:txBody>
                  <a:tcPr anchor="ctr">
                    <a:solidFill>
                      <a:srgbClr val="FFFFFF"/>
                    </a:solidFill>
                  </a:tcPr>
                </a:tc>
                <a:tc>
                  <a:txBody>
                    <a:bodyPr wrap="square"/>
                    <a:lstStyle/>
                    <a:p>
                      <a:r>
                        <a:rPr sz="1600" b="0">
                          <a:solidFill>
                            <a:srgbClr val="FF6B5B"/>
                          </a:solidFill>
                          <a:latin typeface="Arial"/>
                          <a:ea typeface="Microsoft YaHei"/>
                        </a:rPr>
                        <a:t>具体来源</a:t>
                      </a:r>
                    </a:p>
                  </a:txBody>
                  <a:tcPr anchor="ctr">
                    <a:solidFill>
                      <a:srgbClr val="FFFFFF"/>
                    </a:solidFill>
                  </a:tcPr>
                </a:tc>
              </a:tr>
            </a:tbl>
          </a:graphicData>
        </a:graphic>
      </p:graphicFrame>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Hedged disagreement: </a:t>
            </a:r>
            <a:r>
              <a:rPr sz="1700" b="0">
                <a:solidFill>
                  <a:srgbClr val="1F2A44"/>
                </a:solidFill>
                <a:latin typeface="Arial"/>
                <a:ea typeface="Microsoft YaHei"/>
              </a:rPr>
              <a:t>I’m not sure that’s the whole picture. / That may be overstated.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Concession and contrast: </a:t>
            </a:r>
            <a:r>
              <a:rPr sz="1700" b="0">
                <a:solidFill>
                  <a:srgbClr val="1F2A44"/>
                </a:solidFill>
                <a:latin typeface="Arial"/>
                <a:ea typeface="Microsoft YaHei"/>
              </a:rPr>
              <a:t>It’s true that…, but…; Admittedly…, however…</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Careful verbs: </a:t>
            </a:r>
            <a:r>
              <a:rPr sz="1700" b="0">
                <a:solidFill>
                  <a:srgbClr val="1F2A44"/>
                </a:solidFill>
                <a:latin typeface="Arial"/>
                <a:ea typeface="Microsoft YaHei"/>
              </a:rPr>
              <a:t>suggest, indicate, appear, claim, argue (instead of “prove”).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Questions about evidence: </a:t>
            </a:r>
            <a:r>
              <a:rPr sz="1700" b="0">
                <a:solidFill>
                  <a:srgbClr val="1F2A44"/>
                </a:solidFill>
                <a:latin typeface="Arial"/>
                <a:ea typeface="Microsoft YaHei"/>
              </a:rPr>
              <a:t>Where does that come from? How was it measured? Who is saying this?</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evidence are weak.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evidence is weak.</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skeptical to this claim.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sceptical about this claim.</a:t>
            </a:r>
          </a:p>
          <a:p>
            <a:pPr algn="l">
              <a:spcAft>
                <a:spcPts val="200"/>
              </a:spcAft>
            </a:pPr>
            <a:r>
              <a:rPr sz="1200" b="0">
                <a:solidFill>
                  <a:srgbClr val="FFFFFF"/>
                </a:solidFill>
                <a:latin typeface="Arial"/>
                <a:ea typeface="Microsoft YaHei"/>
              </a:rPr>
              <a:t>sceptical about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prove AI is dangerous.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doesn’t prove that AI is dangerous.</a:t>
            </a:r>
          </a:p>
          <a:p>
            <a:pPr algn="l">
              <a:spcAft>
                <a:spcPts val="200"/>
              </a:spcAft>
            </a:pPr>
            <a:r>
              <a:rPr sz="1200" b="0">
                <a:solidFill>
                  <a:srgbClr val="FFFFFF"/>
                </a:solidFill>
                <a:latin typeface="Arial"/>
                <a:ea typeface="Microsoft YaHei"/>
              </a:rPr>
              <a:t>prove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hypes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lot of hype</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exaggerates too much.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exaggerates the risk.</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Don’t be panic.</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Don’t panic.</a:t>
            </a:r>
          </a:p>
          <a:p>
            <a:pPr algn="l">
              <a:spcAft>
                <a:spcPts val="200"/>
              </a:spcAft>
            </a:pPr>
            <a:r>
              <a:rPr sz="1200" b="0">
                <a:solidFill>
                  <a:srgbClr val="FFFFFF"/>
                </a:solidFill>
                <a:latin typeface="Arial"/>
                <a:ea typeface="Microsoft YaHei"/>
              </a:rPr>
              <a:t>panic 是动词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evidence / hype, sceptical about, and prove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Headlines: </a:t>
            </a:r>
            <a:r>
              <a:rPr sz="1700" b="0">
                <a:solidFill>
                  <a:srgbClr val="1F2A44"/>
                </a:solidFill>
                <a:latin typeface="Arial"/>
                <a:ea typeface="Microsoft YaHei"/>
              </a:rPr>
              <a:t>Newspaper headlines often use strong metaphors; read the article before judging.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Spelling: </a:t>
            </a:r>
            <a:r>
              <a:rPr sz="1700" b="0">
                <a:solidFill>
                  <a:srgbClr val="1F2A44"/>
                </a:solidFill>
                <a:latin typeface="Arial"/>
                <a:ea typeface="Microsoft YaHei"/>
              </a:rPr>
              <a:t>UK: sceptical; US: skeptical.</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Tone: </a:t>
            </a:r>
            <a:r>
              <a:rPr sz="1700" b="0">
                <a:solidFill>
                  <a:srgbClr val="1F2A44"/>
                </a:solidFill>
                <a:latin typeface="Arial"/>
                <a:ea typeface="Microsoft YaHei"/>
              </a:rPr>
              <a:t>Disagree with the claim, not the person.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evidence / hype 不可数;sceptical about;don’t panic。讨论炒作时要问证据、来源和细节。</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question dramatic claims politely.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difference between evidence and hype.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careful verbs (suggest, indicate).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evidence / hype and sceptical about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95 AI “supersonic Tsunami”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evidence / hype, sceptical about, and hedged disagreement.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96 Digital Cloning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Digital Cloning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数字克隆</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digital cloning (AI-generated copies of voices, faces or personalities): uses, consent, risks, business opportunities and the ethical questions.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of AI voice or face cloning? What do you think of it?</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legitimate uses might there be?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dangers does it create?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people own the rights to their voice and likeness?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company use this technology responsibly?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clone = 克隆;likeness = 肖像/形象;consent = 同意;deepfake = 深度伪造。第 4 题涉及版权、人格权。</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benefits and risks of digital cloning and propose rules.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rules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Digital cloning refers to…   💬 It could be useful for…, but…   💬 Anyone whose voice is used should have given…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refers to = 指的是。whose voice 是定语从句。should have given consent(被动更常用:consent should be obtained)。</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 Copy of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Digital cloning uses AI to create realistic copies of a person’s voice, face or style of speech. Legitimate uses are easy to imagine: actors lending their voices to dubbing in other languages, companies creating training videos without repeated filming, or people with speech difficulties preserving their own voice. But the same technology can be misused. Fake audio or video can spread false information, damage reputations or be used in scams. Questions of consent and ownership arise: who controls a person’s likeness, and what happens after they die? Many experts argue that clear rules are needed, including permission before cloning, labels on synthetic content and protection for performers. Businesses that want to use the technology should be transparent, pay fairly for use of a person’s voice or image and keep records of consent.</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legitimate uses are mentioned?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Dubbing in other languages, training videos without repeated filming, and preserving the voices of people with speech difficulties.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the risks?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False information, damaged reputations and scams.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many experts argue?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 rules are needed: permission, labels on synthetic content and protection for performers.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Cloning and consent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克隆与同意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clone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数字克隆体</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created a digital clone of her voice.”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deepfake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深度伪造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video was a deepfake.”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likeness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肖像/相貌</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sued over the use of his likeness.”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consent</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“Written consent is required.”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synthetic</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合成的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“Synthetic voices sound natural.”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impersonate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冒充</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“Scammers impersonate executives.”</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Rules and responsibility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规则与责任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misuse</a:t>
            </a:r>
          </a:p>
          <a:p>
            <a:pPr algn="l">
              <a:lnSpc>
                <a:spcPct val="115000"/>
              </a:lnSpc>
              <a:spcAft>
                <a:spcPts val="800"/>
              </a:spcAft>
            </a:pPr>
            <a:r>
              <a:rPr sz="1300" b="0">
                <a:solidFill>
                  <a:srgbClr val="5F677A"/>
                </a:solidFill>
                <a:latin typeface="Arial"/>
                <a:ea typeface="Microsoft YaHei"/>
              </a:rPr>
              <a:t>verb / 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滥用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“Technology can be misused.”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obtain consent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获得同意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“Companies must obtain consent.”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licence agreement</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授权协议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signed a licence agreement.”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watermark</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水印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content may carry a watermark.”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cross the line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越界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“Cloning without permission crosses the line.”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grey area</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灰色地带</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law is a grey area here.”</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灰色地带</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grey area</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同意</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冒充</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impersonate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数字克隆体</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clone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获得同意</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obtain consent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水印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watermark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肖像/相貌</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likeness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越界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 the 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digital clone</a:t>
            </a:r>
          </a:p>
        </p:txBody>
      </p:sp>
      <p:sp>
        <p:nvSpPr>
          <p:cNvPr id="10" name="Rounded Rectangle 9"/>
          <p:cNvSpPr/>
          <p:nvPr/>
        </p:nvSpPr>
        <p:spPr>
          <a:xfrm>
            <a:off x="389534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deepfake</a:t>
            </a:r>
          </a:p>
        </p:txBody>
      </p:sp>
      <p:sp>
        <p:nvSpPr>
          <p:cNvPr id="11" name="Rounded Rectangle 10"/>
          <p:cNvSpPr/>
          <p:nvPr/>
        </p:nvSpPr>
        <p:spPr>
          <a:xfrm>
            <a:off x="5230368"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likeness</a:t>
            </a:r>
          </a:p>
        </p:txBody>
      </p:sp>
      <p:sp>
        <p:nvSpPr>
          <p:cNvPr id="12" name="Rounded Rectangle 11"/>
          <p:cNvSpPr/>
          <p:nvPr/>
        </p:nvSpPr>
        <p:spPr>
          <a:xfrm>
            <a:off x="6565392"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consent</a:t>
            </a:r>
          </a:p>
        </p:txBody>
      </p:sp>
      <p:sp>
        <p:nvSpPr>
          <p:cNvPr id="13" name="Rounded Rectangle 12"/>
          <p:cNvSpPr/>
          <p:nvPr/>
        </p:nvSpPr>
        <p:spPr>
          <a:xfrm>
            <a:off x="7790688"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impersonate</a:t>
            </a:r>
          </a:p>
        </p:txBody>
      </p:sp>
      <p:sp>
        <p:nvSpPr>
          <p:cNvPr id="14" name="Rounded Rectangle 13"/>
          <p:cNvSpPr/>
          <p:nvPr/>
        </p:nvSpPr>
        <p:spPr>
          <a:xfrm>
            <a:off x="9454895"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grey area</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studio created a _______ of the singer’s voice.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clone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video turned out to be a _______, not a real recording.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deepfake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Companies need permission to use a person’s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likeness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Using someone’s voice without _______ is a serious issue.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consent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Scammers try to _______ senior managers to ask for payments.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impersonate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law is still a _______ in many countries.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grey area</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clone (noun/verb), deepfake (one word), likeness. Ask for / give / obtain consent (uncountable). Impersonate sb (no “as”). Misuse (verb /mɪsˈjuːz/, noun /mɪsˈjuːs/). Grey (UK) / gray (US). Have the right to. Use sth without permission.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Discussing a voice-cloning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讨论语音克隆方案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company is considering using a cloned voice for training videos. You discuss with the legal adviser.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Sue Lam, project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Vale, legal adviser</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voice-cloning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Sue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Vale, we’d like to use an AI clone of our presenter’s voice for training videos in several languages.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Vale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Has she agreed?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She’s open to it, but nothing is signed yet.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consent is the first issue. It should be written, and it should specify how the voice may be used and for how long.</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she be paid?</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voice-cloning proposal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say yes, ideally through a licence agreement. Otherwise there could be disputes later.</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the risk of misuse?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 store the voice model securely and limit access. And we might add a note that the voice is synthetic.</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required?</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some places, yes. Even if not, it builds trust.</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voice-cloning proposal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she leaves the company?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agreement should cover that. Without it, you’d be in a grey area.</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Could you draft the agreement?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by the end of next week.</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Discussing a voice-cloning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cloning proposal.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manager. Use: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Legal adviser. Raise consent and misuse issues.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consent · licence agreement · misuse · synthetic · grey area · limit access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Identify two risks and agree safeguards.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Vale asks: “What if the clone says something she never said?”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difference between a digital clone and a deepfake.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three rules for using a person’s voice responsibly.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good uses of digital cloning?</a:t>
            </a:r>
          </a:p>
          <a:p>
            <a:pPr algn="l">
              <a:lnSpc>
                <a:spcPct val="115000"/>
              </a:lnSpc>
              <a:spcAft>
                <a:spcPts val="800"/>
              </a:spcAft>
            </a:pPr>
            <a:r>
              <a:rPr sz="1400" b="0">
                <a:solidFill>
                  <a:srgbClr val="5F677A"/>
                </a:solidFill>
                <a:latin typeface="Arial"/>
                <a:ea typeface="Microsoft YaHei"/>
              </a:rPr>
              <a:t>💬 “It can help… for example…”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people have the right to control their own likeness?</a:t>
            </a:r>
          </a:p>
          <a:p>
            <a:pPr algn="l">
              <a:lnSpc>
                <a:spcPct val="115000"/>
              </a:lnSpc>
              <a:spcAft>
                <a:spcPts val="800"/>
              </a:spcAft>
            </a:pPr>
            <a:r>
              <a:rPr sz="1400" b="0">
                <a:solidFill>
                  <a:srgbClr val="5F677A"/>
                </a:solidFill>
                <a:latin typeface="Arial"/>
                <a:ea typeface="Microsoft YaHei"/>
              </a:rPr>
              <a:t>💬 “Yes, because… / It’s their identity…”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we protect ourselves from scams that use cloned voices?</a:t>
            </a:r>
          </a:p>
          <a:p>
            <a:pPr algn="l">
              <a:lnSpc>
                <a:spcPct val="115000"/>
              </a:lnSpc>
              <a:spcAft>
                <a:spcPts val="800"/>
              </a:spcAft>
            </a:pPr>
            <a:r>
              <a:rPr sz="1400" b="0">
                <a:solidFill>
                  <a:srgbClr val="5F677A"/>
                </a:solidFill>
                <a:latin typeface="Arial"/>
                <a:ea typeface="Microsoft YaHei"/>
              </a:rPr>
              <a:t>💬 “By… / Verifying through another channel…”</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allow a company to clone your voice? Under what conditions?</a:t>
            </a:r>
          </a:p>
          <a:p>
            <a:pPr algn="l">
              <a:lnSpc>
                <a:spcPct val="115000"/>
              </a:lnSpc>
              <a:spcAft>
                <a:spcPts val="800"/>
              </a:spcAft>
            </a:pPr>
            <a:r>
              <a:rPr sz="1400" b="0">
                <a:solidFill>
                  <a:srgbClr val="5F677A"/>
                </a:solidFill>
                <a:latin typeface="Arial"/>
                <a:ea typeface="Microsoft YaHei"/>
              </a:rPr>
              <a:t>💬 “Only if… / I would need…”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would only allow it under strict conditions: written consent that clearly defines the purpose, a time limit, fair payment and the right to withdraw. I’d also want to know how the recording would be stored and who could access it. And I would ask for a guarantee that it wouldn’t be used for anything misleading or embarrassing. Without those protections, I wouldn’t agree.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strict = 严格的。withdraw = 撤回。guarantee = 保证。misleading = 误导的。</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Fake voice is dangerous.</a:t>
                      </a:r>
                    </a:p>
                  </a:txBody>
                  <a:tcPr anchor="ctr">
                    <a:solidFill>
                      <a:srgbClr val="FFFFFF"/>
                    </a:solidFill>
                  </a:tcPr>
                </a:tc>
                <a:tc>
                  <a:txBody>
                    <a:bodyPr wrap="square"/>
                    <a:lstStyle/>
                    <a:p>
                      <a:r>
                        <a:rPr sz="1600" b="0">
                          <a:solidFill>
                            <a:srgbClr val="1F2A44"/>
                          </a:solidFill>
                          <a:latin typeface="Arial"/>
                          <a:ea typeface="Microsoft YaHei"/>
                        </a:rPr>
                        <a:t>Cloned voices can be used to deceive people.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Don’t use my face.</a:t>
                      </a:r>
                    </a:p>
                  </a:txBody>
                  <a:tcPr anchor="ctr">
                    <a:solidFill>
                      <a:srgbClr val="FFEFD9"/>
                    </a:solidFill>
                  </a:tcPr>
                </a:tc>
                <a:tc>
                  <a:txBody>
                    <a:bodyPr wrap="square"/>
                    <a:lstStyle/>
                    <a:p>
                      <a:r>
                        <a:rPr sz="1600" b="0">
                          <a:solidFill>
                            <a:srgbClr val="1F2A44"/>
                          </a:solidFill>
                          <a:latin typeface="Arial"/>
                          <a:ea typeface="Microsoft YaHei"/>
                        </a:rPr>
                        <a:t>I don’t consent to the use of my likeness.</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408432">
                <a:tc>
                  <a:txBody>
                    <a:bodyPr wrap="square"/>
                    <a:lstStyle/>
                    <a:p>
                      <a:r>
                        <a:rPr sz="1600" b="1">
                          <a:solidFill>
                            <a:srgbClr val="1F2A44"/>
                          </a:solidFill>
                          <a:latin typeface="Arial"/>
                          <a:ea typeface="Microsoft YaHei"/>
                        </a:rPr>
                        <a:t>The law is not clear.</a:t>
                      </a:r>
                    </a:p>
                  </a:txBody>
                  <a:tcPr anchor="ctr">
                    <a:solidFill>
                      <a:srgbClr val="FFFFFF"/>
                    </a:solidFill>
                  </a:tcPr>
                </a:tc>
                <a:tc>
                  <a:txBody>
                    <a:bodyPr wrap="square"/>
                    <a:lstStyle/>
                    <a:p>
                      <a:r>
                        <a:rPr sz="1600" b="0">
                          <a:solidFill>
                            <a:srgbClr val="1F2A44"/>
                          </a:solidFill>
                          <a:latin typeface="Arial"/>
                          <a:ea typeface="Microsoft YaHei"/>
                        </a:rPr>
                        <a:t>The law is a grey area.</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r h="408432">
                <a:tc>
                  <a:txBody>
                    <a:bodyPr wrap="square"/>
                    <a:lstStyle/>
                    <a:p>
                      <a:r>
                        <a:rPr sz="1600" b="1">
                          <a:solidFill>
                            <a:srgbClr val="1F2A44"/>
                          </a:solidFill>
                          <a:latin typeface="Arial"/>
                          <a:ea typeface="Microsoft YaHei"/>
                        </a:rPr>
                        <a:t>Check him.</a:t>
                      </a:r>
                    </a:p>
                  </a:txBody>
                  <a:tcPr anchor="ctr">
                    <a:solidFill>
                      <a:srgbClr val="FFEFD9"/>
                    </a:solidFill>
                  </a:tcPr>
                </a:tc>
                <a:tc>
                  <a:txBody>
                    <a:bodyPr wrap="square"/>
                    <a:lstStyle/>
                    <a:p>
                      <a:r>
                        <a:rPr sz="1600" b="0">
                          <a:solidFill>
                            <a:srgbClr val="1F2A44"/>
                          </a:solidFill>
                          <a:latin typeface="Arial"/>
                          <a:ea typeface="Microsoft YaHei"/>
                        </a:rPr>
                        <a:t>Verify through another channel.</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They made it by AI.</a:t>
                      </a:r>
                    </a:p>
                  </a:txBody>
                  <a:tcPr anchor="ctr">
                    <a:solidFill>
                      <a:srgbClr val="FFFFFF"/>
                    </a:solidFill>
                  </a:tcPr>
                </a:tc>
                <a:tc>
                  <a:txBody>
                    <a:bodyPr wrap="square"/>
                    <a:lstStyle/>
                    <a:p>
                      <a:r>
                        <a:rPr sz="1600" b="0">
                          <a:solidFill>
                            <a:srgbClr val="1F2A44"/>
                          </a:solidFill>
                          <a:latin typeface="Arial"/>
                          <a:ea typeface="Microsoft YaHei"/>
                        </a:rPr>
                        <a:t>It was generated by AI.</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bl>
          </a:graphicData>
        </a:graphic>
      </p:graphicFrame>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Passive for technology: </a:t>
            </a:r>
            <a:r>
              <a:rPr sz="1700" b="0">
                <a:solidFill>
                  <a:srgbClr val="1F2A44"/>
                </a:solidFill>
                <a:latin typeface="Arial"/>
                <a:ea typeface="Microsoft YaHei"/>
              </a:rPr>
              <a:t>“The voice was generated by AI.” / “Consent should be obtained.”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Relative clauses: </a:t>
            </a:r>
            <a:r>
              <a:rPr sz="1700" b="0">
                <a:solidFill>
                  <a:srgbClr val="1F2A44"/>
                </a:solidFill>
                <a:latin typeface="Arial"/>
                <a:ea typeface="Microsoft YaHei"/>
              </a:rPr>
              <a:t>a person whose voice is used, a clone that sounds real.</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Conditionals: </a:t>
            </a:r>
            <a:r>
              <a:rPr sz="1700" b="0">
                <a:solidFill>
                  <a:srgbClr val="1F2A44"/>
                </a:solidFill>
                <a:latin typeface="Arial"/>
                <a:ea typeface="Microsoft YaHei"/>
              </a:rPr>
              <a:t>I would agree only if… / Unless consent is given, …</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Verification phrases: </a:t>
            </a:r>
            <a:r>
              <a:rPr sz="1700" b="0">
                <a:solidFill>
                  <a:srgbClr val="1F2A44"/>
                </a:solidFill>
                <a:latin typeface="Arial"/>
                <a:ea typeface="Microsoft YaHei"/>
              </a:rPr>
              <a:t>double-check, verify, confirm through another channel.</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clone my voice without agree.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cloned my voice without my consent.</a:t>
            </a:r>
          </a:p>
          <a:p>
            <a:pPr algn="l">
              <a:spcAft>
                <a:spcPts val="200"/>
              </a:spcAft>
            </a:pPr>
            <a:r>
              <a:rPr sz="1200" b="0">
                <a:solidFill>
                  <a:srgbClr val="FFFFFF"/>
                </a:solidFill>
                <a:latin typeface="Arial"/>
                <a:ea typeface="Microsoft YaHei"/>
              </a:rPr>
              <a:t>consent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deepfake is dangerous thing.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Deepfakes are dangerous.</a:t>
            </a:r>
          </a:p>
          <a:p>
            <a:pPr algn="l">
              <a:spcAft>
                <a:spcPts val="200"/>
              </a:spcAft>
            </a:pPr>
            <a:r>
              <a:rPr sz="1200" b="0">
                <a:solidFill>
                  <a:srgbClr val="FFFFFF"/>
                </a:solidFill>
                <a:latin typeface="Arial"/>
                <a:ea typeface="Microsoft YaHei"/>
              </a:rPr>
              <a:t>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Companies must to get permission.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Companies must get permission.</a:t>
            </a:r>
          </a:p>
          <a:p>
            <a:pPr algn="l">
              <a:spcAft>
                <a:spcPts val="200"/>
              </a:spcAft>
            </a:pPr>
            <a:r>
              <a:rPr sz="1200" b="0">
                <a:solidFill>
                  <a:srgbClr val="FFFFFF"/>
                </a:solidFill>
                <a:latin typeface="Arial"/>
                <a:ea typeface="Microsoft YaHei"/>
              </a:rPr>
              <a:t>must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allow them use my voice.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allow them to use my voice.</a:t>
            </a:r>
          </a:p>
          <a:p>
            <a:pPr algn="l">
              <a:spcAft>
                <a:spcPts val="200"/>
              </a:spcAft>
            </a:pPr>
            <a:r>
              <a:rPr sz="1200" b="0">
                <a:solidFill>
                  <a:srgbClr val="FFFFFF"/>
                </a:solidFill>
                <a:latin typeface="Arial"/>
                <a:ea typeface="Microsoft YaHei"/>
              </a:rPr>
              <a:t>allow sb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pretended to be as my boss.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pretended to be my boss.</a:t>
            </a:r>
          </a:p>
          <a:p>
            <a:pPr algn="l">
              <a:spcAft>
                <a:spcPts val="200"/>
              </a:spcAft>
            </a:pPr>
            <a:r>
              <a:rPr sz="1200" b="0">
                <a:solidFill>
                  <a:srgbClr val="FFFFFF"/>
                </a:solidFill>
                <a:latin typeface="Arial"/>
                <a:ea typeface="Microsoft YaHei"/>
              </a:rPr>
              <a:t>无 as</a:t>
            </a:r>
          </a:p>
        </p:txBody>
      </p:sp>
      <p:sp>
        <p:nvSpPr>
          <p:cNvPr id="13" name="Rounded Rectangle 12"/>
          <p:cNvSpPr/>
          <p:nvPr/>
        </p:nvSpPr>
        <p:spPr>
          <a:xfrm>
            <a:off x="548640" y="286511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voice was cloned by AI that it sounded real.</a:t>
            </a:r>
          </a:p>
        </p:txBody>
      </p:sp>
      <p:sp>
        <p:nvSpPr>
          <p:cNvPr id="14" name="Rounded Rectangle 13"/>
          <p:cNvSpPr/>
          <p:nvPr/>
        </p:nvSpPr>
        <p:spPr>
          <a:xfrm>
            <a:off x="6187287" y="286511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voice was cloned by AI, so it sounded real.</a:t>
            </a:r>
          </a:p>
          <a:p>
            <a:pPr algn="l">
              <a:spcAft>
                <a:spcPts val="200"/>
              </a:spcAft>
            </a:pPr>
            <a:r>
              <a:rPr sz="1200" b="0">
                <a:solidFill>
                  <a:srgbClr val="FFFFFF"/>
                </a:solidFill>
                <a:latin typeface="Arial"/>
                <a:ea typeface="Microsoft YaHei"/>
              </a:rPr>
              <a:t>因果</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allow sb to, must + base verb, and uncountable permission / consent.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Law varies: </a:t>
            </a:r>
            <a:r>
              <a:rPr sz="1700" b="0">
                <a:solidFill>
                  <a:srgbClr val="1F2A44"/>
                </a:solidFill>
                <a:latin typeface="Arial"/>
                <a:ea typeface="Microsoft YaHei"/>
              </a:rPr>
              <a:t>Rules on voice, likeness and AI content differ widely across countries and change fast.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Scam awareness: </a:t>
            </a:r>
            <a:r>
              <a:rPr sz="1700" b="0">
                <a:solidFill>
                  <a:srgbClr val="1F2A44"/>
                </a:solidFill>
                <a:latin typeface="Arial"/>
                <a:ea typeface="Microsoft YaHei"/>
              </a:rPr>
              <a:t>If you receive an urgent voice request for money, verify through another channel.</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Memorials: </a:t>
            </a:r>
            <a:r>
              <a:rPr sz="1700" b="0">
                <a:solidFill>
                  <a:srgbClr val="1F2A44"/>
                </a:solidFill>
                <a:latin typeface="Arial"/>
                <a:ea typeface="Microsoft YaHei"/>
              </a:rPr>
              <a:t>Using the voice or image of someone who has died raises sensitive ethical questions; seek permission from family.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allow sb to do sth;must + 动词原形;consent / permission 不可数。克隆需要明示同意、公平报酬与明确范围。</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digital cloning and its uses and risks.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consent and safeguards.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and relative clauses.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allow sb to and uncountable consent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96 Digital Cloning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allow sb to, uncountable consent / permission, and relative clauses.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97 AI Fraud Goes Industrial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Fraud Goes Industrial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欺诈已发展成产业化</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AI is used in fraud and scams: types of attack, impact on businesses, warning signs, and protective measures; practise advising on security.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or someone you know received a suspicious message or call?</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AI make scams more convincing?</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warning signs of a scam?</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a company do to protect staff and customers?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you do if you think you have been scammed?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fraud = 欺诈;phishing = 网络钓鱼;social engineering = 社会工程学。industrial 在此指“规模化”。第 5 题关键:report immediately。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Advise colleagues on spotting and reporting AI-assisted fraud.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types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warning signs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protective steps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do if targeted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Be cautious if…   💬 A warning sign is…   💬 If you suspect fraud, report it immediately.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cautious if… = 如果……请小心。a warning sign is… 引出警示信号。report it immediately 祈使句。</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Scams at Scale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Fraud is not new, but AI may be making it easier to carry out at scale. Criminals can generate convincing messages in many languages, create fake websites quickly and, in some cases, imitate voices or faces. Security experts warn that businesses are targeted with emails that appear to come from a senior manager, urgent calls requesting payments and fake invoices. The message is often designed to create pressure: “Pay now, it’s confidential.” Warning signs include unusual urgency, requests to bypass normal procedures, changes to bank details and small errors in addresses. Defences are mostly practical: verify unusual requests through a second channel, use multi-step approval for payments, train staff regularly and report suspected incidents quickly. No single tool can stop every scam, but good habits make attacks much harder to succeed.</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may AI help criminals?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can generate convincing messages in many languages, create fake websites quickly and imitate voices or faces.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some warning signs?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Unusual urgency, requests to bypass procedures, changes to bank details and small errors.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practical defences are suggested?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Verify requests through a second channel, multi-step approval, staff training and quick reporting.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Fraud and security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欺诈与安全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fraud</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欺诈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“Fraud costs businesses millions.”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scam</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骗局</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received a scam email.”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phishing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网络钓鱼</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“Phishing emails look genuine.”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invoice fraud</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发票欺诈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“Invoice fraud is common.”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cybersecurity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网络安全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“Cybersecurity training is mandatory.”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report an incident</a:t>
            </a:r>
          </a:p>
          <a:p>
            <a:pPr algn="l">
              <a:lnSpc>
                <a:spcPct val="115000"/>
              </a:lnSpc>
              <a:spcAft>
                <a:spcPts val="800"/>
              </a:spcAft>
            </a:pPr>
            <a:r>
              <a:rPr sz="1300" b="0">
                <a:solidFill>
                  <a:srgbClr val="5F677A"/>
                </a:solidFill>
                <a:latin typeface="Arial"/>
                <a:ea typeface="Microsoft YaHei"/>
              </a:rPr>
              <a:t>verb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上报事件</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report any incident immediately.”</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Spotting and stopping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识别与阻止</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red flag</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危险信号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urgent payment request is a red flag.”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social engineering</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社会工程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“Social engineering tricks people, not systems.”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verify</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核实</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verify new bank details.”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for</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上当</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fall for urgent requests.”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two-factor authentication</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双重验证</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two-factor authentication.”</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better safe than sorry</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宁可谨慎</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“Better safe than sorry: check again.”</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双重验证</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two-factor authentication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核实</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verify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社会工程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social engineering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宁可谨慎</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better safe than sorry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网络安全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cybersecurity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上当</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for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骗局</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scam</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发票欺诈</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invoice fraud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fraud</a:t>
            </a:r>
          </a:p>
        </p:txBody>
      </p:sp>
      <p:sp>
        <p:nvSpPr>
          <p:cNvPr id="10" name="Rounded Rectangle 9"/>
          <p:cNvSpPr/>
          <p:nvPr/>
        </p:nvSpPr>
        <p:spPr>
          <a:xfrm>
            <a:off x="3017520"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scam</a:t>
            </a:r>
          </a:p>
        </p:txBody>
      </p:sp>
      <p:sp>
        <p:nvSpPr>
          <p:cNvPr id="11" name="Rounded Rectangle 10"/>
          <p:cNvSpPr/>
          <p:nvPr/>
        </p:nvSpPr>
        <p:spPr>
          <a:xfrm>
            <a:off x="391363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Phishing</a:t>
            </a:r>
          </a:p>
        </p:txBody>
      </p:sp>
      <p:sp>
        <p:nvSpPr>
          <p:cNvPr id="12" name="Rounded Rectangle 11"/>
          <p:cNvSpPr/>
          <p:nvPr/>
        </p:nvSpPr>
        <p:spPr>
          <a:xfrm>
            <a:off x="5248656"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cybersecurity</a:t>
            </a:r>
          </a:p>
        </p:txBody>
      </p:sp>
      <p:sp>
        <p:nvSpPr>
          <p:cNvPr id="13" name="Rounded Rectangle 12"/>
          <p:cNvSpPr/>
          <p:nvPr/>
        </p:nvSpPr>
        <p:spPr>
          <a:xfrm>
            <a:off x="7132320"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 flag</a:t>
            </a:r>
          </a:p>
        </p:txBody>
      </p:sp>
      <p:sp>
        <p:nvSpPr>
          <p:cNvPr id="14" name="Rounded Rectangle 13"/>
          <p:cNvSpPr/>
          <p:nvPr/>
        </p:nvSpPr>
        <p:spPr>
          <a:xfrm>
            <a:off x="846734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verify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Online _______ is growing in many countries.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fraud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email was a _______ designed to steal passwords.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scam</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emails often pretend to come from a bank.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Phishing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All staff must attend _______ training.</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cybersecurity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An unusual request for urgent payment is a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 flag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Always _______ new bank details by phone.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verify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Warning colleagues about fraud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提醒同事防范欺诈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As the finance manager, you brief a team member after receiving a suspicious payment request.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Helen Ma, finance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Jack Rowe, accounts assistant</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Warning colleagues about fraud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Helen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Jack, I want to talk about the email you forwarded. Thank you for flagging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Jack</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looked like it came from the CEO, asking for an urgent transfer.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classic red flag: urgency, secrecy and a request to bypass the normal process.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Was it a scam?</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Almost certainly. Messages like that are now easier to produce convincingly, perhaps with AI help.</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should I do in future?</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Warning colleagues about fraud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Verify any unusual request through a second channel, such as a phone call to a known number.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payments?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use two-step approval. Nobody can make a large transfer alone.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I make a mistake?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Report it immediately. Speed matters, and nobody will be blamed for reporting honestly.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 Can we have training on this?</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arrange a session next week.</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Warning colleagues about fraud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warn about fraud.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manager. Scam type: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Assistant. Ask what to do.</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red flag · urgency · verify · second channel · two-step approval · report immediately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warning signs and the procedure to follow.</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Jack says: “But it came from the CEO’s address.”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alert email to staff about a scam.</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what to do if you click on a suspicious link.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ever received a scam message? What did you do?</a:t>
            </a:r>
          </a:p>
          <a:p>
            <a:pPr algn="l">
              <a:lnSpc>
                <a:spcPct val="115000"/>
              </a:lnSpc>
              <a:spcAft>
                <a:spcPts val="800"/>
              </a:spcAft>
            </a:pPr>
            <a:r>
              <a:rPr sz="1400" b="0">
                <a:solidFill>
                  <a:srgbClr val="5F677A"/>
                </a:solidFill>
                <a:latin typeface="Arial"/>
                <a:ea typeface="Microsoft YaHei"/>
              </a:rPr>
              <a:t>💬 “I once got… so I…”</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scams still work?</a:t>
            </a:r>
          </a:p>
          <a:p>
            <a:pPr algn="l">
              <a:lnSpc>
                <a:spcPct val="115000"/>
              </a:lnSpc>
              <a:spcAft>
                <a:spcPts val="800"/>
              </a:spcAft>
            </a:pPr>
            <a:r>
              <a:rPr sz="1400" b="0">
                <a:solidFill>
                  <a:srgbClr val="5F677A"/>
                </a:solidFill>
                <a:latin typeface="Arial"/>
                <a:ea typeface="Microsoft YaHei"/>
              </a:rPr>
              <a:t>💬 “Because they exploit… / People are busy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defence for companies?</a:t>
            </a:r>
          </a:p>
          <a:p>
            <a:pPr algn="l">
              <a:lnSpc>
                <a:spcPct val="115000"/>
              </a:lnSpc>
              <a:spcAft>
                <a:spcPts val="800"/>
              </a:spcAft>
            </a:pPr>
            <a:r>
              <a:rPr sz="1400" b="0">
                <a:solidFill>
                  <a:srgbClr val="5F677A"/>
                </a:solidFill>
                <a:latin typeface="Arial"/>
                <a:ea typeface="Microsoft YaHei"/>
              </a:rPr>
              <a:t>💬 “A mix of training and procedures…”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banks refund victims of scams?</a:t>
            </a:r>
          </a:p>
          <a:p>
            <a:pPr algn="l">
              <a:lnSpc>
                <a:spcPct val="115000"/>
              </a:lnSpc>
              <a:spcAft>
                <a:spcPts val="800"/>
              </a:spcAft>
            </a:pPr>
            <a:r>
              <a:rPr sz="1400" b="0">
                <a:solidFill>
                  <a:srgbClr val="5F677A"/>
                </a:solidFill>
                <a:latin typeface="Arial"/>
                <a:ea typeface="Microsoft YaHei"/>
              </a:rPr>
              <a:t>💬 “It depends on… / In some cases…”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Scams still work because they exploit human psychology: urgency, fear, trust and routine. People are busy, so they respond quickly without checking. Criminals also keep changing their methods, and AI can help them to make messages look more convincing. That’s why training and simple procedures, such as always verifying payment changes, are so important. Technology helps, but people remain the front line.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exploit = 利用。psychology = 心理。front line = 第一道防线。”keep changing” = 不断变化。</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This is fake.</a:t>
                      </a:r>
                    </a:p>
                  </a:txBody>
                  <a:tcPr anchor="ctr">
                    <a:solidFill>
                      <a:srgbClr val="FFFFFF"/>
                    </a:solidFill>
                  </a:tcPr>
                </a:tc>
                <a:tc>
                  <a:txBody>
                    <a:bodyPr wrap="square"/>
                    <a:lstStyle/>
                    <a:p>
                      <a:r>
                        <a:rPr sz="1600" b="0">
                          <a:solidFill>
                            <a:srgbClr val="1F2A44"/>
                          </a:solidFill>
                          <a:latin typeface="Arial"/>
                          <a:ea typeface="Microsoft YaHei"/>
                        </a:rPr>
                        <a:t>I think this might be a scam.</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r h="652272">
                <a:tc>
                  <a:txBody>
                    <a:bodyPr wrap="square"/>
                    <a:lstStyle/>
                    <a:p>
                      <a:r>
                        <a:rPr sz="1600" b="1">
                          <a:solidFill>
                            <a:srgbClr val="1F2A44"/>
                          </a:solidFill>
                          <a:latin typeface="Arial"/>
                          <a:ea typeface="Microsoft YaHei"/>
                        </a:rPr>
                        <a:t>Be careful.</a:t>
                      </a:r>
                    </a:p>
                  </a:txBody>
                  <a:tcPr anchor="ctr">
                    <a:solidFill>
                      <a:srgbClr val="FFEFD9"/>
                    </a:solidFill>
                  </a:tcPr>
                </a:tc>
                <a:tc>
                  <a:txBody>
                    <a:bodyPr wrap="square"/>
                    <a:lstStyle/>
                    <a:p>
                      <a:r>
                        <a:rPr sz="1600" b="0">
                          <a:solidFill>
                            <a:srgbClr val="1F2A44"/>
                          </a:solidFill>
                          <a:latin typeface="Arial"/>
                          <a:ea typeface="Microsoft YaHei"/>
                        </a:rPr>
                        <a:t>Be cautious with unexpected requests.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Don’t click.</a:t>
                      </a:r>
                    </a:p>
                  </a:txBody>
                  <a:tcPr anchor="ctr">
                    <a:solidFill>
                      <a:srgbClr val="FFFFFF"/>
                    </a:solidFill>
                  </a:tcPr>
                </a:tc>
                <a:tc>
                  <a:txBody>
                    <a:bodyPr wrap="square"/>
                    <a:lstStyle/>
                    <a:p>
                      <a:r>
                        <a:rPr sz="1600" b="0">
                          <a:solidFill>
                            <a:srgbClr val="1F2A44"/>
                          </a:solidFill>
                          <a:latin typeface="Arial"/>
                          <a:ea typeface="Microsoft YaHei"/>
                        </a:rPr>
                        <a:t>Don’t click on links from unknown senders.</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408432">
                <a:tc>
                  <a:txBody>
                    <a:bodyPr wrap="square"/>
                    <a:lstStyle/>
                    <a:p>
                      <a:r>
                        <a:rPr sz="1600" b="1">
                          <a:solidFill>
                            <a:srgbClr val="1F2A44"/>
                          </a:solidFill>
                          <a:latin typeface="Arial"/>
                          <a:ea typeface="Microsoft YaHei"/>
                        </a:rPr>
                        <a:t>I was cheated.</a:t>
                      </a:r>
                    </a:p>
                  </a:txBody>
                  <a:tcPr anchor="ctr">
                    <a:solidFill>
                      <a:srgbClr val="FFEFD9"/>
                    </a:solidFill>
                  </a:tcPr>
                </a:tc>
                <a:tc>
                  <a:txBody>
                    <a:bodyPr wrap="square"/>
                    <a:lstStyle/>
                    <a:p>
                      <a:r>
                        <a:rPr sz="1600" b="0">
                          <a:solidFill>
                            <a:srgbClr val="1F2A44"/>
                          </a:solidFill>
                          <a:latin typeface="Arial"/>
                          <a:ea typeface="Microsoft YaHei"/>
                        </a:rPr>
                        <a:t>I was a victim of fraud.</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408432">
                <a:tc>
                  <a:txBody>
                    <a:bodyPr wrap="square"/>
                    <a:lstStyle/>
                    <a:p>
                      <a:r>
                        <a:rPr sz="1600" b="1">
                          <a:solidFill>
                            <a:srgbClr val="1F2A44"/>
                          </a:solidFill>
                          <a:latin typeface="Arial"/>
                          <a:ea typeface="Microsoft YaHei"/>
                        </a:rPr>
                        <a:t>Tell the police.</a:t>
                      </a:r>
                    </a:p>
                  </a:txBody>
                  <a:tcPr anchor="ctr">
                    <a:solidFill>
                      <a:srgbClr val="FFFFFF"/>
                    </a:solidFill>
                  </a:tcPr>
                </a:tc>
                <a:tc>
                  <a:txBody>
                    <a:bodyPr wrap="square"/>
                    <a:lstStyle/>
                    <a:p>
                      <a:r>
                        <a:rPr sz="1600" b="0">
                          <a:solidFill>
                            <a:srgbClr val="1F2A44"/>
                          </a:solidFill>
                          <a:latin typeface="Arial"/>
                          <a:ea typeface="Microsoft YaHei"/>
                        </a:rPr>
                        <a:t>Report it to the police.</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bl>
          </a:graphicData>
        </a:graphic>
      </p:graphicFrame>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Imperatives for instructions: </a:t>
            </a:r>
            <a:r>
              <a:rPr sz="1700" b="0">
                <a:solidFill>
                  <a:srgbClr val="1F2A44"/>
                </a:solidFill>
                <a:latin typeface="Arial"/>
                <a:ea typeface="Microsoft YaHei"/>
              </a:rPr>
              <a:t>“Don’t click. Verify. Report.”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Cautious inference: </a:t>
            </a:r>
            <a:r>
              <a:rPr sz="1700" b="0">
                <a:solidFill>
                  <a:srgbClr val="1F2A44"/>
                </a:solidFill>
                <a:latin typeface="Arial"/>
                <a:ea typeface="Microsoft YaHei"/>
              </a:rPr>
              <a:t>might be, could be, looks like, seems to, almost certainly.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Conditionals for procedures: </a:t>
            </a:r>
            <a:r>
              <a:rPr sz="1700" b="0">
                <a:solidFill>
                  <a:srgbClr val="1F2A44"/>
                </a:solidFill>
                <a:latin typeface="Arial"/>
                <a:ea typeface="Microsoft YaHei"/>
              </a:rPr>
              <a:t>If you receive a suspicious email, forward it to IT.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Linking steps: </a:t>
            </a:r>
            <a:r>
              <a:rPr sz="1700" b="0">
                <a:solidFill>
                  <a:srgbClr val="1F2A44"/>
                </a:solidFill>
                <a:latin typeface="Arial"/>
                <a:ea typeface="Microsoft YaHei"/>
              </a:rPr>
              <a:t>first, then, after that, finally.</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scammed 1000 pounds.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lost £1,000 to a scam.</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cheated me my money.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cheated me out of my money.</a:t>
            </a:r>
          </a:p>
          <a:p>
            <a:pPr algn="l">
              <a:spcAft>
                <a:spcPts val="200"/>
              </a:spcAft>
            </a:pPr>
            <a:r>
              <a:rPr sz="1200" b="0">
                <a:solidFill>
                  <a:srgbClr val="FFFFFF"/>
                </a:solidFill>
                <a:latin typeface="Arial"/>
                <a:ea typeface="Microsoft YaHei"/>
              </a:rPr>
              <a:t>cheat sb out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verify before to pay.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verify before paying.</a:t>
            </a:r>
          </a:p>
          <a:p>
            <a:pPr algn="l">
              <a:spcAft>
                <a:spcPts val="200"/>
              </a:spcAft>
            </a:pPr>
            <a:r>
              <a:rPr sz="1200" b="0">
                <a:solidFill>
                  <a:srgbClr val="FFFFFF"/>
                </a:solidFill>
                <a:latin typeface="Arial"/>
                <a:ea typeface="Microsoft YaHei"/>
              </a:rPr>
              <a:t>before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Report to the police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Report it to the police.</a:t>
            </a:r>
          </a:p>
          <a:p>
            <a:pPr algn="l">
              <a:spcAft>
                <a:spcPts val="200"/>
              </a:spcAft>
            </a:pPr>
            <a:r>
              <a:rPr sz="1200" b="0">
                <a:solidFill>
                  <a:srgbClr val="FFFFFF"/>
                </a:solidFill>
                <a:latin typeface="Arial"/>
                <a:ea typeface="Microsoft YaHei"/>
              </a:rPr>
              <a:t>语序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fraud are increasing.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Fraud is increasing.</a:t>
            </a:r>
          </a:p>
          <a:p>
            <a:pPr algn="l">
              <a:spcAft>
                <a:spcPts val="200"/>
              </a:spcAft>
            </a:pPr>
            <a:r>
              <a:rPr sz="1200" b="0">
                <a:solidFill>
                  <a:srgbClr val="FFFFFF"/>
                </a:solidFill>
                <a:latin typeface="Arial"/>
                <a:ea typeface="Microsoft YaHei"/>
              </a:rPr>
              <a:t>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suspecting that email.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suspect that email is a scam.</a:t>
            </a:r>
          </a:p>
          <a:p>
            <a:pPr algn="l">
              <a:spcAft>
                <a:spcPts val="200"/>
              </a:spcAft>
            </a:pPr>
            <a:r>
              <a:rPr sz="1200" b="0">
                <a:solidFill>
                  <a:srgbClr val="FFFFFF"/>
                </a:solidFill>
                <a:latin typeface="Arial"/>
                <a:ea typeface="Microsoft YaHei"/>
              </a:rPr>
              <a:t>状态动词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fraud, word order with report, and stative verbs (suspect).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Speed: </a:t>
            </a:r>
            <a:r>
              <a:rPr sz="1700" b="0">
                <a:solidFill>
                  <a:srgbClr val="1F2A44"/>
                </a:solidFill>
                <a:latin typeface="Arial"/>
                <a:ea typeface="Microsoft YaHei"/>
              </a:rPr>
              <a:t>Reporting quickly is encouraged; blame culture prevents reporting.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Official channels: </a:t>
            </a:r>
            <a:r>
              <a:rPr sz="1700" b="0">
                <a:solidFill>
                  <a:srgbClr val="1F2A44"/>
                </a:solidFill>
                <a:latin typeface="Arial"/>
                <a:ea typeface="Microsoft YaHei"/>
              </a:rPr>
              <a:t>Contact banks and authorities via numbers you know are genuine.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Don’t be embarrassed: </a:t>
            </a:r>
            <a:r>
              <a:rPr sz="1700" b="0">
                <a:solidFill>
                  <a:srgbClr val="1F2A44"/>
                </a:solidFill>
                <a:latin typeface="Arial"/>
                <a:ea typeface="Microsoft YaHei"/>
              </a:rPr>
              <a:t>Anyone can be targeted; sharing experience helps others.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fraud 不可数;report it to…;before + -ing。遇到紧急转账要求先核实,再汇报。</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types and warning signs of scams.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advise on prevention and reporting.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imperatives and conditionals for procedures.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fraud and stative verbs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97 AI Fraud Goes Industrial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fraud, imperatives and conditionals for procedures, and stative verbs.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98 AI and Content Rights AI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and Content Rights AI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与内容版权</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copyright and content rights in the AI era: training data, creators’ rights, licensing, fair use and what businesses should do.</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owns a piece of writing or an image created with AI?</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AI companies be allowed to train on books, music or images found online?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creators be compensated?</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inspiration and copying?</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a business do before publishing AI-generated content?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copyright = 版权;licence = 授权;fair use = 合理使用(美国概念);royalty = 版税。本课只讨论一般性争议,不构成法律意见。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balanced arguments about AI and copyright.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issue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creators’ view</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AI developers’ view</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possible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Creators argue that…   💬 AI developers respond that…   💬 A possible compromise would be…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argue that / respond that 引述观点。A possible compromise would be… 提出折中。</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Who Owns What?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000" b="0">
                <a:solidFill>
                  <a:srgbClr val="1F2A44"/>
                </a:solidFill>
                <a:latin typeface="Arial"/>
                <a:ea typeface="Microsoft YaHei"/>
              </a:rPr>
              <a:t>AI systems learn from huge collections of text, images and music, and this raises difficult questions about rights. Many writers, artists and musicians argue that their work should not be used to train commercial systems without permission or payment, since the results can compete with them. AI developers often respond that learning from examples is similar to how humans learn, and that such use may be allowed under existing exceptions in some countries. The law is still developing, and different countries may reach different conclusions. Courts, regulators and industry groups are all examining the issue. Possible solutions include licensing deals, opt-out systems for creators, clear labelling and payment schemes. Meanwhile, businesses using AI-generated material should check the terms of their tools, avoid copying identifiable styles or works and keep records of how content was produced. (General information only, not legal advice.)</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creators argue?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Their work shouldn’t be used to train commercial systems without permission or payment.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AI developers often respond?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Learning from examples is similar to how humans learn and may be allowed under existing exceptions in some countries.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businesses do?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Check tool terms, avoid copying identifiable works or styles and keep records.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Copyright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版权词汇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copyright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版权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book is protected by copyright.”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infringe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侵犯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use infringed copyright.”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licence / license</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licence to use the image.”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royalty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版税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“Authors earn royalties.”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public domain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公有领域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 is in the public domain.”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attribution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署名</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“Attribution is required.”</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Rights debates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权利争议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training data</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训练数据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“Training data may include copyrighted work.”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fair use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合理使用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“Fair use is a legal concept in some countries.”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opt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选择退出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“Creators want to opt out.”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derivative work</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衍生作品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derivative work copies parts of another.”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compensate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补偿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“Creators should be compensated.”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legal grey area</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法律灰色地带</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content is a legal grey area.”</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合理使用</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fair use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衍生作品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derivative work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侵犯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infringe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选择退出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opt 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版权</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copyright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法律灰色地带</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legal grey area</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补偿</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compensate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版税</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royalty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copyright</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infringe</a:t>
            </a:r>
          </a:p>
        </p:txBody>
      </p:sp>
      <p:sp>
        <p:nvSpPr>
          <p:cNvPr id="11" name="Rounded Rectangle 10"/>
          <p:cNvSpPr/>
          <p:nvPr/>
        </p:nvSpPr>
        <p:spPr>
          <a:xfrm>
            <a:off x="4791456"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licence</a:t>
            </a:r>
          </a:p>
        </p:txBody>
      </p:sp>
      <p:sp>
        <p:nvSpPr>
          <p:cNvPr id="12" name="Rounded Rectangle 11"/>
          <p:cNvSpPr/>
          <p:nvPr/>
        </p:nvSpPr>
        <p:spPr>
          <a:xfrm>
            <a:off x="6016752"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royalties</a:t>
            </a:r>
          </a:p>
        </p:txBody>
      </p:sp>
      <p:sp>
        <p:nvSpPr>
          <p:cNvPr id="13" name="Rounded Rectangle 12"/>
          <p:cNvSpPr/>
          <p:nvPr/>
        </p:nvSpPr>
        <p:spPr>
          <a:xfrm>
            <a:off x="7461504"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public domain</a:t>
            </a:r>
          </a:p>
        </p:txBody>
      </p:sp>
      <p:sp>
        <p:nvSpPr>
          <p:cNvPr id="14" name="Rounded Rectangle 13"/>
          <p:cNvSpPr/>
          <p:nvPr/>
        </p:nvSpPr>
        <p:spPr>
          <a:xfrm>
            <a:off x="9345168"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compensated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Most books are protected by _______ for many years.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copyright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Copying the design without permission may _______ copyright.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infringe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bought a _______ to use the music in our video.</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licence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Musicians earn _______ when their songs are used.</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royalties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Works in the _______ can be used freely.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public domain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Many creators say they should be _______ for training use.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compensated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AI and copyright in a company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在公司会议上讨论AI与版权</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communications team wants to use AI-generated images in campaigns. You discuss risks with the legal adviser.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Pam Kay, communications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Rowe, legal adviser</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copyright in a company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Rowe, we’d like to use AI-generated images in our brochures. Is that safe?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Rowe</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 are some risks. The law on AI and copyright is still developing.</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main issues?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ownership. Depending on the country, it may be unclear who holds the rights to AI-generated images.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second?</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copyright in a company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training data. Some creators argue that their work was used without permission.</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should we do?</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Check the terms of the tool carefully. Some provide licences for commercial use. Others don’t.</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Anything else?</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Avoid prompts that copy a living artist’s style, and keep records of how each image was made.</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AI and copyright in a company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we mention AI use?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good practice, and in some places it might become required.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Could you draft a short policy?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it by Friday. This is general advice, not a formal opinion.</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AI and copyright in a company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content and copyright.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Communications manager. Plan: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Legal adviser. Warn of two risks.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copyright · licence · training data · terms of use · keep records · good practice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about risks and agree three precautions.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Rowe says: “The law is unclear.” Respond practically.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one paragraph for a policy on AI content.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difference between inspiration and infringement.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creators be paid when AI learns from their work?</a:t>
            </a:r>
          </a:p>
          <a:p>
            <a:pPr algn="l">
              <a:lnSpc>
                <a:spcPct val="115000"/>
              </a:lnSpc>
              <a:spcAft>
                <a:spcPts val="800"/>
              </a:spcAft>
            </a:pPr>
            <a:r>
              <a:rPr sz="1400" b="0">
                <a:solidFill>
                  <a:srgbClr val="5F677A"/>
                </a:solidFill>
                <a:latin typeface="Arial"/>
                <a:ea typeface="Microsoft YaHei"/>
              </a:rPr>
              <a:t>💬 “I think they should, because… / There are difficulties…”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own AI-generated content?</a:t>
            </a:r>
          </a:p>
          <a:p>
            <a:pPr algn="l">
              <a:lnSpc>
                <a:spcPct val="115000"/>
              </a:lnSpc>
              <a:spcAft>
                <a:spcPts val="800"/>
              </a:spcAft>
            </a:pPr>
            <a:r>
              <a:rPr sz="1400" b="0">
                <a:solidFill>
                  <a:srgbClr val="5F677A"/>
                </a:solidFill>
                <a:latin typeface="Arial"/>
                <a:ea typeface="Microsoft YaHei"/>
              </a:rPr>
              <a:t>💬 “It depends… the user, the developer…”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businesses use AI content safely?</a:t>
            </a:r>
          </a:p>
          <a:p>
            <a:pPr algn="l">
              <a:lnSpc>
                <a:spcPct val="115000"/>
              </a:lnSpc>
              <a:spcAft>
                <a:spcPts val="800"/>
              </a:spcAft>
            </a:pPr>
            <a:r>
              <a:rPr sz="1400" b="0">
                <a:solidFill>
                  <a:srgbClr val="5F677A"/>
                </a:solidFill>
                <a:latin typeface="Arial"/>
                <a:ea typeface="Microsoft YaHei"/>
              </a:rPr>
              <a:t>💬 “By checking… / Keeping records…”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to copy a style?</a:t>
            </a:r>
          </a:p>
          <a:p>
            <a:pPr algn="l">
              <a:lnSpc>
                <a:spcPct val="115000"/>
              </a:lnSpc>
              <a:spcAft>
                <a:spcPts val="800"/>
              </a:spcAft>
            </a:pPr>
            <a:r>
              <a:rPr sz="1400" b="0">
                <a:solidFill>
                  <a:srgbClr val="5F677A"/>
                </a:solidFill>
                <a:latin typeface="Arial"/>
                <a:ea typeface="Microsoft YaHei"/>
              </a:rPr>
              <a:t>💬 “A style isn’t always protected,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creators should have some form of compensation or control, especially when their work is used commercially. Without that, the people who create valuable content could be undermined by systems that learned from them. The practical difficulty is how to do this fairly, for example, through licensing deals or collective payment schemes. But the principle seems reasonable to me: if you build a business using someone’s work, you should share the benefit.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undermine = 削弱。collective = 集体的。”practical difficulty” = 实际困难。principle = 原则。</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AI steals art.</a:t>
                      </a:r>
                    </a:p>
                  </a:txBody>
                  <a:tcPr anchor="ctr">
                    <a:solidFill>
                      <a:srgbClr val="FFFFFF"/>
                    </a:solidFill>
                  </a:tcPr>
                </a:tc>
                <a:tc>
                  <a:txBody>
                    <a:bodyPr wrap="square"/>
                    <a:lstStyle/>
                    <a:p>
                      <a:r>
                        <a:rPr sz="1600" b="0">
                          <a:solidFill>
                            <a:srgbClr val="1F2A44"/>
                          </a:solidFill>
                          <a:latin typeface="Arial"/>
                          <a:ea typeface="Microsoft YaHei"/>
                        </a:rPr>
                        <a:t>Some artists feel AI uses their work without permission.</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r h="896111">
                <a:tc>
                  <a:txBody>
                    <a:bodyPr wrap="square"/>
                    <a:lstStyle/>
                    <a:p>
                      <a:r>
                        <a:rPr sz="1600" b="1">
                          <a:solidFill>
                            <a:srgbClr val="1F2A44"/>
                          </a:solidFill>
                          <a:latin typeface="Arial"/>
                          <a:ea typeface="Microsoft YaHei"/>
                        </a:rPr>
                        <a:t>It’s free.</a:t>
                      </a:r>
                    </a:p>
                  </a:txBody>
                  <a:tcPr anchor="ctr">
                    <a:solidFill>
                      <a:srgbClr val="FFEFD9"/>
                    </a:solidFill>
                  </a:tcPr>
                </a:tc>
                <a:tc>
                  <a:txBody>
                    <a:bodyPr wrap="square"/>
                    <a:lstStyle/>
                    <a:p>
                      <a:r>
                        <a:rPr sz="1600" b="0">
                          <a:solidFill>
                            <a:srgbClr val="1F2A44"/>
                          </a:solidFill>
                          <a:latin typeface="Arial"/>
                          <a:ea typeface="Microsoft YaHei"/>
                        </a:rPr>
                        <a:t>It may be available without charge, but the licence may restrict use.</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652272">
                <a:tc>
                  <a:txBody>
                    <a:bodyPr wrap="square"/>
                    <a:lstStyle/>
                    <a:p>
                      <a:r>
                        <a:rPr sz="1600" b="1">
                          <a:solidFill>
                            <a:srgbClr val="1F2A44"/>
                          </a:solidFill>
                          <a:latin typeface="Arial"/>
                          <a:ea typeface="Microsoft YaHei"/>
                        </a:rPr>
                        <a:t>It’s legal.</a:t>
                      </a:r>
                    </a:p>
                  </a:txBody>
                  <a:tcPr anchor="ctr">
                    <a:solidFill>
                      <a:srgbClr val="FFFFFF"/>
                    </a:solidFill>
                  </a:tcPr>
                </a:tc>
                <a:tc>
                  <a:txBody>
                    <a:bodyPr wrap="square"/>
                    <a:lstStyle/>
                    <a:p>
                      <a:r>
                        <a:rPr sz="1600" b="0">
                          <a:solidFill>
                            <a:srgbClr val="1F2A44"/>
                          </a:solidFill>
                          <a:latin typeface="Arial"/>
                          <a:ea typeface="Microsoft YaHei"/>
                        </a:rPr>
                        <a:t>It appears to be permitted, but we should check.</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r h="408432">
                <a:tc>
                  <a:txBody>
                    <a:bodyPr wrap="square"/>
                    <a:lstStyle/>
                    <a:p>
                      <a:r>
                        <a:rPr sz="1600" b="1">
                          <a:solidFill>
                            <a:srgbClr val="1F2A44"/>
                          </a:solidFill>
                          <a:latin typeface="Arial"/>
                          <a:ea typeface="Microsoft YaHei"/>
                        </a:rPr>
                        <a:t>Who owns it?</a:t>
                      </a:r>
                    </a:p>
                  </a:txBody>
                  <a:tcPr anchor="ctr">
                    <a:solidFill>
                      <a:srgbClr val="FFEFD9"/>
                    </a:solidFill>
                  </a:tcPr>
                </a:tc>
                <a:tc>
                  <a:txBody>
                    <a:bodyPr wrap="square"/>
                    <a:lstStyle/>
                    <a:p>
                      <a:r>
                        <a:rPr sz="1600" b="0">
                          <a:solidFill>
                            <a:srgbClr val="1F2A44"/>
                          </a:solidFill>
                          <a:latin typeface="Arial"/>
                          <a:ea typeface="Microsoft YaHei"/>
                        </a:rPr>
                        <a:t>Who holds the rights?</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Don’t copy.</a:t>
                      </a:r>
                    </a:p>
                  </a:txBody>
                  <a:tcPr anchor="ctr">
                    <a:solidFill>
                      <a:srgbClr val="FFFFFF"/>
                    </a:solidFill>
                  </a:tcPr>
                </a:tc>
                <a:tc>
                  <a:txBody>
                    <a:bodyPr wrap="square"/>
                    <a:lstStyle/>
                    <a:p>
                      <a:r>
                        <a:rPr sz="1600" b="0">
                          <a:solidFill>
                            <a:srgbClr val="1F2A44"/>
                          </a:solidFill>
                          <a:latin typeface="Arial"/>
                          <a:ea typeface="Microsoft YaHei"/>
                        </a:rPr>
                        <a:t>Avoid imitating identifiable works.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Reporting positions: </a:t>
            </a:r>
            <a:r>
              <a:rPr sz="1700" b="0">
                <a:solidFill>
                  <a:srgbClr val="1F2A44"/>
                </a:solidFill>
                <a:latin typeface="Arial"/>
                <a:ea typeface="Microsoft YaHei"/>
              </a:rPr>
              <a:t>argue that, claim that, maintain that, respond that.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Modal verbs for law: </a:t>
            </a:r>
            <a:r>
              <a:rPr sz="1700" b="0">
                <a:solidFill>
                  <a:srgbClr val="1F2A44"/>
                </a:solidFill>
                <a:latin typeface="Arial"/>
                <a:ea typeface="Microsoft YaHei"/>
              </a:rPr>
              <a:t>may, might, could, must, is allowed to, is required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Disclaimers: </a:t>
            </a:r>
            <a:r>
              <a:rPr sz="1700" b="0">
                <a:solidFill>
                  <a:srgbClr val="1F2A44"/>
                </a:solidFill>
                <a:latin typeface="Arial"/>
                <a:ea typeface="Microsoft YaHei"/>
              </a:rPr>
              <a:t>This is general information, not legal advice.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Hedged legal language: </a:t>
            </a:r>
            <a:r>
              <a:rPr sz="1700" b="0">
                <a:solidFill>
                  <a:srgbClr val="1F2A44"/>
                </a:solidFill>
                <a:latin typeface="Arial"/>
                <a:ea typeface="Microsoft YaHei"/>
              </a:rPr>
              <a:t>It appears that, in some countries, depending on the jurisdiction.</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steal our work.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may use our work without permission.</a:t>
            </a:r>
          </a:p>
          <a:p>
            <a:pPr algn="l">
              <a:spcAft>
                <a:spcPts val="200"/>
              </a:spcAft>
            </a:pPr>
            <a:r>
              <a:rPr sz="1200" b="0">
                <a:solidFill>
                  <a:srgbClr val="FFFFFF"/>
                </a:solidFill>
                <a:latin typeface="Arial"/>
                <a:ea typeface="Microsoft YaHei"/>
              </a:rPr>
              <a:t>避免指控</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Copyright is belong to the author.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Copyright belongs to the author.</a:t>
            </a:r>
          </a:p>
          <a:p>
            <a:pPr algn="l">
              <a:spcAft>
                <a:spcPts val="200"/>
              </a:spcAft>
            </a:pPr>
            <a:r>
              <a:rPr sz="1200" b="0">
                <a:solidFill>
                  <a:srgbClr val="FFFFFF"/>
                </a:solidFill>
                <a:latin typeface="Arial"/>
                <a:ea typeface="Microsoft YaHei"/>
              </a:rPr>
              <a:t>belong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got a license for infringe.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obtained a licence to use it.</a:t>
            </a:r>
          </a:p>
          <a:p>
            <a:pPr algn="l">
              <a:spcAft>
                <a:spcPts val="200"/>
              </a:spcAft>
            </a:pPr>
            <a:r>
              <a:rPr sz="1200" b="0">
                <a:solidFill>
                  <a:srgbClr val="FFFFFF"/>
                </a:solidFill>
                <a:latin typeface="Arial"/>
                <a:ea typeface="Microsoft YaHei"/>
              </a:rPr>
              <a:t>搭配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law are unclear.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law is unclear.</a:t>
            </a:r>
          </a:p>
          <a:p>
            <a:pPr algn="l">
              <a:spcAft>
                <a:spcPts val="200"/>
              </a:spcAft>
            </a:pPr>
            <a:r>
              <a:rPr sz="1200" b="0">
                <a:solidFill>
                  <a:srgbClr val="FFFFFF"/>
                </a:solidFill>
                <a:latin typeface="Arial"/>
                <a:ea typeface="Microsoft YaHei"/>
              </a:rPr>
              <a:t>单数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copyright of the picture.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hold the copyright to the picture.</a:t>
            </a:r>
          </a:p>
          <a:p>
            <a:pPr algn="l">
              <a:spcAft>
                <a:spcPts val="200"/>
              </a:spcAft>
            </a:pPr>
            <a:r>
              <a:rPr sz="1200" b="0">
                <a:solidFill>
                  <a:srgbClr val="FFFFFF"/>
                </a:solidFill>
                <a:latin typeface="Arial"/>
                <a:ea typeface="Microsoft YaHei"/>
              </a:rPr>
              <a:t>hold …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copy my idea without ask.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copied my idea without asking.</a:t>
            </a:r>
          </a:p>
          <a:p>
            <a:pPr algn="l">
              <a:spcAft>
                <a:spcPts val="200"/>
              </a:spcAft>
            </a:pPr>
            <a:r>
              <a:rPr sz="1200" b="0">
                <a:solidFill>
                  <a:srgbClr val="FFFFFF"/>
                </a:solidFill>
                <a:latin typeface="Arial"/>
                <a:ea typeface="Microsoft YaHei"/>
              </a:rPr>
              <a:t>without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belong to (no passive), without + -ing, and licence / license.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Law varies: </a:t>
            </a:r>
            <a:r>
              <a:rPr sz="1700" b="0">
                <a:solidFill>
                  <a:srgbClr val="1F2A44"/>
                </a:solidFill>
                <a:latin typeface="Arial"/>
                <a:ea typeface="Microsoft YaHei"/>
              </a:rPr>
              <a:t>Copyright rules differ by country, and AI-specific rules are developing. Get professional advice.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Attribution: </a:t>
            </a:r>
            <a:r>
              <a:rPr sz="1700" b="0">
                <a:solidFill>
                  <a:srgbClr val="1F2A44"/>
                </a:solidFill>
                <a:latin typeface="Arial"/>
                <a:ea typeface="Microsoft YaHei"/>
              </a:rPr>
              <a:t>Crediting sources is a basic professional courtesy.</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Company policy: </a:t>
            </a:r>
            <a:r>
              <a:rPr sz="1700" b="0">
                <a:solidFill>
                  <a:srgbClr val="1F2A44"/>
                </a:solidFill>
                <a:latin typeface="Arial"/>
                <a:ea typeface="Microsoft YaHei"/>
              </a:rPr>
              <a:t>Many organisations restrict AI-generated content in external materials until rules are clearer.</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belong to 不用被动;without + -ing;licence(英名词)/ license(动词、美名词)。AI 内容版权仍在发展中,商业使用前要核对条款。</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present balanced arguments on AI and copyright.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precautions for using AI content.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reporting verbs and hedged legal language.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belong to and without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98 AI and Content Rights AI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reporting verbs (argue, respond), belong to, and hedged legal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99 AI on Trial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on Trial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人工智能受审判</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discuss accountability and public scrutiny of AI: who is responsible when AI makes mistakes, lawsuits and regulation, trust, and how to present an argument for and against.</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If an AI system makes a harmful mistake, who is responsible?</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companies be held legally responsible for what their AI does?</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it mean to “put AI on trial”?</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AI decisions be made explainable?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make you trust an AI system more?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accountability = 问责;liable = 负有法律责任的;explainability = 可解释性。题目 on trial 既指法律诉讼也指公众检验,这里主要讨论一般性问题。</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Argue for or against holding AI developers accountable.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position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reasons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counterargument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conclusion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argue that…   💬 It could be objected that…   💬 On balance,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I’d argue that… 表达论点。It could be objected that… 提出反对意见。On balance 得出结论。</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Who Is Accountable?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As AI systems are used to make or support decisions about loans, hiring, medical advice and more, a serious question arises: when something goes wrong, who is responsible? The developer who built the system? The company that deployed it? The user who relied on it? Courts and regulators in various countries are beginning to examine such cases, and new laws are being discussed. Many experts argue for clear accountability, so that harmed people can seek remedies and organisations take safety seriously. Others warn that overly strict rules could slow useful innovation. Common ideas include requiring risk assessments for high-impact uses, keeping records of how systems make decisions, allowing human review and giving people the right to challenge automated decisions. Trust, in the end, depends on whether people can understand, question and correct what AI does.</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Who might be responsible when AI goes wrong?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developer, the deploying company or the user who relied on it.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worry do some experts raise about strict rules?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could slow useful innovation.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common ideas are mentioned?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Risk assessments, record-keeping, human review and the right to challenge automated decisions.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Accountability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问责用语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accountability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“Accountability is essential.”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liability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法律责任</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accepts liability.”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regulation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“Stronger regulation is expected.”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lawsuit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诉讼</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lawsuit was filed.”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transparency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透明度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“Transparency builds trust.”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risk assessment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风险评估</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risk assessment is required.”</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Arguing for and against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正反论证</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hold (someone) accountable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追究责任</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must hold developers accountable.”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burden of proof</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举证责任</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burden of proof is on the company.”</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stifle innovation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扼杀创新</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“Over-regulation may stifle innovation.”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explainable</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可解释的</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“Decisions should be explainable.”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seek redress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寻求补救</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should be able to seek redress.”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balance</a:t>
            </a:r>
          </a:p>
          <a:p>
            <a:pPr algn="l">
              <a:lnSpc>
                <a:spcPct val="115000"/>
              </a:lnSpc>
              <a:spcAft>
                <a:spcPts val="800"/>
              </a:spcAft>
            </a:pPr>
            <a:r>
              <a:rPr sz="1300" b="0">
                <a:solidFill>
                  <a:srgbClr val="5F677A"/>
                </a:solidFill>
                <a:latin typeface="Arial"/>
                <a:ea typeface="Microsoft YaHei"/>
              </a:rPr>
              <a:t>adverbial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总的来说</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balance, I support regulation.”</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可解释的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explainable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风险评估</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risk assessment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透明度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transparency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诉讼</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lawsuit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问责</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accountability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追究责任</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 (someone) accountable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寻求补救</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seek redress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总的来说</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balance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accountability</a:t>
            </a:r>
          </a:p>
        </p:txBody>
      </p:sp>
      <p:sp>
        <p:nvSpPr>
          <p:cNvPr id="10" name="Rounded Rectangle 9"/>
          <p:cNvSpPr/>
          <p:nvPr/>
        </p:nvSpPr>
        <p:spPr>
          <a:xfrm>
            <a:off x="400507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liability</a:t>
            </a:r>
          </a:p>
        </p:txBody>
      </p:sp>
      <p:sp>
        <p:nvSpPr>
          <p:cNvPr id="11" name="Rounded Rectangle 10"/>
          <p:cNvSpPr/>
          <p:nvPr/>
        </p:nvSpPr>
        <p:spPr>
          <a:xfrm>
            <a:off x="544982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regulation</a:t>
            </a:r>
          </a:p>
        </p:txBody>
      </p:sp>
      <p:sp>
        <p:nvSpPr>
          <p:cNvPr id="12" name="Rounded Rectangle 11"/>
          <p:cNvSpPr/>
          <p:nvPr/>
        </p:nvSpPr>
        <p:spPr>
          <a:xfrm>
            <a:off x="7004304"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lawsuit</a:t>
            </a:r>
          </a:p>
        </p:txBody>
      </p:sp>
      <p:sp>
        <p:nvSpPr>
          <p:cNvPr id="13" name="Rounded Rectangle 12"/>
          <p:cNvSpPr/>
          <p:nvPr/>
        </p:nvSpPr>
        <p:spPr>
          <a:xfrm>
            <a:off x="8229600"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Transparency</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Clear _______ means someone is responsible for AI decisions.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accountability</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company accepted _______ for the error.</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liability</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Stronger _______ of AI is being discussed in many countries.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regulation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customer filed a _______ after the system’s mistake.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lawsuit</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helps people to understand how a system works.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Transparency</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_______ must be completed before the system is used.</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risk assessment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Debating accountability for AI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辩论AI问责</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a seminar, two participants debate whether AI developers should be legally liable for harm.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Quinn Lee, speaker for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Dr Hayes, speaker against</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Debating accountability for AI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Quinn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argue that developers should be accountable, because they design the systems and understand the risks best.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Dr Hayes</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they can’t control how every customer uses them. Isn’t it fairer to hold the user responsible?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many cases, both share responsibility. Developers should test for foreseeable harms and warn users.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could be objected that strict liability might stifle innovation. Smaller firms might not take risks.</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Debating accountability for AI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But a lack of accountability can also harm public trust, which hurts innovation in the long run.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propose?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Clear rules based on risk: stricter requirements for high-impact uses, such as healthcare or credit.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accept that. I’d add that human review should be mandatory for those uses.</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Debating accountability for AI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And people should have a way to challenge automated decisions.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balance, then, we agree on shared accountability and proportionate rules.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The details matter, of course.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do. Thank you for a constructive debate.</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Debating accountability for AI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debate AI accountability.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Side: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Opposing side.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argue that · it could be objected · hold accountable · proportionate · on balance · mandatory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an argument, handle an objection and reach a conclusion.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Dr Hayes says: “Regulation always lags behind technology.”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“explainable AI” simply.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closing statement of two sentences.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responsible when AI makes a harmful mistake?</a:t>
            </a:r>
          </a:p>
          <a:p>
            <a:pPr algn="l">
              <a:lnSpc>
                <a:spcPct val="115000"/>
              </a:lnSpc>
              <a:spcAft>
                <a:spcPts val="800"/>
              </a:spcAft>
            </a:pPr>
            <a:r>
              <a:rPr sz="1400" b="0">
                <a:solidFill>
                  <a:srgbClr val="5F677A"/>
                </a:solidFill>
                <a:latin typeface="Arial"/>
                <a:ea typeface="Microsoft YaHei"/>
              </a:rPr>
              <a:t>💬 “I think it should be shared… / Mainly the…”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high-risk AI uses face stricter rules?</a:t>
            </a:r>
          </a:p>
          <a:p>
            <a:pPr algn="l">
              <a:lnSpc>
                <a:spcPct val="115000"/>
              </a:lnSpc>
              <a:spcAft>
                <a:spcPts val="800"/>
              </a:spcAft>
            </a:pPr>
            <a:r>
              <a:rPr sz="1400" b="0">
                <a:solidFill>
                  <a:srgbClr val="5F677A"/>
                </a:solidFill>
                <a:latin typeface="Arial"/>
                <a:ea typeface="Microsoft YaHei"/>
              </a:rPr>
              <a:t>💬 “Yes, because… / It makes sense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make you trust an AI system more?</a:t>
            </a:r>
          </a:p>
          <a:p>
            <a:pPr algn="l">
              <a:lnSpc>
                <a:spcPct val="115000"/>
              </a:lnSpc>
              <a:spcAft>
                <a:spcPts val="800"/>
              </a:spcAft>
            </a:pPr>
            <a:r>
              <a:rPr sz="1400" b="0">
                <a:solidFill>
                  <a:srgbClr val="5F677A"/>
                </a:solidFill>
                <a:latin typeface="Arial"/>
                <a:ea typeface="Microsoft YaHei"/>
              </a:rPr>
              <a:t>💬 “Knowing… / If it were…”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regulation keep up with fast-moving technology?</a:t>
            </a:r>
          </a:p>
          <a:p>
            <a:pPr algn="l">
              <a:lnSpc>
                <a:spcPct val="115000"/>
              </a:lnSpc>
              <a:spcAft>
                <a:spcPts val="800"/>
              </a:spcAft>
            </a:pPr>
            <a:r>
              <a:rPr sz="1400" b="0">
                <a:solidFill>
                  <a:srgbClr val="5F677A"/>
                </a:solidFill>
                <a:latin typeface="Arial"/>
                <a:ea typeface="Microsoft YaHei"/>
              </a:rPr>
              <a:t>💬 “It’s difficult, but… / Flexible rules…”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High-risk uses, such as medical diagnosis, credit decisions or criminal justice, should definitely face stricter rules, because mistakes can seriously harm people. Lower-risk uses, like a music recommendation, don’t need the same level of control. A risk-based approach protects people where it matters most without slowing down everything else. The key is to define “high risk” carefully and review it regularly.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criminal justice = 刑事司法。”risk-based approach” = 基于风险的方法。”slowing down” = 拖慢。define = 定义。</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Who is wrong?</a:t>
                      </a:r>
                    </a:p>
                  </a:txBody>
                  <a:tcPr anchor="ctr">
                    <a:solidFill>
                      <a:srgbClr val="FFFFFF"/>
                    </a:solidFill>
                  </a:tcPr>
                </a:tc>
                <a:tc>
                  <a:txBody>
                    <a:bodyPr wrap="square"/>
                    <a:lstStyle/>
                    <a:p>
                      <a:r>
                        <a:rPr sz="1600" b="0">
                          <a:solidFill>
                            <a:srgbClr val="1F2A44"/>
                          </a:solidFill>
                          <a:latin typeface="Arial"/>
                          <a:ea typeface="Microsoft YaHei"/>
                        </a:rPr>
                        <a:t>Who bears responsibility?</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408432">
                <a:tc>
                  <a:txBody>
                    <a:bodyPr wrap="square"/>
                    <a:lstStyle/>
                    <a:p>
                      <a:r>
                        <a:rPr sz="1600" b="1">
                          <a:solidFill>
                            <a:srgbClr val="1F2A44"/>
                          </a:solidFill>
                          <a:latin typeface="Arial"/>
                          <a:ea typeface="Microsoft YaHei"/>
                        </a:rPr>
                        <a:t>It’s the company’s fault.</a:t>
                      </a:r>
                    </a:p>
                  </a:txBody>
                  <a:tcPr anchor="ctr">
                    <a:solidFill>
                      <a:srgbClr val="FFEFD9"/>
                    </a:solidFill>
                  </a:tcPr>
                </a:tc>
                <a:tc>
                  <a:txBody>
                    <a:bodyPr wrap="square"/>
                    <a:lstStyle/>
                    <a:p>
                      <a:r>
                        <a:rPr sz="1600" b="0">
                          <a:solidFill>
                            <a:srgbClr val="1F2A44"/>
                          </a:solidFill>
                          <a:latin typeface="Arial"/>
                          <a:ea typeface="Microsoft YaHei"/>
                        </a:rPr>
                        <a:t>The company may be held liable.</a:t>
                      </a:r>
                    </a:p>
                  </a:txBody>
                  <a:tcPr anchor="ctr">
                    <a:solidFill>
                      <a:srgbClr val="FFEFD9"/>
                    </a:solidFill>
                  </a:tcPr>
                </a:tc>
                <a:tc>
                  <a:txBody>
                    <a:bodyPr wrap="square"/>
                    <a:lstStyle/>
                    <a:p>
                      <a:r>
                        <a:rPr sz="1600" b="0">
                          <a:solidFill>
                            <a:srgbClr val="FF6B5B"/>
                          </a:solidFill>
                          <a:latin typeface="Arial"/>
                          <a:ea typeface="Microsoft YaHei"/>
                        </a:rPr>
                        <a:t>谨慎</a:t>
                      </a:r>
                    </a:p>
                  </a:txBody>
                  <a:tcPr anchor="ctr">
                    <a:solidFill>
                      <a:srgbClr val="FFEFD9"/>
                    </a:solidFill>
                  </a:tcPr>
                </a:tc>
              </a:tr>
              <a:tr h="652272">
                <a:tc>
                  <a:txBody>
                    <a:bodyPr wrap="square"/>
                    <a:lstStyle/>
                    <a:p>
                      <a:r>
                        <a:rPr sz="1600" b="1">
                          <a:solidFill>
                            <a:srgbClr val="1F2A44"/>
                          </a:solidFill>
                          <a:latin typeface="Arial"/>
                          <a:ea typeface="Microsoft YaHei"/>
                        </a:rPr>
                        <a:t>This is a bad idea.</a:t>
                      </a:r>
                    </a:p>
                  </a:txBody>
                  <a:tcPr anchor="ctr">
                    <a:solidFill>
                      <a:srgbClr val="FFFFFF"/>
                    </a:solidFill>
                  </a:tcPr>
                </a:tc>
                <a:tc>
                  <a:txBody>
                    <a:bodyPr wrap="square"/>
                    <a:lstStyle/>
                    <a:p>
                      <a:r>
                        <a:rPr sz="1600" b="0">
                          <a:solidFill>
                            <a:srgbClr val="1F2A44"/>
                          </a:solidFill>
                          <a:latin typeface="Arial"/>
                          <a:ea typeface="Microsoft YaHei"/>
                        </a:rPr>
                        <a:t>I have reservations about this approach.</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652272">
                <a:tc>
                  <a:txBody>
                    <a:bodyPr wrap="square"/>
                    <a:lstStyle/>
                    <a:p>
                      <a:r>
                        <a:rPr sz="1600" b="1">
                          <a:solidFill>
                            <a:srgbClr val="1F2A44"/>
                          </a:solidFill>
                          <a:latin typeface="Arial"/>
                          <a:ea typeface="Microsoft YaHei"/>
                        </a:rPr>
                        <a:t>Make rules.</a:t>
                      </a:r>
                    </a:p>
                  </a:txBody>
                  <a:tcPr anchor="ctr">
                    <a:solidFill>
                      <a:srgbClr val="FFEFD9"/>
                    </a:solidFill>
                  </a:tcPr>
                </a:tc>
                <a:tc>
                  <a:txBody>
                    <a:bodyPr wrap="square"/>
                    <a:lstStyle/>
                    <a:p>
                      <a:r>
                        <a:rPr sz="1600" b="0">
                          <a:solidFill>
                            <a:srgbClr val="1F2A44"/>
                          </a:solidFill>
                          <a:latin typeface="Arial"/>
                          <a:ea typeface="Microsoft YaHei"/>
                        </a:rPr>
                        <a:t>Introduce proportionate regulation.</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People can complain.</a:t>
                      </a:r>
                    </a:p>
                  </a:txBody>
                  <a:tcPr anchor="ctr">
                    <a:solidFill>
                      <a:srgbClr val="FFFFFF"/>
                    </a:solidFill>
                  </a:tcPr>
                </a:tc>
                <a:tc>
                  <a:txBody>
                    <a:bodyPr wrap="square"/>
                    <a:lstStyle/>
                    <a:p>
                      <a:r>
                        <a:rPr sz="1600" b="0">
                          <a:solidFill>
                            <a:srgbClr val="1F2A44"/>
                          </a:solidFill>
                          <a:latin typeface="Arial"/>
                          <a:ea typeface="Microsoft YaHei"/>
                        </a:rPr>
                        <a:t>People should be able to seek redress.</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bl>
          </a:graphicData>
        </a:graphic>
      </p:graphicFrame>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Structuring an argument: </a:t>
            </a:r>
            <a:r>
              <a:rPr sz="1700" b="0">
                <a:solidFill>
                  <a:srgbClr val="1F2A44"/>
                </a:solidFill>
                <a:latin typeface="Arial"/>
                <a:ea typeface="Microsoft YaHei"/>
              </a:rPr>
              <a:t>Firstly… Secondly… However… On balance…</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Handling objections: </a:t>
            </a:r>
            <a:r>
              <a:rPr sz="1700" b="0">
                <a:solidFill>
                  <a:srgbClr val="1F2A44"/>
                </a:solidFill>
                <a:latin typeface="Arial"/>
                <a:ea typeface="Microsoft YaHei"/>
              </a:rPr>
              <a:t>That’s a fair point, but… / I take your point; nevertheless…</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Passive for responsibility: </a:t>
            </a:r>
            <a:r>
              <a:rPr sz="1700" b="0">
                <a:solidFill>
                  <a:srgbClr val="1F2A44"/>
                </a:solidFill>
                <a:latin typeface="Arial"/>
                <a:ea typeface="Microsoft YaHei"/>
              </a:rPr>
              <a:t>“The company may be held liable.” / “Decisions should be reviewed.”</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Formal register: </a:t>
            </a:r>
            <a:r>
              <a:rPr sz="1700" b="0">
                <a:solidFill>
                  <a:srgbClr val="1F2A44"/>
                </a:solidFill>
                <a:latin typeface="Arial"/>
                <a:ea typeface="Microsoft YaHei"/>
              </a:rPr>
              <a:t>proportionate, mandatory, foreseeable, accountable, redress.</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developer is responsible to the mistake.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developer is responsible for the mistake.</a:t>
            </a:r>
          </a:p>
          <a:p>
            <a:pPr algn="l">
              <a:spcAft>
                <a:spcPts val="200"/>
              </a:spcAft>
            </a:pPr>
            <a:r>
              <a:rPr sz="1200" b="0">
                <a:solidFill>
                  <a:srgbClr val="FFFFFF"/>
                </a:solidFill>
                <a:latin typeface="Arial"/>
                <a:ea typeface="Microsoft YaHei"/>
              </a:rPr>
              <a:t>responsible for</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were on trial because the AI.</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were taken to court because of the AI’s error.</a:t>
            </a:r>
          </a:p>
          <a:p>
            <a:pPr algn="l">
              <a:spcAft>
                <a:spcPts val="200"/>
              </a:spcAft>
            </a:pPr>
            <a:r>
              <a:rPr sz="1200" b="0">
                <a:solidFill>
                  <a:srgbClr val="FFFFFF"/>
                </a:solidFill>
                <a:latin typeface="Arial"/>
                <a:ea typeface="Microsoft YaHei"/>
              </a:rPr>
              <a:t>because of</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has to be accountable.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Those who deploy AI have to be accountable.</a:t>
            </a:r>
          </a:p>
          <a:p>
            <a:pPr algn="l">
              <a:spcAft>
                <a:spcPts val="200"/>
              </a:spcAft>
            </a:pPr>
            <a:r>
              <a:rPr sz="1200" b="0">
                <a:solidFill>
                  <a:srgbClr val="FFFFFF"/>
                </a:solidFill>
                <a:latin typeface="Arial"/>
                <a:ea typeface="Microsoft YaHei"/>
              </a:rPr>
              <a:t>逻辑主语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regulations.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regulation.</a:t>
            </a:r>
          </a:p>
          <a:p>
            <a:pPr algn="l">
              <a:spcAft>
                <a:spcPts val="200"/>
              </a:spcAft>
            </a:pPr>
            <a:r>
              <a:rPr sz="1200" b="0">
                <a:solidFill>
                  <a:srgbClr val="FFFFFF"/>
                </a:solidFill>
                <a:latin typeface="Arial"/>
                <a:ea typeface="Microsoft YaHei"/>
              </a:rPr>
              <a:t>agree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the people who is responsible.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the people who are responsible.</a:t>
            </a:r>
          </a:p>
          <a:p>
            <a:pPr algn="l">
              <a:spcAft>
                <a:spcPts val="200"/>
              </a:spcAft>
            </a:pPr>
            <a:r>
              <a:rPr sz="1200" b="0">
                <a:solidFill>
                  <a:srgbClr val="FFFFFF"/>
                </a:solidFill>
                <a:latin typeface="Arial"/>
                <a:ea typeface="Microsoft YaHei"/>
              </a:rPr>
              <a:t>主谓一致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discuss about the rules.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discuss the rules.</a:t>
            </a:r>
          </a:p>
          <a:p>
            <a:pPr algn="l">
              <a:spcAft>
                <a:spcPts val="200"/>
              </a:spcAft>
            </a:pPr>
            <a:r>
              <a:rPr sz="1200" b="0">
                <a:solidFill>
                  <a:srgbClr val="FFFFFF"/>
                </a:solidFill>
                <a:latin typeface="Arial"/>
                <a:ea typeface="Microsoft YaHei"/>
              </a:rPr>
              <a:t>discuss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responsible for, subject-verb agreement in relative clauses, and discuss (no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Debate manners: </a:t>
            </a:r>
            <a:r>
              <a:rPr sz="1700" b="0">
                <a:solidFill>
                  <a:srgbClr val="1F2A44"/>
                </a:solidFill>
                <a:latin typeface="Arial"/>
                <a:ea typeface="Microsoft YaHei"/>
              </a:rPr>
              <a:t>In English debates, say “I take your point” before disagreeing.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Legal vocabulary: </a:t>
            </a:r>
            <a:r>
              <a:rPr sz="1700" b="0">
                <a:solidFill>
                  <a:srgbClr val="1F2A44"/>
                </a:solidFill>
                <a:latin typeface="Arial"/>
                <a:ea typeface="Microsoft YaHei"/>
              </a:rPr>
              <a:t>Terms like liability and accountability differ in meaning; define them.</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Evidence: </a:t>
            </a:r>
            <a:r>
              <a:rPr sz="1700" b="0">
                <a:solidFill>
                  <a:srgbClr val="1F2A44"/>
                </a:solidFill>
                <a:latin typeface="Arial"/>
                <a:ea typeface="Microsoft YaHei"/>
              </a:rPr>
              <a:t>Cite cases carefully; legal outcomes vary by place and change over time.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responsible for;who 引导的从句中谓语随先行词(people → are);discuss 不加 about。辩论时先承认对方有理,再提出反驳。</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argue for or against holding AI accountable.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objections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formal vocabulary for law and regulation.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responsible for and agreement in relative clauses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99 AI on Trial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responsible for, agreement in relative clauses, and structured argument.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 · Lesson 100 Global Summit Tackles AI Risks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100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Global Summit Tackles AI Risks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全球共同应对AI风险</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international cooperation on AI safety: why countries meet, what they might agree, obstacles and how to report and discuss news about summits.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countries need to cooperate on AI?</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risks do you think leaders should discuss?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international agreements hard to reach?</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should be at the table besides governments?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report on a summit in a neutral, careful way?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summit = 峰会;communiqué = 公报;binding = 有约束力的;voluntary = 自愿的。本课作综合练习,可复习本单元的假设语气、被动语态和谨慎措辞。</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Summarise a (hypothetical) summit outcome and give your view.</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 met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was discussed</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was agreed</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remains unresolved</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your view</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Leaders from … met to discuss…   💬 They agreed to…   💬 It remains to be seen whether…</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agreed to + 动词。It remains to be seen whether… = 有待观察。reportedly = 据报道。</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Around the Table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000" b="0">
                <a:solidFill>
                  <a:srgbClr val="1F2A44"/>
                </a:solidFill>
                <a:latin typeface="Arial"/>
                <a:ea typeface="Microsoft YaHei"/>
              </a:rPr>
              <a:t>Because AI is developed and used across borders, many governments argue that no single country can manage its risks alone. At international summits, officials, companies, researchers and civil-society groups discuss issues such as safety testing, misuse by criminals, bias, privacy and the effects on jobs. Reports of such meetings often describe statements of shared principles rather than detailed binding rules. Supporters say these gatherings build trust and create a common language. Critics point out that voluntary commitments are hard to enforce, that countries have different priorities and that rapid technological change makes agreements out of date quickly. A realistic view is that summits are a first step. Their value depends on whether commitments are followed by national laws, cooperation between regulators and ongoing dialogue with all affected groups. (This passage is a generic illustration, not a report of a specific event.)</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governments say cooperation is needed?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AI is developed and used across borders, so no country can manage its risks alone.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summit reports often contain?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Statements of shared principles rather than detailed binding rules.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a summit’s value depend 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Whether commitments are followed by national laws, regulator cooperation and ongoing dialogue.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1: Summit and policy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峰会与政策用语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summit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峰会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summit brought together leaders.”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“Delegates met for three days.”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agreement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reached an agreement.”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voluntary commitment</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自愿承诺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“Companies signed voluntary commitments.”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safety testing</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安全测试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“Safety testing is a priority.”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stakeholder</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利益相关方</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“All stakeholders should be involved.”</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Reporting and evaluating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报道与评价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tackle (a problem)</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着手解决</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aim to tackle the risks.”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common ground</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共同点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found common ground on testing.”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non-binding</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无约束力的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declaration is non-binding.”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remains to be seen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有待观察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remains to be seen whether it works.”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reportedly</a:t>
            </a:r>
          </a:p>
          <a:p>
            <a:pPr algn="l">
              <a:lnSpc>
                <a:spcPct val="115000"/>
              </a:lnSpc>
              <a:spcAft>
                <a:spcPts val="800"/>
              </a:spcAft>
            </a:pPr>
            <a:r>
              <a:rPr sz="1300" b="0">
                <a:solidFill>
                  <a:srgbClr val="5F677A"/>
                </a:solidFill>
                <a:latin typeface="Arial"/>
                <a:ea typeface="Microsoft YaHei"/>
              </a:rPr>
              <a:t>adverb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据报道</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talks reportedly went well.”</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step in the right direction</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朝正确方向迈出的一步</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step in the right direction.”</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协议</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agreement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朝正确方向迈出的一步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in the right direction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峰会</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summit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利益相关方</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stakeholder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代表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共同点</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common ground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有待观察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remains to be seen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据报道</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reportedly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summit</a:t>
            </a:r>
          </a:p>
        </p:txBody>
      </p:sp>
      <p:sp>
        <p:nvSpPr>
          <p:cNvPr id="10" name="Rounded Rectangle 9"/>
          <p:cNvSpPr/>
          <p:nvPr/>
        </p:nvSpPr>
        <p:spPr>
          <a:xfrm>
            <a:off x="3127248"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Delegates</a:t>
            </a:r>
          </a:p>
        </p:txBody>
      </p:sp>
      <p:sp>
        <p:nvSpPr>
          <p:cNvPr id="11" name="Rounded Rectangle 10"/>
          <p:cNvSpPr/>
          <p:nvPr/>
        </p:nvSpPr>
        <p:spPr>
          <a:xfrm>
            <a:off x="4572000" y="987552"/>
            <a:ext cx="267004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voluntary commitments</a:t>
            </a:r>
          </a:p>
        </p:txBody>
      </p:sp>
      <p:sp>
        <p:nvSpPr>
          <p:cNvPr id="12" name="Rounded Rectangle 11"/>
          <p:cNvSpPr/>
          <p:nvPr/>
        </p:nvSpPr>
        <p:spPr>
          <a:xfrm>
            <a:off x="7333488"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stakeholders</a:t>
            </a:r>
          </a:p>
        </p:txBody>
      </p:sp>
      <p:sp>
        <p:nvSpPr>
          <p:cNvPr id="13" name="Rounded Rectangle 12"/>
          <p:cNvSpPr/>
          <p:nvPr/>
        </p:nvSpPr>
        <p:spPr>
          <a:xfrm>
            <a:off x="9107423"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common ground</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1.  Leaders from many countries attended the _______.</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summit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2.  _______ from over twenty countries took part.</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Delegates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3.  Companies made _______ to test their systems for safety.</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voluntary commitments</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4.  All _______, including researchers and civil society, should be consulted.</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stakeholders</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5.  The countries found _______ on the need for safety testing.</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common ground</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600" b="0">
                <a:solidFill>
                  <a:srgbClr val="1F2A44"/>
                </a:solidFill>
                <a:latin typeface="Arial"/>
                <a:ea typeface="Microsoft YaHei"/>
              </a:rPr>
              <a:t>6.  The declaration is _______, so it can’t be enforced.</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non-binding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Summarising a summit for colleagues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向同事概述峰会结果</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give a short briefing to colleagues about a hypothetical international AI-safety summit.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Zoe Yim, policy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Fry, colleague</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Summarising a summit for colleagues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Zoe</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Fry, here’s a quick summary of the AI-safety summit.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Fry</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Who attended?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Delegates from many countries met, along with company representatives and researchers.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did they discuss?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Safety testing, misuse, bias and the effects on jobs.</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they agree anything?</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Summarising a summit for colleagues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agreed to cooperate on testing standards and to share information on risks. The statement is non-binding, though.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how much will change?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remains to be seen. Voluntary commitments are hard to enforce, and countries have different priorities.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your view?</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say it’s a step in the right direction, but national laws and follow-up will matter more.</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Summarising a summit for colleagues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brief colleagues about a summit.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Summit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Ask what it means for the company.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delegates · agreed to · non-binding · remains to be seen · step in the right direction · monitor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Summarise, give your view and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Fry says: “These summits never achieve anything.”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neutral two-sentence news summary of a summit.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groups that should take part in AI safety talks.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international cooperation needed on AI?</a:t>
            </a:r>
          </a:p>
          <a:p>
            <a:pPr algn="l">
              <a:lnSpc>
                <a:spcPct val="115000"/>
              </a:lnSpc>
              <a:spcAft>
                <a:spcPts val="800"/>
              </a:spcAft>
            </a:pPr>
            <a:r>
              <a:rPr sz="1400" b="0">
                <a:solidFill>
                  <a:srgbClr val="5F677A"/>
                </a:solidFill>
                <a:latin typeface="Arial"/>
                <a:ea typeface="Microsoft YaHei"/>
              </a:rPr>
              <a:t>💬 “AI crosses borders, so… / Without cooperation…”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voluntary agreements enough?</a:t>
            </a:r>
          </a:p>
          <a:p>
            <a:pPr algn="l">
              <a:lnSpc>
                <a:spcPct val="115000"/>
              </a:lnSpc>
              <a:spcAft>
                <a:spcPts val="800"/>
              </a:spcAft>
            </a:pPr>
            <a:r>
              <a:rPr sz="1400" b="0">
                <a:solidFill>
                  <a:srgbClr val="5F677A"/>
                </a:solidFill>
                <a:latin typeface="Arial"/>
                <a:ea typeface="Microsoft YaHei"/>
              </a:rPr>
              <a:t>💬 “They help to… but without enforcement…”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have a voice in AI policy?</a:t>
            </a:r>
          </a:p>
          <a:p>
            <a:pPr algn="l">
              <a:lnSpc>
                <a:spcPct val="115000"/>
              </a:lnSpc>
              <a:spcAft>
                <a:spcPts val="800"/>
              </a:spcAft>
            </a:pPr>
            <a:r>
              <a:rPr sz="1400" b="0">
                <a:solidFill>
                  <a:srgbClr val="5F677A"/>
                </a:solidFill>
                <a:latin typeface="Arial"/>
                <a:ea typeface="Microsoft YaHei"/>
              </a:rPr>
              <a:t>💬 “Governments, companies, researchers and… should…”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expect AI to look like in ten years?</a:t>
            </a:r>
          </a:p>
          <a:p>
            <a:pPr algn="l">
              <a:lnSpc>
                <a:spcPct val="115000"/>
              </a:lnSpc>
              <a:spcAft>
                <a:spcPts val="800"/>
              </a:spcAft>
            </a:pPr>
            <a:r>
              <a:rPr sz="1400" b="0">
                <a:solidFill>
                  <a:srgbClr val="5F677A"/>
                </a:solidFill>
                <a:latin typeface="Arial"/>
                <a:ea typeface="Microsoft YaHei"/>
              </a:rPr>
              <a:t>💬 “I’d expect… / It’s likely that… / Nobody knows,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Voluntary agreements are a useful start because they bring people together and build trust, and companies can move faster than legislators. But they are not enough on their own, since there’s no guarantee that everyone follows them, and competitive pressure can lead firms to cut corners. Ideally, voluntary commitments should be followed by binding rules and independent checks, especially for high-risk uses.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legislator = 立法者。”cut corners” = 偷工减料。independent = 独立的。”binding rules” = 有约束力的规则。</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countries talked.</a:t>
                      </a:r>
                    </a:p>
                  </a:txBody>
                  <a:tcPr anchor="ctr">
                    <a:solidFill>
                      <a:srgbClr val="FFFFFF"/>
                    </a:solidFill>
                  </a:tcPr>
                </a:tc>
                <a:tc>
                  <a:txBody>
                    <a:bodyPr wrap="square"/>
                    <a:lstStyle/>
                    <a:p>
                      <a:r>
                        <a:rPr sz="1600" b="0">
                          <a:solidFill>
                            <a:srgbClr val="1F2A44"/>
                          </a:solidFill>
                          <a:latin typeface="Arial"/>
                          <a:ea typeface="Microsoft YaHei"/>
                        </a:rPr>
                        <a:t>Delegates discussed shared risks and responses.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They said yes.</a:t>
                      </a:r>
                    </a:p>
                  </a:txBody>
                  <a:tcPr anchor="ctr">
                    <a:solidFill>
                      <a:srgbClr val="FFEFD9"/>
                    </a:solidFill>
                  </a:tcPr>
                </a:tc>
                <a:tc>
                  <a:txBody>
                    <a:bodyPr wrap="square"/>
                    <a:lstStyle/>
                    <a:p>
                      <a:r>
                        <a:rPr sz="1600" b="0">
                          <a:solidFill>
                            <a:srgbClr val="1F2A44"/>
                          </a:solidFill>
                          <a:latin typeface="Arial"/>
                          <a:ea typeface="Microsoft YaHei"/>
                        </a:rPr>
                        <a:t>They agreed to cooperate on testing.</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It’s not a law.</a:t>
                      </a:r>
                    </a:p>
                  </a:txBody>
                  <a:tcPr anchor="ctr">
                    <a:solidFill>
                      <a:srgbClr val="FFFFFF"/>
                    </a:solidFill>
                  </a:tcPr>
                </a:tc>
                <a:tc>
                  <a:txBody>
                    <a:bodyPr wrap="square"/>
                    <a:lstStyle/>
                    <a:p>
                      <a:r>
                        <a:rPr sz="1600" b="0">
                          <a:solidFill>
                            <a:srgbClr val="1F2A44"/>
                          </a:solidFill>
                          <a:latin typeface="Arial"/>
                          <a:ea typeface="Microsoft YaHei"/>
                        </a:rPr>
                        <a:t>The statement is non-binding.</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Maybe it works.</a:t>
                      </a:r>
                    </a:p>
                  </a:txBody>
                  <a:tcPr anchor="ctr">
                    <a:solidFill>
                      <a:srgbClr val="FFEFD9"/>
                    </a:solidFill>
                  </a:tcPr>
                </a:tc>
                <a:tc>
                  <a:txBody>
                    <a:bodyPr wrap="square"/>
                    <a:lstStyle/>
                    <a:p>
                      <a:r>
                        <a:rPr sz="1600" b="0">
                          <a:solidFill>
                            <a:srgbClr val="1F2A44"/>
                          </a:solidFill>
                          <a:latin typeface="Arial"/>
                          <a:ea typeface="Microsoft YaHei"/>
                        </a:rPr>
                        <a:t>It remains to be seen whether it will work.</a:t>
                      </a:r>
                    </a:p>
                  </a:txBody>
                  <a:tcPr anchor="ctr">
                    <a:solidFill>
                      <a:srgbClr val="FFEFD9"/>
                    </a:solidFill>
                  </a:tcPr>
                </a:tc>
                <a:tc>
                  <a:txBody>
                    <a:bodyPr wrap="square"/>
                    <a:lstStyle/>
                    <a:p>
                      <a:r>
                        <a:rPr sz="1600" b="0">
                          <a:solidFill>
                            <a:srgbClr val="FF6B5B"/>
                          </a:solidFill>
                          <a:latin typeface="Arial"/>
                          <a:ea typeface="Microsoft YaHei"/>
                        </a:rPr>
                        <a:t>地道</a:t>
                      </a:r>
                    </a:p>
                  </a:txBody>
                  <a:tcPr anchor="ctr">
                    <a:solidFill>
                      <a:srgbClr val="FFEFD9"/>
                    </a:solidFill>
                  </a:tcPr>
                </a:tc>
              </a:tr>
              <a:tr h="652272">
                <a:tc>
                  <a:txBody>
                    <a:bodyPr wrap="square"/>
                    <a:lstStyle/>
                    <a:p>
                      <a:r>
                        <a:rPr sz="1600" b="1">
                          <a:solidFill>
                            <a:srgbClr val="1F2A44"/>
                          </a:solidFill>
                          <a:latin typeface="Arial"/>
                          <a:ea typeface="Microsoft YaHei"/>
                        </a:rPr>
                        <a:t>I think good.</a:t>
                      </a:r>
                    </a:p>
                  </a:txBody>
                  <a:tcPr anchor="ctr">
                    <a:solidFill>
                      <a:srgbClr val="FFFFFF"/>
                    </a:solidFill>
                  </a:tcPr>
                </a:tc>
                <a:tc>
                  <a:txBody>
                    <a:bodyPr wrap="square"/>
                    <a:lstStyle/>
                    <a:p>
                      <a:r>
                        <a:rPr sz="1600" b="0">
                          <a:solidFill>
                            <a:srgbClr val="1F2A44"/>
                          </a:solidFill>
                          <a:latin typeface="Arial"/>
                          <a:ea typeface="Microsoft YaHei"/>
                        </a:rPr>
                        <a:t>I see it as a positive first step.</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bl>
          </a:graphicData>
        </a:graphic>
      </p:graphicFrame>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Reporting verbs: </a:t>
            </a:r>
            <a:r>
              <a:rPr sz="1700" b="0">
                <a:solidFill>
                  <a:srgbClr val="1F2A44"/>
                </a:solidFill>
                <a:latin typeface="Arial"/>
                <a:ea typeface="Microsoft YaHei"/>
              </a:rPr>
              <a:t>agreed to, announced that, stressed that, warned that, pledged to.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Hedged evaluation: </a:t>
            </a:r>
            <a:r>
              <a:rPr sz="1700" b="0">
                <a:solidFill>
                  <a:srgbClr val="1F2A44"/>
                </a:solidFill>
                <a:latin typeface="Arial"/>
                <a:ea typeface="Microsoft YaHei"/>
              </a:rPr>
              <a:t>It could be argued that…, It may be too early to say…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Passive in news style: </a:t>
            </a:r>
            <a:r>
              <a:rPr sz="1700" b="0">
                <a:solidFill>
                  <a:srgbClr val="1F2A44"/>
                </a:solidFill>
                <a:latin typeface="Arial"/>
                <a:ea typeface="Microsoft YaHei"/>
              </a:rPr>
              <a:t>“A declaration was signed.” / “Further talks are planned.”</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Summary structure: </a:t>
            </a:r>
            <a:r>
              <a:rPr sz="1700" b="0">
                <a:solidFill>
                  <a:srgbClr val="1F2A44"/>
                </a:solidFill>
                <a:latin typeface="Arial"/>
                <a:ea typeface="Microsoft YaHei"/>
              </a:rPr>
              <a:t>who → what → outcome → reaction → next steps.</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agreed for cooperate.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agreed to cooperate.</a:t>
            </a:r>
          </a:p>
          <a:p>
            <a:pPr algn="l">
              <a:spcAft>
                <a:spcPts val="200"/>
              </a:spcAft>
            </a:pPr>
            <a:r>
              <a:rPr sz="1200" b="0">
                <a:solidFill>
                  <a:srgbClr val="FFFFFF"/>
                </a:solidFill>
                <a:latin typeface="Arial"/>
                <a:ea typeface="Microsoft YaHei"/>
              </a:rPr>
              <a:t>agree to do</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summit was attended from many countries.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summit was attended by delegates from many countries.</a:t>
            </a:r>
          </a:p>
          <a:p>
            <a:pPr algn="l">
              <a:spcAft>
                <a:spcPts val="200"/>
              </a:spcAft>
            </a:pPr>
            <a:r>
              <a:rPr sz="1200" b="0">
                <a:solidFill>
                  <a:srgbClr val="FFFFFF"/>
                </a:solidFill>
                <a:latin typeface="Arial"/>
                <a:ea typeface="Microsoft YaHei"/>
              </a:rPr>
              <a:t>by</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remains see.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remains to be seen.</a:t>
            </a:r>
          </a:p>
          <a:p>
            <a:pPr algn="l">
              <a:spcAft>
                <a:spcPts val="200"/>
              </a:spcAft>
            </a:pPr>
            <a:r>
              <a:rPr sz="1200" b="0">
                <a:solidFill>
                  <a:srgbClr val="FFFFFF"/>
                </a:solidFill>
                <a:latin typeface="Arial"/>
                <a:ea typeface="Microsoft YaHei"/>
              </a:rPr>
              <a:t>固定表达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agreement is non binding.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agreement is non-binding.</a:t>
            </a:r>
          </a:p>
          <a:p>
            <a:pPr algn="l">
              <a:spcAft>
                <a:spcPts val="200"/>
              </a:spcAft>
            </a:pPr>
            <a:r>
              <a:rPr sz="1200" b="0">
                <a:solidFill>
                  <a:srgbClr val="FFFFFF"/>
                </a:solidFill>
                <a:latin typeface="Arial"/>
                <a:ea typeface="Microsoft YaHei"/>
              </a:rPr>
              <a:t>连字符</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hopeful for the result.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hopeful about the outcome.</a:t>
            </a:r>
          </a:p>
          <a:p>
            <a:pPr algn="l">
              <a:spcAft>
                <a:spcPts val="200"/>
              </a:spcAft>
            </a:pPr>
            <a:r>
              <a:rPr sz="1200" b="0">
                <a:solidFill>
                  <a:srgbClr val="FFFFFF"/>
                </a:solidFill>
                <a:latin typeface="Arial"/>
                <a:ea typeface="Microsoft YaHei"/>
              </a:rPr>
              <a:t>about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delegates are discuss.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delegates are discussing the issues.</a:t>
            </a:r>
          </a:p>
          <a:p>
            <a:pPr algn="l">
              <a:spcAft>
                <a:spcPts val="200"/>
              </a:spcAft>
            </a:pPr>
            <a:r>
              <a:rPr sz="1200" b="0">
                <a:solidFill>
                  <a:srgbClr val="FFFFFF"/>
                </a:solidFill>
                <a:latin typeface="Arial"/>
                <a:ea typeface="Microsoft YaHei"/>
              </a:rPr>
              <a:t>进行时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agree to, passive with by, and fixed expressions (it remains to be seen).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Neutral reporting: </a:t>
            </a:r>
            <a:r>
              <a:rPr sz="1700" b="0">
                <a:solidFill>
                  <a:srgbClr val="1F2A44"/>
                </a:solidFill>
                <a:latin typeface="Arial"/>
                <a:ea typeface="Microsoft YaHei"/>
              </a:rPr>
              <a:t>Use reporting verbs and attribute claims (“according to officials”).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Check facts: </a:t>
            </a:r>
            <a:r>
              <a:rPr sz="1700" b="0">
                <a:solidFill>
                  <a:srgbClr val="1F2A44"/>
                </a:solidFill>
                <a:latin typeface="Arial"/>
                <a:ea typeface="Microsoft YaHei"/>
              </a:rPr>
              <a:t>For real events, check official statements and several sources.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Looking ahead: </a:t>
            </a:r>
            <a:r>
              <a:rPr sz="1700" b="0">
                <a:solidFill>
                  <a:srgbClr val="1F2A44"/>
                </a:solidFill>
                <a:latin typeface="Arial"/>
                <a:ea typeface="Microsoft YaHei"/>
              </a:rPr>
              <a:t>Summits are usually the start of a process, not the end.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agree to do sth;it remains to be seen;passive 的 by 引出行为者。写新闻式摘要时中立、有出处、不过度判断。</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100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summarise a summit or policy event neutrally.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balanced view of voluntary agreements.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reporting verbs and passive news style.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agree to and it remains to be seen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 · Lesson 100 Global Summit Tackles AI Risks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reporting verbs, passive news style, and balanced evaluation.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公平竞争环境</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level playing field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personalisation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Personalisation boosts engagement.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可迁移技能</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transferable skills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工作保障</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job security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deepfake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video was a deepfake.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 makes the process more faster.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 makes the process faster.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“上当”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for</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“受到监管审查”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 regulatory scrutiny</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“生成”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They fired because AI.</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They were laid off because of AI.</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He got a license for infringe.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 obtained a licence to use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10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