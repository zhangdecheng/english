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8: Business Trends and Sustainability — Self-Study Workbook (Lessons 70–78)</a:t>
            </a:r>
          </a:p>
          <a:p/>
          <a:p>
            <a:r>
              <a:t>开场：简单介绍本单元的主题和要完成的 9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70 · Uncertain Times in Business 商业不确定时期</a:t>
            </a:r>
          </a:p>
          <a:p>
            <a:r>
              <a:t>Goal: talk about business in uncertain times: risk, planning for scenarios, flexibility, communicating with staff and making decisions without full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uncertainty = 不确定性。volatile = 动荡的。scenario planning = 情景规划。第 5 题用过去时描述经历。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a company can prepare for uncertainty.</a:t>
            </a:r>
          </a:p>
          <a:p>
            <a:r>
              <a:t>Say: risks → scenarios → flexibility → communication</a:t>
            </a:r>
          </a:p>
          <a:p>
            <a:r>
              <a:t>Useful starters: “We can’t predict…, but we can prepare by…” / “One option is to…” / “It’s important to stay flexible.”</a:t>
            </a:r>
          </a:p>
          <a:p>
            <a:r>
              <a:t>We can’t predict…, but… 承认不确定后给出行动。one option is to + 动词。stay flexible 保持灵活。</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Few leaders can see more than a year ahead with confidence. Prices change, regulations shift, technology moves fast and global events can interrupt supply chains with little warning. Yet decisions still have to be made. Experienced managers do not try to predict a single future. Instead, they think in scenarios: what happens if demand rises, stays flat or falls sharply? For each scenario they identify early warning signs and plan responses. They keep cash in reserve, avoid depending on one supplier or one customer and build flexibility into contracts. Communication matters as much as planning. Staff cope better when leaders are honest about what they know and do not know, give regular updates and explain how decisions are made. Uncertainty cannot be removed, but it can be managed.</a:t>
            </a:r>
          </a:p>
          <a:p>
            <a:r>
              <a:t>supply chain = 供应链。flat = 持平。early warning signs = 早期预警信号。cope = 应对。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experienced managers plan?</a:t>
            </a:r>
          </a:p>
          <a:p>
            <a:r>
              <a:t>A: By thinking in scenarios rather than predicting a single future.</a:t>
            </a:r>
          </a:p>
          <a:p>
            <a:r>
              <a:t>Q2. What practical steps reduce risk?</a:t>
            </a:r>
          </a:p>
          <a:p>
            <a:r>
              <a:t>A: Keep cash in reserve, avoid depending on one supplier or customer, and build flexibility into contracts.</a:t>
            </a:r>
          </a:p>
          <a:p>
            <a:r>
              <a:t>Q3. Why does communication matter?</a:t>
            </a:r>
          </a:p>
          <a:p>
            <a:r>
              <a:t>A: Staff cope better when leaders are honest and give regular updates.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Risk and uncertainty 风险与不确定性</a:t>
            </a:r>
          </a:p>
          <a:p>
            <a:r>
              <a:t>领读 → 学员跟读 → 请学员用表达造一个和自己工作相关的句子。</a:t>
            </a:r>
          </a:p>
          <a:p>
            <a:r>
              <a:t>uncertainty (noun) 不确定性 — “Uncertainty affects investment.”</a:t>
            </a:r>
          </a:p>
          <a:p>
            <a:r>
              <a:t>volatile (adjective) 动荡的 — “The market is volatile.”</a:t>
            </a:r>
          </a:p>
          <a:p>
            <a:r>
              <a:t>risk management (noun) 风险管理 — “Risk management is a priority.”</a:t>
            </a:r>
          </a:p>
          <a:p>
            <a:r>
              <a:t>scenario (noun) 情景 — “We prepared three scenarios.”</a:t>
            </a:r>
          </a:p>
          <a:p>
            <a:r>
              <a:t>contingency plan (noun) 应急计划 — “We have a contingency plan.”</a:t>
            </a:r>
          </a:p>
          <a:p>
            <a:r>
              <a:t>supply chain (noun) 供应链 — “The supply chain was disrupted.”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Coping with change ★ 应对变化</a:t>
            </a:r>
          </a:p>
          <a:p>
            <a:r>
              <a:t>领读 → 学员跟读 → 请学员用表达造一个和自己工作相关的句子。</a:t>
            </a:r>
          </a:p>
          <a:p>
            <a:r>
              <a:t>★ brace for (phrasal verb) 做好迎接……的准备 — “We’re bracing for a slowdown.”</a:t>
            </a:r>
          </a:p>
          <a:p>
            <a:r>
              <a:t>★ hedge your bets (idiom) 分散风险 — “They hedged their bets by using two suppliers.”</a:t>
            </a:r>
          </a:p>
          <a:p>
            <a:r>
              <a:t>★ weather the storm (idiom) 渡过难关 — “We aim to weather the storm.”</a:t>
            </a:r>
          </a:p>
          <a:p>
            <a:r>
              <a:t>★ play it safe (idiom) 求稳 — “They decided to play it safe.”</a:t>
            </a:r>
          </a:p>
          <a:p>
            <a:r>
              <a:t>★ keep options open (collocation) 保留选择余地 — “Let’s keep our options open.”</a:t>
            </a:r>
          </a:p>
          <a:p>
            <a:r>
              <a:t>★ a wait-and-see approach (noun phrase) 观望态度 — “We’re taking a wait-and-see approach.”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uncertainty / volatile / scenario / contingency plan / hedge / wait-and-see</a:t>
            </a:r>
          </a:p>
          <a:p>
            <a:r>
              <a:t>1. Political _______ makes investors cautious. → uncertainty</a:t>
            </a:r>
          </a:p>
          <a:p>
            <a:r>
              <a:t>2. Oil prices are _______ at the moment. → volatile</a:t>
            </a:r>
          </a:p>
          <a:p>
            <a:r>
              <a:t>3. In the best-case _______, sales grow by 10%. → scenario</a:t>
            </a:r>
          </a:p>
          <a:p>
            <a:r>
              <a:t>4. We have a _______ in case the supplier fails. → contingency plan</a:t>
            </a:r>
          </a:p>
          <a:p>
            <a:r>
              <a:t>5. To _______ our bets, we’re using two suppliers. → hedge</a:t>
            </a:r>
          </a:p>
          <a:p>
            <a:r>
              <a:t>6. Many firms are taking a _______ approach. → wait-and-see</a:t>
            </a:r>
          </a:p>
          <a:p>
            <a:r>
              <a:t>Mistake Watch (拼写与搭配): uncertain/uncertainty (not “uncertainity”), volatile, scenario (plural scenarios). Plan for (not “plan about”), depend on (not “depend of”), cope with (not “cope up with”). Risk (noun/verb): “take a risk”, “run the risk of -ing”. Predict vs forecast.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planning for uncertainty 讨论如何应对不确定性</a:t>
            </a:r>
          </a:p>
          <a:p>
            <a:r>
              <a:t>情景：A finance director and a manager discuss how to plan next year’s budget in an uncertain market.</a:t>
            </a:r>
          </a:p>
          <a:p>
            <a:r>
              <a:t>Role A: Wen Gu, finance director (you) Role B: Paul Lee, operations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(Wen): Paul, next year’s budget is difficult. Nobody can say how demand will behave.</a:t>
            </a:r>
          </a:p>
          <a:p>
            <a:r>
              <a:t>B (Paul): I know. Should we just play it safe and cut costs?</a:t>
            </a:r>
          </a:p>
          <a:p>
            <a:r>
              <a:t>A: I’d rather prepare scenarios. A base case, an upside and a downside.</a:t>
            </a:r>
          </a:p>
          <a:p>
            <a:r>
              <a:t>B: What would trigger the downside?</a:t>
            </a:r>
          </a:p>
          <a:p>
            <a:r>
              <a:t>A: A drop in orders of more than 15% over two months. That would be our early warning 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what would we do then?</a:t>
            </a:r>
          </a:p>
          <a:p>
            <a:r>
              <a:t>A: Freeze hiring, delay non-essential spending and use our credit line.</a:t>
            </a:r>
          </a:p>
          <a:p>
            <a:r>
              <a:t>B: What about the upside?</a:t>
            </a:r>
          </a:p>
          <a:p>
            <a:r>
              <a:t>A: We’d approve extra stock and recruit on temporary contracts, to keep our options open.</a:t>
            </a:r>
          </a:p>
          <a:p>
            <a:r>
              <a:t>B: I like that. It avoids big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Exactly. We can’t predict the future, but we can be ready for different outcomes.</a:t>
            </a:r>
          </a:p>
          <a:p>
            <a:r>
              <a:t>B: And communication? Staff are worried.</a:t>
            </a:r>
          </a:p>
          <a:p>
            <a:r>
              <a:t>A: I’ll brief them monthly on what we know and what we don’t.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70 | </a:t>
            </a:r>
          </a:p>
          <a:p>
            <a:r>
              <a:t>Situation | You plan for uncertainty.</a:t>
            </a:r>
          </a:p>
          <a:p>
            <a:r>
              <a:t>Your role (A) | Finance director. Risk: ______________</a:t>
            </a:r>
          </a:p>
          <a:p>
            <a:r>
              <a:t>Partner’s role (B) | Manager. Prefers a cautious option.</a:t>
            </a:r>
          </a:p>
          <a:p>
            <a:r>
              <a:t>Must use (4 or more) | scenario · early warning · contingency · keep options open · downside · brief staff</a:t>
            </a:r>
          </a:p>
          <a:p>
            <a:r>
              <a:t>Goal | Propose three scenarios and the response to each.</a:t>
            </a:r>
          </a:p>
          <a:p>
            <a:r>
              <a:t>My notes | ____________________________________________</a:t>
            </a:r>
          </a:p>
          <a:p>
            <a:r>
              <a:t>Paul says: “Planning is pointless when everything changes.” Respond.</a:t>
            </a:r>
          </a:p>
          <a:p>
            <a:r>
              <a:t>Explain one decision you made under uncertainty.</a:t>
            </a:r>
          </a:p>
          <a:p>
            <a:r>
              <a:t>Draft a short message to staff about uncertain times.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should companies plan when the future is unclear? | “They can use scenarios… / It helps to…”</a:t>
            </a:r>
          </a:p>
          <a:p>
            <a:r>
              <a:t>2. What risks keep business leaders awake at night? | “Probably… / Many worry about…”</a:t>
            </a:r>
          </a:p>
          <a:p>
            <a:r>
              <a:t>3. Is it better to act quickly or wait? | “It depends on… / Acting early can…”</a:t>
            </a:r>
          </a:p>
          <a:p>
            <a:r>
              <a:t>4. How can leaders communicate honestly without causing panic? | “By being clear about… / Offering regular updates…”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“Leaders can communicate honestly without causing panic by being clear about what they know, what they don’t know and when they’ll update people next. They should avoid false reassurance, but also avoid dramatic language. It helps to explain the plan: “If this happens, we will do that.” People tend to feel calmer when they see that someone is in control, even when the situation is uncertain.”</a:t>
            </a:r>
          </a:p>
          <a:p>
            <a:r>
              <a:t>false reassurance = 虚假安慰。dramatic = 夸张的。”in control” = 掌控局面。tend to = 倾向于。</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don’t know the future. | It’s hard to predict how things will develop. | 地道</a:t>
            </a:r>
          </a:p>
          <a:p>
            <a:r>
              <a:t>We wait. | We’re taking a wait-and-see approach. | 习语</a:t>
            </a:r>
          </a:p>
          <a:p>
            <a:r>
              <a:t>It’s dangerous. | There are significant risks involved. | 正式</a:t>
            </a:r>
          </a:p>
          <a:p>
            <a:r>
              <a:t>We have a plan B. | We have a contingency plan in place. | 术语</a:t>
            </a:r>
          </a:p>
          <a:p>
            <a:r>
              <a:t>Don’t worry. | We’re monitoring the situation closely. | 具体</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Hedging the future: could, may, might, is likely to, there’s a chance that…</a:t>
            </a:r>
          </a:p>
          <a:p>
            <a:r>
              <a:t>Conditionals: If demand falls, we will cut spending. (first) / If demand fell, we would cut spending. (second, less likely)</a:t>
            </a:r>
          </a:p>
          <a:p>
            <a:r>
              <a:t>Contrasting certainty: what we know / what we don’t know / what we can control.</a:t>
            </a:r>
          </a:p>
          <a:p>
            <a:r>
              <a:t>Linkers of addition: in addition, moreover, what’s more.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Nobody can predicts the future.  →  ✓ Nobody can predict the future.  (can + 原形)</a:t>
            </a:r>
          </a:p>
          <a:p>
            <a:r>
              <a:t>✗ We depend of one supplier.  →  ✓ We depend on one supplier.  (depend on)</a:t>
            </a:r>
          </a:p>
          <a:p>
            <a:r>
              <a:t>✗ If the market will fall, we cut costs.  →  ✓ If the market falls, we will cut costs.  (条件句时态)</a:t>
            </a:r>
          </a:p>
          <a:p>
            <a:r>
              <a:t>Mistake Watch: Check conditional tenses, depend on, and adjective forms (risky).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is a risk situation.  →  ✓ It is a risky situation.  (risky)</a:t>
            </a:r>
          </a:p>
          <a:p>
            <a:r>
              <a:t>✗ We have to coping with change.  →  ✓ We have to cope with change.  (have to + 原形)</a:t>
            </a:r>
          </a:p>
          <a:p>
            <a:r>
              <a:t>✗ Uncertainty are high.  →  ✓ Uncertainty is high.  (不可数)</a:t>
            </a:r>
          </a:p>
          <a:p>
            <a:r>
              <a:t>Mistake Watch: Check conditional tenses, depend on, and adjective forms (risky).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Optimism and realism: Western business communication often combines honest assessment with a positive plan. Avoid sounding fatalistic.</a:t>
            </a:r>
          </a:p>
          <a:p>
            <a:r>
              <a:t>Transparency: Employees expect leaders to be honest about difficult situations.</a:t>
            </a:r>
          </a:p>
          <a:p>
            <a:r>
              <a:t>Forecast language: Phrases like “We expect…” and “It is likely that…” are standard in reports.</a:t>
            </a:r>
          </a:p>
          <a:p>
            <a:r>
              <a:t>条件句里不用 will;depend on;cope with。谈未来用 might / may / is likely to 来保持谨慎。</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risks and uncertainty in business.</a:t>
            </a:r>
          </a:p>
          <a:p>
            <a:r>
              <a:t>I can describe scenarios and responses.</a:t>
            </a:r>
          </a:p>
          <a:p>
            <a:r>
              <a:t>I can use first and second conditionals appropriately.</a:t>
            </a:r>
          </a:p>
          <a:p>
            <a:r>
              <a:t>I can use depend on and cope with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conditionals, depend on / cope with, and hedged future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71 · Can the Economy Keep Growing? 经济能否持续增长?</a:t>
            </a:r>
          </a:p>
          <a:p>
            <a:r>
              <a:t>Goal: discuss economic growth: what drives it, limits to growth, sustainability debates and evaluating arguments for and against.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GDP = 国内生产总值。growth 与 development 不同:growth 偏数量,development 偏质量。第 5 题可答 well-being indicators。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arguments for and against continuous economic growth.</a:t>
            </a:r>
          </a:p>
          <a:p>
            <a:r>
              <a:t>Say: introduce → arguments for → arguments against → conclusion</a:t>
            </a:r>
          </a:p>
          <a:p>
            <a:r>
              <a:t>Useful starters: “Supporters of growth argue that…” / “Critics, however, point out that…” / “On balance, I’d say…”</a:t>
            </a:r>
          </a:p>
          <a:p>
            <a:r>
              <a:t>Supporters argue that… 引出一方观点。point out = 指出。On balance 给出结论。</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Economic growth means that an economy produces more goods and services over time. Supporters argue that it creates jobs, raises living standards and provides the money for schools and hospitals. Many governments therefore treat growth as a key goal. Critics, however, point out that growth often depends on using more energy and raw materials, which can damage the environment. They also note that growth does not always benefit everyone equally, and that national output is a poor measure of happiness. Some economists suggest focusing instead on well-being, equality and environmental health, while others believe that technology can allow economies to grow while using fewer resources. The debate is unresolved, and the evidence is mixed. What is clear is that quality of growth matters as much as quantity.</a:t>
            </a:r>
          </a:p>
          <a:p>
            <a:r>
              <a:t>living standards = 生活水平。raw materials = 原材料。output = 产出。unresolved = 未解决的。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supporters of growth say?</a:t>
            </a:r>
          </a:p>
          <a:p>
            <a:r>
              <a:t>A: It creates jobs, raises living standards and funds public services.</a:t>
            </a:r>
          </a:p>
          <a:p>
            <a:r>
              <a:t>Q2. What do critics point out?</a:t>
            </a:r>
          </a:p>
          <a:p>
            <a:r>
              <a:t>A: Growth often uses more energy and resources, may not benefit everyone and is a poor measure of happiness.</a:t>
            </a:r>
          </a:p>
          <a:p>
            <a:r>
              <a:t>Q3. What conclusion does the text suggest?</a:t>
            </a:r>
          </a:p>
          <a:p>
            <a:r>
              <a:t>A: The debate is unresolved; quality of growth matters as much as quantity.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Economic growth vocabulary 经济增长词汇</a:t>
            </a:r>
          </a:p>
          <a:p>
            <a:r>
              <a:t>领读 → 学员跟读 → 请学员用表达造一个和自己工作相关的句子。</a:t>
            </a:r>
          </a:p>
          <a:p>
            <a:r>
              <a:t>economic growth (noun) 经济增长 — “Economic growth slowed.”</a:t>
            </a:r>
          </a:p>
          <a:p>
            <a:r>
              <a:t>GDP (noun) 国内生产总值 — “GDP rose by 2%.”</a:t>
            </a:r>
          </a:p>
          <a:p>
            <a:r>
              <a:t>living standards (noun (plural)) 生活水平 — “Living standards have improved.”</a:t>
            </a:r>
          </a:p>
          <a:p>
            <a:r>
              <a:t>productivity (noun) 生产率 — “Productivity growth is weak.”</a:t>
            </a:r>
          </a:p>
          <a:p>
            <a:r>
              <a:t>inflation (noun) 通货膨胀 — “Inflation is falling.”</a:t>
            </a:r>
          </a:p>
          <a:p>
            <a:r>
              <a:t>sustainable (adjective) 可持续的 — “We need sustainable growth.”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Growth debates ★ 增长之争</a:t>
            </a:r>
          </a:p>
          <a:p>
            <a:r>
              <a:t>领读 → 学员跟读 → 请学员用表达造一个和自己工作相关的句子。</a:t>
            </a:r>
          </a:p>
          <a:p>
            <a:r>
              <a:t>★ boost the economy (collocation) 刺激经济 — “Lower taxes may boost the economy.”</a:t>
            </a:r>
          </a:p>
          <a:p>
            <a:r>
              <a:t>★ put a strain on (collocation) 造成压力 — “Growth puts a strain on resources.”</a:t>
            </a:r>
          </a:p>
          <a:p>
            <a:r>
              <a:t>★ decouple from (verb) 脱钩 — “Growth could decouple from emissions.”</a:t>
            </a:r>
          </a:p>
          <a:p>
            <a:r>
              <a:t>★ trade-off (noun) 取舍 — “There’s a trade-off between growth and the environment.”</a:t>
            </a:r>
          </a:p>
          <a:p>
            <a:r>
              <a:t>★ in the long run (adverbial phrase) 长远来看 — “In the long run, it’s unsustainable.”</a:t>
            </a:r>
          </a:p>
          <a:p>
            <a:r>
              <a:t>★ a mixed picture (noun phrase) 好坏参半 — “The data presents a mixed picture.”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Economic growth / GDP / living standards / productivity / sustainable / trade-off</a:t>
            </a:r>
          </a:p>
          <a:p>
            <a:r>
              <a:t>1. _______ slowed to 1.5% last year. → Economic growth</a:t>
            </a:r>
          </a:p>
          <a:p>
            <a:r>
              <a:t>2. _______ measures the total value of goods and services. → GDP</a:t>
            </a:r>
          </a:p>
          <a:p>
            <a:r>
              <a:t>3. Higher incomes can improve _______. → living standards</a:t>
            </a:r>
          </a:p>
          <a:p>
            <a:r>
              <a:t>4. Better machines and training can raise _______. → productivity</a:t>
            </a:r>
          </a:p>
          <a:p>
            <a:r>
              <a:t>5. Many people want _______ development rather than quick profits. → sustainable</a:t>
            </a:r>
          </a:p>
          <a:p>
            <a:r>
              <a:t>6. There is a _______ between rapid growth and environmental protection. → trade-off</a:t>
            </a:r>
          </a:p>
          <a:p>
            <a:r>
              <a:t>Mistake Watch (拼写与搭配): economy (not “economic” as noun) / economic (adj) / economical (cheap to use) / economics (subject). Growth (uncountable), grow (verb). GDP growth of 2% / growth in GDP. Rise by 2% (amount), rise to 5% (level). Per cent. Inflation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Debating economic growth 讨论经济增长</a:t>
            </a:r>
          </a:p>
          <a:p>
            <a:r>
              <a:t>情景：At a seminar, two colleagues exchange views on whether growth should be the main goal of policy.</a:t>
            </a:r>
          </a:p>
          <a:p>
            <a:r>
              <a:t>Role A: Joan Xu, economist (you) Role B: Dr Frank, researcher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(Joan): Dr Frank, do you think continuous growth is realistic?</a:t>
            </a:r>
          </a:p>
          <a:p>
            <a:r>
              <a:t>B (Dr Frank): It depends on what we mean by growth. Supporters argue that it raises living standards.</a:t>
            </a:r>
          </a:p>
          <a:p>
            <a:r>
              <a:t>A: That’s true, especially in developing economies. But critics point out that it often uses more resources.</a:t>
            </a:r>
          </a:p>
          <a:p>
            <a:r>
              <a:t>B: Yes. Though some believe technology can allow us to grow while using less energy.</a:t>
            </a:r>
          </a:p>
          <a:p>
            <a:r>
              <a:t>A: Is there any evidence for that?</a:t>
            </a:r>
          </a:p>
          <a:p>
            <a:r>
              <a:t>B: Some countries have reduced emissions while their economies grew, but the picture is mixed.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what do you suggest?</a:t>
            </a:r>
          </a:p>
          <a:p>
            <a:r>
              <a:t>B: Looking beyond GDP to well-being, inequality and the environment.</a:t>
            </a:r>
          </a:p>
          <a:p>
            <a:r>
              <a:t>A: But governments need simple indicators.</a:t>
            </a:r>
          </a:p>
          <a:p>
            <a:r>
              <a:t>B: That’s a fair point. A dashboard of indicators might be a compromise.</a:t>
            </a:r>
          </a:p>
          <a:p>
            <a:r>
              <a:t>A: Interesting. On balance, I’d say quality of growth matters more than quantity.</a:t>
            </a:r>
          </a:p>
          <a:p>
            <a:r>
              <a:t>B: I’d agree with that.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71 | </a:t>
            </a:r>
          </a:p>
          <a:p>
            <a:r>
              <a:t>Situation | You discuss whether growth is the right goal.</a:t>
            </a:r>
          </a:p>
          <a:p>
            <a:r>
              <a:t>Your role (A) | Speaker. Position: ______________</a:t>
            </a:r>
          </a:p>
          <a:p>
            <a:r>
              <a:t>Partner’s role (B) | Speaker. Opposite or nuanced view.</a:t>
            </a:r>
          </a:p>
          <a:p>
            <a:r>
              <a:t>Must use (4 or more) | supporters argue · critics point out · evidence · it depends · on balance · mixed picture</a:t>
            </a:r>
          </a:p>
          <a:p>
            <a:r>
              <a:t>Goal | Present both sides and reach a balanced conclusion.</a:t>
            </a:r>
          </a:p>
          <a:p>
            <a:r>
              <a:t>My notes | ____________________________________________</a:t>
            </a:r>
          </a:p>
          <a:p>
            <a:r>
              <a:t>Dr Frank says: “Growth always helps everyone.” Respond.</a:t>
            </a:r>
          </a:p>
          <a:p>
            <a:r>
              <a:t>Describe the economy of your country in three sentences.</a:t>
            </a:r>
          </a:p>
          <a:p>
            <a:r>
              <a:t>Suggest one indicator besides GDP.</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economic growth always desirable? | “Not necessarily. It depends on… / Growth can…”</a:t>
            </a:r>
          </a:p>
          <a:p>
            <a:r>
              <a:t>2. What factors drive growth? | “Key drivers include… / Education, investment…”</a:t>
            </a:r>
          </a:p>
          <a:p>
            <a:r>
              <a:t>3. Can economies grow without damaging the environment? | “Some argue so… / Evidence is mixed.”</a:t>
            </a:r>
          </a:p>
          <a:p>
            <a:r>
              <a:t>4. What measure of progress would you use? | “I’d use… because…”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“Not necessarily. Growth can raise incomes and create jobs, which is valuable, especially in poorer countries. But if it relies on heavy pollution, long working hours or widening inequality, then it doesn’t improve people’s lives. So I’d say what matters is the kind of growth. Growth that is inclusive and environmentally responsible is desirable; growth at any cost is not.”</a:t>
            </a:r>
          </a:p>
          <a:p>
            <a:r>
              <a:t>widening = 扩大的。inclusive = 包容性的。”at any cost” = 不惜任何代价。”relies on” = 依赖。</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economy is big. | The economy has expanded significantly. | 动词</a:t>
            </a:r>
          </a:p>
          <a:p>
            <a:r>
              <a:t>People get more money. | Incomes have risen. | 简洁</a:t>
            </a:r>
          </a:p>
          <a:p>
            <a:r>
              <a:t>Growth is bad. | Growth has environmental costs. | 中性</a:t>
            </a:r>
          </a:p>
          <a:p>
            <a:r>
              <a:t>The numbers are not clear. | The data presents a mixed picture. | 习语</a:t>
            </a:r>
          </a:p>
          <a:p>
            <a:r>
              <a:t>In the end, … | In the long run, … | 搭配</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Reporting views: argue that, claim that, point out that, suggest that, maintain that.</a:t>
            </a:r>
          </a:p>
          <a:p>
            <a:r>
              <a:t>Contrast: however, although, while, whereas, in contrast, on the other hand.</a:t>
            </a:r>
          </a:p>
          <a:p>
            <a:r>
              <a:t>Trend verbs with prepositions: rise by 2% (amount), rise to 5% (level), a rise of 2%, a rise in prices.</a:t>
            </a:r>
          </a:p>
          <a:p>
            <a:r>
              <a:t>Cautious conclusions: The evidence suggests that… / It would seem that…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GDP is increased by 2%.  →  ✓ GDP rose by 2%.  (rise 不及物)</a:t>
            </a:r>
          </a:p>
          <a:p>
            <a:r>
              <a:t>✗ The economy grows very fast than before.  →  ✓ The economy is growing faster than before.  (比较级)</a:t>
            </a:r>
          </a:p>
          <a:p>
            <a:r>
              <a:t>✗ The inflation is high.  →  ✓ Inflation is high.  (泛指不加 the)</a:t>
            </a:r>
          </a:p>
          <a:p>
            <a:r>
              <a:t>Mistake Watch: Check rise (intransitive), economy / economic, and a rise 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Economic is developing.  →  ✓ The economy is developing.  (economy/economic)</a:t>
            </a:r>
          </a:p>
          <a:p>
            <a:r>
              <a:t>✗ There is a rise of prices.  →  ✓ There is a rise in prices.  (rise in)</a:t>
            </a:r>
          </a:p>
          <a:p>
            <a:r>
              <a:t>✗ People’s living standard have improved.  →  ✓ Living standards have improved.  (复数)</a:t>
            </a:r>
          </a:p>
          <a:p>
            <a:r>
              <a:t>Mistake Watch: Check rise (intransitive), economy / economic, and a rise 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Statistics: Quote the source and date. Avoid “everyone says”.</a:t>
            </a:r>
          </a:p>
          <a:p>
            <a:r>
              <a:t>Debate style: In English discussions, it’s normal to state “I see it differently” without offence.</a:t>
            </a:r>
          </a:p>
          <a:p>
            <a:r>
              <a:t>GDP and beyond: Many countries now publish well-being indicators next to GDP.</a:t>
            </a:r>
          </a:p>
          <a:p>
            <a:r>
              <a:t>rise 是不及物动词,不用被动;economy(名)/ economic(形);a rise in prices。泛指的 inflation 前不加 the。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present both sides of an economic argument.</a:t>
            </a:r>
          </a:p>
          <a:p>
            <a:r>
              <a:t>I can describe trends with the right prepositions.</a:t>
            </a:r>
          </a:p>
          <a:p>
            <a:r>
              <a:t>I can reach a balanced conclusion.</a:t>
            </a:r>
          </a:p>
          <a:p>
            <a:r>
              <a:t>I can use rise by / to / in and economy / economic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rise by / to / in, economy / economic, and reporting views.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72 · The Next Emerging Market 下一个新兴市场</a:t>
            </a:r>
          </a:p>
          <a:p>
            <a:r>
              <a:t>Goal: discuss emerging markets: why companies look at them, opportunities and risks, entering a new market and evaluating a country.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emerging market = 新兴市场;market entry = 进入市场。第 5 题可用 “I’d consider it if…”。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Evaluate a potential new market and recommend whether to enter.</a:t>
            </a:r>
          </a:p>
          <a:p>
            <a:r>
              <a:t>Say: market size → growth → risks → entry method → recommendation</a:t>
            </a:r>
          </a:p>
          <a:p>
            <a:r>
              <a:t>Useful starters: “The market is growing at…” / “The main risk is…” / “I’d recommend starting with…”</a:t>
            </a:r>
          </a:p>
          <a:p>
            <a:r>
              <a:t>growing at 5% a year。The main risk is… 谈风险。recommend starting with… 建议先……</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Companies often look at emerging markets because home markets are mature and slow-growing. Countries with a growing middle class, young populations and increasing internet use offer the chance of new customers. But opportunity comes with risk. Currencies can fluctuate, regulations may change and infrastructure can be uneven. Cultural differences can also catch outsiders by surprise: a product that works at home may need adapting in terms of price, packaging or marketing. Successful companies usually do their homework before committing. They talk to local partners, test the product on a small scale and enter in stages rather than all at once. Some choose to form a joint venture or work with a distributor to reduce risk. Patience is important: it can take years to build a presence, and early results may be modest.</a:t>
            </a:r>
          </a:p>
          <a:p>
            <a:r>
              <a:t>mature = 成熟的。fluctuate = 波动。infrastructure = 基础设施。distributor = 分销商。</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companies look at emerging markets?</a:t>
            </a:r>
          </a:p>
          <a:p>
            <a:r>
              <a:t>A: Home markets may be mature and slow-growing; emerging markets offer new customers.</a:t>
            </a:r>
          </a:p>
          <a:p>
            <a:r>
              <a:t>Q2. What risks are mentioned?</a:t>
            </a:r>
          </a:p>
          <a:p>
            <a:r>
              <a:t>A: Currency swings, changing regulations, uneven infrastructure and cultural differences.</a:t>
            </a:r>
          </a:p>
          <a:p>
            <a:r>
              <a:t>Q3. How do successful companies enter?</a:t>
            </a:r>
          </a:p>
          <a:p>
            <a:r>
              <a:t>A: With local research and partners, testing on a small scale and entering in stages.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Entering new markets 进入新市场</a:t>
            </a:r>
          </a:p>
          <a:p>
            <a:r>
              <a:t>领读 → 学员跟读 → 请学员用表达造一个和自己工作相关的句子。</a:t>
            </a:r>
          </a:p>
          <a:p>
            <a:r>
              <a:t>emerging market (noun) 新兴市场 — “They invest in emerging markets.”</a:t>
            </a:r>
          </a:p>
          <a:p>
            <a:r>
              <a:t>market entry (noun) 市场进入 — “Market entry strategy is key.”</a:t>
            </a:r>
          </a:p>
          <a:p>
            <a:r>
              <a:t>local partner (noun) 本地合作伙伴 — “We work with a local partner.”</a:t>
            </a:r>
          </a:p>
          <a:p>
            <a:r>
              <a:t>joint venture (noun) 合资企业 — “They formed a joint venture.”</a:t>
            </a:r>
          </a:p>
          <a:p>
            <a:r>
              <a:t>distributor (noun) 分销商 — “Our distributor covers three regions.”</a:t>
            </a:r>
          </a:p>
          <a:p>
            <a:r>
              <a:t>regulation (noun) 法规 — “Regulation differs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Weighing opportunity and risk ★ 权衡机会与风险</a:t>
            </a:r>
          </a:p>
          <a:p>
            <a:r>
              <a:t>领读 → 学员跟读 → 请学员用表达造一个和自己工作相关的句子。</a:t>
            </a:r>
          </a:p>
          <a:p>
            <a:r>
              <a:t>★ tap into (phrasal verb) 开发 / 利用 — “We want to tap into the growing market.”</a:t>
            </a:r>
          </a:p>
          <a:p>
            <a:r>
              <a:t>★ gain a foothold (collocation) 站稳脚跟 — “They gained a foothold in Asia.”</a:t>
            </a:r>
          </a:p>
          <a:p>
            <a:r>
              <a:t>★ do your homework (idiom) 做足功课 — “Do your homework before you enter.”</a:t>
            </a:r>
          </a:p>
          <a:p>
            <a:r>
              <a:t>★ untapped potential (noun phrase) 尚未开发的潜力 — “The market has untapped potential.”</a:t>
            </a:r>
          </a:p>
          <a:p>
            <a:r>
              <a:t>★ currency fluctuation (noun phrase) 汇率波动 — “Currency fluctuation affects profit.”</a:t>
            </a:r>
          </a:p>
          <a:p>
            <a:r>
              <a:t>★ localise (verb) 本地化 — “We localised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emerging market / market entry / joint venture / distributor / tap into / localise</a:t>
            </a:r>
          </a:p>
          <a:p>
            <a:r>
              <a:t>1. Many firms see the new _______ as a growth opportunity. → emerging market</a:t>
            </a:r>
          </a:p>
          <a:p>
            <a:r>
              <a:t>2. A good _______ strategy reduces risk. → market entry</a:t>
            </a:r>
          </a:p>
          <a:p>
            <a:r>
              <a:t>3. The two companies formed a _______ to share costs. → joint venture</a:t>
            </a:r>
          </a:p>
          <a:p>
            <a:r>
              <a:t>4. A local _______ handles sales and delivery. → distributor</a:t>
            </a:r>
          </a:p>
          <a:p>
            <a:r>
              <a:t>5. We want to _______ the growing demand in the region. → tap into</a:t>
            </a:r>
          </a:p>
          <a:p>
            <a:r>
              <a:t>6. To succeed, we’ll need to _______ our packaging and marketing. → localise</a:t>
            </a:r>
          </a:p>
          <a:p>
            <a:r>
              <a:t>Mistake Watch (拼写与搭配): emerging (not “emergent” in this sense), infrastructure (not “infrastracture”), distributor. Enter a market (no “into”), enter into a contract. Invest in, expand into. Operate in a country. Localise (UK) / localize (US).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Evaluating a new market 评估新市场</a:t>
            </a:r>
          </a:p>
          <a:p>
            <a:r>
              <a:t>情景：A strategy team discusses whether to enter a new market in Southeast Asia.</a:t>
            </a:r>
          </a:p>
          <a:p>
            <a:r>
              <a:t>Role A: Rina Ho, strategy analyst (you) Role B: Mr Singh, regional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(Rina): Mr Singh, I’ve reviewed the potential market. It’s growing at around 6% a year, with a young, urban population.</a:t>
            </a:r>
          </a:p>
          <a:p>
            <a:r>
              <a:t>B (Mr Singh): What are the risks?</a:t>
            </a:r>
          </a:p>
          <a:p>
            <a:r>
              <a:t>A: The main risks are currency fluctuation and unclear regulation. Delivery networks are also uneven.</a:t>
            </a:r>
          </a:p>
          <a:p>
            <a:r>
              <a:t>B: What about competition?</a:t>
            </a:r>
          </a:p>
          <a:p>
            <a:r>
              <a:t>A: Two international brands are present, but local competitors are weak in the mid-price segment.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How would you enter?</a:t>
            </a:r>
          </a:p>
          <a:p>
            <a:r>
              <a:t>A: I’d recommend starting with a local distributor and a limited range in two cities.</a:t>
            </a:r>
          </a:p>
          <a:p>
            <a:r>
              <a:t>B: Why not open our own stores?</a:t>
            </a:r>
          </a:p>
          <a:p>
            <a:r>
              <a:t>A: It would cost more and take longer. A partner would give us local knowledge and lower risk.</a:t>
            </a:r>
          </a:p>
          <a:p>
            <a:r>
              <a:t>B: What would we need to change?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Packaging, sizes and price. We’d need to localise the marketing too.</a:t>
            </a:r>
          </a:p>
          <a:p>
            <a:r>
              <a:t>B: And the timeline?</a:t>
            </a:r>
          </a:p>
          <a:p>
            <a:r>
              <a:t>A: A twelve-month pilot, then review.</a:t>
            </a:r>
          </a:p>
          <a:p>
            <a:r>
              <a:t>B: Reasonable. Please prepare a detailed plan.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72 | </a:t>
            </a:r>
          </a:p>
          <a:p>
            <a:r>
              <a:t>Situation | You evaluate a new market.</a:t>
            </a:r>
          </a:p>
          <a:p>
            <a:r>
              <a:t>Your role (A) | Analyst. Market: ______________</a:t>
            </a:r>
          </a:p>
          <a:p>
            <a:r>
              <a:t>Partner’s role (B) | Director. Challenge risks and cost.</a:t>
            </a:r>
          </a:p>
          <a:p>
            <a:r>
              <a:t>Must use (4 or more) | growing at · the main risk is · local partner · pilot · localise · recommend</a:t>
            </a:r>
          </a:p>
          <a:p>
            <a:r>
              <a:t>Goal | Present market, risks and recommended entry method.</a:t>
            </a:r>
          </a:p>
          <a:p>
            <a:r>
              <a:t>My notes | ____________________________________________</a:t>
            </a:r>
          </a:p>
          <a:p>
            <a:r>
              <a:t>Mr Singh says: “Why not wait a year?” Respond.</a:t>
            </a:r>
          </a:p>
          <a:p>
            <a:r>
              <a:t>Describe how you would research a new market.</a:t>
            </a:r>
          </a:p>
          <a:p>
            <a:r>
              <a:t>List three cultural differences that might affect a product.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countries or regions look promising for business? | “In my view…, because…”</a:t>
            </a:r>
          </a:p>
          <a:p>
            <a:r>
              <a:t>2. How can a company reduce the risk of entering a new market? | “By starting small… / Working with a local partner…”</a:t>
            </a:r>
          </a:p>
          <a:p>
            <a:r>
              <a:t>3. Should a company adapt its product or keep it the same worldwide? | “Adapting helps… but it costs…”</a:t>
            </a:r>
          </a:p>
          <a:p>
            <a:r>
              <a:t>4. What do foreign companies need to understand about your country? | “They should know… / Customers value…”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depends on the product. For things like software or basic commodities, a standard global product can work. But for food, fashion or services, local tastes and habits matter, so adapting is usually necessary. The best approach is often a global core with local variations: keep the brand and main features consistent, and adjust details such as size, flavour, language or price.”</a:t>
            </a:r>
          </a:p>
          <a:p>
            <a:r>
              <a:t>commodity = 大宗商品。”global core” = 全球统一核心。variation = 变化。consistent = 一致的。</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 country with new business. | An emerging market with strong growth potential. | 术语</a:t>
            </a:r>
          </a:p>
          <a:p>
            <a:r>
              <a:t>We go there. | We’re planning to expand into the region. | 搭配</a:t>
            </a:r>
          </a:p>
          <a:p>
            <a:r>
              <a:t>They don’t know us. | We have low brand awareness locally. | 具体</a:t>
            </a:r>
          </a:p>
          <a:p>
            <a:r>
              <a:t>It’s risky. | There are significant risks involved. | 正式</a:t>
            </a:r>
          </a:p>
          <a:p>
            <a:r>
              <a:t>Wait first. | Let’s pilot it before committing fully. | 专业</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Prepositions with markets: enter a market, expand into a region, invest in a country, operate in many markets.</a:t>
            </a:r>
          </a:p>
          <a:p>
            <a:r>
              <a:t>Describing growth: growing at 6% a year, expanding by 6% annually, a growth rate of 6%.</a:t>
            </a:r>
          </a:p>
          <a:p>
            <a:r>
              <a:t>Recommending: I’d recommend starting with…, I suggest that we start with…, It might be wise to…</a:t>
            </a:r>
          </a:p>
          <a:p>
            <a:r>
              <a:t>Adjective order: a young urban population, a large growing market.</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will enter into the market.  →  ✓ We will enter the market.  (enter 及物)</a:t>
            </a:r>
          </a:p>
          <a:p>
            <a:r>
              <a:t>✗ The market is growth quickly.  →  ✓ The market is growing quickly.  (动词形式)</a:t>
            </a:r>
          </a:p>
          <a:p>
            <a:r>
              <a:t>✗ Many risks exist in there.  →  ✓ There are many risks.  (there are)</a:t>
            </a:r>
          </a:p>
          <a:p>
            <a:r>
              <a:t>Mistake Watch: Check enter a market (no into), adverb well, and potential collocations.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cooperate with the local partner very good.  →  ✓ We cooperate well with the local partner.  (adverb)</a:t>
            </a:r>
          </a:p>
          <a:p>
            <a:r>
              <a:t>✗ It has a big potential of growth.  →  ✓ It has great growth potential.  (搭配)</a:t>
            </a:r>
          </a:p>
          <a:p>
            <a:r>
              <a:t>✗ Countries which developing are risky.  →  ✓ Developing countries can be risky.  (现在分词作定语)</a:t>
            </a:r>
          </a:p>
          <a:p>
            <a:r>
              <a:t>Mistake Watch: Check enter a market (no into), adverb well, and potential collocations.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Relationships: In many emerging markets, personal relationships and local partners are central to business.</a:t>
            </a:r>
          </a:p>
          <a:p>
            <a:r>
              <a:t>Respect local norms: Business hours, holidays and etiquette differ. Learn before you go.</a:t>
            </a:r>
          </a:p>
          <a:p>
            <a:r>
              <a:t>“Emerging” vs “developing”: “Emerging markets” is common in business; “developing countries” in development contexts.</a:t>
            </a:r>
          </a:p>
          <a:p>
            <a:r>
              <a:t>enter 是及物动词,不加 into;adverb well 修饰动词;there are many risks。进入新市场前要做足调查并分阶段进行。</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evaluate an emerging market.</a:t>
            </a:r>
          </a:p>
          <a:p>
            <a:r>
              <a:t>I can recommend an entry strategy.</a:t>
            </a:r>
          </a:p>
          <a:p>
            <a:r>
              <a:t>I can use prepositions with markets (enter, expand into).</a:t>
            </a:r>
          </a:p>
          <a:p>
            <a:r>
              <a:t>I can use enter (transitive) and adverbs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enter as a transitive verb, prepositions with markets, and adverb vs adjective.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73 · Precious Metals and Market Volatility 贵金属与市场波动</a:t>
            </a:r>
          </a:p>
          <a:p>
            <a:r>
              <a:t>Goal: discuss commodity and precious-metal markets: price movements, safe-haven demand, investment risk and describing volatile charts and data.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precious metals = 贵金属(金、银、铂等)。safe haven = 避险资产。volatility = 波动性。第 5 题练习描述图表。</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price chart and explain the reasons for its movements.</a:t>
            </a:r>
          </a:p>
          <a:p>
            <a:r>
              <a:t>Say: overall trend → highs and lows → explanation → outlook</a:t>
            </a:r>
          </a:p>
          <a:p>
            <a:r>
              <a:t>Useful starters: “Prices climbed steadily before peaking at…” / “This was largely due to…” / “It remains to be seen whether…”</a:t>
            </a:r>
          </a:p>
          <a:p>
            <a:r>
              <a:t>peak at… 达到顶峰。largely due to… 主要由于。It remains to be seen whether… = 还有待观察。</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Precious metals such as gold and silver have been valued for centuries. Investors often buy them when they are worried about inflation, currency weakness or political instability, treating them as a “safe haven”. As a result, prices can rise sharply during periods of uncertainty. However, they can also fall quickly when interest rates rise or when investors move back to shares. Metals such as silver and platinum are also used in industry, so their prices depend on factory demand as well as on investor mood. Because of these shifting influences, prices tend to be volatile, and past performance is no guarantee of future returns. Financial advisers generally recommend holding precious metals as only a small part of a diversified portfolio rather than as a single bet.</a:t>
            </a:r>
          </a:p>
          <a:p>
            <a:r>
              <a:t>stability = 稳定。diversified = 多样化的。”past performance is no guarantee…” = 过往表现不代表未来收益。share = 股票(英)。</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investors buy precious metals?</a:t>
            </a:r>
          </a:p>
          <a:p>
            <a:r>
              <a:t>A: Worry about inflation, currency weakness or political instability; they see them as a safe haven.</a:t>
            </a:r>
          </a:p>
          <a:p>
            <a:r>
              <a:t>Q2. Why might prices fall?</a:t>
            </a:r>
          </a:p>
          <a:p>
            <a:r>
              <a:t>A: When interest rates rise or investors move back to shares.</a:t>
            </a:r>
          </a:p>
          <a:p>
            <a:r>
              <a:t>Q3. What do advisers recommend?</a:t>
            </a:r>
          </a:p>
          <a:p>
            <a:r>
              <a:t>A: Holding them as only a small part of a diversified portfolio.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Markets and prices 市场与价格</a:t>
            </a:r>
          </a:p>
          <a:p>
            <a:r>
              <a:t>领读 → 学员跟读 → 请学员用表达造一个和自己工作相关的句子。</a:t>
            </a:r>
          </a:p>
          <a:p>
            <a:r>
              <a:t>commodity (noun) 大宗商品 — “Gold is a commodity.”</a:t>
            </a:r>
          </a:p>
          <a:p>
            <a:r>
              <a:t>precious metal (noun) 贵金属 — “Gold and silver are precious metals.”</a:t>
            </a:r>
          </a:p>
          <a:p>
            <a:r>
              <a:t>volatility (noun) 波动性 — “Market volatility has increased.”</a:t>
            </a:r>
          </a:p>
          <a:p>
            <a:r>
              <a:t>safe haven (noun) 避险资产 — “Gold is seen as a safe haven.”</a:t>
            </a:r>
          </a:p>
          <a:p>
            <a:r>
              <a:t>interest rate (noun) 利率 — “Interest rates rose.”</a:t>
            </a:r>
          </a:p>
          <a:p>
            <a:r>
              <a:t>portfolio (noun) 投资组合 — “Diversify your portfolio.”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price movements ★ 描述价格走势</a:t>
            </a:r>
          </a:p>
          <a:p>
            <a:r>
              <a:t>领读 → 学员跟读 → 请学员用表达造一个和自己工作相关的句子。</a:t>
            </a:r>
          </a:p>
          <a:p>
            <a:r>
              <a:t>★ surge (verb / noun) 飙升 — “Prices surged last week.”</a:t>
            </a:r>
          </a:p>
          <a:p>
            <a:r>
              <a:t>★ plunge / plummet (verb) 暴跌 — “Shares plunged by 10%.”</a:t>
            </a:r>
          </a:p>
          <a:p>
            <a:r>
              <a:t>★ peak at (verb phrase) 达到峰值 — “It peaked at $2,000.”</a:t>
            </a:r>
          </a:p>
          <a:p>
            <a:r>
              <a:t>★ level off (phrasal verb) 趋于平稳 — “Prices levelled off in July.”</a:t>
            </a:r>
          </a:p>
          <a:p>
            <a:r>
              <a:t>★ fluctuate (verb) 波动 — “Prices fluctuate daily.”</a:t>
            </a:r>
          </a:p>
          <a:p>
            <a:r>
              <a:t>★ rebound (verb) 反弹 — “Prices rebounded after the dip.”</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commodity / volatility / safe haven / interest rate / portfolio / surge</a:t>
            </a:r>
          </a:p>
          <a:p>
            <a:r>
              <a:t>1. Oil and copper are important _______. → commodity</a:t>
            </a:r>
          </a:p>
          <a:p>
            <a:r>
              <a:t>2. Market _______ makes investors nervous. → volatility</a:t>
            </a:r>
          </a:p>
          <a:p>
            <a:r>
              <a:t>3. Gold is often seen as a _______ in uncertain times. → safe haven</a:t>
            </a:r>
          </a:p>
          <a:p>
            <a:r>
              <a:t>4. A change in the _______ can affect bond prices. → interest rate</a:t>
            </a:r>
          </a:p>
          <a:p>
            <a:r>
              <a:t>5. A balanced _______ includes shares, bonds and cash. → portfolio</a:t>
            </a:r>
          </a:p>
          <a:p>
            <a:r>
              <a:t>6. Prices can _______ when demand suddenly rises. → surge</a:t>
            </a:r>
          </a:p>
          <a:p>
            <a:r>
              <a:t>Mistake Watch (拼写与搭配): volatile (not “volitile”), commodity (not “commodty”), portfolio. Prices rise / fall / go up / go down / climb / drop; use by (amount) and to (level). At a high of, a high of $2,000. Shares (UK) = stocks (US). Invest 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chart in a meeting 在会议上描述图表</a:t>
            </a:r>
          </a:p>
          <a:p>
            <a:r>
              <a:t>情景：You present a price chart for a metal to a small investment committee.</a:t>
            </a:r>
          </a:p>
          <a:p>
            <a:r>
              <a:t>Role A: Ada Zhou, analyst (you) Role B: Mr Hill, committee chair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(Ada): This chart shows the price of silver over the last twelve months.</a:t>
            </a:r>
          </a:p>
          <a:p>
            <a:r>
              <a:t>B (Mr Hill): Please take us through it.</a:t>
            </a:r>
          </a:p>
          <a:p>
            <a:r>
              <a:t>A: Prices climbed steadily in the first four months before peaking at the end of April.</a:t>
            </a:r>
          </a:p>
          <a:p>
            <a:r>
              <a:t>B: What caused that?</a:t>
            </a:r>
          </a:p>
          <a:p>
            <a:r>
              <a:t>A: Largely uncertainty about inflation, which increased demand for safe havens.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then?</a:t>
            </a:r>
          </a:p>
          <a:p>
            <a:r>
              <a:t>A: They plunged by about 12% in May as interest rates rose, and fluctuated for two months.</a:t>
            </a:r>
          </a:p>
          <a:p>
            <a:r>
              <a:t>B: What’s happening now?</a:t>
            </a:r>
          </a:p>
          <a:p>
            <a:r>
              <a:t>A: They’ve levelled off at a lower level, but the market remains volatile.</a:t>
            </a:r>
          </a:p>
          <a:p>
            <a:r>
              <a:t>B: What’s your outlook?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hard to say. It may rebound if inflation worries return, but this is uncertain.</a:t>
            </a:r>
          </a:p>
          <a:p>
            <a:r>
              <a:t>B: Would you recommend buying?</a:t>
            </a:r>
          </a:p>
          <a:p>
            <a:r>
              <a:t>A: I’d suggest only a small allocation as part of a diversified portfolio.</a:t>
            </a:r>
          </a:p>
          <a:p>
            <a:r>
              <a:t>B: Thank you. That’s balanced.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73 | </a:t>
            </a:r>
          </a:p>
          <a:p>
            <a:r>
              <a:t>Situation | You describe a price chart.</a:t>
            </a:r>
          </a:p>
          <a:p>
            <a:r>
              <a:t>Your role (A) | Analyst. Asset: ______________</a:t>
            </a:r>
          </a:p>
          <a:p>
            <a:r>
              <a:t>Partner’s role (B) | Chair. Ask for causes and outlook.</a:t>
            </a:r>
          </a:p>
          <a:p>
            <a:r>
              <a:t>Must use (4 or more) | climbed · peaked at · plunged · levelled off · due to · outlook</a:t>
            </a:r>
          </a:p>
          <a:p>
            <a:r>
              <a:t>Goal | Describe the movement in order and give one cause.</a:t>
            </a:r>
          </a:p>
          <a:p>
            <a:r>
              <a:t>My notes | ____________________________________________</a:t>
            </a:r>
          </a:p>
          <a:p>
            <a:r>
              <a:t>Mr Hill asks: “Is it a safe investment?” Respond carefully.</a:t>
            </a:r>
          </a:p>
          <a:p>
            <a:r>
              <a:t>Describe a chart that rises, falls, then recovers.</a:t>
            </a:r>
          </a:p>
          <a:p>
            <a:r>
              <a:t>Explain “volatility” to a beginner.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gold a good investment? | “It can be useful as… but…”</a:t>
            </a:r>
          </a:p>
          <a:p>
            <a:r>
              <a:t>2. What affects commodity prices? | “Supply and demand, interest rates…”</a:t>
            </a:r>
          </a:p>
          <a:p>
            <a:r>
              <a:t>3. Should ordinary people invest in volatile markets? | “Only if they understand… / With money they can afford to lose…”</a:t>
            </a:r>
          </a:p>
          <a:p>
            <a:r>
              <a:t>4. How would you explain a falling market to a worried colleague? | “I’d say it’s normal for markets to… / Longer-term…”</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“Ordinary people can invest in volatile markets, but only with money they can afford to lose and as part of a diversified plan. It’s important to understand that prices can fall sharply, and that you might not recover your investment in the short term. Anyone who needs the money soon, or who can’t tolerate losses, should probably avoid them. Professional advice is also worth considering.”</a:t>
            </a:r>
          </a:p>
          <a:p>
            <a:r>
              <a:t>tolerate = 承受。afford to lose = 承受得起损失。in the short term = 短期内。diversified = 多元化的。</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price goes up and down. | The price fluctuates. | 动词</a:t>
            </a:r>
          </a:p>
          <a:p>
            <a:r>
              <a:t>The price rose very fast. | Prices surged. | 单动词</a:t>
            </a:r>
          </a:p>
          <a:p>
            <a:r>
              <a:t>It’s dangerous. | It’s a high-risk investment. | 术语</a:t>
            </a:r>
          </a:p>
          <a:p>
            <a:r>
              <a:t>No one knows. | It’s impossible to predict with certainty. | 正式</a:t>
            </a:r>
          </a:p>
          <a:p>
            <a:r>
              <a:t>Don’t put all money in one place. | Diversify your portfolio. | 术语</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Order of description: overall trend → key points → explanation → outlook.</a:t>
            </a:r>
          </a:p>
          <a:p>
            <a:r>
              <a:t>Prepositions for change: rise by 12%, rise to $2,000, from $1,800 to $2,000, a rise of 12%.</a:t>
            </a:r>
          </a:p>
          <a:p>
            <a:r>
              <a:t>Past tense for a past period: “Prices rose in March.” Present perfect for connected periods: “Prices have fallen since May.”</a:t>
            </a:r>
          </a:p>
          <a:p>
            <a:r>
              <a:t>Adverbs for speed: sharply, steadily, gradually, slightly, dramatically.</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Prices raised by 10%.  →  ✓ Prices rose by 10%.  (rose 不及物)</a:t>
            </a:r>
          </a:p>
          <a:p>
            <a:r>
              <a:t>✗ It fall from $2,000 to $1,800.  →  ✓ It fell from $2,000 to $1,800.  (过去式)</a:t>
            </a:r>
          </a:p>
          <a:p>
            <a:r>
              <a:t>✗ The price goes to up.  →  ✓ The price goes up.  (副词)</a:t>
            </a:r>
          </a:p>
          <a:p>
            <a:r>
              <a:t>Mistake Watch: Check rise / raise, irregular past forms (fell) and fixed phrases (safe haven).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Rising of the price  →  ✓ The rise in the price  (名词形式)</a:t>
            </a:r>
          </a:p>
          <a:p>
            <a:r>
              <a:t>✗ The price keeps the same.  →  ✓ The price stays the same.  (stay)</a:t>
            </a:r>
          </a:p>
          <a:p>
            <a:r>
              <a:t>✗ Gold is a safe house.  →  ✓ Gold is a safe haven.  (haven)</a:t>
            </a:r>
          </a:p>
          <a:p>
            <a:r>
              <a:t>Mistake Watch: Check rise / raise, irregular past forms (fell) and fixed phrases (safe haven).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Financial advice: In many countries, giving investment advice requires a licence. Always add disclaimers.</a:t>
            </a:r>
          </a:p>
          <a:p>
            <a:r>
              <a:t>Language: Avoid dramatic words (“crash”) unless appropriate; they can cause alarm.</a:t>
            </a:r>
          </a:p>
          <a:p>
            <a:r>
              <a:t>Units and symbols: Write currency symbols and units clearly ($, £, €, per ounce).</a:t>
            </a:r>
          </a:p>
          <a:p>
            <a:r>
              <a:t>rise 是不及物动词(rose/risen);raise 是及物动词。price 的变化用 by / to / from… to…。safe haven 不是 safe house。投资有风险。</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volatile price chart.</a:t>
            </a:r>
          </a:p>
          <a:p>
            <a:r>
              <a:t>I can explain causes and give a cautious outlook.</a:t>
            </a:r>
          </a:p>
          <a:p>
            <a:r>
              <a:t>I can use rise / raise and prepositions of change correctly.</a:t>
            </a:r>
          </a:p>
          <a:p>
            <a:r>
              <a:t>I can explain basic terms such as volatility and safe haven.</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rise vs raise, prepositions of change, and cautious language for markets.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74 · The Rise and Fall of Skype Skype 的兴衰</a:t>
            </a:r>
          </a:p>
          <a:p>
            <a:r>
              <a:t>Goal: tell the story of a company’s rise and decline: growth, key decisions, competition, mistakes and lessons; practise narrative tenses in business.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rise and fall = 兴衰。disrupt = 颠覆。market leader = 市场领导者。故事以 Skype 为例,但这里只作概括性描述,具体事实请自行查阅核实。</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Tell the story of a company’s rise and decline in a short talk.</a:t>
            </a:r>
          </a:p>
          <a:p>
            <a:r>
              <a:t>Say: beginning → success → turning point → decline → lessons</a:t>
            </a:r>
          </a:p>
          <a:p>
            <a:r>
              <a:t>Useful starters: “It started out as…” / “At its peak…” / “The turning point came when…”</a:t>
            </a:r>
          </a:p>
          <a:p>
            <a:r>
              <a:t>started out as… = 最初是……。At its peak = 巅峰时期。The turning point came when… = 转折点出现于……</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Skype is often cited as an example of a product that changed how people communicate. It popularised free internet calls and, at its peak, was used by a very large number of people for both personal and business conversations. Over time, however, competition intensified. New tools offered video calls inside messaging apps and workplace platforms, and smartphones changed user habits. Analysts have suggested several reasons for the decline of market leaders in general: changes in ownership and strategy, slower responses to new trends and products that become harder to use or less distinctive. Whatever the particular case, the lesson is clear. Success does not last unless a company keeps listening to users and adapting. Today’s leader can become tomorrow’s cautionary tale if it stops innovating. (This passage is a simplified, general account; check details before quoting.)</a:t>
            </a:r>
          </a:p>
          <a:p>
            <a:r>
              <a:t>popularise = 使普及。intensify = 加剧。distinctive = 与众不同的。cautionary tale = 警示故事。</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did Skype popularise?</a:t>
            </a:r>
          </a:p>
          <a:p>
            <a:r>
              <a:t>A: Free internet calls (for personal and business use).</a:t>
            </a:r>
          </a:p>
          <a:p>
            <a:r>
              <a:t>Q2. What changes increased competition?</a:t>
            </a:r>
          </a:p>
          <a:p>
            <a:r>
              <a:t>A: Video calls inside messaging apps and workplace platforms, and smartphone habits.</a:t>
            </a:r>
          </a:p>
          <a:p>
            <a:r>
              <a:t>Q3. What is the general lesson?</a:t>
            </a:r>
          </a:p>
          <a:p>
            <a:r>
              <a:t>A: Success doesn’t last unless a company keeps listening to users and adapting.</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Telling a company story 讲述企业故事</a:t>
            </a:r>
          </a:p>
          <a:p>
            <a:r>
              <a:t>领读 → 学员跟读 → 请学员用表达造一个和自己工作相关的句子。</a:t>
            </a:r>
          </a:p>
          <a:p>
            <a:r>
              <a:t>market leader (noun) 市场领导者 — “They were the market leader.”</a:t>
            </a:r>
          </a:p>
          <a:p>
            <a:r>
              <a:t>competitor (noun) 竞争对手 — “A new competitor emerged.”</a:t>
            </a:r>
          </a:p>
          <a:p>
            <a:r>
              <a:t>acquire / acquisition (verb / noun) 收购 — “The firm was acquired in 2011.”</a:t>
            </a:r>
          </a:p>
          <a:p>
            <a:r>
              <a:t>user base (noun) 用户群 — “The user base grew quickly.”</a:t>
            </a:r>
          </a:p>
          <a:p>
            <a:r>
              <a:t>decline (noun / verb) 衰退 — “The decline began slowly.”</a:t>
            </a:r>
          </a:p>
          <a:p>
            <a:r>
              <a:t>disrupt (verb) 颠覆 — “Streaming disrupted the industry.”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Rise and fall language ★ 兴衰用语</a:t>
            </a:r>
          </a:p>
          <a:p>
            <a:r>
              <a:t>领读 → 学员跟读 → 请学员用表达造一个和自己工作相关的句子。</a:t>
            </a:r>
          </a:p>
          <a:p>
            <a:r>
              <a:t>★ at its peak (phrase) 在巅峰时期 — “At its peak, it had millions of users.”</a:t>
            </a:r>
          </a:p>
          <a:p>
            <a:r>
              <a:t>★ fall out of favour (idiom) 失宠 — “The product fell out of favour.”</a:t>
            </a:r>
          </a:p>
          <a:p>
            <a:r>
              <a:t>★ lose ground to (collocation) 败给 — “They lost ground to rivals.”</a:t>
            </a:r>
          </a:p>
          <a:p>
            <a:r>
              <a:t>★ rest on its laurels (idiom) 吃老本 — “The firm rested on its laurels.”</a:t>
            </a:r>
          </a:p>
          <a:p>
            <a:r>
              <a:t>★ the writing on the wall (idiom) 不祥之兆 — “The writing was on the wall.”</a:t>
            </a:r>
          </a:p>
          <a:p>
            <a:r>
              <a:t>★ turn things around (phrase) 扭转局面 — “They tried to turn things around.”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market leader / competitor / acquired / user base / disrupted / At its peak</a:t>
            </a:r>
          </a:p>
          <a:p>
            <a:r>
              <a:t>1. For years the company was the _______ in its sector. → market leader</a:t>
            </a:r>
          </a:p>
          <a:p>
            <a:r>
              <a:t>2. A new _______ offered a better product at a lower price. → competitor</a:t>
            </a:r>
          </a:p>
          <a:p>
            <a:r>
              <a:t>3. The start-up was _______ by a larger firm in 2019. → acquired</a:t>
            </a:r>
          </a:p>
          <a:p>
            <a:r>
              <a:t>4. Its _______ grew rapidly in the first five years. → user base</a:t>
            </a:r>
          </a:p>
          <a:p>
            <a:r>
              <a:t>5. Digital cameras _______ the film industry. → disrupted</a:t>
            </a:r>
          </a:p>
          <a:p>
            <a:r>
              <a:t>6. _______, the company employed 5,000 people. → At its peak</a:t>
            </a:r>
          </a:p>
          <a:p>
            <a:r>
              <a:t>Mistake Watch (拼写与搭配): acquisition (not “aquisition”), competitor, decline. Acquire a company, be acquired by, take over. In decline (state) vs decline (verb). Rise to prominence, fall from grace. Lose market share, to a competitor. Use past tenses to narrate.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the story of a company’s decline 讲述一家公司的衰落</a:t>
            </a:r>
          </a:p>
          <a:p>
            <a:r>
              <a:t>情景：At a business seminar, you give a short talk about why a once-leading product lost its position.</a:t>
            </a:r>
          </a:p>
          <a:p>
            <a:r>
              <a:t>Role A: Kai Wang, speaker (you) Role B: Prof. Lane, seminar chair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(Kai): Thank you, Professor. I’d like to talk about how a market leader can lose its position.</a:t>
            </a:r>
          </a:p>
          <a:p>
            <a:r>
              <a:t>B (Prof. Lane): Please go ahead.</a:t>
            </a:r>
          </a:p>
          <a:p>
            <a:r>
              <a:t>A: The product started out as a simple tool for free calls and became very popular.</a:t>
            </a:r>
          </a:p>
          <a:p>
            <a:r>
              <a:t>B: What made it successful?</a:t>
            </a:r>
          </a:p>
          <a:p>
            <a:r>
              <a:t>A: It was easy to use, it was free and it solved a real problem.</a:t>
            </a:r>
          </a:p>
          <a:p>
            <a:r>
              <a:t>B: So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turning point came when rivals built calling into other apps. Users no longer needed a separate program.</a:t>
            </a:r>
          </a:p>
          <a:p>
            <a:r>
              <a:t>B: Did the company respond?</a:t>
            </a:r>
          </a:p>
          <a:p>
            <a:r>
              <a:t>A: It tried, but it was slow, and the product became more complicated.</a:t>
            </a:r>
          </a:p>
          <a:p>
            <a:r>
              <a:t>B: What lessons do you draw?</a:t>
            </a:r>
          </a:p>
          <a:p>
            <a:r>
              <a:t>A: First, never assume that today’s advantage will last. Second, keep your product simple. Third, listen to users.</a:t>
            </a:r>
          </a:p>
          <a:p>
            <a:r>
              <a:t>B: A good summary. Thank you.</a:t>
            </a:r>
          </a:p>
          <a:p>
            <a:r>
              <a:t>A: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74 | </a:t>
            </a:r>
          </a:p>
          <a:p>
            <a:r>
              <a:t>Situation | You tell a company’s story.</a:t>
            </a:r>
          </a:p>
          <a:p>
            <a:r>
              <a:t>Your role (A) | Speaker. Company: ______________</a:t>
            </a:r>
          </a:p>
          <a:p>
            <a:r>
              <a:t>Partner’s role (B) | Chair. Ask for causes and lessons.</a:t>
            </a:r>
          </a:p>
          <a:p>
            <a:r>
              <a:t>Must use (4 or more) | started out as · at its peak · the turning point came when · lost ground · lessons · assume</a:t>
            </a:r>
          </a:p>
          <a:p>
            <a:r>
              <a:t>Goal | Cover rise, turning point, decline and lessons.</a:t>
            </a:r>
          </a:p>
          <a:p>
            <a:r>
              <a:t>My notes | ____________________________________________</a:t>
            </a:r>
          </a:p>
          <a:p>
            <a:r>
              <a:t>Prof. Lane asks: “Could it have been avoided?” Answer with hedging.</a:t>
            </a:r>
          </a:p>
          <a:p>
            <a:r>
              <a:t>Tell the rise and fall of a company you know in 60 seconds.</a:t>
            </a:r>
          </a:p>
          <a:p>
            <a:r>
              <a:t>Give three lessons from a market leader’s decline.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successful companies sometimes decline? | “Possible reasons include… / One factor is…”</a:t>
            </a:r>
          </a:p>
          <a:p>
            <a:r>
              <a:t>2. How can a company avoid complacency? | “By listening to… / Encouraging…”</a:t>
            </a:r>
          </a:p>
          <a:p>
            <a:r>
              <a:t>3. Which companies do you think are at risk of decline? | “I think … might … if they don’t…”</a:t>
            </a:r>
          </a:p>
          <a:p>
            <a:r>
              <a:t>4. What can start-ups learn from older companies’ mistakes? | “They can learn… / It’s important to…”</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“One of the biggest dangers is complacency. When a company is successful, it can become comfortable and stop questioning its assumptions. It may ignore small competitors or new technology that seem unimportant at first. To avoid this, leaders can encourage dissent, invest in experiments and listen carefully to customers, especially those who leave. The aim is to keep a sense of urgency even when things are going well.”</a:t>
            </a:r>
          </a:p>
          <a:p>
            <a:r>
              <a:t>complacency = 自满。dissent = 异议。”sense of urgency” = 紧迫感。”questioning assumptions” = 质疑既有假设。</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company was big, then small. | The company declined after reaching its peak. | 动词</a:t>
            </a:r>
          </a:p>
          <a:p>
            <a:r>
              <a:t>It was popular. | It was widely used. | 搭配</a:t>
            </a:r>
          </a:p>
          <a:p>
            <a:r>
              <a:t>They didn’t change. | They failed to adapt. | 搭配</a:t>
            </a:r>
          </a:p>
          <a:p>
            <a:r>
              <a:t>Another company was better. | A rival offered a better alternative. | 具体</a:t>
            </a:r>
          </a:p>
          <a:p>
            <a:r>
              <a:t>They bought it. | It was acquired by a larger company. | 被动</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Narrative tenses: past simple (main events), past continuous (background), past perfect (earlier events): “It had grown quickly before rivals appeared.”</a:t>
            </a:r>
          </a:p>
          <a:p>
            <a:r>
              <a:t>Time markers: at first, then, in the early years, later, by that time, eventually.</a:t>
            </a:r>
          </a:p>
          <a:p>
            <a:r>
              <a:t>Passive for acquisition: “It was acquired by…” / “The deal was announced in…”</a:t>
            </a:r>
          </a:p>
          <a:p>
            <a:r>
              <a:t>Hedging causes: One factor may have been…, Analysts have suggested…</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was founded in 2003 year.  →  ✓ The company was founded in 2003.  (年份无 year)</a:t>
            </a:r>
          </a:p>
          <a:p>
            <a:r>
              <a:t>✗ It has been popular in the 2000s.  →  ✓ It was popular in the 2000s.  (过去时间用过去式)</a:t>
            </a:r>
          </a:p>
          <a:p>
            <a:r>
              <a:t>✗ They had bought by a bigger company.  →  ✓ They were bought by a bigger company.  (被动)</a:t>
            </a:r>
          </a:p>
          <a:p>
            <a:r>
              <a:t>Mistake Watch: Check tense consistency, passive forms and time expressions.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becomes famous in 2005.  →  ✓ The company became famous in 2005.  (过去式)</a:t>
            </a:r>
          </a:p>
          <a:p>
            <a:r>
              <a:t>✗ It is falling since 2015.  →  ✓ It has been falling since 2015.  (现在完成进行时)</a:t>
            </a:r>
          </a:p>
          <a:p>
            <a:r>
              <a:t>✗ They fail to change and lost customers.  →  ✓ They failed to change and lost customers.  (时态一致)</a:t>
            </a:r>
          </a:p>
          <a:p>
            <a:r>
              <a:t>Mistake Watch: Check tense consistency, passive forms and time expressions.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Business stories: English-speaking audiences like a clear narrative: problem, action, result, lesson.</a:t>
            </a:r>
          </a:p>
          <a:p>
            <a:r>
              <a:t>Accuracy: Verify facts, dates and numbers before presenting a case study.</a:t>
            </a:r>
          </a:p>
          <a:p>
            <a:r>
              <a:t>Tone: Avoid mocking failed companies; people lost jobs.</a:t>
            </a:r>
          </a:p>
          <a:p>
            <a:r>
              <a:t>讲过去故事用过去时;”since” 配现在完成(进行)时;被动语态 was acquired by。注意:本课文章为概括性介绍,引用事实前请核实。</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tell the story of a company’s rise and fall.</a:t>
            </a:r>
          </a:p>
          <a:p>
            <a:r>
              <a:t>I can use narrative tenses correctly.</a:t>
            </a:r>
          </a:p>
          <a:p>
            <a:r>
              <a:t>I can draw lessons with hedged language.</a:t>
            </a:r>
          </a:p>
          <a:p>
            <a:r>
              <a:t>I can use passive voice for acquisitions.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narrative tenses, passive for acquisitions, and time markers.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75 · China’s Green Transition 中国的绿色转型</a:t>
            </a:r>
          </a:p>
          <a:p>
            <a:r>
              <a:t>Goal: discuss a country’s transition to cleaner energy and industry: policy, investment, challenges and opportunities, using careful, balanced language.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transition = 转型。renewable energy = 可再生能源。emissions = 排放。本课讨论宏观趋势,不涉及具体数据,请以最新官方资料为准。</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opportunities and challenges of a national green transition.</a:t>
            </a:r>
          </a:p>
          <a:p>
            <a:r>
              <a:t>Say: background → measures → opportunities → challenges → outlook</a:t>
            </a:r>
          </a:p>
          <a:p>
            <a:r>
              <a:t>Useful starters: “The government has set targets to…” / “This creates opportunities for…” / “However, challenges remain, such as…”</a:t>
            </a:r>
          </a:p>
          <a:p>
            <a:r>
              <a:t>has set targets to… 表示已设定目标。challenges remain 表示挑战仍然存在。 such as 举例。</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large economies are trying to reduce emissions while keeping their industries competitive. China, as a major manufacturer and energy consumer, has announced long-term climate goals and has invested heavily in renewable energy, electric vehicles and related technologies. The shift creates opportunities: new jobs, cleaner air in cities and export markets for green technology. At the same time, the transition is complex. Coal and heavy industry still play a major role in many regions, and changing the energy system takes time, money and careful planning. Analysts also point out that electricity grids must be upgraded to handle variable renewable power. Success depends on policy, investment, innovation and international cooperation. (This passage is a general overview; consult up-to-date official sources for figures and targets.)</a:t>
            </a:r>
          </a:p>
          <a:p>
            <a:r>
              <a:t>energy mix = 能源结构。grid = 电网。variable = 不稳定/可变的。consult = 查阅。</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goals has China announced, according to the passage?</a:t>
            </a:r>
          </a:p>
          <a:p>
            <a:r>
              <a:t>A: Long-term climate goals, with heavy investment in renewables, EVs and related technologies.</a:t>
            </a:r>
          </a:p>
          <a:p>
            <a:r>
              <a:t>Q2. What opportunities does the shift create?</a:t>
            </a:r>
          </a:p>
          <a:p>
            <a:r>
              <a:t>A: New jobs, cleaner city air and export markets for green technology.</a:t>
            </a:r>
          </a:p>
          <a:p>
            <a:r>
              <a:t>Q3. What challenges are mentioned?</a:t>
            </a:r>
          </a:p>
          <a:p>
            <a:r>
              <a:t>A: Continuing reliance on coal and heavy industry, time, money, planning and upgrading grids.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Green economy terms 绿色经济术语</a:t>
            </a:r>
          </a:p>
          <a:p>
            <a:r>
              <a:t>领读 → 学员跟读 → 请学员用表达造一个和自己工作相关的句子。</a:t>
            </a:r>
          </a:p>
          <a:p>
            <a:r>
              <a:t>green transition (noun) 绿色转型 — “The green transition is under way.”</a:t>
            </a:r>
          </a:p>
          <a:p>
            <a:r>
              <a:t>renewable energy (noun) 可再生能源 — “Renewable energy is growing.”</a:t>
            </a:r>
          </a:p>
          <a:p>
            <a:r>
              <a:t>emissions (noun (plural)) 排放 — “Emissions must fall.”</a:t>
            </a:r>
          </a:p>
          <a:p>
            <a:r>
              <a:t>carbon neutral (adjective) 碳中和 — “They aim to be carbon neutral.”</a:t>
            </a:r>
          </a:p>
          <a:p>
            <a:r>
              <a:t>energy mix (noun) 能源结构 — “The energy mix is changing.”</a:t>
            </a:r>
          </a:p>
          <a:p>
            <a:r>
              <a:t>fossil fuels (noun) 化石燃料 — “Fossil fuels still dominate.”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Policy and progress ★ 政策与进展</a:t>
            </a:r>
          </a:p>
          <a:p>
            <a:r>
              <a:t>领读 → 学员跟读 → 请学员用表达造一个和自己工作相关的句子。</a:t>
            </a:r>
          </a:p>
          <a:p>
            <a:r>
              <a:t>★ phase out (phrasal verb) 逐步淘汰 — “Coal plants will be phased out.”</a:t>
            </a:r>
          </a:p>
          <a:p>
            <a:r>
              <a:t>★ set a target (collocation) 设定目标 — “The government set a target.”</a:t>
            </a:r>
          </a:p>
          <a:p>
            <a:r>
              <a:t>★ invest heavily in (collocation) 大力投资 — “They invested heavily in solar power.”</a:t>
            </a:r>
          </a:p>
          <a:p>
            <a:r>
              <a:t>★ cut / curb emissions (collocation) 减少排放 — “Policies aim to curb emissions.”</a:t>
            </a:r>
          </a:p>
          <a:p>
            <a:r>
              <a:t>★ shift towards (collocation) 转向 — “There’s a shift towards clean energy.”</a:t>
            </a:r>
          </a:p>
          <a:p>
            <a:r>
              <a:t>★ economies of scale (noun phrase) 规模经济 — “Economies of scale lowered costs.”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transition / renewable energy / emissions / carbon neutral / phase out / economies of scale</a:t>
            </a:r>
          </a:p>
          <a:p>
            <a:r>
              <a:t>1. The country is making a green _______ in its energy sector. → transition</a:t>
            </a:r>
          </a:p>
          <a:p>
            <a:r>
              <a:t>2. Wind and solar are forms of _______. → renewable energy</a:t>
            </a:r>
          </a:p>
          <a:p>
            <a:r>
              <a:t>3. Cars are a major source of _______. → emissions</a:t>
            </a:r>
          </a:p>
          <a:p>
            <a:r>
              <a:t>4. The company aims to become _______ by 2040. → carbon neutral</a:t>
            </a:r>
          </a:p>
          <a:p>
            <a:r>
              <a:t>5. Many countries plan to _______ coal in the coming decades. → phase out</a:t>
            </a:r>
          </a:p>
          <a:p>
            <a:r>
              <a:t>6. Large-scale production led to _______ and lower prices. → economies of scale</a:t>
            </a:r>
          </a:p>
          <a:p>
            <a:r>
              <a:t>Mistake Watch (拼写与搭配): environment (not “enviroment”), emissions (plural), renewable. Emissions (plural) / carbon emissions / greenhouse gas emissions. Reduce / cut / curb emissions. Meet / reach / achieve a target. Invest in. Climate change, global warming (different but related). Sustainable (adj), sustainability (noun).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green transition with a colleague 与同事讨论绿色转型</a:t>
            </a:r>
          </a:p>
          <a:p>
            <a:r>
              <a:t>情景：Two analysts discuss the opportunities and difficulties of a major economy’s green transition.</a:t>
            </a:r>
          </a:p>
          <a:p>
            <a:r>
              <a:t>Role A: Kim Lai, energy analyst (you) Role B: Dr Stevens, policy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(Kim): Dr Stevens, how do you see the green transition progressing?</a:t>
            </a:r>
          </a:p>
          <a:p>
            <a:r>
              <a:t>B (Dr Stevens): In general, quite fast. Governments have set targets, and investment in renewables has grown a great deal.</a:t>
            </a:r>
          </a:p>
          <a:p>
            <a:r>
              <a:t>A: What opportunities does it create?</a:t>
            </a:r>
          </a:p>
          <a:p>
            <a:r>
              <a:t>B: New industries and jobs, cleaner air in cities and export markets for clean technology.</a:t>
            </a:r>
          </a:p>
          <a:p>
            <a:r>
              <a:t>A: And the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Several. Coal still supplies much of the power in some regions, and grids need upgrading.</a:t>
            </a:r>
          </a:p>
          <a:p>
            <a:r>
              <a:t>A: Also, jobs in traditional industries could be affected.</a:t>
            </a:r>
          </a:p>
          <a:p>
            <a:r>
              <a:t>B: Right. A fair transition should include retraining for those workers.</a:t>
            </a:r>
          </a:p>
          <a:p>
            <a:r>
              <a:t>A: Do you think the targets are realistic?</a:t>
            </a:r>
          </a:p>
          <a:p>
            <a:r>
              <a:t>B: It depends. They’re ambitious, but progress seems to be encouraging, though the details will matter.</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what could go wrong?</a:t>
            </a:r>
          </a:p>
          <a:p>
            <a:r>
              <a:t>B: Delays in grid upgrades or financing, for example. But it’s difficult to say.</a:t>
            </a:r>
          </a:p>
          <a:p>
            <a:r>
              <a:t>A: Thank you. A balanced view.</a:t>
            </a:r>
          </a:p>
          <a:p>
            <a:r>
              <a:t>B: I try to be.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75 | </a:t>
            </a:r>
          </a:p>
          <a:p>
            <a:r>
              <a:t>Situation | You discuss a green transition.</a:t>
            </a:r>
          </a:p>
          <a:p>
            <a:r>
              <a:t>Your role (A) | Analyst. Country/industry: ______________</a:t>
            </a:r>
          </a:p>
          <a:p>
            <a:r>
              <a:t>Partner’s role (B) | Adviser. Give a balanced view of benefits and challenges.</a:t>
            </a:r>
          </a:p>
          <a:p>
            <a:r>
              <a:t>Must use (4 or more) | set targets · invest in · phase out · opportunities · challenges remain · fair transition</a:t>
            </a:r>
          </a:p>
          <a:p>
            <a:r>
              <a:t>Goal | Describe progress, one opportunity and one challenge.</a:t>
            </a:r>
          </a:p>
          <a:p>
            <a:r>
              <a:t>My notes | ____________________________________________</a:t>
            </a:r>
          </a:p>
          <a:p>
            <a:r>
              <a:t>Dr Stevens says: “Green policies kill jobs.” Respond with balance.</a:t>
            </a:r>
          </a:p>
          <a:p>
            <a:r>
              <a:t>Describe your company’s environmental policy.</a:t>
            </a:r>
          </a:p>
          <a:p>
            <a:r>
              <a:t>Suggest one way a business can cut emissions.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main benefits of a green transition? | “Benefits include… / It can improve…”</a:t>
            </a:r>
          </a:p>
          <a:p>
            <a:r>
              <a:t>2. Who should pay for the green transition? | “It should be shared between… / Governments could…”</a:t>
            </a:r>
          </a:p>
          <a:p>
            <a:r>
              <a:t>3. Are individual actions important? | “Yes, but system change is needed too.”</a:t>
            </a:r>
          </a:p>
          <a:p>
            <a:r>
              <a:t>4. How can businesses profit from sustainability? | “By developing… / Reducing waste saves…”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cost should be shared between governments, businesses and consumers, but in a fair way. Governments can provide incentives and regulation, businesses can invest in cleaner processes and consumers can choose greener products. However, it’s important to protect lower-income households and workers in traditional industries who might otherwise bear a disproportionate burden. Fairness is essential to keep public support.”</a:t>
            </a:r>
          </a:p>
          <a:p>
            <a:r>
              <a:t>incentives = 激励措施。”bear a burden” = 承担负担。disproportionate = 不成比例的。public support = 公众支持。</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China makes green things. | China is investing heavily in clean technology. | 具体</a:t>
            </a:r>
          </a:p>
          <a:p>
            <a:r>
              <a:t>Pollution is bad. | Air pollution is a serious concern. | 正式</a:t>
            </a:r>
          </a:p>
          <a:p>
            <a:r>
              <a:t>They stop coal. | They plan to phase out coal. | 搭配</a:t>
            </a:r>
          </a:p>
          <a:p>
            <a:r>
              <a:t>Cost money. | It requires significant investment. | 完整</a:t>
            </a:r>
          </a:p>
          <a:p>
            <a:r>
              <a:t>Maybe good. | The outlook appears encouraging. | 谨慎</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for progress: “Investment has grown.” / “Emissions have started to fall.”</a:t>
            </a:r>
          </a:p>
          <a:p>
            <a:r>
              <a:t>Passive for policy: “Targets have been set.” / “Coal plants will be closed.”</a:t>
            </a:r>
          </a:p>
          <a:p>
            <a:r>
              <a:t>Balanced language: On the one hand… On the other… / While… / Although…</a:t>
            </a:r>
          </a:p>
          <a:p>
            <a:r>
              <a:t>Hedging: appears to, tends to, is likely to, may well, seems to.</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emission is increasing.  →  ✓ Emissions are increasing.  (复数)</a:t>
            </a:r>
          </a:p>
          <a:p>
            <a:r>
              <a:t>✗ Government should do it for save energy.  →  ✓ The government should do it to save energy.  (to + 动词)</a:t>
            </a:r>
          </a:p>
          <a:p>
            <a:r>
              <a:t>✗ The pollution are serious.  →  ✓ Pollution is serious.  (不可数)</a:t>
            </a:r>
          </a:p>
          <a:p>
            <a:r>
              <a:t>Mistake Watch: Check uncountable pollution, the environment, and purpose infinitive.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protect environment.  →  ✓ They protect the environment.  (the environment)</a:t>
            </a:r>
          </a:p>
          <a:p>
            <a:r>
              <a:t>✗ Renewables energies  →  ✓ Renewable energy  (不可数)</a:t>
            </a:r>
          </a:p>
          <a:p>
            <a:r>
              <a:t>✗ The transition is happened.  →  ✓ The transition is happening.  (进行时)</a:t>
            </a:r>
          </a:p>
          <a:p>
            <a:r>
              <a:t>Mistake Watch: Check uncountable pollution, the environment, and purpose infinitive.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Sensitive topics: Environmental and political topics can be sensitive. Keep tone balanced and fact-based.</a:t>
            </a:r>
          </a:p>
          <a:p>
            <a:r>
              <a:t>Corporate claims: Avoid “greenwashing”; back up claims with evidence.</a:t>
            </a:r>
          </a:p>
          <a:p>
            <a:r>
              <a:t>Terms: “Carbon neutral” and “net zero” are related but not identical; define before using.</a:t>
            </a:r>
          </a:p>
          <a:p>
            <a:r>
              <a:t>the environment 要加 the;pollution 不可数;purpose 用 to + 动词。讨论国家政策要平衡、有证据,不要绝对化。</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opportunities and challenges of a green transition.</a:t>
            </a:r>
          </a:p>
          <a:p>
            <a:r>
              <a:t>I can use balanced and hedged language.</a:t>
            </a:r>
          </a:p>
          <a:p>
            <a:r>
              <a:t>I can use present perfect and passive for policy.</a:t>
            </a:r>
          </a:p>
          <a:p>
            <a:r>
              <a:t>I can use the environment and uncountable nouns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the environment, uncountable pollution, and balanced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76 · The Growth of Biofuels 生物燃料增长</a:t>
            </a:r>
          </a:p>
          <a:p>
            <a:r>
              <a:t>Goal: discuss biofuels: what they are, benefits and criticisms, debates about land use and food, and how to evaluate claims.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biofuel = 生物燃料;feedstock = 原料(如作物、废油)。lifecycle = 全生命周期。第 4 题可用 “over its whole lifecycle”。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the pros and cons of biofuels in a short talk.</a:t>
            </a:r>
          </a:p>
          <a:p>
            <a:r>
              <a:t>Say: what → benefits → concerns → conclusion</a:t>
            </a:r>
          </a:p>
          <a:p>
            <a:r>
              <a:t>Useful starters: “Biofuels are made from…” / “On the plus side… On the downside…” / “To sum up, they can play a role, but…”</a:t>
            </a:r>
          </a:p>
          <a:p>
            <a:r>
              <a:t>are made from… 被动。play a role = 发挥作用。To sum up 总结。</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Biofuels are fuels produced from plants, waste oils or other organic material. They can be mixed with petrol or diesel, or used in sectors like aviation and shipping, where electric alternatives are harder to find. Supporters say that they can lower carbon emissions, use existing engines and fuel networks, and create new markets for farmers. Critics raise concerns, however. If crops are grown specifically for fuel, they may compete with food production or lead to the clearing of forests. The environmental benefit also depends on how the fuel is made and transported over its whole lifecycle. As a result, many experts favour biofuels made from waste and residues rather than from food crops. Policy support, technology and clear sustainability standards will probably shape how fast the sector grows.</a:t>
            </a:r>
          </a:p>
          <a:p>
            <a:r>
              <a:t>organic = 有机的。residue = 残渣。lifecycle = 生命周期。”clearing of forests” = 砍伐森林。</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biofuels made from?</a:t>
            </a:r>
          </a:p>
          <a:p>
            <a:r>
              <a:t>A: Plants, waste oils or other organic material.</a:t>
            </a:r>
          </a:p>
          <a:p>
            <a:r>
              <a:t>Q2. What are two concerns about them?</a:t>
            </a:r>
          </a:p>
          <a:p>
            <a:r>
              <a:t>A: Competition with food production and clearing of forests; the benefit depends on the lifecycle.</a:t>
            </a:r>
          </a:p>
          <a:p>
            <a:r>
              <a:t>Q3. What do many experts prefer?</a:t>
            </a:r>
          </a:p>
          <a:p>
            <a:r>
              <a:t>A: Biofuels made from waste and residues rather than food crops.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Biofuel vocabulary 生物燃料词汇</a:t>
            </a:r>
          </a:p>
          <a:p>
            <a:r>
              <a:t>领读 → 学员跟读 → 请学员用表达造一个和自己工作相关的句子。</a:t>
            </a:r>
          </a:p>
          <a:p>
            <a:r>
              <a:t>biofuel (noun) 生物燃料 — “Biofuel can reduce emissions.”</a:t>
            </a:r>
          </a:p>
          <a:p>
            <a:r>
              <a:t>feedstock (noun) 原料 — “Waste oil is a feedstock.”</a:t>
            </a:r>
          </a:p>
          <a:p>
            <a:r>
              <a:t>ethanol (noun) 乙醇 — “Ethanol is blended with petrol.”</a:t>
            </a:r>
          </a:p>
          <a:p>
            <a:r>
              <a:t>biodiesel (noun) 生物柴油 — “Some trucks run on biodiesel.”</a:t>
            </a:r>
          </a:p>
          <a:p>
            <a:r>
              <a:t>lifecycle (noun) 全生命周期 — “A lifecycle analysis shows the real impact.”</a:t>
            </a:r>
          </a:p>
          <a:p>
            <a:r>
              <a:t>blend (verb / noun) 混合 — “The fuel is blended with petrol.”</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Debating sustainability ★ 讨论可持续性</a:t>
            </a:r>
          </a:p>
          <a:p>
            <a:r>
              <a:t>领读 → 学员跟读 → 请学员用表达造一个和自己工作相关的句子。</a:t>
            </a:r>
          </a:p>
          <a:p>
            <a:r>
              <a:t>★ food versus fuel (noun phrase) 粮食与燃料之争 — “The food versus fuel debate continues.”</a:t>
            </a:r>
          </a:p>
          <a:p>
            <a:r>
              <a:t>★ land use (noun) 土地利用 — “Land use is a key concern.”</a:t>
            </a:r>
          </a:p>
          <a:p>
            <a:r>
              <a:t>★ carbon footprint (noun phrase) 碳足迹 — “Biofuels can reduce the carbon footprint.”</a:t>
            </a:r>
          </a:p>
          <a:p>
            <a:r>
              <a:t>★ greenwashing (noun) 漂绿 — “The ad was criticised as greenwashing.”</a:t>
            </a:r>
          </a:p>
          <a:p>
            <a:r>
              <a:t>★ scale up (phrasal verb) 扩大规模 — “It’s hard to scale up production.”</a:t>
            </a:r>
          </a:p>
          <a:p>
            <a:r>
              <a:t>★ a stepping stone (idiom) 过渡手段 — “Biofuels are a stepping stone to cleaner fuels.”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biofuel / feedstock / Ethanol / lifecycle / carbon footprint / greenwashing</a:t>
            </a:r>
          </a:p>
          <a:p>
            <a:r>
              <a:t>1. A _______ is made from plants or waste. → biofuel</a:t>
            </a:r>
          </a:p>
          <a:p>
            <a:r>
              <a:t>2. Used cooking oil can be a _______ for biodiesel. → feedstock</a:t>
            </a:r>
          </a:p>
          <a:p>
            <a:r>
              <a:t>3. _______ is often blended with petrol. → Ethanol</a:t>
            </a:r>
          </a:p>
          <a:p>
            <a:r>
              <a:t>4. A _______ analysis shows the full environmental impact. → lifecycle</a:t>
            </a:r>
          </a:p>
          <a:p>
            <a:r>
              <a:t>5. Switching fuels can reduce a firm’s _______. → carbon footprint</a:t>
            </a:r>
          </a:p>
          <a:p>
            <a:r>
              <a:t>6. Critics called the campaign _______. → greenwashing</a:t>
            </a:r>
          </a:p>
          <a:p>
            <a:r>
              <a:t>Mistake Watch (拼写与搭配): biofuel (one word), ethanol, sustainability. Be made from (material changed), be made of (material visible). Run on biodiesel (not “run with”). Blend A with B. Reduce / lower emissions. Sustainable sources. Crops (plural) / a crop.</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pros and cons of biofuels 介绍生物燃料的优缺点</a:t>
            </a:r>
          </a:p>
          <a:p>
            <a:r>
              <a:t>情景：At a company briefing, you present biofuels to non-specialist colleagues.</a:t>
            </a:r>
          </a:p>
          <a:p>
            <a:r>
              <a:t>Role A: Lia Yeo, sustainability officer (you) Role B: Ian Doyle,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(Lia): Ian, shall I give a quick overview of biofuels before the meeting?</a:t>
            </a:r>
          </a:p>
          <a:p>
            <a:r>
              <a:t>B (Ian): Please, I know very little.</a:t>
            </a:r>
          </a:p>
          <a:p>
            <a:r>
              <a:t>A: Biofuels are made from plants, waste oils or other organic material. They can be blended with regular fuel.</a:t>
            </a:r>
          </a:p>
          <a:p>
            <a:r>
              <a:t>B: What are the advantages?</a:t>
            </a:r>
          </a:p>
          <a:p>
            <a:r>
              <a:t>A: On the plus side, they can lower emissions and work with existing engines. They’re also useful for sectors like aviation.</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the downsides?</a:t>
            </a:r>
          </a:p>
          <a:p>
            <a:r>
              <a:t>A: Some biofuels compete with food crops or require large amounts of land. Their benefit depends on the lifecycle.</a:t>
            </a:r>
          </a:p>
          <a:p>
            <a:r>
              <a:t>B: So are they green?</a:t>
            </a:r>
          </a:p>
          <a:p>
            <a:r>
              <a:t>A: It depends. Biofuels made from waste are generally considered better than those from food crops.</a:t>
            </a:r>
          </a:p>
          <a:p>
            <a:r>
              <a:t>B: What should we look for if we buy?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Certified sustainable sources and clear data.</a:t>
            </a:r>
          </a:p>
          <a:p>
            <a:r>
              <a:t>B: To sum up, they can play a role, but we need to check how they’re made?</a:t>
            </a:r>
          </a:p>
          <a:p>
            <a:r>
              <a:t>A: Exactly. Biofuels aren’t a complete solution, but they may be a stepping stone.</a:t>
            </a:r>
          </a:p>
          <a:p>
            <a:r>
              <a:t>B: Thanks, that’s clear.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76 | </a:t>
            </a:r>
          </a:p>
          <a:p>
            <a:r>
              <a:t>Situation | You explain a technology to a non-specialist.</a:t>
            </a:r>
          </a:p>
          <a:p>
            <a:r>
              <a:t>Your role (A) | Presenter. Technology: ______________</a:t>
            </a:r>
          </a:p>
          <a:p>
            <a:r>
              <a:t>Partner’s role (B) | Listener. Ask simple questions.</a:t>
            </a:r>
          </a:p>
          <a:p>
            <a:r>
              <a:t>Must use (4 or more) | is made from · on the plus side · on the downside · it depends · to sum up · stepping stone</a:t>
            </a:r>
          </a:p>
          <a:p>
            <a:r>
              <a:t>Goal | Explain, give pros and cons, and summarise.</a:t>
            </a:r>
          </a:p>
          <a:p>
            <a:r>
              <a:t>My notes | ____________________________________________</a:t>
            </a:r>
          </a:p>
          <a:p>
            <a:r>
              <a:t>Ian asks: “Isn’t it all greenwashing?” Respond.</a:t>
            </a:r>
          </a:p>
          <a:p>
            <a:r>
              <a:t>Explain the “food versus fuel” debate in 30 seconds.</a:t>
            </a:r>
          </a:p>
          <a:p>
            <a:r>
              <a:t>List three questions to ask a biofuel supplier.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think biofuels are a good solution? | “They can help in… but not…”</a:t>
            </a:r>
          </a:p>
          <a:p>
            <a:r>
              <a:t>2. How can we avoid greenwashing? | “By checking… / Asking for evidence…”</a:t>
            </a:r>
          </a:p>
          <a:p>
            <a:r>
              <a:t>3. Should governments subsidise green fuels? | “I think they should… as long as…”</a:t>
            </a:r>
          </a:p>
          <a:p>
            <a:r>
              <a:t>4. Which sectors are hardest to decarbonise? | “Aviation and shipping because…”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avoid greenwashing, we need independent evidence rather than slogans. For example, companies should publish data about the whole lifecycle of a fuel, and be certified by trusted third parties. As consumers or buyers, we can ask: Where does it come from? How was it made? What does the data show? If a company can’t answer clearly, it’s a warning sign.”</a:t>
            </a:r>
          </a:p>
          <a:p>
            <a:r>
              <a:t>independent = 独立的。certified = 经认证的。third party = 第三方。warning sign = 警示信号。</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Biofuel is from plant. | Biofuel is made from plants. | 被动</a:t>
            </a:r>
          </a:p>
          <a:p>
            <a:r>
              <a:t>Biofuel is good. | Biofuel can lower emissions. | 具体</a:t>
            </a:r>
          </a:p>
          <a:p>
            <a:r>
              <a:t>Biofuel is bad. | Biofuel raises concerns about land use. | 具体</a:t>
            </a:r>
          </a:p>
          <a:p>
            <a:r>
              <a:t>It is not clean. | Its environmental benefit is debated. | 谨慎</a:t>
            </a:r>
          </a:p>
          <a:p>
            <a:r>
              <a:t>It will solve everything. | It could be part of the solution. | 谨慎</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processes: “Biofuels are made from crops, then refined and blended.”</a:t>
            </a:r>
          </a:p>
          <a:p>
            <a:r>
              <a:t>Pros and cons: on the plus side, on the downside, the main advantage is, the main drawback is.</a:t>
            </a:r>
          </a:p>
          <a:p>
            <a:r>
              <a:t>Modals of possibility: could, may, might, can: “It could help”.</a:t>
            </a:r>
          </a:p>
          <a:p>
            <a:r>
              <a:t>Defining: X is a type of Y that… / X refers to…</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Biofuel make from plants.  →  ✓ Biofuel is made from plants.  (被动)</a:t>
            </a:r>
          </a:p>
          <a:p>
            <a:r>
              <a:t>✗ The biofuels are good for environment.  →  ✓ Biofuels are good for the environment.  (the environment)</a:t>
            </a:r>
          </a:p>
          <a:p>
            <a:r>
              <a:t>✗ It is a clean energy.  →  ✓ It is a cleaner fuel.  (比较)</a:t>
            </a:r>
          </a:p>
          <a:p>
            <a:r>
              <a:t>Mistake Watch: Check passive forms, run on, and the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runs with ethanol.  →  ✓ It runs on ethanol.  (run on)</a:t>
            </a:r>
          </a:p>
          <a:p>
            <a:r>
              <a:t>✗ The food crop are used.  →  ✓ Food crops are used.  (复数)</a:t>
            </a:r>
          </a:p>
          <a:p>
            <a:r>
              <a:t>✗ This reduces the carbon.  →  ✓ This reduces carbon emissions.  (搭配)</a:t>
            </a:r>
          </a:p>
          <a:p>
            <a:r>
              <a:t>Mistake Watch: Check passive forms, run on, and the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Technical topics: When talking to non-specialists, define terms and avoid jargon.</a:t>
            </a:r>
          </a:p>
          <a:p>
            <a:r>
              <a:t>Evidence: Claims like “100% green” are rarely accurate; check certification.</a:t>
            </a:r>
          </a:p>
          <a:p>
            <a:r>
              <a:t>Policy: Biofuel rules and subsidies vary by country and change over time.</a:t>
            </a:r>
          </a:p>
          <a:p>
            <a:r>
              <a:t>be made from;run on;the environment。向非专业人士解释时,先定义术语,再用“优点—缺点—结论”的结构。</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 technology to non-specialists.</a:t>
            </a:r>
          </a:p>
          <a:p>
            <a:r>
              <a:t>I can give pros and cons and conclude.</a:t>
            </a:r>
          </a:p>
          <a:p>
            <a:r>
              <a:t>I can use passive voice for processes.</a:t>
            </a:r>
          </a:p>
          <a:p>
            <a:r>
              <a:t>I can use be made from, run on and the environment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passive for processes, run on, and pros-and-cons structures.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77 · The Wind Turbine Revolution 风能革命</a:t>
            </a:r>
          </a:p>
          <a:p>
            <a:r>
              <a:t>Goal: discuss wind power and the energy industry: how wind energy works, costs, supply chains, local opposition and growth prospects.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wind turbine = 风力涡轮机;offshore = 近海的/海上;onshore = 陆上。第 5 题可用 “I wouldn’t mind as long as…”。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the benefits and challenges of wind power.</a:t>
            </a:r>
          </a:p>
          <a:p>
            <a:r>
              <a:t>Say: how it works → advantages → challenges → outlook</a:t>
            </a:r>
          </a:p>
          <a:p>
            <a:r>
              <a:t>Useful starters: “Wind farms generate electricity by…” / “One major advantage is…” / “A common objection is…”</a:t>
            </a:r>
          </a:p>
          <a:p>
            <a:r>
              <a:t>generate electricity by + -ing。one major advantage is… 引出优点。 a common objection is… 引出反对意见。</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Wind turbines convert the energy of moving air into electricity. Over recent years, improvements in technology have made turbines larger and more efficient, and the cost of wind power has fallen in many places. Offshore wind farms, built at sea, can use stronger and steadier winds than onshore sites. The industry creates jobs in manufacturing, installation and maintenance, and supports a global supply chain of blades, towers and cables. Challenges remain. Wind does not blow all the time, so grids need storage, backup or flexible demand. Projects can face objections over landscape, wildlife or noise, and delays in planning approval. Large components are difficult to transport and install. Despite these hurdles, many governments and companies see wind as a key part of future energy systems.</a:t>
            </a:r>
          </a:p>
          <a:p>
            <a:r>
              <a:t>convert = 转换。efficient = 高效的。blade = 叶片。hurdle = 障碍。</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have turbines improved?</a:t>
            </a:r>
          </a:p>
          <a:p>
            <a:r>
              <a:t>A: They have become larger and more efficient, and costs have fallen in many places.</a:t>
            </a:r>
          </a:p>
          <a:p>
            <a:r>
              <a:t>Q2. Why is offshore wind attractive?</a:t>
            </a:r>
          </a:p>
          <a:p>
            <a:r>
              <a:t>A: Stronger and steadier winds than onshore sites.</a:t>
            </a:r>
          </a:p>
          <a:p>
            <a:r>
              <a:t>Q3. What challenges does wind power face?</a:t>
            </a:r>
          </a:p>
          <a:p>
            <a:r>
              <a:t>A: Variability, grid needs, objections about landscape/wildlife/noise, planning delays and transport of large parts.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Wind energy basics 风能基础</a:t>
            </a:r>
          </a:p>
          <a:p>
            <a:r>
              <a:t>领读 → 学员跟读 → 请学员用表达造一个和自己工作相关的句子。</a:t>
            </a:r>
          </a:p>
          <a:p>
            <a:r>
              <a:t>wind turbine (noun) 风力涡轮机 — “The wind turbine is 100 metres tall.”</a:t>
            </a:r>
          </a:p>
          <a:p>
            <a:r>
              <a:t>wind farm (noun) 风电场 — “The wind farm supplies 50,000 homes.”</a:t>
            </a:r>
          </a:p>
          <a:p>
            <a:r>
              <a:t>offshore / onshore (adjective) 近海 / 陆上 — “Offshore wind is growing.”</a:t>
            </a:r>
          </a:p>
          <a:p>
            <a:r>
              <a:t>generate (verb) 发电 — “Turbines generate electricity.”</a:t>
            </a:r>
          </a:p>
          <a:p>
            <a:r>
              <a:t>capacity (noun) 装机容量 — “The capacity of the farm is 300 MW.”</a:t>
            </a:r>
          </a:p>
          <a:p>
            <a:r>
              <a:t>grid (noun) 电网 — “The grid connects the wind farm.”</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Industry and debate ★ 行业与争论</a:t>
            </a:r>
          </a:p>
          <a:p>
            <a:r>
              <a:t>领读 → 学员跟读 → 请学员用表达造一个和自己工作相关的句子。</a:t>
            </a:r>
          </a:p>
          <a:p>
            <a:r>
              <a:t>★ intermittent (adjective) 间歇性的 — “Wind power is intermittent.”</a:t>
            </a:r>
          </a:p>
          <a:p>
            <a:r>
              <a:t>★ NIMBY (acronym) 邻避(不要建在我家后院) — “NIMBY objections delayed the project.”</a:t>
            </a:r>
          </a:p>
          <a:p>
            <a:r>
              <a:t>★ planning permission (noun phrase) 规划许可 — “They are waiting for planning permission.”</a:t>
            </a:r>
          </a:p>
          <a:p>
            <a:r>
              <a:t>★ economies of scale (noun phrase) 规模经济 — “Larger turbines bring economies of scale.”</a:t>
            </a:r>
          </a:p>
          <a:p>
            <a:r>
              <a:t>★ bring online (phrasal verb) 投入运行 — “The farm will be brought online next year.”</a:t>
            </a:r>
          </a:p>
          <a:p>
            <a:r>
              <a:t>★ bottleneck (noun) 瓶颈 — “Grid connection is a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turbine / generate / capacity / grid / intermittent / NIMBY</a:t>
            </a:r>
          </a:p>
          <a:p>
            <a:r>
              <a:t>1. A single wind _______ can power hundreds of homes. → turbine</a:t>
            </a:r>
          </a:p>
          <a:p>
            <a:r>
              <a:t>2. Wind farms _______ electricity from moving air. → generate</a:t>
            </a:r>
          </a:p>
          <a:p>
            <a:r>
              <a:t>3. The total _______ of the wind farm is 300 megawatts. → capacity</a:t>
            </a:r>
          </a:p>
          <a:p>
            <a:r>
              <a:t>4. The _______ must be upgraded to carry more renewable power. → grid</a:t>
            </a:r>
          </a:p>
          <a:p>
            <a:r>
              <a:t>5. Wind power is _______, so it needs backup. → intermittent</a:t>
            </a:r>
          </a:p>
          <a:p>
            <a:r>
              <a:t>6. Some residents raised _______ objections to the wind farm. → NIMBY</a:t>
            </a:r>
          </a:p>
          <a:p>
            <a:r>
              <a:t>Mistake Watch (拼写与搭配): turbine (not “turbin”), electricity (not “electricty”), intermittent (double t). Generate electricity, produce power, supply homes with power. Wind power (uncountable), a wind farm. Planning permission (UK) / a permit (US). Build / install / construct a farm.</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local wind project 讨论本地风电项目</a:t>
            </a:r>
          </a:p>
          <a:p>
            <a:r>
              <a:t>情景：At a community meeting, a developer and a resident discuss a proposed wind farm.</a:t>
            </a:r>
          </a:p>
          <a:p>
            <a:r>
              <a:t>Role A: Mel Gao, project developer (you) Role B: Mr Perry, local resident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(Mel): Mr Perry, thank you for coming. I’d like to explain the proposal and hear your concerns.</a:t>
            </a:r>
          </a:p>
          <a:p>
            <a:r>
              <a:t>B (Mr Perry): I’m worried about the noise and the view. Those turbines are huge.</a:t>
            </a:r>
          </a:p>
          <a:p>
            <a:r>
              <a:t>A: That’s understandable. Modern turbines are quieter than older models, and we’d keep them a set distance from homes.</a:t>
            </a:r>
          </a:p>
          <a:p>
            <a:r>
              <a:t>B: What about wildlife?</a:t>
            </a:r>
          </a:p>
          <a:p>
            <a:r>
              <a:t>A: We’ve done a survey and will adjust the design to reduce risks to birds, and we’ll monitor after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what do we get out of it?</a:t>
            </a:r>
          </a:p>
          <a:p>
            <a:r>
              <a:t>A: A community fund that supports local projects, plus jobs during construction and maintenance.</a:t>
            </a:r>
          </a:p>
          <a:p>
            <a:r>
              <a:t>B: Hmm. Would it lower electricity bills?</a:t>
            </a:r>
          </a:p>
          <a:p>
            <a:r>
              <a:t>A: Not directly. But the farm would supply clean power to about forty thousand homes.</a:t>
            </a:r>
          </a:p>
          <a:p>
            <a:r>
              <a:t>B: I see. I’m still not sure, but I appreciate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Of course. We’ll hold another meeting next month and publish the survey results.</a:t>
            </a:r>
          </a:p>
          <a:p>
            <a:r>
              <a:t>B: I’d like to read those.</a:t>
            </a:r>
          </a:p>
          <a:p>
            <a:r>
              <a:t>A: I’ll make sure you get a copy.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77 | </a:t>
            </a:r>
          </a:p>
          <a:p>
            <a:r>
              <a:t>Situation | You discuss a local project.</a:t>
            </a:r>
          </a:p>
          <a:p>
            <a:r>
              <a:t>Your role (A) | Developer. Project: ______________</a:t>
            </a:r>
          </a:p>
          <a:p>
            <a:r>
              <a:t>Partner’s role (B) | Resident. Voice two concerns.</a:t>
            </a:r>
          </a:p>
          <a:p>
            <a:r>
              <a:t>Must use (4 or more) | benefits · concerns · community fund · monitor · results · another meeting</a:t>
            </a:r>
          </a:p>
          <a:p>
            <a:r>
              <a:t>Goal | Listen, respond to concerns and agree what happens next.</a:t>
            </a:r>
          </a:p>
          <a:p>
            <a:r>
              <a:t>My notes | ____________________________________________</a:t>
            </a:r>
          </a:p>
          <a:p>
            <a:r>
              <a:t>Mr Perry says: “It will spoil the view.” Respond respectfully.</a:t>
            </a:r>
          </a:p>
          <a:p>
            <a:r>
              <a:t>Explain how wind power works in three sentences.</a:t>
            </a:r>
          </a:p>
          <a:p>
            <a:r>
              <a:t>Compare onshore and offshore wind.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accept a wind farm near your home? | “I wouldn’t mind as long as… / I’d be concerned about…”</a:t>
            </a:r>
          </a:p>
          <a:p>
            <a:r>
              <a:t>2. Is wind power reliable enough? | “On its own, no. But with storage…”</a:t>
            </a:r>
          </a:p>
          <a:p>
            <a:r>
              <a:t>3. Should governments support the wind industry? | “Support can help… but it should be…”</a:t>
            </a:r>
          </a:p>
          <a:p>
            <a:r>
              <a:t>4. What makes a community accept a new project? | “Early consultation… / Fair benefits…”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community is more likely to accept a project if people are consulted early, listened to and given a share of the benefits. For example, a local fund or lower bills can show that the project helps them too. It also helps to be transparent about impacts such as noise or wildlife, and to adjust the design. People tend to resist when they feel decisions are imposed from outside.”</a:t>
            </a:r>
          </a:p>
          <a:p>
            <a:r>
              <a:t>consulted = 被征求意见。”a share of the benefits” = 分享收益。imposed = 强加的。 resist = 抵制。</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Wind makes power. | Wind turbines generate electricity. | 动词</a:t>
            </a:r>
          </a:p>
          <a:p>
            <a:r>
              <a:t>People dislike it. | Some residents have raised objections. | 具体</a:t>
            </a:r>
          </a:p>
          <a:p>
            <a:r>
              <a:t>The wind sometimes stops. | Wind power is intermittent. | 术语</a:t>
            </a:r>
          </a:p>
          <a:p>
            <a:r>
              <a:t>It costs less now. | Costs have fallen significantly. | 具体</a:t>
            </a:r>
          </a:p>
          <a:p>
            <a:r>
              <a:t>It is good for nature. | It can reduce carbon emissions. | 具体</a:t>
            </a:r>
          </a:p>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Relative clauses: turbines that generate power, a farm which supplies homes, residents who live nearby.</a:t>
            </a:r>
          </a:p>
          <a:p>
            <a:r>
              <a:t>Concessions: Although there are objections, … / Despite the objections, …</a:t>
            </a:r>
          </a:p>
          <a:p>
            <a:r>
              <a:t>Future with going to / will: “We’re going to hold another meeting.” / “I’ll make sure you get a copy.”</a:t>
            </a:r>
          </a:p>
          <a:p>
            <a:r>
              <a:t>Showing understanding: That’s understandable. I can see why you’re concerned.</a:t>
            </a:r>
          </a:p>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Wind turbine produce electricity.  →  ✓ Wind turbines produce electricity.  (复数)</a:t>
            </a:r>
          </a:p>
          <a:p>
            <a:r>
              <a:t>✗ Despite of the noise, …  →  ✓ Despite the noise, … / In spite of the noise, …  (despite 无 of)</a:t>
            </a:r>
          </a:p>
          <a:p>
            <a:r>
              <a:t>✗ The farm will bring many job.  →  ✓ The farm will bring many jobs.  (复数)</a:t>
            </a:r>
          </a:p>
          <a:p>
            <a:r>
              <a:t>Mistake Watch: Check despite / in spite of, uncountable energy, and because / because of.</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generates clean energies.  →  ✓ It generates clean energy.  (不可数)</a:t>
            </a:r>
          </a:p>
          <a:p>
            <a:r>
              <a:t>✗ People are against the project because of they are worried.  →  ✓ People are against the project because they are worried.  (because of + 名词)</a:t>
            </a:r>
          </a:p>
          <a:p>
            <a:r>
              <a:t>✗ The turbine is making noisy.  →  ✓ The turbine is making noise. / It is noisy.  (noise / noisy)</a:t>
            </a:r>
          </a:p>
          <a:p>
            <a:r>
              <a:t>Mistake Watch: Check despite / in spite of, uncountable energy, and because / because of.</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Community engagement: Early consultation reduces conflict. Listen before explaining.</a:t>
            </a:r>
          </a:p>
          <a:p>
            <a:r>
              <a:t>Planning: Planning processes differ by country and can take years.</a:t>
            </a:r>
          </a:p>
          <a:p>
            <a:r>
              <a:t>Jobs: Local employment claims should be specific and realistic.</a:t>
            </a:r>
          </a:p>
          <a:p>
            <a:r>
              <a:t>despite 后不加 of(in spite of);energy 不可数;because + 从句,because of + 名词。与社区沟通时先倾听,再解释。</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how wind power works and its pros and cons.</a:t>
            </a:r>
          </a:p>
          <a:p>
            <a:r>
              <a:t>I can respond to community concerns.</a:t>
            </a:r>
          </a:p>
          <a:p>
            <a:r>
              <a:t>I can use despite / in spite of and relative clauses correctly.</a:t>
            </a:r>
          </a:p>
          <a:p>
            <a:r>
              <a:t>I can use because / because of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despite / in spite of, relative clauses, and because / because of.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78 · Shifts in the Electric Vehicle Market 电动汽车市场的变化</a:t>
            </a:r>
          </a:p>
          <a:p>
            <a:r>
              <a:t>Goal: discuss changes in the electric vehicle (EV) market: demand, competition, charging, costs, policy and describing market shifts in careful language.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EV = Electric Vehicle;charging point = 充电桩;range anxiety = 里程焦虑;adoption = 采用/普及。预测要使用谨慎表达。</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changes in the EV market and what they might mean for businesses.</a:t>
            </a:r>
          </a:p>
          <a:p>
            <a:r>
              <a:t>Say: current situation → drivers of change → challenges → what companies might do</a:t>
            </a:r>
          </a:p>
          <a:p>
            <a:r>
              <a:t>Useful starters: “Demand for EVs has grown, although…” / “A key factor is…” / “Companies may need to…”</a:t>
            </a:r>
          </a:p>
          <a:p>
            <a:r>
              <a:t>Demand for… has grown, although… 先事实后转折。A key factor is… 引出关键因素。may need to…</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electric vehicle market has changed quickly over the past decade. Falling battery costs, new models and government support have helped to increase sales in many countries. Yet the picture is not simple. In some markets, growth has slowed as early adopters have already bought their cars and mainstream buyers want lower prices, more charging points and greater confidence in range and resale value. Competition has intensified, with traditional manufacturers and new entrants launching a wide variety of models, which puts pressure on prices and profits. Policies on subsidies, taxes and emissions rules also vary between countries and can change, affecting demand. Analysts expect long-term growth to continue, but they warn that the pace may be uneven. Companies that stay flexible, control costs and listen to customers are likely to be best placed.</a:t>
            </a:r>
          </a:p>
          <a:p>
            <a:r>
              <a:t>early adopter = 早期采用者。mainstream = 主流的。resale value = 转售价值。new entrant = 新进入者。</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has helped to increase EV sales?</a:t>
            </a:r>
          </a:p>
          <a:p>
            <a:r>
              <a:t>A: Falling battery costs, new models and government support.</a:t>
            </a:r>
          </a:p>
          <a:p>
            <a:r>
              <a:t>Q2. Why has growth slowed in some markets?</a:t>
            </a:r>
          </a:p>
          <a:p>
            <a:r>
              <a:t>A: Early adopters have already bought, and mainstream buyers want lower prices, more charging and confidence in range/resale value.</a:t>
            </a:r>
          </a:p>
          <a:p>
            <a:r>
              <a:t>Q3. What do analysts expect?</a:t>
            </a:r>
          </a:p>
          <a:p>
            <a:r>
              <a:t>A: Long-term growth, but with an uneven pace.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EV market vocabulary 电动汽车市场词汇</a:t>
            </a:r>
          </a:p>
          <a:p>
            <a:r>
              <a:t>领读 → 学员跟读 → 请学员用表达造一个和自己工作相关的句子。</a:t>
            </a:r>
          </a:p>
          <a:p>
            <a:r>
              <a:t>electric vehicle (EV) (noun) 电动汽车 — “Sales of EVs are rising.”</a:t>
            </a:r>
          </a:p>
          <a:p>
            <a:r>
              <a:t>charging point (noun) 充电桩 — “There are more charging points now.”</a:t>
            </a:r>
          </a:p>
          <a:p>
            <a:r>
              <a:t>battery (noun) 电池 — “Battery costs have fallen.”</a:t>
            </a:r>
          </a:p>
          <a:p>
            <a:r>
              <a:t>range (noun) 续航里程 — “The car has a range of 400 km.”</a:t>
            </a:r>
          </a:p>
          <a:p>
            <a:r>
              <a:t>subsidy (noun) 补贴 — “The subsidy reduced the price.”</a:t>
            </a:r>
          </a:p>
          <a:p>
            <a:r>
              <a:t>adoption (noun) 采用 — “EV adoption is rising.”</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Market shifts and strategy ★ 市场变化与策略</a:t>
            </a:r>
          </a:p>
          <a:p>
            <a:r>
              <a:t>领读 → 学员跟读 → 请学员用表达造一个和自己工作相关的句子。</a:t>
            </a:r>
          </a:p>
          <a:p>
            <a:r>
              <a:t>★ range anxiety (noun phrase) 里程焦虑 — “Range anxiety puts people off.”</a:t>
            </a:r>
          </a:p>
          <a:p>
            <a:r>
              <a:t>★ early adopter (noun phrase) 早期采用者 — “Early adopters bought first.”</a:t>
            </a:r>
          </a:p>
          <a:p>
            <a:r>
              <a:t>★ price war (noun phrase) 价格战 — “A price war could hurt profits.”</a:t>
            </a:r>
          </a:p>
          <a:p>
            <a:r>
              <a:t>★ new entrants (noun phrase) 新进入者 — “New entrants are challenging old brands.”</a:t>
            </a:r>
          </a:p>
          <a:p>
            <a:r>
              <a:t>★ squeeze margins (collocation) 压缩利润率 — “Competition squeezes margins.”</a:t>
            </a:r>
          </a:p>
          <a:p>
            <a:r>
              <a:t>★ gain traction (collocation) 获得进展 — “EVs are gaining traction.”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electric vehicle / charging points / range / subsidy / price war / gain traction</a:t>
            </a:r>
          </a:p>
          <a:p>
            <a:r>
              <a:t>1. Sales of the new _______ doubled this year. → electric vehicle</a:t>
            </a:r>
          </a:p>
          <a:p>
            <a:r>
              <a:t>2. There are not enough _______ in rural areas. → charging points</a:t>
            </a:r>
          </a:p>
          <a:p>
            <a:r>
              <a:t>3. The car has a _______ of 400 kilometres on a full charge. → range</a:t>
            </a:r>
          </a:p>
          <a:p>
            <a:r>
              <a:t>4. The government’s _______ lowered the cost of buying an EV. → subsidy</a:t>
            </a:r>
          </a:p>
          <a:p>
            <a:r>
              <a:t>5. A _______ could damage the profits of the whole industry. → price war</a:t>
            </a:r>
          </a:p>
          <a:p>
            <a:r>
              <a:t>6. Electric buses are beginning to _______ in many cities. → gain traction</a:t>
            </a:r>
          </a:p>
          <a:p>
            <a:r>
              <a:t>Mistake Watch (拼写与搭配): vehicle (silent h: /ˈviːəkl/), electric (not “electronic” in this sense), subsidy (plural subsidies). Charge a car, a charge, a charging station (US) / charging point (UK). Subsidise (UK) / subsidize (US). Buy / sell EVs. Drive a car, ride a bike. Range (uncountable: “a range of 400 km”).</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changes in the EV market 讨论电动汽车市场变化</a:t>
            </a:r>
          </a:p>
          <a:p>
            <a:r>
              <a:t>情景：Two colleagues at a car company discuss how the EV market is changing and what to do.</a:t>
            </a:r>
          </a:p>
          <a:p>
            <a:r>
              <a:t>Role A: Hugo Tan, strategy manager (you) Role B: Ms Qiu, sales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(Hugo): Ms Qiu, EV sales have grown, but growth seems to be slowing in some regions.</a:t>
            </a:r>
          </a:p>
          <a:p>
            <a:r>
              <a:t>B (Ms Qiu): True. Early adopters have already bought, and the next group wants lower prices.</a:t>
            </a:r>
          </a:p>
          <a:p>
            <a:r>
              <a:t>A: A key factor is price. Competition is increasing, with new entrants launching cheaper models.</a:t>
            </a:r>
          </a:p>
          <a:p>
            <a:r>
              <a:t>B: That could squeeze our margins.</a:t>
            </a:r>
          </a:p>
          <a:p>
            <a:r>
              <a:t>A: It might. We may need to reduce costs and focus on the models that sell best.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about charging?</a:t>
            </a:r>
          </a:p>
          <a:p>
            <a:r>
              <a:t>A: Customers’ confidence depends on access to charging points. We could partner with charging networks.</a:t>
            </a:r>
          </a:p>
          <a:p>
            <a:r>
              <a:t>B: Good idea. And policy?</a:t>
            </a:r>
          </a:p>
          <a:p>
            <a:r>
              <a:t>A: Subsidies and rules vary and can change, so we should plan for different scenarios.</a:t>
            </a:r>
          </a:p>
          <a:p>
            <a:r>
              <a:t>B: Do you think a price war is likely?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possible in some segments. We should compete on value as well as price.</a:t>
            </a:r>
          </a:p>
          <a:p>
            <a:r>
              <a:t>B: Let’s prepare a report for the board.</a:t>
            </a:r>
          </a:p>
          <a:p>
            <a:r>
              <a:t>A: I’ll draft it this week.</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78 | </a:t>
            </a:r>
          </a:p>
          <a:p>
            <a:r>
              <a:t>Situation | You discuss shifts in a market.</a:t>
            </a:r>
          </a:p>
          <a:p>
            <a:r>
              <a:t>Your role (A) | Strategy manager. Shift: ______________</a:t>
            </a:r>
          </a:p>
          <a:p>
            <a:r>
              <a:t>Partner’s role (B) | Sales director. Ask what to do.</a:t>
            </a:r>
          </a:p>
          <a:p>
            <a:r>
              <a:t>Must use (4 or more) | has grown, although · a key factor · may need to · scenarios · compete on value · margins</a:t>
            </a:r>
          </a:p>
          <a:p>
            <a:r>
              <a:t>Goal | Describe the change, give causes and suggest responses.</a:t>
            </a:r>
          </a:p>
          <a:p>
            <a:r>
              <a:t>My notes | ____________________________________________</a:t>
            </a:r>
          </a:p>
          <a:p>
            <a:r>
              <a:t>Ms Qiu says: “We should just cut prices.” Respond.</a:t>
            </a:r>
          </a:p>
          <a:p>
            <a:r>
              <a:t>Describe the benefits of EVs to a sceptical customer.</a:t>
            </a:r>
          </a:p>
          <a:p>
            <a:r>
              <a:t>Write three sentences predicting the market in five years, carefully hedged.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buy an electric car? Why or why not? | “I would if… / Not yet, because…”</a:t>
            </a:r>
          </a:p>
          <a:p>
            <a:r>
              <a:t>2. What could speed up the adoption of EVs? | “Lower prices… / Better charging…”</a:t>
            </a:r>
          </a:p>
          <a:p>
            <a:r>
              <a:t>3. Should governments support EVs with subsidies? | “Subsidies can help… but they should…”</a:t>
            </a:r>
          </a:p>
          <a:p>
            <a:r>
              <a:t>4. How might traditional carmakers adapt? | “They might need to… / Some could…”</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“Subsidies can help to kick-start a new market, particularly while prices are high and infrastructure is limited. But they are expensive, and they tend to benefit people who can already afford new cars. I think they should be temporary and targeted, for example for lower-income buyers or for charging infrastructure. Over time, the market should be able to stand on its own feet.”</a:t>
            </a:r>
          </a:p>
          <a:p>
            <a:r>
              <a:t>kick-start = 启动。targeted = 有针对性的。”stand on its own feet” = 自立。infrastructure = 基础设施。</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EV is popular. | Interest in electric vehicles has grown. | 完整</a:t>
            </a:r>
          </a:p>
          <a:p>
            <a:r>
              <a:t>Cars are more. | There is a wider choice of models. | 具体</a:t>
            </a:r>
          </a:p>
          <a:p>
            <a:r>
              <a:t>Price down. | Prices are coming down. | 完整</a:t>
            </a:r>
          </a:p>
          <a:p>
            <a:r>
              <a:t>The market is difficult. | The market is becoming more competitive. | 具体</a:t>
            </a:r>
          </a:p>
          <a:p>
            <a:r>
              <a:t>Maybe it increases. | Sales are likely to continue growing, though the pace may vary. | 谨慎</a:t>
            </a:r>
          </a:p>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Contrast: although, even though, while, whereas, however, yet.</a:t>
            </a:r>
          </a:p>
          <a:p>
            <a:r>
              <a:t>Hedging: may need to, is likely to, might, could, tends to, appears to.</a:t>
            </a:r>
          </a:p>
          <a:p>
            <a:r>
              <a:t>Present perfect for change: “The market has changed quickly.”</a:t>
            </a:r>
          </a:p>
          <a:p>
            <a:r>
              <a:t>Comparison: more affordable than, as reliable as, less expensive than.</a:t>
            </a:r>
          </a:p>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EV market is grow.  →  ✓ The EV market is growing.  (进行时)</a:t>
            </a:r>
          </a:p>
          <a:p>
            <a:r>
              <a:t>✗ Despite of the subsidies, …  →  ✓ Despite the subsidies, …  (despite)</a:t>
            </a:r>
          </a:p>
          <a:p>
            <a:r>
              <a:t>✗ The electric cars is expensive.  →  ✓ Electric cars are expensive.  (复数)</a:t>
            </a:r>
          </a:p>
          <a:p>
            <a:r>
              <a:t>Mistake Watch: Check although … but (don’t use both), likely to, and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Although prices fell, but sales stayed flat.  →  ✓ Although prices fell, sales stayed flat.  (although 与 but 不连用)</a:t>
            </a:r>
          </a:p>
          <a:p>
            <a:r>
              <a:t>✗ The range is long for 400 km.  →  ✓ The range is 400 km.  (表达)</a:t>
            </a:r>
          </a:p>
          <a:p>
            <a:r>
              <a:t>✗ It’s likely will grow.  →  ✓ It’s likely to grow.  (likely to)</a:t>
            </a:r>
          </a:p>
          <a:p>
            <a:r>
              <a:t>Mistake Watch: Check although … but (don’t use both), likely to, and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Brands and politics: EV discussions can become political. Stick to data and be respectful.</a:t>
            </a:r>
          </a:p>
          <a:p>
            <a:r>
              <a:t>Predictions: Hedge forecasts; markets change fast.</a:t>
            </a:r>
          </a:p>
          <a:p>
            <a:r>
              <a:t>Units: Use miles in UK/US, kilometres elsewhere; state which you use.</a:t>
            </a:r>
          </a:p>
          <a:p>
            <a:r>
              <a:t>although 与 but 不能连用;likely to + 动词;electric cars are(复数)。预测要用 may / might / likely to 等。</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changes in a market with causes.</a:t>
            </a:r>
          </a:p>
          <a:p>
            <a:r>
              <a:t>I can suggest strategic responses with hedging.</a:t>
            </a:r>
          </a:p>
          <a:p>
            <a:r>
              <a:t>I can use contrast linkers (although, while, yet).</a:t>
            </a:r>
          </a:p>
          <a:p>
            <a:r>
              <a:t>I can use likely to and subject-verb agreement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contrast linkers (although … but error), likely to, and hedged forecasts.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“早期采用者” in English? → early adopter</a:t>
            </a:r>
          </a:p>
          <a:p>
            <a:r>
              <a:t>“粮食与燃料之争” in English? → food versus fuel</a:t>
            </a:r>
          </a:p>
          <a:p>
            <a:r>
              <a:t>“吃老本” in English? → rest on its laurels</a:t>
            </a:r>
          </a:p>
          <a:p>
            <a:r>
              <a:t>Fix it: It fall from $2,000 to $1,800. → It fell from $2,000 to $1,800.</a:t>
            </a:r>
          </a:p>
          <a:p>
            <a:r>
              <a:t>Fix it: It runs with ethanol. → It runs on ethanol.</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7.xml"/><Relationship Id="rId5" Type="http://schemas.openxmlformats.org/officeDocument/2006/relationships/slide" Target="slide49.xml"/><Relationship Id="rId6" Type="http://schemas.openxmlformats.org/officeDocument/2006/relationships/slide" Target="slide72.xml"/><Relationship Id="rId7" Type="http://schemas.openxmlformats.org/officeDocument/2006/relationships/slide" Target="slide95.xml"/><Relationship Id="rId8" Type="http://schemas.openxmlformats.org/officeDocument/2006/relationships/slide" Target="slide117.xml"/><Relationship Id="rId9" Type="http://schemas.openxmlformats.org/officeDocument/2006/relationships/slide" Target="slide140.xml"/><Relationship Id="rId10" Type="http://schemas.openxmlformats.org/officeDocument/2006/relationships/slide" Target="slide163.xml"/><Relationship Id="rId11" Type="http://schemas.openxmlformats.org/officeDocument/2006/relationships/slide" Target="slide18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 Id="rId4" Type="http://schemas.openxmlformats.org/officeDocument/2006/relationships/slide" Target="slide210.xml"/><Relationship Id="rId5" Type="http://schemas.openxmlformats.org/officeDocument/2006/relationships/slide" Target="slide211.xml"/><Relationship Id="rId6" Type="http://schemas.openxmlformats.org/officeDocument/2006/relationships/slide" Target="slide212.xml"/><Relationship Id="rId7" Type="http://schemas.openxmlformats.org/officeDocument/2006/relationships/slide" Target="slide213.xml"/><Relationship Id="rId8" Type="http://schemas.openxmlformats.org/officeDocument/2006/relationships/slide" Target="slide214.xml"/><Relationship Id="rId9" Type="http://schemas.openxmlformats.org/officeDocument/2006/relationships/slide" Target="slide215.xml"/><Relationship Id="rId10" Type="http://schemas.openxmlformats.org/officeDocument/2006/relationships/slide" Target="slide216.xml"/><Relationship Id="rId11" Type="http://schemas.openxmlformats.org/officeDocument/2006/relationships/slide" Target="slide217.xml"/><Relationship Id="rId12" Type="http://schemas.openxmlformats.org/officeDocument/2006/relationships/slide" Target="slide21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9.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8</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Business Trends and Sustainability</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9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L70 Uncertain Times in Business · L71 Can the Economy Keep Growing? · L72 The Next Emerging Market · L73 Precious Metals and Market Volatility · L74 The Rise and Fall of Skype · L75 China’s Green Transition · L76 The Growth of Biofuels · L77 The Wind Turbine Revolution  +1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70</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Uncertain Times in Business</a:t>
            </a:r>
          </a:p>
          <a:p>
            <a:pPr algn="l">
              <a:lnSpc>
                <a:spcPct val="100000"/>
              </a:lnSpc>
              <a:spcAft>
                <a:spcPts val="800"/>
              </a:spcAft>
            </a:pPr>
            <a:r>
              <a:rPr sz="1400" b="0">
                <a:solidFill>
                  <a:srgbClr val="5F677A"/>
                </a:solidFill>
                <a:latin typeface="Arial"/>
                <a:ea typeface="Microsoft YaHei"/>
              </a:rPr>
              <a:t>商业不确定时期</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71</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Can the Economy Keep Growing?</a:t>
            </a:r>
          </a:p>
          <a:p>
            <a:pPr algn="l">
              <a:lnSpc>
                <a:spcPct val="100000"/>
              </a:lnSpc>
              <a:spcAft>
                <a:spcPts val="800"/>
              </a:spcAft>
            </a:pPr>
            <a:r>
              <a:rPr sz="1400" b="0">
                <a:solidFill>
                  <a:srgbClr val="5F677A"/>
                </a:solidFill>
                <a:latin typeface="Arial"/>
                <a:ea typeface="Microsoft YaHei"/>
              </a:rPr>
              <a:t>经济能否持续增长?</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72</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Next Emerging Market</a:t>
            </a:r>
          </a:p>
          <a:p>
            <a:pPr algn="l">
              <a:lnSpc>
                <a:spcPct val="100000"/>
              </a:lnSpc>
              <a:spcAft>
                <a:spcPts val="800"/>
              </a:spcAft>
            </a:pPr>
            <a:r>
              <a:rPr sz="1400" b="0">
                <a:solidFill>
                  <a:srgbClr val="5F677A"/>
                </a:solidFill>
                <a:latin typeface="Arial"/>
                <a:ea typeface="Microsoft YaHei"/>
              </a:rPr>
              <a:t>下一个新兴市场</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73</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Precious Metals and Market Volatility</a:t>
            </a:r>
          </a:p>
          <a:p>
            <a:pPr algn="l">
              <a:lnSpc>
                <a:spcPct val="100000"/>
              </a:lnSpc>
              <a:spcAft>
                <a:spcPts val="800"/>
              </a:spcAft>
            </a:pPr>
            <a:r>
              <a:rPr sz="1400" b="0">
                <a:solidFill>
                  <a:srgbClr val="5F677A"/>
                </a:solidFill>
                <a:latin typeface="Arial"/>
                <a:ea typeface="Microsoft YaHei"/>
              </a:rPr>
              <a:t>贵金属与市场波动</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74</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Rise and Fall of Skype</a:t>
            </a:r>
          </a:p>
          <a:p>
            <a:pPr algn="l">
              <a:lnSpc>
                <a:spcPct val="100000"/>
              </a:lnSpc>
              <a:spcAft>
                <a:spcPts val="800"/>
              </a:spcAft>
            </a:pPr>
            <a:r>
              <a:rPr sz="1400" b="0">
                <a:solidFill>
                  <a:srgbClr val="5F677A"/>
                </a:solidFill>
                <a:latin typeface="Arial"/>
                <a:ea typeface="Microsoft YaHei"/>
              </a:rPr>
              <a:t>Skype 的兴衰</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75</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China’s Green Transition</a:t>
            </a:r>
          </a:p>
          <a:p>
            <a:pPr algn="l">
              <a:lnSpc>
                <a:spcPct val="100000"/>
              </a:lnSpc>
              <a:spcAft>
                <a:spcPts val="800"/>
              </a:spcAft>
            </a:pPr>
            <a:r>
              <a:rPr sz="1400" b="0">
                <a:solidFill>
                  <a:srgbClr val="5F677A"/>
                </a:solidFill>
                <a:latin typeface="Arial"/>
                <a:ea typeface="Microsoft YaHei"/>
              </a:rPr>
              <a:t>中国的绿色转型</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76</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Growth of Biofuels</a:t>
            </a:r>
          </a:p>
          <a:p>
            <a:pPr algn="l">
              <a:lnSpc>
                <a:spcPct val="100000"/>
              </a:lnSpc>
              <a:spcAft>
                <a:spcPts val="800"/>
              </a:spcAft>
            </a:pPr>
            <a:r>
              <a:rPr sz="1400" b="0">
                <a:solidFill>
                  <a:srgbClr val="5F677A"/>
                </a:solidFill>
                <a:latin typeface="Arial"/>
                <a:ea typeface="Microsoft YaHei"/>
              </a:rPr>
              <a:t>生物燃料增长</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77</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Wind Turbine Revolution</a:t>
            </a:r>
          </a:p>
          <a:p>
            <a:pPr algn="l">
              <a:lnSpc>
                <a:spcPct val="100000"/>
              </a:lnSpc>
              <a:spcAft>
                <a:spcPts val="800"/>
              </a:spcAft>
            </a:pPr>
            <a:r>
              <a:rPr sz="1400" b="0">
                <a:solidFill>
                  <a:srgbClr val="5F677A"/>
                </a:solidFill>
                <a:latin typeface="Arial"/>
                <a:ea typeface="Microsoft YaHei"/>
              </a:rPr>
              <a:t>风能革命</a:t>
            </a:r>
          </a:p>
        </p:txBody>
      </p:sp>
      <p:sp>
        <p:nvSpPr>
          <p:cNvPr id="31" name="Rounded Rectangle 30">
            <a:hlinkClick action="ppaction://hlinksldjump" r:id="rId11"/>
          </p:cNvPr>
          <p:cNvSpPr/>
          <p:nvPr/>
        </p:nvSpPr>
        <p:spPr>
          <a:xfrm>
            <a:off x="8066836" y="438912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76564" y="468630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78</a:t>
            </a:r>
          </a:p>
        </p:txBody>
      </p:sp>
      <p:sp>
        <p:nvSpPr>
          <p:cNvPr id="33" name="TextBox 32"/>
          <p:cNvSpPr txBox="1"/>
          <p:nvPr/>
        </p:nvSpPr>
        <p:spPr>
          <a:xfrm>
            <a:off x="9164116"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Shifts in the Electric Vehicle Market</a:t>
            </a:r>
          </a:p>
          <a:p>
            <a:pPr algn="l">
              <a:lnSpc>
                <a:spcPct val="100000"/>
              </a:lnSpc>
              <a:spcAft>
                <a:spcPts val="800"/>
              </a:spcAft>
            </a:pPr>
            <a:r>
              <a:rPr sz="1400" b="0">
                <a:solidFill>
                  <a:srgbClr val="5F677A"/>
                </a:solidFill>
                <a:latin typeface="Arial"/>
                <a:ea typeface="Microsoft YaHei"/>
              </a:rPr>
              <a:t>电动汽车市场的变化</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70 Uncertain Times in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Uncertain Times in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商业不确定时期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business in uncertain times: risk, planning for scenarios, flexibility, communicating with staff and making decisions without full information.</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feel about uncertainty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make business conditions uncertain?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a company plan when the future is unclear?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leaders keep staff calm and motivated in uncertain times?</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made an important decision without enough information?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uncertainty = 不确定性。volatile = 动荡的。scenario planning = 情景规划。第 5 题用过去时描述经历。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a company can prepare for uncertainty.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risks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scenarios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flexibility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communication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 can’t predict…, but we can prepare by…   💬 One option is to…   💬 It’s important to stay flexible.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We can’t predict…, but… 承认不确定后给出行动。one option is to + 动词。stay flexible 保持灵活。</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Planning in the Fog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Few leaders can see more than a year ahead with confidence. Prices change, regulations shift, technology moves fast and global events can interrupt supply chains with little warning. Yet decisions still have to be made. Experienced managers do not try to predict a single future. Instead, they think in scenarios: what happens if demand rises, stays flat or falls sharply? For each scenario they identify early warning signs and plan responses. They keep cash in reserve, avoid depending on one supplier or one customer and build flexibility into contracts. Communication matters as much as planning. Staff cope better when leaders are honest about what they know and do not know, give regular updates and explain how decisions are made. Uncertainty cannot be removed, but it can be managed.</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experienced managers plan?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thinking in scenarios rather than predicting a single future.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practical steps reduce risk?</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Keep cash in reserve, avoid depending on one supplier or customer, and build flexibility into contracts.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does communication matter?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Staff cope better when leaders are honest and give regular updates.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Risk and uncertainty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风险与不确定性</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uncertainty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不确定性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“Uncertainty affects investment.”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volatile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动荡的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market is volatile.”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risk management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风险管理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“Risk management is a priority.”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scenario</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情景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prepared three scenarios.”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contingency plan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应急计划</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contingency plan.”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supply chain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供应链</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supply chain was disrupted.”</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Coping with change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应对变化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brace for</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做好迎接……的准备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bracing for a slowdown.”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hedge your bets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分散风险</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hedged their bets by using two suppliers.”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weather the storm</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渡过难关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aim to weather the storm.”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play it safe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求稳</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decided to play it safe.”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options open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保留选择余地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keep our options open.”</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wait-and-see approach</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观望态度</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taking a wait-and-see approach.”</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情景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scenario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分散风险</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hedge your bets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观望态度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wait-and-see approach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不确定性</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uncertainty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风险管理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risk management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做好迎接……的准备</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brace for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动荡的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渡过难关</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weather the storm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uncertainty</a:t>
            </a:r>
          </a:p>
        </p:txBody>
      </p:sp>
      <p:sp>
        <p:nvSpPr>
          <p:cNvPr id="10" name="Rounded Rectangle 9"/>
          <p:cNvSpPr/>
          <p:nvPr/>
        </p:nvSpPr>
        <p:spPr>
          <a:xfrm>
            <a:off x="3675887"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volatile</a:t>
            </a:r>
          </a:p>
        </p:txBody>
      </p:sp>
      <p:sp>
        <p:nvSpPr>
          <p:cNvPr id="11" name="Rounded Rectangle 10"/>
          <p:cNvSpPr/>
          <p:nvPr/>
        </p:nvSpPr>
        <p:spPr>
          <a:xfrm>
            <a:off x="5010911"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scenario</a:t>
            </a:r>
          </a:p>
        </p:txBody>
      </p:sp>
      <p:sp>
        <p:nvSpPr>
          <p:cNvPr id="12" name="Rounded Rectangle 11"/>
          <p:cNvSpPr/>
          <p:nvPr/>
        </p:nvSpPr>
        <p:spPr>
          <a:xfrm>
            <a:off x="6345935" y="987552"/>
            <a:ext cx="212140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contingency plan</a:t>
            </a:r>
          </a:p>
        </p:txBody>
      </p:sp>
      <p:sp>
        <p:nvSpPr>
          <p:cNvPr id="13" name="Rounded Rectangle 12"/>
          <p:cNvSpPr/>
          <p:nvPr/>
        </p:nvSpPr>
        <p:spPr>
          <a:xfrm>
            <a:off x="8558783"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hedge</a:t>
            </a:r>
          </a:p>
        </p:txBody>
      </p:sp>
      <p:sp>
        <p:nvSpPr>
          <p:cNvPr id="14" name="Rounded Rectangle 13"/>
          <p:cNvSpPr/>
          <p:nvPr/>
        </p:nvSpPr>
        <p:spPr>
          <a:xfrm>
            <a:off x="9564623"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wait-and-see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Political _______ makes investors cautious.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uncertainty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Oil prices are _______ at the moment.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In the best-case _______, sales grow by 10%.</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scenario</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have a _______ in case the supplier fails.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 plan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To _______ our bets, we’re using two suppliers.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hedge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Many firms are taking a _______ approach.</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wait-and-see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uncertain/uncertainty (not “uncertainity”), volatile, scenario (plural scenarios). Plan for (not “plan about”), depend on (not “depend of”), cope with (not “cope up with”). Risk (noun/verb): “take a risk”, “run the risk of -ing”. Predict vs forecast.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Discussing planning for uncertainty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讨论如何应对不确定性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finance director and a manager discuss how to plan next year’s budget in an uncertain market.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Wen Gu, finance director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Paul Lee, operations manager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planning for uncertainty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Paul, next year’s budget is difficult. Nobody can say how demand will behave.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Paul</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Should we just play it safe and cut costs?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rather prepare scenarios. A base case, an upside and a downside.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trigger the downside?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drop in orders of more than 15% over two months. That would be our early warning sign.</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planning for uncertainty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would we do then?</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Freeze hiring, delay non-essential spending and use our credit line.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the upside?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approve extra stock and recruit on temporary contracts, to keep our options open.</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that. It avoids big commitments.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planning for uncertainty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We can’t predict the future, but we can be ready for different outcomes.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communication? Staff are worried.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brief them monthly on what we know and what we don’t.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Discussing planning for uncertainty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for uncertainty.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director. Risk: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Prefers a cautious option.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scenario · early warning · contingency · keep options open · downside · brief staff</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Propose three scenarios and the response to each.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Paul says: “Planning is pointless when everything changes.”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one decision you made under uncertainty.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Draft a short message to staff about uncertain times.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companies plan when the future is unclear?</a:t>
            </a:r>
          </a:p>
          <a:p>
            <a:pPr algn="l">
              <a:lnSpc>
                <a:spcPct val="115000"/>
              </a:lnSpc>
              <a:spcAft>
                <a:spcPts val="800"/>
              </a:spcAft>
            </a:pPr>
            <a:r>
              <a:rPr sz="1400" b="0">
                <a:solidFill>
                  <a:srgbClr val="5F677A"/>
                </a:solidFill>
                <a:latin typeface="Arial"/>
                <a:ea typeface="Microsoft YaHei"/>
              </a:rPr>
              <a:t>💬 “They can use scenarios… / It helps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risks keep business leaders awake at night?</a:t>
            </a:r>
          </a:p>
          <a:p>
            <a:pPr algn="l">
              <a:lnSpc>
                <a:spcPct val="115000"/>
              </a:lnSpc>
              <a:spcAft>
                <a:spcPts val="800"/>
              </a:spcAft>
            </a:pPr>
            <a:r>
              <a:rPr sz="1400" b="0">
                <a:solidFill>
                  <a:srgbClr val="5F677A"/>
                </a:solidFill>
                <a:latin typeface="Arial"/>
                <a:ea typeface="Microsoft YaHei"/>
              </a:rPr>
              <a:t>💬 “Probably… / Many worry about…”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act quickly or wait?</a:t>
            </a:r>
          </a:p>
          <a:p>
            <a:pPr algn="l">
              <a:lnSpc>
                <a:spcPct val="115000"/>
              </a:lnSpc>
              <a:spcAft>
                <a:spcPts val="800"/>
              </a:spcAft>
            </a:pPr>
            <a:r>
              <a:rPr sz="1400" b="0">
                <a:solidFill>
                  <a:srgbClr val="5F677A"/>
                </a:solidFill>
                <a:latin typeface="Arial"/>
                <a:ea typeface="Microsoft YaHei"/>
              </a:rPr>
              <a:t>💬 “It depends on… / Acting early can…”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leaders communicate honestly without causing panic?</a:t>
            </a:r>
          </a:p>
          <a:p>
            <a:pPr algn="l">
              <a:lnSpc>
                <a:spcPct val="115000"/>
              </a:lnSpc>
              <a:spcAft>
                <a:spcPts val="800"/>
              </a:spcAft>
            </a:pPr>
            <a:r>
              <a:rPr sz="1400" b="0">
                <a:solidFill>
                  <a:srgbClr val="5F677A"/>
                </a:solidFill>
                <a:latin typeface="Arial"/>
                <a:ea typeface="Microsoft YaHei"/>
              </a:rPr>
              <a:t>💬 “By being clear about… / Offering regular updates…”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Leaders can communicate honestly without causing panic by being clear about what they know, what they don’t know and when they’ll update people next. They should avoid false reassurance, but also avoid dramatic language. It helps to explain the plan: “If this happens, we will do that.” People tend to feel calmer when they see that someone is in control, even when the situation is uncertain.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false reassurance = 虚假安慰。dramatic = 夸张的。”in control” = 掌控局面。tend to = 倾向于。</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don’t know the future.</a:t>
                      </a:r>
                    </a:p>
                  </a:txBody>
                  <a:tcPr anchor="ctr">
                    <a:solidFill>
                      <a:srgbClr val="FFFFFF"/>
                    </a:solidFill>
                  </a:tcPr>
                </a:tc>
                <a:tc>
                  <a:txBody>
                    <a:bodyPr wrap="square"/>
                    <a:lstStyle/>
                    <a:p>
                      <a:r>
                        <a:rPr sz="1600" b="0">
                          <a:solidFill>
                            <a:srgbClr val="1F2A44"/>
                          </a:solidFill>
                          <a:latin typeface="Arial"/>
                          <a:ea typeface="Microsoft YaHei"/>
                        </a:rPr>
                        <a:t>It’s hard to predict how things will develop.</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652272">
                <a:tc>
                  <a:txBody>
                    <a:bodyPr wrap="square"/>
                    <a:lstStyle/>
                    <a:p>
                      <a:r>
                        <a:rPr sz="1600" b="1">
                          <a:solidFill>
                            <a:srgbClr val="1F2A44"/>
                          </a:solidFill>
                          <a:latin typeface="Arial"/>
                          <a:ea typeface="Microsoft YaHei"/>
                        </a:rPr>
                        <a:t>We wait.</a:t>
                      </a:r>
                    </a:p>
                  </a:txBody>
                  <a:tcPr anchor="ctr">
                    <a:solidFill>
                      <a:srgbClr val="FFEFD9"/>
                    </a:solidFill>
                  </a:tcPr>
                </a:tc>
                <a:tc>
                  <a:txBody>
                    <a:bodyPr wrap="square"/>
                    <a:lstStyle/>
                    <a:p>
                      <a:r>
                        <a:rPr sz="1600" b="0">
                          <a:solidFill>
                            <a:srgbClr val="1F2A44"/>
                          </a:solidFill>
                          <a:latin typeface="Arial"/>
                          <a:ea typeface="Microsoft YaHei"/>
                        </a:rPr>
                        <a:t>We’re taking a wait-and-see approach.</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652272">
                <a:tc>
                  <a:txBody>
                    <a:bodyPr wrap="square"/>
                    <a:lstStyle/>
                    <a:p>
                      <a:r>
                        <a:rPr sz="1600" b="1">
                          <a:solidFill>
                            <a:srgbClr val="1F2A44"/>
                          </a:solidFill>
                          <a:latin typeface="Arial"/>
                          <a:ea typeface="Microsoft YaHei"/>
                        </a:rPr>
                        <a:t>It’s dangerous.</a:t>
                      </a:r>
                    </a:p>
                  </a:txBody>
                  <a:tcPr anchor="ctr">
                    <a:solidFill>
                      <a:srgbClr val="FFFFFF"/>
                    </a:solidFill>
                  </a:tcPr>
                </a:tc>
                <a:tc>
                  <a:txBody>
                    <a:bodyPr wrap="square"/>
                    <a:lstStyle/>
                    <a:p>
                      <a:r>
                        <a:rPr sz="1600" b="0">
                          <a:solidFill>
                            <a:srgbClr val="1F2A44"/>
                          </a:solidFill>
                          <a:latin typeface="Arial"/>
                          <a:ea typeface="Microsoft YaHei"/>
                        </a:rPr>
                        <a:t>There are significant risks involved.</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652272">
                <a:tc>
                  <a:txBody>
                    <a:bodyPr wrap="square"/>
                    <a:lstStyle/>
                    <a:p>
                      <a:r>
                        <a:rPr sz="1600" b="1">
                          <a:solidFill>
                            <a:srgbClr val="1F2A44"/>
                          </a:solidFill>
                          <a:latin typeface="Arial"/>
                          <a:ea typeface="Microsoft YaHei"/>
                        </a:rPr>
                        <a:t>We have a plan B.</a:t>
                      </a:r>
                    </a:p>
                  </a:txBody>
                  <a:tcPr anchor="ctr">
                    <a:solidFill>
                      <a:srgbClr val="FFEFD9"/>
                    </a:solidFill>
                  </a:tcPr>
                </a:tc>
                <a:tc>
                  <a:txBody>
                    <a:bodyPr wrap="square"/>
                    <a:lstStyle/>
                    <a:p>
                      <a:r>
                        <a:rPr sz="1600" b="0">
                          <a:solidFill>
                            <a:srgbClr val="1F2A44"/>
                          </a:solidFill>
                          <a:latin typeface="Arial"/>
                          <a:ea typeface="Microsoft YaHei"/>
                        </a:rPr>
                        <a:t>We have a contingency plan in place.</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Don’t worry.</a:t>
                      </a:r>
                    </a:p>
                  </a:txBody>
                  <a:tcPr anchor="ctr">
                    <a:solidFill>
                      <a:srgbClr val="FFFFFF"/>
                    </a:solidFill>
                  </a:tcPr>
                </a:tc>
                <a:tc>
                  <a:txBody>
                    <a:bodyPr wrap="square"/>
                    <a:lstStyle/>
                    <a:p>
                      <a:r>
                        <a:rPr sz="1600" b="0">
                          <a:solidFill>
                            <a:srgbClr val="1F2A44"/>
                          </a:solidFill>
                          <a:latin typeface="Arial"/>
                          <a:ea typeface="Microsoft YaHei"/>
                        </a:rPr>
                        <a:t>We’re monitoring the situation closely.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Hedging the future: </a:t>
            </a:r>
            <a:r>
              <a:rPr sz="1700" b="0">
                <a:solidFill>
                  <a:srgbClr val="1F2A44"/>
                </a:solidFill>
                <a:latin typeface="Arial"/>
                <a:ea typeface="Microsoft YaHei"/>
              </a:rPr>
              <a:t>could, may, might, is likely to, there’s a chance that…</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Conditionals: </a:t>
            </a:r>
            <a:r>
              <a:rPr sz="1700" b="0">
                <a:solidFill>
                  <a:srgbClr val="1F2A44"/>
                </a:solidFill>
                <a:latin typeface="Arial"/>
                <a:ea typeface="Microsoft YaHei"/>
              </a:rPr>
              <a:t>If demand falls, we will cut spending. (first) / If demand fell, we would cut spending. (second, less likely)</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Contrasting certainty: </a:t>
            </a:r>
            <a:r>
              <a:rPr sz="1700" b="0">
                <a:solidFill>
                  <a:srgbClr val="1F2A44"/>
                </a:solidFill>
                <a:latin typeface="Arial"/>
                <a:ea typeface="Microsoft YaHei"/>
              </a:rPr>
              <a:t>what we know / what we don’t know / what we can control.</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Linkers of addition: </a:t>
            </a:r>
            <a:r>
              <a:rPr sz="1700" b="0">
                <a:solidFill>
                  <a:srgbClr val="1F2A44"/>
                </a:solidFill>
                <a:latin typeface="Arial"/>
                <a:ea typeface="Microsoft YaHei"/>
              </a:rPr>
              <a:t>in addition, moreover, what’s more.</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Nobody can predicts the future.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Nobody can predict the future.</a:t>
            </a:r>
          </a:p>
          <a:p>
            <a:pPr algn="l">
              <a:spcAft>
                <a:spcPts val="200"/>
              </a:spcAft>
            </a:pPr>
            <a:r>
              <a:rPr sz="1200" b="0">
                <a:solidFill>
                  <a:srgbClr val="FFFFFF"/>
                </a:solidFill>
                <a:latin typeface="Arial"/>
                <a:ea typeface="Microsoft YaHei"/>
              </a:rPr>
              <a:t>can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depend of one supplier.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depend on one supplier.</a:t>
            </a:r>
          </a:p>
          <a:p>
            <a:pPr algn="l">
              <a:spcAft>
                <a:spcPts val="200"/>
              </a:spcAft>
            </a:pPr>
            <a:r>
              <a:rPr sz="1200" b="0">
                <a:solidFill>
                  <a:srgbClr val="FFFFFF"/>
                </a:solidFill>
                <a:latin typeface="Arial"/>
                <a:ea typeface="Microsoft YaHei"/>
              </a:rPr>
              <a:t>depend 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the market will fall, we cut costs.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the market falls, we will cut costs.</a:t>
            </a:r>
          </a:p>
          <a:p>
            <a:pPr algn="l">
              <a:spcAft>
                <a:spcPts val="200"/>
              </a:spcAft>
            </a:pPr>
            <a:r>
              <a:rPr sz="1200" b="0">
                <a:solidFill>
                  <a:srgbClr val="FFFFFF"/>
                </a:solidFill>
                <a:latin typeface="Arial"/>
                <a:ea typeface="Microsoft YaHei"/>
              </a:rPr>
              <a:t>条件句时态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risk situation.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 risky situation.</a:t>
            </a:r>
          </a:p>
          <a:p>
            <a:pPr algn="l">
              <a:spcAft>
                <a:spcPts val="200"/>
              </a:spcAft>
            </a:pPr>
            <a:r>
              <a:rPr sz="1200" b="0">
                <a:solidFill>
                  <a:srgbClr val="FFFFFF"/>
                </a:solidFill>
                <a:latin typeface="Arial"/>
                <a:ea typeface="Microsoft YaHei"/>
              </a:rPr>
              <a:t>risky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to coping with change.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to cope with change.</a:t>
            </a:r>
          </a:p>
          <a:p>
            <a:pPr algn="l">
              <a:spcAft>
                <a:spcPts val="200"/>
              </a:spcAft>
            </a:pPr>
            <a:r>
              <a:rPr sz="1200" b="0">
                <a:solidFill>
                  <a:srgbClr val="FFFFFF"/>
                </a:solidFill>
                <a:latin typeface="Arial"/>
                <a:ea typeface="Microsoft YaHei"/>
              </a:rPr>
              <a:t>have to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Uncertainty are high.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Uncertainty is high.</a:t>
            </a:r>
          </a:p>
          <a:p>
            <a:pPr algn="l">
              <a:spcAft>
                <a:spcPts val="200"/>
              </a:spcAft>
            </a:pPr>
            <a:r>
              <a:rPr sz="1200" b="0">
                <a:solidFill>
                  <a:srgbClr val="FFFFFF"/>
                </a:solidFill>
                <a:latin typeface="Arial"/>
                <a:ea typeface="Microsoft YaHei"/>
              </a:rPr>
              <a:t>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conditional tenses, depend on, and adjective forms (risky).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Optimism and realism: </a:t>
            </a:r>
            <a:r>
              <a:rPr sz="1700" b="0">
                <a:solidFill>
                  <a:srgbClr val="1F2A44"/>
                </a:solidFill>
                <a:latin typeface="Arial"/>
                <a:ea typeface="Microsoft YaHei"/>
              </a:rPr>
              <a:t>Western business communication often combines honest assessment with a positive plan. Avoid sounding fatalistic.</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Transparency: </a:t>
            </a:r>
            <a:r>
              <a:rPr sz="1700" b="0">
                <a:solidFill>
                  <a:srgbClr val="1F2A44"/>
                </a:solidFill>
                <a:latin typeface="Arial"/>
                <a:ea typeface="Microsoft YaHei"/>
              </a:rPr>
              <a:t>Employees expect leaders to be honest about difficult situations.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Forecast language: </a:t>
            </a:r>
            <a:r>
              <a:rPr sz="1700" b="0">
                <a:solidFill>
                  <a:srgbClr val="1F2A44"/>
                </a:solidFill>
                <a:latin typeface="Arial"/>
                <a:ea typeface="Microsoft YaHei"/>
              </a:rPr>
              <a:t>Phrases like “We expect…” and “It is likely that…” are standard in reports.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条件句里不用 will;depend on;cope with。谈未来用 might / may / is likely to 来保持谨慎。</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risks and uncertainty in business.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scenarios and responses.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first and second conditionals appropriately.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depend on and cope with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70 Uncertain Times in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conditionals, depend on / cope with, and hedged future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71 Can the Economy Keep Growing?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Can the Economy Keep Growing?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经济能否持续增长?</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economic growth: what drives it, limits to growth, sustainability debates and evaluating arguments for and against.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“economic growth” mean? Is it always good?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factors help an economy to grow?</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there limits to growth? What kinds?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a bigger economy the same as a better life?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alternatives to GDP are used to measure progress?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GDP = 国内生产总值。growth 与 development 不同:growth 偏数量,development 偏质量。第 5 题可答 well-being indicators。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arguments for and against continuous economic growth.</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introduce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arguments for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arguments against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conclusion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Supporters of growth argue that…   💬 Critics, however, point out that…   💬 On balance, I’d say…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Supporters argue that… 引出一方观点。point out = 指出。On balance 给出结论。</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Growth: How Much Is Enough?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Economic growth means that an economy produces more goods and services over time. Supporters argue that it creates jobs, raises living standards and provides the money for schools and hospitals. Many governments therefore treat growth as a key goal. Critics, however, point out that growth often depends on using more energy and raw materials, which can damage the environment. They also note that growth does not always benefit everyone equally, and that national output is a poor measure of happiness. Some economists suggest focusing instead on well-being, equality and environmental health, while others believe that technology can allow economies to grow while using fewer resources. The debate is unresolved, and the evidence is mixed. What is clear is that quality of growth matters as much as quantity.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supporters of growth say?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creates jobs, raises living standards and funds public services.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critics point 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Growth often uses more energy and resources, may not benefit everyone and is a poor measure of happiness.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conclusion does the text suggest?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debate is unresolved; quality of growth matters as much as quantity.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1: Economic growth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经济增长词汇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economic growth</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经济增长</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“Economic growth slowed.”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GDP</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国内生产总值</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“GDP rose by 2%.”</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living standards</a:t>
            </a:r>
          </a:p>
          <a:p>
            <a:pPr algn="l">
              <a:lnSpc>
                <a:spcPct val="115000"/>
              </a:lnSpc>
              <a:spcAft>
                <a:spcPts val="800"/>
              </a:spcAft>
            </a:pPr>
            <a:r>
              <a:rPr sz="1300" b="0">
                <a:solidFill>
                  <a:srgbClr val="5F677A"/>
                </a:solidFill>
                <a:latin typeface="Arial"/>
                <a:ea typeface="Microsoft YaHei"/>
              </a:rPr>
              <a:t>noun (plural)</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生活水平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“Living standards have improved.”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productivity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生产率</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“Productivity growth is weak.”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inflation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通货膨胀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“Inflation is falling.”</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sustainable</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可持续的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sustainable growth.”</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Growth debates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增长之争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boost the economy</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刺激经济</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“Lower taxes may boost the economy.”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a strain on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造成压力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“Growth puts a strain on resources.”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decouple from</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“Growth could decouple from emissions.”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trade-off</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trade-off between growth and the environment.”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the long run</a:t>
            </a:r>
          </a:p>
          <a:p>
            <a:pPr algn="l">
              <a:lnSpc>
                <a:spcPct val="115000"/>
              </a:lnSpc>
              <a:spcAft>
                <a:spcPts val="800"/>
              </a:spcAft>
            </a:pPr>
            <a:r>
              <a:rPr sz="1300" b="0">
                <a:solidFill>
                  <a:srgbClr val="5F677A"/>
                </a:solidFill>
                <a:latin typeface="Arial"/>
                <a:ea typeface="Microsoft YaHei"/>
              </a:rPr>
              <a:t>adverbial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长远来看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long run, it’s unsustainable.”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mixed picture</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好坏参半</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data presents a mixed picture.”</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刺激经济</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boost the economy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长远来看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the long run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取舍</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造成压力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a strain 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经济增长</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economic growth</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好坏参半</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mixed picture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脱钩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decouple from</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通货膨胀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inflation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2011679"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Economic growth</a:t>
            </a:r>
          </a:p>
        </p:txBody>
      </p:sp>
      <p:sp>
        <p:nvSpPr>
          <p:cNvPr id="10" name="Rounded Rectangle 9"/>
          <p:cNvSpPr/>
          <p:nvPr/>
        </p:nvSpPr>
        <p:spPr>
          <a:xfrm>
            <a:off x="4114799"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GDP</a:t>
            </a:r>
          </a:p>
        </p:txBody>
      </p:sp>
      <p:sp>
        <p:nvSpPr>
          <p:cNvPr id="11" name="Rounded Rectangle 10"/>
          <p:cNvSpPr/>
          <p:nvPr/>
        </p:nvSpPr>
        <p:spPr>
          <a:xfrm>
            <a:off x="4901183" y="987552"/>
            <a:ext cx="212140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living standards</a:t>
            </a:r>
          </a:p>
        </p:txBody>
      </p:sp>
      <p:sp>
        <p:nvSpPr>
          <p:cNvPr id="12" name="Rounded Rectangle 11"/>
          <p:cNvSpPr/>
          <p:nvPr/>
        </p:nvSpPr>
        <p:spPr>
          <a:xfrm>
            <a:off x="7114031"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productivity</a:t>
            </a:r>
          </a:p>
        </p:txBody>
      </p:sp>
      <p:sp>
        <p:nvSpPr>
          <p:cNvPr id="13" name="Rounded Rectangle 12"/>
          <p:cNvSpPr/>
          <p:nvPr/>
        </p:nvSpPr>
        <p:spPr>
          <a:xfrm>
            <a:off x="8887966"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sustainable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_______ slowed to 1.5% last year.</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Economic growth</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_______ measures the total value of goods and services.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GDP</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Higher incomes can improve _______.</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living standards</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Better machines and training can raise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productivity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Many people want _______ development rather than quick profits.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sustainable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There is a _______ between rapid growth and environmental protection.</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economy (not “economic” as noun) / economic (adj) / economical (cheap to use) / economics (subject). Growth (uncountable), grow (verb). GDP growth of 2% / growth in GDP. Rise by 2% (amount), rise to 5% (level). Per cent. Inflation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Debating economic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讨论经济增长</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seminar, two colleagues exchange views on whether growth should be the main goal of policy.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Joan Xu, economist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Dr Frank, researcher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Debating economic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Joan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Dr Frank, do you think continuous growth is realistic?</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Dr Frank</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depends on what we mean by growth. Supporters argue that it raises living standards.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especially in developing economies. But critics point out that it often uses more resources.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Though some believe technology can allow us to grow while using less energy.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there any evidence for that?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countries have reduced emissions while their economies grew, but the picture is mixed.</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Debating economic growth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do you suggest?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Looking beyond GDP to well-being, inequality and the environment.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governments need simple indicators.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A dashboard of indicators might be a compromise.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On balance, I’d say quality of growth matters more than quantity.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agree with that.</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Debating economic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whether growth is the right goal.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Position: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Opposite or nuanced view.</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supporters argue · critics point out · evidence · it depends · on balance · mixed picture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both sides and reach a balanced conclusion.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Dr Frank says: “Growth always helps everyone.”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the economy of your country in three sentences.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one indicator besides GDP.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economic growth always desirable?</a:t>
            </a:r>
          </a:p>
          <a:p>
            <a:pPr algn="l">
              <a:lnSpc>
                <a:spcPct val="115000"/>
              </a:lnSpc>
              <a:spcAft>
                <a:spcPts val="800"/>
              </a:spcAft>
            </a:pPr>
            <a:r>
              <a:rPr sz="1400" b="0">
                <a:solidFill>
                  <a:srgbClr val="5F677A"/>
                </a:solidFill>
                <a:latin typeface="Arial"/>
                <a:ea typeface="Microsoft YaHei"/>
              </a:rPr>
              <a:t>💬 “Not necessarily. It depends on… / Growth can…”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factors drive growth?</a:t>
            </a:r>
          </a:p>
          <a:p>
            <a:pPr algn="l">
              <a:lnSpc>
                <a:spcPct val="115000"/>
              </a:lnSpc>
              <a:spcAft>
                <a:spcPts val="800"/>
              </a:spcAft>
            </a:pPr>
            <a:r>
              <a:rPr sz="1400" b="0">
                <a:solidFill>
                  <a:srgbClr val="5F677A"/>
                </a:solidFill>
                <a:latin typeface="Arial"/>
                <a:ea typeface="Microsoft YaHei"/>
              </a:rPr>
              <a:t>💬 “Key drivers include… / Education, investment…”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economies grow without damaging the environment?</a:t>
            </a:r>
          </a:p>
          <a:p>
            <a:pPr algn="l">
              <a:lnSpc>
                <a:spcPct val="115000"/>
              </a:lnSpc>
              <a:spcAft>
                <a:spcPts val="800"/>
              </a:spcAft>
            </a:pPr>
            <a:r>
              <a:rPr sz="1400" b="0">
                <a:solidFill>
                  <a:srgbClr val="5F677A"/>
                </a:solidFill>
                <a:latin typeface="Arial"/>
                <a:ea typeface="Microsoft YaHei"/>
              </a:rPr>
              <a:t>💬 “Some argue so… / Evidence is mixed.”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measure of progress would you use?</a:t>
            </a:r>
          </a:p>
          <a:p>
            <a:pPr algn="l">
              <a:lnSpc>
                <a:spcPct val="115000"/>
              </a:lnSpc>
              <a:spcAft>
                <a:spcPts val="800"/>
              </a:spcAft>
            </a:pPr>
            <a:r>
              <a:rPr sz="1400" b="0">
                <a:solidFill>
                  <a:srgbClr val="5F677A"/>
                </a:solidFill>
                <a:latin typeface="Arial"/>
                <a:ea typeface="Microsoft YaHei"/>
              </a:rPr>
              <a:t>💬 “I’d use…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Not necessarily. Growth can raise incomes and create jobs, which is valuable, especially in poorer countries. But if it relies on heavy pollution, long working hours or widening inequality, then it doesn’t improve people’s lives. So I’d say what matters is the kind of growth. Growth that is inclusive and environmentally responsible is desirable; growth at any cost is not.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widening = 扩大的。inclusive = 包容性的。”at any cost” = 不惜任何代价。”relies on” = 依赖。</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economy is big.</a:t>
                      </a:r>
                    </a:p>
                  </a:txBody>
                  <a:tcPr anchor="ctr">
                    <a:solidFill>
                      <a:srgbClr val="FFFFFF"/>
                    </a:solidFill>
                  </a:tcPr>
                </a:tc>
                <a:tc>
                  <a:txBody>
                    <a:bodyPr wrap="square"/>
                    <a:lstStyle/>
                    <a:p>
                      <a:r>
                        <a:rPr sz="1600" b="0">
                          <a:solidFill>
                            <a:srgbClr val="1F2A44"/>
                          </a:solidFill>
                          <a:latin typeface="Arial"/>
                          <a:ea typeface="Microsoft YaHei"/>
                        </a:rPr>
                        <a:t>The economy has expanded significantly.</a:t>
                      </a:r>
                    </a:p>
                  </a:txBody>
                  <a:tcPr anchor="ctr">
                    <a:solidFill>
                      <a:srgbClr val="FFFFFF"/>
                    </a:solidFill>
                  </a:tcPr>
                </a:tc>
                <a:tc>
                  <a:txBody>
                    <a:bodyPr wrap="square"/>
                    <a:lstStyle/>
                    <a:p>
                      <a:r>
                        <a:rPr sz="1600" b="0">
                          <a:solidFill>
                            <a:srgbClr val="FF6B5B"/>
                          </a:solidFill>
                          <a:latin typeface="Arial"/>
                          <a:ea typeface="Microsoft YaHei"/>
                        </a:rPr>
                        <a:t>动词</a:t>
                      </a:r>
                    </a:p>
                  </a:txBody>
                  <a:tcPr anchor="ctr">
                    <a:solidFill>
                      <a:srgbClr val="FFFFFF"/>
                    </a:solidFill>
                  </a:tcPr>
                </a:tc>
              </a:tr>
              <a:tr h="408432">
                <a:tc>
                  <a:txBody>
                    <a:bodyPr wrap="square"/>
                    <a:lstStyle/>
                    <a:p>
                      <a:r>
                        <a:rPr sz="1600" b="1">
                          <a:solidFill>
                            <a:srgbClr val="1F2A44"/>
                          </a:solidFill>
                          <a:latin typeface="Arial"/>
                          <a:ea typeface="Microsoft YaHei"/>
                        </a:rPr>
                        <a:t>People get more money.</a:t>
                      </a:r>
                    </a:p>
                  </a:txBody>
                  <a:tcPr anchor="ctr">
                    <a:solidFill>
                      <a:srgbClr val="FFEFD9"/>
                    </a:solidFill>
                  </a:tcPr>
                </a:tc>
                <a:tc>
                  <a:txBody>
                    <a:bodyPr wrap="square"/>
                    <a:lstStyle/>
                    <a:p>
                      <a:r>
                        <a:rPr sz="1600" b="0">
                          <a:solidFill>
                            <a:srgbClr val="1F2A44"/>
                          </a:solidFill>
                          <a:latin typeface="Arial"/>
                          <a:ea typeface="Microsoft YaHei"/>
                        </a:rPr>
                        <a:t>Incomes have risen.</a:t>
                      </a:r>
                    </a:p>
                  </a:txBody>
                  <a:tcPr anchor="ctr">
                    <a:solidFill>
                      <a:srgbClr val="FFEFD9"/>
                    </a:solidFill>
                  </a:tcPr>
                </a:tc>
                <a:tc>
                  <a:txBody>
                    <a:bodyPr wrap="square"/>
                    <a:lstStyle/>
                    <a:p>
                      <a:r>
                        <a:rPr sz="1600" b="0">
                          <a:solidFill>
                            <a:srgbClr val="FF6B5B"/>
                          </a:solidFill>
                          <a:latin typeface="Arial"/>
                          <a:ea typeface="Microsoft YaHei"/>
                        </a:rPr>
                        <a:t>简洁</a:t>
                      </a:r>
                    </a:p>
                  </a:txBody>
                  <a:tcPr anchor="ctr">
                    <a:solidFill>
                      <a:srgbClr val="FFEFD9"/>
                    </a:solidFill>
                  </a:tcPr>
                </a:tc>
              </a:tr>
              <a:tr h="408432">
                <a:tc>
                  <a:txBody>
                    <a:bodyPr wrap="square"/>
                    <a:lstStyle/>
                    <a:p>
                      <a:r>
                        <a:rPr sz="1600" b="1">
                          <a:solidFill>
                            <a:srgbClr val="1F2A44"/>
                          </a:solidFill>
                          <a:latin typeface="Arial"/>
                          <a:ea typeface="Microsoft YaHei"/>
                        </a:rPr>
                        <a:t>Growth is bad.</a:t>
                      </a:r>
                    </a:p>
                  </a:txBody>
                  <a:tcPr anchor="ctr">
                    <a:solidFill>
                      <a:srgbClr val="FFFFFF"/>
                    </a:solidFill>
                  </a:tcPr>
                </a:tc>
                <a:tc>
                  <a:txBody>
                    <a:bodyPr wrap="square"/>
                    <a:lstStyle/>
                    <a:p>
                      <a:r>
                        <a:rPr sz="1600" b="0">
                          <a:solidFill>
                            <a:srgbClr val="1F2A44"/>
                          </a:solidFill>
                          <a:latin typeface="Arial"/>
                          <a:ea typeface="Microsoft YaHei"/>
                        </a:rPr>
                        <a:t>Growth has environmental costs.</a:t>
                      </a:r>
                    </a:p>
                  </a:txBody>
                  <a:tcPr anchor="ctr">
                    <a:solidFill>
                      <a:srgbClr val="FFFFFF"/>
                    </a:solidFill>
                  </a:tcPr>
                </a:tc>
                <a:tc>
                  <a:txBody>
                    <a:bodyPr wrap="square"/>
                    <a:lstStyle/>
                    <a:p>
                      <a:r>
                        <a:rPr sz="1600" b="0">
                          <a:solidFill>
                            <a:srgbClr val="FF6B5B"/>
                          </a:solidFill>
                          <a:latin typeface="Arial"/>
                          <a:ea typeface="Microsoft YaHei"/>
                        </a:rPr>
                        <a:t>中性</a:t>
                      </a:r>
                    </a:p>
                  </a:txBody>
                  <a:tcPr anchor="ctr">
                    <a:solidFill>
                      <a:srgbClr val="FFFFFF"/>
                    </a:solidFill>
                  </a:tcPr>
                </a:tc>
              </a:tr>
              <a:tr h="652272">
                <a:tc>
                  <a:txBody>
                    <a:bodyPr wrap="square"/>
                    <a:lstStyle/>
                    <a:p>
                      <a:r>
                        <a:rPr sz="1600" b="1">
                          <a:solidFill>
                            <a:srgbClr val="1F2A44"/>
                          </a:solidFill>
                          <a:latin typeface="Arial"/>
                          <a:ea typeface="Microsoft YaHei"/>
                        </a:rPr>
                        <a:t>The numbers are not clear.</a:t>
                      </a:r>
                    </a:p>
                  </a:txBody>
                  <a:tcPr anchor="ctr">
                    <a:solidFill>
                      <a:srgbClr val="FFEFD9"/>
                    </a:solidFill>
                  </a:tcPr>
                </a:tc>
                <a:tc>
                  <a:txBody>
                    <a:bodyPr wrap="square"/>
                    <a:lstStyle/>
                    <a:p>
                      <a:r>
                        <a:rPr sz="1600" b="0">
                          <a:solidFill>
                            <a:srgbClr val="1F2A44"/>
                          </a:solidFill>
                          <a:latin typeface="Arial"/>
                          <a:ea typeface="Microsoft YaHei"/>
                        </a:rPr>
                        <a:t>The data presents a mixed picture.</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408432">
                <a:tc>
                  <a:txBody>
                    <a:bodyPr wrap="square"/>
                    <a:lstStyle/>
                    <a:p>
                      <a:r>
                        <a:rPr sz="1600" b="1">
                          <a:solidFill>
                            <a:srgbClr val="1F2A44"/>
                          </a:solidFill>
                          <a:latin typeface="Arial"/>
                          <a:ea typeface="Microsoft YaHei"/>
                        </a:rPr>
                        <a:t>In the end, …</a:t>
                      </a:r>
                    </a:p>
                  </a:txBody>
                  <a:tcPr anchor="ctr">
                    <a:solidFill>
                      <a:srgbClr val="FFFFFF"/>
                    </a:solidFill>
                  </a:tcPr>
                </a:tc>
                <a:tc>
                  <a:txBody>
                    <a:bodyPr wrap="square"/>
                    <a:lstStyle/>
                    <a:p>
                      <a:r>
                        <a:rPr sz="1600" b="0">
                          <a:solidFill>
                            <a:srgbClr val="1F2A44"/>
                          </a:solidFill>
                          <a:latin typeface="Arial"/>
                          <a:ea typeface="Microsoft YaHei"/>
                        </a:rPr>
                        <a:t>In the long run, …</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bl>
          </a:graphicData>
        </a:graphic>
      </p:graphicFrame>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Reporting views: </a:t>
            </a:r>
            <a:r>
              <a:rPr sz="1700" b="0">
                <a:solidFill>
                  <a:srgbClr val="1F2A44"/>
                </a:solidFill>
                <a:latin typeface="Arial"/>
                <a:ea typeface="Microsoft YaHei"/>
              </a:rPr>
              <a:t>argue that, claim that, point out that, suggest that, maintain that.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Contrast: </a:t>
            </a:r>
            <a:r>
              <a:rPr sz="1700" b="0">
                <a:solidFill>
                  <a:srgbClr val="1F2A44"/>
                </a:solidFill>
                <a:latin typeface="Arial"/>
                <a:ea typeface="Microsoft YaHei"/>
              </a:rPr>
              <a:t>however, although, while, whereas, in contrast, on the other hand.</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Trend verbs with prepositions: </a:t>
            </a:r>
            <a:r>
              <a:rPr sz="1700" b="0">
                <a:solidFill>
                  <a:srgbClr val="1F2A44"/>
                </a:solidFill>
                <a:latin typeface="Arial"/>
                <a:ea typeface="Microsoft YaHei"/>
              </a:rPr>
              <a:t>rise by 2% (amount), rise to 5% (level), a rise of 2%, a rise in prices.</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Cautious conclusions: </a:t>
            </a:r>
            <a:r>
              <a:rPr sz="1700" b="0">
                <a:solidFill>
                  <a:srgbClr val="1F2A44"/>
                </a:solidFill>
                <a:latin typeface="Arial"/>
                <a:ea typeface="Microsoft YaHei"/>
              </a:rPr>
              <a:t>The evidence suggests that… / It would seem that…</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GDP is increased by 2%.</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GDP rose by 2%.</a:t>
            </a:r>
          </a:p>
          <a:p>
            <a:pPr algn="l">
              <a:spcAft>
                <a:spcPts val="200"/>
              </a:spcAft>
            </a:pPr>
            <a:r>
              <a:rPr sz="1200" b="0">
                <a:solidFill>
                  <a:srgbClr val="FFFFFF"/>
                </a:solidFill>
                <a:latin typeface="Arial"/>
                <a:ea typeface="Microsoft YaHei"/>
              </a:rPr>
              <a:t>rise 不及物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economy grows very fast than before.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economy is growing faster than before.</a:t>
            </a:r>
          </a:p>
          <a:p>
            <a:pPr algn="l">
              <a:spcAft>
                <a:spcPts val="200"/>
              </a:spcAft>
            </a:pPr>
            <a:r>
              <a:rPr sz="1200" b="0">
                <a:solidFill>
                  <a:srgbClr val="FFFFFF"/>
                </a:solidFill>
                <a:latin typeface="Arial"/>
                <a:ea typeface="Microsoft YaHei"/>
              </a:rPr>
              <a:t>比较级</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inflation is high.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Inflation is high.</a:t>
            </a:r>
          </a:p>
          <a:p>
            <a:pPr algn="l">
              <a:spcAft>
                <a:spcPts val="200"/>
              </a:spcAft>
            </a:pPr>
            <a:r>
              <a:rPr sz="1200" b="0">
                <a:solidFill>
                  <a:srgbClr val="FFFFFF"/>
                </a:solidFill>
                <a:latin typeface="Arial"/>
                <a:ea typeface="Microsoft YaHei"/>
              </a:rPr>
              <a:t>泛指不加 the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Economic is developing.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economy is developing.</a:t>
            </a:r>
          </a:p>
          <a:p>
            <a:pPr algn="l">
              <a:spcAft>
                <a:spcPts val="200"/>
              </a:spcAft>
            </a:pPr>
            <a:r>
              <a:rPr sz="1200" b="0">
                <a:solidFill>
                  <a:srgbClr val="FFFFFF"/>
                </a:solidFill>
                <a:latin typeface="Arial"/>
                <a:ea typeface="Microsoft YaHei"/>
              </a:rPr>
              <a:t>economy/economic</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a rise of prices.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 a rise in prices.</a:t>
            </a:r>
          </a:p>
          <a:p>
            <a:pPr algn="l">
              <a:spcAft>
                <a:spcPts val="200"/>
              </a:spcAft>
            </a:pPr>
            <a:r>
              <a:rPr sz="1200" b="0">
                <a:solidFill>
                  <a:srgbClr val="FFFFFF"/>
                </a:solidFill>
                <a:latin typeface="Arial"/>
                <a:ea typeface="Microsoft YaHei"/>
              </a:rPr>
              <a:t>rise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People’s living standard have improved.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Living standards have improved.</a:t>
            </a:r>
          </a:p>
          <a:p>
            <a:pPr algn="l">
              <a:spcAft>
                <a:spcPts val="200"/>
              </a:spcAft>
            </a:pPr>
            <a:r>
              <a:rPr sz="1200" b="0">
                <a:solidFill>
                  <a:srgbClr val="FFFFFF"/>
                </a:solidFill>
                <a:latin typeface="Arial"/>
                <a:ea typeface="Microsoft YaHei"/>
              </a:rPr>
              <a:t>复数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rise (intransitive), economy / economic, and a rise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Statistics: </a:t>
            </a:r>
            <a:r>
              <a:rPr sz="1700" b="0">
                <a:solidFill>
                  <a:srgbClr val="1F2A44"/>
                </a:solidFill>
                <a:latin typeface="Arial"/>
                <a:ea typeface="Microsoft YaHei"/>
              </a:rPr>
              <a:t>Quote the source and date. Avoid “everyone says”.</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Debate style: </a:t>
            </a:r>
            <a:r>
              <a:rPr sz="1700" b="0">
                <a:solidFill>
                  <a:srgbClr val="1F2A44"/>
                </a:solidFill>
                <a:latin typeface="Arial"/>
                <a:ea typeface="Microsoft YaHei"/>
              </a:rPr>
              <a:t>In English discussions, it’s normal to state “I see it differently” without offence.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GDP and beyond: </a:t>
            </a:r>
            <a:r>
              <a:rPr sz="1700" b="0">
                <a:solidFill>
                  <a:srgbClr val="1F2A44"/>
                </a:solidFill>
                <a:latin typeface="Arial"/>
                <a:ea typeface="Microsoft YaHei"/>
              </a:rPr>
              <a:t>Many countries now publish well-being indicators next to GDP.</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rise 是不及物动词,不用被动;economy(名)/ economic(形);a rise in prices。泛指的 inflation 前不加 the。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present both sides of an economic argument.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trends with the right prepositions.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reach a balanced conclusion.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rise by / to / in and economy / economic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71 Can the Economy Keep Growing?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rise by / to / in, economy / economic, and reporting views.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72 The Next Emerging Market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Next Emerging Market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下一个新兴市场</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emerging markets: why companies look at them, opportunities and risks, entering a new market and evaluating a country.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an emerging market? Can you name some?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companies want to enter new markets?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entering an unfamiliar country?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company learn about local customers?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move abroad to work for your company in a new market?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emerging market = 新兴市场;market entry = 进入市场。第 5 题可用 “I’d consider it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Evaluate a potential new market and recommend whether to enter.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market size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growth</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entry method</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recommendation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market is growing at…   💬 The main risk is…   💬 I’d recommend starting with…</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growing at 5% a year。The main risk is… 谈风险。recommend starting with… 建议先……</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Looking Beyond the Familiar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Companies often look at emerging markets because home markets are mature and slow-growing. Countries with a growing middle class, young populations and increasing internet use offer the chance of new customers. But opportunity comes with risk. Currencies can fluctuate, regulations may change and infrastructure can be uneven. Cultural differences can also catch outsiders by surprise: a product that works at home may need adapting in terms of price, packaging or marketing. Successful companies usually do their homework before committing. They talk to local partners, test the product on a small scale and enter in stages rather than all at once. Some choose to form a joint venture or work with a distributor to reduce risk. Patience is important: it can take years to build a presence, and early results may be modest.</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companies look at emerging markets?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Home markets may be mature and slow-growing; emerging markets offer new customers.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risks are mentioned?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Currency swings, changing regulations, uneven infrastructure and cultural differences.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do successful companies enter?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With local research and partners, testing on a small scale and entering in stages.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Entering new markets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进入新市场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emerging market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新兴市场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invest in emerging markets.”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entry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市场进入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“Market entry strategy is key.”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local partner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本地合作伙伴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with a local partner.”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joint venture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合资企业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formed a joint venture.”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distributor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分销商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distributor covers three regions.”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regulation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法规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“Regulation differs by country.”</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Weighing opportunity and risk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权衡机会与风险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tap into</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开发 / 利用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tap into the growing market.”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gain a foothold</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站稳脚跟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gained a foothold in Asia.”</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 your homework</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做足功课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your homework before you enter.”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untapped potential</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尚未开发的潜力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market has untapped potential.”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currency fluctuation</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汇率波动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“Currency fluctuation affects profit.”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localise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本地化</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localised the product.”</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做足功课</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 your homework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法规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regulation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本地合作伙伴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local partner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市场进入</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entry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汇率波动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currency fluctuation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站稳脚跟</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a foothold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本地化</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localise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开发 / 利用</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tap into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2011679"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emerging market</a:t>
            </a:r>
          </a:p>
        </p:txBody>
      </p:sp>
      <p:sp>
        <p:nvSpPr>
          <p:cNvPr id="10" name="Rounded Rectangle 9"/>
          <p:cNvSpPr/>
          <p:nvPr/>
        </p:nvSpPr>
        <p:spPr>
          <a:xfrm>
            <a:off x="4114799"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market entry</a:t>
            </a:r>
          </a:p>
        </p:txBody>
      </p:sp>
      <p:sp>
        <p:nvSpPr>
          <p:cNvPr id="11" name="Rounded Rectangle 10"/>
          <p:cNvSpPr/>
          <p:nvPr/>
        </p:nvSpPr>
        <p:spPr>
          <a:xfrm>
            <a:off x="5888734"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joint venture</a:t>
            </a:r>
          </a:p>
        </p:txBody>
      </p:sp>
      <p:sp>
        <p:nvSpPr>
          <p:cNvPr id="12" name="Rounded Rectangle 11"/>
          <p:cNvSpPr/>
          <p:nvPr/>
        </p:nvSpPr>
        <p:spPr>
          <a:xfrm>
            <a:off x="7772398"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distributor</a:t>
            </a:r>
          </a:p>
        </p:txBody>
      </p:sp>
      <p:sp>
        <p:nvSpPr>
          <p:cNvPr id="13" name="Rounded Rectangle 12"/>
          <p:cNvSpPr/>
          <p:nvPr/>
        </p:nvSpPr>
        <p:spPr>
          <a:xfrm>
            <a:off x="9436605"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tap into</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Many firms see the new _______ as a growth opportunity.</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emerging market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good _______ strategy reduces risk.</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entry</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two companies formed a _______ to share costs.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joint venture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local _______ handles sales and delivery.</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distributor</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want to _______ the growing demand in the region.</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tap into</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To succeed, we’ll need to _______ our packaging and marketing.</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localise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emerging (not “emergent” in this sense), infrastructure (not “infrastracture”), distributor. Enter a market (no “into”), enter into a contract. Invest in, expand into. Operate in a country. Localise (UK) / localize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Evaluating a new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评估新市场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strategy team discusses whether to enter a new market in Southeast Asia.</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Rina Ho, strategy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Singh, regional director</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Evaluating a new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Rina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Singh, I’ve reviewed the potential market. It’s growing at around 6% a year, with a young, urban population.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Singh</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risks?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risks are currency fluctuation and unclear regulation. Delivery networks are also uneven.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competition?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Two international brands are present, but local competitors are weak in the mid-price segment.</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Evaluating a new market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you enter?</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recommend starting with a local distributor and a limited range in two cities.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not open our own stores?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would cost more and take longer. A partner would give us local knowledge and lower risk.</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we need to change?</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Evaluating a new market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Packaging, sizes and price. We’d need to localise the marketing too.</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timeline?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twelve-month pilot, then review.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Reasonable. Please prepare a detailed plan.</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Evaluating a new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evaluate a new market.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Market: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Challenge risks and cost.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growing at · the main risk is · local partner · pilot · localise · recommend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market, risks and recommended entry method.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Singh says: “Why not wait a year?”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how you would research a new market.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cultural differences that might affect a product.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countries or regions look promising for business?</a:t>
            </a:r>
          </a:p>
          <a:p>
            <a:pPr algn="l">
              <a:lnSpc>
                <a:spcPct val="115000"/>
              </a:lnSpc>
              <a:spcAft>
                <a:spcPts val="800"/>
              </a:spcAft>
            </a:pPr>
            <a:r>
              <a:rPr sz="1400" b="0">
                <a:solidFill>
                  <a:srgbClr val="5F677A"/>
                </a:solidFill>
                <a:latin typeface="Arial"/>
                <a:ea typeface="Microsoft YaHei"/>
              </a:rPr>
              <a:t>💬 “In my view…,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reduce the risk of entering a new market?</a:t>
            </a:r>
          </a:p>
          <a:p>
            <a:pPr algn="l">
              <a:lnSpc>
                <a:spcPct val="115000"/>
              </a:lnSpc>
              <a:spcAft>
                <a:spcPts val="800"/>
              </a:spcAft>
            </a:pPr>
            <a:r>
              <a:rPr sz="1400" b="0">
                <a:solidFill>
                  <a:srgbClr val="5F677A"/>
                </a:solidFill>
                <a:latin typeface="Arial"/>
                <a:ea typeface="Microsoft YaHei"/>
              </a:rPr>
              <a:t>💬 “By starting small… / Working with a local partner…”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 company adapt its product or keep it the same worldwide?</a:t>
            </a:r>
          </a:p>
          <a:p>
            <a:pPr algn="l">
              <a:lnSpc>
                <a:spcPct val="115000"/>
              </a:lnSpc>
              <a:spcAft>
                <a:spcPts val="800"/>
              </a:spcAft>
            </a:pPr>
            <a:r>
              <a:rPr sz="1400" b="0">
                <a:solidFill>
                  <a:srgbClr val="5F677A"/>
                </a:solidFill>
                <a:latin typeface="Arial"/>
                <a:ea typeface="Microsoft YaHei"/>
              </a:rPr>
              <a:t>💬 “Adapting helps… but it costs…”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foreign companies need to understand about your country?</a:t>
            </a:r>
          </a:p>
          <a:p>
            <a:pPr algn="l">
              <a:lnSpc>
                <a:spcPct val="115000"/>
              </a:lnSpc>
              <a:spcAft>
                <a:spcPts val="800"/>
              </a:spcAft>
            </a:pPr>
            <a:r>
              <a:rPr sz="1400" b="0">
                <a:solidFill>
                  <a:srgbClr val="5F677A"/>
                </a:solidFill>
                <a:latin typeface="Arial"/>
                <a:ea typeface="Microsoft YaHei"/>
              </a:rPr>
              <a:t>💬 “They should know… / Customers value…”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depends on the product. For things like software or basic commodities, a standard global product can work. But for food, fashion or services, local tastes and habits matter, so adapting is usually necessary. The best approach is often a global core with local variations: keep the brand and main features consistent, and adjust details such as size, flavour, language or price.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commodity = 大宗商品。”global core” = 全球统一核心。variation = 变化。consistent = 一致的。</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 country with new business.</a:t>
                      </a:r>
                    </a:p>
                  </a:txBody>
                  <a:tcPr anchor="ctr">
                    <a:solidFill>
                      <a:srgbClr val="FFFFFF"/>
                    </a:solidFill>
                  </a:tcPr>
                </a:tc>
                <a:tc>
                  <a:txBody>
                    <a:bodyPr wrap="square"/>
                    <a:lstStyle/>
                    <a:p>
                      <a:r>
                        <a:rPr sz="1600" b="0">
                          <a:solidFill>
                            <a:srgbClr val="1F2A44"/>
                          </a:solidFill>
                          <a:latin typeface="Arial"/>
                          <a:ea typeface="Microsoft YaHei"/>
                        </a:rPr>
                        <a:t>An emerging market with strong growth potential.</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We go there.</a:t>
                      </a:r>
                    </a:p>
                  </a:txBody>
                  <a:tcPr anchor="ctr">
                    <a:solidFill>
                      <a:srgbClr val="FFEFD9"/>
                    </a:solidFill>
                  </a:tcPr>
                </a:tc>
                <a:tc>
                  <a:txBody>
                    <a:bodyPr wrap="square"/>
                    <a:lstStyle/>
                    <a:p>
                      <a:r>
                        <a:rPr sz="1600" b="0">
                          <a:solidFill>
                            <a:srgbClr val="1F2A44"/>
                          </a:solidFill>
                          <a:latin typeface="Arial"/>
                          <a:ea typeface="Microsoft YaHei"/>
                        </a:rPr>
                        <a:t>We’re planning to expand into the region.</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They don’t know us.</a:t>
                      </a:r>
                    </a:p>
                  </a:txBody>
                  <a:tcPr anchor="ctr">
                    <a:solidFill>
                      <a:srgbClr val="FFFFFF"/>
                    </a:solidFill>
                  </a:tcPr>
                </a:tc>
                <a:tc>
                  <a:txBody>
                    <a:bodyPr wrap="square"/>
                    <a:lstStyle/>
                    <a:p>
                      <a:r>
                        <a:rPr sz="1600" b="0">
                          <a:solidFill>
                            <a:srgbClr val="1F2A44"/>
                          </a:solidFill>
                          <a:latin typeface="Arial"/>
                          <a:ea typeface="Microsoft YaHei"/>
                        </a:rPr>
                        <a:t>We have low brand awareness locally.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It’s risky.</a:t>
                      </a:r>
                    </a:p>
                  </a:txBody>
                  <a:tcPr anchor="ctr">
                    <a:solidFill>
                      <a:srgbClr val="FFEFD9"/>
                    </a:solidFill>
                  </a:tcPr>
                </a:tc>
                <a:tc>
                  <a:txBody>
                    <a:bodyPr wrap="square"/>
                    <a:lstStyle/>
                    <a:p>
                      <a:r>
                        <a:rPr sz="1600" b="0">
                          <a:solidFill>
                            <a:srgbClr val="1F2A44"/>
                          </a:solidFill>
                          <a:latin typeface="Arial"/>
                          <a:ea typeface="Microsoft YaHei"/>
                        </a:rPr>
                        <a:t>There are significant risks involved.</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Wait first.</a:t>
                      </a:r>
                    </a:p>
                  </a:txBody>
                  <a:tcPr anchor="ctr">
                    <a:solidFill>
                      <a:srgbClr val="FFFFFF"/>
                    </a:solidFill>
                  </a:tcPr>
                </a:tc>
                <a:tc>
                  <a:txBody>
                    <a:bodyPr wrap="square"/>
                    <a:lstStyle/>
                    <a:p>
                      <a:r>
                        <a:rPr sz="1600" b="0">
                          <a:solidFill>
                            <a:srgbClr val="1F2A44"/>
                          </a:solidFill>
                          <a:latin typeface="Arial"/>
                          <a:ea typeface="Microsoft YaHei"/>
                        </a:rPr>
                        <a:t>Let’s pilot it before committing fully.</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bl>
          </a:graphicData>
        </a:graphic>
      </p:graphicFrame>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Prepositions with markets: </a:t>
            </a:r>
            <a:r>
              <a:rPr sz="1700" b="0">
                <a:solidFill>
                  <a:srgbClr val="1F2A44"/>
                </a:solidFill>
                <a:latin typeface="Arial"/>
                <a:ea typeface="Microsoft YaHei"/>
              </a:rPr>
              <a:t>enter a market, expand into a region, invest in a country, operate in many markets.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Describing growth: </a:t>
            </a:r>
            <a:r>
              <a:rPr sz="1700" b="0">
                <a:solidFill>
                  <a:srgbClr val="1F2A44"/>
                </a:solidFill>
                <a:latin typeface="Arial"/>
                <a:ea typeface="Microsoft YaHei"/>
              </a:rPr>
              <a:t>growing at 6% a year, expanding by 6% annually, a growth rate of 6%.</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Recommending: </a:t>
            </a:r>
            <a:r>
              <a:rPr sz="1700" b="0">
                <a:solidFill>
                  <a:srgbClr val="1F2A44"/>
                </a:solidFill>
                <a:latin typeface="Arial"/>
                <a:ea typeface="Microsoft YaHei"/>
              </a:rPr>
              <a:t>I’d recommend starting with…, I suggest that we start with…, It might be wise to…</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Adjective order: </a:t>
            </a:r>
            <a:r>
              <a:rPr sz="1700" b="0">
                <a:solidFill>
                  <a:srgbClr val="1F2A44"/>
                </a:solidFill>
                <a:latin typeface="Arial"/>
                <a:ea typeface="Microsoft YaHei"/>
              </a:rPr>
              <a:t>a young urban population, a large growing market.</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enter into the market.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enter the market.</a:t>
            </a:r>
          </a:p>
          <a:p>
            <a:pPr algn="l">
              <a:spcAft>
                <a:spcPts val="200"/>
              </a:spcAft>
            </a:pPr>
            <a:r>
              <a:rPr sz="1200" b="0">
                <a:solidFill>
                  <a:srgbClr val="FFFFFF"/>
                </a:solidFill>
                <a:latin typeface="Arial"/>
                <a:ea typeface="Microsoft YaHei"/>
              </a:rPr>
              <a:t>enter 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market is growth quickly.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market is growing quickly.</a:t>
            </a:r>
          </a:p>
          <a:p>
            <a:pPr algn="l">
              <a:spcAft>
                <a:spcPts val="200"/>
              </a:spcAft>
            </a:pPr>
            <a:r>
              <a:rPr sz="1200" b="0">
                <a:solidFill>
                  <a:srgbClr val="FFFFFF"/>
                </a:solidFill>
                <a:latin typeface="Arial"/>
                <a:ea typeface="Microsoft YaHei"/>
              </a:rPr>
              <a:t>动词形式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risks exist in there.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many risks.</a:t>
            </a:r>
          </a:p>
          <a:p>
            <a:pPr algn="l">
              <a:spcAft>
                <a:spcPts val="200"/>
              </a:spcAft>
            </a:pPr>
            <a:r>
              <a:rPr sz="1200" b="0">
                <a:solidFill>
                  <a:srgbClr val="FFFFFF"/>
                </a:solidFill>
                <a:latin typeface="Arial"/>
                <a:ea typeface="Microsoft YaHei"/>
              </a:rPr>
              <a:t>there 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cooperate with the local partner very good.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cooperate well with the local partner.</a:t>
            </a:r>
          </a:p>
          <a:p>
            <a:pPr algn="l">
              <a:spcAft>
                <a:spcPts val="200"/>
              </a:spcAft>
            </a:pPr>
            <a:r>
              <a:rPr sz="1200" b="0">
                <a:solidFill>
                  <a:srgbClr val="FFFFFF"/>
                </a:solidFill>
                <a:latin typeface="Arial"/>
                <a:ea typeface="Microsoft YaHei"/>
              </a:rPr>
              <a:t>adverb</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has a big potential of growth.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has great growth potential.</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Countries which developing are risky.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Developing countries can be risky.</a:t>
            </a:r>
          </a:p>
          <a:p>
            <a:pPr algn="l">
              <a:spcAft>
                <a:spcPts val="200"/>
              </a:spcAft>
            </a:pPr>
            <a:r>
              <a:rPr sz="1200" b="0">
                <a:solidFill>
                  <a:srgbClr val="FFFFFF"/>
                </a:solidFill>
                <a:latin typeface="Arial"/>
                <a:ea typeface="Microsoft YaHei"/>
              </a:rPr>
              <a:t>现在分词作定语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enter a market (no into), adverb well, and potential collocations.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Relationships: </a:t>
            </a:r>
            <a:r>
              <a:rPr sz="1700" b="0">
                <a:solidFill>
                  <a:srgbClr val="1F2A44"/>
                </a:solidFill>
                <a:latin typeface="Arial"/>
                <a:ea typeface="Microsoft YaHei"/>
              </a:rPr>
              <a:t>In many emerging markets, personal relationships and local partners are central to business.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Respect local norms: </a:t>
            </a:r>
            <a:r>
              <a:rPr sz="1700" b="0">
                <a:solidFill>
                  <a:srgbClr val="1F2A44"/>
                </a:solidFill>
                <a:latin typeface="Arial"/>
                <a:ea typeface="Microsoft YaHei"/>
              </a:rPr>
              <a:t>Business hours, holidays and etiquette differ. Learn before you go.</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“Emerging” vs “developing”: “Emerging markets” is common in business; “developing countries” in development contexts.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enter 是及物动词,不加 into;adverb well 修饰动词;there are many risks。进入新市场前要做足调查并分阶段进行。</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evaluate an emerging market.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an entry strategy.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prepositions with markets (enter, expand into).</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enter (transitive) and adverbs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72 The Next Emerging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enter as a transitive verb, prepositions with markets, and adverb vs adjective.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73 Precious Metals and Market Volatility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000" b="1">
                <a:solidFill>
                  <a:srgbClr val="FFFFFF"/>
                </a:solidFill>
                <a:latin typeface="Arial"/>
                <a:ea typeface="Microsoft YaHei"/>
              </a:rPr>
              <a:t>Precious Metals and Market Volatility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贵金属与市场波动</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commodity and precious-metal markets: price movements, safe-haven demand, investment risk and describing volatile charts and data.</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invest in gold or other precious metals?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commodity prices go up and down?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gold is a safe investment?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a “safe haven”?</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describe a chart that goes up and down a lot?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precious metals = 贵金属(金、银、铂等)。safe haven = 避险资产。volatility = 波动性。第 5 题练习描述图表。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price chart and explain the reasons for its movements.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overall trend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highs and lows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explanation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outlook</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Prices climbed steadily before peaking at…   💬 This was largely due to…   💬 It remains to be seen whether…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peak at… 达到顶峰。largely due to… 主要由于。It remains to be seen whether… = 还有待观察。</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Reading · Gold, Silver and the Search for Safety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Precious metals such as gold and silver have been valued for centuries. Investors often buy them when they are worried about inflation, currency weakness or political instability, treating them as a “safe haven”. As a result, prices can rise sharply during periods of uncertainty. However, they can also fall quickly when interest rates rise or when investors move back to shares. Metals such as silver and platinum are also used in industry, so their prices depend on factory demand as well as on investor mood. Because of these shifting influences, prices tend to be volatile, and past performance is no guarantee of future returns. Financial advisers generally recommend holding precious metals as only a small part of a diversified portfolio rather than as a single bet.</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investors buy precious metals?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Worry about inflation, currency weakness or political instability; they see them as a safe haven.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might prices fall?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interest rates rise or investors move back to shares.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advisers recommend?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Holding them as only a small part of a diversified portfolio.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Markets and prices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市场与价格</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commodity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大宗商品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“Gold is a commodity.”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precious metal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贵金属</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“Gold and silver are precious metals.”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volatility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波动性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“Market volatility has increased.”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safe haven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避险资产</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“Gold is seen as a safe haven.”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interest rate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“Interest rates rose.”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portfolio</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投资组合</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“Diversify your portfolio.”</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Describing price movements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描述价格走势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surge</a:t>
            </a:r>
          </a:p>
          <a:p>
            <a:pPr algn="l">
              <a:lnSpc>
                <a:spcPct val="115000"/>
              </a:lnSpc>
              <a:spcAft>
                <a:spcPts val="800"/>
              </a:spcAft>
            </a:pPr>
            <a:r>
              <a:rPr sz="1300" b="0">
                <a:solidFill>
                  <a:srgbClr val="5F677A"/>
                </a:solidFill>
                <a:latin typeface="Arial"/>
                <a:ea typeface="Microsoft YaHei"/>
              </a:rPr>
              <a:t>verb / 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飙升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surged last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plunge / plummet</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暴跌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“Shares plunged by 10%.”</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peak at</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达到峰值</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peaked at $2,000.”</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off</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趋于平稳</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levelled off in July.”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fluctuate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波动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fluctuate daily.”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rebound</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反弹</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rebounded after the dip.”</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反弹</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rebound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飙升</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interest rate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贵金属</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precious metal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达到峰值</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peak at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避险资产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 haven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投资组合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portfolio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波动性</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commodity</a:t>
            </a:r>
          </a:p>
        </p:txBody>
      </p:sp>
      <p:sp>
        <p:nvSpPr>
          <p:cNvPr id="10" name="Rounded Rectangle 9"/>
          <p:cNvSpPr/>
          <p:nvPr/>
        </p:nvSpPr>
        <p:spPr>
          <a:xfrm>
            <a:off x="3456432"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volatility</a:t>
            </a:r>
          </a:p>
        </p:txBody>
      </p:sp>
      <p:sp>
        <p:nvSpPr>
          <p:cNvPr id="11" name="Rounded Rectangle 10"/>
          <p:cNvSpPr/>
          <p:nvPr/>
        </p:nvSpPr>
        <p:spPr>
          <a:xfrm>
            <a:off x="5010912"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safe haven</a:t>
            </a:r>
          </a:p>
        </p:txBody>
      </p:sp>
      <p:sp>
        <p:nvSpPr>
          <p:cNvPr id="12" name="Rounded Rectangle 11"/>
          <p:cNvSpPr/>
          <p:nvPr/>
        </p:nvSpPr>
        <p:spPr>
          <a:xfrm>
            <a:off x="6565392"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interest rate</a:t>
            </a:r>
          </a:p>
        </p:txBody>
      </p:sp>
      <p:sp>
        <p:nvSpPr>
          <p:cNvPr id="13" name="Rounded Rectangle 12"/>
          <p:cNvSpPr/>
          <p:nvPr/>
        </p:nvSpPr>
        <p:spPr>
          <a:xfrm>
            <a:off x="8449056"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portfolio</a:t>
            </a:r>
          </a:p>
        </p:txBody>
      </p:sp>
      <p:sp>
        <p:nvSpPr>
          <p:cNvPr id="14" name="Rounded Rectangle 13"/>
          <p:cNvSpPr/>
          <p:nvPr/>
        </p:nvSpPr>
        <p:spPr>
          <a:xfrm>
            <a:off x="9893808"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surge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Oil and copper are important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commodity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Market _______ makes investors nervous.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volatility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Gold is often seen as a _______ in uncertain times.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 haven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change in the _______ can affect bond prices.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interest rate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balanced _______ includes shares, bonds and cash.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portfolio</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Prices can _______ when demand suddenly rises.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surge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volatile (not “volitile”), commodity (not “commodty”), portfolio. Prices rise / fall / go up / go down / climb / drop; use by (amount) and to (level). At a high of, a high of $2,000. Shares (UK) = stocks (US). Invest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Describing a chart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在会议上描述图表</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a price chart for a metal to a small investment committee.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Ada Zhou,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Hill, committee chair</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Describing a chart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Ada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This chart shows the price of silver over the last twelve months.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Hill</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take us through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Prices climbed steadily in the first four months before peaking at the end of April.</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caused that?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Largely uncertainty about inflation, which increased demand for safe havens.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a chart in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then?</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plunged by about 12% in May as interest rates rose, and fluctuated for two months.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happening now?</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They’ve levelled off at a lower level, but the market remains volatile.</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your outlook?</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a chart in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hard to say. It may rebound if inflation worries return, but this is uncertain.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recommend buying?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suggest only a small allocation as part of a diversified portfolio.</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That’s balanced.</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Describing a chart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a price chart.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Asset: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Ask for causes and outlook.</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climbed · peaked at · plunged · levelled off · due to · outlook</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movement in order and give one cause.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Hill asks: “Is it a safe investment?” Respond carefully.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chart that rises, falls, then recovers.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“volatility” to a beginner.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gold a good investment?</a:t>
            </a:r>
          </a:p>
          <a:p>
            <a:pPr algn="l">
              <a:lnSpc>
                <a:spcPct val="115000"/>
              </a:lnSpc>
              <a:spcAft>
                <a:spcPts val="800"/>
              </a:spcAft>
            </a:pPr>
            <a:r>
              <a:rPr sz="1400" b="0">
                <a:solidFill>
                  <a:srgbClr val="5F677A"/>
                </a:solidFill>
                <a:latin typeface="Arial"/>
                <a:ea typeface="Microsoft YaHei"/>
              </a:rPr>
              <a:t>💬 “It can be useful as…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affects commodity prices?</a:t>
            </a:r>
          </a:p>
          <a:p>
            <a:pPr algn="l">
              <a:lnSpc>
                <a:spcPct val="115000"/>
              </a:lnSpc>
              <a:spcAft>
                <a:spcPts val="800"/>
              </a:spcAft>
            </a:pPr>
            <a:r>
              <a:rPr sz="1400" b="0">
                <a:solidFill>
                  <a:srgbClr val="5F677A"/>
                </a:solidFill>
                <a:latin typeface="Arial"/>
                <a:ea typeface="Microsoft YaHei"/>
              </a:rPr>
              <a:t>💬 “Supply and demand, interest rates…”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ordinary people invest in volatile markets?</a:t>
            </a:r>
          </a:p>
          <a:p>
            <a:pPr algn="l">
              <a:lnSpc>
                <a:spcPct val="115000"/>
              </a:lnSpc>
              <a:spcAft>
                <a:spcPts val="800"/>
              </a:spcAft>
            </a:pPr>
            <a:r>
              <a:rPr sz="1400" b="0">
                <a:solidFill>
                  <a:srgbClr val="5F677A"/>
                </a:solidFill>
                <a:latin typeface="Arial"/>
                <a:ea typeface="Microsoft YaHei"/>
              </a:rPr>
              <a:t>💬 “Only if they understand… / With money they can afford to lose…”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would you explain a falling market to a worried colleague?</a:t>
            </a:r>
          </a:p>
          <a:p>
            <a:pPr algn="l">
              <a:lnSpc>
                <a:spcPct val="115000"/>
              </a:lnSpc>
              <a:spcAft>
                <a:spcPts val="800"/>
              </a:spcAft>
            </a:pPr>
            <a:r>
              <a:rPr sz="1400" b="0">
                <a:solidFill>
                  <a:srgbClr val="5F677A"/>
                </a:solidFill>
                <a:latin typeface="Arial"/>
                <a:ea typeface="Microsoft YaHei"/>
              </a:rPr>
              <a:t>💬 “I’d say it’s normal for markets to… / Longer-term…”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Ordinary people can invest in volatile markets, but only with money they can afford to lose and as part of a diversified plan. It’s important to understand that prices can fall sharply, and that you might not recover your investment in the short term. Anyone who needs the money soon, or who can’t tolerate losses, should probably avoid them. Professional advice is also worth considering.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tolerate = 承受。afford to lose = 承受得起损失。in the short term = 短期内。diversified = 多元化的。</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The price goes up and down.</a:t>
                      </a:r>
                    </a:p>
                  </a:txBody>
                  <a:tcPr anchor="ctr">
                    <a:solidFill>
                      <a:srgbClr val="FFFFFF"/>
                    </a:solidFill>
                  </a:tcPr>
                </a:tc>
                <a:tc>
                  <a:txBody>
                    <a:bodyPr wrap="square"/>
                    <a:lstStyle/>
                    <a:p>
                      <a:r>
                        <a:rPr sz="1600" b="0">
                          <a:solidFill>
                            <a:srgbClr val="1F2A44"/>
                          </a:solidFill>
                          <a:latin typeface="Arial"/>
                          <a:ea typeface="Microsoft YaHei"/>
                        </a:rPr>
                        <a:t>The price fluctuates.</a:t>
                      </a:r>
                    </a:p>
                  </a:txBody>
                  <a:tcPr anchor="ctr">
                    <a:solidFill>
                      <a:srgbClr val="FFFFFF"/>
                    </a:solidFill>
                  </a:tcPr>
                </a:tc>
                <a:tc>
                  <a:txBody>
                    <a:bodyPr wrap="square"/>
                    <a:lstStyle/>
                    <a:p>
                      <a:r>
                        <a:rPr sz="1600" b="0">
                          <a:solidFill>
                            <a:srgbClr val="FF6B5B"/>
                          </a:solidFill>
                          <a:latin typeface="Arial"/>
                          <a:ea typeface="Microsoft YaHei"/>
                        </a:rPr>
                        <a:t>动词</a:t>
                      </a:r>
                    </a:p>
                  </a:txBody>
                  <a:tcPr anchor="ctr">
                    <a:solidFill>
                      <a:srgbClr val="FFFFFF"/>
                    </a:solidFill>
                  </a:tcPr>
                </a:tc>
              </a:tr>
              <a:tr h="408432">
                <a:tc>
                  <a:txBody>
                    <a:bodyPr wrap="square"/>
                    <a:lstStyle/>
                    <a:p>
                      <a:r>
                        <a:rPr sz="1600" b="1">
                          <a:solidFill>
                            <a:srgbClr val="1F2A44"/>
                          </a:solidFill>
                          <a:latin typeface="Arial"/>
                          <a:ea typeface="Microsoft YaHei"/>
                        </a:rPr>
                        <a:t>The price rose very fast.</a:t>
                      </a:r>
                    </a:p>
                  </a:txBody>
                  <a:tcPr anchor="ctr">
                    <a:solidFill>
                      <a:srgbClr val="FFEFD9"/>
                    </a:solidFill>
                  </a:tcPr>
                </a:tc>
                <a:tc>
                  <a:txBody>
                    <a:bodyPr wrap="square"/>
                    <a:lstStyle/>
                    <a:p>
                      <a:r>
                        <a:rPr sz="1600" b="0">
                          <a:solidFill>
                            <a:srgbClr val="1F2A44"/>
                          </a:solidFill>
                          <a:latin typeface="Arial"/>
                          <a:ea typeface="Microsoft YaHei"/>
                        </a:rPr>
                        <a:t>Prices surged.</a:t>
                      </a:r>
                    </a:p>
                  </a:txBody>
                  <a:tcPr anchor="ctr">
                    <a:solidFill>
                      <a:srgbClr val="FFEFD9"/>
                    </a:solidFill>
                  </a:tcPr>
                </a:tc>
                <a:tc>
                  <a:txBody>
                    <a:bodyPr wrap="square"/>
                    <a:lstStyle/>
                    <a:p>
                      <a:r>
                        <a:rPr sz="1600" b="0">
                          <a:solidFill>
                            <a:srgbClr val="FF6B5B"/>
                          </a:solidFill>
                          <a:latin typeface="Arial"/>
                          <a:ea typeface="Microsoft YaHei"/>
                        </a:rPr>
                        <a:t>单动词</a:t>
                      </a:r>
                    </a:p>
                  </a:txBody>
                  <a:tcPr anchor="ctr">
                    <a:solidFill>
                      <a:srgbClr val="FFEFD9"/>
                    </a:solidFill>
                  </a:tcPr>
                </a:tc>
              </a:tr>
              <a:tr h="408432">
                <a:tc>
                  <a:txBody>
                    <a:bodyPr wrap="square"/>
                    <a:lstStyle/>
                    <a:p>
                      <a:r>
                        <a:rPr sz="1600" b="1">
                          <a:solidFill>
                            <a:srgbClr val="1F2A44"/>
                          </a:solidFill>
                          <a:latin typeface="Arial"/>
                          <a:ea typeface="Microsoft YaHei"/>
                        </a:rPr>
                        <a:t>It’s dangerous.</a:t>
                      </a:r>
                    </a:p>
                  </a:txBody>
                  <a:tcPr anchor="ctr">
                    <a:solidFill>
                      <a:srgbClr val="FFFFFF"/>
                    </a:solidFill>
                  </a:tcPr>
                </a:tc>
                <a:tc>
                  <a:txBody>
                    <a:bodyPr wrap="square"/>
                    <a:lstStyle/>
                    <a:p>
                      <a:r>
                        <a:rPr sz="1600" b="0">
                          <a:solidFill>
                            <a:srgbClr val="1F2A44"/>
                          </a:solidFill>
                          <a:latin typeface="Arial"/>
                          <a:ea typeface="Microsoft YaHei"/>
                        </a:rPr>
                        <a:t>It’s a high-risk investment.</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No one knows.</a:t>
                      </a:r>
                    </a:p>
                  </a:txBody>
                  <a:tcPr anchor="ctr">
                    <a:solidFill>
                      <a:srgbClr val="FFEFD9"/>
                    </a:solidFill>
                  </a:tcPr>
                </a:tc>
                <a:tc>
                  <a:txBody>
                    <a:bodyPr wrap="square"/>
                    <a:lstStyle/>
                    <a:p>
                      <a:r>
                        <a:rPr sz="1600" b="0">
                          <a:solidFill>
                            <a:srgbClr val="1F2A44"/>
                          </a:solidFill>
                          <a:latin typeface="Arial"/>
                          <a:ea typeface="Microsoft YaHei"/>
                        </a:rPr>
                        <a:t>It’s impossible to predict with certainty.</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Don’t put all money in one place.</a:t>
                      </a:r>
                    </a:p>
                  </a:txBody>
                  <a:tcPr anchor="ctr">
                    <a:solidFill>
                      <a:srgbClr val="FFFFFF"/>
                    </a:solidFill>
                  </a:tcPr>
                </a:tc>
                <a:tc>
                  <a:txBody>
                    <a:bodyPr wrap="square"/>
                    <a:lstStyle/>
                    <a:p>
                      <a:r>
                        <a:rPr sz="1600" b="0">
                          <a:solidFill>
                            <a:srgbClr val="1F2A44"/>
                          </a:solidFill>
                          <a:latin typeface="Arial"/>
                          <a:ea typeface="Microsoft YaHei"/>
                        </a:rPr>
                        <a:t>Diversify your portfolio.</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Order of description: </a:t>
            </a:r>
            <a:r>
              <a:rPr sz="1700" b="0">
                <a:solidFill>
                  <a:srgbClr val="1F2A44"/>
                </a:solidFill>
                <a:latin typeface="Arial"/>
                <a:ea typeface="Microsoft YaHei"/>
              </a:rPr>
              <a:t>overall trend → key points → explanation → outlook.</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Prepositions for change: </a:t>
            </a:r>
            <a:r>
              <a:rPr sz="1700" b="0">
                <a:solidFill>
                  <a:srgbClr val="1F2A44"/>
                </a:solidFill>
                <a:latin typeface="Arial"/>
                <a:ea typeface="Microsoft YaHei"/>
              </a:rPr>
              <a:t>rise by 12%, rise to $2,000, from $1,800 to $2,000, a rise of 12%.</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Past tense for a past period: </a:t>
            </a:r>
            <a:r>
              <a:rPr sz="1700" b="0">
                <a:solidFill>
                  <a:srgbClr val="1F2A44"/>
                </a:solidFill>
                <a:latin typeface="Arial"/>
                <a:ea typeface="Microsoft YaHei"/>
              </a:rPr>
              <a:t>“Prices rose in March.” Present perfect for connected periods: “Prices have fallen since May.”</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Adverbs for speed: </a:t>
            </a:r>
            <a:r>
              <a:rPr sz="1700" b="0">
                <a:solidFill>
                  <a:srgbClr val="1F2A44"/>
                </a:solidFill>
                <a:latin typeface="Arial"/>
                <a:ea typeface="Microsoft YaHei"/>
              </a:rPr>
              <a:t>sharply, steadily, gradually, slightly, dramatically.</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Prices raised by 10%.</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Prices rose by 10%.</a:t>
            </a:r>
          </a:p>
          <a:p>
            <a:pPr algn="l">
              <a:spcAft>
                <a:spcPts val="200"/>
              </a:spcAft>
            </a:pPr>
            <a:r>
              <a:rPr sz="1200" b="0">
                <a:solidFill>
                  <a:srgbClr val="FFFFFF"/>
                </a:solidFill>
                <a:latin typeface="Arial"/>
                <a:ea typeface="Microsoft YaHei"/>
              </a:rPr>
              <a:t>rose 不及物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fall from $2,000 to $1,800.</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fell from $2,000 to $1,800.</a:t>
            </a:r>
          </a:p>
          <a:p>
            <a:pPr algn="l">
              <a:spcAft>
                <a:spcPts val="200"/>
              </a:spcAft>
            </a:pPr>
            <a:r>
              <a:rPr sz="1200" b="0">
                <a:solidFill>
                  <a:srgbClr val="FFFFFF"/>
                </a:solidFill>
                <a:latin typeface="Arial"/>
                <a:ea typeface="Microsoft YaHei"/>
              </a:rPr>
              <a:t>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goes to up.</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goes up.</a:t>
            </a:r>
          </a:p>
          <a:p>
            <a:pPr algn="l">
              <a:spcAft>
                <a:spcPts val="200"/>
              </a:spcAft>
            </a:pPr>
            <a:r>
              <a:rPr sz="1200" b="0">
                <a:solidFill>
                  <a:srgbClr val="FFFFFF"/>
                </a:solidFill>
                <a:latin typeface="Arial"/>
                <a:ea typeface="Microsoft YaHei"/>
              </a:rPr>
              <a:t>副词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Rising of the price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rise in the price</a:t>
            </a:r>
          </a:p>
          <a:p>
            <a:pPr algn="l">
              <a:spcAft>
                <a:spcPts val="200"/>
              </a:spcAft>
            </a:pPr>
            <a:r>
              <a:rPr sz="1200" b="0">
                <a:solidFill>
                  <a:srgbClr val="FFFFFF"/>
                </a:solidFill>
                <a:latin typeface="Arial"/>
                <a:ea typeface="Microsoft YaHei"/>
              </a:rPr>
              <a:t>名词形式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keeps the same.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stays the same.</a:t>
            </a:r>
          </a:p>
          <a:p>
            <a:pPr algn="l">
              <a:spcAft>
                <a:spcPts val="200"/>
              </a:spcAft>
            </a:pPr>
            <a:r>
              <a:rPr sz="1200" b="0">
                <a:solidFill>
                  <a:srgbClr val="FFFFFF"/>
                </a:solidFill>
                <a:latin typeface="Arial"/>
                <a:ea typeface="Microsoft YaHei"/>
              </a:rPr>
              <a:t>stay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Gold is a safe house.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Gold is a safe haven.</a:t>
            </a:r>
          </a:p>
          <a:p>
            <a:pPr algn="l">
              <a:spcAft>
                <a:spcPts val="200"/>
              </a:spcAft>
            </a:pPr>
            <a:r>
              <a:rPr sz="1200" b="0">
                <a:solidFill>
                  <a:srgbClr val="FFFFFF"/>
                </a:solidFill>
                <a:latin typeface="Arial"/>
                <a:ea typeface="Microsoft YaHei"/>
              </a:rPr>
              <a:t>haven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rise / raise, irregular past forms (fell) and fixed phrases (safe haven).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Financial advice: </a:t>
            </a:r>
            <a:r>
              <a:rPr sz="1700" b="0">
                <a:solidFill>
                  <a:srgbClr val="1F2A44"/>
                </a:solidFill>
                <a:latin typeface="Arial"/>
                <a:ea typeface="Microsoft YaHei"/>
              </a:rPr>
              <a:t>In many countries, giving investment advice requires a licence. Always add disclaimers.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Language: </a:t>
            </a:r>
            <a:r>
              <a:rPr sz="1700" b="0">
                <a:solidFill>
                  <a:srgbClr val="1F2A44"/>
                </a:solidFill>
                <a:latin typeface="Arial"/>
                <a:ea typeface="Microsoft YaHei"/>
              </a:rPr>
              <a:t>Avoid dramatic words (“crash”) unless appropriate; they can cause alarm.</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Units and symbols: </a:t>
            </a:r>
            <a:r>
              <a:rPr sz="1700" b="0">
                <a:solidFill>
                  <a:srgbClr val="1F2A44"/>
                </a:solidFill>
                <a:latin typeface="Arial"/>
                <a:ea typeface="Microsoft YaHei"/>
              </a:rPr>
              <a:t>Write currency symbols and units clearly ($, £, €, per ounce).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rise 是不及物动词(rose/risen);raise 是及物动词。price 的变化用 by / to / from… to…。safe haven 不是 safe house。投资有风险。</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volatile price chart.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causes and give a cautious outlook.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rise / raise and prepositions of change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basic terms such as volatility and safe haven.</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73 Precious Metals and Market Volatility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rise vs raise, prepositions of change, and cautious language for markets.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74 The Rise and Fall of Skype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Rise and Fall of Skype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Skype 的兴衰</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tell the story of a company’s rise and decline: growth, key decisions, competition, mistakes and lessons; practise narrative tenses in business.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used a product that became less popular over time? Which one?</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Why do successful companies sometimes decline?</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“disruption” in business?</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a company stay relevant for years?</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lessons can businesses learn from the decline of a market leader?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rise and fall = 兴衰。disrupt = 颠覆。market leader = 市场领导者。故事以 Skype 为例,但这里只作概括性描述,具体事实请自行查阅核实。</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Tell the story of a company’s rise and decline in a short talk.</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beginning</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success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turning point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decline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lessons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started out as…   💬 At its peak…   💬 The turning point came when…</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started out as… = 最初是……。At its peak = 巅峰时期。The turning point came when… = 转折点出现于……</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The Life Cycle of a Market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Skype is often cited as an example of a product that changed how people communicate. It popularised free internet calls and, at its peak, was used by a very large number of people for both personal and business conversations. Over time, however, competition intensified. New tools offered video calls inside messaging apps and workplace platforms, and smartphones changed user habits. Analysts have suggested several reasons for the decline of market leaders in general: changes in ownership and strategy, slower responses to new trends and products that become harder to use or less distinctive. Whatever the particular case, the lesson is clear. Success does not last unless a company keeps listening to users and adapting. Today’s leader can become tomorrow’s cautionary tale if it stops innovating. (This passage is a simplified, general account; check details before quoting.)</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did Skype popularise?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Free internet calls (for personal and business use).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changes increased competition?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Video calls inside messaging apps and workplace platforms, and smartphone habits.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general lesson?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Success doesn’t last unless a company keeps listening to users and adapting.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Telling a company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讲述企业故事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leader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市场领导者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were the market leader.”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competitor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竞争对手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new competitor emerged.”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acquire / acquisition</a:t>
            </a:r>
          </a:p>
          <a:p>
            <a:pPr algn="l">
              <a:lnSpc>
                <a:spcPct val="115000"/>
              </a:lnSpc>
              <a:spcAft>
                <a:spcPts val="800"/>
              </a:spcAft>
            </a:pPr>
            <a:r>
              <a:rPr sz="1300" b="0">
                <a:solidFill>
                  <a:srgbClr val="5F677A"/>
                </a:solidFill>
                <a:latin typeface="Arial"/>
                <a:ea typeface="Microsoft YaHei"/>
              </a:rPr>
              <a:t>verb / 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收购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was acquired in 2011.”</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user base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用户群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user base grew quickly.”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decline</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衰退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decline began slowly.”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disrupt</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颠覆</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“Streaming disrupted the industry.”</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Rise and fall language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兴衰用语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its peak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在巅峰时期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“At its peak, it had millions of users.”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out of favour</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product fell out of favour.”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lose ground to</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败给</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lost ground to rivals.”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rest on its laurels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吃老本</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rested on its laurels.”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writing on the wall</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不祥之兆</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writing was on the wall.”</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things around</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扭转局面</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tried to turn things around.”</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用户群</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user base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失宠</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out of favour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衰退</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decline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吃老本</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rest on its laurels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市场领导者</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leader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收购</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acquire / acquisition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败给</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ground 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竞争对手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market leader</a:t>
            </a:r>
          </a:p>
        </p:txBody>
      </p:sp>
      <p:sp>
        <p:nvSpPr>
          <p:cNvPr id="10" name="Rounded Rectangle 9"/>
          <p:cNvSpPr/>
          <p:nvPr/>
        </p:nvSpPr>
        <p:spPr>
          <a:xfrm>
            <a:off x="3895344"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competitor</a:t>
            </a:r>
          </a:p>
        </p:txBody>
      </p:sp>
      <p:sp>
        <p:nvSpPr>
          <p:cNvPr id="11" name="Rounded Rectangle 10"/>
          <p:cNvSpPr/>
          <p:nvPr/>
        </p:nvSpPr>
        <p:spPr>
          <a:xfrm>
            <a:off x="5449824"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acquired</a:t>
            </a:r>
          </a:p>
        </p:txBody>
      </p:sp>
      <p:sp>
        <p:nvSpPr>
          <p:cNvPr id="12" name="Rounded Rectangle 11"/>
          <p:cNvSpPr/>
          <p:nvPr/>
        </p:nvSpPr>
        <p:spPr>
          <a:xfrm>
            <a:off x="6784848"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user base</a:t>
            </a:r>
          </a:p>
        </p:txBody>
      </p:sp>
      <p:sp>
        <p:nvSpPr>
          <p:cNvPr id="13" name="Rounded Rectangle 12"/>
          <p:cNvSpPr/>
          <p:nvPr/>
        </p:nvSpPr>
        <p:spPr>
          <a:xfrm>
            <a:off x="8229600"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disrupted</a:t>
            </a:r>
          </a:p>
        </p:txBody>
      </p:sp>
      <p:sp>
        <p:nvSpPr>
          <p:cNvPr id="14" name="Rounded Rectangle 13"/>
          <p:cNvSpPr/>
          <p:nvPr/>
        </p:nvSpPr>
        <p:spPr>
          <a:xfrm>
            <a:off x="9674352"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 its peak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For years the company was the _______ in its sector.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leader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new _______ offered a better product at a lower price.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competitor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start-up was _______ by a larger firm in 2019.</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acquired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Its _______ grew rapidly in the first five years.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user base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Digital cameras _______ the film industry.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disrupted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_______, the company employed 5,000 people.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 its peak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acquisition (not “aquisition”), competitor, decline. Acquire a company, be acquired by, take over. In decline (state) vs decline (verb). Rise to prominence, fall from grace. Lose market share, to a competitor. Use past tenses to narrate.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Telling the story of a company’s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讲述一家公司的衰落</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business seminar, you give a short talk about why a once-leading product lost its position.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Kai Wang, speaker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Prof. Lane, seminar chair</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the story of a company’s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Professor. I’d like to talk about how a market leader can lose its position.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Prof. Lane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go ahead.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product started out as a simple tool for free calls and became very popular.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made it successful?</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easy to use, it was free and it solved a real problem.</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changed?</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the story of a company’s decline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turning point came when rivals built calling into other apps. Users no longer needed a separate program.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the company respond?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tried, but it was slow, and the product became more complicated.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lessons do you draw?</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never assume that today’s advantage will last. Second, keep your product simple. Third, listen to users.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good summary. Thank you.</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I’m happy to take questions.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Telling the story of a company’s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tell a company’s story.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Company: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Ask for causes and lessons.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started out as · at its peak · the turning point came when · lost ground · lessons · assume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Cover rise, turning point, decline and lessons.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Prof. Lane asks: “Could it have been avoided?” Answer with hedging.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Tell the rise and fall of a company you know in 60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three lessons from a market leader’s decline.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successful companies sometimes decline?</a:t>
            </a:r>
          </a:p>
          <a:p>
            <a:pPr algn="l">
              <a:lnSpc>
                <a:spcPct val="115000"/>
              </a:lnSpc>
              <a:spcAft>
                <a:spcPts val="800"/>
              </a:spcAft>
            </a:pPr>
            <a:r>
              <a:rPr sz="1400" b="0">
                <a:solidFill>
                  <a:srgbClr val="5F677A"/>
                </a:solidFill>
                <a:latin typeface="Arial"/>
                <a:ea typeface="Microsoft YaHei"/>
              </a:rPr>
              <a:t>💬 “Possible reasons include… / One factor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avoid complacency?</a:t>
            </a:r>
          </a:p>
          <a:p>
            <a:pPr algn="l">
              <a:lnSpc>
                <a:spcPct val="115000"/>
              </a:lnSpc>
              <a:spcAft>
                <a:spcPts val="800"/>
              </a:spcAft>
            </a:pPr>
            <a:r>
              <a:rPr sz="1400" b="0">
                <a:solidFill>
                  <a:srgbClr val="5F677A"/>
                </a:solidFill>
                <a:latin typeface="Arial"/>
                <a:ea typeface="Microsoft YaHei"/>
              </a:rPr>
              <a:t>💬 “By listening to… / Encouraging…”</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companies do you think are at risk of decline?</a:t>
            </a:r>
          </a:p>
          <a:p>
            <a:pPr algn="l">
              <a:lnSpc>
                <a:spcPct val="115000"/>
              </a:lnSpc>
              <a:spcAft>
                <a:spcPts val="800"/>
              </a:spcAft>
            </a:pPr>
            <a:r>
              <a:rPr sz="1400" b="0">
                <a:solidFill>
                  <a:srgbClr val="5F677A"/>
                </a:solidFill>
                <a:latin typeface="Arial"/>
                <a:ea typeface="Microsoft YaHei"/>
              </a:rPr>
              <a:t>💬 “I think … might … if they don’t…”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start-ups learn from older companies’ mistakes?</a:t>
            </a:r>
          </a:p>
          <a:p>
            <a:pPr algn="l">
              <a:lnSpc>
                <a:spcPct val="115000"/>
              </a:lnSpc>
              <a:spcAft>
                <a:spcPts val="800"/>
              </a:spcAft>
            </a:pPr>
            <a:r>
              <a:rPr sz="1400" b="0">
                <a:solidFill>
                  <a:srgbClr val="5F677A"/>
                </a:solidFill>
                <a:latin typeface="Arial"/>
                <a:ea typeface="Microsoft YaHei"/>
              </a:rPr>
              <a:t>💬 “They can learn… / It’s important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One of the biggest dangers is complacency. When a company is successful, it can become comfortable and stop questioning its assumptions. It may ignore small competitors or new technology that seem unimportant at first. To avoid this, leaders can encourage dissent, invest in experiments and listen carefully to customers, especially those who leave. The aim is to keep a sense of urgency even when things are going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complacency = 自满。dissent = 异议。”sense of urgency” = 紧迫感。”questioning assumptions” = 质疑既有假设。</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company was big, then small.</a:t>
                      </a:r>
                    </a:p>
                  </a:txBody>
                  <a:tcPr anchor="ctr">
                    <a:solidFill>
                      <a:srgbClr val="FFFFFF"/>
                    </a:solidFill>
                  </a:tcPr>
                </a:tc>
                <a:tc>
                  <a:txBody>
                    <a:bodyPr wrap="square"/>
                    <a:lstStyle/>
                    <a:p>
                      <a:r>
                        <a:rPr sz="1600" b="0">
                          <a:solidFill>
                            <a:srgbClr val="1F2A44"/>
                          </a:solidFill>
                          <a:latin typeface="Arial"/>
                          <a:ea typeface="Microsoft YaHei"/>
                        </a:rPr>
                        <a:t>The company declined after reaching its peak.</a:t>
                      </a:r>
                    </a:p>
                  </a:txBody>
                  <a:tcPr anchor="ctr">
                    <a:solidFill>
                      <a:srgbClr val="FFFFFF"/>
                    </a:solidFill>
                  </a:tcPr>
                </a:tc>
                <a:tc>
                  <a:txBody>
                    <a:bodyPr wrap="square"/>
                    <a:lstStyle/>
                    <a:p>
                      <a:r>
                        <a:rPr sz="1600" b="0">
                          <a:solidFill>
                            <a:srgbClr val="FF6B5B"/>
                          </a:solidFill>
                          <a:latin typeface="Arial"/>
                          <a:ea typeface="Microsoft YaHei"/>
                        </a:rPr>
                        <a:t>动词</a:t>
                      </a:r>
                    </a:p>
                  </a:txBody>
                  <a:tcPr anchor="ctr">
                    <a:solidFill>
                      <a:srgbClr val="FFFFFF"/>
                    </a:solidFill>
                  </a:tcPr>
                </a:tc>
              </a:tr>
              <a:tr h="408432">
                <a:tc>
                  <a:txBody>
                    <a:bodyPr wrap="square"/>
                    <a:lstStyle/>
                    <a:p>
                      <a:r>
                        <a:rPr sz="1600" b="1">
                          <a:solidFill>
                            <a:srgbClr val="1F2A44"/>
                          </a:solidFill>
                          <a:latin typeface="Arial"/>
                          <a:ea typeface="Microsoft YaHei"/>
                        </a:rPr>
                        <a:t>It was popular.</a:t>
                      </a:r>
                    </a:p>
                  </a:txBody>
                  <a:tcPr anchor="ctr">
                    <a:solidFill>
                      <a:srgbClr val="FFEFD9"/>
                    </a:solidFill>
                  </a:tcPr>
                </a:tc>
                <a:tc>
                  <a:txBody>
                    <a:bodyPr wrap="square"/>
                    <a:lstStyle/>
                    <a:p>
                      <a:r>
                        <a:rPr sz="1600" b="0">
                          <a:solidFill>
                            <a:srgbClr val="1F2A44"/>
                          </a:solidFill>
                          <a:latin typeface="Arial"/>
                          <a:ea typeface="Microsoft YaHei"/>
                        </a:rPr>
                        <a:t>It was widely used.</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They didn’t change.</a:t>
                      </a:r>
                    </a:p>
                  </a:txBody>
                  <a:tcPr anchor="ctr">
                    <a:solidFill>
                      <a:srgbClr val="FFFFFF"/>
                    </a:solidFill>
                  </a:tcPr>
                </a:tc>
                <a:tc>
                  <a:txBody>
                    <a:bodyPr wrap="square"/>
                    <a:lstStyle/>
                    <a:p>
                      <a:r>
                        <a:rPr sz="1600" b="0">
                          <a:solidFill>
                            <a:srgbClr val="1F2A44"/>
                          </a:solidFill>
                          <a:latin typeface="Arial"/>
                          <a:ea typeface="Microsoft YaHei"/>
                        </a:rPr>
                        <a:t>They failed to adapt.</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652272">
                <a:tc>
                  <a:txBody>
                    <a:bodyPr wrap="square"/>
                    <a:lstStyle/>
                    <a:p>
                      <a:r>
                        <a:rPr sz="1600" b="1">
                          <a:solidFill>
                            <a:srgbClr val="1F2A44"/>
                          </a:solidFill>
                          <a:latin typeface="Arial"/>
                          <a:ea typeface="Microsoft YaHei"/>
                        </a:rPr>
                        <a:t>Another company was better.</a:t>
                      </a:r>
                    </a:p>
                  </a:txBody>
                  <a:tcPr anchor="ctr">
                    <a:solidFill>
                      <a:srgbClr val="FFEFD9"/>
                    </a:solidFill>
                  </a:tcPr>
                </a:tc>
                <a:tc>
                  <a:txBody>
                    <a:bodyPr wrap="square"/>
                    <a:lstStyle/>
                    <a:p>
                      <a:r>
                        <a:rPr sz="1600" b="0">
                          <a:solidFill>
                            <a:srgbClr val="1F2A44"/>
                          </a:solidFill>
                          <a:latin typeface="Arial"/>
                          <a:ea typeface="Microsoft YaHei"/>
                        </a:rPr>
                        <a:t>A rival offered a better alternative.</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They bought it.</a:t>
                      </a:r>
                    </a:p>
                  </a:txBody>
                  <a:tcPr anchor="ctr">
                    <a:solidFill>
                      <a:srgbClr val="FFFFFF"/>
                    </a:solidFill>
                  </a:tcPr>
                </a:tc>
                <a:tc>
                  <a:txBody>
                    <a:bodyPr wrap="square"/>
                    <a:lstStyle/>
                    <a:p>
                      <a:r>
                        <a:rPr sz="1600" b="0">
                          <a:solidFill>
                            <a:srgbClr val="1F2A44"/>
                          </a:solidFill>
                          <a:latin typeface="Arial"/>
                          <a:ea typeface="Microsoft YaHei"/>
                        </a:rPr>
                        <a:t>It was acquired by a larger company.</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bl>
          </a:graphicData>
        </a:graphic>
      </p:graphicFrame>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Narrative tenses: </a:t>
            </a:r>
            <a:r>
              <a:rPr sz="1700" b="0">
                <a:solidFill>
                  <a:srgbClr val="1F2A44"/>
                </a:solidFill>
                <a:latin typeface="Arial"/>
                <a:ea typeface="Microsoft YaHei"/>
              </a:rPr>
              <a:t>past simple (main events), past continuous (background), past perfect (earlier events): “It had grown quickly before rivals appeared.”</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Time markers: </a:t>
            </a:r>
            <a:r>
              <a:rPr sz="1700" b="0">
                <a:solidFill>
                  <a:srgbClr val="1F2A44"/>
                </a:solidFill>
                <a:latin typeface="Arial"/>
                <a:ea typeface="Microsoft YaHei"/>
              </a:rPr>
              <a:t>at first, then, in the early years, later, by that time, eventually.</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Passive for acquisition: </a:t>
            </a:r>
            <a:r>
              <a:rPr sz="1700" b="0">
                <a:solidFill>
                  <a:srgbClr val="1F2A44"/>
                </a:solidFill>
                <a:latin typeface="Arial"/>
                <a:ea typeface="Microsoft YaHei"/>
              </a:rPr>
              <a:t>“It was acquired by…” / “The deal was announced in…”</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Hedging causes: </a:t>
            </a:r>
            <a:r>
              <a:rPr sz="1700" b="0">
                <a:solidFill>
                  <a:srgbClr val="1F2A44"/>
                </a:solidFill>
                <a:latin typeface="Arial"/>
                <a:ea typeface="Microsoft YaHei"/>
              </a:rPr>
              <a:t>One factor may have been…, Analysts have suggested…</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was founded in 2003 year.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was founded in 2003.</a:t>
            </a:r>
          </a:p>
          <a:p>
            <a:pPr algn="l">
              <a:spcAft>
                <a:spcPts val="200"/>
              </a:spcAft>
            </a:pPr>
            <a:r>
              <a:rPr sz="1200" b="0">
                <a:solidFill>
                  <a:srgbClr val="FFFFFF"/>
                </a:solidFill>
                <a:latin typeface="Arial"/>
                <a:ea typeface="Microsoft YaHei"/>
              </a:rPr>
              <a:t>年份无 year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has been popular in the 2000s.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popular in the 2000s.</a:t>
            </a:r>
          </a:p>
          <a:p>
            <a:pPr algn="l">
              <a:spcAft>
                <a:spcPts val="200"/>
              </a:spcAft>
            </a:pPr>
            <a:r>
              <a:rPr sz="1200" b="0">
                <a:solidFill>
                  <a:srgbClr val="FFFFFF"/>
                </a:solidFill>
                <a:latin typeface="Arial"/>
                <a:ea typeface="Microsoft YaHei"/>
              </a:rPr>
              <a:t>过去时间用过去式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had bought by a bigger company.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were bought by a bigger company.</a:t>
            </a:r>
          </a:p>
          <a:p>
            <a:pPr algn="l">
              <a:spcAft>
                <a:spcPts val="200"/>
              </a:spcAft>
            </a:pPr>
            <a:r>
              <a:rPr sz="1200" b="0">
                <a:solidFill>
                  <a:srgbClr val="FFFFFF"/>
                </a:solidFill>
                <a:latin typeface="Arial"/>
                <a:ea typeface="Microsoft YaHei"/>
              </a:rPr>
              <a:t>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becomes famous in 2005.</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became famous in 2005.</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falling since 2015.</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has been falling since 2015.</a:t>
            </a:r>
          </a:p>
          <a:p>
            <a:pPr algn="l">
              <a:spcAft>
                <a:spcPts val="200"/>
              </a:spcAft>
            </a:pPr>
            <a:r>
              <a:rPr sz="1200" b="0">
                <a:solidFill>
                  <a:srgbClr val="FFFFFF"/>
                </a:solidFill>
                <a:latin typeface="Arial"/>
                <a:ea typeface="Microsoft YaHei"/>
              </a:rPr>
              <a:t>现在完成进行时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fail to change and lost customers.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failed to change and lost customers.</a:t>
            </a:r>
          </a:p>
          <a:p>
            <a:pPr algn="l">
              <a:spcAft>
                <a:spcPts val="200"/>
              </a:spcAft>
            </a:pPr>
            <a:r>
              <a:rPr sz="1200" b="0">
                <a:solidFill>
                  <a:srgbClr val="FFFFFF"/>
                </a:solidFill>
                <a:latin typeface="Arial"/>
                <a:ea typeface="Microsoft YaHei"/>
              </a:rPr>
              <a:t>时态一致</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tense consistency, passive forms and time expressions.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Business stories: </a:t>
            </a:r>
            <a:r>
              <a:rPr sz="1700" b="0">
                <a:solidFill>
                  <a:srgbClr val="1F2A44"/>
                </a:solidFill>
                <a:latin typeface="Arial"/>
                <a:ea typeface="Microsoft YaHei"/>
              </a:rPr>
              <a:t>English-speaking audiences like a clear narrative: problem, action, result, lesson.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Accuracy: </a:t>
            </a:r>
            <a:r>
              <a:rPr sz="1700" b="0">
                <a:solidFill>
                  <a:srgbClr val="1F2A44"/>
                </a:solidFill>
                <a:latin typeface="Arial"/>
                <a:ea typeface="Microsoft YaHei"/>
              </a:rPr>
              <a:t>Verify facts, dates and numbers before presenting a case study.</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Tone: </a:t>
            </a:r>
            <a:r>
              <a:rPr sz="1700" b="0">
                <a:solidFill>
                  <a:srgbClr val="1F2A44"/>
                </a:solidFill>
                <a:latin typeface="Arial"/>
                <a:ea typeface="Microsoft YaHei"/>
              </a:rPr>
              <a:t>Avoid mocking failed companies; people lost jobs.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讲过去故事用过去时;”since” 配现在完成(进行)时;被动语态 was acquired by。注意:本课文章为概括性介绍,引用事实前请核实。</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the story of a company’s rise and fall.</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narrative tenses correctly.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draw lessons with hedged language.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for acquisitions.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74 The Rise and Fall of Skype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narrative tenses, passive for acquisitions, and time markers.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75 China’s Green Transition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China’s Green Transition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中国的绿色转型</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a country’s transition to cleaner energy and industry: policy, investment, challenges and opportunities, using careful, balanced language.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“going green” mean for a business or a country?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steps can governments take to reduce emissions?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challenges of moving away from coal and oil?</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companies profit from green industries?</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individuals or governments have more influence on climate change?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transition = 转型。renewable energy = 可再生能源。emissions = 排放。本课讨论宏观趋势,不涉及具体数据,请以最新官方资料为准。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opportunities and challenges of a national green transition.</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background</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measures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opportunities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challenges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outlook</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government has set targets to…   💬 This creates opportunities for…   💬 However, challenges remain, such as…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has set targets to… 表示已设定目标。challenges remain 表示挑战仍然存在。 such as 举例。</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Changing the Energy Mix</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Many large economies are trying to reduce emissions while keeping their industries competitive. China, as a major manufacturer and energy consumer, has announced long-term climate goals and has invested heavily in renewable energy, electric vehicles and related technologies. The shift creates opportunities: new jobs, cleaner air in cities and export markets for green technology. At the same time, the transition is complex. Coal and heavy industry still play a major role in many regions, and changing the energy system takes time, money and careful planning. Analysts also point out that electricity grids must be upgraded to handle variable renewable power. Success depends on policy, investment, innovation and international cooperation. (This passage is a general overview; consult up-to-date official sources for figures and targets.)</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goals has China announced, according to the passage?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Long-term climate goals, with heavy investment in renewables, EVs and related technologies.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opportunities does the shift create?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New jobs, cleaner city air and export markets for green technology.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challenges are mentioned?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Continuing reliance on coal and heavy industry, time, money, planning and upgrading grids.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Green economy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绿色经济术语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green transition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绿色转型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green transition is under way.”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renewable energy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可再生能源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“Renewable energy is growing.”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emissions</a:t>
            </a:r>
          </a:p>
          <a:p>
            <a:pPr algn="l">
              <a:lnSpc>
                <a:spcPct val="115000"/>
              </a:lnSpc>
              <a:spcAft>
                <a:spcPts val="800"/>
              </a:spcAft>
            </a:pPr>
            <a:r>
              <a:rPr sz="1300" b="0">
                <a:solidFill>
                  <a:srgbClr val="5F677A"/>
                </a:solidFill>
                <a:latin typeface="Arial"/>
                <a:ea typeface="Microsoft YaHei"/>
              </a:rPr>
              <a:t>noun (plural)</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“Emissions must fall.”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carbon neutral</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碳中和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aim to be carbon neutral.”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energy mix</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能源结构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energy mix is changing.”</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fossil fuels</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化石燃料</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“Fossil fuels still dominate.”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Policy and progress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政策与进展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phase out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逐步淘汰</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“Coal plants will be phased out.”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set a target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设定目标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government set a target.”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invest heavily in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大力投资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invested heavily in solar power.”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 curb emissions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减少排放</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“Policies aim to curb emissions.”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shift towards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转向</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shift towards clean energy.”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economies of scale</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规模经济</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“Economies of scale lowered costs.”</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逐步淘汰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 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规模经济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economies of scale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减少排放</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 curb emissions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设定目标</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a target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化石燃料</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fossil fuels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排放</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emissions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绿色转型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green transition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可再生能源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renewable energy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transition</a:t>
            </a:r>
          </a:p>
        </p:txBody>
      </p:sp>
      <p:sp>
        <p:nvSpPr>
          <p:cNvPr id="10" name="Rounded Rectangle 9"/>
          <p:cNvSpPr/>
          <p:nvPr/>
        </p:nvSpPr>
        <p:spPr>
          <a:xfrm>
            <a:off x="3566160" y="987552"/>
            <a:ext cx="212140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renewable energy</a:t>
            </a:r>
          </a:p>
        </p:txBody>
      </p:sp>
      <p:sp>
        <p:nvSpPr>
          <p:cNvPr id="11" name="Rounded Rectangle 10"/>
          <p:cNvSpPr/>
          <p:nvPr/>
        </p:nvSpPr>
        <p:spPr>
          <a:xfrm>
            <a:off x="5779008"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emissions</a:t>
            </a:r>
          </a:p>
        </p:txBody>
      </p:sp>
      <p:sp>
        <p:nvSpPr>
          <p:cNvPr id="12" name="Rounded Rectangle 11"/>
          <p:cNvSpPr/>
          <p:nvPr/>
        </p:nvSpPr>
        <p:spPr>
          <a:xfrm>
            <a:off x="7223760"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carbon neutral</a:t>
            </a:r>
          </a:p>
        </p:txBody>
      </p:sp>
      <p:sp>
        <p:nvSpPr>
          <p:cNvPr id="13" name="Rounded Rectangle 12"/>
          <p:cNvSpPr/>
          <p:nvPr/>
        </p:nvSpPr>
        <p:spPr>
          <a:xfrm>
            <a:off x="9217152"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phase out</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country is making a green _______ in its energy sector.</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transition</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Wind and solar are forms of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renewable energy</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Cars are a major source of _______.</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emissions</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company aims to become _______ by 2040.</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carbon neutral</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Many countries plan to _______ coal in the coming decades.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 out</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Large-scale production led to _______ and lower prices.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economies of scale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 green transition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与同事讨论绿色转型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analysts discuss the opportunities and difficulties of a major economy’s green transition.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Kim Lai, energy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Dr Stevens, policy adviser</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green transition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Kim</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Dr Stevens, how do you see the green transition progressing?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Dr Stevens</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general, quite fast. Governments have set targets, and investment in renewables has grown a great deal.</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opportunities does it create?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New industries and jobs, cleaner air in cities and export markets for clean technology.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challenges?</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green transition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Several. Coal still supplies much of the power in some regions, and grids need upgrading.</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Also, jobs in traditional industries could be affected.</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A fair transition should include retraining for those workers.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the targets are realistic?</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depends. They’re ambitious, but progress seems to be encouraging, though the details will matter.</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green transition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could go wrong?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Delays in grid upgrades or financing, for example. But it’s difficult to say.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 balanced view.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try to be.</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 green transition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green transition.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Country/industry: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 Give a balanced view of benefits and challenges.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set targets · invest in · phase out · opportunities · challenges remain · fair transition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progress, one opportunity and one challenge.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Dr Stevens says: “Green policies kill jobs.” Respond with balance.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company’s environmental policy.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one way a business can cut emissions.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main benefits of a green transition?</a:t>
            </a:r>
          </a:p>
          <a:p>
            <a:pPr algn="l">
              <a:lnSpc>
                <a:spcPct val="115000"/>
              </a:lnSpc>
              <a:spcAft>
                <a:spcPts val="800"/>
              </a:spcAft>
            </a:pPr>
            <a:r>
              <a:rPr sz="1400" b="0">
                <a:solidFill>
                  <a:srgbClr val="5F677A"/>
                </a:solidFill>
                <a:latin typeface="Arial"/>
                <a:ea typeface="Microsoft YaHei"/>
              </a:rPr>
              <a:t>💬 “Benefits include… / It can improve…”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for the green transition?</a:t>
            </a:r>
          </a:p>
          <a:p>
            <a:pPr algn="l">
              <a:lnSpc>
                <a:spcPct val="115000"/>
              </a:lnSpc>
              <a:spcAft>
                <a:spcPts val="800"/>
              </a:spcAft>
            </a:pPr>
            <a:r>
              <a:rPr sz="1400" b="0">
                <a:solidFill>
                  <a:srgbClr val="5F677A"/>
                </a:solidFill>
                <a:latin typeface="Arial"/>
                <a:ea typeface="Microsoft YaHei"/>
              </a:rPr>
              <a:t>💬 “It should be shared between… / Governments could…”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individual actions important?</a:t>
            </a:r>
          </a:p>
          <a:p>
            <a:pPr algn="l">
              <a:lnSpc>
                <a:spcPct val="115000"/>
              </a:lnSpc>
              <a:spcAft>
                <a:spcPts val="800"/>
              </a:spcAft>
            </a:pPr>
            <a:r>
              <a:rPr sz="1400" b="0">
                <a:solidFill>
                  <a:srgbClr val="5F677A"/>
                </a:solidFill>
                <a:latin typeface="Arial"/>
                <a:ea typeface="Microsoft YaHei"/>
              </a:rPr>
              <a:t>💬 “Yes, but system change is needed too.”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businesses profit from sustainability?</a:t>
            </a:r>
          </a:p>
          <a:p>
            <a:pPr algn="l">
              <a:lnSpc>
                <a:spcPct val="115000"/>
              </a:lnSpc>
              <a:spcAft>
                <a:spcPts val="800"/>
              </a:spcAft>
            </a:pPr>
            <a:r>
              <a:rPr sz="1400" b="0">
                <a:solidFill>
                  <a:srgbClr val="5F677A"/>
                </a:solidFill>
                <a:latin typeface="Arial"/>
                <a:ea typeface="Microsoft YaHei"/>
              </a:rPr>
              <a:t>💬 “By developing… / Reducing waste saves…”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cost should be shared between governments, businesses and consumers, but in a fair way. Governments can provide incentives and regulation, businesses can invest in cleaner processes and consumers can choose greener products. However, it’s important to protect lower-income households and workers in traditional industries who might otherwise bear a disproportionate burden. Fairness is essential to keep public support.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incentives = 激励措施。”bear a burden” = 承担负担。disproportionate = 不成比例的。public support = 公众支持。</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China makes green things.</a:t>
                      </a:r>
                    </a:p>
                  </a:txBody>
                  <a:tcPr anchor="ctr">
                    <a:solidFill>
                      <a:srgbClr val="FFFFFF"/>
                    </a:solidFill>
                  </a:tcPr>
                </a:tc>
                <a:tc>
                  <a:txBody>
                    <a:bodyPr wrap="square"/>
                    <a:lstStyle/>
                    <a:p>
                      <a:r>
                        <a:rPr sz="1600" b="0">
                          <a:solidFill>
                            <a:srgbClr val="1F2A44"/>
                          </a:solidFill>
                          <a:latin typeface="Arial"/>
                          <a:ea typeface="Microsoft YaHei"/>
                        </a:rPr>
                        <a:t>China is investing heavily in clean technology.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Pollution is bad.</a:t>
                      </a:r>
                    </a:p>
                  </a:txBody>
                  <a:tcPr anchor="ctr">
                    <a:solidFill>
                      <a:srgbClr val="FFEFD9"/>
                    </a:solidFill>
                  </a:tcPr>
                </a:tc>
                <a:tc>
                  <a:txBody>
                    <a:bodyPr wrap="square"/>
                    <a:lstStyle/>
                    <a:p>
                      <a:r>
                        <a:rPr sz="1600" b="0">
                          <a:solidFill>
                            <a:srgbClr val="1F2A44"/>
                          </a:solidFill>
                          <a:latin typeface="Arial"/>
                          <a:ea typeface="Microsoft YaHei"/>
                        </a:rPr>
                        <a:t>Air pollution is a serious concern.</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408432">
                <a:tc>
                  <a:txBody>
                    <a:bodyPr wrap="square"/>
                    <a:lstStyle/>
                    <a:p>
                      <a:r>
                        <a:rPr sz="1600" b="1">
                          <a:solidFill>
                            <a:srgbClr val="1F2A44"/>
                          </a:solidFill>
                          <a:latin typeface="Arial"/>
                          <a:ea typeface="Microsoft YaHei"/>
                        </a:rPr>
                        <a:t>They stop coal.</a:t>
                      </a:r>
                    </a:p>
                  </a:txBody>
                  <a:tcPr anchor="ctr">
                    <a:solidFill>
                      <a:srgbClr val="FFFFFF"/>
                    </a:solidFill>
                  </a:tcPr>
                </a:tc>
                <a:tc>
                  <a:txBody>
                    <a:bodyPr wrap="square"/>
                    <a:lstStyle/>
                    <a:p>
                      <a:r>
                        <a:rPr sz="1600" b="0">
                          <a:solidFill>
                            <a:srgbClr val="1F2A44"/>
                          </a:solidFill>
                          <a:latin typeface="Arial"/>
                          <a:ea typeface="Microsoft YaHei"/>
                        </a:rPr>
                        <a:t>They plan to phase out coal.</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652272">
                <a:tc>
                  <a:txBody>
                    <a:bodyPr wrap="square"/>
                    <a:lstStyle/>
                    <a:p>
                      <a:r>
                        <a:rPr sz="1600" b="1">
                          <a:solidFill>
                            <a:srgbClr val="1F2A44"/>
                          </a:solidFill>
                          <a:latin typeface="Arial"/>
                          <a:ea typeface="Microsoft YaHei"/>
                        </a:rPr>
                        <a:t>Cost money.</a:t>
                      </a:r>
                    </a:p>
                  </a:txBody>
                  <a:tcPr anchor="ctr">
                    <a:solidFill>
                      <a:srgbClr val="FFEFD9"/>
                    </a:solidFill>
                  </a:tcPr>
                </a:tc>
                <a:tc>
                  <a:txBody>
                    <a:bodyPr wrap="square"/>
                    <a:lstStyle/>
                    <a:p>
                      <a:r>
                        <a:rPr sz="1600" b="0">
                          <a:solidFill>
                            <a:srgbClr val="1F2A44"/>
                          </a:solidFill>
                          <a:latin typeface="Arial"/>
                          <a:ea typeface="Microsoft YaHei"/>
                        </a:rPr>
                        <a:t>It requires significant investment.</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408432">
                <a:tc>
                  <a:txBody>
                    <a:bodyPr wrap="square"/>
                    <a:lstStyle/>
                    <a:p>
                      <a:r>
                        <a:rPr sz="1600" b="1">
                          <a:solidFill>
                            <a:srgbClr val="1F2A44"/>
                          </a:solidFill>
                          <a:latin typeface="Arial"/>
                          <a:ea typeface="Microsoft YaHei"/>
                        </a:rPr>
                        <a:t>Maybe good.</a:t>
                      </a:r>
                    </a:p>
                  </a:txBody>
                  <a:tcPr anchor="ctr">
                    <a:solidFill>
                      <a:srgbClr val="FFFFFF"/>
                    </a:solidFill>
                  </a:tcPr>
                </a:tc>
                <a:tc>
                  <a:txBody>
                    <a:bodyPr wrap="square"/>
                    <a:lstStyle/>
                    <a:p>
                      <a:r>
                        <a:rPr sz="1600" b="0">
                          <a:solidFill>
                            <a:srgbClr val="1F2A44"/>
                          </a:solidFill>
                          <a:latin typeface="Arial"/>
                          <a:ea typeface="Microsoft YaHei"/>
                        </a:rPr>
                        <a:t>The outlook appears encouraging.</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bl>
          </a:graphicData>
        </a:graphic>
      </p:graphicFrame>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perfect for progress: </a:t>
            </a:r>
            <a:r>
              <a:rPr sz="1700" b="0">
                <a:solidFill>
                  <a:srgbClr val="1F2A44"/>
                </a:solidFill>
                <a:latin typeface="Arial"/>
                <a:ea typeface="Microsoft YaHei"/>
              </a:rPr>
              <a:t>“Investment has grown.” / “Emissions have started to fall.”</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Passive for policy: </a:t>
            </a:r>
            <a:r>
              <a:rPr sz="1700" b="0">
                <a:solidFill>
                  <a:srgbClr val="1F2A44"/>
                </a:solidFill>
                <a:latin typeface="Arial"/>
                <a:ea typeface="Microsoft YaHei"/>
              </a:rPr>
              <a:t>“Targets have been set.” / “Coal plants will be closed.”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Balanced language: </a:t>
            </a:r>
            <a:r>
              <a:rPr sz="1700" b="0">
                <a:solidFill>
                  <a:srgbClr val="1F2A44"/>
                </a:solidFill>
                <a:latin typeface="Arial"/>
                <a:ea typeface="Microsoft YaHei"/>
              </a:rPr>
              <a:t>On the one hand… On the other… / While… / Although…</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Hedging: </a:t>
            </a:r>
            <a:r>
              <a:rPr sz="1700" b="0">
                <a:solidFill>
                  <a:srgbClr val="1F2A44"/>
                </a:solidFill>
                <a:latin typeface="Arial"/>
                <a:ea typeface="Microsoft YaHei"/>
              </a:rPr>
              <a:t>appears to, tends to, is likely to, may well, seems to.</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emission is increasing.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Emissions are increasing.</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Government should do it for save energy.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government should do it to save energy.</a:t>
            </a:r>
          </a:p>
          <a:p>
            <a:pPr algn="l">
              <a:spcAft>
                <a:spcPts val="200"/>
              </a:spcAft>
            </a:pPr>
            <a:r>
              <a:rPr sz="1200" b="0">
                <a:solidFill>
                  <a:srgbClr val="FFFFFF"/>
                </a:solidFill>
                <a:latin typeface="Arial"/>
                <a:ea typeface="Microsoft YaHei"/>
              </a:rPr>
              <a:t>to + 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pollution are serious.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Pollution is serious.</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protect environment.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protect the environment.</a:t>
            </a:r>
          </a:p>
          <a:p>
            <a:pPr algn="l">
              <a:spcAft>
                <a:spcPts val="200"/>
              </a:spcAft>
            </a:pPr>
            <a:r>
              <a:rPr sz="1200" b="0">
                <a:solidFill>
                  <a:srgbClr val="FFFFFF"/>
                </a:solidFill>
                <a:latin typeface="Arial"/>
                <a:ea typeface="Microsoft YaHei"/>
              </a:rPr>
              <a:t>the environment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Renewables energies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Renewable energy</a:t>
            </a:r>
          </a:p>
          <a:p>
            <a:pPr algn="l">
              <a:spcAft>
                <a:spcPts val="200"/>
              </a:spcAft>
            </a:pPr>
            <a:r>
              <a:rPr sz="1200" b="0">
                <a:solidFill>
                  <a:srgbClr val="FFFFFF"/>
                </a:solidFill>
                <a:latin typeface="Arial"/>
                <a:ea typeface="Microsoft YaHei"/>
              </a:rPr>
              <a:t>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transition is happened.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transition is happening.</a:t>
            </a:r>
          </a:p>
          <a:p>
            <a:pPr algn="l">
              <a:spcAft>
                <a:spcPts val="200"/>
              </a:spcAft>
            </a:pPr>
            <a:r>
              <a:rPr sz="1200" b="0">
                <a:solidFill>
                  <a:srgbClr val="FFFFFF"/>
                </a:solidFill>
                <a:latin typeface="Arial"/>
                <a:ea typeface="Microsoft YaHei"/>
              </a:rPr>
              <a:t>进行时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pollution, the environment, and purpose infinitive.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Sensitive topics: </a:t>
            </a:r>
            <a:r>
              <a:rPr sz="1700" b="0">
                <a:solidFill>
                  <a:srgbClr val="1F2A44"/>
                </a:solidFill>
                <a:latin typeface="Arial"/>
                <a:ea typeface="Microsoft YaHei"/>
              </a:rPr>
              <a:t>Environmental and political topics can be sensitive. Keep tone balanced and fact-based.</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Corporate claims: </a:t>
            </a:r>
            <a:r>
              <a:rPr sz="1700" b="0">
                <a:solidFill>
                  <a:srgbClr val="1F2A44"/>
                </a:solidFill>
                <a:latin typeface="Arial"/>
                <a:ea typeface="Microsoft YaHei"/>
              </a:rPr>
              <a:t>Avoid “greenwashing”; back up claims with evidence.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Terms: </a:t>
            </a:r>
            <a:r>
              <a:rPr sz="1700" b="0">
                <a:solidFill>
                  <a:srgbClr val="1F2A44"/>
                </a:solidFill>
                <a:latin typeface="Arial"/>
                <a:ea typeface="Microsoft YaHei"/>
              </a:rPr>
              <a:t>“Carbon neutral” and “net zero” are related but not identical; define before using.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environment 要加 the;pollution 不可数;purpose 用 to + 动词。讨论国家政策要平衡、有证据,不要绝对化。</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opportunities and challenges of a green transition.</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balanced and hedged language.</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present perfect and passive for policy.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environment and uncountable nouns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75 China’s Green Transition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the environment, uncountable pollution, and balanced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76 The Growth of Biofuels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Growth of Biofuels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生物燃料增长</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biofuels: what they are, benefits and criticisms, debates about land use and food, and how to evaluate claims.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of biofuels? What are they?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biofuels be attractive to governments or airlines?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might they cause?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we judge whether a fuel is really “green”?</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want to know before investing in a biofuel company?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biofuel = 生物燃料;feedstock = 原料(如作物、废油)。lifecycle = 全生命周期。第 4 题可用 “over its whole lifecycle”。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the pros and cons of biofuels in a short talk.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concerns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conclusion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Biofuels are made from…   💬 On the plus side… On the downside…   💬 To sum up, they can play a role, but…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are made from… 被动。play a role = 发挥作用。To sum up 总结。</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Fuel from Plants?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Biofuels are fuels produced from plants, waste oils or other organic material. They can be mixed with petrol or diesel, or used in sectors like aviation and shipping, where electric alternatives are harder to find. Supporters say that they can lower carbon emissions, use existing engines and fuel networks, and create new markets for farmers. Critics raise concerns, however. If crops are grown specifically for fuel, they may compete with food production or lead to the clearing of forests. The environmental benefit also depends on how the fuel is made and transported over its whole lifecycle. As a result, many experts favour biofuels made from waste and residues rather than from food crops. Policy support, technology and clear sustainability standards will probably shape how fast the sector grows.</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biofuels made from?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Plants, waste oils or other organic material.</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two concerns about them?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Competition with food production and clearing of forests; the benefit depends on the lifecycle.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many experts prefer?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Biofuels made from waste and residues rather than food crops.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Biofuel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生物燃料词汇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biofuel</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生物燃料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“Biofuel can reduce emissions.”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feedstock</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原料</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“Waste oil is a feedstock.”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ethanol</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乙醇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“Ethanol is blended with petrol.”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biodiesel</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生物柴油</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trucks run on biodiesel.”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lifecycle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全生命周期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lifecycle analysis shows the real impact.”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blend</a:t>
            </a:r>
          </a:p>
          <a:p>
            <a:pPr algn="l">
              <a:lnSpc>
                <a:spcPct val="115000"/>
              </a:lnSpc>
              <a:spcAft>
                <a:spcPts val="800"/>
              </a:spcAft>
            </a:pPr>
            <a:r>
              <a:rPr sz="1300" b="0">
                <a:solidFill>
                  <a:srgbClr val="5F677A"/>
                </a:solidFill>
                <a:latin typeface="Arial"/>
                <a:ea typeface="Microsoft YaHei"/>
              </a:rPr>
              <a:t>verb / 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混合</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fuel is blended with petrol.”</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Debating sustainability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讨论可持续性</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food versus fuel</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粮食与燃料之争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food versus fuel debate continues.”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land use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土地利用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“Land use is a key concern.”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carbon footprint</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碳足迹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“Biofuels can reduce the carbon footprint.”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greenwashing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漂绿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ad was criticised as greenwashing.”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scale up</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扩大规模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hard to scale up production.”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stepping stone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过渡手段</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“Biofuels are a stepping stone to cleaner fuels.”</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粮食与燃料之争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food versus fuel</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生物燃料</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biofuel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漂绿</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greenwashing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土地利用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land use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碳足迹</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carbon footprint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乙醇</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ethanol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生物柴油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biodiesel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过渡手段</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stepping stone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biofuel</a:t>
            </a:r>
          </a:p>
        </p:txBody>
      </p:sp>
      <p:sp>
        <p:nvSpPr>
          <p:cNvPr id="10" name="Rounded Rectangle 9"/>
          <p:cNvSpPr/>
          <p:nvPr/>
        </p:nvSpPr>
        <p:spPr>
          <a:xfrm>
            <a:off x="3236976"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feedstock</a:t>
            </a:r>
          </a:p>
        </p:txBody>
      </p:sp>
      <p:sp>
        <p:nvSpPr>
          <p:cNvPr id="11" name="Rounded Rectangle 10"/>
          <p:cNvSpPr/>
          <p:nvPr/>
        </p:nvSpPr>
        <p:spPr>
          <a:xfrm>
            <a:off x="468172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Ethanol</a:t>
            </a:r>
          </a:p>
        </p:txBody>
      </p:sp>
      <p:sp>
        <p:nvSpPr>
          <p:cNvPr id="12" name="Rounded Rectangle 11"/>
          <p:cNvSpPr/>
          <p:nvPr/>
        </p:nvSpPr>
        <p:spPr>
          <a:xfrm>
            <a:off x="5907024"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lifecycle</a:t>
            </a:r>
          </a:p>
        </p:txBody>
      </p:sp>
      <p:sp>
        <p:nvSpPr>
          <p:cNvPr id="13" name="Rounded Rectangle 12"/>
          <p:cNvSpPr/>
          <p:nvPr/>
        </p:nvSpPr>
        <p:spPr>
          <a:xfrm>
            <a:off x="7351776" y="987552"/>
            <a:ext cx="212140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carbon footprint</a:t>
            </a:r>
          </a:p>
        </p:txBody>
      </p:sp>
      <p:sp>
        <p:nvSpPr>
          <p:cNvPr id="14" name="Rounded Rectangle 13"/>
          <p:cNvSpPr/>
          <p:nvPr/>
        </p:nvSpPr>
        <p:spPr>
          <a:xfrm>
            <a:off x="9564624"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greenwashing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_______ is made from plants or waste.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biofuel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Used cooking oil can be a _______ for biodiesel.</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feedstock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is often blended with petrol.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Ethanol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_______ analysis shows the full environmental impact.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lifecycle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Switching fuels can reduce a firm’s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carbon footprint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Critics called the campaign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greenwashing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biofuel (one word), ethanol, sustainability. Be made from (material changed), be made of (material visible). Run on biodiesel (not “run with”). Blend A with B. Reduce / lower emissions. Sustainable sources. Crops (plural) / a crop.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Presenting pros and cons of biofuels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介绍生物燃料的优缺点</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company briefing, you present biofuels to non-specialist colleagues.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Lia Yeo, sustainability officer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Ian Doyle, colleague</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pros and cons of biofuels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Ian, shall I give a quick overview of biofuels before the meeting?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Ian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I know very little.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Biofuels are made from plants, waste oils or other organic material. They can be blended with regular fuel.</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advantages?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the plus side, they can lower emissions and work with existing engines. They’re also useful for sectors like aviation.</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pros and cons of biofuels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downsides?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biofuels compete with food crops or require large amounts of land. Their benefit depends on the lifecycle.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are they green?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depends. Biofuels made from waste are generally considered better than those from food crops.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should we look for if we buy?</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pros and cons of biofuels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Certified sustainable sources and clear data.</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sum up, they can play a role, but we need to check how they’re made?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Biofuels aren’t a complete solution, but they may be a stepping stone.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that’s clear.</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Presenting pros and cons of biofuels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technology to a non-specialist.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Technology: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Listener. Ask simple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is made from · on the plus side · on the downside · it depends · to sum up · stepping stone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give pros and cons, and summarise.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Ian asks: “Isn’t it all greenwashing?”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“food versus fuel” debate in 30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questions to ask a biofuel supplier.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biofuels are a good solution?</a:t>
            </a:r>
          </a:p>
          <a:p>
            <a:pPr algn="l">
              <a:lnSpc>
                <a:spcPct val="115000"/>
              </a:lnSpc>
              <a:spcAft>
                <a:spcPts val="800"/>
              </a:spcAft>
            </a:pPr>
            <a:r>
              <a:rPr sz="1400" b="0">
                <a:solidFill>
                  <a:srgbClr val="5F677A"/>
                </a:solidFill>
                <a:latin typeface="Arial"/>
                <a:ea typeface="Microsoft YaHei"/>
              </a:rPr>
              <a:t>💬 “They can help in… but not…”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we avoid greenwashing?</a:t>
            </a:r>
          </a:p>
          <a:p>
            <a:pPr algn="l">
              <a:lnSpc>
                <a:spcPct val="115000"/>
              </a:lnSpc>
              <a:spcAft>
                <a:spcPts val="800"/>
              </a:spcAft>
            </a:pPr>
            <a:r>
              <a:rPr sz="1400" b="0">
                <a:solidFill>
                  <a:srgbClr val="5F677A"/>
                </a:solidFill>
                <a:latin typeface="Arial"/>
                <a:ea typeface="Microsoft YaHei"/>
              </a:rPr>
              <a:t>💬 “By checking… / Asking for evidence…”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subsidise green fuels?</a:t>
            </a:r>
          </a:p>
          <a:p>
            <a:pPr algn="l">
              <a:lnSpc>
                <a:spcPct val="115000"/>
              </a:lnSpc>
              <a:spcAft>
                <a:spcPts val="800"/>
              </a:spcAft>
            </a:pPr>
            <a:r>
              <a:rPr sz="1400" b="0">
                <a:solidFill>
                  <a:srgbClr val="5F677A"/>
                </a:solidFill>
                <a:latin typeface="Arial"/>
                <a:ea typeface="Microsoft YaHei"/>
              </a:rPr>
              <a:t>💬 “I think they should… as long 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sectors are hardest to decarbonise?</a:t>
            </a:r>
          </a:p>
          <a:p>
            <a:pPr algn="l">
              <a:lnSpc>
                <a:spcPct val="115000"/>
              </a:lnSpc>
              <a:spcAft>
                <a:spcPts val="800"/>
              </a:spcAft>
            </a:pPr>
            <a:r>
              <a:rPr sz="1400" b="0">
                <a:solidFill>
                  <a:srgbClr val="5F677A"/>
                </a:solidFill>
                <a:latin typeface="Arial"/>
                <a:ea typeface="Microsoft YaHei"/>
              </a:rPr>
              <a:t>💬 “Aviation and shipping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avoid greenwashing, we need independent evidence rather than slogans. For example, companies should publish data about the whole lifecycle of a fuel, and be certified by trusted third parties. As consumers or buyers, we can ask: Where does it come from? How was it made? What does the data show? If a company can’t answer clearly, it’s a warning sign.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independent = 独立的。certified = 经认证的。third party = 第三方。warning sign = 警示信号。</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Biofuel is from plant.</a:t>
                      </a:r>
                    </a:p>
                  </a:txBody>
                  <a:tcPr anchor="ctr">
                    <a:solidFill>
                      <a:srgbClr val="FFFFFF"/>
                    </a:solidFill>
                  </a:tcPr>
                </a:tc>
                <a:tc>
                  <a:txBody>
                    <a:bodyPr wrap="square"/>
                    <a:lstStyle/>
                    <a:p>
                      <a:r>
                        <a:rPr sz="1600" b="0">
                          <a:solidFill>
                            <a:srgbClr val="1F2A44"/>
                          </a:solidFill>
                          <a:latin typeface="Arial"/>
                          <a:ea typeface="Microsoft YaHei"/>
                        </a:rPr>
                        <a:t>Biofuel is made from plants.</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r h="408432">
                <a:tc>
                  <a:txBody>
                    <a:bodyPr wrap="square"/>
                    <a:lstStyle/>
                    <a:p>
                      <a:r>
                        <a:rPr sz="1600" b="1">
                          <a:solidFill>
                            <a:srgbClr val="1F2A44"/>
                          </a:solidFill>
                          <a:latin typeface="Arial"/>
                          <a:ea typeface="Microsoft YaHei"/>
                        </a:rPr>
                        <a:t>Biofuel is good.</a:t>
                      </a:r>
                    </a:p>
                  </a:txBody>
                  <a:tcPr anchor="ctr">
                    <a:solidFill>
                      <a:srgbClr val="FFEFD9"/>
                    </a:solidFill>
                  </a:tcPr>
                </a:tc>
                <a:tc>
                  <a:txBody>
                    <a:bodyPr wrap="square"/>
                    <a:lstStyle/>
                    <a:p>
                      <a:r>
                        <a:rPr sz="1600" b="0">
                          <a:solidFill>
                            <a:srgbClr val="1F2A44"/>
                          </a:solidFill>
                          <a:latin typeface="Arial"/>
                          <a:ea typeface="Microsoft YaHei"/>
                        </a:rPr>
                        <a:t>Biofuel can lower emissions.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Biofuel is bad.</a:t>
                      </a:r>
                    </a:p>
                  </a:txBody>
                  <a:tcPr anchor="ctr">
                    <a:solidFill>
                      <a:srgbClr val="FFFFFF"/>
                    </a:solidFill>
                  </a:tcPr>
                </a:tc>
                <a:tc>
                  <a:txBody>
                    <a:bodyPr wrap="square"/>
                    <a:lstStyle/>
                    <a:p>
                      <a:r>
                        <a:rPr sz="1600" b="0">
                          <a:solidFill>
                            <a:srgbClr val="1F2A44"/>
                          </a:solidFill>
                          <a:latin typeface="Arial"/>
                          <a:ea typeface="Microsoft YaHei"/>
                        </a:rPr>
                        <a:t>Biofuel raises concerns about land use.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It is not clean.</a:t>
                      </a:r>
                    </a:p>
                  </a:txBody>
                  <a:tcPr anchor="ctr">
                    <a:solidFill>
                      <a:srgbClr val="FFEFD9"/>
                    </a:solidFill>
                  </a:tcPr>
                </a:tc>
                <a:tc>
                  <a:txBody>
                    <a:bodyPr wrap="square"/>
                    <a:lstStyle/>
                    <a:p>
                      <a:r>
                        <a:rPr sz="1600" b="0">
                          <a:solidFill>
                            <a:srgbClr val="1F2A44"/>
                          </a:solidFill>
                          <a:latin typeface="Arial"/>
                          <a:ea typeface="Microsoft YaHei"/>
                        </a:rPr>
                        <a:t>Its environmental benefit is debated.</a:t>
                      </a:r>
                    </a:p>
                  </a:txBody>
                  <a:tcPr anchor="ctr">
                    <a:solidFill>
                      <a:srgbClr val="FFEFD9"/>
                    </a:solidFill>
                  </a:tcPr>
                </a:tc>
                <a:tc>
                  <a:txBody>
                    <a:bodyPr wrap="square"/>
                    <a:lstStyle/>
                    <a:p>
                      <a:r>
                        <a:rPr sz="1600" b="0">
                          <a:solidFill>
                            <a:srgbClr val="FF6B5B"/>
                          </a:solidFill>
                          <a:latin typeface="Arial"/>
                          <a:ea typeface="Microsoft YaHei"/>
                        </a:rPr>
                        <a:t>谨慎</a:t>
                      </a:r>
                    </a:p>
                  </a:txBody>
                  <a:tcPr anchor="ctr">
                    <a:solidFill>
                      <a:srgbClr val="FFEFD9"/>
                    </a:solidFill>
                  </a:tcPr>
                </a:tc>
              </a:tr>
              <a:tr h="652272">
                <a:tc>
                  <a:txBody>
                    <a:bodyPr wrap="square"/>
                    <a:lstStyle/>
                    <a:p>
                      <a:r>
                        <a:rPr sz="1600" b="1">
                          <a:solidFill>
                            <a:srgbClr val="1F2A44"/>
                          </a:solidFill>
                          <a:latin typeface="Arial"/>
                          <a:ea typeface="Microsoft YaHei"/>
                        </a:rPr>
                        <a:t>It will solve everything.</a:t>
                      </a:r>
                    </a:p>
                  </a:txBody>
                  <a:tcPr anchor="ctr">
                    <a:solidFill>
                      <a:srgbClr val="FFFFFF"/>
                    </a:solidFill>
                  </a:tcPr>
                </a:tc>
                <a:tc>
                  <a:txBody>
                    <a:bodyPr wrap="square"/>
                    <a:lstStyle/>
                    <a:p>
                      <a:r>
                        <a:rPr sz="1600" b="0">
                          <a:solidFill>
                            <a:srgbClr val="1F2A44"/>
                          </a:solidFill>
                          <a:latin typeface="Arial"/>
                          <a:ea typeface="Microsoft YaHei"/>
                        </a:rPr>
                        <a:t>It could be part of the solution.</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bl>
          </a:graphicData>
        </a:graphic>
      </p:graphicFrame>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Passive for processes: </a:t>
            </a:r>
            <a:r>
              <a:rPr sz="1700" b="0">
                <a:solidFill>
                  <a:srgbClr val="1F2A44"/>
                </a:solidFill>
                <a:latin typeface="Arial"/>
                <a:ea typeface="Microsoft YaHei"/>
              </a:rPr>
              <a:t>“Biofuels are made from crops, then refined and blended.”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Pros and cons: </a:t>
            </a:r>
            <a:r>
              <a:rPr sz="1700" b="0">
                <a:solidFill>
                  <a:srgbClr val="1F2A44"/>
                </a:solidFill>
                <a:latin typeface="Arial"/>
                <a:ea typeface="Microsoft YaHei"/>
              </a:rPr>
              <a:t>on the plus side, on the downside, the main advantage is, the main drawback is.</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Modals of possibility: </a:t>
            </a:r>
            <a:r>
              <a:rPr sz="1700" b="0">
                <a:solidFill>
                  <a:srgbClr val="1F2A44"/>
                </a:solidFill>
                <a:latin typeface="Arial"/>
                <a:ea typeface="Microsoft YaHei"/>
              </a:rPr>
              <a:t>could, may, might, can: “It could help”.</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Defining: </a:t>
            </a:r>
            <a:r>
              <a:rPr sz="1700" b="0">
                <a:solidFill>
                  <a:srgbClr val="1F2A44"/>
                </a:solidFill>
                <a:latin typeface="Arial"/>
                <a:ea typeface="Microsoft YaHei"/>
              </a:rPr>
              <a:t>X is a type of Y that… / X refers to…</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Biofuel make from plants.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Biofuel is made from plants.</a:t>
            </a:r>
          </a:p>
          <a:p>
            <a:pPr algn="l">
              <a:spcAft>
                <a:spcPts val="200"/>
              </a:spcAft>
            </a:pPr>
            <a:r>
              <a:rPr sz="1200" b="0">
                <a:solidFill>
                  <a:srgbClr val="FFFFFF"/>
                </a:solidFill>
                <a:latin typeface="Arial"/>
                <a:ea typeface="Microsoft YaHei"/>
              </a:rPr>
              <a:t>被动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biofuels are good for environment.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Biofuels are good for the environment.</a:t>
            </a:r>
          </a:p>
          <a:p>
            <a:pPr algn="l">
              <a:spcAft>
                <a:spcPts val="200"/>
              </a:spcAft>
            </a:pPr>
            <a:r>
              <a:rPr sz="1200" b="0">
                <a:solidFill>
                  <a:srgbClr val="FFFFFF"/>
                </a:solidFill>
                <a:latin typeface="Arial"/>
                <a:ea typeface="Microsoft YaHei"/>
              </a:rPr>
              <a:t>the environment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clean energy.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 cleaner fuel.</a:t>
            </a:r>
          </a:p>
          <a:p>
            <a:pPr algn="l">
              <a:spcAft>
                <a:spcPts val="200"/>
              </a:spcAft>
            </a:pPr>
            <a:r>
              <a:rPr sz="1200" b="0">
                <a:solidFill>
                  <a:srgbClr val="FFFFFF"/>
                </a:solidFill>
                <a:latin typeface="Arial"/>
                <a:ea typeface="Microsoft YaHei"/>
              </a:rPr>
              <a:t>比较</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runs with ethanol.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runs on ethanol.</a:t>
            </a:r>
          </a:p>
          <a:p>
            <a:pPr algn="l">
              <a:spcAft>
                <a:spcPts val="200"/>
              </a:spcAft>
            </a:pPr>
            <a:r>
              <a:rPr sz="1200" b="0">
                <a:solidFill>
                  <a:srgbClr val="FFFFFF"/>
                </a:solidFill>
                <a:latin typeface="Arial"/>
                <a:ea typeface="Microsoft YaHei"/>
              </a:rPr>
              <a:t>run on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food crop are used.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Food crops are used.</a:t>
            </a:r>
          </a:p>
          <a:p>
            <a:pPr algn="l">
              <a:spcAft>
                <a:spcPts val="200"/>
              </a:spcAft>
            </a:pPr>
            <a:r>
              <a:rPr sz="1200" b="0">
                <a:solidFill>
                  <a:srgbClr val="FFFFFF"/>
                </a:solidFill>
                <a:latin typeface="Arial"/>
                <a:ea typeface="Microsoft YaHei"/>
              </a:rPr>
              <a:t>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reduces the carbon.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reduces carbon emissions.</a:t>
            </a:r>
          </a:p>
          <a:p>
            <a:pPr algn="l">
              <a:spcAft>
                <a:spcPts val="200"/>
              </a:spcAft>
            </a:pPr>
            <a:r>
              <a:rPr sz="1200" b="0">
                <a:solidFill>
                  <a:srgbClr val="FFFFFF"/>
                </a:solidFill>
                <a:latin typeface="Arial"/>
                <a:ea typeface="Microsoft YaHei"/>
              </a:rPr>
              <a:t>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forms, run on, and the environment.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Technical topics: </a:t>
            </a:r>
            <a:r>
              <a:rPr sz="1700" b="0">
                <a:solidFill>
                  <a:srgbClr val="1F2A44"/>
                </a:solidFill>
                <a:latin typeface="Arial"/>
                <a:ea typeface="Microsoft YaHei"/>
              </a:rPr>
              <a:t>When talking to non-specialists, define terms and avoid jargon.</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Evidence: </a:t>
            </a:r>
            <a:r>
              <a:rPr sz="1700" b="0">
                <a:solidFill>
                  <a:srgbClr val="1F2A44"/>
                </a:solidFill>
                <a:latin typeface="Arial"/>
                <a:ea typeface="Microsoft YaHei"/>
              </a:rPr>
              <a:t>Claims like “100% green” are rarely accurate; check certification.</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Policy: </a:t>
            </a:r>
            <a:r>
              <a:rPr sz="1700" b="0">
                <a:solidFill>
                  <a:srgbClr val="1F2A44"/>
                </a:solidFill>
                <a:latin typeface="Arial"/>
                <a:ea typeface="Microsoft YaHei"/>
              </a:rPr>
              <a:t>Biofuel rules and subsidies vary by country and change over time.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made from;run on;the environment。向非专业人士解释时,先定义术语,再用“优点—缺点—结论”的结构。</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technology to non-specialists.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pros and cons and conclude.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for processes.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 made from, run on and the environment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76 The Growth of Biofuels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passive for processes, run on, and pros-and-cons structures.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77 The Wind Turbine Revolution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Wind Turbine Revolution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风能革命</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wind power and the energy industry: how wind energy works, costs, supply chains, local opposition and growth prospects.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there wind farms near where you live? How do people feel about them?</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of wind energy?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can wind power have?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companies make money from renewable energy?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accept a wind farm near your home? Why or why not?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wind turbine = 风力涡轮机;offshore = 近海的/海上;onshore = 陆上。第 5 题可用 “I wouldn’t mind as long 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the benefits and challenges of wind power.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how it works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advantages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challenges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outlook</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Wind farms generate electricity by…   💬 One major advantage is…   💬 A common objection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generate electricity by + -ing。one major advantage is… 引出优点。 a common objection is… 引出反对意见。</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Power from the Wind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Wind turbines convert the energy of moving air into electricity. Over recent years, improvements in technology have made turbines larger and more efficient, and the cost of wind power has fallen in many places. Offshore wind farms, built at sea, can use stronger and steadier winds than onshore sites. The industry creates jobs in manufacturing, installation and maintenance, and supports a global supply chain of blades, towers and cables. Challenges remain. Wind does not blow all the time, so grids need storage, backup or flexible demand. Projects can face objections over landscape, wildlife or noise, and delays in planning approval. Large components are difficult to transport and install. Despite these hurdles, many governments and companies see wind as a key part of future energy systems.</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have turbines improved?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have become larger and more efficient, and costs have fallen in many places.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is offshore wind attractive?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Stronger and steadier winds than onshore sites.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challenges does wind power face?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Variability, grid needs, objections about landscape/wildlife/noise, planning delays and transport of large parts.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Wind energy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风能基础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wind turbine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风力涡轮机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wind turbine is 100 metres tall.”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wind farm</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风电场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wind farm supplies 50,000 homes.”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offshore / onshore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近海 / 陆上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“Offshore wind is growing.”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generate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发电</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“Turbines generate electricity.”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capacity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装机容量</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capacity of the farm is 300 MW.”</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grid</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电网</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grid connects the wind farm.”</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Industry and debate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行业与争论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intermittent</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间歇性的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“Wind power is intermittent.”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NIMBY</a:t>
            </a:r>
          </a:p>
          <a:p>
            <a:pPr algn="l">
              <a:lnSpc>
                <a:spcPct val="115000"/>
              </a:lnSpc>
              <a:spcAft>
                <a:spcPts val="800"/>
              </a:spcAft>
            </a:pPr>
            <a:r>
              <a:rPr sz="1300" b="0">
                <a:solidFill>
                  <a:srgbClr val="5F677A"/>
                </a:solidFill>
                <a:latin typeface="Arial"/>
                <a:ea typeface="Microsoft YaHei"/>
              </a:rPr>
              <a:t>acronym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邻避(不要建在我家后院)</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“NIMBY objections delayed the project.”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planning permission</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规划许可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are waiting for planning permission.”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economies of scale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规模经济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“Larger turbines bring economies of scale.”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bring online</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投入运行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farm will be brought online next year.”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bottleneck</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瓶颈</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“Grid connection is a bottleneck.”</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电网</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grid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发电</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规模经济</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economies of scale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风电场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 farm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间歇性的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intermittent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近海 / 陆上</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offshore / onshore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风力涡轮机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 turbine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装机容量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capacity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turbine</a:t>
            </a:r>
          </a:p>
        </p:txBody>
      </p:sp>
      <p:sp>
        <p:nvSpPr>
          <p:cNvPr id="10" name="Rounded Rectangle 9"/>
          <p:cNvSpPr/>
          <p:nvPr/>
        </p:nvSpPr>
        <p:spPr>
          <a:xfrm>
            <a:off x="3236976"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generate</a:t>
            </a:r>
          </a:p>
        </p:txBody>
      </p:sp>
      <p:sp>
        <p:nvSpPr>
          <p:cNvPr id="11" name="Rounded Rectangle 10"/>
          <p:cNvSpPr/>
          <p:nvPr/>
        </p:nvSpPr>
        <p:spPr>
          <a:xfrm>
            <a:off x="4572000"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capacity</a:t>
            </a:r>
          </a:p>
        </p:txBody>
      </p:sp>
      <p:sp>
        <p:nvSpPr>
          <p:cNvPr id="12" name="Rounded Rectangle 11"/>
          <p:cNvSpPr/>
          <p:nvPr/>
        </p:nvSpPr>
        <p:spPr>
          <a:xfrm>
            <a:off x="5907024"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grid</a:t>
            </a:r>
          </a:p>
        </p:txBody>
      </p:sp>
      <p:sp>
        <p:nvSpPr>
          <p:cNvPr id="13" name="Rounded Rectangle 12"/>
          <p:cNvSpPr/>
          <p:nvPr/>
        </p:nvSpPr>
        <p:spPr>
          <a:xfrm>
            <a:off x="6803136"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intermittent</a:t>
            </a:r>
          </a:p>
        </p:txBody>
      </p:sp>
      <p:sp>
        <p:nvSpPr>
          <p:cNvPr id="14" name="Rounded Rectangle 13"/>
          <p:cNvSpPr/>
          <p:nvPr/>
        </p:nvSpPr>
        <p:spPr>
          <a:xfrm>
            <a:off x="8577071"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NIMBY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single wind _______ can power hundreds of homes.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turbine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Wind farms _______ electricity from moving air.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total _______ of the wind farm is 300 megawatts.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capacity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_______ must be upgraded to carry more renewable power.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grid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Wind power is _______, so it needs backup.</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intermittent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 residents raised _______ objections to the wind farm.</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NIMBY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turbine (not “turbin”), electricity (not “electricty”), intermittent (double t). Generate electricity, produce power, supply homes with power. Wind power (uncountable), a wind farm. Planning permission (UK) / a permit (US). Build / install / construct a farm.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Discussing a local wind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讨论本地风电项目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community meeting, a developer and a resident discuss a proposed wind farm.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Mel Gao, project developer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Perry, local resident</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Discussing a local wind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Perry, thank you for coming. I’d like to explain the proposal and hear your concerns.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Perry</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worried about the noise and the view. Those turbines are huge.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understandable. Modern turbines are quieter than older models, and we’d keep them a set distance from homes.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wildlife?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done a survey and will adjust the design to reduce risks to birds, and we’ll monitor after construction.</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local wind project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do we get out of it?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community fund that supports local projects, plus jobs during construction and maintenance.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Would it lower electricity bills?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directly. But the farm would supply clean power to about forty thousand homes.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I’m still not sure, but I appreciate the explanation.</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local wind project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We’ll hold another meeting next month and publish the survey results.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read those.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make sure you get a copy.</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Discussing a local wind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local project.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Developer. Project: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Resident. Voice two concerns.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benefits · concerns · community fund · monitor · results · another meeting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respond to concerns and agree what happens next.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Perry says: “It will spoil the view.” Respond respectfully.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how wind power works in three sentences.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onshore and offshore wind.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accept a wind farm near your home?</a:t>
            </a:r>
          </a:p>
          <a:p>
            <a:pPr algn="l">
              <a:lnSpc>
                <a:spcPct val="115000"/>
              </a:lnSpc>
              <a:spcAft>
                <a:spcPts val="800"/>
              </a:spcAft>
            </a:pPr>
            <a:r>
              <a:rPr sz="1400" b="0">
                <a:solidFill>
                  <a:srgbClr val="5F677A"/>
                </a:solidFill>
                <a:latin typeface="Arial"/>
                <a:ea typeface="Microsoft YaHei"/>
              </a:rPr>
              <a:t>💬 “I wouldn’t mind as long as… / I’d be concerned about…”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wind power reliable enough?</a:t>
            </a:r>
          </a:p>
          <a:p>
            <a:pPr algn="l">
              <a:lnSpc>
                <a:spcPct val="115000"/>
              </a:lnSpc>
              <a:spcAft>
                <a:spcPts val="800"/>
              </a:spcAft>
            </a:pPr>
            <a:r>
              <a:rPr sz="1400" b="0">
                <a:solidFill>
                  <a:srgbClr val="5F677A"/>
                </a:solidFill>
                <a:latin typeface="Arial"/>
                <a:ea typeface="Microsoft YaHei"/>
              </a:rPr>
              <a:t>💬 “On its own, no. But with storage…”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support the wind industry?</a:t>
            </a:r>
          </a:p>
          <a:p>
            <a:pPr algn="l">
              <a:lnSpc>
                <a:spcPct val="115000"/>
              </a:lnSpc>
              <a:spcAft>
                <a:spcPts val="800"/>
              </a:spcAft>
            </a:pPr>
            <a:r>
              <a:rPr sz="1400" b="0">
                <a:solidFill>
                  <a:srgbClr val="5F677A"/>
                </a:solidFill>
                <a:latin typeface="Arial"/>
                <a:ea typeface="Microsoft YaHei"/>
              </a:rPr>
              <a:t>💬 “Support can help… but it should be…”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community accept a new project?</a:t>
            </a:r>
          </a:p>
          <a:p>
            <a:pPr algn="l">
              <a:lnSpc>
                <a:spcPct val="115000"/>
              </a:lnSpc>
              <a:spcAft>
                <a:spcPts val="800"/>
              </a:spcAft>
            </a:pPr>
            <a:r>
              <a:rPr sz="1400" b="0">
                <a:solidFill>
                  <a:srgbClr val="5F677A"/>
                </a:solidFill>
                <a:latin typeface="Arial"/>
                <a:ea typeface="Microsoft YaHei"/>
              </a:rPr>
              <a:t>💬 “Early consultation… / Fair benefits…”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community is more likely to accept a project if people are consulted early, listened to and given a share of the benefits. For example, a local fund or lower bills can show that the project helps them too. It also helps to be transparent about impacts such as noise or wildlife, and to adjust the design. People tend to resist when they feel decisions are imposed from outside.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consulted = 被征求意见。”a share of the benefits” = 分享收益。imposed = 强加的。 resist = 抵制。</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Wind makes power.</a:t>
                      </a:r>
                    </a:p>
                  </a:txBody>
                  <a:tcPr anchor="ctr">
                    <a:solidFill>
                      <a:srgbClr val="FFFFFF"/>
                    </a:solidFill>
                  </a:tcPr>
                </a:tc>
                <a:tc>
                  <a:txBody>
                    <a:bodyPr wrap="square"/>
                    <a:lstStyle/>
                    <a:p>
                      <a:r>
                        <a:rPr sz="1600" b="0">
                          <a:solidFill>
                            <a:srgbClr val="1F2A44"/>
                          </a:solidFill>
                          <a:latin typeface="Arial"/>
                          <a:ea typeface="Microsoft YaHei"/>
                        </a:rPr>
                        <a:t>Wind turbines generate electricity.</a:t>
                      </a:r>
                    </a:p>
                  </a:txBody>
                  <a:tcPr anchor="ctr">
                    <a:solidFill>
                      <a:srgbClr val="FFFFFF"/>
                    </a:solidFill>
                  </a:tcPr>
                </a:tc>
                <a:tc>
                  <a:txBody>
                    <a:bodyPr wrap="square"/>
                    <a:lstStyle/>
                    <a:p>
                      <a:r>
                        <a:rPr sz="1600" b="0">
                          <a:solidFill>
                            <a:srgbClr val="FF6B5B"/>
                          </a:solidFill>
                          <a:latin typeface="Arial"/>
                          <a:ea typeface="Microsoft YaHei"/>
                        </a:rPr>
                        <a:t>动词</a:t>
                      </a:r>
                    </a:p>
                  </a:txBody>
                  <a:tcPr anchor="ctr">
                    <a:solidFill>
                      <a:srgbClr val="FFFFFF"/>
                    </a:solidFill>
                  </a:tcPr>
                </a:tc>
              </a:tr>
              <a:tr h="652272">
                <a:tc>
                  <a:txBody>
                    <a:bodyPr wrap="square"/>
                    <a:lstStyle/>
                    <a:p>
                      <a:r>
                        <a:rPr sz="1600" b="1">
                          <a:solidFill>
                            <a:srgbClr val="1F2A44"/>
                          </a:solidFill>
                          <a:latin typeface="Arial"/>
                          <a:ea typeface="Microsoft YaHei"/>
                        </a:rPr>
                        <a:t>People dislike it.</a:t>
                      </a:r>
                    </a:p>
                  </a:txBody>
                  <a:tcPr anchor="ctr">
                    <a:solidFill>
                      <a:srgbClr val="FFEFD9"/>
                    </a:solidFill>
                  </a:tcPr>
                </a:tc>
                <a:tc>
                  <a:txBody>
                    <a:bodyPr wrap="square"/>
                    <a:lstStyle/>
                    <a:p>
                      <a:r>
                        <a:rPr sz="1600" b="0">
                          <a:solidFill>
                            <a:srgbClr val="1F2A44"/>
                          </a:solidFill>
                          <a:latin typeface="Arial"/>
                          <a:ea typeface="Microsoft YaHei"/>
                        </a:rPr>
                        <a:t>Some residents have raised objections.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The wind sometimes stops.</a:t>
                      </a:r>
                    </a:p>
                  </a:txBody>
                  <a:tcPr anchor="ctr">
                    <a:solidFill>
                      <a:srgbClr val="FFFFFF"/>
                    </a:solidFill>
                  </a:tcPr>
                </a:tc>
                <a:tc>
                  <a:txBody>
                    <a:bodyPr wrap="square"/>
                    <a:lstStyle/>
                    <a:p>
                      <a:r>
                        <a:rPr sz="1600" b="0">
                          <a:solidFill>
                            <a:srgbClr val="1F2A44"/>
                          </a:solidFill>
                          <a:latin typeface="Arial"/>
                          <a:ea typeface="Microsoft YaHei"/>
                        </a:rPr>
                        <a:t>Wind power is intermittent.</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408432">
                <a:tc>
                  <a:txBody>
                    <a:bodyPr wrap="square"/>
                    <a:lstStyle/>
                    <a:p>
                      <a:r>
                        <a:rPr sz="1600" b="1">
                          <a:solidFill>
                            <a:srgbClr val="1F2A44"/>
                          </a:solidFill>
                          <a:latin typeface="Arial"/>
                          <a:ea typeface="Microsoft YaHei"/>
                        </a:rPr>
                        <a:t>It costs less now.</a:t>
                      </a:r>
                    </a:p>
                  </a:txBody>
                  <a:tcPr anchor="ctr">
                    <a:solidFill>
                      <a:srgbClr val="FFEFD9"/>
                    </a:solidFill>
                  </a:tcPr>
                </a:tc>
                <a:tc>
                  <a:txBody>
                    <a:bodyPr wrap="square"/>
                    <a:lstStyle/>
                    <a:p>
                      <a:r>
                        <a:rPr sz="1600" b="0">
                          <a:solidFill>
                            <a:srgbClr val="1F2A44"/>
                          </a:solidFill>
                          <a:latin typeface="Arial"/>
                          <a:ea typeface="Microsoft YaHei"/>
                        </a:rPr>
                        <a:t>Costs have fallen significantly.</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It is good for nature.</a:t>
                      </a:r>
                    </a:p>
                  </a:txBody>
                  <a:tcPr anchor="ctr">
                    <a:solidFill>
                      <a:srgbClr val="FFFFFF"/>
                    </a:solidFill>
                  </a:tcPr>
                </a:tc>
                <a:tc>
                  <a:txBody>
                    <a:bodyPr wrap="square"/>
                    <a:lstStyle/>
                    <a:p>
                      <a:r>
                        <a:rPr sz="1600" b="0">
                          <a:solidFill>
                            <a:srgbClr val="1F2A44"/>
                          </a:solidFill>
                          <a:latin typeface="Arial"/>
                          <a:ea typeface="Microsoft YaHei"/>
                        </a:rPr>
                        <a:t>It can reduce carbon emissions.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Relative clauses: </a:t>
            </a:r>
            <a:r>
              <a:rPr sz="1700" b="0">
                <a:solidFill>
                  <a:srgbClr val="1F2A44"/>
                </a:solidFill>
                <a:latin typeface="Arial"/>
                <a:ea typeface="Microsoft YaHei"/>
              </a:rPr>
              <a:t>turbines that generate power, a farm which supplies homes, residents who live nearby.</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Concessions: </a:t>
            </a:r>
            <a:r>
              <a:rPr sz="1700" b="0">
                <a:solidFill>
                  <a:srgbClr val="1F2A44"/>
                </a:solidFill>
                <a:latin typeface="Arial"/>
                <a:ea typeface="Microsoft YaHei"/>
              </a:rPr>
              <a:t>Although there are objections, … / Despite the objections, …</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Future with going to / will: </a:t>
            </a:r>
            <a:r>
              <a:rPr sz="1700" b="0">
                <a:solidFill>
                  <a:srgbClr val="1F2A44"/>
                </a:solidFill>
                <a:latin typeface="Arial"/>
                <a:ea typeface="Microsoft YaHei"/>
              </a:rPr>
              <a:t>“We’re going to hold another meeting.” / “I’ll make sure you get a copy.”</a:t>
            </a:r>
          </a:p>
        </p:txBody>
      </p:sp>
      <p:sp>
        <p:nvSpPr>
          <p:cNvPr id="17" name="Rounded Rectangle 16"/>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Showing understanding: </a:t>
            </a:r>
            <a:r>
              <a:rPr sz="1700" b="0">
                <a:solidFill>
                  <a:srgbClr val="1F2A44"/>
                </a:solidFill>
                <a:latin typeface="Arial"/>
                <a:ea typeface="Microsoft YaHei"/>
              </a:rPr>
              <a:t>That’s understandable. I can see why you’re concerned.</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Wind turbine produce electricity.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Wind turbines produce electricity.</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Despite of the noise, …</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Despite the noise, … / In spite of the noise, …</a:t>
            </a:r>
          </a:p>
          <a:p>
            <a:pPr algn="l">
              <a:spcAft>
                <a:spcPts val="200"/>
              </a:spcAft>
            </a:pPr>
            <a:r>
              <a:rPr sz="1200" b="0">
                <a:solidFill>
                  <a:srgbClr val="FFFFFF"/>
                </a:solidFill>
                <a:latin typeface="Arial"/>
                <a:ea typeface="Microsoft YaHei"/>
              </a:rPr>
              <a:t>despite 无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farm will bring many job.</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farm will bring many jobs.</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generates clean energies.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generates clean energy.</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are against the project because of they are worried.</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are against the project because they are worried.</a:t>
            </a:r>
          </a:p>
          <a:p>
            <a:pPr algn="l">
              <a:spcAft>
                <a:spcPts val="200"/>
              </a:spcAft>
            </a:pPr>
            <a:r>
              <a:rPr sz="1200" b="0">
                <a:solidFill>
                  <a:srgbClr val="FFFFFF"/>
                </a:solidFill>
                <a:latin typeface="Arial"/>
                <a:ea typeface="Microsoft YaHei"/>
              </a:rPr>
              <a:t>because of + 名词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turbine is making noisy.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turbine is making noise. / It is noisy.</a:t>
            </a:r>
          </a:p>
          <a:p>
            <a:pPr algn="l">
              <a:spcAft>
                <a:spcPts val="200"/>
              </a:spcAft>
            </a:pPr>
            <a:r>
              <a:rPr sz="1200" b="0">
                <a:solidFill>
                  <a:srgbClr val="FFFFFF"/>
                </a:solidFill>
                <a:latin typeface="Arial"/>
                <a:ea typeface="Microsoft YaHei"/>
              </a:rPr>
              <a:t>noise / noisy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despite / in spite of, uncountable energy, and because / because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Community engagement: </a:t>
            </a:r>
            <a:r>
              <a:rPr sz="1700" b="0">
                <a:solidFill>
                  <a:srgbClr val="1F2A44"/>
                </a:solidFill>
                <a:latin typeface="Arial"/>
                <a:ea typeface="Microsoft YaHei"/>
              </a:rPr>
              <a:t>Early consultation reduces conflict. Listen before explaining.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Planning: </a:t>
            </a:r>
            <a:r>
              <a:rPr sz="1700" b="0">
                <a:solidFill>
                  <a:srgbClr val="1F2A44"/>
                </a:solidFill>
                <a:latin typeface="Arial"/>
                <a:ea typeface="Microsoft YaHei"/>
              </a:rPr>
              <a:t>Planning processes differ by country and can take years.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Jobs: </a:t>
            </a:r>
            <a:r>
              <a:rPr sz="1700" b="0">
                <a:solidFill>
                  <a:srgbClr val="1F2A44"/>
                </a:solidFill>
                <a:latin typeface="Arial"/>
                <a:ea typeface="Microsoft YaHei"/>
              </a:rPr>
              <a:t>Local employment claims should be specific and realistic.</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despite 后不加 of(in spite of);energy 不可数;because + 从句,because of + 名词。与社区沟通时先倾听,再解释。</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wind power works and its pros and cons.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community concerns.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despite / in spite of and relative clauses correctly.</a:t>
            </a:r>
          </a:p>
        </p:txBody>
      </p:sp>
      <p:sp>
        <p:nvSpPr>
          <p:cNvPr id="20" name="TextBox 19"/>
          <p:cNvSpPr txBox="1"/>
          <p:nvPr/>
        </p:nvSpPr>
        <p:spPr>
          <a:xfrm>
            <a:off x="9539935" y="27035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because / because of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77 The Wind Turbine Revolution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despite / in spite of, relative clauses, and because / because of.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 · Lesson 78 Shifts in the Electric Vehicle Market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000" b="1">
                <a:solidFill>
                  <a:srgbClr val="FFFFFF"/>
                </a:solidFill>
                <a:latin typeface="Arial"/>
                <a:ea typeface="Microsoft YaHei"/>
              </a:rPr>
              <a:t>Shifts in the Electric Vehicle Market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电动汽车市场的变化</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changes in the electric vehicle (EV) market: demand, competition, charging, costs, policy and describing market shifts in careful language.</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or people you know drive an electric car? What do they think?</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and disadvantages of EVs?</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could slow or speed up EV adoption?</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the EV industry change in the next five years?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car companies respond to a changing market?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EV = Electric Vehicle;charging point = 充电桩;range anxiety = 里程焦虑;adoption = 采用/普及。预测要使用谨慎表达。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changes in the EV market and what they might mean for businesses.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current situation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drivers of change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challenges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companies might do</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Demand for EVs has grown, although…   💬 A key factor is…   💬 Companies may need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Demand for… has grown, although… 先事实后转折。A key factor is… 引出关键因素。may need to…</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 Market in Motion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The electric vehicle market has changed quickly over the past decade. Falling battery costs, new models and government support have helped to increase sales in many countries. Yet the picture is not simple. In some markets, growth has slowed as early adopters have already bought their cars and mainstream buyers want lower prices, more charging points and greater confidence in range and resale value. Competition has intensified, with traditional manufacturers and new entrants launching a wide variety of models, which puts pressure on prices and profits. Policies on subsidies, taxes and emissions rules also vary between countries and can change, affecting demand. Analysts expect long-term growth to continue, but they warn that the pace may be uneven. Companies that stay flexible, control costs and listen to customers are likely to be best placed.</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has helped to increase EV sales?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Falling battery costs, new models and government support.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has growth slowed in some markets?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Early adopters have already bought, and mainstream buyers want lower prices, more charging and confidence in range/resale value.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analysts expect?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Long-term growth, but with an uneven pace.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EV market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电动汽车市场词汇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electric vehicle (EV)</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电动汽车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of EVs are rising.”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charging point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充电桩</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are more charging points now.”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battery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“Battery costs have fallen.”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range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续航里程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car has a range of 400 km.”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subsidy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补贴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subsidy reduced the price.”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adoption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采用</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 adoption is rising.”</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Market shifts and strategy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市场变化与策略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range anxiety</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里程焦虑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“Range anxiety puts people off.”</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early adopter</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早期采用者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“Early adopters bought first.”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price war</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价格战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price war could hurt profits.”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new entrants</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新进入者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“New entrants are challenging old brands.”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squeeze margins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压缩利润率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“Competition squeezes margins.”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gain traction</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获得进展</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“EVs are gaining traction.”</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获得进展</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traction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续航里程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range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电池</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battery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里程焦虑</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range anxiety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压缩利润率</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squeeze margins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早期采用者</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early adopter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电动汽车</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electric vehicle (EV)</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采用</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adoption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212140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electric vehicle</a:t>
            </a:r>
          </a:p>
        </p:txBody>
      </p:sp>
      <p:sp>
        <p:nvSpPr>
          <p:cNvPr id="10" name="Rounded Rectangle 9"/>
          <p:cNvSpPr/>
          <p:nvPr/>
        </p:nvSpPr>
        <p:spPr>
          <a:xfrm>
            <a:off x="4224528" y="987552"/>
            <a:ext cx="2011679"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charging points</a:t>
            </a:r>
          </a:p>
        </p:txBody>
      </p:sp>
      <p:sp>
        <p:nvSpPr>
          <p:cNvPr id="11" name="Rounded Rectangle 10"/>
          <p:cNvSpPr/>
          <p:nvPr/>
        </p:nvSpPr>
        <p:spPr>
          <a:xfrm>
            <a:off x="6327647"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range</a:t>
            </a:r>
          </a:p>
        </p:txBody>
      </p:sp>
      <p:sp>
        <p:nvSpPr>
          <p:cNvPr id="12" name="Rounded Rectangle 11"/>
          <p:cNvSpPr/>
          <p:nvPr/>
        </p:nvSpPr>
        <p:spPr>
          <a:xfrm>
            <a:off x="7333487"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subsidy</a:t>
            </a:r>
          </a:p>
        </p:txBody>
      </p:sp>
      <p:sp>
        <p:nvSpPr>
          <p:cNvPr id="13" name="Rounded Rectangle 12"/>
          <p:cNvSpPr/>
          <p:nvPr/>
        </p:nvSpPr>
        <p:spPr>
          <a:xfrm>
            <a:off x="8558783"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price war</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Sales of the new _______ doubled this year.</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electric vehicle</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There are not enough _______ in rural areas.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charging points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car has a _______ of 400 kilometres on a full charge.</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range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government’s _______ lowered the cost of buying an EV.</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subsidy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_______ could damage the profits of the whole industry.</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price war</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Electric buses are beginning to _______ in many cities.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traction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Discussing changes in the EV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讨论电动汽车市场变化</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at a car company discuss how the EV market is changing and what to do.</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Hugo Tan, strategy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Qiu, sales director</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changes in the EV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Hugo</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Qiu, EV sales have grown, but growth seems to be slowing in some regions.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Qiu</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Early adopters have already bought, and the next group wants lower prices.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key factor is price. Competition is increasing, with new entrants launching cheaper models.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could squeeze our margins.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We may need to reduce costs and focus on the models that sell best.</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changes in the EV market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charging?</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Customers’ confidence depends on access to charging points. We could partner with charging networks.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And policy?</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Subsidies and rules vary and can change, so we should plan for different scenarios.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a price war is likely?</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changes in the EV market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possible in some segments. We should compete on value as well as price.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prepare a report for the board.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draft it this week.</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Discussing changes in the EV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shifts in a market.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Strategy manager. Shift: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Sales director. Ask what to do.</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has grown, although · a key factor · may need to · scenarios · compete on value · margins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change, give causes and suggest responses.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Qiu says: “We should just cut prices.”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the benefits of EVs to a sceptical customer.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three sentences predicting the market in five years, carefully hedged.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buy an electric car? Why or why not?</a:t>
            </a:r>
          </a:p>
          <a:p>
            <a:pPr algn="l">
              <a:lnSpc>
                <a:spcPct val="115000"/>
              </a:lnSpc>
              <a:spcAft>
                <a:spcPts val="800"/>
              </a:spcAft>
            </a:pPr>
            <a:r>
              <a:rPr sz="1400" b="0">
                <a:solidFill>
                  <a:srgbClr val="5F677A"/>
                </a:solidFill>
                <a:latin typeface="Arial"/>
                <a:ea typeface="Microsoft YaHei"/>
              </a:rPr>
              <a:t>💬 “I would if… / Not yet,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could speed up the adoption of EVs?</a:t>
            </a:r>
          </a:p>
          <a:p>
            <a:pPr algn="l">
              <a:lnSpc>
                <a:spcPct val="115000"/>
              </a:lnSpc>
              <a:spcAft>
                <a:spcPts val="800"/>
              </a:spcAft>
            </a:pPr>
            <a:r>
              <a:rPr sz="1400" b="0">
                <a:solidFill>
                  <a:srgbClr val="5F677A"/>
                </a:solidFill>
                <a:latin typeface="Arial"/>
                <a:ea typeface="Microsoft YaHei"/>
              </a:rPr>
              <a:t>💬 “Lower prices… / Better charging…”</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support EVs with subsidies?</a:t>
            </a:r>
          </a:p>
          <a:p>
            <a:pPr algn="l">
              <a:lnSpc>
                <a:spcPct val="115000"/>
              </a:lnSpc>
              <a:spcAft>
                <a:spcPts val="800"/>
              </a:spcAft>
            </a:pPr>
            <a:r>
              <a:rPr sz="1400" b="0">
                <a:solidFill>
                  <a:srgbClr val="5F677A"/>
                </a:solidFill>
                <a:latin typeface="Arial"/>
                <a:ea typeface="Microsoft YaHei"/>
              </a:rPr>
              <a:t>💬 “Subsidies can help… but they should…”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might traditional carmakers adapt?</a:t>
            </a:r>
          </a:p>
          <a:p>
            <a:pPr algn="l">
              <a:lnSpc>
                <a:spcPct val="115000"/>
              </a:lnSpc>
              <a:spcAft>
                <a:spcPts val="800"/>
              </a:spcAft>
            </a:pPr>
            <a:r>
              <a:rPr sz="1400" b="0">
                <a:solidFill>
                  <a:srgbClr val="5F677A"/>
                </a:solidFill>
                <a:latin typeface="Arial"/>
                <a:ea typeface="Microsoft YaHei"/>
              </a:rPr>
              <a:t>💬 “They might need to… / Some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Subsidies can help to kick-start a new market, particularly while prices are high and infrastructure is limited. But they are expensive, and they tend to benefit people who can already afford new cars. I think they should be temporary and targeted, for example for lower-income buyers or for charging infrastructure. Over time, the market should be able to stand on its own feet.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kick-start = 启动。targeted = 有针对性的。”stand on its own feet” = 自立。infrastructure = 基础设施。</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EV is popular.</a:t>
                      </a:r>
                    </a:p>
                  </a:txBody>
                  <a:tcPr anchor="ctr">
                    <a:solidFill>
                      <a:srgbClr val="FFFFFF"/>
                    </a:solidFill>
                  </a:tcPr>
                </a:tc>
                <a:tc>
                  <a:txBody>
                    <a:bodyPr wrap="square"/>
                    <a:lstStyle/>
                    <a:p>
                      <a:r>
                        <a:rPr sz="1600" b="0">
                          <a:solidFill>
                            <a:srgbClr val="1F2A44"/>
                          </a:solidFill>
                          <a:latin typeface="Arial"/>
                          <a:ea typeface="Microsoft YaHei"/>
                        </a:rPr>
                        <a:t>Interest in electric vehicles has grown.</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Cars are more.</a:t>
                      </a:r>
                    </a:p>
                  </a:txBody>
                  <a:tcPr anchor="ctr">
                    <a:solidFill>
                      <a:srgbClr val="FFEFD9"/>
                    </a:solidFill>
                  </a:tcPr>
                </a:tc>
                <a:tc>
                  <a:txBody>
                    <a:bodyPr wrap="square"/>
                    <a:lstStyle/>
                    <a:p>
                      <a:r>
                        <a:rPr sz="1600" b="0">
                          <a:solidFill>
                            <a:srgbClr val="1F2A44"/>
                          </a:solidFill>
                          <a:latin typeface="Arial"/>
                          <a:ea typeface="Microsoft YaHei"/>
                        </a:rPr>
                        <a:t>There is a wider choice of models.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Price down.</a:t>
                      </a:r>
                    </a:p>
                  </a:txBody>
                  <a:tcPr anchor="ctr">
                    <a:solidFill>
                      <a:srgbClr val="FFFFFF"/>
                    </a:solidFill>
                  </a:tcPr>
                </a:tc>
                <a:tc>
                  <a:txBody>
                    <a:bodyPr wrap="square"/>
                    <a:lstStyle/>
                    <a:p>
                      <a:r>
                        <a:rPr sz="1600" b="0">
                          <a:solidFill>
                            <a:srgbClr val="1F2A44"/>
                          </a:solidFill>
                          <a:latin typeface="Arial"/>
                          <a:ea typeface="Microsoft YaHei"/>
                        </a:rPr>
                        <a:t>Prices are coming down.</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The market is difficult.</a:t>
                      </a:r>
                    </a:p>
                  </a:txBody>
                  <a:tcPr anchor="ctr">
                    <a:solidFill>
                      <a:srgbClr val="FFEFD9"/>
                    </a:solidFill>
                  </a:tcPr>
                </a:tc>
                <a:tc>
                  <a:txBody>
                    <a:bodyPr wrap="square"/>
                    <a:lstStyle/>
                    <a:p>
                      <a:r>
                        <a:rPr sz="1600" b="0">
                          <a:solidFill>
                            <a:srgbClr val="1F2A44"/>
                          </a:solidFill>
                          <a:latin typeface="Arial"/>
                          <a:ea typeface="Microsoft YaHei"/>
                        </a:rPr>
                        <a:t>The market is becoming more competitive.</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Maybe it increases.</a:t>
                      </a:r>
                    </a:p>
                  </a:txBody>
                  <a:tcPr anchor="ctr">
                    <a:solidFill>
                      <a:srgbClr val="FFFFFF"/>
                    </a:solidFill>
                  </a:tcPr>
                </a:tc>
                <a:tc>
                  <a:txBody>
                    <a:bodyPr wrap="square"/>
                    <a:lstStyle/>
                    <a:p>
                      <a:r>
                        <a:rPr sz="1600" b="0">
                          <a:solidFill>
                            <a:srgbClr val="1F2A44"/>
                          </a:solidFill>
                          <a:latin typeface="Arial"/>
                          <a:ea typeface="Microsoft YaHei"/>
                        </a:rPr>
                        <a:t>Sales are likely to continue growing, though the pace may vary.</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bl>
          </a:graphicData>
        </a:graphic>
      </p:graphicFrame>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Contrast: </a:t>
            </a:r>
            <a:r>
              <a:rPr sz="1700" b="0">
                <a:solidFill>
                  <a:srgbClr val="1F2A44"/>
                </a:solidFill>
                <a:latin typeface="Arial"/>
                <a:ea typeface="Microsoft YaHei"/>
              </a:rPr>
              <a:t>although, even though, while, whereas, however, yet.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Hedging: </a:t>
            </a:r>
            <a:r>
              <a:rPr sz="1700" b="0">
                <a:solidFill>
                  <a:srgbClr val="1F2A44"/>
                </a:solidFill>
                <a:latin typeface="Arial"/>
                <a:ea typeface="Microsoft YaHei"/>
              </a:rPr>
              <a:t>may need to, is likely to, might, could, tends to, appears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Present perfect for change: </a:t>
            </a:r>
            <a:r>
              <a:rPr sz="1700" b="0">
                <a:solidFill>
                  <a:srgbClr val="1F2A44"/>
                </a:solidFill>
                <a:latin typeface="Arial"/>
                <a:ea typeface="Microsoft YaHei"/>
              </a:rPr>
              <a:t>“The market has changed quickly.”</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Comparison: </a:t>
            </a:r>
            <a:r>
              <a:rPr sz="1700" b="0">
                <a:solidFill>
                  <a:srgbClr val="1F2A44"/>
                </a:solidFill>
                <a:latin typeface="Arial"/>
                <a:ea typeface="Microsoft YaHei"/>
              </a:rPr>
              <a:t>more affordable than, as reliable as, less expensive than.</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 market is grow.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EV market is growing.</a:t>
            </a:r>
          </a:p>
          <a:p>
            <a:pPr algn="l">
              <a:spcAft>
                <a:spcPts val="200"/>
              </a:spcAft>
            </a:pPr>
            <a:r>
              <a:rPr sz="1200" b="0">
                <a:solidFill>
                  <a:srgbClr val="FFFFFF"/>
                </a:solidFill>
                <a:latin typeface="Arial"/>
                <a:ea typeface="Microsoft YaHei"/>
              </a:rPr>
              <a:t>进行时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Despite of the subsidies, …</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Despite the subsidies, …</a:t>
            </a:r>
          </a:p>
          <a:p>
            <a:pPr algn="l">
              <a:spcAft>
                <a:spcPts val="200"/>
              </a:spcAft>
            </a:pPr>
            <a:r>
              <a:rPr sz="1200" b="0">
                <a:solidFill>
                  <a:srgbClr val="FFFFFF"/>
                </a:solidFill>
                <a:latin typeface="Arial"/>
                <a:ea typeface="Microsoft YaHei"/>
              </a:rPr>
              <a:t>despite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electric cars is expensive.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Electric cars are expensive.</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Although prices fell, but sales stayed flat.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Although prices fell, sales stayed flat.</a:t>
            </a:r>
          </a:p>
          <a:p>
            <a:pPr algn="l">
              <a:spcAft>
                <a:spcPts val="200"/>
              </a:spcAft>
            </a:pPr>
            <a:r>
              <a:rPr sz="1200" b="0">
                <a:solidFill>
                  <a:srgbClr val="FFFFFF"/>
                </a:solidFill>
                <a:latin typeface="Arial"/>
                <a:ea typeface="Microsoft YaHei"/>
              </a:rPr>
              <a:t>although 与 but 不连用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range is long for 400 km.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range is 400 km.</a:t>
            </a:r>
          </a:p>
          <a:p>
            <a:pPr algn="l">
              <a:spcAft>
                <a:spcPts val="200"/>
              </a:spcAft>
            </a:pPr>
            <a:r>
              <a:rPr sz="1200" b="0">
                <a:solidFill>
                  <a:srgbClr val="FFFFFF"/>
                </a:solidFill>
                <a:latin typeface="Arial"/>
                <a:ea typeface="Microsoft YaHei"/>
              </a:rPr>
              <a:t>表达</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likely will grow.</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likely to grow.</a:t>
            </a:r>
          </a:p>
          <a:p>
            <a:pPr algn="l">
              <a:spcAft>
                <a:spcPts val="200"/>
              </a:spcAft>
            </a:pPr>
            <a:r>
              <a:rPr sz="1200" b="0">
                <a:solidFill>
                  <a:srgbClr val="FFFFFF"/>
                </a:solidFill>
                <a:latin typeface="Arial"/>
                <a:ea typeface="Microsoft YaHei"/>
              </a:rPr>
              <a:t>likely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although … but (don’t use both), likely to, and subject-verb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Brands and politics: </a:t>
            </a:r>
            <a:r>
              <a:rPr sz="1700" b="0">
                <a:solidFill>
                  <a:srgbClr val="1F2A44"/>
                </a:solidFill>
                <a:latin typeface="Arial"/>
                <a:ea typeface="Microsoft YaHei"/>
              </a:rPr>
              <a:t>EV discussions can become political. Stick to data and be respectful.</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Predictions: </a:t>
            </a:r>
            <a:r>
              <a:rPr sz="1700" b="0">
                <a:solidFill>
                  <a:srgbClr val="1F2A44"/>
                </a:solidFill>
                <a:latin typeface="Arial"/>
                <a:ea typeface="Microsoft YaHei"/>
              </a:rPr>
              <a:t>Hedge forecasts; markets change fast.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Units: </a:t>
            </a:r>
            <a:r>
              <a:rPr sz="1700" b="0">
                <a:solidFill>
                  <a:srgbClr val="1F2A44"/>
                </a:solidFill>
                <a:latin typeface="Arial"/>
                <a:ea typeface="Microsoft YaHei"/>
              </a:rPr>
              <a:t>Use miles in UK/US, kilometres elsewhere; state which you use.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although 与 but 不能连用;likely to + 动词;electric cars are(复数)。预测要用 may / might / likely to 等。</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changes in a market with causes.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strategic responses with hedging.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contrast linkers (although, while, yet).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likely to and subject-verb agreement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 · Lesson 78 Shifts in the Electric Vehicle Market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contrast linkers (although … but error), likely to, and hedged forecasts.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绿色转型</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green transition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通货膨胀</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inflation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rest on its laurels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firm rested on its laurels.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If the market will fall, we cut costs.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If the market falls, we will cut costs.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生产率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productivity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plunge / plummet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Shares plunged by 10%.</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“早期采用者”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early adopter</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“粮食与燃料之争”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food versus fuel</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“吃老本”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rest on its laurels</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It fall from $2,000 to $1,800.</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fell from $2,000 to $1,800.</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It runs with ethanol.</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runs on ethanol.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8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