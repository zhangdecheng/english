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56.xml" ContentType="application/vnd.openxmlformats-officedocument.presentationml.notesSlide+xml"/>
  <Override PartName="/ppt/notesSlides/notesSlide357.xml" ContentType="application/vnd.openxmlformats-officedocument.presentationml.notesSlide+xml"/>
  <Override PartName="/ppt/notesSlides/notesSlide358.xml" ContentType="application/vnd.openxmlformats-officedocument.presentationml.notesSlide+xml"/>
  <Override PartName="/ppt/notesSlides/notesSlide359.xml" ContentType="application/vnd.openxmlformats-officedocument.presentationml.notesSlide+xml"/>
  <Override PartName="/ppt/notesSlides/notesSlide36.xml" ContentType="application/vnd.openxmlformats-officedocument.presentationml.notesSlide+xml"/>
  <Override PartName="/ppt/notesSlides/notesSlide360.xml" ContentType="application/vnd.openxmlformats-officedocument.presentationml.notesSlide+xml"/>
  <Override PartName="/ppt/notesSlides/notesSlide361.xml" ContentType="application/vnd.openxmlformats-officedocument.presentationml.notesSlide+xml"/>
  <Override PartName="/ppt/notesSlides/notesSlide362.xml" ContentType="application/vnd.openxmlformats-officedocument.presentationml.notesSlide+xml"/>
  <Override PartName="/ppt/notesSlides/notesSlide363.xml" ContentType="application/vnd.openxmlformats-officedocument.presentationml.notesSlide+xml"/>
  <Override PartName="/ppt/notesSlides/notesSlide364.xml" ContentType="application/vnd.openxmlformats-officedocument.presentationml.notesSlide+xml"/>
  <Override PartName="/ppt/notesSlides/notesSlide365.xml" ContentType="application/vnd.openxmlformats-officedocument.presentationml.notesSlide+xml"/>
  <Override PartName="/ppt/notesSlides/notesSlide366.xml" ContentType="application/vnd.openxmlformats-officedocument.presentationml.notesSlide+xml"/>
  <Override PartName="/ppt/notesSlides/notesSlide367.xml" ContentType="application/vnd.openxmlformats-officedocument.presentationml.notesSlide+xml"/>
  <Override PartName="/ppt/notesSlides/notesSlide368.xml" ContentType="application/vnd.openxmlformats-officedocument.presentationml.notesSlide+xml"/>
  <Override PartName="/ppt/notesSlides/notesSlide369.xml" ContentType="application/vnd.openxmlformats-officedocument.presentationml.notesSlide+xml"/>
  <Override PartName="/ppt/notesSlides/notesSlide37.xml" ContentType="application/vnd.openxmlformats-officedocument.presentationml.notesSlide+xml"/>
  <Override PartName="/ppt/notesSlides/notesSlide370.xml" ContentType="application/vnd.openxmlformats-officedocument.presentationml.notesSlide+xml"/>
  <Override PartName="/ppt/notesSlides/notesSlide371.xml" ContentType="application/vnd.openxmlformats-officedocument.presentationml.notesSlide+xml"/>
  <Override PartName="/ppt/notesSlides/notesSlide372.xml" ContentType="application/vnd.openxmlformats-officedocument.presentationml.notesSlide+xml"/>
  <Override PartName="/ppt/notesSlides/notesSlide373.xml" ContentType="application/vnd.openxmlformats-officedocument.presentationml.notesSlide+xml"/>
  <Override PartName="/ppt/notesSlides/notesSlide374.xml" ContentType="application/vnd.openxmlformats-officedocument.presentationml.notesSlide+xml"/>
  <Override PartName="/ppt/notesSlides/notesSlide375.xml" ContentType="application/vnd.openxmlformats-officedocument.presentationml.notesSlide+xml"/>
  <Override PartName="/ppt/notesSlides/notesSlide376.xml" ContentType="application/vnd.openxmlformats-officedocument.presentationml.notesSlide+xml"/>
  <Override PartName="/ppt/notesSlides/notesSlide377.xml" ContentType="application/vnd.openxmlformats-officedocument.presentationml.notesSlide+xml"/>
  <Override PartName="/ppt/notesSlides/notesSlide378.xml" ContentType="application/vnd.openxmlformats-officedocument.presentationml.notesSlide+xml"/>
  <Override PartName="/ppt/notesSlides/notesSlide379.xml" ContentType="application/vnd.openxmlformats-officedocument.presentationml.notesSlide+xml"/>
  <Override PartName="/ppt/notesSlides/notesSlide38.xml" ContentType="application/vnd.openxmlformats-officedocument.presentationml.notesSlide+xml"/>
  <Override PartName="/ppt/notesSlides/notesSlide380.xml" ContentType="application/vnd.openxmlformats-officedocument.presentationml.notesSlide+xml"/>
  <Override PartName="/ppt/notesSlides/notesSlide381.xml" ContentType="application/vnd.openxmlformats-officedocument.presentationml.notesSlide+xml"/>
  <Override PartName="/ppt/notesSlides/notesSlide382.xml" ContentType="application/vnd.openxmlformats-officedocument.presentationml.notesSlide+xml"/>
  <Override PartName="/ppt/notesSlides/notesSlide383.xml" ContentType="application/vnd.openxmlformats-officedocument.presentationml.notesSlide+xml"/>
  <Override PartName="/ppt/notesSlides/notesSlide384.xml" ContentType="application/vnd.openxmlformats-officedocument.presentationml.notesSlide+xml"/>
  <Override PartName="/ppt/notesSlides/notesSlide385.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 id="591" r:id="rId343"/>
    <p:sldId id="592" r:id="rId344"/>
    <p:sldId id="593" r:id="rId345"/>
    <p:sldId id="594" r:id="rId346"/>
    <p:sldId id="595" r:id="rId347"/>
    <p:sldId id="596" r:id="rId348"/>
    <p:sldId id="597" r:id="rId349"/>
    <p:sldId id="598" r:id="rId350"/>
    <p:sldId id="599" r:id="rId351"/>
    <p:sldId id="600" r:id="rId352"/>
    <p:sldId id="601" r:id="rId353"/>
    <p:sldId id="602" r:id="rId354"/>
    <p:sldId id="603" r:id="rId355"/>
    <p:sldId id="604" r:id="rId356"/>
    <p:sldId id="605" r:id="rId357"/>
    <p:sldId id="606" r:id="rId358"/>
    <p:sldId id="607" r:id="rId359"/>
    <p:sldId id="608" r:id="rId360"/>
    <p:sldId id="609" r:id="rId361"/>
    <p:sldId id="610" r:id="rId362"/>
    <p:sldId id="611" r:id="rId363"/>
    <p:sldId id="612" r:id="rId364"/>
    <p:sldId id="613" r:id="rId365"/>
    <p:sldId id="614" r:id="rId366"/>
    <p:sldId id="615" r:id="rId367"/>
    <p:sldId id="616" r:id="rId368"/>
    <p:sldId id="617" r:id="rId369"/>
    <p:sldId id="618" r:id="rId370"/>
    <p:sldId id="619" r:id="rId371"/>
    <p:sldId id="620" r:id="rId372"/>
    <p:sldId id="621" r:id="rId373"/>
    <p:sldId id="622" r:id="rId374"/>
    <p:sldId id="623" r:id="rId375"/>
    <p:sldId id="624" r:id="rId376"/>
    <p:sldId id="625" r:id="rId377"/>
    <p:sldId id="626" r:id="rId378"/>
    <p:sldId id="627" r:id="rId379"/>
    <p:sldId id="628" r:id="rId380"/>
    <p:sldId id="629" r:id="rId381"/>
    <p:sldId id="630" r:id="rId382"/>
    <p:sldId id="631" r:id="rId383"/>
    <p:sldId id="632" r:id="rId384"/>
    <p:sldId id="633" r:id="rId385"/>
    <p:sldId id="634" r:id="rId386"/>
    <p:sldId id="635" r:id="rId387"/>
    <p:sldId id="636" r:id="rId388"/>
    <p:sldId id="637" r:id="rId389"/>
    <p:sldId id="638" r:id="rId390"/>
    <p:sldId id="639" r:id="rId391"/>
    <p:sldId id="640" r:id="rId392"/>
    <p:sldId id="641" r:id="rId393"/>
    <p:sldId id="642" r:id="rId394"/>
    <p:sldId id="643" r:id="rId395"/>
    <p:sldId id="644" r:id="rId396"/>
    <p:sldId id="645" r:id="rId397"/>
    <p:sldId id="646" r:id="rId398"/>
    <p:sldId id="647" r:id="rId399"/>
    <p:sldId id="648" r:id="rId400"/>
    <p:sldId id="649" r:id="rId40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 Id="rId339" Type="http://schemas.openxmlformats.org/officeDocument/2006/relationships/slide" Target="slides/slide332.xml"/><Relationship Id="rId340" Type="http://schemas.openxmlformats.org/officeDocument/2006/relationships/slide" Target="slides/slide333.xml"/><Relationship Id="rId341" Type="http://schemas.openxmlformats.org/officeDocument/2006/relationships/slide" Target="slides/slide334.xml"/><Relationship Id="rId342" Type="http://schemas.openxmlformats.org/officeDocument/2006/relationships/slide" Target="slides/slide335.xml"/><Relationship Id="rId343" Type="http://schemas.openxmlformats.org/officeDocument/2006/relationships/slide" Target="slides/slide336.xml"/><Relationship Id="rId344" Type="http://schemas.openxmlformats.org/officeDocument/2006/relationships/slide" Target="slides/slide337.xml"/><Relationship Id="rId345" Type="http://schemas.openxmlformats.org/officeDocument/2006/relationships/slide" Target="slides/slide338.xml"/><Relationship Id="rId346" Type="http://schemas.openxmlformats.org/officeDocument/2006/relationships/slide" Target="slides/slide339.xml"/><Relationship Id="rId347" Type="http://schemas.openxmlformats.org/officeDocument/2006/relationships/slide" Target="slides/slide340.xml"/><Relationship Id="rId348" Type="http://schemas.openxmlformats.org/officeDocument/2006/relationships/slide" Target="slides/slide341.xml"/><Relationship Id="rId349" Type="http://schemas.openxmlformats.org/officeDocument/2006/relationships/slide" Target="slides/slide342.xml"/><Relationship Id="rId350" Type="http://schemas.openxmlformats.org/officeDocument/2006/relationships/slide" Target="slides/slide343.xml"/><Relationship Id="rId351" Type="http://schemas.openxmlformats.org/officeDocument/2006/relationships/slide" Target="slides/slide344.xml"/><Relationship Id="rId352" Type="http://schemas.openxmlformats.org/officeDocument/2006/relationships/slide" Target="slides/slide345.xml"/><Relationship Id="rId353" Type="http://schemas.openxmlformats.org/officeDocument/2006/relationships/slide" Target="slides/slide346.xml"/><Relationship Id="rId354" Type="http://schemas.openxmlformats.org/officeDocument/2006/relationships/slide" Target="slides/slide347.xml"/><Relationship Id="rId355" Type="http://schemas.openxmlformats.org/officeDocument/2006/relationships/slide" Target="slides/slide348.xml"/><Relationship Id="rId356" Type="http://schemas.openxmlformats.org/officeDocument/2006/relationships/slide" Target="slides/slide349.xml"/><Relationship Id="rId357" Type="http://schemas.openxmlformats.org/officeDocument/2006/relationships/slide" Target="slides/slide350.xml"/><Relationship Id="rId358" Type="http://schemas.openxmlformats.org/officeDocument/2006/relationships/slide" Target="slides/slide351.xml"/><Relationship Id="rId359" Type="http://schemas.openxmlformats.org/officeDocument/2006/relationships/slide" Target="slides/slide352.xml"/><Relationship Id="rId360" Type="http://schemas.openxmlformats.org/officeDocument/2006/relationships/slide" Target="slides/slide353.xml"/><Relationship Id="rId361" Type="http://schemas.openxmlformats.org/officeDocument/2006/relationships/slide" Target="slides/slide354.xml"/><Relationship Id="rId362" Type="http://schemas.openxmlformats.org/officeDocument/2006/relationships/slide" Target="slides/slide355.xml"/><Relationship Id="rId363" Type="http://schemas.openxmlformats.org/officeDocument/2006/relationships/slide" Target="slides/slide356.xml"/><Relationship Id="rId364" Type="http://schemas.openxmlformats.org/officeDocument/2006/relationships/slide" Target="slides/slide357.xml"/><Relationship Id="rId365" Type="http://schemas.openxmlformats.org/officeDocument/2006/relationships/slide" Target="slides/slide358.xml"/><Relationship Id="rId366" Type="http://schemas.openxmlformats.org/officeDocument/2006/relationships/slide" Target="slides/slide359.xml"/><Relationship Id="rId367" Type="http://schemas.openxmlformats.org/officeDocument/2006/relationships/slide" Target="slides/slide360.xml"/><Relationship Id="rId368" Type="http://schemas.openxmlformats.org/officeDocument/2006/relationships/slide" Target="slides/slide361.xml"/><Relationship Id="rId369" Type="http://schemas.openxmlformats.org/officeDocument/2006/relationships/slide" Target="slides/slide362.xml"/><Relationship Id="rId370" Type="http://schemas.openxmlformats.org/officeDocument/2006/relationships/slide" Target="slides/slide363.xml"/><Relationship Id="rId371" Type="http://schemas.openxmlformats.org/officeDocument/2006/relationships/slide" Target="slides/slide364.xml"/><Relationship Id="rId372" Type="http://schemas.openxmlformats.org/officeDocument/2006/relationships/slide" Target="slides/slide365.xml"/><Relationship Id="rId373" Type="http://schemas.openxmlformats.org/officeDocument/2006/relationships/slide" Target="slides/slide366.xml"/><Relationship Id="rId374" Type="http://schemas.openxmlformats.org/officeDocument/2006/relationships/slide" Target="slides/slide367.xml"/><Relationship Id="rId375" Type="http://schemas.openxmlformats.org/officeDocument/2006/relationships/slide" Target="slides/slide368.xml"/><Relationship Id="rId376" Type="http://schemas.openxmlformats.org/officeDocument/2006/relationships/slide" Target="slides/slide369.xml"/><Relationship Id="rId377" Type="http://schemas.openxmlformats.org/officeDocument/2006/relationships/slide" Target="slides/slide370.xml"/><Relationship Id="rId378" Type="http://schemas.openxmlformats.org/officeDocument/2006/relationships/slide" Target="slides/slide371.xml"/><Relationship Id="rId379" Type="http://schemas.openxmlformats.org/officeDocument/2006/relationships/slide" Target="slides/slide372.xml"/><Relationship Id="rId380" Type="http://schemas.openxmlformats.org/officeDocument/2006/relationships/slide" Target="slides/slide373.xml"/><Relationship Id="rId381" Type="http://schemas.openxmlformats.org/officeDocument/2006/relationships/slide" Target="slides/slide374.xml"/><Relationship Id="rId382" Type="http://schemas.openxmlformats.org/officeDocument/2006/relationships/slide" Target="slides/slide375.xml"/><Relationship Id="rId383" Type="http://schemas.openxmlformats.org/officeDocument/2006/relationships/slide" Target="slides/slide376.xml"/><Relationship Id="rId384" Type="http://schemas.openxmlformats.org/officeDocument/2006/relationships/slide" Target="slides/slide377.xml"/><Relationship Id="rId385" Type="http://schemas.openxmlformats.org/officeDocument/2006/relationships/slide" Target="slides/slide378.xml"/><Relationship Id="rId386" Type="http://schemas.openxmlformats.org/officeDocument/2006/relationships/slide" Target="slides/slide379.xml"/><Relationship Id="rId387" Type="http://schemas.openxmlformats.org/officeDocument/2006/relationships/slide" Target="slides/slide380.xml"/><Relationship Id="rId388" Type="http://schemas.openxmlformats.org/officeDocument/2006/relationships/slide" Target="slides/slide381.xml"/><Relationship Id="rId389" Type="http://schemas.openxmlformats.org/officeDocument/2006/relationships/slide" Target="slides/slide382.xml"/><Relationship Id="rId390" Type="http://schemas.openxmlformats.org/officeDocument/2006/relationships/slide" Target="slides/slide383.xml"/><Relationship Id="rId391" Type="http://schemas.openxmlformats.org/officeDocument/2006/relationships/slide" Target="slides/slide384.xml"/><Relationship Id="rId392" Type="http://schemas.openxmlformats.org/officeDocument/2006/relationships/slide" Target="slides/slide385.xml"/><Relationship Id="rId393" Type="http://schemas.openxmlformats.org/officeDocument/2006/relationships/slide" Target="slides/slide386.xml"/><Relationship Id="rId394" Type="http://schemas.openxmlformats.org/officeDocument/2006/relationships/slide" Target="slides/slide387.xml"/><Relationship Id="rId395" Type="http://schemas.openxmlformats.org/officeDocument/2006/relationships/slide" Target="slides/slide388.xml"/><Relationship Id="rId396" Type="http://schemas.openxmlformats.org/officeDocument/2006/relationships/slide" Target="slides/slide389.xml"/><Relationship Id="rId397" Type="http://schemas.openxmlformats.org/officeDocument/2006/relationships/slide" Target="slides/slide390.xml"/><Relationship Id="rId398" Type="http://schemas.openxmlformats.org/officeDocument/2006/relationships/slide" Target="slides/slide391.xml"/><Relationship Id="rId399" Type="http://schemas.openxmlformats.org/officeDocument/2006/relationships/slide" Target="slides/slide392.xml"/><Relationship Id="rId400" Type="http://schemas.openxmlformats.org/officeDocument/2006/relationships/slide" Target="slides/slide393.xml"/><Relationship Id="rId401" Type="http://schemas.openxmlformats.org/officeDocument/2006/relationships/slide" Target="slides/slide39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2.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3.xml"/></Relationships>
</file>

<file path=ppt/notesSlides/_rels/notesSlide3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4.xml"/></Relationships>
</file>

<file path=ppt/notesSlides/_rels/notesSlide3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3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6.xml"/></Relationships>
</file>

<file path=ppt/notesSlides/_rels/notesSlide3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7.xml"/></Relationships>
</file>

<file path=ppt/notesSlides/_rels/notesSlide3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8.xml"/></Relationships>
</file>

<file path=ppt/notesSlides/_rels/notesSlide3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9.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0.xml"/></Relationships>
</file>

<file path=ppt/notesSlides/_rels/notesSlide3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1.xml"/></Relationships>
</file>

<file path=ppt/notesSlides/_rels/notesSlide3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2.xml"/></Relationships>
</file>

<file path=ppt/notesSlides/_rels/notesSlide3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3.xml"/></Relationships>
</file>

<file path=ppt/notesSlides/_rels/notesSlide3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4.xml"/></Relationships>
</file>

<file path=ppt/notesSlides/_rels/notesSlide3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5.xml"/></Relationships>
</file>

<file path=ppt/notesSlides/_rels/notesSlide3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6.xml"/></Relationships>
</file>

<file path=ppt/notesSlides/_rels/notesSlide3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7.xml"/></Relationships>
</file>

<file path=ppt/notesSlides/_rels/notesSlide3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8.xml"/></Relationships>
</file>

<file path=ppt/notesSlides/_rels/notesSlide3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9.xml"/></Relationships>
</file>

<file path=ppt/notesSlides/_rels/notesSlide3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0.xml"/></Relationships>
</file>

<file path=ppt/notesSlides/_rels/notesSlide3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1.xml"/></Relationships>
</file>

<file path=ppt/notesSlides/_rels/notesSlide3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2.xml"/></Relationships>
</file>

<file path=ppt/notesSlides/_rels/notesSlide3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3.xml"/></Relationships>
</file>

<file path=ppt/notesSlides/_rels/notesSlide3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4.xml"/></Relationships>
</file>

<file path=ppt/notesSlides/_rels/notesSlide3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5.xml"/></Relationships>
</file>

<file path=ppt/notesSlides/_rels/notesSlide3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6.xml"/></Relationships>
</file>

<file path=ppt/notesSlides/_rels/notesSlide3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7.xml"/></Relationships>
</file>

<file path=ppt/notesSlides/_rels/notesSlide3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8.xml"/></Relationships>
</file>

<file path=ppt/notesSlides/_rels/notesSlide3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9.xml"/></Relationships>
</file>

<file path=ppt/notesSlides/_rels/notesSlide3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0.xml"/></Relationships>
</file>

<file path=ppt/notesSlides/_rels/notesSlide3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1.xml"/></Relationships>
</file>

<file path=ppt/notesSlides/_rels/notesSlide3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2.xml"/></Relationships>
</file>

<file path=ppt/notesSlides/_rels/notesSlide3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3.xml"/></Relationships>
</file>

<file path=ppt/notesSlides/_rels/notesSlide3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4.xml"/></Relationships>
</file>

<file path=ppt/notesSlides/_rels/notesSlide3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5.xml"/></Relationships>
</file>

<file path=ppt/notesSlides/_rels/notesSlide3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6.xml"/></Relationships>
</file>

<file path=ppt/notesSlides/_rels/notesSlide3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7.xml"/></Relationships>
</file>

<file path=ppt/notesSlides/_rels/notesSlide3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8.xml"/></Relationships>
</file>

<file path=ppt/notesSlides/_rels/notesSlide3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9.xml"/></Relationships>
</file>

<file path=ppt/notesSlides/_rels/notesSlide3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0.xml"/></Relationships>
</file>

<file path=ppt/notesSlides/_rels/notesSlide3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1.xml"/></Relationships>
</file>

<file path=ppt/notesSlides/_rels/notesSlide3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2.xml"/></Relationships>
</file>

<file path=ppt/notesSlides/_rels/notesSlide3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3.xml"/></Relationships>
</file>

<file path=ppt/notesSlides/_rels/notesSlide3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4.xml"/></Relationships>
</file>

<file path=ppt/notesSlides/_rels/notesSlide3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5.xml"/></Relationships>
</file>

<file path=ppt/notesSlides/_rels/notesSlide3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6.xml"/></Relationships>
</file>

<file path=ppt/notesSlides/_rels/notesSlide3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7.xml"/></Relationships>
</file>

<file path=ppt/notesSlides/_rels/notesSlide3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8.xml"/></Relationships>
</file>

<file path=ppt/notesSlides/_rels/notesSlide3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9.xml"/></Relationships>
</file>

<file path=ppt/notesSlides/_rels/notesSlide3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0.xml"/></Relationships>
</file>

<file path=ppt/notesSlides/_rels/notesSlide3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1.xml"/></Relationships>
</file>

<file path=ppt/notesSlides/_rels/notesSlide3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2.xml"/></Relationships>
</file>

<file path=ppt/notesSlides/_rels/notesSlide3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3.xml"/></Relationships>
</file>

<file path=ppt/notesSlides/_rels/notesSlide3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4.xml"/></Relationships>
</file>

<file path=ppt/notesSlides/_rels/notesSlide3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5.xml"/></Relationships>
</file>

<file path=ppt/notesSlides/_rels/notesSlide3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6.xml"/></Relationships>
</file>

<file path=ppt/notesSlides/_rels/notesSlide3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7.xml"/></Relationships>
</file>

<file path=ppt/notesSlides/_rels/notesSlide3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8.xml"/></Relationships>
</file>

<file path=ppt/notesSlides/_rels/notesSlide3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9.xml"/></Relationships>
</file>

<file path=ppt/notesSlides/_rels/notesSlide3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0.xml"/></Relationships>
</file>

<file path=ppt/notesSlides/_rels/notesSlide3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1.xml"/></Relationships>
</file>

<file path=ppt/notesSlides/_rels/notesSlide3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2.xml"/></Relationships>
</file>

<file path=ppt/notesSlides/_rels/notesSlide3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3.xml"/></Relationships>
</file>

<file path=ppt/notesSlides/_rels/notesSlide3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4.xml"/></Relationships>
</file>

<file path=ppt/notesSlides/_rels/notesSlide3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5.xml"/></Relationships>
</file>

<file path=ppt/notesSlides/_rels/notesSlide3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6.xml"/></Relationships>
</file>

<file path=ppt/notesSlides/_rels/notesSlide3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7.xml"/></Relationships>
</file>

<file path=ppt/notesSlides/_rels/notesSlide3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8.xml"/></Relationships>
</file>

<file path=ppt/notesSlides/_rels/notesSlide3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9.xml"/></Relationships>
</file>

<file path=ppt/notesSlides/_rels/notesSlide3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0.xml"/></Relationships>
</file>

<file path=ppt/notesSlides/_rels/notesSlide3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1.xml"/></Relationships>
</file>

<file path=ppt/notesSlides/_rels/notesSlide3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2.xml"/></Relationships>
</file>

<file path=ppt/notesSlides/_rels/notesSlide3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2.xml"/></Relationships>
</file>

<file path=ppt/notesSlides/_rels/notesSlide3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3.xml"/></Relationships>
</file>

<file path=ppt/notesSlides/_rels/notesSlide3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Mid-to-Advanced Level 9-10</a:t>
            </a:r>
          </a:p>
          <a:p>
            <a:r>
              <a:t>Unit 5: Team Leadership and Project Management — Self-Study Workbook (Lessons 37–53)</a:t>
            </a:r>
          </a:p>
          <a:p/>
          <a:p>
            <a:r>
              <a:t>开场：简单介绍本单元的主题和要完成的 17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37 · Giving Interviews 主持面试</a:t>
            </a:r>
          </a:p>
          <a:p>
            <a:r>
              <a:t>Goal: conduct a job interview as the interviewer: prepare questions, put the candidate at ease, probe answers and close the interview professionally.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题用 interview 的动词形式:I interviewed… interviewer = 面试官,interviewee/candidate = 应聘者。</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Role-play opening an interview and asking two probing questions.</a:t>
            </a:r>
          </a:p>
          <a:p>
            <a:r>
              <a:t>Say: welcome → explain the format → ask about experience → probe → invite questions → close</a:t>
            </a:r>
          </a:p>
          <a:p>
            <a:r>
              <a:t>Useful starters: “Thanks for coming in.” / “Could you walk me through…?” / “Can you give me an example of…?”</a:t>
            </a:r>
          </a:p>
          <a:p>
            <a:r>
              <a:t>walk me through = 请详细讲讲。give me an example = 举例。面试开头先寒暄,让对方放松。</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Most of us have sat on the candidate’s side of the table, but interviewing is a skill of its own. A good interviewer prepares by reading the CV carefully and deciding which skills matter most for the role. In the room, they begin with friendly small talk and explain how the interview will work. Open questions such as “Can you tell me about a time when you disagreed with a colleague?” are more revealing than yes-or-no questions. Probing follow-ups such as “What did you do next?” help to separate rehearsed answers from genuine experience. Interviewers should also listen more than they talk, take notes and treat every candidate fairly, avoiding questions about age, family plans or religion. Finally, they should explain what happens next and when the candidate can expect to hear back.</a:t>
            </a:r>
          </a:p>
          <a:p>
            <a:r>
              <a:t>rehearsed = 排练过的。revealing = 有启发性的。”hear back” = 得到回复。probe = 追问。</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should interviewers read the CV in advance?</a:t>
            </a:r>
          </a:p>
          <a:p>
            <a:r>
              <a:t>A: To decide which skills matter most for the role and prepare questions.</a:t>
            </a:r>
          </a:p>
          <a:p>
            <a:r>
              <a:t>Q2. Why are open and probing questions useful?</a:t>
            </a:r>
          </a:p>
          <a:p>
            <a:r>
              <a:t>A: They reveal more and help separate rehearsed answers from real experience.</a:t>
            </a:r>
          </a:p>
          <a:p>
            <a:r>
              <a:t>Q3. What should interviewers avoid asking about?</a:t>
            </a:r>
          </a:p>
          <a:p>
            <a:r>
              <a:t>A: Age, family plans or religion.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The interview process 面试流程</a:t>
            </a:r>
          </a:p>
          <a:p>
            <a:r>
              <a:t>领读 → 学员跟读 → 请学员用表达造一个和自己工作相关的句子。</a:t>
            </a:r>
          </a:p>
          <a:p>
            <a:r>
              <a:t>shortlist (verb / noun) 入围名单 / 列入名单 — “We shortlisted five candidates.”</a:t>
            </a:r>
          </a:p>
          <a:p>
            <a:r>
              <a:t>panel interview (noun phrase) 小组面试 — “She had a panel interview with three managers.”</a:t>
            </a:r>
          </a:p>
          <a:p>
            <a:r>
              <a:t>competency-based question (noun phrase) 能力导向问题 — “Competency-based questions ask for real examples.”</a:t>
            </a:r>
          </a:p>
          <a:p>
            <a:r>
              <a:t>follow-up question (noun phrase) 追问 — “I asked a follow-up question about her budget.”</a:t>
            </a:r>
          </a:p>
          <a:p>
            <a:r>
              <a:t>reference (noun) 推荐人 / 背景调查 — “We’ll contact your references next week.”</a:t>
            </a:r>
          </a:p>
          <a:p>
            <a:r>
              <a:t>job description (noun) 岗位说明 — “The job description lists the main duties.”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Questioning and listening ★ 提问与倾听</a:t>
            </a:r>
          </a:p>
          <a:p>
            <a:r>
              <a:t>领读 → 学员跟读 → 请学员用表达造一个和自己工作相关的句子。</a:t>
            </a:r>
          </a:p>
          <a:p>
            <a:r>
              <a:t>★ put someone at ease (idiom) 让某人放松 — “A smile puts candidates at ease.”</a:t>
            </a:r>
          </a:p>
          <a:p>
            <a:r>
              <a:t>★ walk me through (phrase) 请详细讲讲 — “Walk me through your last project.”</a:t>
            </a:r>
          </a:p>
          <a:p>
            <a:r>
              <a:t>★ probe (verb) 追问 — “I probed further about his role in the team.”</a:t>
            </a:r>
          </a:p>
          <a:p>
            <a:r>
              <a:t>★ gauge (verb) 判断/衡量 — “I wanted to gauge his experience.”</a:t>
            </a:r>
          </a:p>
          <a:p>
            <a:r>
              <a:t>★ red flag (noun phrase) 危险信号 — “Frequent job changes can be a red flag.”</a:t>
            </a:r>
          </a:p>
          <a:p>
            <a:r>
              <a:t>★ wrap up (phrasal verb) 结束 — “Let’s wrap up with any questions you have.”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shortlisted / panel / follow-up / put at ease / gauge / wrap up</a:t>
            </a:r>
          </a:p>
          <a:p>
            <a:r>
              <a:t>1. We have _______ five candidates for the final round. → shortlisted</a:t>
            </a:r>
          </a:p>
          <a:p>
            <a:r>
              <a:t>2. She will have a _______ interview with three managers. → panel</a:t>
            </a:r>
          </a:p>
          <a:p>
            <a:r>
              <a:t>3. I asked a _______ question about her results. → follow-up</a:t>
            </a:r>
          </a:p>
          <a:p>
            <a:r>
              <a:t>4. A friendly start helps to _______ nervous candidates. → put at ease</a:t>
            </a:r>
          </a:p>
          <a:p>
            <a:r>
              <a:t>5. I’d like to _______ how well he works under pressure. → gauge</a:t>
            </a:r>
          </a:p>
          <a:p>
            <a:r>
              <a:t>6. Let’s _______ with any questions you may have. → wrap up</a:t>
            </a:r>
          </a:p>
          <a:p>
            <a:r>
              <a:t>Mistake Watch (拼写与搭配): interview (one r in the middle: in-ter-view), questionnaire (double n), candidate. Conduct / hold an interview, interview a candidate for a job (not “interview to”). Interviewer (the one who asks) vs interviewee (the one who answers).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the interview and probing 开场与追问</a:t>
            </a:r>
          </a:p>
          <a:p>
            <a:r>
              <a:t>情景：You are the hiring manager interviewing a candidate, Kevin, for a sales team leader job.</a:t>
            </a:r>
          </a:p>
          <a:p>
            <a:r>
              <a:t>Role A: Anna Reyes, hiring manager (you) Role B: Kevin Bell, candidate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(Anna): Hello Kevin, I’m Anna. Thanks for coming in. Did you find us easily?</a:t>
            </a:r>
          </a:p>
          <a:p>
            <a:r>
              <a:t>B (Kevin): Yes, thank you. The directions were clear.</a:t>
            </a:r>
          </a:p>
          <a:p>
            <a:r>
              <a:t>A: Great. Today I’ll ask about your experience and then leave time for your questions. Is that okay?</a:t>
            </a:r>
          </a:p>
          <a:p>
            <a:r>
              <a:t>B: Perfect.</a:t>
            </a:r>
          </a:p>
          <a:p>
            <a:r>
              <a:t>A: Let’s start with your current role. Could you walk me through a typical week?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Sure. I manage a team of six, and we handle about forty accounts.</a:t>
            </a:r>
          </a:p>
          <a:p>
            <a:r>
              <a:t>A: And what’s the achievement you’re most proud of in the last year?</a:t>
            </a:r>
          </a:p>
          <a:p>
            <a:r>
              <a:t>B: We increased renewals by fifteen per cent, mainly by improving follow-up.</a:t>
            </a:r>
          </a:p>
          <a:p>
            <a:r>
              <a:t>A: Interesting. Can you give me an example of what you changed?</a:t>
            </a:r>
          </a:p>
          <a:p>
            <a:r>
              <a:t>B: We introduced a short call to every client three months before renewal.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Thanks, that’s helpful. Do you have any questions for me?</a:t>
            </a:r>
          </a:p>
          <a:p>
            <a:r>
              <a:t>B: Yes, how is the team structured? Then I’d like to know what success looks like in the first six months.</a:t>
            </a:r>
          </a:p>
          <a:p>
            <a:r>
              <a:t>A: Good questions. I’ll cover those now, and then we’ll wrap up.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37 | </a:t>
            </a:r>
          </a:p>
          <a:p>
            <a:r>
              <a:t>Situation | You interview a candidate.</a:t>
            </a:r>
          </a:p>
          <a:p>
            <a:r>
              <a:t>Your role (A) | Interviewer. Prepare two open questions and one probing question for: ______________</a:t>
            </a:r>
          </a:p>
          <a:p>
            <a:r>
              <a:t>Partner’s role (B) | Candidate. Answer with an example and ask two questions.</a:t>
            </a:r>
          </a:p>
          <a:p>
            <a:r>
              <a:t>Must use (4 or more) | walk me through · give me an example · what did you do next · follow-up · gauge · wrap up</a:t>
            </a:r>
          </a:p>
          <a:p>
            <a:r>
              <a:t>Goal | Open, probe, invite questions and explain next steps.</a:t>
            </a:r>
          </a:p>
          <a:p>
            <a:r>
              <a:t>My notes | ____________________________________________</a:t>
            </a:r>
          </a:p>
          <a:p>
            <a:r>
              <a:t>The candidate gives a vague answer. Probe politely.</a:t>
            </a:r>
          </a:p>
          <a:p>
            <a:r>
              <a:t>The candidate says “I don’t have a weakness.” React.</a:t>
            </a:r>
          </a:p>
          <a:p>
            <a:r>
              <a:t>Close the interview and explain the next steps.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qualities make an interview effective? | “A good interviewer should… / It’s important to…”</a:t>
            </a:r>
          </a:p>
          <a:p>
            <a:r>
              <a:t>2. Are behavioural questions better than traditional questions? | “They reveal… whereas…”</a:t>
            </a:r>
          </a:p>
          <a:p>
            <a:r>
              <a:t>3. How important is first impression in an interview? | “It matters, but… / First impressions can mislead because…”</a:t>
            </a:r>
          </a:p>
          <a:p>
            <a:r>
              <a:t>4. What should interviewers never ask? | “They shouldn’t ask about… because it’s…”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“First impressions matter, but they shouldn’t be decisive. A candidate who is nervous may seem less confident than they really are, and a charming candidate might not have the skills. That is why I think interviewers should use structured questions and take notes, so decisions are based on evidence rather than gut feeling. A good start helps, but the substance of the answers matters most.”</a:t>
            </a:r>
          </a:p>
          <a:p>
            <a:r>
              <a:t>decisive = 起决定作用的。gut feeling = 直觉。”based on evidence” = 基于证据。 substance = 实质内容。</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Introduce yourself. | Could you tell me a little about yourself? | 礼貌</a:t>
            </a:r>
          </a:p>
          <a:p>
            <a:r>
              <a:t>What is your weakness? | Is there an area you’re working to improve? | 委婉</a:t>
            </a:r>
          </a:p>
          <a:p>
            <a:r>
              <a:t>Why you want this job? | What attracted you to this position? | 完整问句</a:t>
            </a:r>
          </a:p>
          <a:p>
            <a:r>
              <a:t>We will tell you later. | You’ll hear from us by the end of next week. | 告知时间</a:t>
            </a:r>
          </a:p>
          <a:p>
            <a:r>
              <a:t>Your answer is not enough. | Could you say a bit more about that? | 追问</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Open questions: Start with What, How, Tell me about, Could you describe… instead of Do you…?</a:t>
            </a:r>
          </a:p>
          <a:p>
            <a:r>
              <a:t>Indirect questions: Could you tell me what your role was? (statement word order, no inversion)</a:t>
            </a:r>
          </a:p>
          <a:p>
            <a:r>
              <a:t>Behavioural prompts: Tell me about a time when… / Describe a situation where…</a:t>
            </a:r>
          </a:p>
          <a:p>
            <a:r>
              <a:t>Closing the interview: Do you have any questions for us? / We’ll be in touch by… / Thank you for your time.</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Why you left your last job?  →  ✓ Why did you leave your last job?  (助动词倒装)</a:t>
            </a:r>
          </a:p>
          <a:p>
            <a:r>
              <a:t>✗ Could you tell me what is your role?  →  ✓ Could you tell me what your role is?  (间接疑问语序)</a:t>
            </a:r>
          </a:p>
          <a:p>
            <a:r>
              <a:t>✗ How long you have worked there?  →  ✓ How long have you worked there?  (倒装)</a:t>
            </a:r>
          </a:p>
          <a:p>
            <a:r>
              <a:t>Mistake Watch: Check question word order, indirect questions and interview as a transitive verb.</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will interview to you.  →  ✓ I will interview you.  (及物动词)</a:t>
            </a:r>
          </a:p>
          <a:p>
            <a:r>
              <a:t>✗ Do you have any question?  →  ✓ Do you have any questions?  (questions 复数)</a:t>
            </a:r>
          </a:p>
          <a:p>
            <a:r>
              <a:t>✗ We will inform you the result.  →  ✓ We will let you know the result. / We will inform you of the result.  (inform sb of)</a:t>
            </a:r>
          </a:p>
          <a:p>
            <a:r>
              <a:t>Mistake Watch: Check question word order, indirect questions and interview as a transitive verb.</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Small talk: In the UK and US, interviews begin with friendly small talk. It’s part of the process.</a:t>
            </a:r>
          </a:p>
          <a:p>
            <a:r>
              <a:t>Fair questions: Questions about age, marital status or religion are illegal in many countries. Ask only about skills and experience.</a:t>
            </a:r>
          </a:p>
          <a:p>
            <a:r>
              <a:t>Notes: Most interviewers take notes. It doesn’t mean you answered badly.</a:t>
            </a:r>
          </a:p>
          <a:p>
            <a:r>
              <a:t>疑问句要倒装:Why did you leave…?;间接疑问句不倒装:Could you tell me what your role is?。interview 是及物动词,interview you,不用 to。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open an interview and put the candidate at ease.</a:t>
            </a:r>
          </a:p>
          <a:p>
            <a:r>
              <a:t>I can ask open and probing questions.</a:t>
            </a:r>
          </a:p>
          <a:p>
            <a:r>
              <a:t>I can use indirect questions with correct word order.</a:t>
            </a:r>
          </a:p>
          <a:p>
            <a:r>
              <a:t>I can close an interview and explain next steps.</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question word order, indirect questions, and interview as a transitive verb.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38 · Finding and Keeping Employees 招聘和留住员工</a:t>
            </a:r>
          </a:p>
          <a:p>
            <a:r>
              <a:t>Goal: talk about recruitment and retention: where to find talent, how to attract it and how to stop good people leaving.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recruitment = 招聘;retention = 留任。”internal vs external” candidates 是常考点。attract talent = 吸引人才。</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Suggest ways to retain employees at a company with high staff turnover.</a:t>
            </a:r>
          </a:p>
          <a:p>
            <a:r>
              <a:t>Say: describe the problem → causes → solutions → expected benefits</a:t>
            </a:r>
          </a:p>
          <a:p>
            <a:r>
              <a:t>Useful starters: “One reason people leave is…” / “To keep them, we could…” / “This would help us to…”</a:t>
            </a:r>
          </a:p>
          <a:p>
            <a:r>
              <a:t>One reason is… 引出原因;To + 动词 表示目的。we could… 提议。</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Finding good people is hard, but keeping them can be harder. Companies advertise vacancies, use recruiters, offer referral bonuses and scout for talent online. Yet many neglect what happens after the offer is accepted. New employees who feel lost during their first months are more likely to leave. Surveys of departing staff often mention the same reasons: limited career prospects, poor management, a lack of recognition and pay that falls behind the market. Retention starts early with a good induction programme and continues with regular feedback, training and clear paths to promotion. Exit interviews can also reveal what is going wrong. Replacing an employee costs far more than keeping one, so a company that invests in its people usually saves money in the long term.</a:t>
            </a:r>
          </a:p>
          <a:p>
            <a:r>
              <a:t>vacancy = 空缺职位。referral bonus = 内推奖金。scout = 物色。induction = 入职培训。exit interview = 离职面谈。</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do new employees leave?</a:t>
            </a:r>
          </a:p>
          <a:p>
            <a:r>
              <a:t>A: They feel lost in the first months, with poor induction.</a:t>
            </a:r>
          </a:p>
          <a:p>
            <a:r>
              <a:t>Q2. What reasons do departing staff mention?</a:t>
            </a:r>
          </a:p>
          <a:p>
            <a:r>
              <a:t>A: Limited career prospects, poor management, lack of recognition and pay below market.</a:t>
            </a:r>
          </a:p>
          <a:p>
            <a:r>
              <a:t>Q3. Why is retention more cost-effective?</a:t>
            </a:r>
          </a:p>
          <a:p>
            <a:r>
              <a:t>A: Replacing an employee costs far more than keeping one.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Recruiting and retaining 招聘与留任</a:t>
            </a:r>
          </a:p>
          <a:p>
            <a:r>
              <a:t>领读 → 学员跟读 → 请学员用表达造一个和自己工作相关的句子。</a:t>
            </a:r>
          </a:p>
          <a:p>
            <a:r>
              <a:t>vacancy (noun) 职位空缺 — “We have a vacancy in sales.”</a:t>
            </a:r>
          </a:p>
          <a:p>
            <a:r>
              <a:t>recruit (verb) 招聘 — “We recruit graduates every summer.”</a:t>
            </a:r>
          </a:p>
          <a:p>
            <a:r>
              <a:t>headhunter / recruiter (noun) 猎头 / 招聘专员 — “A headhunter contacted me.”</a:t>
            </a:r>
          </a:p>
          <a:p>
            <a:r>
              <a:t>employee retention (noun phrase) 员工留任 — “Retention is a priority.”</a:t>
            </a:r>
          </a:p>
          <a:p>
            <a:r>
              <a:t>turnover (noun (uncountable)) 人员流动率 — “Turnover is high in retail.”</a:t>
            </a:r>
          </a:p>
          <a:p>
            <a:r>
              <a:t>career prospects (noun phrase) 职业前景 — “The job has good career prospects.”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Keeping talent ★ 留住人才</a:t>
            </a:r>
          </a:p>
          <a:p>
            <a:r>
              <a:t>领读 → 学员跟读 → 请学员用表达造一个和自己工作相关的句子。</a:t>
            </a:r>
          </a:p>
          <a:p>
            <a:r>
              <a:t>★ poach (verb) 挖角 — “A competitor poached our best engineer.”</a:t>
            </a:r>
          </a:p>
          <a:p>
            <a:r>
              <a:t>★ talent pool (noun phrase) 人才库 — “We have a strong talent pool.”</a:t>
            </a:r>
          </a:p>
          <a:p>
            <a:r>
              <a:t>★ onboarding (noun) 入职引导 — “Good onboarding improves retention.”</a:t>
            </a:r>
          </a:p>
          <a:p>
            <a:r>
              <a:t>★ exit interview (noun phrase) 离职面谈 — “The exit interview showed why she left.”</a:t>
            </a:r>
          </a:p>
          <a:p>
            <a:r>
              <a:t>★ golden handcuffs (idiom) 金手铐(高薪留人) — “Stock options act as golden handcuffs.”</a:t>
            </a:r>
          </a:p>
          <a:p>
            <a:r>
              <a:t>★ headcount (noun) 员工人数 — “Headcount is frozen this year.”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vacancy / recruit / turnover / prospects / poached / onboarding</a:t>
            </a:r>
          </a:p>
          <a:p>
            <a:r>
              <a:t>1. We have a _______ in the marketing team. → vacancy</a:t>
            </a:r>
          </a:p>
          <a:p>
            <a:r>
              <a:t>2. We _______ graduates every summer through career fairs. → recruit</a:t>
            </a:r>
          </a:p>
          <a:p>
            <a:r>
              <a:t>3. Staff _______ is high in the restaurant industry. → turnover</a:t>
            </a:r>
          </a:p>
          <a:p>
            <a:r>
              <a:t>4. The company offers excellent career _______. → prospects</a:t>
            </a:r>
          </a:p>
          <a:p>
            <a:r>
              <a:t>5. A rival firm _______ three of our designers last month. → poached</a:t>
            </a:r>
          </a:p>
          <a:p>
            <a:r>
              <a:t>6. Good _______ makes new employees feel welcome and productive. → onboarding</a:t>
            </a:r>
          </a:p>
          <a:p>
            <a:r>
              <a:t>Mistake Watch (拼写与搭配): recruitment (not “recruitement”), vacancy (not “vacansy”), retention (not “retension”). Staff turnover (uncountable), a high turnover. Reduce / lower turnover, retain staff, attract talent.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retention with HR 与人力资源部讨论员工留任</a:t>
            </a:r>
          </a:p>
          <a:p>
            <a:r>
              <a:t>情景：A department manager meets the HR director to discuss why people are leaving the team.</a:t>
            </a:r>
          </a:p>
          <a:p>
            <a:r>
              <a:t>Role A: Susan Park, department manager (you) Role B: James Ho, HR director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(Susan): James, I’m worried about turnover in my team. We’ve lost four people in six months.</a:t>
            </a:r>
          </a:p>
          <a:p>
            <a:r>
              <a:t>B (James): That’s concerning. Do you know why they left?</a:t>
            </a:r>
          </a:p>
          <a:p>
            <a:r>
              <a:t>A: From exit interviews, mainly career prospects and workload. Two went to competitors.</a:t>
            </a:r>
          </a:p>
          <a:p>
            <a:r>
              <a:t>B: I see. Have we looked at salaries compared with the market?</a:t>
            </a:r>
          </a:p>
          <a:p>
            <a:r>
              <a:t>A: Yes, we’re about ten per cent below. I think that’s part of it, but not the whole story.</a:t>
            </a:r>
          </a:p>
          <a:p>
            <a:r>
              <a:t>B: What else could we do to keep people?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 could create clearer promotion paths and offer more training. Also better onboarding for new joiners.</a:t>
            </a:r>
          </a:p>
          <a:p>
            <a:r>
              <a:t>B: Those are sensible. Would a retention bonus help?</a:t>
            </a:r>
          </a:p>
          <a:p>
            <a:r>
              <a:t>A: It might help in the short term, but I’d prefer to fix the underlying causes first.</a:t>
            </a:r>
          </a:p>
          <a:p>
            <a:r>
              <a:t>B: Agreed. Can you prepare a short proposal with costs?</a:t>
            </a:r>
          </a:p>
          <a:p>
            <a:r>
              <a:t>A: I’ll have it ready by next Wednesday.</a:t>
            </a:r>
          </a:p>
          <a:p>
            <a:r>
              <a:t>B: Thanks. If we don’t act, we’ll keep losing good people.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38 | </a:t>
            </a:r>
          </a:p>
          <a:p>
            <a:r>
              <a:t>Situation | You discuss why staff leave and how to keep them.</a:t>
            </a:r>
          </a:p>
          <a:p>
            <a:r>
              <a:t>Your role (A) | Manager. Your team’s turnover problem: ______________</a:t>
            </a:r>
          </a:p>
          <a:p>
            <a:r>
              <a:t>Partner’s role (B) | HR director. Practical, concerned about budget.</a:t>
            </a:r>
          </a:p>
          <a:p>
            <a:r>
              <a:t>Must use (4 or more) | turnover · exit interview · career prospects · onboarding · retention · market rate</a:t>
            </a:r>
          </a:p>
          <a:p>
            <a:r>
              <a:t>Goal | Explain causes, suggest two solutions and agree next steps.</a:t>
            </a:r>
          </a:p>
          <a:p>
            <a:r>
              <a:t>My notes | ____________________________________________</a:t>
            </a:r>
          </a:p>
          <a:p>
            <a:r>
              <a:t>James says there is no budget for pay rises. Suggest alternatives.</a:t>
            </a:r>
          </a:p>
          <a:p>
            <a:r>
              <a:t>Write an exit interview question list (three questions).</a:t>
            </a:r>
          </a:p>
          <a:p>
            <a:r>
              <a:t>A star employee says she has had an offer elsewhere. Respond as her manager.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Why do employees leave jobs? | “Common reasons include… / People often leave because…”</a:t>
            </a:r>
          </a:p>
          <a:p>
            <a:r>
              <a:t>2. Is pay the most important factor in keeping employees? | “Pay matters, but… / Beyond pay, people value…”</a:t>
            </a:r>
          </a:p>
          <a:p>
            <a:r>
              <a:t>3. Should companies promote from within or hire from outside? | “Promoting from within shows… but external hires bring…”</a:t>
            </a:r>
          </a:p>
          <a:p>
            <a:r>
              <a:t>4. What can a company do in the first month to retain new hires? | “A good induction should… / Assigning a buddy…”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companies should do both, depending on the role. Promoting from within is motivating for staff and saves time, since the person already knows the business. But external hires bring fresh ideas and new skills, which is useful if the company wants to change direction. If a company only promotes from within, it risks becoming inward-looking. A mix is usually healthiest.”</a:t>
            </a:r>
          </a:p>
          <a:p>
            <a:r>
              <a:t>inward-looking = 封闭的。”change direction” = 改变方向。risks + -ing = 有……的风险。a mix = 混合。</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Many people leave my company. | We’ve seen high staff turnover recently. | 专业</a:t>
            </a:r>
          </a:p>
          <a:p>
            <a:r>
              <a:t>The salary is low. | Pay is below the market rate. | 术语</a:t>
            </a:r>
          </a:p>
          <a:p>
            <a:r>
              <a:t>We need more people. | We have several vacancies to fill. | 术语</a:t>
            </a:r>
          </a:p>
          <a:p>
            <a:r>
              <a:t>We want to keep good people. | We want to retain our top talent. | 术语</a:t>
            </a:r>
          </a:p>
          <a:p>
            <a:r>
              <a:t>He got a better job. | He was headhunted / poached by a rival. | 具体</a:t>
            </a:r>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Reason and result: because / since / as a result / therefore / so.</a:t>
            </a:r>
          </a:p>
          <a:p>
            <a:r>
              <a:t>Cause words: One reason is… / This is due to… / This leads to…</a:t>
            </a:r>
          </a:p>
          <a:p>
            <a:r>
              <a:t>Passive for processes: “Candidates are shortlisted, interviewed and then offered the job.”</a:t>
            </a:r>
          </a:p>
          <a:p>
            <a:r>
              <a:t>Collocations: attract talent, retain staff, fill a vacancy, reduce turnover, offer a package.</a:t>
            </a:r>
          </a:p>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need to employ more people for help.  →  ✓ We need to hire more people.  (hire / recruit)</a:t>
            </a:r>
          </a:p>
          <a:p>
            <a:r>
              <a:t>✗ The company is lacking of staff.  →  ✓ The company is short of staff. / The company lacks staff.  (lack 及物)</a:t>
            </a:r>
          </a:p>
          <a:p>
            <a:r>
              <a:t>✗ There are many turnover.  →  ✓ Turnover is high.  (不可数)</a:t>
            </a:r>
          </a:p>
          <a:p>
            <a:r>
              <a:t>Mistake Watch: Check lack, uncountable turnover and resign from.</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I’m going to resign my company.  →  ✓ I’m going to resign from the company.  (resign from)</a:t>
            </a:r>
          </a:p>
          <a:p>
            <a:r>
              <a:t>✗ We make a plan about retention.  →  ✓ We are drawing up a retention plan.  (搭配)</a:t>
            </a:r>
          </a:p>
          <a:p>
            <a:r>
              <a:t>✗ He get another job offer.  →  ✓ He got another job offer.  (过去式)</a:t>
            </a:r>
          </a:p>
          <a:p>
            <a:r>
              <a:t>Mistake Watch: Check lack, uncountable turnover and resign from.</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Job-hopping: In some countries frequent job changes are a red flag; in others (e.g. the US tech sector) they are common.</a:t>
            </a:r>
          </a:p>
          <a:p>
            <a:r>
              <a:t>Notice period: In the UK, notice periods are often one to three months. Check the contract.</a:t>
            </a:r>
          </a:p>
          <a:p>
            <a:r>
              <a:t>Counter-offers: Accepting a counter-offer after resigning is often considered risky in the long run.</a:t>
            </a:r>
          </a:p>
          <a:p>
            <a:r>
              <a:t>lack 本身就是及物动词,不加 of;turnover 不可数,说 turnover is high。“辞职”可说 resign / quit / hand in your notice。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discuss reasons why employees leave and stay.</a:t>
            </a:r>
          </a:p>
          <a:p>
            <a:r>
              <a:t>I can suggest retention measures.</a:t>
            </a:r>
          </a:p>
          <a:p>
            <a:r>
              <a:t>I can use words such as vacancy, turnover and onboarding.</a:t>
            </a:r>
          </a:p>
          <a:p>
            <a:r>
              <a:t>I can use lack / short of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lack, uncountable turnover, and cause-and-result linkers.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39 · Choosing Employees 选择员工</a:t>
            </a:r>
          </a:p>
          <a:p>
            <a:r>
              <a:t>Goal: talk about how to select the right candidate: criteria, comparing candidates, avoiding bias and justifying a decision.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2 题 attitude 与 aptitude 不同:attitude = 态度,aptitude = 天赋。bias = 偏见。</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Compare two candidates and justify your choice.</a:t>
            </a:r>
          </a:p>
          <a:p>
            <a:r>
              <a:t>Say: criteria → candidate A → candidate B → decision and reason</a:t>
            </a:r>
          </a:p>
          <a:p>
            <a:r>
              <a:t>Useful starters: “Both candidates have…, but…” / “On balance, I’d go for…” / “The deciding factor was…”</a:t>
            </a:r>
          </a:p>
          <a:p>
            <a:r>
              <a:t>on balance = 综合来看。the deciding factor = 决定性因素。go for = 选择。</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Choosing between candidates is rarely simple. One may have impressive qualifications but little teamwork experience; another may lack some technical skills but learn quickly and fit the culture. Many hiring managers now define criteria in advance, such as skills, experience, motivation and values, and score each candidate against them. This makes decisions more consistent and reduces bias. Structured interviews, work samples and reference checks add further evidence. Even so, human judgement plays a role. Interviewers should be aware of the “like me” effect, which leads people to prefer candidates who resemble them. A useful question to ask is: “Who will help this team most in the next two years?” Once a decision is made, it is polite and professional to give unsuccessful candidates short feedback.</a:t>
            </a:r>
          </a:p>
          <a:p>
            <a:r>
              <a:t>fit the culture = 契合企业文化。”resemble” = 相似。work sample = 工作样本。unsuccessful candidates = 落选者。</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do many hiring managers do before interviews?</a:t>
            </a:r>
          </a:p>
          <a:p>
            <a:r>
              <a:t>A: Define criteria such as skills, experience, motivation and values and score candidates against them.</a:t>
            </a:r>
          </a:p>
          <a:p>
            <a:r>
              <a:t>Q2. What is the “like me” effect?</a:t>
            </a:r>
          </a:p>
          <a:p>
            <a:r>
              <a:t>A: A tendency to prefer candidates who resemble the interviewer.</a:t>
            </a:r>
          </a:p>
          <a:p>
            <a:r>
              <a:t>Q3. What should be done for unsuccessful candidates?</a:t>
            </a:r>
          </a:p>
          <a:p>
            <a:r>
              <a:t>A: Give them short, professional feedback.</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Selection criteria 选拔标准</a:t>
            </a:r>
          </a:p>
          <a:p>
            <a:r>
              <a:t>领读 → 学员跟读 → 请学员用表达造一个和自己工作相关的句子。</a:t>
            </a:r>
          </a:p>
          <a:p>
            <a:r>
              <a:t>criteria (noun (plural)) 标准 — “What are the selection criteria?”</a:t>
            </a:r>
          </a:p>
          <a:p>
            <a:r>
              <a:t>qualifications (noun (plural)) 资历 / 学历 — “She has the right qualifications.”</a:t>
            </a:r>
          </a:p>
          <a:p>
            <a:r>
              <a:t>track record (noun phrase) 过往业绩 — “He has a strong track record.”</a:t>
            </a:r>
          </a:p>
          <a:p>
            <a:r>
              <a:t>cultural fit (noun phrase) 文化契合度 — “Cultural fit matters.”</a:t>
            </a:r>
          </a:p>
          <a:p>
            <a:r>
              <a:t>strengths and weaknesses (noun phrase) 优缺点 — “Compare their strengths and weaknesses.”</a:t>
            </a:r>
          </a:p>
          <a:p>
            <a:r>
              <a:t>unconscious bias (noun phrase) 无意识偏见 — “Training reduces unconscious bias.”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Deciding and justifying ★ 决策与说明理由</a:t>
            </a:r>
          </a:p>
          <a:p>
            <a:r>
              <a:t>领读 → 学员跟读 → 请学员用表达造一个和自己工作相关的句子。</a:t>
            </a:r>
          </a:p>
          <a:p>
            <a:r>
              <a:t>★ stand out (phrasal verb) 脱颖而出 — “One candidate really stood out.”</a:t>
            </a:r>
          </a:p>
          <a:p>
            <a:r>
              <a:t>★ on balance (adverbial phrase) 总的来说 — “On balance, I prefer Ms Lin.”</a:t>
            </a:r>
          </a:p>
          <a:p>
            <a:r>
              <a:t>★ the deciding factor (noun phrase) 决定性因素 — “The deciding factor was her leadership.”</a:t>
            </a:r>
          </a:p>
          <a:p>
            <a:r>
              <a:t>★ weigh up (phrasal verb) 权衡 — “We need to weigh up the pros and cons.”</a:t>
            </a:r>
          </a:p>
          <a:p>
            <a:r>
              <a:t>★ a safe pair of hands (idiom) 稳妥可靠的人 — “She’s a safe pair of hands.”</a:t>
            </a:r>
          </a:p>
          <a:p>
            <a:r>
              <a:t>★ turn down (phrasal verb) 拒绝 — “We turned down the offer.”</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criteria / track record / cultural fit / unconscious bias / stood out / weigh up</a:t>
            </a:r>
          </a:p>
          <a:p>
            <a:r>
              <a:t>1. We need clear selection _______ before we start. → criteria</a:t>
            </a:r>
          </a:p>
          <a:p>
            <a:r>
              <a:t>2. He has a strong _______ in managing large projects. → track record</a:t>
            </a:r>
          </a:p>
          <a:p>
            <a:r>
              <a:t>3. A good _______ is important in a small team. → cultural fit</a:t>
            </a:r>
          </a:p>
          <a:p>
            <a:r>
              <a:t>4. Training can help reduce _______. → unconscious bias</a:t>
            </a:r>
          </a:p>
          <a:p>
            <a:r>
              <a:t>5. One applicant really _______ in the second interview. → stood out</a:t>
            </a:r>
          </a:p>
          <a:p>
            <a:r>
              <a:t>6. We should _______ the pros and cons carefully. → weigh up</a:t>
            </a:r>
          </a:p>
          <a:p>
            <a:r>
              <a:t>Mistake Watch (拼写与搭配): criteria (plural; singular criterion), qualification (not “qualfication”), candidate. Criteria are, a criterion is. Qualify for a job; be qualified for. Choose between two options, among three or more.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Choosing between two final candidates 在两位终选者中做选择</a:t>
            </a:r>
          </a:p>
          <a:p>
            <a:r>
              <a:t>情景：Two managers meet to decide between two final candidates for a project manager role.</a:t>
            </a:r>
          </a:p>
          <a:p>
            <a:r>
              <a:t>Role A: Olivia Grant, hiring manager (you) Role B: Peter Zhao, senior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(Olivia): Peter, shall we start with Candidate A, Diana? What did you make of her?</a:t>
            </a:r>
          </a:p>
          <a:p>
            <a:r>
              <a:t>B (Peter): Very impressive on paper. Ten years in the sector and a strong track record.</a:t>
            </a:r>
          </a:p>
          <a:p>
            <a:r>
              <a:t>A: Agreed. But I felt she was a bit rigid when I asked about changing priorities.</a:t>
            </a:r>
          </a:p>
          <a:p>
            <a:r>
              <a:t>B: Hmm. And Candidate B, Marcus?</a:t>
            </a:r>
          </a:p>
          <a:p>
            <a:r>
              <a:t>A: Less experience, but he stood out on communication. His examples were practical and honest.</a:t>
            </a:r>
          </a:p>
          <a:p>
            <a:r>
              <a:t>B: True, though I’m not sure he’s ready to lead a team of eight.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That’s a fair concern. He’d need support in the first six months.</a:t>
            </a:r>
          </a:p>
          <a:p>
            <a:r>
              <a:t>B: So what’s your overall view?</a:t>
            </a:r>
          </a:p>
          <a:p>
            <a:r>
              <a:t>A: On balance, I’d go for Diana, but only if she can show flexibility in a second conversation.</a:t>
            </a:r>
          </a:p>
          <a:p>
            <a:r>
              <a:t>B: Reasonable. What would be the deciding factor?</a:t>
            </a:r>
          </a:p>
          <a:p>
            <a:r>
              <a:t>A: Whether she adapts well to a changing brief. We can test that with a short case study.</a:t>
            </a:r>
          </a:p>
          <a:p>
            <a:r>
              <a:t>B: Good. Let’s arrange it, and keep Marcus as a strong second choice.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39 | </a:t>
            </a:r>
          </a:p>
          <a:p>
            <a:r>
              <a:t>Situation | You decide between two candidates.</a:t>
            </a:r>
          </a:p>
          <a:p>
            <a:r>
              <a:t>Your role (A) | Hiring manager. Candidate A: ______________ Candidate B: ______________</a:t>
            </a:r>
          </a:p>
          <a:p>
            <a:r>
              <a:t>Partner’s role (B) | Colleague. Challenge one point.</a:t>
            </a:r>
          </a:p>
          <a:p>
            <a:r>
              <a:t>Must use (4 or more) | criteria · track record · on balance · deciding factor · weigh up · stand out</a:t>
            </a:r>
          </a:p>
          <a:p>
            <a:r>
              <a:t>Goal | Compare strengths and weaknesses and agree a decision.</a:t>
            </a:r>
          </a:p>
          <a:p>
            <a:r>
              <a:t>My notes | ____________________________________________</a:t>
            </a:r>
          </a:p>
          <a:p>
            <a:r>
              <a:t>Peter prefers Marcus. Persuade him politely or change your mind with a reason.</a:t>
            </a:r>
          </a:p>
          <a:p>
            <a:r>
              <a:t>Write two sentences of feedback for the unsuccessful candidate.</a:t>
            </a:r>
          </a:p>
          <a:p>
            <a:r>
              <a:t>Explain how you would reduce bias in the process.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Which is more important in hiring: skills or attitude? | “Skills can be taught, but… / Attitude matters because…”</a:t>
            </a:r>
          </a:p>
          <a:p>
            <a:r>
              <a:t>2. How can bias be reduced? | “By using structured interviews… / Panels help because…”</a:t>
            </a:r>
          </a:p>
          <a:p>
            <a:r>
              <a:t>3. Should candidates be tested? | “Tests give evidence, but… / They may disadvantage…”</a:t>
            </a:r>
          </a:p>
          <a:p>
            <a:r>
              <a:t>4. Should a company hire a less qualified person who fits the culture? | “It depends on… / Only if they can…”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“Both matter, but if I had to choose, I’d say attitude comes first. Skills can usually be taught, but it’s much harder to change someone’s motivation or the way they treat colleagues. That said, some roles, such as a surgeon or a pilot, require specific qualifications from day one. So I’d say it depends on how quickly someone can learn what the job requires.”</a:t>
            </a:r>
          </a:p>
          <a:p>
            <a:r>
              <a:t>if I had to choose = 如果非要选。that said = 话虽如此。”from day one” = 从第一天起。”comes first” = 最重要。</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She is good. | She has a strong track record in this field. | 具体</a:t>
            </a:r>
          </a:p>
          <a:p>
            <a:r>
              <a:t>He is not good. | He doesn’t quite meet the criteria for this role. | 委婉</a:t>
            </a:r>
          </a:p>
          <a:p>
            <a:r>
              <a:t>I like her more. | I’m leaning towards her. | 倾向</a:t>
            </a:r>
          </a:p>
          <a:p>
            <a:r>
              <a:t>We choose him. | We’ve decided to offer him the position. | 正式</a:t>
            </a:r>
          </a:p>
          <a:p>
            <a:r>
              <a:t>You are not selected. | We’ve decided to go with another candidate. | 委婉</a:t>
            </a:r>
          </a:p>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Comparatives: more experienced than, less qualified than, as good as, not as strong as.</a:t>
            </a:r>
          </a:p>
          <a:p>
            <a:r>
              <a:t>Concession: Although/Though/While + clause, … “Though he has less experience, he learns fast.”</a:t>
            </a:r>
          </a:p>
          <a:p>
            <a:r>
              <a:t>Hedging a judgement: seems to be, appears, I got the impression that…</a:t>
            </a:r>
          </a:p>
          <a:p>
            <a:r>
              <a:t>Rejection tone: Unfortunately… / We were impressed, but… — thank them and be brief.</a:t>
            </a:r>
          </a:p>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She is more better than him.  →  ✓ She is better than him.  (better 已是比较级)</a:t>
            </a:r>
          </a:p>
          <a:p>
            <a:r>
              <a:t>✗ I think she’s suit for the job.  →  ✓ I think she’s suited to the job. / She suits the job.  (suited to)</a:t>
            </a:r>
          </a:p>
          <a:p>
            <a:r>
              <a:t>✗ The criteria is clear.  →  ✓ The criteria are clear.  (criteria 复数)</a:t>
            </a:r>
          </a:p>
          <a:p>
            <a:r>
              <a:t>Mistake Watch: Check criteria (plural), better than (no “more”), and between / among.</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He is enough qualified.  →  ✓ He is sufficiently qualified.  (enough 位置)</a:t>
            </a:r>
          </a:p>
          <a:p>
            <a:r>
              <a:t>✗ She has experience of 10 years.  →  ✓ She has ten years’ experience.  (习惯表达)</a:t>
            </a:r>
          </a:p>
          <a:p>
            <a:r>
              <a:t>✗ The best candidate between these three is Ana.  →  ✓ The best candidate among these three is Ana.  (among 用于三者及以上)</a:t>
            </a:r>
          </a:p>
          <a:p>
            <a:r>
              <a:t>Mistake Watch: Check criteria (plural), better than (no “more”), and between / among.</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Fairness: In the UK/US, hiring must be based on job-relevant criteria; discrimination on age, gender, race or disability is illegal.</a:t>
            </a:r>
          </a:p>
          <a:p>
            <a:r>
              <a:t>CVs and photos: Many countries do not put photos or age on CVs. Check local custom.</a:t>
            </a:r>
          </a:p>
          <a:p>
            <a:r>
              <a:t>Feedback: Unsuccessful candidates often appreciate a brief, kind reply. Silence can damage the employer’s reputation.</a:t>
            </a:r>
          </a:p>
          <a:p>
            <a:r>
              <a:t>criteria 是复数(单数 criterion)。better 已经是比较级,不能说 more better。between 用于两者,among 用于三者及以上。</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compare two candidates and justify a choice.</a:t>
            </a:r>
          </a:p>
          <a:p>
            <a:r>
              <a:t>I can talk about criteria and bias in selection.</a:t>
            </a:r>
          </a:p>
          <a:p>
            <a:r>
              <a:t>I can use comparatives and concession clauses correctly.</a:t>
            </a:r>
          </a:p>
          <a:p>
            <a:r>
              <a:t>I can use criteria, between / among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plural criteria, comparatives, and between / among.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40 · Evaluating Staff 评估员工</a:t>
            </a:r>
          </a:p>
          <a:p>
            <a:r>
              <a:t>Goal: talk about evaluating employee performance: criteria, KPIs, fair assessment, and giving balanced evaluations.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KPI = Key Performance Indicator 关键绩效指标。evaluate = assess = 评估。peer = 同事(同级)。</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Give a balanced evaluation of a team member.</a:t>
            </a:r>
          </a:p>
          <a:p>
            <a:r>
              <a:t>Say: strengths → area for development → evidence → next step</a:t>
            </a:r>
          </a:p>
          <a:p>
            <a:r>
              <a:t>Useful starters: “Overall, she has performed well in…” / “One area for improvement is…” / “For example, last quarter…”</a:t>
            </a:r>
          </a:p>
          <a:p>
            <a:r>
              <a:t>平衡评价:先优点,再改进点,并用具体事例。for example 说明依据。</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Evaluating staff is not just about numbers. Targets such as sales figures or response times are useful because they are clear and comparable, but they rarely tell the whole story. An employee may have missed a target because of changes outside their control, or may have contributed in ways that are hard to count, such as mentoring a new colleague. Good evaluations combine hard data with observation and feedback from several people. They compare performance with agreed goals, not with other individuals, and they are based on evidence rather than impressions. Managers should keep notes during the year so that recent events do not dominate their memory. Above all, an evaluation should lead to a conversation, not a verdict, ending with clear goals and the support needed to reach them.</a:t>
            </a:r>
          </a:p>
          <a:p>
            <a:r>
              <a:t>verdict = 裁决。comparable = 可比较的。”the whole story” = 全貌。”outside their control” = 不可控。</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are numerical targets useful but limited?</a:t>
            </a:r>
          </a:p>
          <a:p>
            <a:r>
              <a:t>A: They are clear and comparable, but they do not tell the whole story.</a:t>
            </a:r>
          </a:p>
          <a:p>
            <a:r>
              <a:t>Q2. What should good evaluations combine?</a:t>
            </a:r>
          </a:p>
          <a:p>
            <a:r>
              <a:t>A: Hard data, observation and feedback from several people.</a:t>
            </a:r>
          </a:p>
          <a:p>
            <a:r>
              <a:t>Q3. Why should managers keep notes during the year?</a:t>
            </a:r>
          </a:p>
          <a:p>
            <a:r>
              <a:t>A: So that recent events do not dominate their memory.</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Performance measurement 绩效衡量</a:t>
            </a:r>
          </a:p>
          <a:p>
            <a:r>
              <a:t>领读 → 学员跟读 → 请学员用表达造一个和自己工作相关的句子。</a:t>
            </a:r>
          </a:p>
          <a:p>
            <a:r>
              <a:t>KPI (key performance indicator) (noun) 关键绩效指标 — “Our KPIs include customer satisfaction.”</a:t>
            </a:r>
          </a:p>
          <a:p>
            <a:r>
              <a:t>target (noun) 目标 — “She met all her targets.”</a:t>
            </a:r>
          </a:p>
          <a:p>
            <a:r>
              <a:t>performance review (noun) 绩效评估 — “The annual performance review is in May.”</a:t>
            </a:r>
          </a:p>
          <a:p>
            <a:r>
              <a:t>strengths (noun) 优势 — “Her main strength is communication.”</a:t>
            </a:r>
          </a:p>
          <a:p>
            <a:r>
              <a:t>weakness / area for improvement (noun) 弱点 / 待改进之处 — “Time management is an area for improvement.”</a:t>
            </a:r>
          </a:p>
          <a:p>
            <a:r>
              <a:t>peer feedback (noun phrase) 同事反馈 — “We use peer feedback as part of the process.”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Fair assessment ★ 公平评估</a:t>
            </a:r>
          </a:p>
          <a:p>
            <a:r>
              <a:t>领读 → 学员跟读 → 请学员用表达造一个和自己工作相关的句子。</a:t>
            </a:r>
          </a:p>
          <a:p>
            <a:r>
              <a:t>★ meet / exceed expectations (collocation) 达到 / 超出预期 — “He exceeded expectations this year.”</a:t>
            </a:r>
          </a:p>
          <a:p>
            <a:r>
              <a:t>★ fall short of (collocation) 未达到 — “Sales fell short of the target.”</a:t>
            </a:r>
          </a:p>
          <a:p>
            <a:r>
              <a:t>★ objective (adjective) 客观的 — “Try to be objective.”</a:t>
            </a:r>
          </a:p>
          <a:p>
            <a:r>
              <a:t>★ recency bias (noun phrase) 近因效应 — “Notes help prevent recency bias.”</a:t>
            </a:r>
          </a:p>
          <a:p>
            <a:r>
              <a:t>★ move the goalposts (idiom) 中途更改标准 — “Don’t move the goalposts after the year starts.”</a:t>
            </a:r>
          </a:p>
          <a:p>
            <a:r>
              <a:t>★ go the extra mile (idiom) 额外付出 — “She always goes the extra mile.”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KPIs / target / strengths / exceeded / fall short / goalposts</a:t>
            </a:r>
          </a:p>
          <a:p>
            <a:r>
              <a:t>1. Our _______ include customer satisfaction and delivery time. → KPIs</a:t>
            </a:r>
          </a:p>
          <a:p>
            <a:r>
              <a:t>2. She met every _______ for the quarter. → target</a:t>
            </a:r>
          </a:p>
          <a:p>
            <a:r>
              <a:t>3. Her main _______ are communication and organisation. → strengths</a:t>
            </a:r>
          </a:p>
          <a:p>
            <a:r>
              <a:t>4. He _______ expectations in his first year. → exceeded</a:t>
            </a:r>
          </a:p>
          <a:p>
            <a:r>
              <a:t>5. Sales may _______ of the target this month. → fall short</a:t>
            </a:r>
          </a:p>
          <a:p>
            <a:r>
              <a:t>6. It’s unfair to move the _______ in the middle of the year. → goalposts</a:t>
            </a:r>
          </a:p>
          <a:p>
            <a:r>
              <a:t>Mistake Watch (拼写与搭配): performance (not “performence”), appraisal (double p, single r), assess/assessment (double s). Meet a target, achieve a goal, hit a target (informal). Give feedback (uncountable), carry out an evaluation.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Giving a balanced evaluation 给出平衡的评估</a:t>
            </a:r>
          </a:p>
          <a:p>
            <a:r>
              <a:t>情景：You are a manager giving a six-month evaluation to a team member, Priya.</a:t>
            </a:r>
          </a:p>
          <a:p>
            <a:r>
              <a:t>Role A: Helen Wu, manager (you) Role B: Priya Nair, team member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(Helen): Thanks for coming in, Priya. Let’s go through your six-month review. How do you feel it’s gone?</a:t>
            </a:r>
          </a:p>
          <a:p>
            <a:r>
              <a:t>B (Priya): Generally good, I think. I’ve met most of my targets.</a:t>
            </a:r>
          </a:p>
          <a:p>
            <a:r>
              <a:t>A: Yes. Overall, you’ve performed well, especially on customer service. You exceeded your satisfaction target.</a:t>
            </a:r>
          </a:p>
          <a:p>
            <a:r>
              <a:t>B: Thank you. I’ve worked hard on that.</a:t>
            </a:r>
          </a:p>
          <a:p>
            <a:r>
              <a:t>A: You have. One area for improvement is your reports. For example, last month’s summary was late and missed a few details.</a:t>
            </a:r>
          </a:p>
          <a:p>
            <a:r>
              <a:t>B: That’s true. I was juggling two projects at the time.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understand. Let’s agree some priorities so you’re not overstretched.</a:t>
            </a:r>
          </a:p>
          <a:p>
            <a:r>
              <a:t>B: That would help. Could I also have some training on data analysis?</a:t>
            </a:r>
          </a:p>
          <a:p>
            <a:r>
              <a:t>A: Good idea. I’ll look at courses this week.</a:t>
            </a:r>
          </a:p>
          <a:p>
            <a:r>
              <a:t>B: Thank you. Is there anything else I should work on?</a:t>
            </a:r>
          </a:p>
          <a:p>
            <a:r>
              <a:t>A: Perhaps speaking up more in team meetings. Your ideas are good.</a:t>
            </a:r>
          </a:p>
          <a:p>
            <a:r>
              <a:t>B: Okay, I’ll try. Thanks for being honest.</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40 | </a:t>
            </a:r>
          </a:p>
          <a:p>
            <a:r>
              <a:t>Situation | You give a six-month evaluation.</a:t>
            </a:r>
          </a:p>
          <a:p>
            <a:r>
              <a:t>Your role (A) | Manager. Strength: ______________ Area to improve: ______________</a:t>
            </a:r>
          </a:p>
          <a:p>
            <a:r>
              <a:t>Partner’s role (B) | Employee. Positive, asks for support.</a:t>
            </a:r>
          </a:p>
          <a:p>
            <a:r>
              <a:t>Must use (4 or more) | overall · exceeded expectations · area for improvement · for example · priorities · support</a:t>
            </a:r>
          </a:p>
          <a:p>
            <a:r>
              <a:t>Goal | Give two strengths, one improvement point and agree next steps.</a:t>
            </a:r>
          </a:p>
          <a:p>
            <a:r>
              <a:t>My notes | ____________________________________________</a:t>
            </a:r>
          </a:p>
          <a:p>
            <a:r>
              <a:t>Priya disagrees: “I don’t think that’s fair.” Respond calmly.</a:t>
            </a:r>
          </a:p>
          <a:p>
            <a:r>
              <a:t>Write an evaluation of yourself in three sentences.</a:t>
            </a:r>
          </a:p>
          <a:p>
            <a:r>
              <a:t>Explain why you gave a “meets expectations” rating.</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should employee performance be measured? | “I think it should be measured by… / A mix of…”</a:t>
            </a:r>
          </a:p>
          <a:p>
            <a:r>
              <a:t>2. Are annual reviews effective? | “They can be, but they’re often… / More frequent check-ins…”</a:t>
            </a:r>
          </a:p>
          <a:p>
            <a:r>
              <a:t>3. Should employees evaluate their managers? | “That could be useful because… / The risk is…”</a:t>
            </a:r>
          </a:p>
          <a:p>
            <a:r>
              <a:t>4. What makes an evaluation fair? | “It should be based on… / Both sides should…”</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 fair evaluation is based on clear, agreed criteria and on evidence, not on personal impressions. The manager should give specific examples, listen to the employee’s side and consider factors beyond their control. It should also be balanced: mentioning achievements as well as weaknesses. Finally, it should lead to a plan, with goals and support, so that the employee can improve.”</a:t>
            </a:r>
          </a:p>
          <a:p>
            <a:r>
              <a:t>beyond their control = 超出其控制范围。”mentioning… as well as…” 兼顾。lead to = 导致。evidence = 证据。</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Your work is bad. | Your work doesn’t yet meet the required standard in some areas. | 委婉</a:t>
            </a:r>
          </a:p>
          <a:p>
            <a:r>
              <a:t>You’re lazy. | I haven’t seen enough initiative on this task. | 针对行为</a:t>
            </a:r>
          </a:p>
          <a:p>
            <a:r>
              <a:t>Good job. | You exceeded expectations on the Chen project. | 具体</a:t>
            </a:r>
          </a:p>
          <a:p>
            <a:r>
              <a:t>You must improve. | One area for development is… | 积极措辞</a:t>
            </a:r>
          </a:p>
          <a:p>
            <a:r>
              <a:t>Do better next time. | Let’s agree some goals for the next quarter. | 面向未来</a:t>
            </a:r>
          </a:p>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Present perfect for review: “You’ve met most of your targets.” / “She’s improved a lot since March.”</a:t>
            </a:r>
          </a:p>
          <a:p>
            <a:r>
              <a:t>Balanced feedback: Positive + but + development area + support.</a:t>
            </a:r>
          </a:p>
          <a:p>
            <a:r>
              <a:t>Euphemisms: development area, room for improvement instead of weakness.</a:t>
            </a:r>
          </a:p>
          <a:p>
            <a:r>
              <a:t>Adverbs of degree: fairly, quite, particularly, especially — “You’ve performed particularly well in…”</a:t>
            </a:r>
          </a:p>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got a high evaluation from my manager.  →  ✓ I got a good rating from my manager.  (rating 搭配)</a:t>
            </a:r>
          </a:p>
          <a:p>
            <a:r>
              <a:t>✗ I evaluate you high.  →  ✓ I rate your performance highly.  (rate highly)</a:t>
            </a:r>
          </a:p>
          <a:p>
            <a:r>
              <a:t>✗ You did a good work.  →  ✓ You did good work. / You did a good job.  (work 不可数)</a:t>
            </a:r>
          </a:p>
          <a:p>
            <a:r>
              <a:t>Mistake Watch: Check meet a target, uncountable work, and depend on.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She has done the target.  →  ✓ She has met the target.  (meet a target)</a:t>
            </a:r>
          </a:p>
          <a:p>
            <a:r>
              <a:t>✗ The evaluation is depend on data.  →  ✓ The evaluation depends on data.  (动词形式)</a:t>
            </a:r>
          </a:p>
          <a:p>
            <a:r>
              <a:t>✗ Your weakness is serious.  →  ✓ There are some serious gaps in this area.  (委婉)</a:t>
            </a:r>
          </a:p>
          <a:p>
            <a:r>
              <a:t>Mistake Watch: Check meet a target, uncountable work, and depend on.</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Ratings: “Meets expectations” is a normal, positive rating in many companies; not “average”.</a:t>
            </a:r>
          </a:p>
          <a:p>
            <a:r>
              <a:t>360-degree feedback: Input from peers, managers and reports is common in Western companies.</a:t>
            </a:r>
          </a:p>
          <a:p>
            <a:r>
              <a:t>Self-evaluation: You are often asked to write about your own performance. Be factual and specific, not boastful.</a:t>
            </a:r>
          </a:p>
          <a:p>
            <a:r>
              <a:t>work 不可数:good work / a good job。meet a target 而不是 do a target。评估应该针对行为和结果,不针对人。</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give a balanced, evidence-based evaluation.</a:t>
            </a:r>
          </a:p>
          <a:p>
            <a:r>
              <a:t>I can use KPIs and performance vocabulary.</a:t>
            </a:r>
          </a:p>
          <a:p>
            <a:r>
              <a:t>I can respond to a disagreement calmly.</a:t>
            </a:r>
          </a:p>
          <a:p>
            <a:r>
              <a:t>I can use meet a target and uncountable work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meet a target, uncountable work, and softened critical language.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41 · Going Through the Appraisal Process 经历评估过程</a:t>
            </a:r>
          </a:p>
          <a:p>
            <a:r>
              <a:t>Goal: talk about the appraisal process from the employee’s side: preparing, responding to feedback, setting goals and asking for a raise or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appraisal = 评估(英)。employee 角度:prepare evidence of achievements,收集成果证据。</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Respond to criticism in an appraisal and ask for development support.</a:t>
            </a:r>
          </a:p>
          <a:p>
            <a:r>
              <a:t>Say: listen → acknowledge → explain briefly → propose action → ask for support</a:t>
            </a:r>
          </a:p>
          <a:p>
            <a:r>
              <a:t>Useful starters: “Thanks for the feedback.” / “I take your point.” / “What I’d like to do is…”</a:t>
            </a:r>
          </a:p>
          <a:p>
            <a:r>
              <a:t>I take your point = 我接受你的意见。回应批评:不要争辩,先承认,再提出行动。</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Many employees treat their appraisal as something that happens to them. A smarter approach is to treat it as a joint conversation that you help to shape. Preparation matters. Before the meeting, list your main achievements with figures where possible, note problems you faced and think about what you want next, whether that is training, a new project or a promotion. When feedback is critical, resist the urge to defend yourself immediately. Listen, ask for examples and say what you will do differently. If something seems unfair, calmly offer your view, supported by facts. Close the meeting by agreeing clear goals and a date for a follow-up. A short email afterwards, summarising what was agreed, helps both sides remember and shows that you take your development seriously.</a:t>
            </a:r>
          </a:p>
          <a:p>
            <a:r>
              <a:t>“shape” = 塑造。resist the urge = 克制冲动。summarise = 总结。follow-up = 后续跟进。</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How should an employee see the appraisal?</a:t>
            </a:r>
          </a:p>
          <a:p>
            <a:r>
              <a:t>A: As a joint conversation that they help to shape.</a:t>
            </a:r>
          </a:p>
          <a:p>
            <a:r>
              <a:t>Q2. How should you prepare?</a:t>
            </a:r>
          </a:p>
          <a:p>
            <a:r>
              <a:t>A: List achievements with figures, note problems and think about what you want next.</a:t>
            </a:r>
          </a:p>
          <a:p>
            <a:r>
              <a:t>Q3. What should you do when feedback is critical?</a:t>
            </a:r>
          </a:p>
          <a:p>
            <a:r>
              <a:t>A: Listen, ask for examples, say what you’ll do differently and offer facts if it seems unfair.</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The appraisal process 评估流程</a:t>
            </a:r>
          </a:p>
          <a:p>
            <a:r>
              <a:t>领读 → 学员跟读 → 请学员用表达造一个和自己工作相关的句子。</a:t>
            </a:r>
          </a:p>
          <a:p>
            <a:r>
              <a:t>appraisal (noun) 评估 — “My appraisal is next week.”</a:t>
            </a:r>
          </a:p>
          <a:p>
            <a:r>
              <a:t>self-assessment (noun) 自我评估 — “Fill in the self-assessment form.”</a:t>
            </a:r>
          </a:p>
          <a:p>
            <a:r>
              <a:t>set goals / objectives (verb phrase) 设定目标 — “We set objectives together.”</a:t>
            </a:r>
          </a:p>
          <a:p>
            <a:r>
              <a:t>development plan (noun phrase) 发展计划 — “Let’s draft a development plan.”</a:t>
            </a:r>
          </a:p>
          <a:p>
            <a:r>
              <a:t>promotion (noun) 晋升 — “She was up for promotion.”</a:t>
            </a:r>
          </a:p>
          <a:p>
            <a:r>
              <a:t>pay rise (UK) / raise (US) (noun) 加薪 — “I asked for a pay rise.”</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Responding to feedback ★ 回应反馈</a:t>
            </a:r>
          </a:p>
          <a:p>
            <a:r>
              <a:t>领读 → 学员跟读 → 请学员用表达造一个和自己工作相关的句子。</a:t>
            </a:r>
          </a:p>
          <a:p>
            <a:r>
              <a:t>★ take on board (phrasal verb) 采纳 — “I’ll take your comments on board.”</a:t>
            </a:r>
          </a:p>
          <a:p>
            <a:r>
              <a:t>★ take your point (phrase) 接受你的意见 — “I take your point about deadlines.”</a:t>
            </a:r>
          </a:p>
          <a:p>
            <a:r>
              <a:t>★ constructive criticism (noun phrase) 建设性批评 — “I welcome constructive criticism.”</a:t>
            </a:r>
          </a:p>
          <a:p>
            <a:r>
              <a:t>★ make a case for (collocation) 争取/陈述理由 — “I’d like to make a case for a promotion.”</a:t>
            </a:r>
          </a:p>
          <a:p>
            <a:r>
              <a:t>★ get the ball rolling (idiom) 开始行动 — “Let’s get the ball rolling with training.”</a:t>
            </a:r>
          </a:p>
          <a:p>
            <a:r>
              <a:t>★ blow your own trumpet (idiom) 自吹自擂 — “I don’t like to blow my own trumpet, but…”</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appraisal / self-assessment / development plan / pay rise / take on board / make a case</a:t>
            </a:r>
          </a:p>
          <a:p>
            <a:r>
              <a:t>1. My _______ is scheduled for next Monday. → appraisal</a:t>
            </a:r>
          </a:p>
          <a:p>
            <a:r>
              <a:t>2. Please complete the _______ before the meeting. → self-assessment</a:t>
            </a:r>
          </a:p>
          <a:p>
            <a:r>
              <a:t>3. We agreed a _______ with some training courses. → development plan</a:t>
            </a:r>
          </a:p>
          <a:p>
            <a:r>
              <a:t>4. I’d like to ask for a _______ after this year’s results. → pay rise</a:t>
            </a:r>
          </a:p>
          <a:p>
            <a:r>
              <a:t>5. Thanks, I’ll _______ all your comments. → take on board</a:t>
            </a:r>
          </a:p>
          <a:p>
            <a:r>
              <a:t>6. I’d like to _______ for a promotion, based on my results. → make a case</a:t>
            </a:r>
          </a:p>
          <a:p>
            <a:r>
              <a:t>Mistake Watch (拼写与搭配): appraisal (British), review (both), promotion. Ask for a raise, get a promotion, be promoted to a role. Take on board (not “take in board”). Give / receive feedback (uncountable).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Responding to criticism and asking for development 回应批评并争取发展机会</a:t>
            </a:r>
          </a:p>
          <a:p>
            <a:r>
              <a:t>情景：In your annual appraisal your manager says you should delegate more. You respond.</a:t>
            </a:r>
          </a:p>
          <a:p>
            <a:r>
              <a:t>Role A: Wei Chen, employee (you) Role B: Mr Adams,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(Wei): Thanks for the feedback, Mr Adams. I’d like to make sure I understand. You feel I should delegate more?</a:t>
            </a:r>
          </a:p>
          <a:p>
            <a:r>
              <a:t>B (Mr Adams): Yes. You often take on too much yourself, and it can slow the team down.</a:t>
            </a:r>
          </a:p>
          <a:p>
            <a:r>
              <a:t>A: I take your point. Could you give me an example?</a:t>
            </a:r>
          </a:p>
          <a:p>
            <a:r>
              <a:t>B: Last month you reworked the whole presentation instead of asking Lisa to help.</a:t>
            </a:r>
          </a:p>
          <a:p>
            <a:r>
              <a:t>A: That’s true. I was worried about the deadline. I’ll take it on board and start sharing tasks earlier.</a:t>
            </a:r>
          </a:p>
          <a:p>
            <a:r>
              <a:t>B: Good. Is there anything that would help you?</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 short course on delegation would be useful. I’d also like to lead a project next year.</a:t>
            </a:r>
          </a:p>
          <a:p>
            <a:r>
              <a:t>B: That’s reasonable. Let’s get the ball rolling with the course, and we can review the project in six months.</a:t>
            </a:r>
          </a:p>
          <a:p>
            <a:r>
              <a:t>A: Thank you. Shall I send you a summary of what we agreed?</a:t>
            </a:r>
          </a:p>
          <a:p>
            <a:r>
              <a:t>B: Yes, please. It helps to have it in writing.</a:t>
            </a:r>
          </a:p>
          <a:p>
            <a:r>
              <a:t>A: I’ll do it today. Thanks again for being open with me.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41 | </a:t>
            </a:r>
          </a:p>
          <a:p>
            <a:r>
              <a:t>Situation | You respond to criticism in an appraisal.</a:t>
            </a:r>
          </a:p>
          <a:p>
            <a:r>
              <a:t>Your role (A) | Employee. Feedback you receive: ______________</a:t>
            </a:r>
          </a:p>
          <a:p>
            <a:r>
              <a:t>Partner’s role (B) | Manager. Fair but firm.</a:t>
            </a:r>
          </a:p>
          <a:p>
            <a:r>
              <a:t>Must use (4 or more) | take your point · take on board · give me an example · development plan · make a case · follow up</a:t>
            </a:r>
          </a:p>
          <a:p>
            <a:r>
              <a:t>Goal | Acknowledge, ask for an example, propose action and ask for support.</a:t>
            </a:r>
          </a:p>
          <a:p>
            <a:r>
              <a:t>My notes | ____________________________________________</a:t>
            </a:r>
          </a:p>
          <a:p>
            <a:r>
              <a:t>The feedback seems unfair. Say so politely, with a fact.</a:t>
            </a:r>
          </a:p>
          <a:p>
            <a:r>
              <a:t>Ask for a pay rise, using your achievements.</a:t>
            </a:r>
          </a:p>
          <a:p>
            <a:r>
              <a:t>Write a short email summarising what was agreed.</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do you feel about receiving criticism? | “At first I feel… but I try to… / It helps me to…”</a:t>
            </a:r>
          </a:p>
          <a:p>
            <a:r>
              <a:t>2. What should you include when you ask for a pay rise? | “I’d begin with… / I’d show…”</a:t>
            </a:r>
          </a:p>
          <a:p>
            <a:r>
              <a:t>3. Do you set goals each year? What kinds? | “This year I’d like to… because…”</a:t>
            </a:r>
          </a:p>
          <a:p>
            <a:r>
              <a:t>4. Are appraisals more helpful for managers or employees? | “They help both, but… / For employees, they…”</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“When I ask for a pay rise, I’d start by listing my achievements with figures: for example, projects completed on time or money saved. Then I’d explain how my role has grown, and I’d mention what similar jobs pay in the market. I’d keep the tone calm and constructive, not demanding. Finally, I’d ask what would be needed to reach the next level if the answer was not now.”</a:t>
            </a:r>
          </a:p>
          <a:p>
            <a:r>
              <a:t>the next level = 下一个级别。”not now” = 目前不行。 demanding = 强硬的。 “pay in the market” 市场薪资水平。</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 want more money. | I’d like to discuss my salary in light of my results. | 礼貌</a:t>
            </a:r>
          </a:p>
          <a:p>
            <a:r>
              <a:t>You are wrong. | I see it differently. Could we look at the figures? | 委婉</a:t>
            </a:r>
          </a:p>
          <a:p>
            <a:r>
              <a:t>I will do. | I’ll take that on board. | 接受意见</a:t>
            </a:r>
          </a:p>
          <a:p>
            <a:r>
              <a:t>I don’t agree with your opinion. | I’m not sure that’s the full picture. | 委婉</a:t>
            </a:r>
          </a:p>
          <a:p>
            <a:r>
              <a:t>Please give me promotion. | I’d like to be considered for the senior role. | 礼貌</a:t>
            </a:r>
          </a:p>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Future with going to / will: “I’m going to focus on…” (plan) vs “I’ll start next week.” (decision/promise)</a:t>
            </a:r>
          </a:p>
          <a:p>
            <a:r>
              <a:t>Acknowledging criticism: Fair point. / I see what you mean. / That’s useful to know.</a:t>
            </a:r>
          </a:p>
          <a:p>
            <a:r>
              <a:t>Request with would like: I’d like to… / I’d appreciate… / It would be helpful if…</a:t>
            </a:r>
          </a:p>
          <a:p>
            <a:r>
              <a:t>Summarising: To sum up, / So we agreed that…</a:t>
            </a:r>
          </a:p>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ask for increase my salary.  →  ✓ I’d like to ask for a pay rise.  (ask for + 名词)</a:t>
            </a:r>
          </a:p>
          <a:p>
            <a:r>
              <a:t>✗ He got a promote.  →  ✓ He got a promotion.  (名词形式)</a:t>
            </a:r>
          </a:p>
          <a:p>
            <a:r>
              <a:t>✗ My boss gave me a lot of advices.  →  ✓ My boss gave me a lot of advice.  (advice 不可数)</a:t>
            </a:r>
          </a:p>
          <a:p>
            <a:r>
              <a:t>Mistake Watch: Check noun forms (promotion), uncountable advice and passive voice (be promoted).</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am agree to your opinion.  →  ✓ I agree with you.  (agree 动词)</a:t>
            </a:r>
          </a:p>
          <a:p>
            <a:r>
              <a:t>✗ I will promote to manager next year.  →  ✓ I’ll be promoted to manager next year.  (被动语态)</a:t>
            </a:r>
          </a:p>
          <a:p>
            <a:r>
              <a:t>✗ I don’t mind about the feedback.  →  ✓ I don’t mind the feedback.  (mind 无介词)</a:t>
            </a:r>
          </a:p>
          <a:p>
            <a:r>
              <a:t>Mistake Watch: Check noun forms (promotion), uncountable advice and passive voice (be promoted).</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Pay talk: In the UK/US, salary is a private topic. Ask for a meeting rather than raising pay casually.</a:t>
            </a:r>
          </a:p>
          <a:p>
            <a:r>
              <a:t>Evidence: Managers are more persuaded by specific results than by general statements (“I work hard”).</a:t>
            </a:r>
          </a:p>
          <a:p>
            <a:r>
              <a:t>Timing: Ask for a raise after a success or before budgets are set, not during a crisis.</a:t>
            </a:r>
          </a:p>
          <a:p>
            <a:r>
              <a:t>advice 不可数。promotion(名词)/ promote(动词),被晋升用 be promoted。ask for + 名词:ask for a pay rise。agree 是动词。</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respond to feedback constructively.</a:t>
            </a:r>
          </a:p>
          <a:p>
            <a:r>
              <a:t>I can prepare evidence of achievements.</a:t>
            </a:r>
          </a:p>
          <a:p>
            <a:r>
              <a:t>I can ask for a pay rise or development politely.</a:t>
            </a:r>
          </a:p>
          <a:p>
            <a:r>
              <a:t>I can use passive voice (be promoted) and uncountable advice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noun/verb forms (promotion / promote), passive voice, and uncountable advice.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42 · How Should Management Be Structured? 管理层应该如何构建?</a:t>
            </a:r>
          </a:p>
          <a:p>
            <a:r>
              <a:t>Goal: talk about organisational structures: hierarchical vs flat, spans of control, decision-making and reporting lines.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hierarchy = 层级;flat structure = 扁平结构;reporting line = 汇报关系。”report to” 介词 to。</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Compare a hierarchical and a flat structure.</a:t>
            </a:r>
          </a:p>
          <a:p>
            <a:r>
              <a:t>Say: describe each → pros → cons → your preference</a:t>
            </a:r>
          </a:p>
          <a:p>
            <a:r>
              <a:t>Useful starters: “In a hierarchical structure…” / “On the plus side… / On the downside…” / “I’d lean towards…”</a:t>
            </a:r>
          </a:p>
          <a:p>
            <a:r>
              <a:t>on the plus side / downside 是列优缺点的好用表达。lean towards = 倾向于。</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Every organisation has a structure, even if nobody has drawn it. In a traditional hierarchy, authority passes down through layers of managers; decisions are clear but can be slow, and information may be lost on the way. In a flat structure there are fewer layers, so employees have more freedom and faster communication, though managers may be responsible for large teams and roles can become unclear. Some firms use matrix structures, where people report to a functional boss and a project leader at the same time. This helps cooperation but can cause conflicting priorities. There is no perfect design. The best structure usually depends on the size of the company, the speed of its market and the culture it wants. What matters most is that everyone knows who decides what.</a:t>
            </a:r>
          </a:p>
          <a:p>
            <a:r>
              <a:t>authority = 权力/职权。layers = 层级。functional = 职能的。conflicting priorities = 冲突的优先事项。</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is the main weakness of a traditional hierarchy?</a:t>
            </a:r>
          </a:p>
          <a:p>
            <a:r>
              <a:t>A: Decisions can be slow and information may be lost between layers.</a:t>
            </a:r>
          </a:p>
          <a:p>
            <a:r>
              <a:t>Q2. What is a matrix structure?</a:t>
            </a:r>
          </a:p>
          <a:p>
            <a:r>
              <a:t>A: One where people report to a functional boss and a project leader at once.</a:t>
            </a:r>
          </a:p>
          <a:p>
            <a:r>
              <a:t>Q3. What matters most, according to the passage?</a:t>
            </a:r>
          </a:p>
          <a:p>
            <a:r>
              <a:t>A: That everyone knows who decides what.</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Organisational structure 组织结构</a:t>
            </a:r>
          </a:p>
          <a:p>
            <a:r>
              <a:t>领读 → 学员跟读 → 请学员用表达造一个和自己工作相关的句子。</a:t>
            </a:r>
          </a:p>
          <a:p>
            <a:r>
              <a:t>hierarchy (noun) 等级制度 — “The company has a rigid hierarchy.”</a:t>
            </a:r>
          </a:p>
          <a:p>
            <a:r>
              <a:t>flat structure (noun phrase) 扁平结构 — “We have a flat structure with few levels.”</a:t>
            </a:r>
          </a:p>
          <a:p>
            <a:r>
              <a:t>reporting line (noun phrase) 汇报关系 — “The reporting line is clear.”</a:t>
            </a:r>
          </a:p>
          <a:p>
            <a:r>
              <a:t>span of control (noun phrase) 管理幅度 — “A manager’s span of control is eight people.”</a:t>
            </a:r>
          </a:p>
          <a:p>
            <a:r>
              <a:t>department / division (noun) 部门 — “The finance division is on the fifth floor.”</a:t>
            </a:r>
          </a:p>
          <a:p>
            <a:r>
              <a:t>delegate (verb) 授权 — “You must delegate more.”</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Authority and decisions ★ 权力与决策</a:t>
            </a:r>
          </a:p>
          <a:p>
            <a:r>
              <a:t>领读 → 学员跟读 → 请学员用表达造一个和自己工作相关的句子。</a:t>
            </a:r>
          </a:p>
          <a:p>
            <a:r>
              <a:t>★ chain of command (noun phrase) 指挥链 — “Follow the chain of command.”</a:t>
            </a:r>
          </a:p>
          <a:p>
            <a:r>
              <a:t>★ decentralised (adjective) 分散的 — “We have a decentralised structure.”</a:t>
            </a:r>
          </a:p>
          <a:p>
            <a:r>
              <a:t>★ top-down / bottom-up (adjective) 自上而下 / 自下而上 — “It’s a top-down culture.”</a:t>
            </a:r>
          </a:p>
          <a:p>
            <a:r>
              <a:t>★ bottleneck (noun) 瓶颈 — “Approvals are a bottleneck.”</a:t>
            </a:r>
          </a:p>
          <a:p>
            <a:r>
              <a:t>★ red tape (idiom) 繁文缛节 — “There is too much red tape here.”</a:t>
            </a:r>
          </a:p>
          <a:p>
            <a:r>
              <a:t>★ empower (verb) 授权/赋能 — “We want to empower staff.”</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hierarchy / flat structure / reporting line / delegate / bottleneck / empower</a:t>
            </a:r>
          </a:p>
          <a:p>
            <a:r>
              <a:t>1. The company has a rigid _______ with many levels. → hierarchy</a:t>
            </a:r>
          </a:p>
          <a:p>
            <a:r>
              <a:t>2. Start-ups often have a _______ with few levels. → flat structure</a:t>
            </a:r>
          </a:p>
          <a:p>
            <a:r>
              <a:t>3. Who is your _______? It’s not clear in the chart. → reporting line</a:t>
            </a:r>
          </a:p>
          <a:p>
            <a:r>
              <a:t>4. A good manager learns to _______ tasks. → delegate</a:t>
            </a:r>
          </a:p>
          <a:p>
            <a:r>
              <a:t>5. Approval by one person has become a _______. → bottleneck</a:t>
            </a:r>
          </a:p>
          <a:p>
            <a:r>
              <a:t>6. We want to _______ our staff to make decisions. → empower</a:t>
            </a:r>
          </a:p>
          <a:p>
            <a:r>
              <a:t>Mistake Watch (拼写与搭配): hierarchy (not “heirarchy”), subordinate, department. Report to a manager (not “report for”). Make a decision (not “do”), take a decision (UK). In charge of / responsible for.</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Comparing structures with a colleague 与同事比较组织结构</a:t>
            </a:r>
          </a:p>
          <a:p>
            <a:r>
              <a:t>情景：A company is deciding whether to reorganise. You discuss the options with a colleague.</a:t>
            </a:r>
          </a:p>
          <a:p>
            <a:r>
              <a:t>Role A: Ming Yu, department head (you) Role B: Carla Ross, operations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(Ming): Carla, have you seen the proposal to reorganise into a flat structure?</a:t>
            </a:r>
          </a:p>
          <a:p>
            <a:r>
              <a:t>B (Carla): Yes, I have. What do you make of it?</a:t>
            </a:r>
          </a:p>
          <a:p>
            <a:r>
              <a:t>A: On the plus side, decisions would be faster, and staff would have more ownership.</a:t>
            </a:r>
          </a:p>
          <a:p>
            <a:r>
              <a:t>B: True. On the downside, managers would each have a larger span of control.</a:t>
            </a:r>
          </a:p>
          <a:p>
            <a:r>
              <a:t>A: Right. I’m concerned some teams might feel unsupported.</a:t>
            </a:r>
          </a:p>
          <a:p>
            <a:r>
              <a:t>B: Also, how would we handle promotions if there are fewer levels?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Good question. We might need different career paths, such as specialist tracks.</a:t>
            </a:r>
          </a:p>
          <a:p>
            <a:r>
              <a:t>B: I like that. Would the chain of command change?</a:t>
            </a:r>
          </a:p>
          <a:p>
            <a:r>
              <a:t>A: Slightly. Teams would report to a director, but decisions would be made at team level.</a:t>
            </a:r>
          </a:p>
          <a:p>
            <a:r>
              <a:t>B: So fewer approvals and less red tape.</a:t>
            </a:r>
          </a:p>
          <a:p>
            <a:r>
              <a:t>A: Exactly. I’d lean towards trying it in one department first.</a:t>
            </a:r>
          </a:p>
          <a:p>
            <a:r>
              <a:t>B: Agreed. A pilot would let us test the idea without too much risk.</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42 | </a:t>
            </a:r>
          </a:p>
          <a:p>
            <a:r>
              <a:t>Situation | You compare two structures.</a:t>
            </a:r>
          </a:p>
          <a:p>
            <a:r>
              <a:t>Your role (A) | Department head. Preference: ______________</a:t>
            </a:r>
          </a:p>
          <a:p>
            <a:r>
              <a:t>Partner’s role (B) | Colleague. Raise a concern about the preference.</a:t>
            </a:r>
          </a:p>
          <a:p>
            <a:r>
              <a:t>Must use (4 or more) | on the plus side · on the downside · span of control · chain of command · red tape · pilot</a:t>
            </a:r>
          </a:p>
          <a:p>
            <a:r>
              <a:t>Goal | Compare pros and cons and agree whether to try the idea.</a:t>
            </a:r>
          </a:p>
          <a:p>
            <a:r>
              <a:t>My notes | ____________________________________________</a:t>
            </a:r>
          </a:p>
          <a:p>
            <a:r>
              <a:t>Carla says: “Flat structures only work in small companies.” Respond.</a:t>
            </a:r>
          </a:p>
          <a:p>
            <a:r>
              <a:t>Explain your own company’s structure in 45 seconds.</a:t>
            </a:r>
          </a:p>
          <a:p>
            <a:r>
              <a:t>Suggest how to reduce red tape.</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Which structure do you prefer: hierarchical or flat? | “I’d prefer a… because… / Personally, I’d lean towards…”</a:t>
            </a:r>
          </a:p>
          <a:p>
            <a:r>
              <a:t>2. What problems can too many managers cause? | “It can slow down… / People may lose…”</a:t>
            </a:r>
          </a:p>
          <a:p>
            <a:r>
              <a:t>3. Should employees help to decide the company’s direction? | “In my view they should have a say because…”</a:t>
            </a:r>
          </a:p>
          <a:p>
            <a:r>
              <a:t>4. What makes a good organisation chart? | “It should show… / It should make clear who…”</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“I’d lean towards a flatter structure, because it speeds up communication and gives employees more responsibility. But it needs trust and clear roles, otherwise people can feel lost. A completely flat organisation may also be hard to manage as it grows. So I’d go for a few layers of management, with real authority at team level.”</a:t>
            </a:r>
          </a:p>
          <a:p>
            <a:r>
              <a:t>lean towards = 倾向。 “flatter” 比较级。”feel lost” = 感到迷茫。”at team level” = 在团队层面。</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Who is your boss? | Who do you report to? | 专业</a:t>
            </a:r>
          </a:p>
          <a:p>
            <a:r>
              <a:t>My boss decides everything. | Decisions are made at the top. | 被动</a:t>
            </a:r>
          </a:p>
          <a:p>
            <a:r>
              <a:t>Too many managers. | The company is top-heavy. | 习语</a:t>
            </a:r>
          </a:p>
          <a:p>
            <a:r>
              <a:t>The system is slow. | There’s a lot of red tape. | 习语</a:t>
            </a:r>
          </a:p>
          <a:p>
            <a:r>
              <a:t>I have power. | I have the authority to approve budgets up to £5,000. | 具体</a:t>
            </a:r>
          </a:p>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Report to / report on: “I report to the Director” (hierarchy) vs “I report on sales” (inform).</a:t>
            </a:r>
          </a:p>
          <a:p>
            <a:r>
              <a:t>Passive voice: “Decisions are made quickly in flat organisations.” (focus on action)</a:t>
            </a:r>
          </a:p>
          <a:p>
            <a:r>
              <a:t>Pros and cons phrases: on the one hand, on the other hand, on the plus side, on the downside.</a:t>
            </a:r>
          </a:p>
          <a:p>
            <a:r>
              <a:t>Comparative structures: The flatter the structure, the faster the decisions.</a:t>
            </a:r>
          </a:p>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report my manager.  →  ✓ I report to my manager.  (report to)</a:t>
            </a:r>
          </a:p>
          <a:p>
            <a:r>
              <a:t>✗ The company is consisted of five departments.  →  ✓ The company consists of five departments.  (consist of 不用被动)</a:t>
            </a:r>
          </a:p>
          <a:p>
            <a:r>
              <a:t>✗ There is five levels.  →  ✓ There are five levels.  (复数)</a:t>
            </a:r>
          </a:p>
          <a:p>
            <a:r>
              <a:t>Mistake Watch: Check report to, consist of, subject-verb agreement and gerund subjects.</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discuss about the reorganisation.  →  ✓ We are discussing the reorganisation.  (discuss 无介词)</a:t>
            </a:r>
          </a:p>
          <a:p>
            <a:r>
              <a:t>✗ He has the right of decision.  →  ✓ He has the authority to decide.  (搭配)</a:t>
            </a:r>
          </a:p>
          <a:p>
            <a:r>
              <a:t>✗ Make a decision is difficult.  →  ✓ Making a decision is difficult.  (动名词主语)</a:t>
            </a:r>
          </a:p>
          <a:p>
            <a:r>
              <a:t>Mistake Watch: Check report to, consist of, subject-verb agreement and gerund subjects.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Titles: Titles may differ: “Head of”, “Director”, “VP”. Hierarchy varies in meaning between countries.</a:t>
            </a:r>
          </a:p>
          <a:p>
            <a:r>
              <a:t>Flat doesn’t mean equal: Even in flat organisations decisions rest with specific people.</a:t>
            </a:r>
          </a:p>
          <a:p>
            <a:r>
              <a:t>Matrix confusion: Two bosses can create confusion. Clarify priorities with both.</a:t>
            </a:r>
          </a:p>
          <a:p>
            <a:r>
              <a:t>report to 表示向谁汇报。consist of 不能用被动。动名词作主语:Making a decision is difficult。There are + 复数。</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an organisation’s structure.</a:t>
            </a:r>
          </a:p>
          <a:p>
            <a:r>
              <a:t>I can compare structures using pros and cons language.</a:t>
            </a:r>
          </a:p>
          <a:p>
            <a:r>
              <a:t>I can use report to and consist of correctly.</a:t>
            </a:r>
          </a:p>
          <a:p>
            <a:r>
              <a:t>I can use the comparative the flatter… the faster….</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report to, consist of (no passive), and gerund subjects.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43 · Effective Management 有效管理</a:t>
            </a:r>
          </a:p>
          <a:p>
            <a:r>
              <a:t>Goal: talk about what effective managers do: setting direction, delegating, motivating, giving feedback and managing time and priorities.</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题注意 “worked for” 介词。micro-manage = 事无巨细地管。trust 与 control 的平衡是常见话题。</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how you would delegate a task effectively.</a:t>
            </a:r>
          </a:p>
          <a:p>
            <a:r>
              <a:t>Say: explain the task → why them → resources and deadline → check-in</a:t>
            </a:r>
          </a:p>
          <a:p>
            <a:r>
              <a:t>Useful starters: “I’d like you to take charge of…” / “The reason I’m asking you is…” / “Let’s touch base on…”</a:t>
            </a:r>
          </a:p>
          <a:p>
            <a:r>
              <a:t>take charge of = 负责。touch base = 保持联系、简短碰头。委派时说明原因,体现信任。</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Many people become managers because they were excellent at their previous jobs, and then discover that management is different. A manager’s job is no longer to do the work but to enable others to do it well. Effective managers set clear goals and explain why they matter. They delegate real responsibility, not just routine tasks, and then resist the temptation to hover. They give regular feedback, praising what works and addressing what doesn’t, and they protect their team from unnecessary distractions. They also manage their own time, because a manager who is always in crisis mode cannot support anyone. The most common mistake is micromanaging, which signals a lack of trust and drains motivation. Better to check progress at agreed points and keep the door open for questions.</a:t>
            </a:r>
          </a:p>
          <a:p>
            <a:r>
              <a:t>hover = 盘旋(指过度盯着)。drain = 消耗。”crisis mode” = 危机状态。temptation = 诱惑。</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How does a manager’s job differ from the previous job?</a:t>
            </a:r>
          </a:p>
          <a:p>
            <a:r>
              <a:t>A: It is to enable others to do the work well, not to do it themselves.</a:t>
            </a:r>
          </a:p>
          <a:p>
            <a:r>
              <a:t>Q2. What do effective managers do?</a:t>
            </a:r>
          </a:p>
          <a:p>
            <a:r>
              <a:t>A: Set clear goals, delegate real responsibility, give regular feedback and protect the team.</a:t>
            </a:r>
          </a:p>
          <a:p>
            <a:r>
              <a:t>Q3. What is the most common mistake?</a:t>
            </a:r>
          </a:p>
          <a:p>
            <a:r>
              <a:t>A: Micromanaging, which signals a lack of trust and drains motivation.</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Core management skills 核心管理技能</a:t>
            </a:r>
          </a:p>
          <a:p>
            <a:r>
              <a:t>领读 → 学员跟读 → 请学员用表达造一个和自己工作相关的句子。</a:t>
            </a:r>
          </a:p>
          <a:p>
            <a:r>
              <a:t>delegate (verb) 委派 — “I delegate routine tasks.”</a:t>
            </a:r>
          </a:p>
          <a:p>
            <a:r>
              <a:t>deadline (noun) 截止日期 — “We must meet the deadline.”</a:t>
            </a:r>
          </a:p>
          <a:p>
            <a:r>
              <a:t>prioritise (verb) 确定优先级 — “Prioritise urgent tasks.”</a:t>
            </a:r>
          </a:p>
          <a:p>
            <a:r>
              <a:t>motivate (verb) 激励 — “How do you motivate your team?”</a:t>
            </a:r>
          </a:p>
          <a:p>
            <a:r>
              <a:t>accountability (noun) 问责 — “Accountability is clear in our team.”</a:t>
            </a:r>
          </a:p>
          <a:p>
            <a:r>
              <a:t>workload (noun) 工作量 — “The workload is heavy.”</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Leading day to day ★ 日常带队</a:t>
            </a:r>
          </a:p>
          <a:p>
            <a:r>
              <a:t>领读 → 学员跟读 → 请学员用表达造一个和自己工作相关的句子。</a:t>
            </a:r>
          </a:p>
          <a:p>
            <a:r>
              <a:t>★ micromanage (verb) 事无巨细地管 — “Don’t micromanage; trust your team.”</a:t>
            </a:r>
          </a:p>
          <a:p>
            <a:r>
              <a:t>★ take ownership (collocation) 主动担责 — “Take ownership of your tasks.”</a:t>
            </a:r>
          </a:p>
          <a:p>
            <a:r>
              <a:t>★ keep (someone) in the loop (idiom) 让某人知情 — “Please keep me in the loop.”</a:t>
            </a:r>
          </a:p>
          <a:p>
            <a:r>
              <a:t>★ touch base (idiom) 保持联系 — “Let’s touch base on Friday.”</a:t>
            </a:r>
          </a:p>
          <a:p>
            <a:r>
              <a:t>★ lead by example (idiom) 以身作则 — “Good managers lead by example.”</a:t>
            </a:r>
          </a:p>
          <a:p>
            <a:r>
              <a:t>★ support (verb / noun) 支持 — “I make sure to support my team.”</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delegate / prioritise / motivate / accountability / micromanage / in the loop</a:t>
            </a:r>
          </a:p>
          <a:p>
            <a:r>
              <a:t>1. A good manager learns to _______ rather than do everything. → delegate</a:t>
            </a:r>
          </a:p>
          <a:p>
            <a:r>
              <a:t>2. You need to _______ urgent tasks first. → prioritise</a:t>
            </a:r>
          </a:p>
          <a:p>
            <a:r>
              <a:t>3. How do you _______ people during a difficult period? → motivate</a:t>
            </a:r>
          </a:p>
          <a:p>
            <a:r>
              <a:t>4. Clear _______ means everybody knows who is responsible. → accountability</a:t>
            </a:r>
          </a:p>
          <a:p>
            <a:r>
              <a:t>5. Trust your staff, and don’t _______ them. → micromanage</a:t>
            </a:r>
          </a:p>
          <a:p>
            <a:r>
              <a:t>6. Please keep me _______ on any changes. → in the loop</a:t>
            </a:r>
          </a:p>
          <a:p>
            <a:r>
              <a:t>Mistake Watch (拼写与搭配): delegate (verb /ˈdelɪɡeɪt/ vs noun /ˈdelɪɡət/), responsibility (not “responsability”), schedule. Delegate a task to sb. Be responsible for. Meet a deadline (not “catch”). Manage a team (not “manage to a team”).</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Delegating a task 委派任务</a:t>
            </a:r>
          </a:p>
          <a:p>
            <a:r>
              <a:t>情景：You are a team leader delegating the organisation of a client event to a team member.</a:t>
            </a:r>
          </a:p>
          <a:p>
            <a:r>
              <a:t>Role A: Rachel Tang, team leader (you) Role B: Dev Patel, team member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(Rachel): Dev, do you have a few minutes? I’d like to ask you to take charge of the client event on 12 November.</a:t>
            </a:r>
          </a:p>
          <a:p>
            <a:r>
              <a:t>B (Dev): Of course. What does it involve?</a:t>
            </a:r>
          </a:p>
          <a:p>
            <a:r>
              <a:t>A: Venue, catering, invitations and a short programme. The budget is five thousand pounds.</a:t>
            </a:r>
          </a:p>
          <a:p>
            <a:r>
              <a:t>B: That’s a big job. Why me?</a:t>
            </a:r>
          </a:p>
          <a:p>
            <a:r>
              <a:t>A: Because you organised the training day so well, and I’d like you to develop more in this area.</a:t>
            </a:r>
          </a:p>
          <a:p>
            <a:r>
              <a:t>B: Thank you. I’d be glad to. When do you need the plan?</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Could you have a draft by next Friday? We can touch base on Monday to see how it’s going.</a:t>
            </a:r>
          </a:p>
          <a:p>
            <a:r>
              <a:t>B: Sounds good. Can I make decisions on the supplier without checking each time?</a:t>
            </a:r>
          </a:p>
          <a:p>
            <a:r>
              <a:t>A: Yes, up to the budget. Just keep me in the loop on anything unusual.</a:t>
            </a:r>
          </a:p>
          <a:p>
            <a:r>
              <a:t>B: Understood. What if I need extra resources?</a:t>
            </a:r>
          </a:p>
          <a:p>
            <a:r>
              <a:t>A: Tell me early, and we’ll see what we can do. I trust you with this.</a:t>
            </a:r>
          </a:p>
          <a:p>
            <a:r>
              <a:t>B: Thanks, Rachel. I’ll start today.</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43 | </a:t>
            </a:r>
          </a:p>
          <a:p>
            <a:r>
              <a:t>Situation | You delegate an important task.</a:t>
            </a:r>
          </a:p>
          <a:p>
            <a:r>
              <a:t>Your role (A) | Team leader. Task: ______________</a:t>
            </a:r>
          </a:p>
          <a:p>
            <a:r>
              <a:t>Partner’s role (B) | Team member. Ask about the scope, budget and support.</a:t>
            </a:r>
          </a:p>
          <a:p>
            <a:r>
              <a:t>Must use (4 or more) | take charge of · why you · deadline · touch base · keep me in the loop · trust you</a:t>
            </a:r>
          </a:p>
          <a:p>
            <a:r>
              <a:t>Goal | Explain the task, why you chose them, set limits and agree a check-in.</a:t>
            </a:r>
          </a:p>
          <a:p>
            <a:r>
              <a:t>My notes | ____________________________________________</a:t>
            </a:r>
          </a:p>
          <a:p>
            <a:r>
              <a:t>Dev says he’s too busy. Negotiate a solution.</a:t>
            </a:r>
          </a:p>
          <a:p>
            <a:r>
              <a:t>Dev makes a mistake. Give supportive feedback.</a:t>
            </a:r>
          </a:p>
          <a:p>
            <a:r>
              <a:t>You are Dev. Ask for more authority on one decision.</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are the qualities of an effective manager? | “In my opinion… / The most important quality is…”</a:t>
            </a:r>
          </a:p>
          <a:p>
            <a:r>
              <a:t>2. What is the difference between a leader and a manager? | “A manager… whereas a leader…”</a:t>
            </a:r>
          </a:p>
          <a:p>
            <a:r>
              <a:t>3. Why do some managers find it hard to delegate? | “They may fear… / It can feel quicker to…”</a:t>
            </a:r>
          </a:p>
          <a:p>
            <a:r>
              <a:t>4. How do you handle a team member who is underperforming? | “I’d start by… / The first step would be to…”</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“Some managers find it hard to delegate because they believe they can do the task faster or better themselves. Others fear losing control, or they worry that mistakes will reflect on them. But the cost is high: they become a bottleneck and their team stops growing. I think managers should see delegation as an investment: it takes extra time in the short term, but it develops people and frees the manager to focus on bigger issues.”</a:t>
            </a:r>
          </a:p>
          <a:p>
            <a:r>
              <a:t>reflect on = 影响……名声。”frees… to focus on” = 使……腾出精力。 investment = 投资。 in the short term = 短期内。</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You do this. | I’d like you to take charge of this. | 礼貌授权</a:t>
            </a:r>
          </a:p>
          <a:p>
            <a:r>
              <a:t>Tell me everything. | Please keep me in the loop. | 让我知情</a:t>
            </a:r>
          </a:p>
          <a:p>
            <a:r>
              <a:t>Do it fast. | Could you have it ready by Friday? | 具体</a:t>
            </a:r>
          </a:p>
          <a:p>
            <a:r>
              <a:t>I trust you. | I’m confident you can handle this. | 肯定</a:t>
            </a:r>
          </a:p>
          <a:p>
            <a:r>
              <a:t>Report to me. | Let’s touch base on Monday. | 友好</a:t>
            </a:r>
          </a:p>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Requests: I’d like you to… / Could you…? / Would you be able to…?</a:t>
            </a:r>
          </a:p>
          <a:p>
            <a:r>
              <a:t>Give reasons: The reason I’m asking you is… / That’s why I thought of you.</a:t>
            </a:r>
          </a:p>
          <a:p>
            <a:r>
              <a:t>Modals of ability and permission: can, be able to, be allowed to: “You can make decisions up to £500.”</a:t>
            </a:r>
          </a:p>
          <a:p>
            <a:r>
              <a:t>Time prepositions: by Friday (no later than) vs until Friday (up to and including), in two weeks vs within two weeks.</a:t>
            </a:r>
          </a:p>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will let you to do this.  →  ✓ I will let you do this.  (let + 原形)</a:t>
            </a:r>
          </a:p>
          <a:p>
            <a:r>
              <a:t>✗ Please do it before of Friday.  →  ✓ Please do it before Friday. / by Friday.  (无 of)</a:t>
            </a:r>
          </a:p>
          <a:p>
            <a:r>
              <a:t>✗ I want you finish the report.  →  ✓ I want you to finish the report.  (want sb to)</a:t>
            </a:r>
          </a:p>
          <a:p>
            <a:r>
              <a:t>Mistake Watch: Check want sb to, delegate to, must + base verb, by / until.</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He has a big responsibility on the project.  →  ✓ He has a big responsibility for the project.  (responsibility for)</a:t>
            </a:r>
          </a:p>
          <a:p>
            <a:r>
              <a:t>✗ She delegated the work for him.  →  ✓ She delegated the work to him.  (delegate to)</a:t>
            </a:r>
          </a:p>
          <a:p>
            <a:r>
              <a:t>✗ Managers must to motivate staff.  →  ✓ Managers must motivate staff.  (must + 原形)</a:t>
            </a:r>
          </a:p>
          <a:p>
            <a:r>
              <a:t>Mistake Watch: Check want sb to, delegate to, must + base verb, by / until.</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Delegating vs dumping: Delegation includes authority and support. Dumping tasks without support breeds resentment.</a:t>
            </a:r>
          </a:p>
          <a:p>
            <a:r>
              <a:t>Directness: British managers often use soft language (“Would you mind…?”) for instructions. It’s still an instruction.</a:t>
            </a:r>
          </a:p>
          <a:p>
            <a:r>
              <a:t>Open-door policy: Many managers say “My door is always open.” It is an invitation to bring concerns.</a:t>
            </a:r>
          </a:p>
          <a:p>
            <a:r>
              <a:t>want sb to do sth;delegate sth to sb;let sb do sth(不加 to)。by 表示“不晚于”,until 表示“持续到”。</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delegate a task clearly and respectfully.</a:t>
            </a:r>
          </a:p>
          <a:p>
            <a:r>
              <a:t>I can discuss management styles and skills.</a:t>
            </a:r>
          </a:p>
          <a:p>
            <a:r>
              <a:t>I can use want sb to, let sb do correctly.</a:t>
            </a:r>
          </a:p>
          <a:p>
            <a:r>
              <a:t>I can use by / until and within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verb patterns (want sb to, let sb do), delegate to, and time prepositions.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44 · Talking About Leaders 聊聊领导者</a:t>
            </a:r>
          </a:p>
          <a:p>
            <a:r>
              <a:t>Goal: describe and evaluate leaders and leadership styles: qualities, styles, role models and the difference between managing and leading.</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3 题 born or made 是经典辩论题。charismatic = 有魅力的。style 的搭配:leadership style。</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a leader you admire and explain why.</a:t>
            </a:r>
          </a:p>
          <a:p>
            <a:r>
              <a:t>Say: who → what they do → example → why it matters</a:t>
            </a:r>
          </a:p>
          <a:p>
            <a:r>
              <a:t>Useful starters: “I really admire… because…” / “What impresses me is…” / “A good example of this is…”</a:t>
            </a:r>
          </a:p>
          <a:p>
            <a:r>
              <a:t>What impresses me is… 强调重点。A good example is… 给出例子。形容人物:visionary, approachable。</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Ask ten people to describe a great leader and you will get ten different answers. Some mention charisma and vision. Others prefer a leader who is humble, listens carefully and admits mistakes. In practice, different situations require different styles. A crisis may call for a firm, directive leader who makes quick decisions. A creative team may thrive with a coaching style that encourages experiments. Many researchers believe that most leadership skills can be learned, including communication, empathy and decision-making. What seems consistent is that people follow leaders they trust. Trust grows when leaders are honest, keep their promises and give credit to others. Leaders also need self-awareness: knowing their strengths and blind spots helps them to build a team that covers the gaps.</a:t>
            </a:r>
          </a:p>
          <a:p>
            <a:r>
              <a:t>charisma = 魅力。humble = 谦逊。coaching style = 教练式。blind spots = 盲点。</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do leaders need different styles?</a:t>
            </a:r>
          </a:p>
          <a:p>
            <a:r>
              <a:t>A: Different situations, such as crises or creative work, require different approaches.</a:t>
            </a:r>
          </a:p>
          <a:p>
            <a:r>
              <a:t>Q2. Can leadership be learned?</a:t>
            </a:r>
          </a:p>
          <a:p>
            <a:r>
              <a:t>A: Many researchers think most leadership skills can be learned.</a:t>
            </a:r>
          </a:p>
          <a:p>
            <a:r>
              <a:t>Q3. What builds trust?</a:t>
            </a:r>
          </a:p>
          <a:p>
            <a:r>
              <a:t>A: Honesty, keeping promises and giving credit to others.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Describing leaders 描述领导者</a:t>
            </a:r>
          </a:p>
          <a:p>
            <a:r>
              <a:t>领读 → 学员跟读 → 请学员用表达造一个和自己工作相关的句子。</a:t>
            </a:r>
          </a:p>
          <a:p>
            <a:r>
              <a:t>visionary (adjective / noun) 有远见的 — “A visionary leader inspires staff.”</a:t>
            </a:r>
          </a:p>
          <a:p>
            <a:r>
              <a:t>approachable (adjective) 平易近人的 — “Our director is approachable.”</a:t>
            </a:r>
          </a:p>
          <a:p>
            <a:r>
              <a:t>decisive (adjective) 果断的 — “A leader must be decisive.”</a:t>
            </a:r>
          </a:p>
          <a:p>
            <a:r>
              <a:t>inspire (verb) 激励 — “She inspires confidence.”</a:t>
            </a:r>
          </a:p>
          <a:p>
            <a:r>
              <a:t>role model (noun) 榜样 — “He is a role model for young managers.”</a:t>
            </a:r>
          </a:p>
          <a:p>
            <a:r>
              <a:t>leadership style (noun) 领导风格 — “His leadership style is collaborative.”</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Leadership in action ★ 领导实践</a:t>
            </a:r>
          </a:p>
          <a:p>
            <a:r>
              <a:t>领读 → 学员跟读 → 请学员用表达造一个和自己工作相关的句子。</a:t>
            </a:r>
          </a:p>
          <a:p>
            <a:r>
              <a:t>★ lead from the front (idiom) 身先士卒 — “She leads from the front in a crisis.”</a:t>
            </a:r>
          </a:p>
          <a:p>
            <a:r>
              <a:t>★ hands-on / hands-off (adjective) 亲力亲为 / 放手 — “He’s a hands-on manager.”</a:t>
            </a:r>
          </a:p>
          <a:p>
            <a:r>
              <a:t>★ rally (the team) (verb) 凝聚团队 — “She rallied the team after the setback.”</a:t>
            </a:r>
          </a:p>
          <a:p>
            <a:r>
              <a:t>★ walk the talk (idiom) 言行一致 — “Leaders must walk the talk.”</a:t>
            </a:r>
          </a:p>
          <a:p>
            <a:r>
              <a:t>★ command respect (collocation) 赢得尊重 — “She commands respect.”</a:t>
            </a:r>
          </a:p>
          <a:p>
            <a:r>
              <a:t>★ set the tone (idiom) 定下基调 — “Leaders set the tone for the culture.”</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visionary / approachable / decisive / role model / hands-on / set the tone</a:t>
            </a:r>
          </a:p>
          <a:p>
            <a:r>
              <a:t>1. A _______ leader sees where the industry is going. → visionary</a:t>
            </a:r>
          </a:p>
          <a:p>
            <a:r>
              <a:t>2. Our director is very _______. You can talk to her anytime. → approachable</a:t>
            </a:r>
          </a:p>
          <a:p>
            <a:r>
              <a:t>3. In a crisis, you need someone who is _______. → decisive</a:t>
            </a:r>
          </a:p>
          <a:p>
            <a:r>
              <a:t>4. She has been a _______ for many young engineers. → role model</a:t>
            </a:r>
          </a:p>
          <a:p>
            <a:r>
              <a:t>5. He’s a _______ manager and checks every detail himself. → hands-on</a:t>
            </a:r>
          </a:p>
          <a:p>
            <a:r>
              <a:t>6. Managers _______ for the whole team’s behaviour. → set the tone</a:t>
            </a:r>
          </a:p>
          <a:p>
            <a:r>
              <a:t>Mistake Watch (拼写与搭配): leadership (not “leadershop”), charismatic, approachable (not “approachble”). Leader of / of a team, lead a team. A role model for sb. Admire sb for something.</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a leader you admire 描述你敬佩的领导者</a:t>
            </a:r>
          </a:p>
          <a:p>
            <a:r>
              <a:t>情景：At a networking event, a new acquaintance asks who has influenced your career.</a:t>
            </a:r>
          </a:p>
          <a:p>
            <a:r>
              <a:t>Role A: Lei Huang, manager (you) Role B: Tom Fisher, acquaintance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(Lei): So, Tom, who has influenced you most in your career?</a:t>
            </a:r>
          </a:p>
          <a:p>
            <a:r>
              <a:t>B (Tom): Probably my first manager. What about you?</a:t>
            </a:r>
          </a:p>
          <a:p>
            <a:r>
              <a:t>A: For me, it was a director named Ms Sato. She was a real role model.</a:t>
            </a:r>
          </a:p>
          <a:p>
            <a:r>
              <a:t>B: What made her special?</a:t>
            </a:r>
          </a:p>
          <a:p>
            <a:r>
              <a:t>A: She was decisive, but she always listened first. What impressed me was how she handled a crisis.</a:t>
            </a:r>
          </a:p>
          <a:p>
            <a:r>
              <a:t>B: Can you give an example?</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Once, a major client threatened to leave. She stayed calm, rallied the team and called the client herself.</a:t>
            </a:r>
          </a:p>
          <a:p>
            <a:r>
              <a:t>B: That sounds like leading from the front.</a:t>
            </a:r>
          </a:p>
          <a:p>
            <a:r>
              <a:t>A: Exactly. And she gave us the credit afterwards, which made us trust her.</a:t>
            </a:r>
          </a:p>
          <a:p>
            <a:r>
              <a:t>B: That’s rare. Did she ever make mistakes?</a:t>
            </a:r>
          </a:p>
          <a:p>
            <a:r>
              <a:t>A: Of course. But she admitted them openly. That’s why people respected her.</a:t>
            </a:r>
          </a:p>
          <a:p>
            <a:r>
              <a:t>B: A good lesson. I’d like to be that kind of leader myself.</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44 | </a:t>
            </a:r>
          </a:p>
          <a:p>
            <a:r>
              <a:t>Situation | You describe a leader you admire.</a:t>
            </a:r>
          </a:p>
          <a:p>
            <a:r>
              <a:t>Your role (A) | Speaker. Leader: ______________</a:t>
            </a:r>
          </a:p>
          <a:p>
            <a:r>
              <a:t>Partner’s role (B) | Listener. Ask for examples.</a:t>
            </a:r>
          </a:p>
          <a:p>
            <a:r>
              <a:t>Must use (4 or more) | role model · what impressed me · decisive · approachable · lead by example · give credit</a:t>
            </a:r>
          </a:p>
          <a:p>
            <a:r>
              <a:t>Goal | Describe the person, give an example and say why it matters.</a:t>
            </a:r>
          </a:p>
          <a:p>
            <a:r>
              <a:t>My notes | ____________________________________________</a:t>
            </a:r>
          </a:p>
          <a:p>
            <a:r>
              <a:t>Tom asks: “Can you learn leadership or are you born with it?” Answer.</a:t>
            </a:r>
          </a:p>
          <a:p>
            <a:r>
              <a:t>Describe a leader you do not admire, diplomatically.</a:t>
            </a:r>
          </a:p>
          <a:p>
            <a:r>
              <a:t>Describe your own leadership style in a job interview.</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kind of leader would you like to be? | “I’d like to be… I’d want to…”</a:t>
            </a:r>
          </a:p>
          <a:p>
            <a:r>
              <a:t>2. Are leaders born or made? | “I believe that… although… / Natural talent helps, but…”</a:t>
            </a:r>
          </a:p>
          <a:p>
            <a:r>
              <a:t>3. Is it better to be liked or respected as a leader? | “Ideally both, but if I had to choose…”</a:t>
            </a:r>
          </a:p>
          <a:p>
            <a:r>
              <a:t>4. How should leaders behave in a crisis? | “They should… / They shouldn’t…”</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believe leaders are mostly made. Some people are naturally confident or charismatic, which helps, but good leadership depends on skills like listening, giving feedback and making decisions under pressure. All of these can be learned through experience, training and coaching. Many successful leaders are quiet and analytical rather than charismatic, which shows that style is not destiny.”</a:t>
            </a:r>
          </a:p>
          <a:p>
            <a:r>
              <a:t>be mostly made = 主要靠后天培养。under pressure = 在压力下。 analytical = 善于分析的。 style is not destiny = 风格并非命运。</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He is a good boss. | He’s an inspiring leader who listens. | 具体</a:t>
            </a:r>
          </a:p>
          <a:p>
            <a:r>
              <a:t>She is strong. | She has a strong presence and commands respect. | 描述</a:t>
            </a:r>
          </a:p>
          <a:p>
            <a:r>
              <a:t>He is friendly. | He’s approachable and easy to talk to. | 更职业</a:t>
            </a:r>
          </a:p>
          <a:p>
            <a:r>
              <a:t>She works with us. | She leads from the front. | 习语</a:t>
            </a:r>
          </a:p>
          <a:p>
            <a:r>
              <a:t>He says and does the same. | He walks the talk. | 习语</a:t>
            </a:r>
          </a:p>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Describing people: adjective + noun: a decisive leader; She is decisive. Use adverbs: extremely, remarkably, genuinely.</a:t>
            </a:r>
          </a:p>
          <a:p>
            <a:r>
              <a:t>Relative clauses: a leader who listens, a manager whose team trusts her.</a:t>
            </a:r>
          </a:p>
          <a:p>
            <a:r>
              <a:t>Sequencing a story: First, then, after that, in the end.</a:t>
            </a:r>
          </a:p>
          <a:p>
            <a:r>
              <a:t>Present for habits, past for stories: “She stays calm” (general) vs “She stayed calm” (that day).</a:t>
            </a:r>
          </a:p>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He is a very charisma leader.  →  ✓ He’s a very charismatic leader.  (形容词)</a:t>
            </a:r>
          </a:p>
          <a:p>
            <a:r>
              <a:t>✗ She inspired us do better.  →  ✓ She inspired us to do better.  (inspire sb to do)</a:t>
            </a:r>
          </a:p>
          <a:p>
            <a:r>
              <a:t>✗ The leader which I admire is Sato.  →  ✓ The leader whom/that I admire is Sato.  (人用 who / that)</a:t>
            </a:r>
          </a:p>
          <a:p>
            <a:r>
              <a:t>Mistake Watch: Check adjective vs noun forms (charismatic / charisma), inspire sb to, and relative pronouns for people.</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He’s a person with many respects.  →  ✓ He’s a person who is well respected.  (respect 不可数)</a:t>
            </a:r>
          </a:p>
          <a:p>
            <a:r>
              <a:t>✗ I want to be a leader as her.  →  ✓ I want to be a leader like her.  (like + 名词/代词)</a:t>
            </a:r>
          </a:p>
          <a:p>
            <a:r>
              <a:t>✗ He is more strong than me.  →  ✓ He is stronger than me.  (strong 单音节)</a:t>
            </a:r>
          </a:p>
          <a:p>
            <a:r>
              <a:t>Mistake Watch: Check adjective vs noun forms (charismatic / charisma), inspire sb to, and relative pronouns for people.</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Humility: In the UK, leaders often downplay their achievements; self-promotion is more accepted in the US.</a:t>
            </a:r>
          </a:p>
          <a:p>
            <a:r>
              <a:t>First names: Many leaders prefer to be addressed by first name, even at the top.</a:t>
            </a:r>
          </a:p>
          <a:p>
            <a:r>
              <a:t>Leadership books and TED: Popular leadership talks are widely shared in Western companies, but cultural fit varies.</a:t>
            </a:r>
          </a:p>
          <a:p>
            <a:r>
              <a:t>形容词与名词要区分:charisma(名)/ charismatic(形)。inspire sb to do sth。关系代词:修饰人用 who / that,不用 which。</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a leader and their style with examples.</a:t>
            </a:r>
          </a:p>
          <a:p>
            <a:r>
              <a:t>I can give a short opinion on leadership.</a:t>
            </a:r>
          </a:p>
          <a:p>
            <a:r>
              <a:t>I can use relative clauses (who, whose).</a:t>
            </a:r>
          </a:p>
          <a:p>
            <a:r>
              <a:t>I can use inspire sb to and adjective/noun forms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relative clauses for people, inspire sb to, and adjective vs noun forms.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45 · Does Teamwork Make the Dream Work? 团队合作真的更好吗?</a:t>
            </a:r>
          </a:p>
          <a:p>
            <a:r>
              <a:t>Goal: talk critically about teamwork: when it works, when it doesn’t, team roles, free-riders and how to make teams effective.</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free rider = 搭便车的人。”do one’s share” = 做自己该做的部分。题目是个双关:teamwork make the dream work 是流行说法。</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Give your opinion on whether teamwork is always better, with examples.</a:t>
            </a:r>
          </a:p>
          <a:p>
            <a:r>
              <a:t>Say: opinion → reason 1 → reason 2 → example → conclusion</a:t>
            </a:r>
          </a:p>
          <a:p>
            <a:r>
              <a:t>Useful starters: “I’d say it depends on…” / “On the one hand… On the other hand…” / “All in all, …”</a:t>
            </a:r>
          </a:p>
          <a:p>
            <a:r>
              <a:t>On the one hand… on the other hand… 平衡论述。all in all = 总而言之。</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“Teamwork makes the dream work” is a popular slogan, but is it always true? Teams can combine skills, share workload and produce better ideas than individuals. Yet they can also waste time. Meetings multiply, decisions slow down and some members do little, relying on others to carry the project. In groups, people sometimes avoid disagreeing in order to keep the peace, which leads to weak decisions. Good teams avoid these traps. They have a clear purpose, defined roles and a leader who ensures that everyone contributes. They allow time for individual thinking before group discussion, and they celebrate results together. The lesson is not to avoid teamwork, but to use it when the task really needs several perspectives, and to design it carefully.</a:t>
            </a:r>
          </a:p>
          <a:p>
            <a:r>
              <a:t>slogan = 口号。”carry the project” = 扛起项目。”keep the peace” = 维持和气。trap = 陷阱。</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advantages of teams does the passage mention?</a:t>
            </a:r>
          </a:p>
          <a:p>
            <a:r>
              <a:t>A: They combine skills, share workload and produce better ideas.</a:t>
            </a:r>
          </a:p>
          <a:p>
            <a:r>
              <a:t>Q2. What problems can teams cause?</a:t>
            </a:r>
          </a:p>
          <a:p>
            <a:r>
              <a:t>A: Time-wasting meetings, slow decisions, free riders and avoidance of disagreement.</a:t>
            </a:r>
          </a:p>
          <a:p>
            <a:r>
              <a:t>Q3. What do good teams have?</a:t>
            </a:r>
          </a:p>
          <a:p>
            <a:r>
              <a:t>A: A clear purpose, defined roles, a leader who ensures everyone contributes, and time for individual thinking.</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Teams and roles 团队与角色</a:t>
            </a:r>
          </a:p>
          <a:p>
            <a:r>
              <a:t>领读 → 学员跟读 → 请学员用表达造一个和自己工作相关的句子。</a:t>
            </a:r>
          </a:p>
          <a:p>
            <a:r>
              <a:t>team player (noun) 善于合作的人 — “He’s a real team player.”</a:t>
            </a:r>
          </a:p>
          <a:p>
            <a:r>
              <a:t>collaboration (noun) 协作 — “Collaboration is key.”</a:t>
            </a:r>
          </a:p>
          <a:p>
            <a:r>
              <a:t>team spirit (noun) 团队精神 — “There’s a great team spirit.”</a:t>
            </a:r>
          </a:p>
          <a:p>
            <a:r>
              <a:t>contribute (verb) 贡献 — “Everyone should contribute.”</a:t>
            </a:r>
          </a:p>
          <a:p>
            <a:r>
              <a:t>free rider (noun) 搭便车者 — “Free riders annoy hard workers.”</a:t>
            </a:r>
          </a:p>
          <a:p>
            <a:r>
              <a:t>shared goal (noun phrase) 共同目标 — “We have a shared goal.”</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Making teams work ★ 让团队有效运作</a:t>
            </a:r>
          </a:p>
          <a:p>
            <a:r>
              <a:t>领读 → 学员跟读 → 请学员用表达造一个和自己工作相关的句子。</a:t>
            </a:r>
          </a:p>
          <a:p>
            <a:r>
              <a:t>★ pull your weight (idiom) 尽自己的一份力 — “Everyone must pull their weight.”</a:t>
            </a:r>
          </a:p>
          <a:p>
            <a:r>
              <a:t>★ drop the ball (idiom) 失误/疏忽 — “Someone dropped the ball on the invoice.”</a:t>
            </a:r>
          </a:p>
          <a:p>
            <a:r>
              <a:t>★ groupthink (noun) 群体思维 — “Groupthink can lead to bad decisions.”</a:t>
            </a:r>
          </a:p>
          <a:p>
            <a:r>
              <a:t>★ bounce ideas off (phrasal verb) 与人探讨想法 — “I like to bounce ideas off my colleagues.”</a:t>
            </a:r>
          </a:p>
          <a:p>
            <a:r>
              <a:t>★ pool resources (collocation) 集中资源 — “We pooled our resources.”</a:t>
            </a:r>
          </a:p>
          <a:p>
            <a:r>
              <a:t>★ too many cooks spoil the broth (proverb) 人多手杂坏事 — “In this project, too many cooks spoil the broth.”</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team player / team spirit / contribute / free rider / pull their weight / Groupthink</a:t>
            </a:r>
          </a:p>
          <a:p>
            <a:r>
              <a:t>1. A good _______ shares information and helps others. → team player</a:t>
            </a:r>
          </a:p>
          <a:p>
            <a:r>
              <a:t>2. There is great _______ in our department. → team spirit</a:t>
            </a:r>
          </a:p>
          <a:p>
            <a:r>
              <a:t>3. Everyone is expected to _______ ideas in the meeting. → contribute</a:t>
            </a:r>
          </a:p>
          <a:p>
            <a:r>
              <a:t>4. Nobody likes a _______ who lets others do the work. → free rider</a:t>
            </a:r>
          </a:p>
          <a:p>
            <a:r>
              <a:t>5. In a team, everyone must _______. → pull their weight</a:t>
            </a:r>
          </a:p>
          <a:p>
            <a:r>
              <a:t>6. _______ can lead to poor decisions because nobody dares to disagree. → Groupthink</a:t>
            </a:r>
          </a:p>
          <a:p>
            <a:r>
              <a:t>Mistake Watch (拼写与搭配): teamwork (one word), collaboration (not “colaboration”), colleague. Teamwork is uncountable. Work in a team / with a team. Contribute to (not “contribute for”). Pull one’s weight (idiom).</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a free rider in the team 讨论团队中的搭便车者</a:t>
            </a:r>
          </a:p>
          <a:p>
            <a:r>
              <a:t>情景：You discuss with your team leader that one team member is not doing their share.</a:t>
            </a:r>
          </a:p>
          <a:p>
            <a:r>
              <a:t>Role A: Sam Gao, team member (you) Role B: Ms Allen, team leader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(Sam): Ms Allen, do you have a moment? I’d like to talk about the project.</a:t>
            </a:r>
          </a:p>
          <a:p>
            <a:r>
              <a:t>B (Ms Allen): Of course. What’s on your mind?</a:t>
            </a:r>
          </a:p>
          <a:p>
            <a:r>
              <a:t>A: It’s about the workload. I feel some of us are carrying more than our share.</a:t>
            </a:r>
          </a:p>
          <a:p>
            <a:r>
              <a:t>B: Can you be more specific?</a:t>
            </a:r>
          </a:p>
          <a:p>
            <a:r>
              <a:t>A: For the last three weeks, Jay hasn’t completed his tasks, and we’ve had to cover for him.</a:t>
            </a:r>
          </a:p>
          <a:p>
            <a:r>
              <a:t>B: I see. Have you spoken to him?</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Briefly. He says he’s overloaded, but he doesn’t ask for help either.</a:t>
            </a:r>
          </a:p>
          <a:p>
            <a:r>
              <a:t>B: Thank you for telling me. Let me check his workload first.</a:t>
            </a:r>
          </a:p>
          <a:p>
            <a:r>
              <a:t>A: That’s fair. I don’t want to blame him. I’d just like the work to be shared evenly.</a:t>
            </a:r>
          </a:p>
          <a:p>
            <a:r>
              <a:t>B: I’ll talk to him tomorrow. And let’s review task distribution in the next meeting.</a:t>
            </a:r>
          </a:p>
          <a:p>
            <a:r>
              <a:t>A: That would be great. Thank you for listening.</a:t>
            </a:r>
          </a:p>
          <a:p>
            <a:r>
              <a:t>B: Thanks for raising it. If it continues, tell me.</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45 | </a:t>
            </a:r>
          </a:p>
          <a:p>
            <a:r>
              <a:t>Situation | You raise a concern about unequal workload.</a:t>
            </a:r>
          </a:p>
          <a:p>
            <a:r>
              <a:t>Your role (A) | Team member. Problem: ______________</a:t>
            </a:r>
          </a:p>
          <a:p>
            <a:r>
              <a:t>Partner’s role (B) | Team leader. Careful and neutral.</a:t>
            </a:r>
          </a:p>
          <a:p>
            <a:r>
              <a:t>Must use (4 or more) | carrying more than our share · pull their weight · cover for · workload · shared evenly · review</a:t>
            </a:r>
          </a:p>
          <a:p>
            <a:r>
              <a:t>Goal | Describe the problem factually, avoid blame and propose a solution.</a:t>
            </a:r>
          </a:p>
          <a:p>
            <a:r>
              <a:t>My notes | ____________________________________________</a:t>
            </a:r>
          </a:p>
          <a:p>
            <a:r>
              <a:t>Ms Allen asks: “What have you done to help him?” Respond.</a:t>
            </a:r>
          </a:p>
          <a:p>
            <a:r>
              <a:t>Suggest a way to clarify roles in the team.</a:t>
            </a:r>
          </a:p>
          <a:p>
            <a:r>
              <a:t>You are Jay. Explain your side of the story.</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Do you prefer working alone or in a team? | “I prefer… because… / It depends on…”</a:t>
            </a:r>
          </a:p>
          <a:p>
            <a:r>
              <a:t>2. When is teamwork not the best way to work? | “It isn’t ideal when… / Individuals may be faster at…”</a:t>
            </a:r>
          </a:p>
          <a:p>
            <a:r>
              <a:t>3. What roles do people play in teams? | “Some people are… like the… / Others act as…”</a:t>
            </a:r>
          </a:p>
          <a:p>
            <a:r>
              <a:t>4. How can leaders deal with free riders? | “They should first… then…”</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prefer working in a team for complex projects because different people bring different skills and ideas. But for tasks that require deep concentration, such as writing or analysis, I do better alone. So I’d say it depends on the task. Ideally, I work alone to prepare my ideas and then meet the team to discuss and improve them.”</a:t>
            </a:r>
          </a:p>
          <a:p>
            <a:r>
              <a:t>deep concentration = 高度专注。”do better” = 表现更好。prepare = 准备。 “improve them” 改进。</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He doesn’t work. | He isn’t pulling his weight. | 习语</a:t>
            </a:r>
          </a:p>
          <a:p>
            <a:r>
              <a:t>We work together well. | We work well as a team. / We have good team spirit. | 自然</a:t>
            </a:r>
          </a:p>
          <a:p>
            <a:r>
              <a:t>This is not my work. | That’s not part of my role, but I’m happy to help. | 礼貌</a:t>
            </a:r>
          </a:p>
          <a:p>
            <a:r>
              <a:t>Everyone says the same. | There’s a risk of groupthink. | 术语</a:t>
            </a:r>
          </a:p>
          <a:p>
            <a:r>
              <a:t>Please help me. | Could you give me a hand with this? | 口语</a:t>
            </a:r>
          </a:p>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Gerund/infinitive: enjoy working in teams, prefer to work alone / prefer working alone.</a:t>
            </a:r>
          </a:p>
          <a:p>
            <a:r>
              <a:t>Contrast linkers: however, whereas, while, on the other hand: “Teams offer variety, whereas individuals are faster.”</a:t>
            </a:r>
          </a:p>
          <a:p>
            <a:r>
              <a:t>Quantifiers: much/many/a lot of/a few/little/few: “There is little time.”</a:t>
            </a:r>
          </a:p>
          <a:p>
            <a:r>
              <a:t>Reflexive pronouns: by myself, himself, themselves: “She did it herself.”</a:t>
            </a:r>
          </a:p>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Teamwork are important.  →  ✓ Teamwork is important.  (不可数)</a:t>
            </a:r>
          </a:p>
          <a:p>
            <a:r>
              <a:t>✗ I like work in a team.  →  ✓ I like working in a team.  (like + -ing)</a:t>
            </a:r>
          </a:p>
          <a:p>
            <a:r>
              <a:t>✗ Everybody must to contribute.  →  ✓ Everybody must contribute.  (must + 原形)</a:t>
            </a:r>
          </a:p>
          <a:p>
            <a:r>
              <a:t>Mistake Watch: Check teamwork (one word, uncountable), contribute to, and like + -ing.</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He is lack of team spirit.  →  ✓ He lacks team spirit.  (lack)</a:t>
            </a:r>
          </a:p>
          <a:p>
            <a:r>
              <a:t>✗ We have a good team work.  →  ✓ We have good teamwork.  (一个词)</a:t>
            </a:r>
          </a:p>
          <a:p>
            <a:r>
              <a:t>✗ I contribute for the project.  →  ✓ I contribute to the project.  (contribute to)</a:t>
            </a:r>
          </a:p>
          <a:p>
            <a:r>
              <a:t>Mistake Watch: Check teamwork (one word, uncountable), contribute to, and like + -ing.</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“Team player”: In Western CVs, “team player” is a standard term. Provide examples rather than just stating it.</a:t>
            </a:r>
          </a:p>
          <a:p>
            <a:r>
              <a:t>Group work in Asian cultures: Harmony may lead people to avoid disagreement. Encourage open ideas.</a:t>
            </a:r>
          </a:p>
          <a:p>
            <a:r>
              <a:t>Remote teams: Written updates and clear task ownership are crucial when teams aren’t together.</a:t>
            </a:r>
          </a:p>
          <a:p>
            <a:r>
              <a:t>teamwork 是一个词,不可数,谓语用单数 is。contribute to;lack 是及物动词;like doing / like to do 都可以。</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give and justify an opinion on teamwork.</a:t>
            </a:r>
          </a:p>
          <a:p>
            <a:r>
              <a:t>I can describe team roles and problems.</a:t>
            </a:r>
          </a:p>
          <a:p>
            <a:r>
              <a:t>I can use contrast linkers (whereas, however).</a:t>
            </a:r>
          </a:p>
          <a:p>
            <a:r>
              <a:t>I can use contribute to and uncountable teamwork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uncountable teamwork, contribute to, and contrast linkers.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46 · What Makes a Great Project Manager 优秀项目经理的特质是什么?</a:t>
            </a:r>
          </a:p>
          <a:p>
            <a:r>
              <a:t>Goal: describe the skills and habits of a great project manager: planning, communication, risk management, stakeholder management and leadership under pressure.</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2 题可用 “A project manager is responsible for…”。stakeholder = 利益相关方。scope = 项目范围。</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the qualities of a great project manager with examples.</a:t>
            </a:r>
          </a:p>
          <a:p>
            <a:r>
              <a:t>Say: quality 1 → example → quality 2 → example → conclusion</a:t>
            </a:r>
          </a:p>
          <a:p>
            <a:r>
              <a:t>Useful starters: “First and foremost…” / “A good example of this is…” / “Above all, …”</a:t>
            </a:r>
          </a:p>
          <a:p>
            <a:r>
              <a:t>First and foremost = 首先最重要的是。above all = 尤其是。用具体例子支持观点。</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 project manager sits at the centre of a web of people: the client who wants results, the team that does the work and senior managers who control the budget. The job is to turn an idea into a delivered result on time and within budget. That requires planning, but also constant communication. Great project managers define the scope clearly and refuse to let it grow quietly. They identify risks early, keep stakeholders informed and deliver bad news promptly rather than hoping it will go away. They are calm under pressure and know how to motivate people they do not directly manage. Technical knowledge helps, but the most valued skills are usually organisation, negotiation and honest communication. Above all, they take responsibility for the outcome, whether it is a success or a setback.</a:t>
            </a:r>
          </a:p>
          <a:p>
            <a:r>
              <a:t>web = 网络。scope = 范围。”grow quietly” 指范围蔓延 (scope creep)。setback = 挫折。</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is the project manager’s core job?</a:t>
            </a:r>
          </a:p>
          <a:p>
            <a:r>
              <a:t>A: To turn an idea into a delivered result on time and within budget.</a:t>
            </a:r>
          </a:p>
          <a:p>
            <a:r>
              <a:t>Q2. What do great project managers do about risks and bad news?</a:t>
            </a:r>
          </a:p>
          <a:p>
            <a:r>
              <a:t>A: Identify risks early and deliver bad news promptly.</a:t>
            </a:r>
          </a:p>
          <a:p>
            <a:r>
              <a:t>Q3. Which skills are most valued?</a:t>
            </a:r>
          </a:p>
          <a:p>
            <a:r>
              <a:t>A: Organisation, negotiation and honest communication.</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Project roles and tools 项目角色与工具</a:t>
            </a:r>
          </a:p>
          <a:p>
            <a:r>
              <a:t>领读 → 学员跟读 → 请学员用表达造一个和自己工作相关的句子。</a:t>
            </a:r>
          </a:p>
          <a:p>
            <a:r>
              <a:t>stakeholder (noun) 利益相关方 — “We must keep all stakeholders informed.”</a:t>
            </a:r>
          </a:p>
          <a:p>
            <a:r>
              <a:t>scope (noun) 项目范围 — “The scope of the project has changed.”</a:t>
            </a:r>
          </a:p>
          <a:p>
            <a:r>
              <a:t>milestone (noun) 里程碑 — “We reached the first milestone.”</a:t>
            </a:r>
          </a:p>
          <a:p>
            <a:r>
              <a:t>deliverable (noun) 交付物 — “The main deliverable is the report.”</a:t>
            </a:r>
          </a:p>
          <a:p>
            <a:r>
              <a:t>budget (noun / verb) 预算 — “We’re over budget.”</a:t>
            </a:r>
          </a:p>
          <a:p>
            <a:r>
              <a:t>timeline (noun) 时间线 — “The timeline is tight.”</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Qualities and habits ★ 品质与习惯</a:t>
            </a:r>
          </a:p>
          <a:p>
            <a:r>
              <a:t>领读 → 学员跟读 → 请学员用表达造一个和自己工作相关的句子。</a:t>
            </a:r>
          </a:p>
          <a:p>
            <a:r>
              <a:t>★ scope creep (noun phrase) 范围蔓延 — “Scope creep delayed us.”</a:t>
            </a:r>
          </a:p>
          <a:p>
            <a:r>
              <a:t>★ stay on track (collocation) 保持进度 — “We need to stay on track.”</a:t>
            </a:r>
          </a:p>
          <a:p>
            <a:r>
              <a:t>★ keep an eye on (idiom) 留意 — “Keep an eye on the budget.”</a:t>
            </a:r>
          </a:p>
          <a:p>
            <a:r>
              <a:t>★ juggle (verb) 同时处理多项任务 — “She juggles three projects.”</a:t>
            </a:r>
          </a:p>
          <a:p>
            <a:r>
              <a:t>★ anticipate (verb) 预见 — “A good manager anticipates problems.”</a:t>
            </a:r>
          </a:p>
          <a:p>
            <a:r>
              <a:t>★ take responsibility for (collocation) 对……负责 — “He took responsibility for the delay.”</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stakeholders / scope / milestone / deliverable / Scope creep / juggle</a:t>
            </a:r>
          </a:p>
          <a:p>
            <a:r>
              <a:t>1. We need to keep all _______ informed about progress. → stakeholders</a:t>
            </a:r>
          </a:p>
          <a:p>
            <a:r>
              <a:t>2. The _______ of the project was not clear. → scope</a:t>
            </a:r>
          </a:p>
          <a:p>
            <a:r>
              <a:t>3. We reached the first _______ ahead of schedule. → milestone</a:t>
            </a:r>
          </a:p>
          <a:p>
            <a:r>
              <a:t>4. The final _______ is a prototype for the client. → deliverable</a:t>
            </a:r>
          </a:p>
          <a:p>
            <a:r>
              <a:t>5. _______ is when extra requirements are added without changing the budget. → Scope creep</a:t>
            </a:r>
          </a:p>
          <a:p>
            <a:r>
              <a:t>6. She has to _______ three projects at the same time. → juggle</a:t>
            </a:r>
          </a:p>
          <a:p>
            <a:r>
              <a:t>Mistake Watch (拼写与搭配): schedule, deliverable (not “deliverible”), stakeholder (one word). Meet / miss a deadline, run late, run over budget. In charge of a project. Ahead of / behind schedule (no “the”).</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Updating a stakeholder about a delay 向相关方通报延误</a:t>
            </a:r>
          </a:p>
          <a:p>
            <a:r>
              <a:t>情景：You are the project manager. Your client, Mr Lopez, calls to ask about progress. The prototype will be a week late.</a:t>
            </a:r>
          </a:p>
          <a:p>
            <a:r>
              <a:t>Role A: Hana Ito, project manager (you) Role B: Mr Lopez, client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(Hana): Mr Lopez, thanks for calling. I was going to contact you today with an update.</a:t>
            </a:r>
          </a:p>
          <a:p>
            <a:r>
              <a:t>B (Mr Lopez): Good. How’s the prototype going?</a:t>
            </a:r>
          </a:p>
          <a:p>
            <a:r>
              <a:t>A: I’ll be honest. We’ve hit a delay. The supplier is a week late with a key component.</a:t>
            </a:r>
          </a:p>
          <a:p>
            <a:r>
              <a:t>B: A week? That’s a problem. We’ve promised the launch to our board.</a:t>
            </a:r>
          </a:p>
          <a:p>
            <a:r>
              <a:t>A: I understand. We’ve looked at options, and we can recover some time by working in parallel on testing.</a:t>
            </a:r>
          </a:p>
          <a:p>
            <a:r>
              <a:t>B: How much time?</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think we can cut the delay to three days, and we’ll keep you updated daily.</a:t>
            </a:r>
          </a:p>
          <a:p>
            <a:r>
              <a:t>B: That’s more acceptable. But what are the risks?</a:t>
            </a:r>
          </a:p>
          <a:p>
            <a:r>
              <a:t>A: The main risk is further supplier problems. I’ve arranged a backup supplier to be safe.</a:t>
            </a:r>
          </a:p>
          <a:p>
            <a:r>
              <a:t>B: Good. Please send me the revised timeline today.</a:t>
            </a:r>
          </a:p>
          <a:p>
            <a:r>
              <a:t>A: Of course. I’m sorry for the inconvenience, and I’ll make sure we stay on track from here.</a:t>
            </a:r>
          </a:p>
          <a:p>
            <a:r>
              <a:t>B: Thank you for being direct, Hana.</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46 | </a:t>
            </a:r>
          </a:p>
          <a:p>
            <a:r>
              <a:t>Situation | You give a stakeholder bad news.</a:t>
            </a:r>
          </a:p>
          <a:p>
            <a:r>
              <a:t>Your role (A) | Project manager. Issue and delay: ______________</a:t>
            </a:r>
          </a:p>
          <a:p>
            <a:r>
              <a:t>Partner’s role (B) | Client. Worried about launch date.</a:t>
            </a:r>
          </a:p>
          <a:p>
            <a:r>
              <a:t>Must use (4 or more) | hit a delay · recover time · risk · backup · revised timeline · stay on track</a:t>
            </a:r>
          </a:p>
          <a:p>
            <a:r>
              <a:t>Goal | State the problem, explain your plan, give a new date and offer updates.</a:t>
            </a:r>
          </a:p>
          <a:p>
            <a:r>
              <a:t>My notes | ____________________________________________</a:t>
            </a:r>
          </a:p>
          <a:p>
            <a:r>
              <a:t>Mr Lopez says: “I need it on time, no excuses.” Respond calmly.</a:t>
            </a:r>
          </a:p>
          <a:p>
            <a:r>
              <a:t>The client asks to add a new feature. Handle scope.</a:t>
            </a:r>
          </a:p>
          <a:p>
            <a:r>
              <a:t>Write a short email confirming the revised timeline.</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skills does a project manager need most? | “Above all, they need… / The most important skill is…”</a:t>
            </a:r>
          </a:p>
          <a:p>
            <a:r>
              <a:t>2. How should bad news be delivered to a client? | “As soon as possible, and… / It’s better to…”</a:t>
            </a:r>
          </a:p>
          <a:p>
            <a:r>
              <a:t>3. What are the main causes of project failure? | “Common causes include… / Often projects fail because…”</a:t>
            </a:r>
          </a:p>
          <a:p>
            <a:r>
              <a:t>4. Would you like to be a project manager? Why or why not? | “I think I’d enjoy it because… / I’m not sure because…”</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“Bad news should be delivered as early as possible, in person or by phone if it’s serious, and together with a plan. Clients are usually more upset by surprises than by problems. So I’d explain what happened, what the impact is and what we’re doing about it, and then offer regular updates. It’s important to take responsibility without making excuses or blaming people.”</a:t>
            </a:r>
          </a:p>
          <a:p>
            <a:r>
              <a:t>upset by surprises = 被意外弄得不悦。impact = 影响。make excuses = 找借口。 “together with” = 同时。</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The project is late. | We’re running a week behind schedule. | 具体</a:t>
            </a:r>
          </a:p>
          <a:p>
            <a:r>
              <a:t>We lost money. | We’ve gone over budget. | 术语</a:t>
            </a:r>
          </a:p>
          <a:p>
            <a:r>
              <a:t>Something is wrong. | We’ve hit an issue. | 简洁</a:t>
            </a:r>
          </a:p>
          <a:p>
            <a:r>
              <a:t>I’ll tell you again. | I’ll keep you posted. | 常用</a:t>
            </a:r>
          </a:p>
          <a:p>
            <a:r>
              <a:t>Don’t worry. | We have a plan to get back on track. | 实质安慰</a:t>
            </a:r>
          </a:p>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Present perfect for progress: “We’ve completed the first phase.” / “We haven’t received the parts yet.”</a:t>
            </a:r>
          </a:p>
          <a:p>
            <a:r>
              <a:t>Future in the past: “I was going to call you.” (planned but didn’t)</a:t>
            </a:r>
          </a:p>
          <a:p>
            <a:r>
              <a:t>Apologising: I’m sorry for the inconvenience / I apologise for the delay. (for + noun/-ing)</a:t>
            </a:r>
          </a:p>
          <a:p>
            <a:r>
              <a:t>Passive for results: “The report will be delivered on Friday.”</a:t>
            </a:r>
          </a:p>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project delayed.  →  ✓ The project is delayed. / The project was delayed.  (被动)</a:t>
            </a:r>
          </a:p>
          <a:p>
            <a:r>
              <a:t>✗ We are behind of schedule.  →  ✓ We are behind schedule.  (behind schedule)</a:t>
            </a:r>
          </a:p>
          <a:p>
            <a:r>
              <a:t>✗ He is responsible of the budget.  →  ✓ He is responsible for the budget.  (responsible for)</a:t>
            </a:r>
          </a:p>
          <a:p>
            <a:r>
              <a:t>Mistake Watch: Check passive forms (is delayed), prepositions (responsible for, behind schedule), and on time vs in time.</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will arrive the deadline.  →  ✓ We will meet the deadline.  (meet)</a:t>
            </a:r>
          </a:p>
          <a:p>
            <a:r>
              <a:t>✗ I apologise about the late.  →  ✓ I apologise for the delay.  (delay)</a:t>
            </a:r>
          </a:p>
          <a:p>
            <a:r>
              <a:t>✗ The project is in time.  →  ✓ The project is on time.  (on time)</a:t>
            </a:r>
          </a:p>
          <a:p>
            <a:r>
              <a:t>Mistake Watch: Check passive forms (is delayed), prepositions (responsible for, behind schedule), and on time vs in time.</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Bad news early: Western clients prefer early, honest warnings. Hiding problems damages trust more than the problem itself.</a:t>
            </a:r>
          </a:p>
          <a:p>
            <a:r>
              <a:t>Jargon: PM terms (sprint, waterfall, Gantt chart) are widely used; explain them to non-specialists.</a:t>
            </a:r>
          </a:p>
          <a:p>
            <a:r>
              <a:t>Apologising: A British “sorry” is often routine; a sincere apology states the problem and the fix.</a:t>
            </a:r>
          </a:p>
          <a:p>
            <a:r>
              <a:t>on time(准时)与 in time(及时,赶得上)不同;responsible for;behind schedule(无 of)。坏消息要尽早说,并附带解决方案。</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qualities of a great project manager.</a:t>
            </a:r>
          </a:p>
          <a:p>
            <a:r>
              <a:t>I can deliver bad news with a plan.</a:t>
            </a:r>
          </a:p>
          <a:p>
            <a:r>
              <a:t>I can use project vocabulary (scope, milestone, deliverable).</a:t>
            </a:r>
          </a:p>
          <a:p>
            <a:r>
              <a:t>I can use on time / in time and responsible for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on time vs in time, responsible for, and passive forms with delay.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47 · Creating a Learning Culture 打造学习型团队</a:t>
            </a:r>
          </a:p>
          <a:p>
            <a:r>
              <a:t>Goal: talk about learning and development in the workplace: training, mentoring, learning from mistakes and encouraging continuous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on-the-job training = 在职培训。upskill = 提升技能;reskill = 转换技能。learning culture = 学习型文化。</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Propose a plan to build a learning culture in your team.</a:t>
            </a:r>
          </a:p>
          <a:p>
            <a:r>
              <a:t>Say: aim → activities → time → measure success</a:t>
            </a:r>
          </a:p>
          <a:p>
            <a:r>
              <a:t>Useful starters: “I’d like to propose…” / “To make time for learning, we could…” / “We’ll know it’s working if…”</a:t>
            </a:r>
          </a:p>
          <a:p>
            <a:r>
              <a:t>to make time for … 表示目的。We’ll know it’s working if… 说明衡量标准。</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In a fast-changing market, the skills that got you hired may not be enough to keep you employed. Companies with a learning culture treat development as a part of everyday work, not an occasional event. People share what they learn, ask questions without embarrassment and view mistakes as information. Leaders show the way by admitting what they do not know and by protecting time for training, even when deadlines are tight. Simple habits help: short “lunch and learn” sessions, mentoring pairs, post-project reviews that ask what worked and what didn’t, and access to online courses. The benefits are practical: employees become more adaptable, innovation improves and good people stay longer because they see a future. The challenge is to keep learning visible and rewarded, otherwise it is the first thing to disappear under pressure.</a:t>
            </a:r>
          </a:p>
          <a:p>
            <a:r>
              <a:t>adaptable = 适应性强的。post-project review = 项目复盘。”lunch and learn” = 午餐分享会。embarrassment = 尴尬。</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is a learning culture?</a:t>
            </a:r>
          </a:p>
          <a:p>
            <a:r>
              <a:t>A: One where development is a part of everyday work and mistakes are seen as information.</a:t>
            </a:r>
          </a:p>
          <a:p>
            <a:r>
              <a:t>Q2. What simple habits are suggested?</a:t>
            </a:r>
          </a:p>
          <a:p>
            <a:r>
              <a:t>A: Lunch-and-learn sessions, mentoring pairs, post-project reviews and online courses.</a:t>
            </a:r>
          </a:p>
          <a:p>
            <a:r>
              <a:t>Q3. Why is it important to make learning visible and rewarded?</a:t>
            </a:r>
          </a:p>
          <a:p>
            <a:r>
              <a:t>A: Otherwise it is the first thing to disappear under pressure.</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Learning and development 学习与发展</a:t>
            </a:r>
          </a:p>
          <a:p>
            <a:r>
              <a:t>领读 → 学员跟读 → 请学员用表达造一个和自己工作相关的句子。</a:t>
            </a:r>
          </a:p>
          <a:p>
            <a:r>
              <a:t>training course (noun) 培训课程 — “I’m attending a training course.”</a:t>
            </a:r>
          </a:p>
          <a:p>
            <a:r>
              <a:t>upskill / reskill (verb) 提升 / 转换技能 — “We need to upskill our staff.”</a:t>
            </a:r>
          </a:p>
          <a:p>
            <a:r>
              <a:t>mentor (noun / verb) 导师 / 指导 — “My mentor helps me.”</a:t>
            </a:r>
          </a:p>
          <a:p>
            <a:r>
              <a:t>on-the-job training (noun) 在职培训 — “He learned by on-the-job training.”</a:t>
            </a:r>
          </a:p>
          <a:p>
            <a:r>
              <a:t>skills gap (noun phrase) 技能缺口 — “We have a skills gap in data.”</a:t>
            </a:r>
          </a:p>
          <a:p>
            <a:r>
              <a:t>continuous improvement (noun) 持续改进 — “Continuous improvement is our approach.”</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Growing as a team ★ 共同成长</a:t>
            </a:r>
          </a:p>
          <a:p>
            <a:r>
              <a:t>领读 → 学员跟读 → 请学员用表达造一个和自己工作相关的句子。</a:t>
            </a:r>
          </a:p>
          <a:p>
            <a:r>
              <a:t>★ learn the ropes (idiom) 学习门道 — “She is still learning the ropes.”</a:t>
            </a:r>
          </a:p>
          <a:p>
            <a:r>
              <a:t>★ learn from mistakes (collocation) 从错误中学习 — “We learn from our mistakes.”</a:t>
            </a:r>
          </a:p>
          <a:p>
            <a:r>
              <a:t>★ knowledge sharing (noun phrase) 知识分享 — “Knowledge sharing improves teamwork.”</a:t>
            </a:r>
          </a:p>
          <a:p>
            <a:r>
              <a:t>★ post-mortem / lessons learned (noun) 复盘 — “We held a post-mortem after the launch.”</a:t>
            </a:r>
          </a:p>
          <a:p>
            <a:r>
              <a:t>★ keep up with (phrasal verb) 跟上 — “I try to keep up with industry trends.”</a:t>
            </a:r>
          </a:p>
          <a:p>
            <a:r>
              <a:t>★ fall behind (phrasal verb) 落后 — “If we don’t train, we fall behind.”</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upskill / mentor / on-the-job / skills gap / learn the ropes / keep up with</a:t>
            </a:r>
          </a:p>
          <a:p>
            <a:r>
              <a:t>1. We need to _______ staff to use the new software. → upskill</a:t>
            </a:r>
          </a:p>
          <a:p>
            <a:r>
              <a:t>2. My _______ meets me monthly to review my progress. → mentor</a:t>
            </a:r>
          </a:p>
          <a:p>
            <a:r>
              <a:t>3. Most of our training is _______, not in a classroom. → on-the-job</a:t>
            </a:r>
          </a:p>
          <a:p>
            <a:r>
              <a:t>4. There’s a _______ in data analysis in our team. → skills gap</a:t>
            </a:r>
          </a:p>
          <a:p>
            <a:r>
              <a:t>5. New staff need a few weeks to _______. → learn the ropes</a:t>
            </a:r>
          </a:p>
          <a:p>
            <a:r>
              <a:t>6. It’s hard to _______ the latest technology. → keep up with</a:t>
            </a:r>
          </a:p>
          <a:p>
            <a:r>
              <a:t>Mistake Watch (拼写与搭配): training (uncountable: “training”, “a training course”), development, knowledge (not “knowlege”). Attend a course, take a course, do a course; train sb to do sth. Improve (verb) / improvement (noun).</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Proposing a learning initiative 提议学习计划</a:t>
            </a:r>
          </a:p>
          <a:p>
            <a:r>
              <a:t>情景：You propose a monthly knowledge-sharing session to your manager.</a:t>
            </a:r>
          </a:p>
          <a:p>
            <a:r>
              <a:t>Role A: Ken Liu, team member (you) Role B: Ms Shaw,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(Ken): Ms Shaw, I’d like to propose a small idea to help the team learn from each other.</a:t>
            </a:r>
          </a:p>
          <a:p>
            <a:r>
              <a:t>B (Ms Shaw): Go ahead.</a:t>
            </a:r>
          </a:p>
          <a:p>
            <a:r>
              <a:t>A: A monthly one-hour session where someone shares something they’ve learned: a tool, a project, or a mistake.</a:t>
            </a:r>
          </a:p>
          <a:p>
            <a:r>
              <a:t>B: Interesting. Where would we find the time?</a:t>
            </a:r>
          </a:p>
          <a:p>
            <a:r>
              <a:t>A: We could hold it at lunchtime, or use the last hour on a Friday when things are quieter.</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And what’s the benefit for the business?</a:t>
            </a:r>
          </a:p>
          <a:p>
            <a:r>
              <a:t>A: It reduces duplicated work, helps newer people learn the ropes and builds team spirit.</a:t>
            </a:r>
          </a:p>
          <a:p>
            <a:r>
              <a:t>B: How would you make sure it doesn’t become a burden?</a:t>
            </a:r>
          </a:p>
          <a:p>
            <a:r>
              <a:t>A: Keep it informal, rotate presenters and limit each talk to fifteen minutes.</a:t>
            </a:r>
          </a:p>
          <a:p>
            <a:r>
              <a:t>B: I like that. Could we run it for three months as a trial?</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Yes, and we’ll know it’s working if attendance stays high and people use what they learn.</a:t>
            </a:r>
          </a:p>
          <a:p>
            <a:r>
              <a:t>B: Good. Please draft a schedule, and I’ll announce it.</a:t>
            </a:r>
          </a:p>
          <a:p>
            <a:r>
              <a:t>A: Thank you. I’ll have a draft by Tuesday.</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47 | </a:t>
            </a:r>
          </a:p>
          <a:p>
            <a:r>
              <a:t>Situation | You propose a learning activity.</a:t>
            </a:r>
          </a:p>
          <a:p>
            <a:r>
              <a:t>Your role (A) | Team member. Your idea: ______________</a:t>
            </a:r>
          </a:p>
          <a:p>
            <a:r>
              <a:t>Partner’s role (B) | Manager. Open but concerned about time and benefit.</a:t>
            </a:r>
          </a:p>
          <a:p>
            <a:r>
              <a:t>Must use (4 or more) | learn from each other · learn the ropes · rotate · trial · measure · knowledge sharing</a:t>
            </a:r>
          </a:p>
          <a:p>
            <a:r>
              <a:t>Goal | Present the idea, answer a concern and agree a trial.</a:t>
            </a:r>
          </a:p>
          <a:p>
            <a:r>
              <a:t>My notes | ____________________________________________</a:t>
            </a:r>
          </a:p>
          <a:p>
            <a:r>
              <a:t>Ms Shaw says: “People are too busy.” Respond.</a:t>
            </a:r>
          </a:p>
          <a:p>
            <a:r>
              <a:t>Describe the most valuable thing you learned this year.</a:t>
            </a:r>
          </a:p>
          <a:p>
            <a:r>
              <a:t>Suggest a way to learn from a mistake without blaming anyone.</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do you prefer to learn at work? | “I learn best by… / I prefer… because…”</a:t>
            </a:r>
          </a:p>
          <a:p>
            <a:r>
              <a:t>2. Whose responsibility is it to train employees? | “It’s a shared responsibility… Employers should… while employees…”</a:t>
            </a:r>
          </a:p>
          <a:p>
            <a:r>
              <a:t>3. How can a company make people comfortable admitting mistakes? | “Leaders should… / They could hold blame-free reviews.”</a:t>
            </a:r>
          </a:p>
          <a:p>
            <a:r>
              <a:t>4. What skills do you want to learn next year? | “I’d like to improve my… / I’m planning to…”</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“Training is a shared responsibility. Employers should provide time, budget and opportunities, because well-trained staff are good for the business. But employees should also take initiative: identify what they need to learn, ask for support and apply new skills. If either side expects the other to do everything, development stalls. The most effective approach is a regular conversation between manager and employee about goals.”</a:t>
            </a:r>
          </a:p>
          <a:p>
            <a:r>
              <a:t>take initiative = 主动。 stalls = 停滞。apply = 应用。”a shared responsibility” = 共同责任。</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 want to study. | I’d like to develop my skills in data analysis. | 具体</a:t>
            </a:r>
          </a:p>
          <a:p>
            <a:r>
              <a:t>He has no experience. | He’s still learning the ropes. | 习语</a:t>
            </a:r>
          </a:p>
          <a:p>
            <a:r>
              <a:t>We don’t know how. | There’s a skills gap in the team. | 术语</a:t>
            </a:r>
          </a:p>
          <a:p>
            <a:r>
              <a:t>We study from errors. | We learn from our mistakes. | 搭配</a:t>
            </a:r>
          </a:p>
          <a:p>
            <a:r>
              <a:t>We must follow new things. | We must keep up with new developments. | 搭配</a:t>
            </a:r>
          </a:p>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Purpose: to + verb, in order to + verb, so that + clause: “We hold sessions so that people can share ideas.”</a:t>
            </a:r>
          </a:p>
          <a:p>
            <a:r>
              <a:t>Present perfect: “I’ve learned a lot from this project.” (relevant now)</a:t>
            </a:r>
          </a:p>
          <a:p>
            <a:r>
              <a:t>Verbs + infinitive: plan to, hope to, aim to, intend to, would like to.</a:t>
            </a:r>
          </a:p>
          <a:p>
            <a:r>
              <a:t>Making suggestions: Why don’t we…? How about…? We could…</a:t>
            </a:r>
          </a:p>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will take a training in Excel.  →  ✓ I will take a training course in Excel.  (training 不可数)</a:t>
            </a:r>
          </a:p>
          <a:p>
            <a:r>
              <a:t>✗ I want to study the new skill.  →  ✓ I want to learn the new skill.  (learn/study)</a:t>
            </a:r>
          </a:p>
          <a:p>
            <a:r>
              <a:t>✗ We learned from the mistake.  →  ✓ We learned from our mistakes.  (复数泛指)</a:t>
            </a:r>
          </a:p>
          <a:p>
            <a:r>
              <a:t>Mistake Watch: Check irregular past (taught), uncountable training, and know how to.</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She teached me.  →  ✓ She taught me.  (过去式)</a:t>
            </a:r>
          </a:p>
          <a:p>
            <a:r>
              <a:t>✗ Learning are important.  →  ✓ Learning is important.  (动名词作主语)</a:t>
            </a:r>
          </a:p>
          <a:p>
            <a:r>
              <a:t>✗ He knows to use Excel.  →  ✓ He knows how to use Excel.  (know how to)</a:t>
            </a:r>
          </a:p>
          <a:p>
            <a:r>
              <a:t>Mistake Watch: Check irregular past (taught), uncountable training, and know how to.</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Admitting mistakes: Blame-free reviews are common in tech companies; in some cultures, public admission is uncomfortable. Start in private.</a:t>
            </a:r>
          </a:p>
          <a:p>
            <a:r>
              <a:t>Training budgets: Many companies offer a yearly learning allowance. Ask your manager.</a:t>
            </a:r>
          </a:p>
          <a:p>
            <a:r>
              <a:t>Certification: Professional certificates are valued, but practical experience counts at least as much.</a:t>
            </a:r>
          </a:p>
          <a:p>
            <a:r>
              <a:t>training 不可数:a training course。know how to do sth。teach/taught/taught,learn/learned(美 learned,英 learnt 也可以)。</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propose a learning plan.</a:t>
            </a:r>
          </a:p>
          <a:p>
            <a:r>
              <a:t>I can describe preferences and responsibilities for learning.</a:t>
            </a:r>
          </a:p>
          <a:p>
            <a:r>
              <a:t>I can use purpose clauses (to, so that).</a:t>
            </a:r>
          </a:p>
          <a:p>
            <a:r>
              <a:t>I can use know how to and uncountable training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purpose clauses, know how to, and uncountable training.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48 · Managing a Training Budget 管理培训预算</a:t>
            </a:r>
          </a:p>
          <a:p>
            <a:r>
              <a:t>Goal: talk about managing a training budget: priorities, cost-benefit, comparing providers and justifying spending.</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budget = 预算,可作名词也可作动词。return on investment (ROI) = 投资回报率。第 4 题用第二条件句。</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Justify a training expense to a finance manager.</a:t>
            </a:r>
          </a:p>
          <a:p>
            <a:r>
              <a:t>Say: need → option → cost → benefit → measurement</a:t>
            </a:r>
          </a:p>
          <a:p>
            <a:r>
              <a:t>Useful starters: “The training would cost…” / “We expect it to save…” / “We’d measure the impact by…”</a:t>
            </a:r>
          </a:p>
          <a:p>
            <a:r>
              <a:t>The training would cost… 用 would 表示假设。We expect it to save… 说明预期。impact = 影响。</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When money is tight, training is often among the first budgets to be cut, yet it can be the best investment a company makes. The challenge is to spend wisely. Start by identifying real needs: which skills will the business require, and where are the gaps? Compare options, including in-house workshops, external courses, online platforms and coaching. Cheaper is not always better if nobody finishes the course. Decide in advance how you will measure results, for example by tracking productivity, customer satisfaction or error rates, and ask participants to share what they learned with colleagues. Sharing multiplies the value of each place. Also negotiate: providers often give discounts for group bookings. Finally, be transparent. When employees understand how decisions are made, they trust the process and take training more seriously.</a:t>
            </a:r>
          </a:p>
          <a:p>
            <a:r>
              <a:t>in-house = 内部的。transparent = 透明的。”multiply” = 成倍增加。cut = 削减。</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is training often cut?</a:t>
            </a:r>
          </a:p>
          <a:p>
            <a:r>
              <a:t>A: Because money is tight and it is seen as an easy budget to reduce.</a:t>
            </a:r>
          </a:p>
          <a:p>
            <a:r>
              <a:t>Q2. How should results be measured?</a:t>
            </a:r>
          </a:p>
          <a:p>
            <a:r>
              <a:t>A: By tracking productivity, customer satisfaction or error rates.</a:t>
            </a:r>
          </a:p>
          <a:p>
            <a:r>
              <a:t>Q3. How can sharing add value?</a:t>
            </a:r>
          </a:p>
          <a:p>
            <a:r>
              <a:t>A: Participants share what they learned, multiplying the value of each place.</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Budget and spending 预算与支出</a:t>
            </a:r>
          </a:p>
          <a:p>
            <a:r>
              <a:t>领读 → 学员跟读 → 请学员用表达造一个和自己工作相关的句子。</a:t>
            </a:r>
          </a:p>
          <a:p>
            <a:r>
              <a:t>training budget (noun phrase) 培训预算 — “The training budget is limited.”</a:t>
            </a:r>
          </a:p>
          <a:p>
            <a:r>
              <a:t>cost-effective (adjective) 成本效益高的 — “Online courses are cost-effective.”</a:t>
            </a:r>
          </a:p>
          <a:p>
            <a:r>
              <a:t>return on investment (ROI) (noun) 投资回报 — “The ROI of training is hard to measure.”</a:t>
            </a:r>
          </a:p>
          <a:p>
            <a:r>
              <a:t>allocate (verb) 分配 — “We allocated £10,000 to training.”</a:t>
            </a:r>
          </a:p>
          <a:p>
            <a:r>
              <a:t>in-house / external (adjective) 内部 / 外部 — “In-house training is cheaper.”</a:t>
            </a:r>
          </a:p>
          <a:p>
            <a:r>
              <a:t>provider (noun) 供应商 — “We compared three providers.”</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Making the case ★ 论证支出</a:t>
            </a:r>
          </a:p>
          <a:p>
            <a:r>
              <a:t>领读 → 学员跟读 → 请学员用表达造一个和自己工作相关的句子。</a:t>
            </a:r>
          </a:p>
          <a:p>
            <a:r>
              <a:t>★ tighten the belt (idiom) 缩减开支 — “We have to tighten our belts.”</a:t>
            </a:r>
          </a:p>
          <a:p>
            <a:r>
              <a:t>★ get value for money (collocation) 物有所值 — “We want to get value for money.”</a:t>
            </a:r>
          </a:p>
          <a:p>
            <a:r>
              <a:t>★ justify the cost (collocation) 说明成本合理 — “We must justify the cost.”</a:t>
            </a:r>
          </a:p>
          <a:p>
            <a:r>
              <a:t>★ cut back on (phrasal verb) 削减 — “We cut back on travel.”</a:t>
            </a:r>
          </a:p>
          <a:p>
            <a:r>
              <a:t>★ pay for itself (idiom) 回本 — “The course will pay for itself within a year.”</a:t>
            </a:r>
          </a:p>
          <a:p>
            <a:r>
              <a:t>★ break down (costs) (phrasal verb) 分项列出 — “Can you break down the costs?”</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cost-effective / return on investment / allocate / In-house / pay for itself / break down</a:t>
            </a:r>
          </a:p>
          <a:p>
            <a:r>
              <a:t>1. Online workshops can be very _______. → cost-effective</a:t>
            </a:r>
          </a:p>
          <a:p>
            <a:r>
              <a:t>2. We need to prove the _______ of the programme. → return on investment</a:t>
            </a:r>
          </a:p>
          <a:p>
            <a:r>
              <a:t>3. We decided to _______ more money to leadership training. → allocate</a:t>
            </a:r>
          </a:p>
          <a:p>
            <a:r>
              <a:t>4. _______ training is cheaper than sending people to an external course. → In-house</a:t>
            </a:r>
          </a:p>
          <a:p>
            <a:r>
              <a:t>5. The course should _______ within a year. → pay for itself</a:t>
            </a:r>
          </a:p>
          <a:p>
            <a:r>
              <a:t>6. Could you _______ the costs for me by category? → break down</a:t>
            </a:r>
          </a:p>
          <a:p>
            <a:r>
              <a:t>Mistake Watch (拼写与搭配): budget (not “buget”), expense/expenses, allocate (double l, single c: allocate). Within / over / under budget, on a tight budget. Cut / reduce costs (not “decrease costs”). Value for money (not “value of money”).</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Justifying a training expense 说明培训支出的合理性</a:t>
            </a:r>
          </a:p>
          <a:p>
            <a:r>
              <a:t>情景：You ask the finance manager, Mr Chu, to approve a £4,000 leadership course for six team leaders.</a:t>
            </a:r>
          </a:p>
          <a:p>
            <a:r>
              <a:t>Role A: Gina Lee, HR manager (you) Role B: Mr Chu, finance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(Gina): Mr Chu, thanks for seeing me. I’d like to talk about the leadership course proposal.</a:t>
            </a:r>
          </a:p>
          <a:p>
            <a:r>
              <a:t>B (Mr Chu): Yes, I’ve seen it. Four thousand pounds is quite a lot. Can you break it down?</a:t>
            </a:r>
          </a:p>
          <a:p>
            <a:r>
              <a:t>A: It’s six places at £600 each, plus £400 for materials.</a:t>
            </a:r>
          </a:p>
          <a:p>
            <a:r>
              <a:t>B: Why not run it in-house to save money?</a:t>
            </a:r>
          </a:p>
          <a:p>
            <a:r>
              <a:t>A: We looked at that, but we don’t have anyone with the right expertise. The external provider has a good track record.</a:t>
            </a:r>
          </a:p>
          <a:p>
            <a:r>
              <a:t>B: What’s the expected return?</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Our team leaders have the highest turnover. If the training reduces just two resignations, it would pay for itself.</a:t>
            </a:r>
          </a:p>
          <a:p>
            <a:r>
              <a:t>B: That’s a fair argument. How will you measure the impact?</a:t>
            </a:r>
          </a:p>
          <a:p>
            <a:r>
              <a:t>A: By tracking engagement scores and retention over the next twelve months.</a:t>
            </a:r>
          </a:p>
          <a:p>
            <a:r>
              <a:t>B: Could you negotiate a discount for six people?</a:t>
            </a:r>
          </a:p>
          <a:p>
            <a:r>
              <a:t>A: I’ll ask. I think we can get ten per cent off.</a:t>
            </a:r>
          </a:p>
          <a:p>
            <a:r>
              <a:t>B: Then I’m happy to approve it, subject to the discount.</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48 | </a:t>
            </a:r>
          </a:p>
          <a:p>
            <a:r>
              <a:t>Situation | You justify an expense.</a:t>
            </a:r>
          </a:p>
          <a:p>
            <a:r>
              <a:t>Your role (A) | HR manager. Training: ______________ Cost: ______________</a:t>
            </a:r>
          </a:p>
          <a:p>
            <a:r>
              <a:t>Partner’s role (B) | Finance manager. Question the cost and ask about benefits.</a:t>
            </a:r>
          </a:p>
          <a:p>
            <a:r>
              <a:t>Must use (4 or more) | break down · cost-effective · pay for itself · return on investment · discount · measure the impact</a:t>
            </a:r>
          </a:p>
          <a:p>
            <a:r>
              <a:t>Goal | Explain the cost, the benefit and how you’ll measure it.</a:t>
            </a:r>
          </a:p>
          <a:p>
            <a:r>
              <a:t>My notes | ____________________________________________</a:t>
            </a:r>
          </a:p>
          <a:p>
            <a:r>
              <a:t>Mr Chu says: “We must cut back everywhere.” Respond.</a:t>
            </a:r>
          </a:p>
          <a:p>
            <a:r>
              <a:t>Compare in-house and external training in 45 seconds.</a:t>
            </a:r>
          </a:p>
          <a:p>
            <a:r>
              <a:t>Write an email asking a provider for a group discount.</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training a cost or an investment? | “I’d say it’s an investment because…”</a:t>
            </a:r>
          </a:p>
          <a:p>
            <a:r>
              <a:t>2. How can you tell whether training was worth the money? | “You could look at… / It’s helpful to track…”</a:t>
            </a:r>
          </a:p>
          <a:p>
            <a:r>
              <a:t>3. Should employees repay training costs if they leave? | “That could be fair if… / It might discourage…”</a:t>
            </a:r>
          </a:p>
          <a:p>
            <a:r>
              <a:t>4. Which is better: online or face-to-face training? | “Online is more… while face-to-face…”</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“Employees repaying training costs when they leave early can be fair if the training was expensive and the contract is clear. It protects the company’s investment. But it can also feel like a trap, and it may stop people from asking for training. A reasonable compromise would be a short repayment period, reducing over time, and only for major qualifications.”</a:t>
            </a:r>
          </a:p>
          <a:p>
            <a:r>
              <a:t>repay = 偿还。trap = 陷阱。”reducing over time” = 随时间递减。qualification = 资格证书。</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The course is expensive. | The course is quite pricey. / It’s a significant cost. | 更丰富</a:t>
            </a:r>
          </a:p>
          <a:p>
            <a:r>
              <a:t>We have no money. | Our budget is tight this year. | 地道</a:t>
            </a:r>
          </a:p>
          <a:p>
            <a:r>
              <a:t>It’s cheap. | It’s good value for money. | 强调价值</a:t>
            </a:r>
          </a:p>
          <a:p>
            <a:r>
              <a:t>We need money for training. | We need to allocate funds for training. | 正式</a:t>
            </a:r>
          </a:p>
          <a:p>
            <a:r>
              <a:t>It is worth it. | It will pay for itself. | 习语</a:t>
            </a:r>
          </a:p>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Conditionals: If we train them, they will perform better. (real) / If we had more money, we would hire a coach. (unreal)</a:t>
            </a:r>
          </a:p>
          <a:p>
            <a:r>
              <a:t>Figures: £4,000 = “four thousand pounds”; 10% = “ten per cent” (US “percent”).</a:t>
            </a:r>
          </a:p>
          <a:p>
            <a:r>
              <a:t>Quantifying: roughly, approximately, around, just over, just under.</a:t>
            </a:r>
          </a:p>
          <a:p>
            <a:r>
              <a:t>Making a case: The main reason is… / Another benefit is… / In the long run…</a:t>
            </a:r>
          </a:p>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price is very high.  →  ✓ The cost is high. / It’s expensive.  (price/cost)</a:t>
            </a:r>
          </a:p>
          <a:p>
            <a:r>
              <a:t>✗ We spent money for training.  →  ✓ We spent money on training.  (spend on)</a:t>
            </a:r>
          </a:p>
          <a:p>
            <a:r>
              <a:t>✗ It costs us 4000 pound.  →  ✓ It costs us £4,000.  (数字格式)</a:t>
            </a:r>
          </a:p>
          <a:p>
            <a:r>
              <a:t>Mistake Watch: Check spend on, number format, and adjective forms (limited).</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budget is limit.  →  ✓ The budget is limited.  (形容词)</a:t>
            </a:r>
          </a:p>
          <a:p>
            <a:r>
              <a:t>✗ We have less money than last year’s.  →  ✓ We have less money than last year.  (比较结构)</a:t>
            </a:r>
          </a:p>
          <a:p>
            <a:r>
              <a:t>✗ Discount for six people please.  →  ✓ Could we get a discount for six people?  (礼貌)</a:t>
            </a:r>
          </a:p>
          <a:p>
            <a:r>
              <a:t>Mistake Watch: Check spend on, number format, and adjective forms (limited).</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Money talk: British English uses “pounds”; US uses dollars. Say “ten pounds” not “ten pound”.</a:t>
            </a:r>
          </a:p>
          <a:p>
            <a:r>
              <a:t>Approval: Finance teams usually want numbers and a clear benefit. Prepare figures before the meeting.</a:t>
            </a:r>
          </a:p>
          <a:p>
            <a:r>
              <a:t>Clawback clauses: In some countries employees must repay training costs if they leave within a set period. Check your contract.</a:t>
            </a:r>
          </a:p>
          <a:p>
            <a:r>
              <a:t>spend money on 而不是 for。金额写 £4,000,读 four thousand pounds。price 指标价,cost 指代价;form 要用 limited 形容词。</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justify a training expense with figures.</a:t>
            </a:r>
          </a:p>
          <a:p>
            <a:r>
              <a:t>I can compare in-house and external options.</a:t>
            </a:r>
          </a:p>
          <a:p>
            <a:r>
              <a:t>I can use conditionals to argue a case.</a:t>
            </a:r>
          </a:p>
          <a:p>
            <a:r>
              <a:t>I can use spend on and say amounts of money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spend on, saying amounts, and first/second conditional.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49 · Project Management Meetings 项目管理会议</a:t>
            </a:r>
          </a:p>
          <a:p>
            <a:r>
              <a:t>Goal: run and take part in project meetings: setting an agenda, progress updates, assigning actions, chairing discussion and summarising decisions.</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chair a meeting = 主持会议。agenda = 议程,minutes = 会议纪要。action items = 待办事项。</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Chair a short project meeting and assign actions.</a:t>
            </a:r>
          </a:p>
          <a:p>
            <a:r>
              <a:t>Say: open → review agenda → updates → decisions → actions → close</a:t>
            </a:r>
          </a:p>
          <a:p>
            <a:r>
              <a:t>Useful starters: “Let’s get started.” / “Moving on to the next item…” / “To sum up, we’ve agreed that…”</a:t>
            </a:r>
          </a:p>
          <a:p>
            <a:r>
              <a:t>Let’s get started = 我们开始吧。Moving on = 下一项。To sum up = 总结。每个行动项要有负责人和日期。</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 project meeting should do one of three things: share information, solve a problem or make a decision. If it does none of these, it probably should have been an email. Effective meetings begin with a short agenda sent in advance and a clear end time. The chair opens by stating the purpose, keeps discussion focused and politely stops side conversations. Each participant gives a brief update: what is done, what is next and what is blocking progress. Problems are noted and, when they need longer discussion, taken offline. The chair closes by summarising decisions and assigning actions with names and deadlines. A short written summary follows within a day. Without this follow-up, even a lively meeting can fail to produce results.</a:t>
            </a:r>
          </a:p>
          <a:p>
            <a:r>
              <a:t>side conversation = 私下聊天。blocking = 阻碍。take offline = 会后另行讨论。lively = 热烈的。</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should a project meeting do?</a:t>
            </a:r>
          </a:p>
          <a:p>
            <a:r>
              <a:t>A: Share information, solve a problem or make a decision.</a:t>
            </a:r>
          </a:p>
          <a:p>
            <a:r>
              <a:t>Q2. What should each participant’s update include?</a:t>
            </a:r>
          </a:p>
          <a:p>
            <a:r>
              <a:t>A: What is done, what is next and what is blocking progress.</a:t>
            </a:r>
          </a:p>
          <a:p>
            <a:r>
              <a:t>Q3. Why is a written follow-up important?</a:t>
            </a:r>
          </a:p>
          <a:p>
            <a:r>
              <a:t>A: Without it, even a lively meeting may not produce results.</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Running a meeting 主持会议</a:t>
            </a:r>
          </a:p>
          <a:p>
            <a:r>
              <a:t>领读 → 学员跟读 → 请学员用表达造一个和自己工作相关的句子。</a:t>
            </a:r>
          </a:p>
          <a:p>
            <a:r>
              <a:t>agenda (noun) 议程 — “Please check the agenda.”</a:t>
            </a:r>
          </a:p>
          <a:p>
            <a:r>
              <a:t>minutes (noun (plural)) 会议纪要 — “Who will take the minutes?”</a:t>
            </a:r>
          </a:p>
          <a:p>
            <a:r>
              <a:t>action item (noun) 待办事项 — “The action items are on the slide.”</a:t>
            </a:r>
          </a:p>
          <a:p>
            <a:r>
              <a:t>chair (verb / noun) 主持 / 主席 — “I’ll chair today’s meeting.”</a:t>
            </a:r>
          </a:p>
          <a:p>
            <a:r>
              <a:t>update (noun / verb) 更新 / 汇报 — “Can you give us an update?”</a:t>
            </a:r>
          </a:p>
          <a:p>
            <a:r>
              <a:t>attendee (noun) 与会者 — “There were ten attendees.”</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Moving the meeting along ★ 推进会议</a:t>
            </a:r>
          </a:p>
          <a:p>
            <a:r>
              <a:t>领读 → 学员跟读 → 请学员用表达造一个和自己工作相关的句子。</a:t>
            </a:r>
          </a:p>
          <a:p>
            <a:r>
              <a:t>★ take it offline (phrase) 会后单独讨论 — “Let’s take it offline.”</a:t>
            </a:r>
          </a:p>
          <a:p>
            <a:r>
              <a:t>★ go around the table (phrase) 轮流发言 — “Let’s go around the table.”</a:t>
            </a:r>
          </a:p>
          <a:p>
            <a:r>
              <a:t>★ park it (informal) 暂时搁置 — “Let’s park that for now.”</a:t>
            </a:r>
          </a:p>
          <a:p>
            <a:r>
              <a:t>★ circle back (phrasal verb) 稍后再议 — “We’ll circle back to this next week.”</a:t>
            </a:r>
          </a:p>
          <a:p>
            <a:r>
              <a:t>★ get everyone on the same page (idiom) 达成共识 — “Let’s get everyone on the same page.”</a:t>
            </a:r>
          </a:p>
          <a:p>
            <a:r>
              <a:t>★ wrap up (phrasal verb) 结束 — “Let’s wrap up with actions.”</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agenda / minutes / action item / chair / take it offline / park</a:t>
            </a:r>
          </a:p>
          <a:p>
            <a:r>
              <a:t>1. Please read the _______ before the meeting. → agenda</a:t>
            </a:r>
          </a:p>
          <a:p>
            <a:r>
              <a:t>2. Who will take the _______? → minutes</a:t>
            </a:r>
          </a:p>
          <a:p>
            <a:r>
              <a:t>3. Each _______ has an owner and a deadline. → action item</a:t>
            </a:r>
          </a:p>
          <a:p>
            <a:r>
              <a:t>4. Mei will _______ the meeting today. → chair</a:t>
            </a:r>
          </a:p>
          <a:p>
            <a:r>
              <a:t>5. That’s a big topic. Let’s _______ after the meeting. → take it offline</a:t>
            </a:r>
          </a:p>
          <a:p>
            <a:r>
              <a:t>6. Let’s _______ that for now and come back to it. → park</a:t>
            </a:r>
          </a:p>
          <a:p>
            <a:r>
              <a:t>Mistake Watch (拼写与搭配): minutes (always plural: “the minutes are”), agenda (singular), attendees. Hold / have a meeting, chair a meeting, in a meeting, at a meeting (both). Take the minutes (not “write”). Discuss the plan (no “about”).</a:t>
            </a:r>
          </a:p>
        </p:txBody>
      </p:sp>
      <p:sp>
        <p:nvSpPr>
          <p:cNvPr id="4" name="Slide Number Placeholder 3"/>
          <p:cNvSpPr>
            <a:spLocks noGrp="1"/>
          </p:cNvSpPr>
          <p:nvPr>
            <p:ph type="sldNum" idx="5" sz="quarter"/>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Chairing a project meeting 主持项目会议</a:t>
            </a:r>
          </a:p>
          <a:p>
            <a:r>
              <a:t>情景：You chair the weekly project meeting with three team members.</a:t>
            </a:r>
          </a:p>
          <a:p>
            <a:r>
              <a:t>Role A: Joy Mak, project manager (you) Role B: Team members: Alex, Bo and Chen</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(Joy): Right, let’s get started. Thanks for joining. We have thirty minutes and three items: progress, risks and actions.</a:t>
            </a:r>
          </a:p>
          <a:p>
            <a:r>
              <a:t>B (Alex): Fine by me.</a:t>
            </a:r>
          </a:p>
          <a:p>
            <a:r>
              <a:t>A: Alex, could you start with progress on the design?</a:t>
            </a:r>
          </a:p>
          <a:p>
            <a:r>
              <a:t>B: Sure. The first draft is complete. Next, I’ll review it with the client. There’s nothing blocking me right now.</a:t>
            </a:r>
          </a:p>
          <a:p>
            <a:r>
              <a:t>A: Great. Bo?</a:t>
            </a:r>
          </a:p>
        </p:txBody>
      </p:sp>
      <p:sp>
        <p:nvSpPr>
          <p:cNvPr id="4" name="Slide Number Placeholder 3"/>
          <p:cNvSpPr>
            <a:spLocks noGrp="1"/>
          </p:cNvSpPr>
          <p:nvPr>
            <p:ph type="sldNum" idx="5" sz="quarter"/>
          </p:nvPr>
        </p:nvSpPr>
        <p:spPr/>
      </p:sp>
    </p:spTree>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Testing is two days behind because of the software update. I’ll need extra help on Thursday.</a:t>
            </a:r>
          </a:p>
          <a:p>
            <a:r>
              <a:t>A: Okay. Let’s park the resourcing question and come back to it in a moment. Chen, any risks?</a:t>
            </a:r>
          </a:p>
          <a:p>
            <a:r>
              <a:t>B: One. The supplier may be late with samples.</a:t>
            </a:r>
          </a:p>
          <a:p>
            <a:r>
              <a:t>A: That’s worth discussing, but let’s take it offline with Chen and me. Moving on to actions.</a:t>
            </a:r>
          </a:p>
          <a:p>
            <a:r>
              <a:t>B: Can we agree who sends the client update?</a:t>
            </a:r>
          </a:p>
        </p:txBody>
      </p:sp>
      <p:sp>
        <p:nvSpPr>
          <p:cNvPr id="4" name="Slide Number Placeholder 3"/>
          <p:cNvSpPr>
            <a:spLocks noGrp="1"/>
          </p:cNvSpPr>
          <p:nvPr>
            <p:ph type="sldNum" idx="5" sz="quarter"/>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Alex, you’re doing it by Friday. Bo, you’ll book the extra tester today. To sum up, the design is on track and testing is slightly behind.</a:t>
            </a:r>
          </a:p>
          <a:p>
            <a:r>
              <a:t>B: That’s clear.</a:t>
            </a:r>
          </a:p>
          <a:p>
            <a:r>
              <a:t>A: Thanks, everyone. I’ll send the minutes this afternoon.</a:t>
            </a:r>
          </a:p>
        </p:txBody>
      </p:sp>
      <p:sp>
        <p:nvSpPr>
          <p:cNvPr id="4" name="Slide Number Placeholder 3"/>
          <p:cNvSpPr>
            <a:spLocks noGrp="1"/>
          </p:cNvSpPr>
          <p:nvPr>
            <p:ph type="sldNum" idx="5" sz="quarter"/>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49 | </a:t>
            </a:r>
          </a:p>
          <a:p>
            <a:r>
              <a:t>Situation | You chair a short project meeting.</a:t>
            </a:r>
          </a:p>
          <a:p>
            <a:r>
              <a:t>Your role (A) | Chair. Agenda items: ______________</a:t>
            </a:r>
          </a:p>
          <a:p>
            <a:r>
              <a:t>Partner’s role (B) | Participants. Give updates and raise one issue.</a:t>
            </a:r>
          </a:p>
          <a:p>
            <a:r>
              <a:t>Must use (4 or more) | let’s get started · moving on · take it offline · action item · to sum up · I’ll send the minutes</a:t>
            </a:r>
          </a:p>
          <a:p>
            <a:r>
              <a:t>Goal | Run the agenda, assign actions and summarise.</a:t>
            </a:r>
          </a:p>
          <a:p>
            <a:r>
              <a:t>My notes | ____________________________________________</a:t>
            </a:r>
          </a:p>
          <a:p>
            <a:r>
              <a:t>A participant goes off topic. Bring them back politely.</a:t>
            </a:r>
          </a:p>
          <a:p>
            <a:r>
              <a:t>Two people talk at the same time. Manage it.</a:t>
            </a:r>
          </a:p>
          <a:p>
            <a:r>
              <a:t>Write the summary of decisions in three bullet points.</a:t>
            </a:r>
          </a:p>
        </p:txBody>
      </p:sp>
      <p:sp>
        <p:nvSpPr>
          <p:cNvPr id="4" name="Slide Number Placeholder 3"/>
          <p:cNvSpPr>
            <a:spLocks noGrp="1"/>
          </p:cNvSpPr>
          <p:nvPr>
            <p:ph type="sldNum" idx="5" sz="quarter"/>
          </p:nvPr>
        </p:nvSpPr>
        <p:spPr/>
      </p:sp>
    </p:spTree>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makes a meeting effective? | “An effective meeting has… / It’s important to…”</a:t>
            </a:r>
          </a:p>
          <a:p>
            <a:r>
              <a:t>2. Are there too many meetings in modern workplaces? | “In my experience, yes, because… / Many could be emails…”</a:t>
            </a:r>
          </a:p>
          <a:p>
            <a:r>
              <a:t>3. What should a chairperson do and not do? | “A chair should… but shouldn’t…”</a:t>
            </a:r>
          </a:p>
          <a:p>
            <a:r>
              <a:t>4. Do online meetings work as well as face-to-face ones? | “They’re more convenient, but…”</a:t>
            </a:r>
          </a:p>
        </p:txBody>
      </p:sp>
      <p:sp>
        <p:nvSpPr>
          <p:cNvPr id="4" name="Slide Number Placeholder 3"/>
          <p:cNvSpPr>
            <a:spLocks noGrp="1"/>
          </p:cNvSpPr>
          <p:nvPr>
            <p:ph type="sldNum" idx="5" sz="quarter"/>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“In my experience, many workplaces do have too many meetings, especially regular status meetings where people simply read out information that could be sent in writing. I think the solution is to ask three questions before scheduling one: what’s the purpose, who really needs to be there and could it be an email? Shorter, more focused meetings would also free up time for actual work.”</a:t>
            </a:r>
          </a:p>
          <a:p>
            <a:r>
              <a:t>status meeting = 例行进度会。”read out” = 念出。free up = 腾出。”actual work” = 真正的工作。</a:t>
            </a:r>
          </a:p>
        </p:txBody>
      </p:sp>
      <p:sp>
        <p:nvSpPr>
          <p:cNvPr id="4" name="Slide Number Placeholder 3"/>
          <p:cNvSpPr>
            <a:spLocks noGrp="1"/>
          </p:cNvSpPr>
          <p:nvPr>
            <p:ph type="sldNum" idx="5" sz="quarter"/>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Let’s begin. | Let’s get started. | 常用</a:t>
            </a:r>
          </a:p>
          <a:p>
            <a:r>
              <a:t>Stop talking about that. | Let’s park that for now. | 委婉</a:t>
            </a:r>
          </a:p>
          <a:p>
            <a:r>
              <a:t>What’s the progress? | Could you give us a quick update? | 礼貌</a:t>
            </a:r>
          </a:p>
          <a:p>
            <a:r>
              <a:t>Who does it? | Who’s going to take that on? | 分配</a:t>
            </a:r>
          </a:p>
          <a:p>
            <a:r>
              <a:t>The meeting is finished. | Let’s wrap up. | 结束</a:t>
            </a:r>
          </a:p>
          <a:p/>
        </p:txBody>
      </p:sp>
      <p:sp>
        <p:nvSpPr>
          <p:cNvPr id="4" name="Slide Number Placeholder 3"/>
          <p:cNvSpPr>
            <a:spLocks noGrp="1"/>
          </p:cNvSpPr>
          <p:nvPr>
            <p:ph type="sldNum" idx="5" sz="quarter"/>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Sequencing: first, next, then, finally; moving on to; before we close.</a:t>
            </a:r>
          </a:p>
          <a:p>
            <a:r>
              <a:t>Delegating in meetings: Could you take that on? / Would you be able to…? / Can I put you down for…?</a:t>
            </a:r>
          </a:p>
          <a:p>
            <a:r>
              <a:t>Summarising: To sum up, / So we’ve agreed that… / The next steps are…</a:t>
            </a:r>
          </a:p>
          <a:p>
            <a:r>
              <a:t>Interrupting politely: Sorry to interrupt, but… / Can I just add something?</a:t>
            </a:r>
          </a:p>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meeting is hold on Monday.  →  ✓ The meeting is being held / will be held on Monday.  (被动)</a:t>
            </a:r>
          </a:p>
          <a:p>
            <a:r>
              <a:t>✗ We discuss about the budget.  →  ✓ We will discuss the budget.  (discuss 无介词)</a:t>
            </a:r>
          </a:p>
          <a:p>
            <a:r>
              <a:t>✗ Let’s start the meeting at 9 o’clock.  →  ✓ Let’s start the meeting at nine.  (更自然)</a:t>
            </a:r>
          </a:p>
          <a:p>
            <a:r>
              <a:t>Mistake Watch: Check passive in is held, suggest + -ing, and articles with update.</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Who will take notes of the meeting?  →  ✓ Who will take the minutes?  (take the minutes)</a:t>
            </a:r>
          </a:p>
          <a:p>
            <a:r>
              <a:t>✗ I suggest to move on.  →  ✓ I suggest moving on. / I suggest that we move on.  (suggest + -ing)</a:t>
            </a:r>
          </a:p>
          <a:p>
            <a:r>
              <a:t>✗ He asked me for update.  →  ✓ He asked me for an update.  (冠词)</a:t>
            </a:r>
          </a:p>
          <a:p>
            <a:r>
              <a:t>Mistake Watch: Check passive in is held, suggest + -ing, and articles with update.</a:t>
            </a:r>
          </a:p>
        </p:txBody>
      </p:sp>
      <p:sp>
        <p:nvSpPr>
          <p:cNvPr id="4" name="Slide Number Placeholder 3"/>
          <p:cNvSpPr>
            <a:spLocks noGrp="1"/>
          </p:cNvSpPr>
          <p:nvPr>
            <p:ph type="sldNum" idx="5" sz="quarter"/>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Time: In the UK/US, starting on time is expected. Arriving late is often seen as disrespect.</a:t>
            </a:r>
          </a:p>
          <a:p>
            <a:r>
              <a:t>Silence in meetings: Not speaking can be interpreted as agreement. Say what you think.</a:t>
            </a:r>
          </a:p>
          <a:p>
            <a:r>
              <a:t>Online meetings: Mute when not speaking; use “raise hand” function; avoid multitasking.</a:t>
            </a:r>
          </a:p>
          <a:p>
            <a:r>
              <a:t>discuss 不加 about;suggest 后接 -ing 或 that 从句,不接 to do;minutes 总是复数,take the minutes。</a:t>
            </a:r>
          </a:p>
        </p:txBody>
      </p:sp>
      <p:sp>
        <p:nvSpPr>
          <p:cNvPr id="4" name="Slide Number Placeholder 3"/>
          <p:cNvSpPr>
            <a:spLocks noGrp="1"/>
          </p:cNvSpPr>
          <p:nvPr>
            <p:ph type="sldNum" idx="5" sz="quarter"/>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chair a meeting and assign actions.</a:t>
            </a:r>
          </a:p>
          <a:p>
            <a:r>
              <a:t>I can give a brief update.</a:t>
            </a:r>
          </a:p>
          <a:p>
            <a:r>
              <a:t>I can interrupt and redirect politely.</a:t>
            </a:r>
          </a:p>
          <a:p>
            <a:r>
              <a:t>I can use discuss and suggest with correct patterns.</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discuss without about, suggest + -ing, and the passive with hold a meeting.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50 · Project Management Methodologies 项目管理方法</a:t>
            </a:r>
          </a:p>
          <a:p>
            <a:r>
              <a:t>Goal: compare project management approaches such as waterfall and agile, and explain which fits which type of project.</a:t>
            </a:r>
          </a:p>
        </p:txBody>
      </p:sp>
      <p:sp>
        <p:nvSpPr>
          <p:cNvPr id="4" name="Slide Number Placeholder 3"/>
          <p:cNvSpPr>
            <a:spLocks noGrp="1"/>
          </p:cNvSpPr>
          <p:nvPr>
            <p:ph type="sldNum" idx="5" sz="quarter"/>
          </p:nvPr>
        </p:nvSpPr>
        <p:spPr/>
      </p:sp>
    </p:spTree>
  </p:cSld>
  <p:clrMapOvr>
    <a:masterClrMapping/>
  </p:clrMapOvr>
</p:notes>
</file>

<file path=ppt/notesSlides/notesSlide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waterfall = 瀑布式;agile = 敏捷;sprint = 冲刺(短周期);Kanban = 看板。这里只需理解概念,不要求专业细节。</a:t>
            </a:r>
          </a:p>
        </p:txBody>
      </p:sp>
      <p:sp>
        <p:nvSpPr>
          <p:cNvPr id="4" name="Slide Number Placeholder 3"/>
          <p:cNvSpPr>
            <a:spLocks noGrp="1"/>
          </p:cNvSpPr>
          <p:nvPr>
            <p:ph type="sldNum" idx="5" sz="quarter"/>
          </p:nvPr>
        </p:nvSpPr>
        <p:spPr/>
      </p:sp>
    </p:spTree>
  </p:cSld>
  <p:clrMapOvr>
    <a:masterClrMapping/>
  </p:clrMapOvr>
</p:notes>
</file>

<file path=ppt/notesSlides/notesSlide2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Compare waterfall and agile and recommend one for a project.</a:t>
            </a:r>
          </a:p>
          <a:p>
            <a:r>
              <a:t>Say: describe A → describe B → project type → recommendation</a:t>
            </a:r>
          </a:p>
          <a:p>
            <a:r>
              <a:t>Useful starters: “Waterfall works best when…” / “Agile is more flexible because…” / “For this project, I’d recommend…”</a:t>
            </a:r>
          </a:p>
          <a:p>
            <a:r>
              <a:t>work best when… 用来说明适用条件。recommend + -ing / that。</a:t>
            </a:r>
          </a:p>
        </p:txBody>
      </p:sp>
      <p:sp>
        <p:nvSpPr>
          <p:cNvPr id="4" name="Slide Number Placeholder 3"/>
          <p:cNvSpPr>
            <a:spLocks noGrp="1"/>
          </p:cNvSpPr>
          <p:nvPr>
            <p:ph type="sldNum" idx="5" sz="quarter"/>
          </p:nvPr>
        </p:nvSpPr>
        <p:spPr/>
      </p:sp>
    </p:spTree>
  </p:cSld>
  <p:clrMapOvr>
    <a:masterClrMapping/>
  </p:clrMapOvr>
</p:notes>
</file>

<file path=ppt/notesSlides/notesSlide2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Project teams usually follow one of two broad approaches. The traditional method, often called waterfall, plans the whole project upfront and then moves through fixed stages: requirements, design, building, testing and delivery. It suits projects with stable requirements and strict regulation, such as constructing a bridge. Agile methods work in short cycles, often called sprints. A team builds a small piece, shows it to users, collects feedback and adjusts the plan. This suits situations where the final product is uncertain, such as new software. In practice, many organisations mix the two. The key is not to follow a method for its own sake, but to match it to the risk, the level of uncertainty and the team’s experience. Tools may help, but communication still decides whether the project succeeds.</a:t>
            </a:r>
          </a:p>
          <a:p>
            <a:r>
              <a:t>upfront = 预先。requirements = 需求。for its own sake = 为了方法而方法。regulation = 监管。</a:t>
            </a:r>
          </a:p>
        </p:txBody>
      </p:sp>
      <p:sp>
        <p:nvSpPr>
          <p:cNvPr id="4" name="Slide Number Placeholder 3"/>
          <p:cNvSpPr>
            <a:spLocks noGrp="1"/>
          </p:cNvSpPr>
          <p:nvPr>
            <p:ph type="sldNum" idx="5" sz="quarter"/>
          </p:nvPr>
        </p:nvSpPr>
        <p:spPr/>
      </p:sp>
    </p:spTree>
  </p:cSld>
  <p:clrMapOvr>
    <a:masterClrMapping/>
  </p:clrMapOvr>
</p:notes>
</file>

<file path=ppt/notesSlides/notesSlide2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How does waterfall work?</a:t>
            </a:r>
          </a:p>
          <a:p>
            <a:r>
              <a:t>A: It plans everything upfront and moves through fixed stages.</a:t>
            </a:r>
          </a:p>
          <a:p>
            <a:r>
              <a:t>Q2. When does agile suit best?</a:t>
            </a:r>
          </a:p>
          <a:p>
            <a:r>
              <a:t>A: When the final product is uncertain and feedback is needed, e.g. new software.</a:t>
            </a:r>
          </a:p>
          <a:p>
            <a:r>
              <a:t>Q3. What should decide which method to use?</a:t>
            </a:r>
          </a:p>
          <a:p>
            <a:r>
              <a:t>A: The risk, level of uncertainty and the team’s experience.</a:t>
            </a:r>
          </a:p>
        </p:txBody>
      </p:sp>
      <p:sp>
        <p:nvSpPr>
          <p:cNvPr id="4" name="Slide Number Placeholder 3"/>
          <p:cNvSpPr>
            <a:spLocks noGrp="1"/>
          </p:cNvSpPr>
          <p:nvPr>
            <p:ph type="sldNum" idx="5" sz="quarter"/>
          </p:nvPr>
        </p:nvSpPr>
        <p:spPr/>
      </p:sp>
    </p:spTree>
  </p:cSld>
  <p:clrMapOvr>
    <a:masterClrMapping/>
  </p:clrMapOvr>
</p:notes>
</file>

<file path=ppt/notesSlides/notesSlide2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Project approaches 项目方法</a:t>
            </a:r>
          </a:p>
          <a:p>
            <a:r>
              <a:t>领读 → 学员跟读 → 请学员用表达造一个和自己工作相关的句子。</a:t>
            </a:r>
          </a:p>
          <a:p>
            <a:r>
              <a:t>waterfall (noun) 瀑布式 — “The firm uses a waterfall approach.”</a:t>
            </a:r>
          </a:p>
          <a:p>
            <a:r>
              <a:t>agile (adjective) 敏捷的 — “We work in an agile way.”</a:t>
            </a:r>
          </a:p>
          <a:p>
            <a:r>
              <a:t>sprint (noun) 冲刺(短周期) — “Each sprint lasts two weeks.”</a:t>
            </a:r>
          </a:p>
          <a:p>
            <a:r>
              <a:t>requirements (noun (plural)) 需求 — “The requirements keep changing.”</a:t>
            </a:r>
          </a:p>
          <a:p>
            <a:r>
              <a:t>iteration (noun) 迭代 — “The third iteration is ready.”</a:t>
            </a:r>
          </a:p>
          <a:p>
            <a:r>
              <a:t>Gantt chart (noun) 甘特图 — “The Gantt chart shows the timeline.”</a:t>
            </a:r>
          </a:p>
        </p:txBody>
      </p:sp>
      <p:sp>
        <p:nvSpPr>
          <p:cNvPr id="4" name="Slide Number Placeholder 3"/>
          <p:cNvSpPr>
            <a:spLocks noGrp="1"/>
          </p:cNvSpPr>
          <p:nvPr>
            <p:ph type="sldNum" idx="5" sz="quarter"/>
          </p:nvPr>
        </p:nvSpPr>
        <p:spPr/>
      </p:sp>
    </p:spTree>
  </p:cSld>
  <p:clrMapOvr>
    <a:masterClrMapping/>
  </p:clrMapOvr>
</p:notes>
</file>

<file path=ppt/notesSlides/notesSlide2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Applying methods ★ 应用方法</a:t>
            </a:r>
          </a:p>
          <a:p>
            <a:r>
              <a:t>领读 → 学员跟读 → 请学员用表达造一个和自己工作相关的句子。</a:t>
            </a:r>
          </a:p>
          <a:p>
            <a:r>
              <a:t>★ roll out (phrasal verb) 推出/实施 — “We rolled out the new system.”</a:t>
            </a:r>
          </a:p>
          <a:p>
            <a:r>
              <a:t>★ iterate (verb) 反复改进 — “We iterate quickly based on feedback.”</a:t>
            </a:r>
          </a:p>
          <a:p>
            <a:r>
              <a:t>★ sign-off (noun) 签字确认 — “We need client sign-off.”</a:t>
            </a:r>
          </a:p>
          <a:p>
            <a:r>
              <a:t>★ one size fits all (idiom) 通用方案 — “There’s no one-size-fits-all approach.”</a:t>
            </a:r>
          </a:p>
          <a:p>
            <a:r>
              <a:t>★ fit for purpose (collocation) 适用 — “The process must be fit for purpose.”</a:t>
            </a:r>
          </a:p>
          <a:p>
            <a:r>
              <a:t>★ work out the kinks (idiom) 解决小问题 — “We’re working out the kinks.”</a:t>
            </a:r>
          </a:p>
        </p:txBody>
      </p:sp>
      <p:sp>
        <p:nvSpPr>
          <p:cNvPr id="4" name="Slide Number Placeholder 3"/>
          <p:cNvSpPr>
            <a:spLocks noGrp="1"/>
          </p:cNvSpPr>
          <p:nvPr>
            <p:ph type="sldNum" idx="5" sz="quarter"/>
          </p:nvPr>
        </p:nvSpPr>
        <p:spPr/>
      </p:sp>
    </p:spTree>
  </p:cSld>
  <p:clrMapOvr>
    <a:masterClrMapping/>
  </p:clrMapOvr>
</p:notes>
</file>

<file path=ppt/notesSlides/notesSlide3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3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waterfall / agile / sprint / requirements / sign-off / fit for purpose</a:t>
            </a:r>
          </a:p>
          <a:p>
            <a:r>
              <a:t>1. The _______ approach plans everything in advance. → waterfall</a:t>
            </a:r>
          </a:p>
          <a:p>
            <a:r>
              <a:t>2. An _______ team works in short cycles and adapts. → agile</a:t>
            </a:r>
          </a:p>
          <a:p>
            <a:r>
              <a:t>3. Each _______ lasts two weeks. → sprint</a:t>
            </a:r>
          </a:p>
          <a:p>
            <a:r>
              <a:t>4. The client keeps changing the _______. → requirements</a:t>
            </a:r>
          </a:p>
          <a:p>
            <a:r>
              <a:t>5. We cannot start until we have the client’s _______. → sign-off</a:t>
            </a:r>
          </a:p>
          <a:p>
            <a:r>
              <a:t>6. The process must be _______. Too much paperwork wastes time. → fit for purpose</a:t>
            </a:r>
          </a:p>
          <a:p>
            <a:r>
              <a:t>Mistake Watch (拼写与搭配): methodology (the study/system; “method” is simpler), agile (not “agil”), iteration. Follow / adopt a methodology. Requirements (plural; “requirement” is singular). Software is uncountable (“a piece of software”).</a:t>
            </a:r>
          </a:p>
        </p:txBody>
      </p:sp>
      <p:sp>
        <p:nvSpPr>
          <p:cNvPr id="4" name="Slide Number Placeholder 3"/>
          <p:cNvSpPr>
            <a:spLocks noGrp="1"/>
          </p:cNvSpPr>
          <p:nvPr>
            <p:ph type="sldNum" idx="5" sz="quarter"/>
          </p:nvPr>
        </p:nvSpPr>
        <p:spPr/>
      </p:sp>
    </p:spTree>
  </p:cSld>
  <p:clrMapOvr>
    <a:masterClrMapping/>
  </p:clrMapOvr>
</p:notes>
</file>

<file path=ppt/notesSlides/notesSlide3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Recommending a method for a project 为项目推荐方法</a:t>
            </a:r>
          </a:p>
          <a:p>
            <a:r>
              <a:t>情景：You advise a colleague on whether to use a waterfall or agile approach for a new mobile app.</a:t>
            </a:r>
          </a:p>
          <a:p>
            <a:r>
              <a:t>Role A: Xin Zhao, project coach (you) Role B: Ian Brown,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3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(Xin): Ian, what’s the situation with the app project?</a:t>
            </a:r>
          </a:p>
          <a:p>
            <a:r>
              <a:t>B (Ian): We have about twelve features, and the client keeps changing their mind. I’m thinking of using a waterfall plan.</a:t>
            </a:r>
          </a:p>
          <a:p>
            <a:r>
              <a:t>A: I’d think twice about that. Waterfall works best when requirements are fixed.</a:t>
            </a:r>
          </a:p>
          <a:p>
            <a:r>
              <a:t>B: True, but I’d like a clear plan and a budget.</a:t>
            </a:r>
          </a:p>
          <a:p>
            <a:r>
              <a:t>A: You could set a budget for each sprint, which still gives you control.</a:t>
            </a:r>
          </a:p>
          <a:p>
            <a:r>
              <a:t>B: How would that work?</a:t>
            </a:r>
          </a:p>
        </p:txBody>
      </p:sp>
      <p:sp>
        <p:nvSpPr>
          <p:cNvPr id="4" name="Slide Number Placeholder 3"/>
          <p:cNvSpPr>
            <a:spLocks noGrp="1"/>
          </p:cNvSpPr>
          <p:nvPr>
            <p:ph type="sldNum" idx="5" sz="quarter"/>
          </p:nvPr>
        </p:nvSpPr>
        <p:spPr/>
      </p:sp>
    </p:spTree>
  </p:cSld>
  <p:clrMapOvr>
    <a:masterClrMapping/>
  </p:clrMapOvr>
</p:notes>
</file>

<file path=ppt/notesSlides/notesSlide3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You’d build the most important features first, show them to the client every two weeks and adjust.</a:t>
            </a:r>
          </a:p>
          <a:p>
            <a:r>
              <a:t>B: That sounds flexible. But isn’t agile messy?</a:t>
            </a:r>
          </a:p>
          <a:p>
            <a:r>
              <a:t>A: It can be, if the team isn’t disciplined. You’d need regular reviews and clear priorities.</a:t>
            </a:r>
          </a:p>
          <a:p>
            <a:r>
              <a:t>B: Hmm. What about the sign-off process?</a:t>
            </a:r>
          </a:p>
          <a:p>
            <a:r>
              <a:t>A: Agree a simple approval step at the end of each sprint.</a:t>
            </a:r>
          </a:p>
          <a:p>
            <a:r>
              <a:t>B: I think I’ll give it a try. Can you help me set it up?</a:t>
            </a:r>
          </a:p>
          <a:p>
            <a:r>
              <a:t>A: Of course. Let’s start with a short workshop.</a:t>
            </a:r>
          </a:p>
        </p:txBody>
      </p:sp>
      <p:sp>
        <p:nvSpPr>
          <p:cNvPr id="4" name="Slide Number Placeholder 3"/>
          <p:cNvSpPr>
            <a:spLocks noGrp="1"/>
          </p:cNvSpPr>
          <p:nvPr>
            <p:ph type="sldNum" idx="5" sz="quarter"/>
          </p:nvPr>
        </p:nvSpPr>
        <p:spPr/>
      </p:sp>
    </p:spTree>
  </p:cSld>
  <p:clrMapOvr>
    <a:masterClrMapping/>
  </p:clrMapOvr>
</p:notes>
</file>

<file path=ppt/notesSlides/notesSlide3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50 | </a:t>
            </a:r>
          </a:p>
          <a:p>
            <a:r>
              <a:t>Situation | You recommend a project method.</a:t>
            </a:r>
          </a:p>
          <a:p>
            <a:r>
              <a:t>Your role (A) | Coach. Project type: ______________</a:t>
            </a:r>
          </a:p>
          <a:p>
            <a:r>
              <a:t>Partner’s role (B) | Colleague. Prefers a different method.</a:t>
            </a:r>
          </a:p>
          <a:p>
            <a:r>
              <a:t>Must use (4 or more) | works best when · more flexible · sprint · requirements · sign-off · fit for purpose</a:t>
            </a:r>
          </a:p>
          <a:p>
            <a:r>
              <a:t>Goal | Explain two methods, choose one and answer an objection.</a:t>
            </a:r>
          </a:p>
          <a:p>
            <a:r>
              <a:t>My notes | ____________________________________________</a:t>
            </a:r>
          </a:p>
          <a:p>
            <a:r>
              <a:t>Ian says: “Agile means no planning.” Correct this politely.</a:t>
            </a:r>
          </a:p>
          <a:p>
            <a:r>
              <a:t>Describe how you track tasks (a tool or method).</a:t>
            </a:r>
          </a:p>
          <a:p>
            <a:r>
              <a:t>Explain Gantt charts to a colleague who has never used them.</a:t>
            </a:r>
          </a:p>
        </p:txBody>
      </p:sp>
      <p:sp>
        <p:nvSpPr>
          <p:cNvPr id="4" name="Slide Number Placeholder 3"/>
          <p:cNvSpPr>
            <a:spLocks noGrp="1"/>
          </p:cNvSpPr>
          <p:nvPr>
            <p:ph type="sldNum" idx="5" sz="quarter"/>
          </p:nvPr>
        </p:nvSpPr>
        <p:spPr/>
      </p:sp>
    </p:spTree>
  </p:cSld>
  <p:clrMapOvr>
    <a:masterClrMapping/>
  </p:clrMapOvr>
</p:notes>
</file>

<file path=ppt/notesSlides/notesSlide3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Which approach seems more practical to you: planned or agile? | “I think… because…”</a:t>
            </a:r>
          </a:p>
          <a:p>
            <a:r>
              <a:t>2. What types of projects need strict control? | “Projects involving… because…”</a:t>
            </a:r>
          </a:p>
          <a:p>
            <a:r>
              <a:t>3. What is the biggest benefit of short work cycles? | “The main advantage is…”</a:t>
            </a:r>
          </a:p>
          <a:p>
            <a:r>
              <a:t>4. How important are tools compared with communication? | “Tools help, but…”</a:t>
            </a:r>
          </a:p>
        </p:txBody>
      </p:sp>
      <p:sp>
        <p:nvSpPr>
          <p:cNvPr id="4" name="Slide Number Placeholder 3"/>
          <p:cNvSpPr>
            <a:spLocks noGrp="1"/>
          </p:cNvSpPr>
          <p:nvPr>
            <p:ph type="sldNum" idx="5" sz="quarter"/>
          </p:nvPr>
        </p:nvSpPr>
        <p:spPr/>
      </p:sp>
    </p:spTree>
  </p:cSld>
  <p:clrMapOvr>
    <a:masterClrMapping/>
  </p:clrMapOvr>
</p:notes>
</file>

<file path=ppt/notesSlides/notesSlide3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“Tools can be helpful for tracking tasks and deadlines, but they cannot replace good communication. I’ve seen teams with excellent software where nobody talked to each other, and the project still failed. On the other hand, a small team that communicates well can succeed with a simple spreadsheet. So I’d say tools support the work, but people make it happen.”</a:t>
            </a:r>
          </a:p>
          <a:p>
            <a:r>
              <a:t>replace = 取代。”on the other hand” = 另一方面。spreadsheet = 电子表格。”make it happen” = 让事情发生/落实。</a:t>
            </a:r>
          </a:p>
        </p:txBody>
      </p:sp>
      <p:sp>
        <p:nvSpPr>
          <p:cNvPr id="4" name="Slide Number Placeholder 3"/>
          <p:cNvSpPr>
            <a:spLocks noGrp="1"/>
          </p:cNvSpPr>
          <p:nvPr>
            <p:ph type="sldNum" idx="5" sz="quarter"/>
          </p:nvPr>
        </p:nvSpPr>
        <p:spPr/>
      </p:sp>
    </p:spTree>
  </p:cSld>
  <p:clrMapOvr>
    <a:masterClrMapping/>
  </p:clrMapOvr>
</p:notes>
</file>

<file path=ppt/notesSlides/notesSlide3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We plan all first. | We plan everything upfront. | 地道</a:t>
            </a:r>
          </a:p>
          <a:p>
            <a:r>
              <a:t>We do it step by step. | We work in short cycles. | 术语</a:t>
            </a:r>
          </a:p>
          <a:p>
            <a:r>
              <a:t>The customer changes things. | The requirements keep changing. | 专业</a:t>
            </a:r>
          </a:p>
          <a:p>
            <a:r>
              <a:t>Let’s try. | Let’s pilot it with one team. | 专业</a:t>
            </a:r>
          </a:p>
          <a:p>
            <a:r>
              <a:t>It’s flexible. | It’s easy to adapt as we go. | 说明</a:t>
            </a:r>
          </a:p>
          <a:p/>
        </p:txBody>
      </p:sp>
      <p:sp>
        <p:nvSpPr>
          <p:cNvPr id="4" name="Slide Number Placeholder 3"/>
          <p:cNvSpPr>
            <a:spLocks noGrp="1"/>
          </p:cNvSpPr>
          <p:nvPr>
            <p:ph type="sldNum" idx="5" sz="quarter"/>
          </p:nvPr>
        </p:nvSpPr>
        <p:spPr/>
      </p:sp>
    </p:spTree>
  </p:cSld>
  <p:clrMapOvr>
    <a:masterClrMapping/>
  </p:clrMapOvr>
</p:notes>
</file>

<file path=ppt/notesSlides/notesSlide3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Present simple for general truths: “Agile works in short cycles.”</a:t>
            </a:r>
          </a:p>
          <a:p>
            <a:r>
              <a:t>Adjective order and compound adjectives: a two-week sprint, a step-by-step plan.</a:t>
            </a:r>
          </a:p>
          <a:p>
            <a:r>
              <a:t>Zero/first conditionals: If requirements change, the plan changes. / If you start with a sprint, you will get feedback early.</a:t>
            </a:r>
          </a:p>
          <a:p>
            <a:r>
              <a:t>Advice: I’d think twice about… / I wouldn’t… if I were you.</a:t>
            </a:r>
          </a:p>
          <a:p/>
        </p:txBody>
      </p:sp>
      <p:sp>
        <p:nvSpPr>
          <p:cNvPr id="4" name="Slide Number Placeholder 3"/>
          <p:cNvSpPr>
            <a:spLocks noGrp="1"/>
          </p:cNvSpPr>
          <p:nvPr>
            <p:ph type="sldNum" idx="5" sz="quarter"/>
          </p:nvPr>
        </p:nvSpPr>
        <p:spPr/>
      </p:sp>
    </p:spTree>
  </p:cSld>
  <p:clrMapOvr>
    <a:masterClrMapping/>
  </p:clrMapOvr>
</p:notes>
</file>

<file path=ppt/notesSlides/notesSlide3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requirement are changing.  →  ✓ The requirements are changing.  (复数)</a:t>
            </a:r>
          </a:p>
          <a:p>
            <a:r>
              <a:t>✗ Agile is an methodology.  →  ✓ Agile is a methodology.  (a before consonant sound)</a:t>
            </a:r>
          </a:p>
          <a:p>
            <a:r>
              <a:t>✗ We use the waterfall way.  →  ✓ We use the waterfall approach.  (approach)</a:t>
            </a:r>
          </a:p>
          <a:p>
            <a:r>
              <a:t>Mistake Watch: Check uncountable software, hyphenated compounds (two-week sprint), and articles a / an.</a:t>
            </a:r>
          </a:p>
        </p:txBody>
      </p:sp>
      <p:sp>
        <p:nvSpPr>
          <p:cNvPr id="4" name="Slide Number Placeholder 3"/>
          <p:cNvSpPr>
            <a:spLocks noGrp="1"/>
          </p:cNvSpPr>
          <p:nvPr>
            <p:ph type="sldNum" idx="5" sz="quarter"/>
          </p:nvPr>
        </p:nvSpPr>
        <p:spPr/>
      </p:sp>
    </p:spTree>
  </p:cSld>
  <p:clrMapOvr>
    <a:masterClrMapping/>
  </p:clrMapOvr>
</p:notes>
</file>

<file path=ppt/notesSlides/notesSlide3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Software are expensive.  →  ✓ Software is expensive.  (不可数)</a:t>
            </a:r>
          </a:p>
          <a:p>
            <a:r>
              <a:t>✗ A two-weeks sprint  →  ✓ A two-week sprint  (复合形容词)</a:t>
            </a:r>
          </a:p>
          <a:p>
            <a:r>
              <a:t>✗ I’m agree with this method.  →  ✓ I agree with this method.  (agree 动词)</a:t>
            </a:r>
          </a:p>
          <a:p>
            <a:r>
              <a:t>Mistake Watch: Check uncountable software, hyphenated compounds (two-week sprint), and articles a / an.</a:t>
            </a:r>
          </a:p>
        </p:txBody>
      </p:sp>
      <p:sp>
        <p:nvSpPr>
          <p:cNvPr id="4" name="Slide Number Placeholder 3"/>
          <p:cNvSpPr>
            <a:spLocks noGrp="1"/>
          </p:cNvSpPr>
          <p:nvPr>
            <p:ph type="sldNum" idx="5" sz="quarter"/>
          </p:nvPr>
        </p:nvSpPr>
        <p:spPr/>
      </p:sp>
    </p:spTree>
  </p:cSld>
  <p:clrMapOvr>
    <a:masterClrMapping/>
  </p:clrMapOvr>
</p:notes>
</file>

<file path=ppt/notesSlides/notesSlide3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Jargon: Agile terms (sprint, stand-up, backlog) spread outside tech. Explain terms to non-specialists.</a:t>
            </a:r>
          </a:p>
          <a:p>
            <a:r>
              <a:t>Methods are tools: “Pure” agile or waterfall is rare; hybrid approaches are common.</a:t>
            </a:r>
          </a:p>
          <a:p>
            <a:r>
              <a:t>Stand-up meetings: Short daily meetings (often standing) are a popular habit in agile teams.</a:t>
            </a:r>
          </a:p>
          <a:p>
            <a:r>
              <a:t>software 不可数;two-week sprint 单数;an / a 看发音。Agile 与 waterfall 是方法,不必全盘照搬,要因项目制宜。</a:t>
            </a:r>
          </a:p>
        </p:txBody>
      </p:sp>
      <p:sp>
        <p:nvSpPr>
          <p:cNvPr id="4" name="Slide Number Placeholder 3"/>
          <p:cNvSpPr>
            <a:spLocks noGrp="1"/>
          </p:cNvSpPr>
          <p:nvPr>
            <p:ph type="sldNum" idx="5" sz="quarter"/>
          </p:nvPr>
        </p:nvSpPr>
        <p:spPr/>
      </p:sp>
    </p:spTree>
  </p:cSld>
  <p:clrMapOvr>
    <a:masterClrMapping/>
  </p:clrMapOvr>
</p:notes>
</file>

<file path=ppt/notesSlides/notesSlide3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compare waterfall and agile approaches.</a:t>
            </a:r>
          </a:p>
          <a:p>
            <a:r>
              <a:t>I can recommend a method with reasons.</a:t>
            </a:r>
          </a:p>
          <a:p>
            <a:r>
              <a:t>I can use conditional sentences for general truths and advice.</a:t>
            </a:r>
          </a:p>
          <a:p>
            <a:r>
              <a:t>I can use uncountable software and compound adjectives.</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3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uncountable software, compound adjectives (two-week sprint), and conditionals.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51 · Where Projects Go Wrong 项目出错的地方</a:t>
            </a:r>
          </a:p>
          <a:p>
            <a:r>
              <a:t>Goal: analyse why projects fail: unclear goals, poor planning, weak communication, scope creep and unrealistic deadlines; learn to talk about causes and prevention.</a:t>
            </a:r>
          </a:p>
        </p:txBody>
      </p:sp>
      <p:sp>
        <p:nvSpPr>
          <p:cNvPr id="4" name="Slide Number Placeholder 3"/>
          <p:cNvSpPr>
            <a:spLocks noGrp="1"/>
          </p:cNvSpPr>
          <p:nvPr>
            <p:ph type="sldNum" idx="5" sz="quarter"/>
          </p:nvPr>
        </p:nvSpPr>
        <p:spPr/>
      </p:sp>
    </p:spTree>
  </p:cSld>
  <p:clrMapOvr>
    <a:masterClrMapping/>
  </p:clrMapOvr>
</p:notes>
</file>

<file path=ppt/notesSlides/notesSlide3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题用过去时讲故事。go wrong = 出错。post-mortem = 项目复盘。blame = 责怪。</a:t>
            </a:r>
          </a:p>
        </p:txBody>
      </p:sp>
      <p:sp>
        <p:nvSpPr>
          <p:cNvPr id="4" name="Slide Number Placeholder 3"/>
          <p:cNvSpPr>
            <a:spLocks noGrp="1"/>
          </p:cNvSpPr>
          <p:nvPr>
            <p:ph type="sldNum" idx="5" sz="quarter"/>
          </p:nvPr>
        </p:nvSpPr>
        <p:spPr/>
      </p:sp>
    </p:spTree>
  </p:cSld>
  <p:clrMapOvr>
    <a:masterClrMapping/>
  </p:clrMapOvr>
</p:notes>
</file>

<file path=ppt/notesSlides/notesSlide3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what went wrong in a project and how to prevent it next time.</a:t>
            </a:r>
          </a:p>
          <a:p>
            <a:r>
              <a:t>Say: what happened → why → impact → how to prevent</a:t>
            </a:r>
          </a:p>
          <a:p>
            <a:r>
              <a:t>Useful starters: “The main problem was…” / “This led to…” / “Next time, we should…”</a:t>
            </a:r>
          </a:p>
          <a:p>
            <a:r>
              <a:t>lead to = 导致。过去的问题用 should have + 过去分词,建议用 next time we should…。</a:t>
            </a:r>
          </a:p>
        </p:txBody>
      </p:sp>
      <p:sp>
        <p:nvSpPr>
          <p:cNvPr id="4" name="Slide Number Placeholder 3"/>
          <p:cNvSpPr>
            <a:spLocks noGrp="1"/>
          </p:cNvSpPr>
          <p:nvPr>
            <p:ph type="sldNum" idx="5" sz="quarter"/>
          </p:nvPr>
        </p:nvSpPr>
        <p:spPr/>
      </p:sp>
    </p:spTree>
  </p:cSld>
  <p:clrMapOvr>
    <a:masterClrMapping/>
  </p:clrMapOvr>
</p:notes>
</file>

<file path=ppt/notesSlides/notesSlide3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Studies of failed projects often point to the same causes. First, the goals were never clear, so people worked on different assumptions. Second, the plan was too optimistic: deadlines ignored holidays, illness and the time needed for approval. Third, communication broke down, and bad news travelled slowly, if at all. Scope creep, where small extra requests accumulate, quietly consumed the budget. Finally, nobody had the courage to say that the project was in trouble. Good teams avoid these traps by writing down goals and success criteria at the start, adding a buffer to estimates, holding regular check-ins and rewarding people who raise problems early. After the project, whether it succeeded or not, they hold a review to capture lessons for the next one. Failure is only wasted when nobody learns from it.</a:t>
            </a:r>
          </a:p>
          <a:p>
            <a:r>
              <a:t>accumulate = 累积。buffer = 缓冲时间。”broke down” = 中断。”in trouble” = 有麻烦。</a:t>
            </a:r>
          </a:p>
        </p:txBody>
      </p:sp>
      <p:sp>
        <p:nvSpPr>
          <p:cNvPr id="4" name="Slide Number Placeholder 3"/>
          <p:cNvSpPr>
            <a:spLocks noGrp="1"/>
          </p:cNvSpPr>
          <p:nvPr>
            <p:ph type="sldNum" idx="5" sz="quarter"/>
          </p:nvPr>
        </p:nvSpPr>
        <p:spPr/>
      </p:sp>
    </p:spTree>
  </p:cSld>
  <p:clrMapOvr>
    <a:masterClrMapping/>
  </p:clrMapOvr>
</p:notes>
</file>

<file path=ppt/notesSlides/notesSlide3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Name three causes of project failure.</a:t>
            </a:r>
          </a:p>
          <a:p>
            <a:r>
              <a:t>A: Unclear goals, over-optimistic plans, poor communication, scope creep or nobody admitting trouble.</a:t>
            </a:r>
          </a:p>
          <a:p>
            <a:r>
              <a:t>Q2. How can teams avoid these traps?</a:t>
            </a:r>
          </a:p>
          <a:p>
            <a:r>
              <a:t>A: Write down goals and success criteria, add buffers, hold check-ins and reward early warnings.</a:t>
            </a:r>
          </a:p>
          <a:p>
            <a:r>
              <a:t>Q3. When is failure wasted?</a:t>
            </a:r>
          </a:p>
          <a:p>
            <a:r>
              <a:t>A: When nobody learns from it.</a:t>
            </a:r>
          </a:p>
        </p:txBody>
      </p:sp>
      <p:sp>
        <p:nvSpPr>
          <p:cNvPr id="4" name="Slide Number Placeholder 3"/>
          <p:cNvSpPr>
            <a:spLocks noGrp="1"/>
          </p:cNvSpPr>
          <p:nvPr>
            <p:ph type="sldNum" idx="5" sz="quarter"/>
          </p:nvPr>
        </p:nvSpPr>
        <p:spPr/>
      </p:sp>
    </p:spTree>
  </p:cSld>
  <p:clrMapOvr>
    <a:masterClrMapping/>
  </p:clrMapOvr>
</p:notes>
</file>

<file path=ppt/notesSlides/notesSlide3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Causes of failure 失败原因</a:t>
            </a:r>
          </a:p>
          <a:p>
            <a:r>
              <a:t>领读 → 学员跟读 → 请学员用表达造一个和自己工作相关的句子。</a:t>
            </a:r>
          </a:p>
          <a:p>
            <a:r>
              <a:t>unrealistic (adjective) 不切实际的 — “The deadline was unrealistic.”</a:t>
            </a:r>
          </a:p>
          <a:p>
            <a:r>
              <a:t>miscommunication (noun) 沟通不畅 — “Miscommunication caused delays.”</a:t>
            </a:r>
          </a:p>
          <a:p>
            <a:r>
              <a:t>overrun (verb / noun) 超支/超时 — “The project overran by three months.”</a:t>
            </a:r>
          </a:p>
          <a:p>
            <a:r>
              <a:t>bottleneck (noun) 瓶颈 — “The approval was a bottleneck.”</a:t>
            </a:r>
          </a:p>
          <a:p>
            <a:r>
              <a:t>dependency (noun) 依赖关系 — “There are dependencies between tasks.”</a:t>
            </a:r>
          </a:p>
          <a:p>
            <a:r>
              <a:t>contingency plan (noun) 应急计划 — “We have a contingency plan.”</a:t>
            </a:r>
          </a:p>
        </p:txBody>
      </p:sp>
      <p:sp>
        <p:nvSpPr>
          <p:cNvPr id="4" name="Slide Number Placeholder 3"/>
          <p:cNvSpPr>
            <a:spLocks noGrp="1"/>
          </p:cNvSpPr>
          <p:nvPr>
            <p:ph type="sldNum" idx="5" sz="quarter"/>
          </p:nvPr>
        </p:nvSpPr>
        <p:spPr/>
      </p:sp>
    </p:spTree>
  </p:cSld>
  <p:clrMapOvr>
    <a:masterClrMapping/>
  </p:clrMapOvr>
</p:notes>
</file>

<file path=ppt/notesSlides/notesSlide3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Talking about problems ★ 谈论问题</a:t>
            </a:r>
          </a:p>
          <a:p>
            <a:r>
              <a:t>领读 → 学员跟读 → 请学员用表达造一个和自己工作相关的句子。</a:t>
            </a:r>
          </a:p>
          <a:p>
            <a:r>
              <a:t>★ go off the rails (idiom) 偏离正轨 — “The project went off the rails.”</a:t>
            </a:r>
          </a:p>
          <a:p>
            <a:r>
              <a:t>★ fall behind schedule (collocation) 落后于进度 — “We fell behind schedule.”</a:t>
            </a:r>
          </a:p>
          <a:p>
            <a:r>
              <a:t>★ cut corners (idiom) 偷工减料 — “They cut corners to save time.”</a:t>
            </a:r>
          </a:p>
          <a:p>
            <a:r>
              <a:t>★ red flag (noun phrase) 危险信号 — “Missed milestones are a red flag.”</a:t>
            </a:r>
          </a:p>
          <a:p>
            <a:r>
              <a:t>★ underestimate (verb) 低估 — “We underestimated the complexity.”</a:t>
            </a:r>
          </a:p>
          <a:p>
            <a:r>
              <a:t>★ a hard lesson (collocation) 惨痛教训 — “It was a hard lesson to learn.”</a:t>
            </a:r>
          </a:p>
        </p:txBody>
      </p:sp>
      <p:sp>
        <p:nvSpPr>
          <p:cNvPr id="4" name="Slide Number Placeholder 3"/>
          <p:cNvSpPr>
            <a:spLocks noGrp="1"/>
          </p:cNvSpPr>
          <p:nvPr>
            <p:ph type="sldNum" idx="5" sz="quarter"/>
          </p:nvPr>
        </p:nvSpPr>
        <p:spPr/>
      </p:sp>
    </p:spTree>
  </p:cSld>
  <p:clrMapOvr>
    <a:masterClrMapping/>
  </p:clrMapOvr>
</p:notes>
</file>

<file path=ppt/notesSlides/notesSlide3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3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unrealistic / Miscommunication / overran / dependencies / contingency plan / underestimated</a:t>
            </a:r>
          </a:p>
          <a:p>
            <a:r>
              <a:t>1. The deadline was _______ given the small team. → unrealistic</a:t>
            </a:r>
          </a:p>
          <a:p>
            <a:r>
              <a:t>2. _______ between departments caused serious delays. → Miscommunication</a:t>
            </a:r>
          </a:p>
          <a:p>
            <a:r>
              <a:t>3. The project _______ its budget by 30%. → overran</a:t>
            </a:r>
          </a:p>
          <a:p>
            <a:r>
              <a:t>4. There are several _______ between tasks that we must track. → dependencies</a:t>
            </a:r>
          </a:p>
          <a:p>
            <a:r>
              <a:t>5. A _______ would have saved us when the supplier failed. → contingency plan</a:t>
            </a:r>
          </a:p>
          <a:p>
            <a:r>
              <a:t>6. We _______ how complex the integration would be. → underestimated</a:t>
            </a:r>
          </a:p>
          <a:p>
            <a:r>
              <a:t>Mistake Watch (拼写与搭配): failure (not “failture”), unrealistic (not “unrealistical”), overrun (two r). Miscommunication (uncountable), delay (noun: “a delay”; verb: “to delay”). Go over budget / run over budget (not “over the budget”).</a:t>
            </a:r>
          </a:p>
        </p:txBody>
      </p:sp>
      <p:sp>
        <p:nvSpPr>
          <p:cNvPr id="4" name="Slide Number Placeholder 3"/>
          <p:cNvSpPr>
            <a:spLocks noGrp="1"/>
          </p:cNvSpPr>
          <p:nvPr>
            <p:ph type="sldNum" idx="5" sz="quarter"/>
          </p:nvPr>
        </p:nvSpPr>
        <p:spPr/>
      </p:sp>
    </p:spTree>
  </p:cSld>
  <p:clrMapOvr>
    <a:masterClrMapping/>
  </p:clrMapOvr>
</p:notes>
</file>

<file path=ppt/notesSlides/notesSlide3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Holding a post-project review 项目复盘会</a:t>
            </a:r>
          </a:p>
          <a:p>
            <a:r>
              <a:t>情景：Your project finished three months late. You lead a review meeting and ask colleagues what went wrong.</a:t>
            </a:r>
          </a:p>
          <a:p>
            <a:r>
              <a:t>Role A: Pam Wu, project lead (you) Role B: Dan Cole, project member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3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(Pam): Thanks for coming, Dan. The aim of today is learning, not blaming. What do you think went wrong?</a:t>
            </a:r>
          </a:p>
          <a:p>
            <a:r>
              <a:t>B (Dan): Honestly, the deadline was unrealistic from the start. We never added any buffer.</a:t>
            </a:r>
          </a:p>
          <a:p>
            <a:r>
              <a:t>A: Agreed. What else?</a:t>
            </a:r>
          </a:p>
          <a:p>
            <a:r>
              <a:t>B: The scope kept growing. The client added new features every month, and we never pushed back.</a:t>
            </a:r>
          </a:p>
          <a:p>
            <a:r>
              <a:t>A: That’s fair. Should we have raised it earlier?</a:t>
            </a:r>
          </a:p>
          <a:p>
            <a:r>
              <a:t>B: Definitely. And there was miscommunication between design and development. Each thought the other had approved the changes.</a:t>
            </a:r>
          </a:p>
        </p:txBody>
      </p:sp>
      <p:sp>
        <p:nvSpPr>
          <p:cNvPr id="4" name="Slide Number Placeholder 3"/>
          <p:cNvSpPr>
            <a:spLocks noGrp="1"/>
          </p:cNvSpPr>
          <p:nvPr>
            <p:ph type="sldNum" idx="5" sz="quarter"/>
          </p:nvPr>
        </p:nvSpPr>
        <p:spPr/>
      </p:sp>
    </p:spTree>
  </p:cSld>
  <p:clrMapOvr>
    <a:masterClrMapping/>
  </p:clrMapOvr>
</p:notes>
</file>

<file path=ppt/notesSlides/notesSlide3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So the root causes were the unrealistic schedule, scope creep and unclear approvals.</a:t>
            </a:r>
          </a:p>
          <a:p>
            <a:r>
              <a:t>B: Right. And no one wanted to give bad news.</a:t>
            </a:r>
          </a:p>
          <a:p>
            <a:r>
              <a:t>A: That’s partly my fault. I should have asked more directly about risks.</a:t>
            </a:r>
          </a:p>
          <a:p>
            <a:r>
              <a:t>B: Thanks for saying that. It helps people speak up.</a:t>
            </a:r>
          </a:p>
          <a:p>
            <a:r>
              <a:t>A: For next time, what should we change?</a:t>
            </a:r>
          </a:p>
          <a:p>
            <a:r>
              <a:t>B: Add buffers, agree a change process and hold weekly risk check-ins.</a:t>
            </a:r>
          </a:p>
          <a:p>
            <a:r>
              <a:t>A: Good. I’ll write that up as lessons learned.</a:t>
            </a:r>
          </a:p>
        </p:txBody>
      </p:sp>
      <p:sp>
        <p:nvSpPr>
          <p:cNvPr id="4" name="Slide Number Placeholder 3"/>
          <p:cNvSpPr>
            <a:spLocks noGrp="1"/>
          </p:cNvSpPr>
          <p:nvPr>
            <p:ph type="sldNum" idx="5" sz="quarter"/>
          </p:nvPr>
        </p:nvSpPr>
        <p:spPr/>
      </p:sp>
    </p:spTree>
  </p:cSld>
  <p:clrMapOvr>
    <a:masterClrMapping/>
  </p:clrMapOvr>
</p:notes>
</file>

<file path=ppt/notesSlides/notesSlide3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51 | </a:t>
            </a:r>
          </a:p>
          <a:p>
            <a:r>
              <a:t>Situation | You lead a project review.</a:t>
            </a:r>
          </a:p>
          <a:p>
            <a:r>
              <a:t>Your role (A) | Project lead. Project that went wrong: ______________</a:t>
            </a:r>
          </a:p>
          <a:p>
            <a:r>
              <a:t>Partner’s role (B) | Team member. Honest about causes.</a:t>
            </a:r>
          </a:p>
          <a:p>
            <a:r>
              <a:t>Must use (4 or more) | went wrong · should have · root cause · lessons learned · buffer · next time</a:t>
            </a:r>
          </a:p>
          <a:p>
            <a:r>
              <a:t>Goal | Ask for causes, accept some responsibility and agree improvements.</a:t>
            </a:r>
          </a:p>
          <a:p>
            <a:r>
              <a:t>My notes | ____________________________________________</a:t>
            </a:r>
          </a:p>
          <a:p>
            <a:r>
              <a:t>A team member blames another colleague. Redirect to the process.</a:t>
            </a:r>
          </a:p>
          <a:p>
            <a:r>
              <a:t>Describe a past failure and what you learned in 45 seconds.</a:t>
            </a:r>
          </a:p>
          <a:p>
            <a:r>
              <a:t>Write three “lessons learned” bullet points.</a:t>
            </a:r>
          </a:p>
        </p:txBody>
      </p:sp>
      <p:sp>
        <p:nvSpPr>
          <p:cNvPr id="4" name="Slide Number Placeholder 3"/>
          <p:cNvSpPr>
            <a:spLocks noGrp="1"/>
          </p:cNvSpPr>
          <p:nvPr>
            <p:ph type="sldNum" idx="5" sz="quarter"/>
          </p:nvPr>
        </p:nvSpPr>
        <p:spPr/>
      </p:sp>
    </p:spTree>
  </p:cSld>
  <p:clrMapOvr>
    <a:masterClrMapping/>
  </p:clrMapOvr>
</p:notes>
</file>

<file path=ppt/notesSlides/notesSlide3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is the main reason projects fail? | “In my view, the main reason is… because…”</a:t>
            </a:r>
          </a:p>
          <a:p>
            <a:r>
              <a:t>2. Is it better to stop a failing project or continue? | “It depends on… / The sunk cost shouldn’t…”</a:t>
            </a:r>
          </a:p>
          <a:p>
            <a:r>
              <a:t>3. How can a team talk about failure without blame? | “By focusing on… / Using a blame-free review…”</a:t>
            </a:r>
          </a:p>
          <a:p>
            <a:r>
              <a:t>4. What was the biggest lesson from a mistake you made? | “One lesson I learned was… / Looking back, I should have…”</a:t>
            </a:r>
          </a:p>
        </p:txBody>
      </p:sp>
      <p:sp>
        <p:nvSpPr>
          <p:cNvPr id="4" name="Slide Number Placeholder 3"/>
          <p:cNvSpPr>
            <a:spLocks noGrp="1"/>
          </p:cNvSpPr>
          <p:nvPr>
            <p:ph type="sldNum" idx="5" sz="quarter"/>
          </p:nvPr>
        </p:nvSpPr>
        <p:spPr/>
      </p:sp>
    </p:spTree>
  </p:cSld>
  <p:clrMapOvr>
    <a:masterClrMapping/>
  </p:clrMapOvr>
</p:notes>
</file>

<file path=ppt/notesSlides/notesSlide3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“One lesson I learned came from a campaign that I launched without testing the landing page. It crashed on the first day, and we lost sales. Looking back, I should have done a small trial first. Since then I always test, even when I’m under time pressure. It was embarrassing at the time, but it made me more careful, and I now see mistakes as information.”</a:t>
            </a:r>
          </a:p>
          <a:p>
            <a:r>
              <a:t>landing page = 落地页。”under time pressure” = 时间压力下。embarrassing = 尴尬的。”as information” 把错误视为信息。</a:t>
            </a:r>
          </a:p>
        </p:txBody>
      </p:sp>
      <p:sp>
        <p:nvSpPr>
          <p:cNvPr id="4" name="Slide Number Placeholder 3"/>
          <p:cNvSpPr>
            <a:spLocks noGrp="1"/>
          </p:cNvSpPr>
          <p:nvPr>
            <p:ph type="sldNum" idx="5" sz="quarter"/>
          </p:nvPr>
        </p:nvSpPr>
        <p:spPr/>
      </p:sp>
    </p:spTree>
  </p:cSld>
  <p:clrMapOvr>
    <a:masterClrMapping/>
  </p:clrMapOvr>
</p:notes>
</file>

<file path=ppt/notesSlides/notesSlide3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The plan failed. | The plan didn’t work out. | 口语</a:t>
            </a:r>
          </a:p>
          <a:p>
            <a:r>
              <a:t>It’s your fault. | Where did the process break down? | 对事不对人</a:t>
            </a:r>
          </a:p>
          <a:p>
            <a:r>
              <a:t>We needed more time. | We underestimated how long it would take. | 具体</a:t>
            </a:r>
          </a:p>
          <a:p>
            <a:r>
              <a:t>We were late. | We fell behind schedule. | 搭配</a:t>
            </a:r>
          </a:p>
          <a:p>
            <a:r>
              <a:t>We did not think about it. | We didn’t anticipate that problem. | 搭配</a:t>
            </a:r>
          </a:p>
          <a:p/>
        </p:txBody>
      </p:sp>
      <p:sp>
        <p:nvSpPr>
          <p:cNvPr id="4" name="Slide Number Placeholder 3"/>
          <p:cNvSpPr>
            <a:spLocks noGrp="1"/>
          </p:cNvSpPr>
          <p:nvPr>
            <p:ph type="sldNum" idx="5" sz="quarter"/>
          </p:nvPr>
        </p:nvSpPr>
        <p:spPr/>
      </p:sp>
    </p:spTree>
  </p:cSld>
  <p:clrMapOvr>
    <a:masterClrMapping/>
  </p:clrMapOvr>
</p:notes>
</file>

<file path=ppt/notesSlides/notesSlide3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Past modals for regret and criticism: should have + past participle: “We should have asked earlier.” / shouldn’t have: “We shouldn’t have promised that date.”</a:t>
            </a:r>
          </a:p>
          <a:p>
            <a:r>
              <a:t>Third conditional: “If we had added a buffer, we wouldn’t have missed the deadline.”</a:t>
            </a:r>
          </a:p>
          <a:p>
            <a:r>
              <a:t>Linking cause and effect: as a result, consequently, this led to, due to.</a:t>
            </a:r>
          </a:p>
          <a:p>
            <a:r>
              <a:t>Softening blame: We could have…, it might have been better to…</a:t>
            </a:r>
          </a:p>
          <a:p/>
        </p:txBody>
      </p:sp>
      <p:sp>
        <p:nvSpPr>
          <p:cNvPr id="4" name="Slide Number Placeholder 3"/>
          <p:cNvSpPr>
            <a:spLocks noGrp="1"/>
          </p:cNvSpPr>
          <p:nvPr>
            <p:ph type="sldNum" idx="5" sz="quarter"/>
          </p:nvPr>
        </p:nvSpPr>
        <p:spPr/>
      </p:sp>
    </p:spTree>
  </p:cSld>
  <p:clrMapOvr>
    <a:masterClrMapping/>
  </p:clrMapOvr>
</p:notes>
</file>

<file path=ppt/notesSlides/notesSlide3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should have discuss it earlier.  →  ✓ We should have discussed it earlier.  (过去分词)</a:t>
            </a:r>
          </a:p>
          <a:p>
            <a:r>
              <a:t>✗ If we planned better, we would not fail.  →  ✓ If we had planned better, we wouldn’t have failed.  (第三条件句)</a:t>
            </a:r>
          </a:p>
          <a:p>
            <a:r>
              <a:t>✗ The project is failed.  →  ✓ The project failed. / The project has failed.  (fail 不用被动)</a:t>
            </a:r>
          </a:p>
          <a:p>
            <a:r>
              <a:t>Mistake Watch: Check should have + past participle, third conditional, and uncountable miscommunication.</a:t>
            </a:r>
          </a:p>
        </p:txBody>
      </p:sp>
      <p:sp>
        <p:nvSpPr>
          <p:cNvPr id="4" name="Slide Number Placeholder 3"/>
          <p:cNvSpPr>
            <a:spLocks noGrp="1"/>
          </p:cNvSpPr>
          <p:nvPr>
            <p:ph type="sldNum" idx="5" sz="quarter"/>
          </p:nvPr>
        </p:nvSpPr>
        <p:spPr/>
      </p:sp>
    </p:spTree>
  </p:cSld>
  <p:clrMapOvr>
    <a:masterClrMapping/>
  </p:clrMapOvr>
</p:notes>
</file>

<file path=ppt/notesSlides/notesSlide3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It was a big mistake of us.  →  ✓ It was a big mistake on our part.  (on our part)</a:t>
            </a:r>
          </a:p>
          <a:p>
            <a:r>
              <a:t>✗ We lost the deadline.  →  ✓ We missed the deadline.  (miss a deadline)</a:t>
            </a:r>
          </a:p>
          <a:p>
            <a:r>
              <a:t>✗ The delay was caused by miscommunications.  →  ✓ The delay was caused by miscommunication.  (不可数)</a:t>
            </a:r>
          </a:p>
          <a:p>
            <a:r>
              <a:t>Mistake Watch: Check should have + past participle, third conditional, and uncountable miscommunication.</a:t>
            </a:r>
          </a:p>
        </p:txBody>
      </p:sp>
      <p:sp>
        <p:nvSpPr>
          <p:cNvPr id="4" name="Slide Number Placeholder 3"/>
          <p:cNvSpPr>
            <a:spLocks noGrp="1"/>
          </p:cNvSpPr>
          <p:nvPr>
            <p:ph type="sldNum" idx="5" sz="quarter"/>
          </p:nvPr>
        </p:nvSpPr>
        <p:spPr/>
      </p:sp>
    </p:spTree>
  </p:cSld>
  <p:clrMapOvr>
    <a:masterClrMapping/>
  </p:clrMapOvr>
</p:notes>
</file>

<file path=ppt/notesSlides/notesSlide3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Blame culture: Companies with a blame culture hide problems. A blame-free review encourages honesty.</a:t>
            </a:r>
          </a:p>
          <a:p>
            <a:r>
              <a:t>Sunk-cost fallacy: Continuing a failing project because you’ve already invested is a common trap.</a:t>
            </a:r>
          </a:p>
          <a:p>
            <a:r>
              <a:t>Humour: People often use light humour about failures (“a learning opportunity”). Watch tone with stakeholders.</a:t>
            </a:r>
          </a:p>
          <a:p>
            <a:r>
              <a:t>should have + 过去分词(本该做而没做)。第三条件句:If + had done, would have done。fail 是不及物动词,不用被动 is failed。</a:t>
            </a:r>
          </a:p>
        </p:txBody>
      </p:sp>
      <p:sp>
        <p:nvSpPr>
          <p:cNvPr id="4" name="Slide Number Placeholder 3"/>
          <p:cNvSpPr>
            <a:spLocks noGrp="1"/>
          </p:cNvSpPr>
          <p:nvPr>
            <p:ph type="sldNum" idx="5" sz="quarter"/>
          </p:nvPr>
        </p:nvSpPr>
        <p:spPr/>
      </p:sp>
    </p:spTree>
  </p:cSld>
  <p:clrMapOvr>
    <a:masterClrMapping/>
  </p:clrMapOvr>
</p:notes>
</file>

<file path=ppt/notesSlides/notesSlide3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what went wrong in a project.</a:t>
            </a:r>
          </a:p>
          <a:p>
            <a:r>
              <a:t>I can use should have and the third conditional.</a:t>
            </a:r>
          </a:p>
          <a:p>
            <a:r>
              <a:t>I can run a review without blaming people.</a:t>
            </a:r>
          </a:p>
          <a:p>
            <a:r>
              <a:t>I can use cause and effect linkers.</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3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should have + past participle, third conditional, and uncountable miscommunication.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52 · Identifying Problems 识别问题</a:t>
            </a:r>
          </a:p>
          <a:p>
            <a:r>
              <a:t>Goal: identify, describe and analyse workplace problems: asking questions to find root causes, describing symptoms and proposing solutions.</a:t>
            </a:r>
          </a:p>
        </p:txBody>
      </p:sp>
      <p:sp>
        <p:nvSpPr>
          <p:cNvPr id="4" name="Slide Number Placeholder 3"/>
          <p:cNvSpPr>
            <a:spLocks noGrp="1"/>
          </p:cNvSpPr>
          <p:nvPr>
            <p:ph type="sldNum" idx="5" sz="quarter"/>
          </p:nvPr>
        </p:nvSpPr>
        <p:spPr/>
      </p:sp>
    </p:spTree>
  </p:cSld>
  <p:clrMapOvr>
    <a:masterClrMapping/>
  </p:clrMapOvr>
</p:notes>
</file>

<file path=ppt/notesSlides/notesSlide3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root cause = 根本原因。symptom = 症状(表面现象)。第 5 题可用 “I’ve noticed that…, so I’d like to suggest…”。</a:t>
            </a:r>
          </a:p>
        </p:txBody>
      </p:sp>
      <p:sp>
        <p:nvSpPr>
          <p:cNvPr id="4" name="Slide Number Placeholder 3"/>
          <p:cNvSpPr>
            <a:spLocks noGrp="1"/>
          </p:cNvSpPr>
          <p:nvPr>
            <p:ph type="sldNum" idx="5" sz="quarter"/>
          </p:nvPr>
        </p:nvSpPr>
        <p:spPr/>
      </p:sp>
    </p:spTree>
  </p:cSld>
  <p:clrMapOvr>
    <a:masterClrMapping/>
  </p:clrMapOvr>
</p:notes>
</file>

<file path=ppt/notesSlides/notesSlide3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a problem and analyse its causes with a colleague.</a:t>
            </a:r>
          </a:p>
          <a:p>
            <a:r>
              <a:t>Say: what’s happening → since when → possible causes → what to check → next step</a:t>
            </a:r>
          </a:p>
          <a:p>
            <a:r>
              <a:t>Useful starters: “I’ve noticed that…” / “It seems to be caused by…” / “Have we checked whether…?”</a:t>
            </a:r>
          </a:p>
          <a:p>
            <a:r>
              <a:t>I’ve noticed that… 客观陈述。seems to be 保留余地。Have we checked whether… 引导调查。</a:t>
            </a:r>
          </a:p>
        </p:txBody>
      </p:sp>
      <p:sp>
        <p:nvSpPr>
          <p:cNvPr id="4" name="Slide Number Placeholder 3"/>
          <p:cNvSpPr>
            <a:spLocks noGrp="1"/>
          </p:cNvSpPr>
          <p:nvPr>
            <p:ph type="sldNum" idx="5" sz="quarter"/>
          </p:nvPr>
        </p:nvSpPr>
        <p:spPr/>
      </p:sp>
    </p:spTree>
  </p:cSld>
  <p:clrMapOvr>
    <a:masterClrMapping/>
  </p:clrMapOvr>
</p:notes>
</file>

<file path=ppt/notesSlides/notesSlide3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When something goes wrong, the first reaction is often to fix what we can see. Customers complain about delays, so we hire more staff. But if the real cause is a slow approval process, extra people will not help. Skilled problem-solvers distinguish symptoms from root causes. They begin by describing the problem precisely: what exactly is happening, where, since when and how often? They gather facts rather than opinions and ask “why” several times to dig below the surface. Then they consider more than one possible explanation before choosing a solution. It also helps to involve people who are close to the work, since they often see what managers miss. Finally, they test the solution on a small scale and check whether the problem has really gone away.</a:t>
            </a:r>
          </a:p>
          <a:p>
            <a:r>
              <a:t>distinguish = 区分。dig below the surface = 深挖。on a small scale = 小范围试点。symptom = 症状。</a:t>
            </a:r>
          </a:p>
        </p:txBody>
      </p:sp>
      <p:sp>
        <p:nvSpPr>
          <p:cNvPr id="4" name="Slide Number Placeholder 3"/>
          <p:cNvSpPr>
            <a:spLocks noGrp="1"/>
          </p:cNvSpPr>
          <p:nvPr>
            <p:ph type="sldNum" idx="5" sz="quarter"/>
          </p:nvPr>
        </p:nvSpPr>
        <p:spPr/>
      </p:sp>
    </p:spTree>
  </p:cSld>
  <p:clrMapOvr>
    <a:masterClrMapping/>
  </p:clrMapOvr>
</p:notes>
</file>

<file path=ppt/notesSlides/notesSlide3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is the typical first reaction to a problem?</a:t>
            </a:r>
          </a:p>
          <a:p>
            <a:r>
              <a:t>A: To fix the visible symptom.</a:t>
            </a:r>
          </a:p>
          <a:p>
            <a:r>
              <a:t>Q2. How do skilled problem-solvers begin?</a:t>
            </a:r>
          </a:p>
          <a:p>
            <a:r>
              <a:t>A: By describing the problem precisely: what, where, since when, how often.</a:t>
            </a:r>
          </a:p>
          <a:p>
            <a:r>
              <a:t>Q3. Why involve people close to the work?</a:t>
            </a:r>
          </a:p>
          <a:p>
            <a:r>
              <a:t>A: They often see what managers miss.</a:t>
            </a:r>
          </a:p>
        </p:txBody>
      </p:sp>
      <p:sp>
        <p:nvSpPr>
          <p:cNvPr id="4" name="Slide Number Placeholder 3"/>
          <p:cNvSpPr>
            <a:spLocks noGrp="1"/>
          </p:cNvSpPr>
          <p:nvPr>
            <p:ph type="sldNum" idx="5" sz="quarter"/>
          </p:nvPr>
        </p:nvSpPr>
        <p:spPr/>
      </p:sp>
    </p:spTree>
  </p:cSld>
  <p:clrMapOvr>
    <a:masterClrMapping/>
  </p:clrMapOvr>
</p:notes>
</file>

<file path=ppt/notesSlides/notesSlide3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Describing problems 描述问题</a:t>
            </a:r>
          </a:p>
          <a:p>
            <a:r>
              <a:t>领读 → 学员跟读 → 请学员用表达造一个和自己工作相关的句子。</a:t>
            </a:r>
          </a:p>
          <a:p>
            <a:r>
              <a:t>issue / problem (noun) 问题 — “We have an issue with delivery.”</a:t>
            </a:r>
          </a:p>
          <a:p>
            <a:r>
              <a:t>root cause (noun phrase) 根本原因 — “What’s the root cause?”</a:t>
            </a:r>
          </a:p>
          <a:p>
            <a:r>
              <a:t>symptom (noun) 表面现象 — “Slow replies are a symptom.”</a:t>
            </a:r>
          </a:p>
          <a:p>
            <a:r>
              <a:t>malfunction (verb / noun) 故障 — “The printer malfunctioned.”</a:t>
            </a:r>
          </a:p>
          <a:p>
            <a:r>
              <a:t>recurring (adjective) 反复出现的 — “This is a recurring issue.”</a:t>
            </a:r>
          </a:p>
          <a:p>
            <a:r>
              <a:t>urgent (adjective) 紧急的 — “It’s urgent, so call me.”</a:t>
            </a:r>
          </a:p>
        </p:txBody>
      </p:sp>
      <p:sp>
        <p:nvSpPr>
          <p:cNvPr id="4" name="Slide Number Placeholder 3"/>
          <p:cNvSpPr>
            <a:spLocks noGrp="1"/>
          </p:cNvSpPr>
          <p:nvPr>
            <p:ph type="sldNum" idx="5" sz="quarter"/>
          </p:nvPr>
        </p:nvSpPr>
        <p:spPr/>
      </p:sp>
    </p:spTree>
  </p:cSld>
  <p:clrMapOvr>
    <a:masterClrMapping/>
  </p:clrMapOvr>
</p:notes>
</file>

<file path=ppt/notesSlides/notesSlide3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Analysing and solving ★ 分析与解决</a:t>
            </a:r>
          </a:p>
          <a:p>
            <a:r>
              <a:t>领读 → 学员跟读 → 请学员用表达造一个和自己工作相关的句子。</a:t>
            </a:r>
          </a:p>
          <a:p>
            <a:r>
              <a:t>★ get to the bottom of (idiom) 查明真相 — “We need to get to the bottom of this.”</a:t>
            </a:r>
          </a:p>
          <a:p>
            <a:r>
              <a:t>★ narrow down (phrasal verb) 缩小范围 — “Let’s narrow down the possible causes.”</a:t>
            </a:r>
          </a:p>
          <a:p>
            <a:r>
              <a:t>★ rule out (phrasal verb) 排除 — “We can rule out a software bug.”</a:t>
            </a:r>
          </a:p>
          <a:p>
            <a:r>
              <a:t>★ come up with (phrasal verb) 想出 — “Let’s come up with a few solutions.”</a:t>
            </a:r>
          </a:p>
          <a:p>
            <a:r>
              <a:t>★ quick fix (noun phrase) 临时补救 — “A quick fix isn’t enough.”</a:t>
            </a:r>
          </a:p>
          <a:p>
            <a:r>
              <a:t>★ tackle the problem (collocation) 着手解决 — “Let’s tackle the problem head on.”</a:t>
            </a:r>
          </a:p>
        </p:txBody>
      </p:sp>
      <p:sp>
        <p:nvSpPr>
          <p:cNvPr id="4" name="Slide Number Placeholder 3"/>
          <p:cNvSpPr>
            <a:spLocks noGrp="1"/>
          </p:cNvSpPr>
          <p:nvPr>
            <p:ph type="sldNum" idx="5" sz="quarter"/>
          </p:nvPr>
        </p:nvSpPr>
        <p:spPr/>
      </p:sp>
    </p:spTree>
  </p:cSld>
  <p:clrMapOvr>
    <a:masterClrMapping/>
  </p:clrMapOvr>
</p:notes>
</file>

<file path=ppt/notesSlides/notesSlide3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3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root cause / symptom / recurring / get to the bottom of / rule out / quick fix</a:t>
            </a:r>
          </a:p>
          <a:p>
            <a:r>
              <a:t>1. We need to find the _______ of the delays. → root cause</a:t>
            </a:r>
          </a:p>
          <a:p>
            <a:r>
              <a:t>2. Late deliveries are a _______ of a deeper problem. → symptom</a:t>
            </a:r>
          </a:p>
          <a:p>
            <a:r>
              <a:t>3. This is a _______ issue that keeps coming back. → recurring</a:t>
            </a:r>
          </a:p>
          <a:p>
            <a:r>
              <a:t>4. I want to _______ why sales fell. → get to the bottom of</a:t>
            </a:r>
          </a:p>
          <a:p>
            <a:r>
              <a:t>5. We can _______ a technical fault, because everything was tested. → rule out</a:t>
            </a:r>
          </a:p>
          <a:p>
            <a:r>
              <a:t>6. A _______ will help for now, but we need a lasting solution. → quick fix</a:t>
            </a:r>
          </a:p>
          <a:p>
            <a:r>
              <a:t>Mistake Watch (拼写与搭配): problem (not “problen”), solution (to a problem), recurring (double r). Solve a problem / find a solution to, address / tackle / deal with an issue. Issue is neutral and often softer than problem. Identify (not “identity”).</a:t>
            </a:r>
          </a:p>
        </p:txBody>
      </p:sp>
      <p:sp>
        <p:nvSpPr>
          <p:cNvPr id="4" name="Slide Number Placeholder 3"/>
          <p:cNvSpPr>
            <a:spLocks noGrp="1"/>
          </p:cNvSpPr>
          <p:nvPr>
            <p:ph type="sldNum" idx="5" sz="quarter"/>
          </p:nvPr>
        </p:nvSpPr>
        <p:spPr/>
      </p:sp>
    </p:spTree>
  </p:cSld>
  <p:clrMapOvr>
    <a:masterClrMapping/>
  </p:clrMapOvr>
</p:notes>
</file>

<file path=ppt/notesSlides/notesSlide3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Analysing a problem together 一起分析问题</a:t>
            </a:r>
          </a:p>
          <a:p>
            <a:r>
              <a:t>情景：Customer complaints about late deliveries have increased. You and a colleague try to identify the cause.</a:t>
            </a:r>
          </a:p>
          <a:p>
            <a:r>
              <a:t>Role A: Una Lee, operations analyst (you) Role B: Raj Singh, logistics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3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(Una): Raj, I’ve noticed that complaints about late deliveries have doubled since March.</a:t>
            </a:r>
          </a:p>
          <a:p>
            <a:r>
              <a:t>B (Raj): Yes, I’ve seen that. It’s worrying.</a:t>
            </a:r>
          </a:p>
          <a:p>
            <a:r>
              <a:t>A: Do we know where the delay happens? In the warehouse or in transit?</a:t>
            </a:r>
          </a:p>
          <a:p>
            <a:r>
              <a:t>B: Good question. I’d assumed it was the carrier.</a:t>
            </a:r>
          </a:p>
          <a:p>
            <a:r>
              <a:t>A: Have we checked whether it might be the packing stage?</a:t>
            </a:r>
          </a:p>
          <a:p>
            <a:r>
              <a:t>B: Not yet. I can pull the data for each stage.</a:t>
            </a:r>
          </a:p>
        </p:txBody>
      </p:sp>
      <p:sp>
        <p:nvSpPr>
          <p:cNvPr id="4" name="Slide Number Placeholder 3"/>
          <p:cNvSpPr>
            <a:spLocks noGrp="1"/>
          </p:cNvSpPr>
          <p:nvPr>
            <p:ph type="sldNum" idx="5" sz="quarter"/>
          </p:nvPr>
        </p:nvSpPr>
        <p:spPr/>
      </p:sp>
    </p:spTree>
  </p:cSld>
  <p:clrMapOvr>
    <a:masterClrMapping/>
  </p:clrMapOvr>
</p:notes>
</file>

<file path=ppt/notesSlides/notesSlide3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 would help. Let’s also rule out a stock problem.</a:t>
            </a:r>
          </a:p>
          <a:p>
            <a:r>
              <a:t>B: Stock is fine. But we did introduce a new order system in February.</a:t>
            </a:r>
          </a:p>
          <a:p>
            <a:r>
              <a:t>A: That might be a factor. It seems to be causing manual checks.</a:t>
            </a:r>
          </a:p>
          <a:p>
            <a:r>
              <a:t>B: Possibly. Let’s narrow it down by comparing orders before and after the change.</a:t>
            </a:r>
          </a:p>
          <a:p>
            <a:r>
              <a:t>A: Good idea. Can we look at it on Thursday?</a:t>
            </a:r>
          </a:p>
          <a:p>
            <a:r>
              <a:t>B: Yes. I’ll have the data by then, and we can decide on a fix.</a:t>
            </a:r>
          </a:p>
        </p:txBody>
      </p:sp>
      <p:sp>
        <p:nvSpPr>
          <p:cNvPr id="4" name="Slide Number Placeholder 3"/>
          <p:cNvSpPr>
            <a:spLocks noGrp="1"/>
          </p:cNvSpPr>
          <p:nvPr>
            <p:ph type="sldNum" idx="5" sz="quarter"/>
          </p:nvPr>
        </p:nvSpPr>
        <p:spPr/>
      </p:sp>
    </p:spTree>
  </p:cSld>
  <p:clrMapOvr>
    <a:masterClrMapping/>
  </p:clrMapOvr>
</p:notes>
</file>

<file path=ppt/notesSlides/notesSlide3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52 | </a:t>
            </a:r>
          </a:p>
          <a:p>
            <a:r>
              <a:t>Situation | You analyse a problem with a colleague.</a:t>
            </a:r>
          </a:p>
          <a:p>
            <a:r>
              <a:t>Your role (A) | Analyst. Problem: ______________</a:t>
            </a:r>
          </a:p>
          <a:p>
            <a:r>
              <a:t>Partner’s role (B) | Colleague. Offer a possible cause.</a:t>
            </a:r>
          </a:p>
          <a:p>
            <a:r>
              <a:t>Must use (4 or more) | I’ve noticed that · root cause · rule out · narrow down · it seems to be · get to the bottom of</a:t>
            </a:r>
          </a:p>
          <a:p>
            <a:r>
              <a:t>Goal | Describe the issue, suggest causes and agree what to check.</a:t>
            </a:r>
          </a:p>
          <a:p>
            <a:r>
              <a:t>My notes | ____________________________________________</a:t>
            </a:r>
          </a:p>
          <a:p>
            <a:r>
              <a:t>Raj says: “Let’s just hire more people.” Challenge politely.</a:t>
            </a:r>
          </a:p>
          <a:p>
            <a:r>
              <a:t>Write a one-sentence problem statement.</a:t>
            </a:r>
          </a:p>
          <a:p>
            <a:r>
              <a:t>Summarise findings and propose a solution.</a:t>
            </a:r>
          </a:p>
        </p:txBody>
      </p:sp>
      <p:sp>
        <p:nvSpPr>
          <p:cNvPr id="4" name="Slide Number Placeholder 3"/>
          <p:cNvSpPr>
            <a:spLocks noGrp="1"/>
          </p:cNvSpPr>
          <p:nvPr>
            <p:ph type="sldNum" idx="5" sz="quarter"/>
          </p:nvPr>
        </p:nvSpPr>
        <p:spPr/>
      </p:sp>
    </p:spTree>
  </p:cSld>
  <p:clrMapOvr>
    <a:masterClrMapping/>
  </p:clrMapOvr>
</p:notes>
</file>

<file path=ppt/notesSlides/notesSlide3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do you approach a difficult problem? | “First, I try to… then I…”</a:t>
            </a:r>
          </a:p>
          <a:p>
            <a:r>
              <a:t>2. Is it better to fix a problem quickly or find the root cause? | “It depends on the urgency… / A quick fix can…”</a:t>
            </a:r>
          </a:p>
          <a:p>
            <a:r>
              <a:t>3. Who should be involved in solving a problem? | “People who are close to… / Ideally a mix of…”</a:t>
            </a:r>
          </a:p>
          <a:p>
            <a:r>
              <a:t>4. How can you spot problems early? | “By monitoring… / Paying attention to…”</a:t>
            </a:r>
          </a:p>
        </p:txBody>
      </p:sp>
      <p:sp>
        <p:nvSpPr>
          <p:cNvPr id="4" name="Slide Number Placeholder 3"/>
          <p:cNvSpPr>
            <a:spLocks noGrp="1"/>
          </p:cNvSpPr>
          <p:nvPr>
            <p:ph type="sldNum" idx="5" sz="quarter"/>
          </p:nvPr>
        </p:nvSpPr>
        <p:spPr/>
      </p:sp>
    </p:spTree>
  </p:cSld>
  <p:clrMapOvr>
    <a:masterClrMapping/>
  </p:clrMapOvr>
</p:notes>
</file>

<file path=ppt/notesSlides/notesSlide3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“It depends on the urgency. If a customer’s system is down, I’d start with a quick fix to restore service, because waiting for the root cause would cause more harm. But as soon as the immediate pressure is off, I’d investigate the underlying cause, otherwise the problem will keep coming back. So the answer is both: fix first, then find the cause, and make sure the lesson is shared.”</a:t>
            </a:r>
          </a:p>
          <a:p>
            <a:r>
              <a:t>restore = 恢复。”the pressure is off” = 压力减轻。underlying = 潜在的。”come back” = 复发。</a:t>
            </a:r>
          </a:p>
        </p:txBody>
      </p:sp>
      <p:sp>
        <p:nvSpPr>
          <p:cNvPr id="4" name="Slide Number Placeholder 3"/>
          <p:cNvSpPr>
            <a:spLocks noGrp="1"/>
          </p:cNvSpPr>
          <p:nvPr>
            <p:ph type="sldNum" idx="5" sz="quarter"/>
          </p:nvPr>
        </p:nvSpPr>
        <p:spPr/>
      </p:sp>
    </p:spTree>
  </p:cSld>
  <p:clrMapOvr>
    <a:masterClrMapping/>
  </p:clrMapOvr>
</p:notes>
</file>

<file path=ppt/notesSlides/notesSlide3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There is a problem. | We’ve hit a snag. / There’s an issue with… | 地道</a:t>
            </a:r>
          </a:p>
          <a:p>
            <a:r>
              <a:t>I don’t know why. | I’m not sure what’s causing it. | 自然</a:t>
            </a:r>
          </a:p>
          <a:p>
            <a:r>
              <a:t>Check it. | Could we check whether it’s the packing stage? | 礼貌</a:t>
            </a:r>
          </a:p>
          <a:p>
            <a:r>
              <a:t>It is not that. | We can rule that out. | 术语</a:t>
            </a:r>
          </a:p>
          <a:p>
            <a:r>
              <a:t>We fix it. | We need a permanent solution. | 具体</a:t>
            </a:r>
          </a:p>
          <a:p/>
        </p:txBody>
      </p:sp>
      <p:sp>
        <p:nvSpPr>
          <p:cNvPr id="4" name="Slide Number Placeholder 3"/>
          <p:cNvSpPr>
            <a:spLocks noGrp="1"/>
          </p:cNvSpPr>
          <p:nvPr>
            <p:ph type="sldNum" idx="5" sz="quarter"/>
          </p:nvPr>
        </p:nvSpPr>
        <p:spPr/>
      </p:sp>
    </p:spTree>
  </p:cSld>
  <p:clrMapOvr>
    <a:masterClrMapping/>
  </p:clrMapOvr>
</p:notes>
</file>

<file path=ppt/notesSlides/notesSlide3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Present perfect for recent changes: “Complaints have doubled.” / “Sales have dropped since May.”</a:t>
            </a:r>
          </a:p>
          <a:p>
            <a:r>
              <a:t>Modals of possibility: might, could, may, must be, can’t be: “It could be the system.” / “It can’t be the carrier.”</a:t>
            </a:r>
          </a:p>
          <a:p>
            <a:r>
              <a:t>Indirect questions: Do we know where the delay happens? (not “where does the delay happen”)</a:t>
            </a:r>
          </a:p>
          <a:p>
            <a:r>
              <a:t>Reporting facts neutrally: I’ve noticed / It appears that / The data shows…</a:t>
            </a:r>
          </a:p>
          <a:p/>
        </p:txBody>
      </p:sp>
      <p:sp>
        <p:nvSpPr>
          <p:cNvPr id="4" name="Slide Number Placeholder 3"/>
          <p:cNvSpPr>
            <a:spLocks noGrp="1"/>
          </p:cNvSpPr>
          <p:nvPr>
            <p:ph type="sldNum" idx="5" sz="quarter"/>
          </p:nvPr>
        </p:nvSpPr>
        <p:spPr/>
      </p:sp>
    </p:spTree>
  </p:cSld>
  <p:clrMapOvr>
    <a:masterClrMapping/>
  </p:clrMapOvr>
</p:notes>
</file>

<file path=ppt/notesSlides/notesSlide3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Where is the problem happens?  →  ✓ Where does the problem happen?  (助动词)</a:t>
            </a:r>
          </a:p>
          <a:p>
            <a:r>
              <a:t>✗ I want to know what is the cause.  →  ✓ I want to know what the cause is.  (间接疑问)</a:t>
            </a:r>
          </a:p>
          <a:p>
            <a:r>
              <a:t>✗ The problem is occurred since March.  →  ✓ The problem has occurred since March. / The problem has been occurring since March.  (occur 不用被动)</a:t>
            </a:r>
          </a:p>
          <a:p>
            <a:r>
              <a:t>Mistake Watch: Check indirect questions, modals of deduction (must / can’t be), and intransitive verbs (occur, exist).</a:t>
            </a:r>
          </a:p>
        </p:txBody>
      </p:sp>
      <p:sp>
        <p:nvSpPr>
          <p:cNvPr id="4" name="Slide Number Placeholder 3"/>
          <p:cNvSpPr>
            <a:spLocks noGrp="1"/>
          </p:cNvSpPr>
          <p:nvPr>
            <p:ph type="sldNum" idx="5" sz="quarter"/>
          </p:nvPr>
        </p:nvSpPr>
        <p:spPr/>
      </p:sp>
    </p:spTree>
  </p:cSld>
  <p:clrMapOvr>
    <a:masterClrMapping/>
  </p:clrMapOvr>
</p:notes>
</file>

<file path=ppt/notesSlides/notesSlide3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must to solve it.  →  ✓ We must solve it.  (must + 原形)</a:t>
            </a:r>
          </a:p>
          <a:p>
            <a:r>
              <a:t>✗ It must be not the system.  →  ✓ It can’t be the system.  (否定推测)</a:t>
            </a:r>
          </a:p>
          <a:p>
            <a:r>
              <a:t>✗ The problem is exist.  →  ✓ The problem exists.  (exist 实义动词)</a:t>
            </a:r>
          </a:p>
          <a:p>
            <a:r>
              <a:t>Mistake Watch: Check indirect questions, modals of deduction (must / can’t be), and intransitive verbs (occur, exist).</a:t>
            </a:r>
          </a:p>
        </p:txBody>
      </p:sp>
      <p:sp>
        <p:nvSpPr>
          <p:cNvPr id="4" name="Slide Number Placeholder 3"/>
          <p:cNvSpPr>
            <a:spLocks noGrp="1"/>
          </p:cNvSpPr>
          <p:nvPr>
            <p:ph type="sldNum" idx="5" sz="quarter"/>
          </p:nvPr>
        </p:nvSpPr>
        <p:spPr/>
      </p:sp>
    </p:spTree>
  </p:cSld>
  <p:clrMapOvr>
    <a:masterClrMapping/>
  </p:clrMapOvr>
</p:notes>
</file>

<file path=ppt/notesSlides/notesSlide3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“Problem” vs “challenge”: In English offices “challenge” or “issue” is often used instead of “problem” to sound constructive.</a:t>
            </a:r>
          </a:p>
          <a:p>
            <a:r>
              <a:t>Speaking up: Raising an issue early is considered responsible, not negative.</a:t>
            </a:r>
          </a:p>
          <a:p>
            <a:r>
              <a:t>Data over opinion: Stating “the data shows…” strengthens your case.</a:t>
            </a:r>
          </a:p>
          <a:p>
            <a:r>
              <a:t>occur / exist / happen 是不及物动词,不用被动。间接疑问句语序:what the cause is。推测:must be(肯定)/ can’t be(否定)。</a:t>
            </a:r>
          </a:p>
        </p:txBody>
      </p:sp>
      <p:sp>
        <p:nvSpPr>
          <p:cNvPr id="4" name="Slide Number Placeholder 3"/>
          <p:cNvSpPr>
            <a:spLocks noGrp="1"/>
          </p:cNvSpPr>
          <p:nvPr>
            <p:ph type="sldNum" idx="5" sz="quarter"/>
          </p:nvPr>
        </p:nvSpPr>
        <p:spPr/>
      </p:sp>
    </p:spTree>
  </p:cSld>
  <p:clrMapOvr>
    <a:masterClrMapping/>
  </p:clrMapOvr>
</p:notes>
</file>

<file path=ppt/notesSlides/notesSlide3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a problem precisely.</a:t>
            </a:r>
          </a:p>
          <a:p>
            <a:r>
              <a:t>I can discuss possible causes with modals of possibility.</a:t>
            </a:r>
          </a:p>
          <a:p>
            <a:r>
              <a:t>I can use indirect questions correctly.</a:t>
            </a:r>
          </a:p>
          <a:p>
            <a:r>
              <a:t>I can use occur / exist / happen correctly (no passive).</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3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indirect questions, modals of deduction, and intransitive verbs like happen.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53 · Research and Development 研发与创新</a:t>
            </a:r>
          </a:p>
          <a:p>
            <a:r>
              <a:t>Goal: talk about R&amp;D and innovation: investing in research, developing products, protecting ideas and managing the risk of failure.</a:t>
            </a:r>
          </a:p>
        </p:txBody>
      </p:sp>
      <p:sp>
        <p:nvSpPr>
          <p:cNvPr id="4" name="Slide Number Placeholder 3"/>
          <p:cNvSpPr>
            <a:spLocks noGrp="1"/>
          </p:cNvSpPr>
          <p:nvPr>
            <p:ph type="sldNum" idx="5" sz="quarter"/>
          </p:nvPr>
        </p:nvSpPr>
        <p:spPr/>
      </p:sp>
    </p:spTree>
  </p:cSld>
  <p:clrMapOvr>
    <a:masterClrMapping/>
  </p:clrMapOvr>
</p:notes>
</file>

<file path=ppt/notesSlides/notesSlide3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R&amp;D = Research and Development。invention = 发明,innovation = 创新(把想法变成价值)。patent = 专利。</a:t>
            </a:r>
          </a:p>
        </p:txBody>
      </p:sp>
      <p:sp>
        <p:nvSpPr>
          <p:cNvPr id="4" name="Slide Number Placeholder 3"/>
          <p:cNvSpPr>
            <a:spLocks noGrp="1"/>
          </p:cNvSpPr>
          <p:nvPr>
            <p:ph type="sldNum" idx="5" sz="quarter"/>
          </p:nvPr>
        </p:nvSpPr>
        <p:spPr/>
      </p:sp>
    </p:spTree>
  </p:cSld>
  <p:clrMapOvr>
    <a:masterClrMapping/>
  </p:clrMapOvr>
</p:notes>
</file>

<file path=ppt/notesSlides/notesSlide3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why a company should invest in R&amp;D, and how to manage risk.</a:t>
            </a:r>
          </a:p>
          <a:p>
            <a:r>
              <a:t>Say: why → what to fund → how to manage risk → how to measure</a:t>
            </a:r>
          </a:p>
          <a:p>
            <a:r>
              <a:t>Useful starters: “Investing in R&amp;D allows a company to…” / “One way to manage the risk is to…” / “We would measure success by…”</a:t>
            </a:r>
          </a:p>
          <a:p>
            <a:r>
              <a:t>allow sb to do sth。manage the risk = 管理风险。measure success by… 说明衡量方式。</a:t>
            </a:r>
          </a:p>
        </p:txBody>
      </p:sp>
      <p:sp>
        <p:nvSpPr>
          <p:cNvPr id="4" name="Slide Number Placeholder 3"/>
          <p:cNvSpPr>
            <a:spLocks noGrp="1"/>
          </p:cNvSpPr>
          <p:nvPr>
            <p:ph type="sldNum" idx="5" sz="quarter"/>
          </p:nvPr>
        </p:nvSpPr>
        <p:spPr/>
      </p:sp>
    </p:spTree>
  </p:cSld>
  <p:clrMapOvr>
    <a:masterClrMapping/>
  </p:clrMapOvr>
</p:notes>
</file>

<file path=ppt/notesSlides/notesSlide3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Research and development is a bet on the future. Companies spend money today on ideas that may or may not become profitable products. Without it, firms risk falling behind competitors who offer something new. R&amp;D can take several forms: basic research, which explores new knowledge; applied research, which solves specific problems; and development, which turns ideas into prototypes and products. Because many projects fail, smart organisations manage a portfolio, funding several ideas at once and stopping those that show little promise. They also protect valuable ideas with patents, and they build a culture where employees are allowed to experiment and fail safely. Measuring results is not easy; patents filed, new products launched and revenue from recent innovations are common indicators, though none gives the full picture.</a:t>
            </a:r>
          </a:p>
          <a:p>
            <a:r>
              <a:t>prototype = 原型。portfolio = 组合。patent = 专利。indicator = 指标。”full picture” = 全貌。</a:t>
            </a:r>
          </a:p>
        </p:txBody>
      </p:sp>
      <p:sp>
        <p:nvSpPr>
          <p:cNvPr id="4" name="Slide Number Placeholder 3"/>
          <p:cNvSpPr>
            <a:spLocks noGrp="1"/>
          </p:cNvSpPr>
          <p:nvPr>
            <p:ph type="sldNum" idx="5" sz="quarter"/>
          </p:nvPr>
        </p:nvSpPr>
        <p:spPr/>
      </p:sp>
    </p:spTree>
  </p:cSld>
  <p:clrMapOvr>
    <a:masterClrMapping/>
  </p:clrMapOvr>
</p:notes>
</file>

<file path=ppt/notesSlides/notesSlide3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is R&amp;D described as a bet?</a:t>
            </a:r>
          </a:p>
          <a:p>
            <a:r>
              <a:t>A: Because it spends money now on ideas that may or may not become profitable.</a:t>
            </a:r>
          </a:p>
          <a:p>
            <a:r>
              <a:t>Q2. What are the three forms of R&amp;D mentioned?</a:t>
            </a:r>
          </a:p>
          <a:p>
            <a:r>
              <a:t>A: Basic research, applied research and development.</a:t>
            </a:r>
          </a:p>
          <a:p>
            <a:r>
              <a:t>Q3. Why manage a portfolio of projects?</a:t>
            </a:r>
          </a:p>
          <a:p>
            <a:r>
              <a:t>A: Because many projects fail, so funding several at once and stopping weak ones reduces risk.</a:t>
            </a:r>
          </a:p>
        </p:txBody>
      </p:sp>
      <p:sp>
        <p:nvSpPr>
          <p:cNvPr id="4" name="Slide Number Placeholder 3"/>
          <p:cNvSpPr>
            <a:spLocks noGrp="1"/>
          </p:cNvSpPr>
          <p:nvPr>
            <p:ph type="sldNum" idx="5" sz="quarter"/>
          </p:nvPr>
        </p:nvSpPr>
        <p:spPr/>
      </p:sp>
    </p:spTree>
  </p:cSld>
  <p:clrMapOvr>
    <a:masterClrMapping/>
  </p:clrMapOvr>
</p:notes>
</file>

<file path=ppt/notesSlides/notesSlide3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Research and innovation 研发与创新</a:t>
            </a:r>
          </a:p>
          <a:p>
            <a:r>
              <a:t>领读 → 学员跟读 → 请学员用表达造一个和自己工作相关的句子。</a:t>
            </a:r>
          </a:p>
          <a:p>
            <a:r>
              <a:t>R&amp;D (research and development) (noun) 研发 — “They spend 10% of revenue on R&amp;D.”</a:t>
            </a:r>
          </a:p>
          <a:p>
            <a:r>
              <a:t>prototype (noun) 原型 — “The prototype works well.”</a:t>
            </a:r>
          </a:p>
          <a:p>
            <a:r>
              <a:t>patent (noun / verb) 专利 / 申请专利 — “We patented the design.”</a:t>
            </a:r>
          </a:p>
          <a:p>
            <a:r>
              <a:t>breakthrough (noun) 突破 — “A breakthrough in battery technology.”</a:t>
            </a:r>
          </a:p>
          <a:p>
            <a:r>
              <a:t>pilot (noun / verb) 试点 — “We piloted the product in Spain.”</a:t>
            </a:r>
          </a:p>
          <a:p>
            <a:r>
              <a:t>innovation (noun) 创新 — “Innovation drives growth.”</a:t>
            </a:r>
          </a:p>
        </p:txBody>
      </p:sp>
      <p:sp>
        <p:nvSpPr>
          <p:cNvPr id="4" name="Slide Number Placeholder 3"/>
          <p:cNvSpPr>
            <a:spLocks noGrp="1"/>
          </p:cNvSpPr>
          <p:nvPr>
            <p:ph type="sldNum" idx="5" sz="quarter"/>
          </p:nvPr>
        </p:nvSpPr>
        <p:spPr/>
      </p:sp>
    </p:spTree>
  </p:cSld>
  <p:clrMapOvr>
    <a:masterClrMapping/>
  </p:clrMapOvr>
</p:notes>
</file>

<file path=ppt/notesSlides/notesSlide3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Managing innovation ★ 管理创新</a:t>
            </a:r>
          </a:p>
          <a:p>
            <a:r>
              <a:t>领读 → 学员跟读 → 请学员用表达造一个和自己工作相关的句子。</a:t>
            </a:r>
          </a:p>
          <a:p>
            <a:r>
              <a:t>★ cutting-edge (adjective) 前沿的 — “Our lab uses cutting-edge technology.”</a:t>
            </a:r>
          </a:p>
          <a:p>
            <a:r>
              <a:t>★ back to the drawing board (idiom) 重新设计 — “The test failed, so it’s back to the drawing board.”</a:t>
            </a:r>
          </a:p>
          <a:p>
            <a:r>
              <a:t>★ bring to market (collocation) 推向市场 — “It took five years to bring the product to market.”</a:t>
            </a:r>
          </a:p>
          <a:p>
            <a:r>
              <a:t>★ think outside the box (idiom) 跳出常规思考 — “We encourage staff to think outside the box.”</a:t>
            </a:r>
          </a:p>
          <a:p>
            <a:r>
              <a:t>★ fail fast (collocation) 快速试错 — “Fail fast and learn.”</a:t>
            </a:r>
          </a:p>
          <a:p>
            <a:r>
              <a:t>★ intellectual property (noun phrase) 知识产权 — “We protect our intellectual property.”</a:t>
            </a:r>
          </a:p>
        </p:txBody>
      </p:sp>
      <p:sp>
        <p:nvSpPr>
          <p:cNvPr id="4" name="Slide Number Placeholder 3"/>
          <p:cNvSpPr>
            <a:spLocks noGrp="1"/>
          </p:cNvSpPr>
          <p:nvPr>
            <p:ph type="sldNum" idx="5" sz="quarter"/>
          </p:nvPr>
        </p:nvSpPr>
        <p:spPr/>
      </p:sp>
    </p:spTree>
  </p:cSld>
  <p:clrMapOvr>
    <a:masterClrMapping/>
  </p:clrMapOvr>
</p:notes>
</file>

<file path=ppt/notesSlides/notesSlide3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3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R&amp;D / prototype / patent / breakthrough / pilot / intellectual property</a:t>
            </a:r>
          </a:p>
          <a:p>
            <a:r>
              <a:t>1. The company invests heavily in _______. → R&amp;D</a:t>
            </a:r>
          </a:p>
          <a:p>
            <a:r>
              <a:t>2. The engineers built a working _______ in three months. → prototype</a:t>
            </a:r>
          </a:p>
          <a:p>
            <a:r>
              <a:t>3. They filed a _______ to protect the new design. → patent</a:t>
            </a:r>
          </a:p>
          <a:p>
            <a:r>
              <a:t>4. Researchers announced a major _______ in battery technology. → breakthrough</a:t>
            </a:r>
          </a:p>
          <a:p>
            <a:r>
              <a:t>5. We will _______ the product in two cities first. → pilot</a:t>
            </a:r>
          </a:p>
          <a:p>
            <a:r>
              <a:t>6. Copying our software violates our _______. → intellectual property</a:t>
            </a:r>
          </a:p>
          <a:p>
            <a:r>
              <a:t>Mistake Watch (拼写与搭配): research (uncountable: “some research”, “a piece of research”), innovation, prototype (not “protoype”). Carry out / conduct research (not “do researches”). Come up with an idea. Invent a thing, innovate a way. Invest in (not “invest on”).</a:t>
            </a:r>
          </a:p>
        </p:txBody>
      </p:sp>
      <p:sp>
        <p:nvSpPr>
          <p:cNvPr id="4" name="Slide Number Placeholder 3"/>
          <p:cNvSpPr>
            <a:spLocks noGrp="1"/>
          </p:cNvSpPr>
          <p:nvPr>
            <p:ph type="sldNum" idx="5" sz="quarter"/>
          </p:nvPr>
        </p:nvSpPr>
        <p:spPr/>
      </p:sp>
    </p:spTree>
  </p:cSld>
  <p:clrMapOvr>
    <a:masterClrMapping/>
  </p:clrMapOvr>
</p:notes>
</file>

<file path=ppt/notesSlides/notesSlide3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Pitching an R&amp;D investment 提出研发投入方案</a:t>
            </a:r>
          </a:p>
          <a:p>
            <a:r>
              <a:t>情景：You ask your director to approve a six-month research project on a new product feature.</a:t>
            </a:r>
          </a:p>
          <a:p>
            <a:r>
              <a:t>Role A: Mia Ho, product developer (you) Role B: Mr Grant, director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3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(Mia): Mr Grant, thanks for your time. I’d like to propose a six-month research project on a smart-sensor feature.</a:t>
            </a:r>
          </a:p>
          <a:p>
            <a:r>
              <a:t>B (Mr Grant): Tell me more. What’s the opportunity?</a:t>
            </a:r>
          </a:p>
          <a:p>
            <a:r>
              <a:t>A: Customers keep asking for better monitoring, and two competitors are already working on it.</a:t>
            </a:r>
          </a:p>
          <a:p>
            <a:r>
              <a:t>B: What would it cost?</a:t>
            </a:r>
          </a:p>
          <a:p>
            <a:r>
              <a:t>A: About eighty thousand pounds, mainly for engineers and testing equipment.</a:t>
            </a:r>
          </a:p>
        </p:txBody>
      </p:sp>
      <p:sp>
        <p:nvSpPr>
          <p:cNvPr id="4" name="Slide Number Placeholder 3"/>
          <p:cNvSpPr>
            <a:spLocks noGrp="1"/>
          </p:cNvSpPr>
          <p:nvPr>
            <p:ph type="sldNum" idx="5" sz="quarter"/>
          </p:nvPr>
        </p:nvSpPr>
        <p:spPr/>
      </p:sp>
    </p:spTree>
  </p:cSld>
  <p:clrMapOvr>
    <a:masterClrMapping/>
  </p:clrMapOvr>
</p:notes>
</file>

<file path=ppt/notesSlides/notesSlide3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That’s significant. What if it doesn’t work?</a:t>
            </a:r>
          </a:p>
          <a:p>
            <a:r>
              <a:t>A: One way to manage the risk is to fund it in stages. After three months we review results and decide whether to continue.</a:t>
            </a:r>
          </a:p>
          <a:p>
            <a:r>
              <a:t>B: And the upside?</a:t>
            </a:r>
          </a:p>
          <a:p>
            <a:r>
              <a:t>A: If it works, it could add around ten per cent to sales, and we could patent the design.</a:t>
            </a:r>
          </a:p>
          <a:p>
            <a:r>
              <a:t>B: How would you measure success?</a:t>
            </a:r>
          </a:p>
        </p:txBody>
      </p:sp>
      <p:sp>
        <p:nvSpPr>
          <p:cNvPr id="4" name="Slide Number Placeholder 3"/>
          <p:cNvSpPr>
            <a:spLocks noGrp="1"/>
          </p:cNvSpPr>
          <p:nvPr>
            <p:ph type="sldNum" idx="5" sz="quarter"/>
          </p:nvPr>
        </p:nvSpPr>
        <p:spPr/>
      </p:sp>
    </p:spTree>
  </p:cSld>
  <p:clrMapOvr>
    <a:masterClrMapping/>
  </p:clrMapOvr>
</p:notes>
</file>

<file path=ppt/notesSlides/notesSlide3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By prototype performance, customer interest in the pilot and the patent application.</a:t>
            </a:r>
          </a:p>
          <a:p>
            <a:r>
              <a:t>B: All right. I’m in favour of the staged approach. Send me a short proposal.</a:t>
            </a:r>
          </a:p>
          <a:p>
            <a:r>
              <a:t>A: Thank you. You’ll have it by Wednesday.</a:t>
            </a:r>
          </a:p>
        </p:txBody>
      </p:sp>
      <p:sp>
        <p:nvSpPr>
          <p:cNvPr id="4" name="Slide Number Placeholder 3"/>
          <p:cNvSpPr>
            <a:spLocks noGrp="1"/>
          </p:cNvSpPr>
          <p:nvPr>
            <p:ph type="sldNum" idx="5" sz="quarter"/>
          </p:nvPr>
        </p:nvSpPr>
        <p:spPr/>
      </p:sp>
    </p:spTree>
  </p:cSld>
  <p:clrMapOvr>
    <a:masterClrMapping/>
  </p:clrMapOvr>
</p:notes>
</file>

<file path=ppt/notesSlides/notesSlide3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53 | </a:t>
            </a:r>
          </a:p>
          <a:p>
            <a:r>
              <a:t>Situation | You pitch an R&amp;D investment.</a:t>
            </a:r>
          </a:p>
          <a:p>
            <a:r>
              <a:t>Your role (A) | Developer. Idea: ______________</a:t>
            </a:r>
          </a:p>
          <a:p>
            <a:r>
              <a:t>Partner’s role (B) | Director. Ask about cost, risk and return.</a:t>
            </a:r>
          </a:p>
          <a:p>
            <a:r>
              <a:t>Must use (4 or more) | invest in · prototype · fund in stages · patent · pilot · measure success</a:t>
            </a:r>
          </a:p>
          <a:p>
            <a:r>
              <a:t>Goal | Explain the opportunity, cost, risk and measurement.</a:t>
            </a:r>
          </a:p>
          <a:p>
            <a:r>
              <a:t>My notes | ____________________________________________</a:t>
            </a:r>
          </a:p>
          <a:p>
            <a:r>
              <a:t>Mr Grant says: “Our budget is frozen.” Suggest a smaller start.</a:t>
            </a:r>
          </a:p>
          <a:p>
            <a:r>
              <a:t>The prototype fails. Explain what you will do.</a:t>
            </a:r>
          </a:p>
          <a:p>
            <a:r>
              <a:t>Describe a recent innovation at your company or in your field.</a:t>
            </a:r>
          </a:p>
        </p:txBody>
      </p:sp>
      <p:sp>
        <p:nvSpPr>
          <p:cNvPr id="4" name="Slide Number Placeholder 3"/>
          <p:cNvSpPr>
            <a:spLocks noGrp="1"/>
          </p:cNvSpPr>
          <p:nvPr>
            <p:ph type="sldNum" idx="5" sz="quarter"/>
          </p:nvPr>
        </p:nvSpPr>
        <p:spPr/>
      </p:sp>
    </p:spTree>
  </p:cSld>
  <p:clrMapOvr>
    <a:masterClrMapping/>
  </p:clrMapOvr>
</p:notes>
</file>

<file path=ppt/notesSlides/notesSlide3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Why is R&amp;D important for competitiveness? | “R&amp;D allows companies to… / Without it…”</a:t>
            </a:r>
          </a:p>
          <a:p>
            <a:r>
              <a:t>2. What’s the difference between invention and innovation? | “An invention is… whereas innovation is…”</a:t>
            </a:r>
          </a:p>
          <a:p>
            <a:r>
              <a:t>3. Should governments fund R&amp;D? | “I think they should, because… / There’s a risk that…”</a:t>
            </a:r>
          </a:p>
          <a:p>
            <a:r>
              <a:t>4. How can employees be encouraged to innovate? | “By giving them time to… / Recognising…”</a:t>
            </a:r>
          </a:p>
        </p:txBody>
      </p:sp>
      <p:sp>
        <p:nvSpPr>
          <p:cNvPr id="4" name="Slide Number Placeholder 3"/>
          <p:cNvSpPr>
            <a:spLocks noGrp="1"/>
          </p:cNvSpPr>
          <p:nvPr>
            <p:ph type="sldNum" idx="5" sz="quarter"/>
          </p:nvPr>
        </p:nvSpPr>
        <p:spPr/>
      </p:sp>
    </p:spTree>
  </p:cSld>
  <p:clrMapOvr>
    <a:masterClrMapping/>
  </p:clrMapOvr>
</p:notes>
</file>

<file path=ppt/notesSlides/notesSlide3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“An invention is a new idea or device, while innovation is the process of turning it into something useful that people actually adopt. Many inventions never become products because nobody finds a way to make them practical, affordable or attractive. Innovation also includes new ways of working or serving customers, not only technology. So I’d say innovation is about creating value, not just creating something new.”</a:t>
            </a:r>
          </a:p>
          <a:p>
            <a:r>
              <a:t>adopt = 采用。affordable = 价格合理的。”creating value” = 创造价值。”not just…” = 不仅仅……。</a:t>
            </a:r>
          </a:p>
        </p:txBody>
      </p:sp>
      <p:sp>
        <p:nvSpPr>
          <p:cNvPr id="4" name="Slide Number Placeholder 3"/>
          <p:cNvSpPr>
            <a:spLocks noGrp="1"/>
          </p:cNvSpPr>
          <p:nvPr>
            <p:ph type="sldNum" idx="5" sz="quarter"/>
          </p:nvPr>
        </p:nvSpPr>
        <p:spPr/>
      </p:sp>
    </p:spTree>
  </p:cSld>
  <p:clrMapOvr>
    <a:masterClrMapping/>
  </p:clrMapOvr>
</p:notes>
</file>

<file path=ppt/notesSlides/notesSlide3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We research new things. | We carry out research into new materials. | 搭配</a:t>
            </a:r>
          </a:p>
          <a:p>
            <a:r>
              <a:t>We make a new product. | We’re developing a new product. | 持续动作</a:t>
            </a:r>
          </a:p>
          <a:p>
            <a:r>
              <a:t>It is a new idea. | It’s a real breakthrough. | 强调</a:t>
            </a:r>
          </a:p>
          <a:p>
            <a:r>
              <a:t>We will test it small. | We’ll run a pilot first. | 术语</a:t>
            </a:r>
          </a:p>
          <a:p>
            <a:r>
              <a:t>We must protect idea. | We must protect our intellectual property. | 术语</a:t>
            </a:r>
          </a:p>
          <a:p/>
        </p:txBody>
      </p:sp>
      <p:sp>
        <p:nvSpPr>
          <p:cNvPr id="4" name="Slide Number Placeholder 3"/>
          <p:cNvSpPr>
            <a:spLocks noGrp="1"/>
          </p:cNvSpPr>
          <p:nvPr>
            <p:ph type="sldNum" idx="5" sz="quarter"/>
          </p:nvPr>
        </p:nvSpPr>
        <p:spPr/>
      </p:sp>
    </p:spTree>
  </p:cSld>
  <p:clrMapOvr>
    <a:masterClrMapping/>
  </p:clrMapOvr>
</p:notes>
</file>

<file path=ppt/notesSlides/notesSlide3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Present perfect continuous: “We’ve been working on this for six months.” (action in progress)</a:t>
            </a:r>
          </a:p>
          <a:p>
            <a:r>
              <a:t>Result and purpose clauses: so that, in order to, so as to.</a:t>
            </a:r>
          </a:p>
          <a:p>
            <a:r>
              <a:t>Quantifiers with uncountable nouns: a lot of research, much funding, little progress.</a:t>
            </a:r>
          </a:p>
          <a:p>
            <a:r>
              <a:t>Future possibility: might / could / may + base verb: “It could add ten per cent to sales.”</a:t>
            </a:r>
          </a:p>
          <a:p/>
        </p:txBody>
      </p:sp>
      <p:sp>
        <p:nvSpPr>
          <p:cNvPr id="4" name="Slide Number Placeholder 3"/>
          <p:cNvSpPr>
            <a:spLocks noGrp="1"/>
          </p:cNvSpPr>
          <p:nvPr>
            <p:ph type="sldNum" idx="5" sz="quarter"/>
          </p:nvPr>
        </p:nvSpPr>
        <p:spPr/>
      </p:sp>
    </p:spTree>
  </p:cSld>
  <p:clrMapOvr>
    <a:masterClrMapping/>
  </p:clrMapOvr>
</p:notes>
</file>

<file path=ppt/notesSlides/notesSlide3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do many researches.  →  ✓ We do a lot of research.  (research 不可数)</a:t>
            </a:r>
          </a:p>
          <a:p>
            <a:r>
              <a:t>✗ The companies invests in R&amp;D.  →  ✓ The company invests in R&amp;D.  (主谓一致)</a:t>
            </a:r>
          </a:p>
          <a:p>
            <a:r>
              <a:t>✗ She is researching about AI.  →  ✓ She is researching AI. / She is doing research on AI.  (research 后无 about)</a:t>
            </a:r>
          </a:p>
          <a:p>
            <a:r>
              <a:t>Mistake Watch: Check uncountable research, adjective innovative and subject-verb agreement.</a:t>
            </a:r>
          </a:p>
        </p:txBody>
      </p:sp>
      <p:sp>
        <p:nvSpPr>
          <p:cNvPr id="4" name="Slide Number Placeholder 3"/>
          <p:cNvSpPr>
            <a:spLocks noGrp="1"/>
          </p:cNvSpPr>
          <p:nvPr>
            <p:ph type="sldNum" idx="5" sz="quarter"/>
          </p:nvPr>
        </p:nvSpPr>
        <p:spPr/>
      </p:sp>
    </p:spTree>
  </p:cSld>
  <p:clrMapOvr>
    <a:masterClrMapping/>
  </p:clrMapOvr>
</p:notes>
</file>

<file path=ppt/notesSlides/notesSlide3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make a patent.  →  ✓ We file a patent.  (file a patent)</a:t>
            </a:r>
          </a:p>
          <a:p>
            <a:r>
              <a:t>✗ It’s a very innovate idea.  →  ✓ It’s a very innovative idea.  (形容词)</a:t>
            </a:r>
          </a:p>
          <a:p>
            <a:r>
              <a:t>✗ The R&amp;D spend are growing.  →  ✓ R&amp;D spending is growing.  (动词一致)</a:t>
            </a:r>
          </a:p>
          <a:p>
            <a:r>
              <a:t>Mistake Watch: Check uncountable research, adjective innovative and subject-verb agreement.</a:t>
            </a:r>
          </a:p>
        </p:txBody>
      </p:sp>
      <p:sp>
        <p:nvSpPr>
          <p:cNvPr id="4" name="Slide Number Placeholder 3"/>
          <p:cNvSpPr>
            <a:spLocks noGrp="1"/>
          </p:cNvSpPr>
          <p:nvPr>
            <p:ph type="sldNum" idx="5" sz="quarter"/>
          </p:nvPr>
        </p:nvSpPr>
        <p:spPr/>
      </p:sp>
    </p:spTree>
  </p:cSld>
  <p:clrMapOvr>
    <a:masterClrMapping/>
  </p:clrMapOvr>
</p:notes>
</file>

<file path=ppt/notesSlides/notesSlide3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R&amp;D culture: Some companies tolerate failure as part of innovation; others punish it. Ask how your employer treats it.</a:t>
            </a:r>
          </a:p>
          <a:p>
            <a:r>
              <a:t>Patents: Patents are national or regional, with different rules. Get legal advice before disclosing ideas.</a:t>
            </a:r>
          </a:p>
          <a:p>
            <a:r>
              <a:t>Collaboration: Companies often partner with universities for research.</a:t>
            </a:r>
          </a:p>
          <a:p>
            <a:r>
              <a:t>research 不可数,所以说 a lot of research / some research。research 后可接 on / into,不要加 about(research about 不常用)。innovative(形)/ innovation(名)/ innovate(动)。</a:t>
            </a:r>
          </a:p>
        </p:txBody>
      </p:sp>
      <p:sp>
        <p:nvSpPr>
          <p:cNvPr id="4" name="Slide Number Placeholder 3"/>
          <p:cNvSpPr>
            <a:spLocks noGrp="1"/>
          </p:cNvSpPr>
          <p:nvPr>
            <p:ph type="sldNum" idx="5" sz="quarter"/>
          </p:nvPr>
        </p:nvSpPr>
        <p:spPr/>
      </p:sp>
    </p:spTree>
  </p:cSld>
  <p:clrMapOvr>
    <a:masterClrMapping/>
  </p:clrMapOvr>
</p:notes>
</file>

<file path=ppt/notesSlides/notesSlide3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pitch an R&amp;D investment, covering cost, risk and measurement.</a:t>
            </a:r>
          </a:p>
          <a:p>
            <a:r>
              <a:t>I can explain the difference between invention and innovation.</a:t>
            </a:r>
          </a:p>
          <a:p>
            <a:r>
              <a:t>I can use quantifiers with uncountable nouns.</a:t>
            </a:r>
          </a:p>
          <a:p>
            <a:r>
              <a:t>I can use research (uncountable) and innovative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3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uncountable research, adjective forms (innovative), and future possibility modals.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3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“优势” in English? → strengths</a:t>
            </a:r>
          </a:p>
          <a:p>
            <a:r>
              <a:t>“签字确认” in English? → sign-off</a:t>
            </a:r>
          </a:p>
          <a:p>
            <a:r>
              <a:t>“事无巨细地管” in English? → micromanage</a:t>
            </a:r>
          </a:p>
          <a:p>
            <a:r>
              <a:t>Fix it: Please do it before of Friday. → Please do it before Friday. / by Friday.</a:t>
            </a:r>
          </a:p>
          <a:p>
            <a:r>
              <a:t>Fix it: We use the waterfall way. → We use the waterfall approach.</a:t>
            </a:r>
          </a:p>
        </p:txBody>
      </p:sp>
      <p:sp>
        <p:nvSpPr>
          <p:cNvPr id="4" name="Slide Number Placeholder 3"/>
          <p:cNvSpPr>
            <a:spLocks noGrp="1"/>
          </p:cNvSpPr>
          <p:nvPr>
            <p:ph type="sldNum" idx="5" sz="quarter"/>
          </p:nvPr>
        </p:nvSpPr>
        <p:spPr/>
      </p:sp>
    </p:spTree>
  </p:cSld>
  <p:clrMapOvr>
    <a:masterClrMapping/>
  </p:clrMapOvr>
</p:notes>
</file>

<file path=ppt/notesSlides/notesSlide3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3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27.xml"/><Relationship Id="rId5" Type="http://schemas.openxmlformats.org/officeDocument/2006/relationships/slide" Target="slide49.xml"/><Relationship Id="rId6" Type="http://schemas.openxmlformats.org/officeDocument/2006/relationships/slide" Target="slide71.xml"/><Relationship Id="rId7" Type="http://schemas.openxmlformats.org/officeDocument/2006/relationships/slide" Target="slide93.xml"/><Relationship Id="rId8" Type="http://schemas.openxmlformats.org/officeDocument/2006/relationships/slide" Target="slide115.xml"/><Relationship Id="rId9" Type="http://schemas.openxmlformats.org/officeDocument/2006/relationships/slide" Target="slide137.xml"/><Relationship Id="rId10" Type="http://schemas.openxmlformats.org/officeDocument/2006/relationships/slide" Target="slide159.xml"/><Relationship Id="rId11" Type="http://schemas.openxmlformats.org/officeDocument/2006/relationships/slide" Target="slide181.xml"/><Relationship Id="rId12" Type="http://schemas.openxmlformats.org/officeDocument/2006/relationships/slide" Target="slide203.xml"/><Relationship Id="rId13" Type="http://schemas.openxmlformats.org/officeDocument/2006/relationships/slide" Target="slide225.xml"/><Relationship Id="rId14" Type="http://schemas.openxmlformats.org/officeDocument/2006/relationships/slide" Target="slide248.xml"/><Relationship Id="rId15" Type="http://schemas.openxmlformats.org/officeDocument/2006/relationships/slide" Target="slide270.xml"/><Relationship Id="rId16" Type="http://schemas.openxmlformats.org/officeDocument/2006/relationships/slide" Target="slide293.xml"/><Relationship Id="rId17" Type="http://schemas.openxmlformats.org/officeDocument/2006/relationships/slide" Target="slide315.xml"/><Relationship Id="rId18" Type="http://schemas.openxmlformats.org/officeDocument/2006/relationships/slide" Target="slide337.xml"/><Relationship Id="rId19" Type="http://schemas.openxmlformats.org/officeDocument/2006/relationships/slide" Target="slide35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0.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9.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1.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3.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4.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5.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6.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8.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9.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0.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1.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3.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4.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5.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6.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8.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9.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0.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1.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3.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4.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5.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6.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8.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9.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0.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1.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3.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4.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5.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6.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8.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9.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0.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1.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3.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4.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5.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6.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8.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9.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0.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1.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3.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4.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5.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6.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8.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9.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0.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1.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3.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4.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5.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6.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8.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9.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0.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1.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3.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4.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5.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6.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8.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9.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0.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1.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3.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4.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5.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6.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8.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9.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0.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1.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3.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4.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5.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6.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8.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9.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0.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1.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2.xml"/><Relationship Id="rId4" Type="http://schemas.openxmlformats.org/officeDocument/2006/relationships/slide" Target="slide383.xml"/><Relationship Id="rId5" Type="http://schemas.openxmlformats.org/officeDocument/2006/relationships/slide" Target="slide384.xml"/><Relationship Id="rId6" Type="http://schemas.openxmlformats.org/officeDocument/2006/relationships/slide" Target="slide385.xml"/><Relationship Id="rId7" Type="http://schemas.openxmlformats.org/officeDocument/2006/relationships/slide" Target="slide386.xml"/><Relationship Id="rId8" Type="http://schemas.openxmlformats.org/officeDocument/2006/relationships/slide" Target="slide387.xml"/><Relationship Id="rId9" Type="http://schemas.openxmlformats.org/officeDocument/2006/relationships/slide" Target="slide388.xml"/><Relationship Id="rId10" Type="http://schemas.openxmlformats.org/officeDocument/2006/relationships/slide" Target="slide389.xml"/><Relationship Id="rId11" Type="http://schemas.openxmlformats.org/officeDocument/2006/relationships/slide" Target="slide390.xml"/><Relationship Id="rId12" Type="http://schemas.openxmlformats.org/officeDocument/2006/relationships/slide" Target="slide391.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2.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2.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2.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2.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2.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2.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2.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2.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2.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3.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4.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5</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9-10 · UNIT 5</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5200" b="1">
                <a:solidFill>
                  <a:srgbClr val="FFFFFF"/>
                </a:solidFill>
                <a:latin typeface="Arial"/>
                <a:ea typeface="Microsoft YaHei"/>
              </a:rPr>
              <a:t>Team Leadership and Project Management</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645920"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17 Lessons</a:t>
            </a:r>
          </a:p>
        </p:txBody>
      </p:sp>
      <p:sp>
        <p:nvSpPr>
          <p:cNvPr id="12" name="Rounded Rectangle 11"/>
          <p:cNvSpPr/>
          <p:nvPr/>
        </p:nvSpPr>
        <p:spPr>
          <a:xfrm>
            <a:off x="4389120"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L37 Giving Interviews · L38 Finding and Keeping Employees · L39 Choosing Employees · L40 Evaluating Staff · L41 Going Through the Appraisal Process · L42 How Should Management Be Structured? · L43 Effective Management · L44 Talking About Leaders  +9 more</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2636443" cy="795528"/>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32204"/>
            <a:ext cx="6400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37</a:t>
            </a:r>
          </a:p>
        </p:txBody>
      </p:sp>
      <p:sp>
        <p:nvSpPr>
          <p:cNvPr id="9" name="TextBox 8"/>
          <p:cNvSpPr txBox="1"/>
          <p:nvPr/>
        </p:nvSpPr>
        <p:spPr>
          <a:xfrm>
            <a:off x="1417320" y="1581912"/>
            <a:ext cx="1676323" cy="740664"/>
          </a:xfrm>
          <a:prstGeom prst="rect">
            <a:avLst/>
          </a:prstGeom>
          <a:noFill/>
        </p:spPr>
        <p:txBody>
          <a:bodyPr wrap="square" anchor="ctr">
            <a:spAutoFit/>
          </a:bodyPr>
          <a:lstStyle/>
          <a:p>
            <a:pPr algn="l">
              <a:lnSpc>
                <a:spcPct val="100000"/>
              </a:lnSpc>
              <a:spcAft>
                <a:spcPts val="100"/>
              </a:spcAft>
            </a:pPr>
            <a:r>
              <a:rPr sz="1400" b="1">
                <a:solidFill>
                  <a:srgbClr val="1F2A44"/>
                </a:solidFill>
                <a:latin typeface="Arial"/>
                <a:ea typeface="Microsoft YaHei"/>
              </a:rPr>
              <a:t>Giving Interviews</a:t>
            </a:r>
          </a:p>
          <a:p>
            <a:pPr algn="l">
              <a:lnSpc>
                <a:spcPct val="100000"/>
              </a:lnSpc>
              <a:spcAft>
                <a:spcPts val="800"/>
              </a:spcAft>
            </a:pPr>
            <a:r>
              <a:rPr sz="1000" b="0">
                <a:solidFill>
                  <a:srgbClr val="5F677A"/>
                </a:solidFill>
                <a:latin typeface="Arial"/>
                <a:ea typeface="Microsoft YaHei"/>
              </a:rPr>
              <a:t>主持面试</a:t>
            </a:r>
          </a:p>
        </p:txBody>
      </p:sp>
      <p:sp>
        <p:nvSpPr>
          <p:cNvPr id="10" name="Rounded Rectangle 9">
            <a:hlinkClick action="ppaction://hlinksldjump" r:id="rId4"/>
          </p:cNvPr>
          <p:cNvSpPr/>
          <p:nvPr/>
        </p:nvSpPr>
        <p:spPr>
          <a:xfrm>
            <a:off x="3367963" y="1554480"/>
            <a:ext cx="2636443" cy="795528"/>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77691" y="1632204"/>
            <a:ext cx="6400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38</a:t>
            </a:r>
          </a:p>
        </p:txBody>
      </p:sp>
      <p:sp>
        <p:nvSpPr>
          <p:cNvPr id="12" name="TextBox 11"/>
          <p:cNvSpPr txBox="1"/>
          <p:nvPr/>
        </p:nvSpPr>
        <p:spPr>
          <a:xfrm>
            <a:off x="4236643" y="1581912"/>
            <a:ext cx="1676323" cy="740664"/>
          </a:xfrm>
          <a:prstGeom prst="rect">
            <a:avLst/>
          </a:prstGeom>
          <a:noFill/>
        </p:spPr>
        <p:txBody>
          <a:bodyPr wrap="square" anchor="ctr">
            <a:spAutoFit/>
          </a:bodyPr>
          <a:lstStyle/>
          <a:p>
            <a:pPr algn="l">
              <a:lnSpc>
                <a:spcPct val="100000"/>
              </a:lnSpc>
              <a:spcAft>
                <a:spcPts val="100"/>
              </a:spcAft>
            </a:pPr>
            <a:r>
              <a:rPr sz="1400" b="1">
                <a:solidFill>
                  <a:srgbClr val="1F2A44"/>
                </a:solidFill>
                <a:latin typeface="Arial"/>
                <a:ea typeface="Microsoft YaHei"/>
              </a:rPr>
              <a:t>Finding and Keeping Employees</a:t>
            </a:r>
          </a:p>
          <a:p>
            <a:pPr algn="l">
              <a:lnSpc>
                <a:spcPct val="100000"/>
              </a:lnSpc>
              <a:spcAft>
                <a:spcPts val="800"/>
              </a:spcAft>
            </a:pPr>
            <a:r>
              <a:rPr sz="1000" b="0">
                <a:solidFill>
                  <a:srgbClr val="5F677A"/>
                </a:solidFill>
                <a:latin typeface="Arial"/>
                <a:ea typeface="Microsoft YaHei"/>
              </a:rPr>
              <a:t>招聘和留住员工</a:t>
            </a:r>
          </a:p>
        </p:txBody>
      </p:sp>
      <p:sp>
        <p:nvSpPr>
          <p:cNvPr id="13" name="Rounded Rectangle 12">
            <a:hlinkClick action="ppaction://hlinksldjump" r:id="rId5"/>
          </p:cNvPr>
          <p:cNvSpPr/>
          <p:nvPr/>
        </p:nvSpPr>
        <p:spPr>
          <a:xfrm>
            <a:off x="6187286" y="1554480"/>
            <a:ext cx="2636443" cy="795528"/>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97014" y="1632204"/>
            <a:ext cx="6400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39</a:t>
            </a:r>
          </a:p>
        </p:txBody>
      </p:sp>
      <p:sp>
        <p:nvSpPr>
          <p:cNvPr id="15" name="TextBox 14"/>
          <p:cNvSpPr txBox="1"/>
          <p:nvPr/>
        </p:nvSpPr>
        <p:spPr>
          <a:xfrm>
            <a:off x="7055966" y="1581912"/>
            <a:ext cx="1676323" cy="740664"/>
          </a:xfrm>
          <a:prstGeom prst="rect">
            <a:avLst/>
          </a:prstGeom>
          <a:noFill/>
        </p:spPr>
        <p:txBody>
          <a:bodyPr wrap="square" anchor="ctr">
            <a:spAutoFit/>
          </a:bodyPr>
          <a:lstStyle/>
          <a:p>
            <a:pPr algn="l">
              <a:lnSpc>
                <a:spcPct val="100000"/>
              </a:lnSpc>
              <a:spcAft>
                <a:spcPts val="100"/>
              </a:spcAft>
            </a:pPr>
            <a:r>
              <a:rPr sz="1400" b="1">
                <a:solidFill>
                  <a:srgbClr val="1F2A44"/>
                </a:solidFill>
                <a:latin typeface="Arial"/>
                <a:ea typeface="Microsoft YaHei"/>
              </a:rPr>
              <a:t>Choosing Employees</a:t>
            </a:r>
          </a:p>
          <a:p>
            <a:pPr algn="l">
              <a:lnSpc>
                <a:spcPct val="100000"/>
              </a:lnSpc>
              <a:spcAft>
                <a:spcPts val="800"/>
              </a:spcAft>
            </a:pPr>
            <a:r>
              <a:rPr sz="1000" b="0">
                <a:solidFill>
                  <a:srgbClr val="5F677A"/>
                </a:solidFill>
                <a:latin typeface="Arial"/>
                <a:ea typeface="Microsoft YaHei"/>
              </a:rPr>
              <a:t>选择员工</a:t>
            </a:r>
          </a:p>
        </p:txBody>
      </p:sp>
      <p:sp>
        <p:nvSpPr>
          <p:cNvPr id="16" name="Rounded Rectangle 15">
            <a:hlinkClick action="ppaction://hlinksldjump" r:id="rId6"/>
          </p:cNvPr>
          <p:cNvSpPr/>
          <p:nvPr/>
        </p:nvSpPr>
        <p:spPr>
          <a:xfrm>
            <a:off x="9006609" y="1554480"/>
            <a:ext cx="2636443" cy="795528"/>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16337" y="1632204"/>
            <a:ext cx="6400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40</a:t>
            </a:r>
          </a:p>
        </p:txBody>
      </p:sp>
      <p:sp>
        <p:nvSpPr>
          <p:cNvPr id="18" name="TextBox 17"/>
          <p:cNvSpPr txBox="1"/>
          <p:nvPr/>
        </p:nvSpPr>
        <p:spPr>
          <a:xfrm>
            <a:off x="9875289" y="1581912"/>
            <a:ext cx="1676323" cy="740664"/>
          </a:xfrm>
          <a:prstGeom prst="rect">
            <a:avLst/>
          </a:prstGeom>
          <a:noFill/>
        </p:spPr>
        <p:txBody>
          <a:bodyPr wrap="square" anchor="ctr">
            <a:spAutoFit/>
          </a:bodyPr>
          <a:lstStyle/>
          <a:p>
            <a:pPr algn="l">
              <a:lnSpc>
                <a:spcPct val="100000"/>
              </a:lnSpc>
              <a:spcAft>
                <a:spcPts val="100"/>
              </a:spcAft>
            </a:pPr>
            <a:r>
              <a:rPr sz="1400" b="1">
                <a:solidFill>
                  <a:srgbClr val="1F2A44"/>
                </a:solidFill>
                <a:latin typeface="Arial"/>
                <a:ea typeface="Microsoft YaHei"/>
              </a:rPr>
              <a:t>Evaluating Staff</a:t>
            </a:r>
          </a:p>
          <a:p>
            <a:pPr algn="l">
              <a:lnSpc>
                <a:spcPct val="100000"/>
              </a:lnSpc>
              <a:spcAft>
                <a:spcPts val="800"/>
              </a:spcAft>
            </a:pPr>
            <a:r>
              <a:rPr sz="1000" b="0">
                <a:solidFill>
                  <a:srgbClr val="5F677A"/>
                </a:solidFill>
                <a:latin typeface="Arial"/>
                <a:ea typeface="Microsoft YaHei"/>
              </a:rPr>
              <a:t>评估员工</a:t>
            </a:r>
          </a:p>
        </p:txBody>
      </p:sp>
      <p:sp>
        <p:nvSpPr>
          <p:cNvPr id="19" name="Rounded Rectangle 18">
            <a:hlinkClick action="ppaction://hlinksldjump" r:id="rId7"/>
          </p:cNvPr>
          <p:cNvSpPr/>
          <p:nvPr/>
        </p:nvSpPr>
        <p:spPr>
          <a:xfrm>
            <a:off x="548640" y="2532888"/>
            <a:ext cx="2636443" cy="795528"/>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8368" y="2610612"/>
            <a:ext cx="6400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41</a:t>
            </a:r>
          </a:p>
        </p:txBody>
      </p:sp>
      <p:sp>
        <p:nvSpPr>
          <p:cNvPr id="21" name="TextBox 20"/>
          <p:cNvSpPr txBox="1"/>
          <p:nvPr/>
        </p:nvSpPr>
        <p:spPr>
          <a:xfrm>
            <a:off x="1417320" y="2560320"/>
            <a:ext cx="1676323" cy="740664"/>
          </a:xfrm>
          <a:prstGeom prst="rect">
            <a:avLst/>
          </a:prstGeom>
          <a:noFill/>
        </p:spPr>
        <p:txBody>
          <a:bodyPr wrap="square" anchor="ctr">
            <a:spAutoFit/>
          </a:bodyPr>
          <a:lstStyle/>
          <a:p>
            <a:pPr algn="l">
              <a:lnSpc>
                <a:spcPct val="100000"/>
              </a:lnSpc>
              <a:spcAft>
                <a:spcPts val="100"/>
              </a:spcAft>
            </a:pPr>
            <a:r>
              <a:rPr sz="1200" b="1">
                <a:solidFill>
                  <a:srgbClr val="1F2A44"/>
                </a:solidFill>
                <a:latin typeface="Arial"/>
                <a:ea typeface="Microsoft YaHei"/>
              </a:rPr>
              <a:t>Going Through the Appraisal Process</a:t>
            </a:r>
          </a:p>
          <a:p>
            <a:pPr algn="l">
              <a:lnSpc>
                <a:spcPct val="100000"/>
              </a:lnSpc>
              <a:spcAft>
                <a:spcPts val="800"/>
              </a:spcAft>
            </a:pPr>
            <a:r>
              <a:rPr sz="900" b="0">
                <a:solidFill>
                  <a:srgbClr val="5F677A"/>
                </a:solidFill>
                <a:latin typeface="Arial"/>
                <a:ea typeface="Microsoft YaHei"/>
              </a:rPr>
              <a:t>经历评估过程</a:t>
            </a:r>
          </a:p>
        </p:txBody>
      </p:sp>
      <p:sp>
        <p:nvSpPr>
          <p:cNvPr id="22" name="Rounded Rectangle 21">
            <a:hlinkClick action="ppaction://hlinksldjump" r:id="rId8"/>
          </p:cNvPr>
          <p:cNvSpPr/>
          <p:nvPr/>
        </p:nvSpPr>
        <p:spPr>
          <a:xfrm>
            <a:off x="3367963" y="2532888"/>
            <a:ext cx="2636443" cy="795528"/>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477691" y="2610612"/>
            <a:ext cx="6400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42</a:t>
            </a:r>
          </a:p>
        </p:txBody>
      </p:sp>
      <p:sp>
        <p:nvSpPr>
          <p:cNvPr id="24" name="TextBox 23"/>
          <p:cNvSpPr txBox="1"/>
          <p:nvPr/>
        </p:nvSpPr>
        <p:spPr>
          <a:xfrm>
            <a:off x="4236643" y="2560320"/>
            <a:ext cx="1676323" cy="740664"/>
          </a:xfrm>
          <a:prstGeom prst="rect">
            <a:avLst/>
          </a:prstGeom>
          <a:noFill/>
        </p:spPr>
        <p:txBody>
          <a:bodyPr wrap="square" anchor="ctr">
            <a:spAutoFit/>
          </a:bodyPr>
          <a:lstStyle/>
          <a:p>
            <a:pPr algn="l">
              <a:lnSpc>
                <a:spcPct val="100000"/>
              </a:lnSpc>
              <a:spcAft>
                <a:spcPts val="100"/>
              </a:spcAft>
            </a:pPr>
            <a:r>
              <a:rPr sz="1200" b="1">
                <a:solidFill>
                  <a:srgbClr val="1F2A44"/>
                </a:solidFill>
                <a:latin typeface="Arial"/>
                <a:ea typeface="Microsoft YaHei"/>
              </a:rPr>
              <a:t>How Should Management Be Structured?</a:t>
            </a:r>
          </a:p>
          <a:p>
            <a:pPr algn="l">
              <a:lnSpc>
                <a:spcPct val="100000"/>
              </a:lnSpc>
              <a:spcAft>
                <a:spcPts val="800"/>
              </a:spcAft>
            </a:pPr>
            <a:r>
              <a:rPr sz="900" b="0">
                <a:solidFill>
                  <a:srgbClr val="5F677A"/>
                </a:solidFill>
                <a:latin typeface="Arial"/>
                <a:ea typeface="Microsoft YaHei"/>
              </a:rPr>
              <a:t>管理层应该如何构建?</a:t>
            </a:r>
          </a:p>
        </p:txBody>
      </p:sp>
      <p:sp>
        <p:nvSpPr>
          <p:cNvPr id="25" name="Rounded Rectangle 24">
            <a:hlinkClick action="ppaction://hlinksldjump" r:id="rId9"/>
          </p:cNvPr>
          <p:cNvSpPr/>
          <p:nvPr/>
        </p:nvSpPr>
        <p:spPr>
          <a:xfrm>
            <a:off x="6187286" y="2532888"/>
            <a:ext cx="2636443" cy="795528"/>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97014" y="2610612"/>
            <a:ext cx="6400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43</a:t>
            </a:r>
          </a:p>
        </p:txBody>
      </p:sp>
      <p:sp>
        <p:nvSpPr>
          <p:cNvPr id="27" name="TextBox 26"/>
          <p:cNvSpPr txBox="1"/>
          <p:nvPr/>
        </p:nvSpPr>
        <p:spPr>
          <a:xfrm>
            <a:off x="7055966" y="2560320"/>
            <a:ext cx="1676323" cy="740664"/>
          </a:xfrm>
          <a:prstGeom prst="rect">
            <a:avLst/>
          </a:prstGeom>
          <a:noFill/>
        </p:spPr>
        <p:txBody>
          <a:bodyPr wrap="square" anchor="ctr">
            <a:spAutoFit/>
          </a:bodyPr>
          <a:lstStyle/>
          <a:p>
            <a:pPr algn="l">
              <a:lnSpc>
                <a:spcPct val="100000"/>
              </a:lnSpc>
              <a:spcAft>
                <a:spcPts val="100"/>
              </a:spcAft>
            </a:pPr>
            <a:r>
              <a:rPr sz="1400" b="1">
                <a:solidFill>
                  <a:srgbClr val="1F2A44"/>
                </a:solidFill>
                <a:latin typeface="Arial"/>
                <a:ea typeface="Microsoft YaHei"/>
              </a:rPr>
              <a:t>Effective Management</a:t>
            </a:r>
          </a:p>
          <a:p>
            <a:pPr algn="l">
              <a:lnSpc>
                <a:spcPct val="100000"/>
              </a:lnSpc>
              <a:spcAft>
                <a:spcPts val="800"/>
              </a:spcAft>
            </a:pPr>
            <a:r>
              <a:rPr sz="1000" b="0">
                <a:solidFill>
                  <a:srgbClr val="5F677A"/>
                </a:solidFill>
                <a:latin typeface="Arial"/>
                <a:ea typeface="Microsoft YaHei"/>
              </a:rPr>
              <a:t>有效管理</a:t>
            </a:r>
          </a:p>
        </p:txBody>
      </p:sp>
      <p:sp>
        <p:nvSpPr>
          <p:cNvPr id="28" name="Rounded Rectangle 27">
            <a:hlinkClick action="ppaction://hlinksldjump" r:id="rId10"/>
          </p:cNvPr>
          <p:cNvSpPr/>
          <p:nvPr/>
        </p:nvSpPr>
        <p:spPr>
          <a:xfrm>
            <a:off x="9006609" y="2532888"/>
            <a:ext cx="2636443" cy="795528"/>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116337" y="2610612"/>
            <a:ext cx="6400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44</a:t>
            </a:r>
          </a:p>
        </p:txBody>
      </p:sp>
      <p:sp>
        <p:nvSpPr>
          <p:cNvPr id="30" name="TextBox 29"/>
          <p:cNvSpPr txBox="1"/>
          <p:nvPr/>
        </p:nvSpPr>
        <p:spPr>
          <a:xfrm>
            <a:off x="9875289" y="2560320"/>
            <a:ext cx="1676323" cy="740664"/>
          </a:xfrm>
          <a:prstGeom prst="rect">
            <a:avLst/>
          </a:prstGeom>
          <a:noFill/>
        </p:spPr>
        <p:txBody>
          <a:bodyPr wrap="square" anchor="ctr">
            <a:spAutoFit/>
          </a:bodyPr>
          <a:lstStyle/>
          <a:p>
            <a:pPr algn="l">
              <a:lnSpc>
                <a:spcPct val="100000"/>
              </a:lnSpc>
              <a:spcAft>
                <a:spcPts val="100"/>
              </a:spcAft>
            </a:pPr>
            <a:r>
              <a:rPr sz="1400" b="1">
                <a:solidFill>
                  <a:srgbClr val="1F2A44"/>
                </a:solidFill>
                <a:latin typeface="Arial"/>
                <a:ea typeface="Microsoft YaHei"/>
              </a:rPr>
              <a:t>Talking About Leaders</a:t>
            </a:r>
          </a:p>
          <a:p>
            <a:pPr algn="l">
              <a:lnSpc>
                <a:spcPct val="100000"/>
              </a:lnSpc>
              <a:spcAft>
                <a:spcPts val="800"/>
              </a:spcAft>
            </a:pPr>
            <a:r>
              <a:rPr sz="1000" b="0">
                <a:solidFill>
                  <a:srgbClr val="5F677A"/>
                </a:solidFill>
                <a:latin typeface="Arial"/>
                <a:ea typeface="Microsoft YaHei"/>
              </a:rPr>
              <a:t>聊聊领导者</a:t>
            </a:r>
          </a:p>
        </p:txBody>
      </p:sp>
      <p:sp>
        <p:nvSpPr>
          <p:cNvPr id="31" name="Rounded Rectangle 30">
            <a:hlinkClick action="ppaction://hlinksldjump" r:id="rId11"/>
          </p:cNvPr>
          <p:cNvSpPr/>
          <p:nvPr/>
        </p:nvSpPr>
        <p:spPr>
          <a:xfrm>
            <a:off x="548640" y="3511296"/>
            <a:ext cx="2636443" cy="795528"/>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58368" y="3589020"/>
            <a:ext cx="6400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45</a:t>
            </a:r>
          </a:p>
        </p:txBody>
      </p:sp>
      <p:sp>
        <p:nvSpPr>
          <p:cNvPr id="33" name="TextBox 32"/>
          <p:cNvSpPr txBox="1"/>
          <p:nvPr/>
        </p:nvSpPr>
        <p:spPr>
          <a:xfrm>
            <a:off x="1417320" y="3538728"/>
            <a:ext cx="1676323" cy="740664"/>
          </a:xfrm>
          <a:prstGeom prst="rect">
            <a:avLst/>
          </a:prstGeom>
          <a:noFill/>
        </p:spPr>
        <p:txBody>
          <a:bodyPr wrap="square" anchor="ctr">
            <a:spAutoFit/>
          </a:bodyPr>
          <a:lstStyle/>
          <a:p>
            <a:pPr algn="l">
              <a:lnSpc>
                <a:spcPct val="100000"/>
              </a:lnSpc>
              <a:spcAft>
                <a:spcPts val="100"/>
              </a:spcAft>
            </a:pPr>
            <a:r>
              <a:rPr sz="1200" b="1">
                <a:solidFill>
                  <a:srgbClr val="1F2A44"/>
                </a:solidFill>
                <a:latin typeface="Arial"/>
                <a:ea typeface="Microsoft YaHei"/>
              </a:rPr>
              <a:t>Does Teamwork Make the Dream Work?</a:t>
            </a:r>
          </a:p>
          <a:p>
            <a:pPr algn="l">
              <a:lnSpc>
                <a:spcPct val="100000"/>
              </a:lnSpc>
              <a:spcAft>
                <a:spcPts val="800"/>
              </a:spcAft>
            </a:pPr>
            <a:r>
              <a:rPr sz="900" b="0">
                <a:solidFill>
                  <a:srgbClr val="5F677A"/>
                </a:solidFill>
                <a:latin typeface="Arial"/>
                <a:ea typeface="Microsoft YaHei"/>
              </a:rPr>
              <a:t>团队合作真的更好吗?</a:t>
            </a:r>
          </a:p>
        </p:txBody>
      </p:sp>
      <p:sp>
        <p:nvSpPr>
          <p:cNvPr id="34" name="Rounded Rectangle 33">
            <a:hlinkClick action="ppaction://hlinksldjump" r:id="rId12"/>
          </p:cNvPr>
          <p:cNvSpPr/>
          <p:nvPr/>
        </p:nvSpPr>
        <p:spPr>
          <a:xfrm>
            <a:off x="3367963" y="3511296"/>
            <a:ext cx="2636443" cy="795528"/>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3477691" y="3589020"/>
            <a:ext cx="6400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46</a:t>
            </a:r>
          </a:p>
        </p:txBody>
      </p:sp>
      <p:sp>
        <p:nvSpPr>
          <p:cNvPr id="36" name="TextBox 35"/>
          <p:cNvSpPr txBox="1"/>
          <p:nvPr/>
        </p:nvSpPr>
        <p:spPr>
          <a:xfrm>
            <a:off x="4236643" y="3538728"/>
            <a:ext cx="1676323" cy="740664"/>
          </a:xfrm>
          <a:prstGeom prst="rect">
            <a:avLst/>
          </a:prstGeom>
          <a:noFill/>
        </p:spPr>
        <p:txBody>
          <a:bodyPr wrap="square" anchor="ctr">
            <a:spAutoFit/>
          </a:bodyPr>
          <a:lstStyle/>
          <a:p>
            <a:pPr algn="l">
              <a:lnSpc>
                <a:spcPct val="100000"/>
              </a:lnSpc>
              <a:spcAft>
                <a:spcPts val="100"/>
              </a:spcAft>
            </a:pPr>
            <a:r>
              <a:rPr sz="1200" b="1">
                <a:solidFill>
                  <a:srgbClr val="1F2A44"/>
                </a:solidFill>
                <a:latin typeface="Arial"/>
                <a:ea typeface="Microsoft YaHei"/>
              </a:rPr>
              <a:t>What Makes a Great Project Manager</a:t>
            </a:r>
          </a:p>
          <a:p>
            <a:pPr algn="l">
              <a:lnSpc>
                <a:spcPct val="100000"/>
              </a:lnSpc>
              <a:spcAft>
                <a:spcPts val="800"/>
              </a:spcAft>
            </a:pPr>
            <a:r>
              <a:rPr sz="900" b="0">
                <a:solidFill>
                  <a:srgbClr val="5F677A"/>
                </a:solidFill>
                <a:latin typeface="Arial"/>
                <a:ea typeface="Microsoft YaHei"/>
              </a:rPr>
              <a:t>优秀项目经理的特质是什么?</a:t>
            </a:r>
          </a:p>
        </p:txBody>
      </p:sp>
      <p:sp>
        <p:nvSpPr>
          <p:cNvPr id="37" name="Rounded Rectangle 36">
            <a:hlinkClick action="ppaction://hlinksldjump" r:id="rId13"/>
          </p:cNvPr>
          <p:cNvSpPr/>
          <p:nvPr/>
        </p:nvSpPr>
        <p:spPr>
          <a:xfrm>
            <a:off x="6187286" y="3511296"/>
            <a:ext cx="2636443" cy="795528"/>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297014" y="3589020"/>
            <a:ext cx="6400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47</a:t>
            </a:r>
          </a:p>
        </p:txBody>
      </p:sp>
      <p:sp>
        <p:nvSpPr>
          <p:cNvPr id="39" name="TextBox 38"/>
          <p:cNvSpPr txBox="1"/>
          <p:nvPr/>
        </p:nvSpPr>
        <p:spPr>
          <a:xfrm>
            <a:off x="7055966" y="3538728"/>
            <a:ext cx="1676323" cy="740664"/>
          </a:xfrm>
          <a:prstGeom prst="rect">
            <a:avLst/>
          </a:prstGeom>
          <a:noFill/>
        </p:spPr>
        <p:txBody>
          <a:bodyPr wrap="square" anchor="ctr">
            <a:spAutoFit/>
          </a:bodyPr>
          <a:lstStyle/>
          <a:p>
            <a:pPr algn="l">
              <a:lnSpc>
                <a:spcPct val="100000"/>
              </a:lnSpc>
              <a:spcAft>
                <a:spcPts val="100"/>
              </a:spcAft>
            </a:pPr>
            <a:r>
              <a:rPr sz="1400" b="1">
                <a:solidFill>
                  <a:srgbClr val="1F2A44"/>
                </a:solidFill>
                <a:latin typeface="Arial"/>
                <a:ea typeface="Microsoft YaHei"/>
              </a:rPr>
              <a:t>Creating a Learning Culture</a:t>
            </a:r>
          </a:p>
          <a:p>
            <a:pPr algn="l">
              <a:lnSpc>
                <a:spcPct val="100000"/>
              </a:lnSpc>
              <a:spcAft>
                <a:spcPts val="800"/>
              </a:spcAft>
            </a:pPr>
            <a:r>
              <a:rPr sz="1000" b="0">
                <a:solidFill>
                  <a:srgbClr val="5F677A"/>
                </a:solidFill>
                <a:latin typeface="Arial"/>
                <a:ea typeface="Microsoft YaHei"/>
              </a:rPr>
              <a:t>打造学习型团队</a:t>
            </a:r>
          </a:p>
        </p:txBody>
      </p:sp>
      <p:sp>
        <p:nvSpPr>
          <p:cNvPr id="40" name="Rounded Rectangle 39">
            <a:hlinkClick action="ppaction://hlinksldjump" r:id="rId14"/>
          </p:cNvPr>
          <p:cNvSpPr/>
          <p:nvPr/>
        </p:nvSpPr>
        <p:spPr>
          <a:xfrm>
            <a:off x="9006609" y="3511296"/>
            <a:ext cx="2636443" cy="795528"/>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116337" y="3589020"/>
            <a:ext cx="6400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48</a:t>
            </a:r>
          </a:p>
        </p:txBody>
      </p:sp>
      <p:sp>
        <p:nvSpPr>
          <p:cNvPr id="42" name="TextBox 41"/>
          <p:cNvSpPr txBox="1"/>
          <p:nvPr/>
        </p:nvSpPr>
        <p:spPr>
          <a:xfrm>
            <a:off x="9875289" y="3538728"/>
            <a:ext cx="1676323" cy="740664"/>
          </a:xfrm>
          <a:prstGeom prst="rect">
            <a:avLst/>
          </a:prstGeom>
          <a:noFill/>
        </p:spPr>
        <p:txBody>
          <a:bodyPr wrap="square" anchor="ctr">
            <a:spAutoFit/>
          </a:bodyPr>
          <a:lstStyle/>
          <a:p>
            <a:pPr algn="l">
              <a:lnSpc>
                <a:spcPct val="100000"/>
              </a:lnSpc>
              <a:spcAft>
                <a:spcPts val="100"/>
              </a:spcAft>
            </a:pPr>
            <a:r>
              <a:rPr sz="1400" b="1">
                <a:solidFill>
                  <a:srgbClr val="1F2A44"/>
                </a:solidFill>
                <a:latin typeface="Arial"/>
                <a:ea typeface="Microsoft YaHei"/>
              </a:rPr>
              <a:t>Managing a Training Budget</a:t>
            </a:r>
          </a:p>
          <a:p>
            <a:pPr algn="l">
              <a:lnSpc>
                <a:spcPct val="100000"/>
              </a:lnSpc>
              <a:spcAft>
                <a:spcPts val="800"/>
              </a:spcAft>
            </a:pPr>
            <a:r>
              <a:rPr sz="1000" b="0">
                <a:solidFill>
                  <a:srgbClr val="5F677A"/>
                </a:solidFill>
                <a:latin typeface="Arial"/>
                <a:ea typeface="Microsoft YaHei"/>
              </a:rPr>
              <a:t>管理培训预算</a:t>
            </a:r>
          </a:p>
        </p:txBody>
      </p:sp>
      <p:sp>
        <p:nvSpPr>
          <p:cNvPr id="43" name="Rounded Rectangle 42">
            <a:hlinkClick action="ppaction://hlinksldjump" r:id="rId15"/>
          </p:cNvPr>
          <p:cNvSpPr/>
          <p:nvPr/>
        </p:nvSpPr>
        <p:spPr>
          <a:xfrm>
            <a:off x="548640" y="4489704"/>
            <a:ext cx="2636443" cy="795528"/>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58368" y="4567428"/>
            <a:ext cx="6400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49</a:t>
            </a:r>
          </a:p>
        </p:txBody>
      </p:sp>
      <p:sp>
        <p:nvSpPr>
          <p:cNvPr id="45" name="TextBox 44"/>
          <p:cNvSpPr txBox="1"/>
          <p:nvPr/>
        </p:nvSpPr>
        <p:spPr>
          <a:xfrm>
            <a:off x="1417320" y="4517136"/>
            <a:ext cx="1676323" cy="740664"/>
          </a:xfrm>
          <a:prstGeom prst="rect">
            <a:avLst/>
          </a:prstGeom>
          <a:noFill/>
        </p:spPr>
        <p:txBody>
          <a:bodyPr wrap="square" anchor="ctr">
            <a:spAutoFit/>
          </a:bodyPr>
          <a:lstStyle/>
          <a:p>
            <a:pPr algn="l">
              <a:lnSpc>
                <a:spcPct val="100000"/>
              </a:lnSpc>
              <a:spcAft>
                <a:spcPts val="100"/>
              </a:spcAft>
            </a:pPr>
            <a:r>
              <a:rPr sz="1400" b="1">
                <a:solidFill>
                  <a:srgbClr val="1F2A44"/>
                </a:solidFill>
                <a:latin typeface="Arial"/>
                <a:ea typeface="Microsoft YaHei"/>
              </a:rPr>
              <a:t>Project Management Meetings</a:t>
            </a:r>
          </a:p>
          <a:p>
            <a:pPr algn="l">
              <a:lnSpc>
                <a:spcPct val="100000"/>
              </a:lnSpc>
              <a:spcAft>
                <a:spcPts val="800"/>
              </a:spcAft>
            </a:pPr>
            <a:r>
              <a:rPr sz="1000" b="0">
                <a:solidFill>
                  <a:srgbClr val="5F677A"/>
                </a:solidFill>
                <a:latin typeface="Arial"/>
                <a:ea typeface="Microsoft YaHei"/>
              </a:rPr>
              <a:t>项目管理会议</a:t>
            </a:r>
          </a:p>
        </p:txBody>
      </p:sp>
      <p:sp>
        <p:nvSpPr>
          <p:cNvPr id="46" name="Rounded Rectangle 45">
            <a:hlinkClick action="ppaction://hlinksldjump" r:id="rId16"/>
          </p:cNvPr>
          <p:cNvSpPr/>
          <p:nvPr/>
        </p:nvSpPr>
        <p:spPr>
          <a:xfrm>
            <a:off x="3367963" y="4489704"/>
            <a:ext cx="2636443" cy="795528"/>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3477691" y="4567428"/>
            <a:ext cx="6400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50</a:t>
            </a:r>
          </a:p>
        </p:txBody>
      </p:sp>
      <p:sp>
        <p:nvSpPr>
          <p:cNvPr id="48" name="TextBox 47"/>
          <p:cNvSpPr txBox="1"/>
          <p:nvPr/>
        </p:nvSpPr>
        <p:spPr>
          <a:xfrm>
            <a:off x="4236643" y="4517136"/>
            <a:ext cx="1676323" cy="740664"/>
          </a:xfrm>
          <a:prstGeom prst="rect">
            <a:avLst/>
          </a:prstGeom>
          <a:noFill/>
        </p:spPr>
        <p:txBody>
          <a:bodyPr wrap="square" anchor="ctr">
            <a:spAutoFit/>
          </a:bodyPr>
          <a:lstStyle/>
          <a:p>
            <a:pPr algn="l">
              <a:lnSpc>
                <a:spcPct val="100000"/>
              </a:lnSpc>
              <a:spcAft>
                <a:spcPts val="100"/>
              </a:spcAft>
            </a:pPr>
            <a:r>
              <a:rPr sz="1300" b="1">
                <a:solidFill>
                  <a:srgbClr val="1F2A44"/>
                </a:solidFill>
                <a:latin typeface="Arial"/>
                <a:ea typeface="Microsoft YaHei"/>
              </a:rPr>
              <a:t>Project Management Methodologies</a:t>
            </a:r>
          </a:p>
          <a:p>
            <a:pPr algn="l">
              <a:lnSpc>
                <a:spcPct val="100000"/>
              </a:lnSpc>
              <a:spcAft>
                <a:spcPts val="800"/>
              </a:spcAft>
            </a:pPr>
            <a:r>
              <a:rPr sz="900" b="0">
                <a:solidFill>
                  <a:srgbClr val="5F677A"/>
                </a:solidFill>
                <a:latin typeface="Arial"/>
                <a:ea typeface="Microsoft YaHei"/>
              </a:rPr>
              <a:t>项目管理方法</a:t>
            </a:r>
          </a:p>
        </p:txBody>
      </p:sp>
      <p:sp>
        <p:nvSpPr>
          <p:cNvPr id="49" name="Rounded Rectangle 48">
            <a:hlinkClick action="ppaction://hlinksldjump" r:id="rId17"/>
          </p:cNvPr>
          <p:cNvSpPr/>
          <p:nvPr/>
        </p:nvSpPr>
        <p:spPr>
          <a:xfrm>
            <a:off x="6187286" y="4489704"/>
            <a:ext cx="2636443" cy="795528"/>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6297014" y="4567428"/>
            <a:ext cx="6400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51</a:t>
            </a:r>
          </a:p>
        </p:txBody>
      </p:sp>
      <p:sp>
        <p:nvSpPr>
          <p:cNvPr id="51" name="TextBox 50"/>
          <p:cNvSpPr txBox="1"/>
          <p:nvPr/>
        </p:nvSpPr>
        <p:spPr>
          <a:xfrm>
            <a:off x="7055966" y="4517136"/>
            <a:ext cx="1676323" cy="740664"/>
          </a:xfrm>
          <a:prstGeom prst="rect">
            <a:avLst/>
          </a:prstGeom>
          <a:noFill/>
        </p:spPr>
        <p:txBody>
          <a:bodyPr wrap="square" anchor="ctr">
            <a:spAutoFit/>
          </a:bodyPr>
          <a:lstStyle/>
          <a:p>
            <a:pPr algn="l">
              <a:lnSpc>
                <a:spcPct val="100000"/>
              </a:lnSpc>
              <a:spcAft>
                <a:spcPts val="100"/>
              </a:spcAft>
            </a:pPr>
            <a:r>
              <a:rPr sz="1400" b="1">
                <a:solidFill>
                  <a:srgbClr val="1F2A44"/>
                </a:solidFill>
                <a:latin typeface="Arial"/>
                <a:ea typeface="Microsoft YaHei"/>
              </a:rPr>
              <a:t>Where Projects Go Wrong</a:t>
            </a:r>
          </a:p>
          <a:p>
            <a:pPr algn="l">
              <a:lnSpc>
                <a:spcPct val="100000"/>
              </a:lnSpc>
              <a:spcAft>
                <a:spcPts val="800"/>
              </a:spcAft>
            </a:pPr>
            <a:r>
              <a:rPr sz="1000" b="0">
                <a:solidFill>
                  <a:srgbClr val="5F677A"/>
                </a:solidFill>
                <a:latin typeface="Arial"/>
                <a:ea typeface="Microsoft YaHei"/>
              </a:rPr>
              <a:t>项目出错的地方</a:t>
            </a:r>
          </a:p>
        </p:txBody>
      </p:sp>
      <p:sp>
        <p:nvSpPr>
          <p:cNvPr id="52" name="Rounded Rectangle 51">
            <a:hlinkClick action="ppaction://hlinksldjump" r:id="rId18"/>
          </p:cNvPr>
          <p:cNvSpPr/>
          <p:nvPr/>
        </p:nvSpPr>
        <p:spPr>
          <a:xfrm>
            <a:off x="9006609" y="4489704"/>
            <a:ext cx="2636443" cy="795528"/>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9116337" y="4567428"/>
            <a:ext cx="6400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52</a:t>
            </a:r>
          </a:p>
        </p:txBody>
      </p:sp>
      <p:sp>
        <p:nvSpPr>
          <p:cNvPr id="54" name="TextBox 53"/>
          <p:cNvSpPr txBox="1"/>
          <p:nvPr/>
        </p:nvSpPr>
        <p:spPr>
          <a:xfrm>
            <a:off x="9875289" y="4517136"/>
            <a:ext cx="1676323" cy="740664"/>
          </a:xfrm>
          <a:prstGeom prst="rect">
            <a:avLst/>
          </a:prstGeom>
          <a:noFill/>
        </p:spPr>
        <p:txBody>
          <a:bodyPr wrap="square" anchor="ctr">
            <a:spAutoFit/>
          </a:bodyPr>
          <a:lstStyle/>
          <a:p>
            <a:pPr algn="l">
              <a:lnSpc>
                <a:spcPct val="100000"/>
              </a:lnSpc>
              <a:spcAft>
                <a:spcPts val="100"/>
              </a:spcAft>
            </a:pPr>
            <a:r>
              <a:rPr sz="1400" b="1">
                <a:solidFill>
                  <a:srgbClr val="1F2A44"/>
                </a:solidFill>
                <a:latin typeface="Arial"/>
                <a:ea typeface="Microsoft YaHei"/>
              </a:rPr>
              <a:t>Identifying Problems</a:t>
            </a:r>
          </a:p>
          <a:p>
            <a:pPr algn="l">
              <a:lnSpc>
                <a:spcPct val="100000"/>
              </a:lnSpc>
              <a:spcAft>
                <a:spcPts val="800"/>
              </a:spcAft>
            </a:pPr>
            <a:r>
              <a:rPr sz="1000" b="0">
                <a:solidFill>
                  <a:srgbClr val="5F677A"/>
                </a:solidFill>
                <a:latin typeface="Arial"/>
                <a:ea typeface="Microsoft YaHei"/>
              </a:rPr>
              <a:t>识别问题</a:t>
            </a:r>
          </a:p>
        </p:txBody>
      </p:sp>
      <p:sp>
        <p:nvSpPr>
          <p:cNvPr id="55" name="Rounded Rectangle 54">
            <a:hlinkClick action="ppaction://hlinksldjump" r:id="rId19"/>
          </p:cNvPr>
          <p:cNvSpPr/>
          <p:nvPr/>
        </p:nvSpPr>
        <p:spPr>
          <a:xfrm>
            <a:off x="548640" y="5468112"/>
            <a:ext cx="2636443" cy="795528"/>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658368" y="5545836"/>
            <a:ext cx="6400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53</a:t>
            </a:r>
          </a:p>
        </p:txBody>
      </p:sp>
      <p:sp>
        <p:nvSpPr>
          <p:cNvPr id="57" name="TextBox 56"/>
          <p:cNvSpPr txBox="1"/>
          <p:nvPr/>
        </p:nvSpPr>
        <p:spPr>
          <a:xfrm>
            <a:off x="1417320" y="5495544"/>
            <a:ext cx="1676323" cy="740664"/>
          </a:xfrm>
          <a:prstGeom prst="rect">
            <a:avLst/>
          </a:prstGeom>
          <a:noFill/>
        </p:spPr>
        <p:txBody>
          <a:bodyPr wrap="square" anchor="ctr">
            <a:spAutoFit/>
          </a:bodyPr>
          <a:lstStyle/>
          <a:p>
            <a:pPr algn="l">
              <a:lnSpc>
                <a:spcPct val="100000"/>
              </a:lnSpc>
              <a:spcAft>
                <a:spcPts val="100"/>
              </a:spcAft>
            </a:pPr>
            <a:r>
              <a:rPr sz="1400" b="1">
                <a:solidFill>
                  <a:srgbClr val="1F2A44"/>
                </a:solidFill>
                <a:latin typeface="Arial"/>
                <a:ea typeface="Microsoft YaHei"/>
              </a:rPr>
              <a:t>Research and Development</a:t>
            </a:r>
          </a:p>
          <a:p>
            <a:pPr algn="l">
              <a:lnSpc>
                <a:spcPct val="100000"/>
              </a:lnSpc>
              <a:spcAft>
                <a:spcPts val="800"/>
              </a:spcAft>
            </a:pPr>
            <a:r>
              <a:rPr sz="1000" b="0">
                <a:solidFill>
                  <a:srgbClr val="5F677A"/>
                </a:solidFill>
                <a:latin typeface="Arial"/>
                <a:ea typeface="Microsoft YaHei"/>
              </a:rPr>
              <a:t>研发与创新</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5 · Lesson 37 Giving Interviews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37</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Giving Interviews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主持面试</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conduct a job interview as the interviewer: prepare questions, put the candidate at ease, probe answers and close the interview professionally.</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37 Giving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interviewed a candidate? How did it go?</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makes a good interviewer?</a:t>
            </a:r>
          </a:p>
        </p:txBody>
      </p:sp>
      <p:sp>
        <p:nvSpPr>
          <p:cNvPr id="15" name="Oval 14"/>
          <p:cNvSpPr/>
          <p:nvPr/>
        </p:nvSpPr>
        <p:spPr>
          <a:xfrm>
            <a:off x="548640" y="319125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questions do you think are useful, and which are a waste of time?</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an interviewer put a nervous candidate at ease?</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should an interviewer avoid asking?</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 题用 interview 的动词形式:I interviewed… interviewer = 面试官,interviewee/candidate = 应聘者。</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37 Giving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Role-play opening an interview and asking two probing questions.</a:t>
            </a:r>
          </a:p>
        </p:txBody>
      </p:sp>
      <p:sp>
        <p:nvSpPr>
          <p:cNvPr id="10" name="Rounded Rectangle 9"/>
          <p:cNvSpPr/>
          <p:nvPr/>
        </p:nvSpPr>
        <p:spPr>
          <a:xfrm>
            <a:off x="548640" y="3017520"/>
            <a:ext cx="156210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welcome</a:t>
            </a:r>
          </a:p>
        </p:txBody>
      </p:sp>
      <p:sp>
        <p:nvSpPr>
          <p:cNvPr id="11" name="Rounded Rectangle 10"/>
          <p:cNvSpPr/>
          <p:nvPr/>
        </p:nvSpPr>
        <p:spPr>
          <a:xfrm>
            <a:off x="2247900" y="3017520"/>
            <a:ext cx="156210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explain the format</a:t>
            </a:r>
          </a:p>
        </p:txBody>
      </p:sp>
      <p:sp>
        <p:nvSpPr>
          <p:cNvPr id="12" name="Rounded Rectangle 11"/>
          <p:cNvSpPr/>
          <p:nvPr/>
        </p:nvSpPr>
        <p:spPr>
          <a:xfrm>
            <a:off x="3947160" y="3017520"/>
            <a:ext cx="156210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ask about experience</a:t>
            </a:r>
          </a:p>
        </p:txBody>
      </p:sp>
      <p:sp>
        <p:nvSpPr>
          <p:cNvPr id="13" name="Rounded Rectangle 12"/>
          <p:cNvSpPr/>
          <p:nvPr/>
        </p:nvSpPr>
        <p:spPr>
          <a:xfrm>
            <a:off x="5646420" y="3017520"/>
            <a:ext cx="156210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probe</a:t>
            </a:r>
          </a:p>
        </p:txBody>
      </p:sp>
      <p:sp>
        <p:nvSpPr>
          <p:cNvPr id="14" name="Rounded Rectangle 13"/>
          <p:cNvSpPr/>
          <p:nvPr/>
        </p:nvSpPr>
        <p:spPr>
          <a:xfrm>
            <a:off x="7345680" y="3017520"/>
            <a:ext cx="1562100"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invite questions</a:t>
            </a:r>
          </a:p>
        </p:txBody>
      </p:sp>
      <p:sp>
        <p:nvSpPr>
          <p:cNvPr id="15" name="Rounded Rectangle 14"/>
          <p:cNvSpPr/>
          <p:nvPr/>
        </p:nvSpPr>
        <p:spPr>
          <a:xfrm>
            <a:off x="9044940" y="3017520"/>
            <a:ext cx="156210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6. close</a:t>
            </a:r>
          </a:p>
        </p:txBody>
      </p:sp>
      <p:sp>
        <p:nvSpPr>
          <p:cNvPr id="16" name="TextBox 15"/>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7" name="TextBox 16"/>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Thanks for coming in.   💬 Could you walk me through…?   💬 Can you give me an example of…?</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walk me through = 请详细讲讲。give me an example = 举例。面试开头先寒暄,让对方放松。</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Reading · The Other Side of the Table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133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37 Giving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Most of us have sat on the candidate’s side of the table, but interviewing is a skill of its own. A good interviewer prepares by reading the CV carefully and deciding which skills matter most for the role. In the room, they begin with friendly small talk and explain how the interview will work. Open questions such as “Can you tell me about a time when you disagreed with a colleague?” are more revealing than yes-or-no questions. Probing follow-ups such as “What did you do next?” help to separate rehearsed answers from genuine experience. Interviewers should also listen more than they talk, take notes and treat every candidate fairly, avoiding questions about age, family plans or religion. Finally, they should explain what happens next and when the candidate can expect to hear back.</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37 Giving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should interviewers read the CV in advance?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To decide which skills matter most for the role and prepare questions.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are open and probing questions useful?</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reveal more and help separate rehearsed answers from real experience.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should interviewers avoid asking about?</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Age, family plans or religion.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The interview process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37 Giving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面试流程</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shortlist</a:t>
            </a:r>
          </a:p>
          <a:p>
            <a:pPr algn="l">
              <a:lnSpc>
                <a:spcPct val="115000"/>
              </a:lnSpc>
              <a:spcAft>
                <a:spcPts val="800"/>
              </a:spcAft>
            </a:pPr>
            <a:r>
              <a:rPr sz="1300" b="0">
                <a:solidFill>
                  <a:srgbClr val="5F677A"/>
                </a:solidFill>
                <a:latin typeface="Arial"/>
                <a:ea typeface="Microsoft YaHei"/>
              </a:rPr>
              <a:t>verb / 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入围名单 / 列入名单</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shortlisted five candidates.”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panel interview</a:t>
            </a:r>
          </a:p>
          <a:p>
            <a:pPr algn="l">
              <a:lnSpc>
                <a:spcPct val="115000"/>
              </a:lnSpc>
              <a:spcAft>
                <a:spcPts val="800"/>
              </a:spcAft>
            </a:pPr>
            <a:r>
              <a:rPr sz="1300" b="0">
                <a:solidFill>
                  <a:srgbClr val="5F677A"/>
                </a:solidFill>
                <a:latin typeface="Arial"/>
                <a:ea typeface="Microsoft YaHei"/>
              </a:rPr>
              <a:t>noun 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小组面试</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had a panel interview with three managers.”</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competency-based question</a:t>
            </a:r>
          </a:p>
          <a:p>
            <a:pPr algn="l">
              <a:lnSpc>
                <a:spcPct val="115000"/>
              </a:lnSpc>
              <a:spcAft>
                <a:spcPts val="800"/>
              </a:spcAft>
            </a:pPr>
            <a:r>
              <a:rPr sz="1300" b="0">
                <a:solidFill>
                  <a:srgbClr val="5F677A"/>
                </a:solidFill>
                <a:latin typeface="Arial"/>
                <a:ea typeface="Microsoft YaHei"/>
              </a:rPr>
              <a:t>noun phrase</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能力导向问题</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“Competency-based questions ask for real examples.”</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follow-up question</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追问</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asked a follow-up question about her budget.”</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reference</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推荐人 / 背景调查</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“We’ll contact your references next week.”</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job description</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岗位说明</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job description lists the main duties.”</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2: Questioning and listening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37 Giving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提问与倾听</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put someone at ease</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让某人放松</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smile puts candidates at ease.”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walk me through</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请详细讲讲</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“Walk me through your last project.”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probe</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追问</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probed further about his role in the team.”</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gauge</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判断/衡量</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wanted to gauge his experience.”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red flag</a:t>
            </a:r>
          </a:p>
          <a:p>
            <a:pPr algn="l">
              <a:lnSpc>
                <a:spcPct val="115000"/>
              </a:lnSpc>
              <a:spcAft>
                <a:spcPts val="800"/>
              </a:spcAft>
            </a:pPr>
            <a:r>
              <a:rPr sz="1300" b="0">
                <a:solidFill>
                  <a:srgbClr val="5F677A"/>
                </a:solidFill>
                <a:latin typeface="Arial"/>
                <a:ea typeface="Microsoft YaHei"/>
              </a:rPr>
              <a:t>noun 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危险信号</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“Frequent job changes can be a red flag.”</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wrap up</a:t>
            </a:r>
          </a:p>
          <a:p>
            <a:pPr algn="l">
              <a:lnSpc>
                <a:spcPct val="115000"/>
              </a:lnSpc>
              <a:spcAft>
                <a:spcPts val="800"/>
              </a:spcAft>
            </a:pPr>
            <a:r>
              <a:rPr sz="1300" b="0">
                <a:solidFill>
                  <a:srgbClr val="5F677A"/>
                </a:solidFill>
                <a:latin typeface="Arial"/>
                <a:ea typeface="Microsoft YaHei"/>
              </a:rPr>
              <a:t>phrasal verb</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结束</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wrap up with any questions you have.”</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37 Giving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入围名单 / 列入名单</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shortlist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小组面试</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panel interview</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岗位说明</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job description</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让某人放松</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put someone at ease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追问</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probe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请详细讲讲</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walk me through</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结束</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wrap up</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能力导向问题</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competency-based question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37 Giving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shortlisted</a:t>
            </a:r>
          </a:p>
        </p:txBody>
      </p:sp>
      <p:sp>
        <p:nvSpPr>
          <p:cNvPr id="10" name="Rounded Rectangle 9"/>
          <p:cNvSpPr/>
          <p:nvPr/>
        </p:nvSpPr>
        <p:spPr>
          <a:xfrm>
            <a:off x="3675887" y="987552"/>
            <a:ext cx="91440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panel</a:t>
            </a:r>
          </a:p>
        </p:txBody>
      </p:sp>
      <p:sp>
        <p:nvSpPr>
          <p:cNvPr id="11" name="Rounded Rectangle 10"/>
          <p:cNvSpPr/>
          <p:nvPr/>
        </p:nvSpPr>
        <p:spPr>
          <a:xfrm>
            <a:off x="4681727" y="987552"/>
            <a:ext cx="135331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follow-up</a:t>
            </a:r>
          </a:p>
        </p:txBody>
      </p:sp>
      <p:sp>
        <p:nvSpPr>
          <p:cNvPr id="12" name="Rounded Rectangle 11"/>
          <p:cNvSpPr/>
          <p:nvPr/>
        </p:nvSpPr>
        <p:spPr>
          <a:xfrm>
            <a:off x="6126479" y="987552"/>
            <a:ext cx="1572767"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put at ease</a:t>
            </a:r>
          </a:p>
        </p:txBody>
      </p:sp>
      <p:sp>
        <p:nvSpPr>
          <p:cNvPr id="13" name="Rounded Rectangle 12"/>
          <p:cNvSpPr/>
          <p:nvPr/>
        </p:nvSpPr>
        <p:spPr>
          <a:xfrm>
            <a:off x="7790686" y="987552"/>
            <a:ext cx="91440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gauge</a:t>
            </a:r>
          </a:p>
        </p:txBody>
      </p:sp>
      <p:sp>
        <p:nvSpPr>
          <p:cNvPr id="14" name="Rounded Rectangle 13"/>
          <p:cNvSpPr/>
          <p:nvPr/>
        </p:nvSpPr>
        <p:spPr>
          <a:xfrm>
            <a:off x="8796526"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wrap up</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We have _______ five candidates for the final round.</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shortlisted</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She will have a _______ interview with three managers.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panel</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 asked a _______ question about her results.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follow-up</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A friendly start helps to _______ nervous candidates.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put at ease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I’d like to _______ how well he works under pressure.</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gauge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Let’s _______ with any questions you may have.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wrap up</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interview (one r in the middle: in-ter-view), questionnaire (double n), candidate. Conduct / hold an interview, interview a candidate for a job (not “interview to”). Interviewer (the one who asks) vs interviewee (the one who answers).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Opening the interview and probing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37 Giving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开场与追问</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are the hiring manager interviewing a candidate, Kevin, for a sales team leader job.</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Anna Reyes, hiring manager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Kevin Bell, candidate</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Opening the interview and probing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37 Giving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Anna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Kevin, I’m Anna. Thanks for coming in. Did you find us easily?</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Kevin</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thank you. The directions were clear.</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Today I’ll ask about your experience and then leave time for your questions. Is that okay?</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Perfect.</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start with your current role. Could you walk me through a typical week?</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Opening the interview and probing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37 Giving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I manage a team of six, and we handle about forty accounts.</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what’s the achievement you’re most proud of in the last year?</a:t>
            </a:r>
          </a:p>
        </p:txBody>
      </p:sp>
      <p:sp>
        <p:nvSpPr>
          <p:cNvPr id="14" name="Rounded Rectangle 13"/>
          <p:cNvSpPr/>
          <p:nvPr/>
        </p:nvSpPr>
        <p:spPr>
          <a:xfrm>
            <a:off x="10911535" y="249021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490216"/>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increased renewals by fifteen per cent, mainly by improving follow-up.</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Interesting. Can you give me an example of what you changed?</a:t>
            </a:r>
          </a:p>
        </p:txBody>
      </p:sp>
      <p:sp>
        <p:nvSpPr>
          <p:cNvPr id="20" name="Rounded Rectangle 19"/>
          <p:cNvSpPr/>
          <p:nvPr/>
        </p:nvSpPr>
        <p:spPr>
          <a:xfrm>
            <a:off x="10911535" y="394411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3944112"/>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introduced a short call to every client three months before renewal.</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Opening the interview and probing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37 Giving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that’s helpful. Do you have any questions for me?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how is the team structured? Then I’d like to know what success looks like in the first six months.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questions. I’ll cover those now, and then we’ll wrap up.</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Opening the interview and probing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37 Giving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interview a candidate.</a:t>
            </a:r>
          </a:p>
        </p:txBody>
      </p:sp>
      <p:sp>
        <p:nvSpPr>
          <p:cNvPr id="10" name="Rounded Rectangle 9"/>
          <p:cNvSpPr/>
          <p:nvPr/>
        </p:nvSpPr>
        <p:spPr>
          <a:xfrm>
            <a:off x="548640" y="1807464"/>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Interviewer. Prepare two open questions and one probing question for: ______________</a:t>
            </a:r>
          </a:p>
        </p:txBody>
      </p:sp>
      <p:sp>
        <p:nvSpPr>
          <p:cNvPr id="12" name="Rounded Rectangle 11"/>
          <p:cNvSpPr/>
          <p:nvPr/>
        </p:nvSpPr>
        <p:spPr>
          <a:xfrm>
            <a:off x="548640" y="253288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53288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Candidate. Answer with an example and ask two questions.</a:t>
            </a:r>
          </a:p>
        </p:txBody>
      </p:sp>
      <p:sp>
        <p:nvSpPr>
          <p:cNvPr id="14" name="Rounded Rectangle 13"/>
          <p:cNvSpPr/>
          <p:nvPr/>
        </p:nvSpPr>
        <p:spPr>
          <a:xfrm>
            <a:off x="548640" y="301447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301447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walk me through · give me an example · what did you do next · follow-up · gauge · wrap up</a:t>
            </a:r>
          </a:p>
        </p:txBody>
      </p:sp>
      <p:sp>
        <p:nvSpPr>
          <p:cNvPr id="16" name="Rounded Rectangle 15"/>
          <p:cNvSpPr/>
          <p:nvPr/>
        </p:nvSpPr>
        <p:spPr>
          <a:xfrm>
            <a:off x="548640" y="373989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73989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Open, probe, invite questions and explain next steps.</a:t>
            </a:r>
          </a:p>
        </p:txBody>
      </p:sp>
      <p:sp>
        <p:nvSpPr>
          <p:cNvPr id="18" name="Rounded Rectangle 17"/>
          <p:cNvSpPr/>
          <p:nvPr/>
        </p:nvSpPr>
        <p:spPr>
          <a:xfrm>
            <a:off x="548640" y="42214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42214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79450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5178552"/>
            <a:ext cx="3576218" cy="103936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candidate gives a vague answer. Probe politely.</a:t>
            </a:r>
          </a:p>
        </p:txBody>
      </p:sp>
      <p:sp>
        <p:nvSpPr>
          <p:cNvPr id="22" name="Rounded Rectangle 21"/>
          <p:cNvSpPr/>
          <p:nvPr/>
        </p:nvSpPr>
        <p:spPr>
          <a:xfrm>
            <a:off x="4307738" y="5178552"/>
            <a:ext cx="3576218" cy="103936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candidate says “I don’t have a weakness.” React.</a:t>
            </a:r>
          </a:p>
        </p:txBody>
      </p:sp>
      <p:sp>
        <p:nvSpPr>
          <p:cNvPr id="23" name="Rounded Rectangle 22"/>
          <p:cNvSpPr/>
          <p:nvPr/>
        </p:nvSpPr>
        <p:spPr>
          <a:xfrm>
            <a:off x="8066836" y="5178552"/>
            <a:ext cx="3576218" cy="103936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Close the interview and explain the next steps.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37 Giving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qualities make an interview effective?</a:t>
            </a:r>
          </a:p>
          <a:p>
            <a:pPr algn="l">
              <a:lnSpc>
                <a:spcPct val="115000"/>
              </a:lnSpc>
              <a:spcAft>
                <a:spcPts val="800"/>
              </a:spcAft>
            </a:pPr>
            <a:r>
              <a:rPr sz="1400" b="0">
                <a:solidFill>
                  <a:srgbClr val="5F677A"/>
                </a:solidFill>
                <a:latin typeface="Arial"/>
                <a:ea typeface="Microsoft YaHei"/>
              </a:rPr>
              <a:t>💬 “A good interviewer should… / It’s important to…”</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Are behavioural questions better than traditional questions?</a:t>
            </a:r>
          </a:p>
          <a:p>
            <a:pPr algn="l">
              <a:lnSpc>
                <a:spcPct val="115000"/>
              </a:lnSpc>
              <a:spcAft>
                <a:spcPts val="800"/>
              </a:spcAft>
            </a:pPr>
            <a:r>
              <a:rPr sz="1400" b="0">
                <a:solidFill>
                  <a:srgbClr val="5F677A"/>
                </a:solidFill>
                <a:latin typeface="Arial"/>
                <a:ea typeface="Microsoft YaHei"/>
              </a:rPr>
              <a:t>💬 “They reveal… whereas…”</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important is first impression in an interview?</a:t>
            </a:r>
          </a:p>
          <a:p>
            <a:pPr algn="l">
              <a:lnSpc>
                <a:spcPct val="115000"/>
              </a:lnSpc>
              <a:spcAft>
                <a:spcPts val="800"/>
              </a:spcAft>
            </a:pPr>
            <a:r>
              <a:rPr sz="1400" b="0">
                <a:solidFill>
                  <a:srgbClr val="5F677A"/>
                </a:solidFill>
                <a:latin typeface="Arial"/>
                <a:ea typeface="Microsoft YaHei"/>
              </a:rPr>
              <a:t>💬 “It matters, but… / First impressions can mislead because…”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should interviewers never ask?</a:t>
            </a:r>
          </a:p>
          <a:p>
            <a:pPr algn="l">
              <a:lnSpc>
                <a:spcPct val="115000"/>
              </a:lnSpc>
              <a:spcAft>
                <a:spcPts val="800"/>
              </a:spcAft>
            </a:pPr>
            <a:r>
              <a:rPr sz="1400" b="0">
                <a:solidFill>
                  <a:srgbClr val="5F677A"/>
                </a:solidFill>
                <a:latin typeface="Arial"/>
                <a:ea typeface="Microsoft YaHei"/>
              </a:rPr>
              <a:t>💬 “They shouldn’t ask about… because it’s…”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37 Giving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First impressions matter, but they shouldn’t be decisive. A candidate who is nervous may seem less confident than they really are, and a charming candidate might not have the skills. That is why I think interviewers should use structured questions and take notes, so decisions are based on evidence rather than gut feeling. A good start helps, but the substance of the answers matters most.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decisive = 起决定作用的。gut feeling = 直觉。”based on evidence” = 基于证据。 substance = 实质内容。</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37 Giving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66979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Introduce yourself.</a:t>
                      </a:r>
                    </a:p>
                  </a:txBody>
                  <a:tcPr anchor="ctr">
                    <a:solidFill>
                      <a:srgbClr val="FFFFFF"/>
                    </a:solidFill>
                  </a:tcPr>
                </a:tc>
                <a:tc>
                  <a:txBody>
                    <a:bodyPr wrap="square"/>
                    <a:lstStyle/>
                    <a:p>
                      <a:r>
                        <a:rPr sz="1600" b="0">
                          <a:solidFill>
                            <a:srgbClr val="1F2A44"/>
                          </a:solidFill>
                          <a:latin typeface="Arial"/>
                          <a:ea typeface="Microsoft YaHei"/>
                        </a:rPr>
                        <a:t>Could you tell me a little about yourself?</a:t>
                      </a:r>
                    </a:p>
                  </a:txBody>
                  <a:tcPr anchor="ctr">
                    <a:solidFill>
                      <a:srgbClr val="FFFFFF"/>
                    </a:solidFill>
                  </a:tcPr>
                </a:tc>
                <a:tc>
                  <a:txBody>
                    <a:bodyPr wrap="square"/>
                    <a:lstStyle/>
                    <a:p>
                      <a:r>
                        <a:rPr sz="1600" b="0">
                          <a:solidFill>
                            <a:srgbClr val="FF6B5B"/>
                          </a:solidFill>
                          <a:latin typeface="Arial"/>
                          <a:ea typeface="Microsoft YaHei"/>
                        </a:rPr>
                        <a:t>礼貌</a:t>
                      </a:r>
                    </a:p>
                  </a:txBody>
                  <a:tcPr anchor="ctr">
                    <a:solidFill>
                      <a:srgbClr val="FFFFFF"/>
                    </a:solidFill>
                  </a:tcPr>
                </a:tc>
              </a:tr>
              <a:tr h="652272">
                <a:tc>
                  <a:txBody>
                    <a:bodyPr wrap="square"/>
                    <a:lstStyle/>
                    <a:p>
                      <a:r>
                        <a:rPr sz="1600" b="1">
                          <a:solidFill>
                            <a:srgbClr val="1F2A44"/>
                          </a:solidFill>
                          <a:latin typeface="Arial"/>
                          <a:ea typeface="Microsoft YaHei"/>
                        </a:rPr>
                        <a:t>What is your weakness?</a:t>
                      </a:r>
                    </a:p>
                  </a:txBody>
                  <a:tcPr anchor="ctr">
                    <a:solidFill>
                      <a:srgbClr val="FFEFD9"/>
                    </a:solidFill>
                  </a:tcPr>
                </a:tc>
                <a:tc>
                  <a:txBody>
                    <a:bodyPr wrap="square"/>
                    <a:lstStyle/>
                    <a:p>
                      <a:r>
                        <a:rPr sz="1600" b="0">
                          <a:solidFill>
                            <a:srgbClr val="1F2A44"/>
                          </a:solidFill>
                          <a:latin typeface="Arial"/>
                          <a:ea typeface="Microsoft YaHei"/>
                        </a:rPr>
                        <a:t>Is there an area you’re working to improve?</a:t>
                      </a:r>
                    </a:p>
                  </a:txBody>
                  <a:tcPr anchor="ctr">
                    <a:solidFill>
                      <a:srgbClr val="FFEFD9"/>
                    </a:solidFill>
                  </a:tcPr>
                </a:tc>
                <a:tc>
                  <a:txBody>
                    <a:bodyPr wrap="square"/>
                    <a:lstStyle/>
                    <a:p>
                      <a:r>
                        <a:rPr sz="1600" b="0">
                          <a:solidFill>
                            <a:srgbClr val="FF6B5B"/>
                          </a:solidFill>
                          <a:latin typeface="Arial"/>
                          <a:ea typeface="Microsoft YaHei"/>
                        </a:rPr>
                        <a:t>委婉</a:t>
                      </a:r>
                    </a:p>
                  </a:txBody>
                  <a:tcPr anchor="ctr">
                    <a:solidFill>
                      <a:srgbClr val="FFEFD9"/>
                    </a:solidFill>
                  </a:tcPr>
                </a:tc>
              </a:tr>
              <a:tr h="652272">
                <a:tc>
                  <a:txBody>
                    <a:bodyPr wrap="square"/>
                    <a:lstStyle/>
                    <a:p>
                      <a:r>
                        <a:rPr sz="1600" b="1">
                          <a:solidFill>
                            <a:srgbClr val="1F2A44"/>
                          </a:solidFill>
                          <a:latin typeface="Arial"/>
                          <a:ea typeface="Microsoft YaHei"/>
                        </a:rPr>
                        <a:t>Why you want this job?</a:t>
                      </a:r>
                    </a:p>
                  </a:txBody>
                  <a:tcPr anchor="ctr">
                    <a:solidFill>
                      <a:srgbClr val="FFFFFF"/>
                    </a:solidFill>
                  </a:tcPr>
                </a:tc>
                <a:tc>
                  <a:txBody>
                    <a:bodyPr wrap="square"/>
                    <a:lstStyle/>
                    <a:p>
                      <a:r>
                        <a:rPr sz="1600" b="0">
                          <a:solidFill>
                            <a:srgbClr val="1F2A44"/>
                          </a:solidFill>
                          <a:latin typeface="Arial"/>
                          <a:ea typeface="Microsoft YaHei"/>
                        </a:rPr>
                        <a:t>What attracted you to this position?</a:t>
                      </a:r>
                    </a:p>
                  </a:txBody>
                  <a:tcPr anchor="ctr">
                    <a:solidFill>
                      <a:srgbClr val="FFFFFF"/>
                    </a:solidFill>
                  </a:tcPr>
                </a:tc>
                <a:tc>
                  <a:txBody>
                    <a:bodyPr wrap="square"/>
                    <a:lstStyle/>
                    <a:p>
                      <a:r>
                        <a:rPr sz="1600" b="0">
                          <a:solidFill>
                            <a:srgbClr val="FF6B5B"/>
                          </a:solidFill>
                          <a:latin typeface="Arial"/>
                          <a:ea typeface="Microsoft YaHei"/>
                        </a:rPr>
                        <a:t>完整问句</a:t>
                      </a:r>
                    </a:p>
                  </a:txBody>
                  <a:tcPr anchor="ctr">
                    <a:solidFill>
                      <a:srgbClr val="FFFFFF"/>
                    </a:solidFill>
                  </a:tcPr>
                </a:tc>
              </a:tr>
              <a:tr h="652272">
                <a:tc>
                  <a:txBody>
                    <a:bodyPr wrap="square"/>
                    <a:lstStyle/>
                    <a:p>
                      <a:r>
                        <a:rPr sz="1600" b="1">
                          <a:solidFill>
                            <a:srgbClr val="1F2A44"/>
                          </a:solidFill>
                          <a:latin typeface="Arial"/>
                          <a:ea typeface="Microsoft YaHei"/>
                        </a:rPr>
                        <a:t>We will tell you later.</a:t>
                      </a:r>
                    </a:p>
                  </a:txBody>
                  <a:tcPr anchor="ctr">
                    <a:solidFill>
                      <a:srgbClr val="FFEFD9"/>
                    </a:solidFill>
                  </a:tcPr>
                </a:tc>
                <a:tc>
                  <a:txBody>
                    <a:bodyPr wrap="square"/>
                    <a:lstStyle/>
                    <a:p>
                      <a:r>
                        <a:rPr sz="1600" b="0">
                          <a:solidFill>
                            <a:srgbClr val="1F2A44"/>
                          </a:solidFill>
                          <a:latin typeface="Arial"/>
                          <a:ea typeface="Microsoft YaHei"/>
                        </a:rPr>
                        <a:t>You’ll hear from us by the end of next week.</a:t>
                      </a:r>
                    </a:p>
                  </a:txBody>
                  <a:tcPr anchor="ctr">
                    <a:solidFill>
                      <a:srgbClr val="FFEFD9"/>
                    </a:solidFill>
                  </a:tcPr>
                </a:tc>
                <a:tc>
                  <a:txBody>
                    <a:bodyPr wrap="square"/>
                    <a:lstStyle/>
                    <a:p>
                      <a:r>
                        <a:rPr sz="1600" b="0">
                          <a:solidFill>
                            <a:srgbClr val="FF6B5B"/>
                          </a:solidFill>
                          <a:latin typeface="Arial"/>
                          <a:ea typeface="Microsoft YaHei"/>
                        </a:rPr>
                        <a:t>告知时间</a:t>
                      </a:r>
                    </a:p>
                  </a:txBody>
                  <a:tcPr anchor="ctr">
                    <a:solidFill>
                      <a:srgbClr val="FFEFD9"/>
                    </a:solidFill>
                  </a:tcPr>
                </a:tc>
              </a:tr>
              <a:tr h="652272">
                <a:tc>
                  <a:txBody>
                    <a:bodyPr wrap="square"/>
                    <a:lstStyle/>
                    <a:p>
                      <a:r>
                        <a:rPr sz="1600" b="1">
                          <a:solidFill>
                            <a:srgbClr val="1F2A44"/>
                          </a:solidFill>
                          <a:latin typeface="Arial"/>
                          <a:ea typeface="Microsoft YaHei"/>
                        </a:rPr>
                        <a:t>Your answer is not enough.</a:t>
                      </a:r>
                    </a:p>
                  </a:txBody>
                  <a:tcPr anchor="ctr">
                    <a:solidFill>
                      <a:srgbClr val="FFFFFF"/>
                    </a:solidFill>
                  </a:tcPr>
                </a:tc>
                <a:tc>
                  <a:txBody>
                    <a:bodyPr wrap="square"/>
                    <a:lstStyle/>
                    <a:p>
                      <a:r>
                        <a:rPr sz="1600" b="0">
                          <a:solidFill>
                            <a:srgbClr val="1F2A44"/>
                          </a:solidFill>
                          <a:latin typeface="Arial"/>
                          <a:ea typeface="Microsoft YaHei"/>
                        </a:rPr>
                        <a:t>Could you say a bit more about that?</a:t>
                      </a:r>
                    </a:p>
                  </a:txBody>
                  <a:tcPr anchor="ctr">
                    <a:solidFill>
                      <a:srgbClr val="FFFFFF"/>
                    </a:solidFill>
                  </a:tcPr>
                </a:tc>
                <a:tc>
                  <a:txBody>
                    <a:bodyPr wrap="square"/>
                    <a:lstStyle/>
                    <a:p>
                      <a:r>
                        <a:rPr sz="1600" b="0">
                          <a:solidFill>
                            <a:srgbClr val="FF6B5B"/>
                          </a:solidFill>
                          <a:latin typeface="Arial"/>
                          <a:ea typeface="Microsoft YaHei"/>
                        </a:rPr>
                        <a:t>追问</a:t>
                      </a:r>
                    </a:p>
                  </a:txBody>
                  <a:tcPr anchor="ctr">
                    <a:solidFill>
                      <a:srgbClr val="FFFFFF"/>
                    </a:solidFill>
                  </a:tcPr>
                </a:tc>
              </a:tr>
            </a:tbl>
          </a:graphicData>
        </a:graphic>
      </p:graphicFrame>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37 Giving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Open questions: </a:t>
            </a:r>
            <a:r>
              <a:rPr sz="1700" b="0">
                <a:solidFill>
                  <a:srgbClr val="1F2A44"/>
                </a:solidFill>
                <a:latin typeface="Arial"/>
                <a:ea typeface="Microsoft YaHei"/>
              </a:rPr>
              <a:t>Start with What, How, Tell me about, Could you describe… instead of Do you…?</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Indirect questions: </a:t>
            </a:r>
            <a:r>
              <a:rPr sz="1700" b="0">
                <a:solidFill>
                  <a:srgbClr val="1F2A44"/>
                </a:solidFill>
                <a:latin typeface="Arial"/>
                <a:ea typeface="Microsoft YaHei"/>
              </a:rPr>
              <a:t>Could you tell me what your role was? (statement word order, no inversion)</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Behavioural prompts: </a:t>
            </a:r>
            <a:r>
              <a:rPr sz="1700" b="0">
                <a:solidFill>
                  <a:srgbClr val="1F2A44"/>
                </a:solidFill>
                <a:latin typeface="Arial"/>
                <a:ea typeface="Microsoft YaHei"/>
              </a:rPr>
              <a:t>Tell me about a time when… / Describe a situation where…</a:t>
            </a:r>
          </a:p>
        </p:txBody>
      </p:sp>
      <p:sp>
        <p:nvSpPr>
          <p:cNvPr id="17" name="Rounded Rectangle 16"/>
          <p:cNvSpPr/>
          <p:nvPr/>
        </p:nvSpPr>
        <p:spPr>
          <a:xfrm>
            <a:off x="548640" y="301751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701039"/>
          </a:xfrm>
          <a:prstGeom prst="rect">
            <a:avLst/>
          </a:prstGeom>
          <a:noFill/>
        </p:spPr>
        <p:txBody>
          <a:bodyPr wrap="square" anchor="ctr">
            <a:spAutoFit/>
          </a:bodyPr>
          <a:lstStyle/>
          <a:p>
            <a:r>
              <a:rPr sz="1700" b="1">
                <a:solidFill>
                  <a:srgbClr val="FFC857"/>
                </a:solidFill>
                <a:latin typeface="Arial"/>
                <a:ea typeface="Microsoft YaHei"/>
              </a:rPr>
              <a:t>Closing the interview: </a:t>
            </a:r>
            <a:r>
              <a:rPr sz="1700" b="0">
                <a:solidFill>
                  <a:srgbClr val="1F2A44"/>
                </a:solidFill>
                <a:latin typeface="Arial"/>
                <a:ea typeface="Microsoft YaHei"/>
              </a:rPr>
              <a:t>Do you have any questions for us? / We’ll be in touch by… / Thank you for your time.</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37 Giving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Why you left your last job?</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Why did you leave your last job?</a:t>
            </a:r>
          </a:p>
          <a:p>
            <a:pPr algn="l">
              <a:spcAft>
                <a:spcPts val="200"/>
              </a:spcAft>
            </a:pPr>
            <a:r>
              <a:rPr sz="1200" b="0">
                <a:solidFill>
                  <a:srgbClr val="FFFFFF"/>
                </a:solidFill>
                <a:latin typeface="Arial"/>
                <a:ea typeface="Microsoft YaHei"/>
              </a:rPr>
              <a:t>助动词倒装</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Could you tell me what is your role?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Could you tell me what your role is?</a:t>
            </a:r>
          </a:p>
          <a:p>
            <a:pPr algn="l">
              <a:spcAft>
                <a:spcPts val="200"/>
              </a:spcAft>
            </a:pPr>
            <a:r>
              <a:rPr sz="1200" b="0">
                <a:solidFill>
                  <a:srgbClr val="FFFFFF"/>
                </a:solidFill>
                <a:latin typeface="Arial"/>
                <a:ea typeface="Microsoft YaHei"/>
              </a:rPr>
              <a:t>间接疑问语序</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How long you have worked there?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How long have you worked there?</a:t>
            </a:r>
          </a:p>
          <a:p>
            <a:pPr algn="l">
              <a:spcAft>
                <a:spcPts val="200"/>
              </a:spcAft>
            </a:pPr>
            <a:r>
              <a:rPr sz="1200" b="0">
                <a:solidFill>
                  <a:srgbClr val="FFFFFF"/>
                </a:solidFill>
                <a:latin typeface="Arial"/>
                <a:ea typeface="Microsoft YaHei"/>
              </a:rPr>
              <a:t>倒装</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37 Giving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interview to you.</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will interview you.</a:t>
            </a:r>
          </a:p>
          <a:p>
            <a:pPr algn="l">
              <a:spcAft>
                <a:spcPts val="200"/>
              </a:spcAft>
            </a:pPr>
            <a:r>
              <a:rPr sz="1200" b="0">
                <a:solidFill>
                  <a:srgbClr val="FFFFFF"/>
                </a:solidFill>
                <a:latin typeface="Arial"/>
                <a:ea typeface="Microsoft YaHei"/>
              </a:rPr>
              <a:t>及物动词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Do you have any question?</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Do you have any questions?</a:t>
            </a:r>
          </a:p>
          <a:p>
            <a:pPr algn="l">
              <a:spcAft>
                <a:spcPts val="200"/>
              </a:spcAft>
            </a:pPr>
            <a:r>
              <a:rPr sz="1200" b="0">
                <a:solidFill>
                  <a:srgbClr val="FFFFFF"/>
                </a:solidFill>
                <a:latin typeface="Arial"/>
                <a:ea typeface="Microsoft YaHei"/>
              </a:rPr>
              <a:t>questions 复数</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will inform you the result.</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will let you know the result. / We will inform you of the result.</a:t>
            </a:r>
          </a:p>
          <a:p>
            <a:pPr algn="l">
              <a:spcAft>
                <a:spcPts val="200"/>
              </a:spcAft>
            </a:pPr>
            <a:r>
              <a:rPr sz="1200" b="0">
                <a:solidFill>
                  <a:srgbClr val="FFFFFF"/>
                </a:solidFill>
                <a:latin typeface="Arial"/>
                <a:ea typeface="Microsoft YaHei"/>
              </a:rPr>
              <a:t>inform sb of</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question word order, indirect questions and interview as a transitive verb.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37 Giving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Small talk: </a:t>
            </a:r>
            <a:r>
              <a:rPr sz="1700" b="0">
                <a:solidFill>
                  <a:srgbClr val="1F2A44"/>
                </a:solidFill>
                <a:latin typeface="Arial"/>
                <a:ea typeface="Microsoft YaHei"/>
              </a:rPr>
              <a:t>In the UK and US, interviews begin with friendly small talk. It’s part of the process.</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Fair questions: </a:t>
            </a:r>
            <a:r>
              <a:rPr sz="1700" b="0">
                <a:solidFill>
                  <a:srgbClr val="1F2A44"/>
                </a:solidFill>
                <a:latin typeface="Arial"/>
                <a:ea typeface="Microsoft YaHei"/>
              </a:rPr>
              <a:t>Questions about age, marital status or religion are illegal in many countries. Ask only about skills and experience.</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1">
                <a:solidFill>
                  <a:srgbClr val="3CC49A"/>
                </a:solidFill>
                <a:latin typeface="Arial"/>
                <a:ea typeface="Microsoft YaHei"/>
              </a:rPr>
              <a:t>Notes: </a:t>
            </a:r>
            <a:r>
              <a:rPr sz="1700" b="0">
                <a:solidFill>
                  <a:srgbClr val="1F2A44"/>
                </a:solidFill>
                <a:latin typeface="Arial"/>
                <a:ea typeface="Microsoft YaHei"/>
              </a:rPr>
              <a:t>Most interviewers take notes. It doesn’t mean you answered badly.</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疑问句要倒装:Why did you leave…?;间接疑问句不倒装:Could you tell me what your role is?。interview 是及物动词,interview you,不用 to。</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37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37 Giving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open an interview and put the candidate at ease.</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open and probing questions.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indirect questions with correct word order.</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close an interview and explain next steps.</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37 Giving Interviews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question word order, indirect questions, and interview as a transitive verb.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5 · Lesson 38 Finding and Keeping Employees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27</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38</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100" b="1">
                <a:solidFill>
                  <a:srgbClr val="FFFFFF"/>
                </a:solidFill>
                <a:latin typeface="Arial"/>
                <a:ea typeface="Microsoft YaHei"/>
              </a:rPr>
              <a:t>Finding and Keeping Employees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招聘和留住员工</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recruitment and retention: where to find talent, how to attract it and how to stop good people leaving.</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38 Finding and Keeping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did you find your current job?</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makes a company attractive to job seekers?</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do good employees leave?</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can companies do to keep their best people?</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it better to hire internally or externally?</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recruitment = 招聘;retention = 留任。”internal vs external” candidates 是常考点。attract talent = 吸引人才。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38 Finding and Keeping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Suggest ways to retain employees at a company with high staff turnover.</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describe the problem</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causes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solutions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expected benefits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One reason people leave is…   💬 To keep them, we could…   💬 This would help us to…</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One reason is… 引出原因;To + 动词 表示目的。we could… 提议。</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Reading · Hiring Is Only Half the Job</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125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38 Finding and Keeping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Finding good people is hard, but keeping them can be harder. Companies advertise vacancies, use recruiters, offer referral bonuses and scout for talent online. Yet many neglect what happens after the offer is accepted. New employees who feel lost during their first months are more likely to leave. Surveys of departing staff often mention the same reasons: limited career prospects, poor management, a lack of recognition and pay that falls behind the market. Retention starts early with a good induction programme and continues with regular feedback, training and clear paths to promotion. Exit interviews can also reveal what is going wrong. Replacing an employee costs far more than keeping one, so a company that invests in its people usually saves money in the long term.</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38 Finding and Keeping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do new employees leave?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feel lost in the first months, with poor induction.</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reasons do departing staff mention?</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Limited career prospects, poor management, lack of recognition and pay below market.</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Why is retention more cost-effective?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Replacing an employee costs far more than keeping one.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Recruiting and retaining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38 Finding and Keeping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招聘与留任</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vacancy</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职位空缺</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vacancy in sales.”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recruit</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招聘</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recruit graduates every summer.”</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headhunter / recruiter</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猎头 / 招聘专员</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headhunter contacted me.”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employee retention</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员工留任</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“Retention is a priority.”</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turnover</a:t>
            </a:r>
          </a:p>
          <a:p>
            <a:pPr algn="l">
              <a:lnSpc>
                <a:spcPct val="115000"/>
              </a:lnSpc>
              <a:spcAft>
                <a:spcPts val="800"/>
              </a:spcAft>
            </a:pPr>
            <a:r>
              <a:rPr sz="1300" b="0">
                <a:solidFill>
                  <a:srgbClr val="5F677A"/>
                </a:solidFill>
                <a:latin typeface="Arial"/>
                <a:ea typeface="Microsoft YaHei"/>
              </a:rPr>
              <a:t>noun (uncountable)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人员流动率</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“Turnover is high in retail.”</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career prospects</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职业前景</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job has good career prospects.”</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Keeping talent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38 Finding and Keeping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留住人才</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poach</a:t>
            </a:r>
          </a:p>
          <a:p>
            <a:pPr algn="l">
              <a:lnSpc>
                <a:spcPct val="115000"/>
              </a:lnSpc>
              <a:spcAft>
                <a:spcPts val="800"/>
              </a:spcAft>
            </a:pPr>
            <a:r>
              <a:rPr sz="1300" b="0">
                <a:solidFill>
                  <a:srgbClr val="5F677A"/>
                </a:solidFill>
                <a:latin typeface="Arial"/>
                <a:ea typeface="Microsoft YaHei"/>
              </a:rPr>
              <a:t>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挖角</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competitor poached our best engineer.”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talent pool</a:t>
            </a:r>
          </a:p>
          <a:p>
            <a:pPr algn="l">
              <a:lnSpc>
                <a:spcPct val="115000"/>
              </a:lnSpc>
              <a:spcAft>
                <a:spcPts val="800"/>
              </a:spcAft>
            </a:pPr>
            <a:r>
              <a:rPr sz="1300" b="0">
                <a:solidFill>
                  <a:srgbClr val="5F677A"/>
                </a:solidFill>
                <a:latin typeface="Arial"/>
                <a:ea typeface="Microsoft YaHei"/>
              </a:rPr>
              <a:t>noun 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人才库</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strong talent pool.”</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onboarding</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入职引导</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“Good onboarding improves retention.”</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exit interview</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离职面谈</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exit interview showed why she left.”</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golden handcuffs</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金手铐(高薪留人)</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“Stock options act as golden handcuffs.”</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headcount</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员工人数</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“Headcount is frozen this year.”</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38 Finding and Keeping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挖角</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poach</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招聘</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recruit</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入职引导</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onboarding</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离职面谈</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exit interview</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人才库</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talent pool</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金手铐(高薪留人)</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golden handcuffs</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猎头 / 招聘专员</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headhunter / recruiter</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职业前景</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career prospects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38 Finding and Keeping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vacancy</a:t>
            </a:r>
          </a:p>
        </p:txBody>
      </p:sp>
      <p:sp>
        <p:nvSpPr>
          <p:cNvPr id="10" name="Rounded Rectangle 9"/>
          <p:cNvSpPr/>
          <p:nvPr/>
        </p:nvSpPr>
        <p:spPr>
          <a:xfrm>
            <a:off x="3236976"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recruit</a:t>
            </a:r>
          </a:p>
        </p:txBody>
      </p:sp>
      <p:sp>
        <p:nvSpPr>
          <p:cNvPr id="11" name="Rounded Rectangle 10"/>
          <p:cNvSpPr/>
          <p:nvPr/>
        </p:nvSpPr>
        <p:spPr>
          <a:xfrm>
            <a:off x="4462272"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turnover</a:t>
            </a:r>
          </a:p>
        </p:txBody>
      </p:sp>
      <p:sp>
        <p:nvSpPr>
          <p:cNvPr id="12" name="Rounded Rectangle 11"/>
          <p:cNvSpPr/>
          <p:nvPr/>
        </p:nvSpPr>
        <p:spPr>
          <a:xfrm>
            <a:off x="5797296"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prospects</a:t>
            </a:r>
          </a:p>
        </p:txBody>
      </p:sp>
      <p:sp>
        <p:nvSpPr>
          <p:cNvPr id="13" name="Rounded Rectangle 12"/>
          <p:cNvSpPr/>
          <p:nvPr/>
        </p:nvSpPr>
        <p:spPr>
          <a:xfrm>
            <a:off x="7242048" y="987552"/>
            <a:ext cx="113385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poached</a:t>
            </a:r>
          </a:p>
        </p:txBody>
      </p:sp>
      <p:sp>
        <p:nvSpPr>
          <p:cNvPr id="14" name="Rounded Rectangle 13"/>
          <p:cNvSpPr/>
          <p:nvPr/>
        </p:nvSpPr>
        <p:spPr>
          <a:xfrm>
            <a:off x="8467344"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onboarding</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We have a _______ in the marketing team.</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vacancy</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We _______ graduates every summer through career fairs.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recruit</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Staff _______ is high in the restaurant industry.</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turnover</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 company offers excellent career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prospects</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A rival firm _______ three of our designers last month.</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poached</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Good _______ makes new employees feel welcome and productive.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onboarding</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recruitment (not “recruitement”), vacancy (not “vacansy”), retention (not “retension”). Staff turnover (uncountable), a high turnover. Reduce / lower turnover, retain staff, attract talent.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Discussing retention with HR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38 Finding and Keeping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与人力资源部讨论员工留任</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department manager meets the HR director to discuss why people are leaving the team.</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Susan Park, department manager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James Ho, HR director</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Discussing retention with HR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38 Finding and Keeping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Susan</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James, I’m worried about turnover in my team. We’ve lost four people in six months.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James</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concerning. Do you know why they left?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From exit interviews, mainly career prospects and workload. Two went to competitors.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Have we looked at salaries compared with the market?</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we’re about ten per cent below. I think that’s part of it, but not the whole story.</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else could we do to keep people?</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retention with HR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38 Finding and Keeping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could create clearer promotion paths and offer more training. Also better onboarding for new joiners.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Those are sensible. Would a retention bonus help?</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might help in the short term, but I’d prefer to fix the underlying causes first.</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 Can you prepare a short proposal with costs?</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have it ready by next Wednesday.</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If we don’t act, we’ll keep losing good people.</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Discussing retention with HR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38 Finding and Keeping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why staff leave and how to keep them.</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Your team’s turnover problem: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HR director. Practical, concerned about budget.</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turnover · exit interview · career prospects · onboarding · retention · market rate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causes, suggest two solutions and agree next steps.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James says there is no budget for pay rises. Suggest alternatives.</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an exit interview question list (three questions).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 star employee says she has had an offer elsewhere. Respond as her manager.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38 Finding and Keeping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employees leave jobs?</a:t>
            </a:r>
          </a:p>
          <a:p>
            <a:pPr algn="l">
              <a:lnSpc>
                <a:spcPct val="115000"/>
              </a:lnSpc>
              <a:spcAft>
                <a:spcPts val="800"/>
              </a:spcAft>
            </a:pPr>
            <a:r>
              <a:rPr sz="1400" b="0">
                <a:solidFill>
                  <a:srgbClr val="5F677A"/>
                </a:solidFill>
                <a:latin typeface="Arial"/>
                <a:ea typeface="Microsoft YaHei"/>
              </a:rPr>
              <a:t>💬 “Common reasons include… / People often leave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pay the most important factor in keeping employees?</a:t>
            </a:r>
          </a:p>
          <a:p>
            <a:pPr algn="l">
              <a:lnSpc>
                <a:spcPct val="115000"/>
              </a:lnSpc>
              <a:spcAft>
                <a:spcPts val="800"/>
              </a:spcAft>
            </a:pPr>
            <a:r>
              <a:rPr sz="1400" b="0">
                <a:solidFill>
                  <a:srgbClr val="5F677A"/>
                </a:solidFill>
                <a:latin typeface="Arial"/>
                <a:ea typeface="Microsoft YaHei"/>
              </a:rPr>
              <a:t>💬 “Pay matters, but… / Beyond pay, people value…”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companies promote from within or hire from outside?</a:t>
            </a:r>
          </a:p>
          <a:p>
            <a:pPr algn="l">
              <a:lnSpc>
                <a:spcPct val="115000"/>
              </a:lnSpc>
              <a:spcAft>
                <a:spcPts val="800"/>
              </a:spcAft>
            </a:pPr>
            <a:r>
              <a:rPr sz="1400" b="0">
                <a:solidFill>
                  <a:srgbClr val="5F677A"/>
                </a:solidFill>
                <a:latin typeface="Arial"/>
                <a:ea typeface="Microsoft YaHei"/>
              </a:rPr>
              <a:t>💬 “Promoting from within shows… but external hires bring…”</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can a company do in the first month to retain new hires?</a:t>
            </a:r>
          </a:p>
          <a:p>
            <a:pPr algn="l">
              <a:lnSpc>
                <a:spcPct val="115000"/>
              </a:lnSpc>
              <a:spcAft>
                <a:spcPts val="800"/>
              </a:spcAft>
            </a:pPr>
            <a:r>
              <a:rPr sz="1400" b="0">
                <a:solidFill>
                  <a:srgbClr val="5F677A"/>
                </a:solidFill>
                <a:latin typeface="Arial"/>
                <a:ea typeface="Microsoft YaHei"/>
              </a:rPr>
              <a:t>💬 “A good induction should… / Assigning a buddy…”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38 Finding and Keeping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companies should do both, depending on the role. Promoting from within is motivating for staff and saves time, since the person already knows the business. But external hires bring fresh ideas and new skills, which is useful if the company wants to change direction. If a company only promotes from within, it risks becoming inward-looking. A mix is usually healthiest.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inward-looking = 封闭的。”change direction” = 改变方向。risks + -ing = 有……的风险。a mix = 混合。</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38 Finding and Keeping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42595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Many people leave my company.</a:t>
                      </a:r>
                    </a:p>
                  </a:txBody>
                  <a:tcPr anchor="ctr">
                    <a:solidFill>
                      <a:srgbClr val="FFFFFF"/>
                    </a:solidFill>
                  </a:tcPr>
                </a:tc>
                <a:tc>
                  <a:txBody>
                    <a:bodyPr wrap="square"/>
                    <a:lstStyle/>
                    <a:p>
                      <a:r>
                        <a:rPr sz="1600" b="0">
                          <a:solidFill>
                            <a:srgbClr val="1F2A44"/>
                          </a:solidFill>
                          <a:latin typeface="Arial"/>
                          <a:ea typeface="Microsoft YaHei"/>
                        </a:rPr>
                        <a:t>We’ve seen high staff turnover recently.</a:t>
                      </a:r>
                    </a:p>
                  </a:txBody>
                  <a:tcPr anchor="ctr">
                    <a:solidFill>
                      <a:srgbClr val="FFFFFF"/>
                    </a:solidFill>
                  </a:tcPr>
                </a:tc>
                <a:tc>
                  <a:txBody>
                    <a:bodyPr wrap="square"/>
                    <a:lstStyle/>
                    <a:p>
                      <a:r>
                        <a:rPr sz="1600" b="0">
                          <a:solidFill>
                            <a:srgbClr val="FF6B5B"/>
                          </a:solidFill>
                          <a:latin typeface="Arial"/>
                          <a:ea typeface="Microsoft YaHei"/>
                        </a:rPr>
                        <a:t>专业</a:t>
                      </a:r>
                    </a:p>
                  </a:txBody>
                  <a:tcPr anchor="ctr">
                    <a:solidFill>
                      <a:srgbClr val="FFFFFF"/>
                    </a:solidFill>
                  </a:tcPr>
                </a:tc>
              </a:tr>
              <a:tr h="408432">
                <a:tc>
                  <a:txBody>
                    <a:bodyPr wrap="square"/>
                    <a:lstStyle/>
                    <a:p>
                      <a:r>
                        <a:rPr sz="1600" b="1">
                          <a:solidFill>
                            <a:srgbClr val="1F2A44"/>
                          </a:solidFill>
                          <a:latin typeface="Arial"/>
                          <a:ea typeface="Microsoft YaHei"/>
                        </a:rPr>
                        <a:t>The salary is low.</a:t>
                      </a:r>
                    </a:p>
                  </a:txBody>
                  <a:tcPr anchor="ctr">
                    <a:solidFill>
                      <a:srgbClr val="FFEFD9"/>
                    </a:solidFill>
                  </a:tcPr>
                </a:tc>
                <a:tc>
                  <a:txBody>
                    <a:bodyPr wrap="square"/>
                    <a:lstStyle/>
                    <a:p>
                      <a:r>
                        <a:rPr sz="1600" b="0">
                          <a:solidFill>
                            <a:srgbClr val="1F2A44"/>
                          </a:solidFill>
                          <a:latin typeface="Arial"/>
                          <a:ea typeface="Microsoft YaHei"/>
                        </a:rPr>
                        <a:t>Pay is below the market rate.</a:t>
                      </a:r>
                    </a:p>
                  </a:txBody>
                  <a:tcPr anchor="ctr">
                    <a:solidFill>
                      <a:srgbClr val="FFEFD9"/>
                    </a:solidFill>
                  </a:tcPr>
                </a:tc>
                <a:tc>
                  <a:txBody>
                    <a:bodyPr wrap="square"/>
                    <a:lstStyle/>
                    <a:p>
                      <a:r>
                        <a:rPr sz="1600" b="0">
                          <a:solidFill>
                            <a:srgbClr val="FF6B5B"/>
                          </a:solidFill>
                          <a:latin typeface="Arial"/>
                          <a:ea typeface="Microsoft YaHei"/>
                        </a:rPr>
                        <a:t>术语</a:t>
                      </a:r>
                    </a:p>
                  </a:txBody>
                  <a:tcPr anchor="ctr">
                    <a:solidFill>
                      <a:srgbClr val="FFEFD9"/>
                    </a:solidFill>
                  </a:tcPr>
                </a:tc>
              </a:tr>
              <a:tr h="652272">
                <a:tc>
                  <a:txBody>
                    <a:bodyPr wrap="square"/>
                    <a:lstStyle/>
                    <a:p>
                      <a:r>
                        <a:rPr sz="1600" b="1">
                          <a:solidFill>
                            <a:srgbClr val="1F2A44"/>
                          </a:solidFill>
                          <a:latin typeface="Arial"/>
                          <a:ea typeface="Microsoft YaHei"/>
                        </a:rPr>
                        <a:t>We need more people.</a:t>
                      </a:r>
                    </a:p>
                  </a:txBody>
                  <a:tcPr anchor="ctr">
                    <a:solidFill>
                      <a:srgbClr val="FFFFFF"/>
                    </a:solidFill>
                  </a:tcPr>
                </a:tc>
                <a:tc>
                  <a:txBody>
                    <a:bodyPr wrap="square"/>
                    <a:lstStyle/>
                    <a:p>
                      <a:r>
                        <a:rPr sz="1600" b="0">
                          <a:solidFill>
                            <a:srgbClr val="1F2A44"/>
                          </a:solidFill>
                          <a:latin typeface="Arial"/>
                          <a:ea typeface="Microsoft YaHei"/>
                        </a:rPr>
                        <a:t>We have several vacancies to fill.</a:t>
                      </a:r>
                    </a:p>
                  </a:txBody>
                  <a:tcPr anchor="ctr">
                    <a:solidFill>
                      <a:srgbClr val="FFFFFF"/>
                    </a:solidFill>
                  </a:tcPr>
                </a:tc>
                <a:tc>
                  <a:txBody>
                    <a:bodyPr wrap="square"/>
                    <a:lstStyle/>
                    <a:p>
                      <a:r>
                        <a:rPr sz="1600" b="0">
                          <a:solidFill>
                            <a:srgbClr val="FF6B5B"/>
                          </a:solidFill>
                          <a:latin typeface="Arial"/>
                          <a:ea typeface="Microsoft YaHei"/>
                        </a:rPr>
                        <a:t>术语</a:t>
                      </a:r>
                    </a:p>
                  </a:txBody>
                  <a:tcPr anchor="ctr">
                    <a:solidFill>
                      <a:srgbClr val="FFFFFF"/>
                    </a:solidFill>
                  </a:tcPr>
                </a:tc>
              </a:tr>
              <a:tr h="652272">
                <a:tc>
                  <a:txBody>
                    <a:bodyPr wrap="square"/>
                    <a:lstStyle/>
                    <a:p>
                      <a:r>
                        <a:rPr sz="1600" b="1">
                          <a:solidFill>
                            <a:srgbClr val="1F2A44"/>
                          </a:solidFill>
                          <a:latin typeface="Arial"/>
                          <a:ea typeface="Microsoft YaHei"/>
                        </a:rPr>
                        <a:t>We want to keep good people.</a:t>
                      </a:r>
                    </a:p>
                  </a:txBody>
                  <a:tcPr anchor="ctr">
                    <a:solidFill>
                      <a:srgbClr val="FFEFD9"/>
                    </a:solidFill>
                  </a:tcPr>
                </a:tc>
                <a:tc>
                  <a:txBody>
                    <a:bodyPr wrap="square"/>
                    <a:lstStyle/>
                    <a:p>
                      <a:r>
                        <a:rPr sz="1600" b="0">
                          <a:solidFill>
                            <a:srgbClr val="1F2A44"/>
                          </a:solidFill>
                          <a:latin typeface="Arial"/>
                          <a:ea typeface="Microsoft YaHei"/>
                        </a:rPr>
                        <a:t>We want to retain our top talent.</a:t>
                      </a:r>
                    </a:p>
                  </a:txBody>
                  <a:tcPr anchor="ctr">
                    <a:solidFill>
                      <a:srgbClr val="FFEFD9"/>
                    </a:solidFill>
                  </a:tcPr>
                </a:tc>
                <a:tc>
                  <a:txBody>
                    <a:bodyPr wrap="square"/>
                    <a:lstStyle/>
                    <a:p>
                      <a:r>
                        <a:rPr sz="1600" b="0">
                          <a:solidFill>
                            <a:srgbClr val="FF6B5B"/>
                          </a:solidFill>
                          <a:latin typeface="Arial"/>
                          <a:ea typeface="Microsoft YaHei"/>
                        </a:rPr>
                        <a:t>术语</a:t>
                      </a:r>
                    </a:p>
                  </a:txBody>
                  <a:tcPr anchor="ctr">
                    <a:solidFill>
                      <a:srgbClr val="FFEFD9"/>
                    </a:solidFill>
                  </a:tcPr>
                </a:tc>
              </a:tr>
              <a:tr h="652272">
                <a:tc>
                  <a:txBody>
                    <a:bodyPr wrap="square"/>
                    <a:lstStyle/>
                    <a:p>
                      <a:r>
                        <a:rPr sz="1600" b="1">
                          <a:solidFill>
                            <a:srgbClr val="1F2A44"/>
                          </a:solidFill>
                          <a:latin typeface="Arial"/>
                          <a:ea typeface="Microsoft YaHei"/>
                        </a:rPr>
                        <a:t>He got a better job.</a:t>
                      </a:r>
                    </a:p>
                  </a:txBody>
                  <a:tcPr anchor="ctr">
                    <a:solidFill>
                      <a:srgbClr val="FFFFFF"/>
                    </a:solidFill>
                  </a:tcPr>
                </a:tc>
                <a:tc>
                  <a:txBody>
                    <a:bodyPr wrap="square"/>
                    <a:lstStyle/>
                    <a:p>
                      <a:r>
                        <a:rPr sz="1600" b="0">
                          <a:solidFill>
                            <a:srgbClr val="1F2A44"/>
                          </a:solidFill>
                          <a:latin typeface="Arial"/>
                          <a:ea typeface="Microsoft YaHei"/>
                        </a:rPr>
                        <a:t>He was headhunted / poached by a rival.</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bl>
          </a:graphicData>
        </a:graphic>
      </p:graphicFrame>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38 Finding and Keeping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Reason and result: </a:t>
            </a:r>
            <a:r>
              <a:rPr sz="1700" b="0">
                <a:solidFill>
                  <a:srgbClr val="1F2A44"/>
                </a:solidFill>
                <a:latin typeface="Arial"/>
                <a:ea typeface="Microsoft YaHei"/>
              </a:rPr>
              <a:t>because / since / as a result / therefore / so.</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Cause words: </a:t>
            </a:r>
            <a:r>
              <a:rPr sz="1700" b="0">
                <a:solidFill>
                  <a:srgbClr val="1F2A44"/>
                </a:solidFill>
                <a:latin typeface="Arial"/>
                <a:ea typeface="Microsoft YaHei"/>
              </a:rPr>
              <a:t>One reason is… / This is due to… / This leads to…</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Passive for processes: </a:t>
            </a:r>
            <a:r>
              <a:rPr sz="1700" b="0">
                <a:solidFill>
                  <a:srgbClr val="1F2A44"/>
                </a:solidFill>
                <a:latin typeface="Arial"/>
                <a:ea typeface="Microsoft YaHei"/>
              </a:rPr>
              <a:t>“Candidates are shortlisted, interviewed and then offered the job.”</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Collocations: </a:t>
            </a:r>
            <a:r>
              <a:rPr sz="1700" b="0">
                <a:solidFill>
                  <a:srgbClr val="1F2A44"/>
                </a:solidFill>
                <a:latin typeface="Arial"/>
                <a:ea typeface="Microsoft YaHei"/>
              </a:rPr>
              <a:t>attract talent, retain staff, fill a vacancy, reduce turnover, offer a package.</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38 Finding and Keeping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need to employ more people for help.</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need to hire more people.</a:t>
            </a:r>
          </a:p>
          <a:p>
            <a:pPr algn="l">
              <a:spcAft>
                <a:spcPts val="200"/>
              </a:spcAft>
            </a:pPr>
            <a:r>
              <a:rPr sz="1200" b="0">
                <a:solidFill>
                  <a:srgbClr val="FFFFFF"/>
                </a:solidFill>
                <a:latin typeface="Arial"/>
                <a:ea typeface="Microsoft YaHei"/>
              </a:rPr>
              <a:t>hire / recruit</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company is lacking of staff.</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company is short of staff. / The company lacks staff.</a:t>
            </a:r>
          </a:p>
          <a:p>
            <a:pPr algn="l">
              <a:spcAft>
                <a:spcPts val="200"/>
              </a:spcAft>
            </a:pPr>
            <a:r>
              <a:rPr sz="1200" b="0">
                <a:solidFill>
                  <a:srgbClr val="FFFFFF"/>
                </a:solidFill>
                <a:latin typeface="Arial"/>
                <a:ea typeface="Microsoft YaHei"/>
              </a:rPr>
              <a:t>lack 及物</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There are many turnover.</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Turnover is high.</a:t>
            </a:r>
          </a:p>
          <a:p>
            <a:pPr algn="l">
              <a:spcAft>
                <a:spcPts val="200"/>
              </a:spcAft>
            </a:pPr>
            <a:r>
              <a:rPr sz="1200" b="0">
                <a:solidFill>
                  <a:srgbClr val="FFFFFF"/>
                </a:solidFill>
                <a:latin typeface="Arial"/>
                <a:ea typeface="Microsoft YaHei"/>
              </a:rPr>
              <a:t>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38 Finding and Keeping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going to resign my company.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going to resign from the company.</a:t>
            </a:r>
          </a:p>
          <a:p>
            <a:pPr algn="l">
              <a:spcAft>
                <a:spcPts val="200"/>
              </a:spcAft>
            </a:pPr>
            <a:r>
              <a:rPr sz="1200" b="0">
                <a:solidFill>
                  <a:srgbClr val="FFFFFF"/>
                </a:solidFill>
                <a:latin typeface="Arial"/>
                <a:ea typeface="Microsoft YaHei"/>
              </a:rPr>
              <a:t>resign from</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make a plan about retention.</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are drawing up a retention plan.</a:t>
            </a:r>
          </a:p>
          <a:p>
            <a:pPr algn="l">
              <a:spcAft>
                <a:spcPts val="200"/>
              </a:spcAft>
            </a:pPr>
            <a:r>
              <a:rPr sz="1200" b="0">
                <a:solidFill>
                  <a:srgbClr val="FFFFFF"/>
                </a:solidFill>
                <a:latin typeface="Arial"/>
                <a:ea typeface="Microsoft YaHei"/>
              </a:rPr>
              <a:t>搭配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get another job offer.</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got another job offer.</a:t>
            </a:r>
          </a:p>
          <a:p>
            <a:pPr algn="l">
              <a:spcAft>
                <a:spcPts val="200"/>
              </a:spcAft>
            </a:pPr>
            <a:r>
              <a:rPr sz="1200" b="0">
                <a:solidFill>
                  <a:srgbClr val="FFFFFF"/>
                </a:solidFill>
                <a:latin typeface="Arial"/>
                <a:ea typeface="Microsoft YaHei"/>
              </a:rPr>
              <a:t>过去式</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lack, uncountable turnover and resign from.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38 Finding and Keeping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Job-hopping: </a:t>
            </a:r>
            <a:r>
              <a:rPr sz="1700" b="0">
                <a:solidFill>
                  <a:srgbClr val="1F2A44"/>
                </a:solidFill>
                <a:latin typeface="Arial"/>
                <a:ea typeface="Microsoft YaHei"/>
              </a:rPr>
              <a:t>In some countries frequent job changes are a red flag; in others (e.g. the US tech sector) they are common.</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Notice period: </a:t>
            </a:r>
            <a:r>
              <a:rPr sz="1700" b="0">
                <a:solidFill>
                  <a:srgbClr val="1F2A44"/>
                </a:solidFill>
                <a:latin typeface="Arial"/>
                <a:ea typeface="Microsoft YaHei"/>
              </a:rPr>
              <a:t>In the UK, notice periods are often one to three months. Check the contract.</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Counter-offers: </a:t>
            </a:r>
            <a:r>
              <a:rPr sz="1700" b="0">
                <a:solidFill>
                  <a:srgbClr val="1F2A44"/>
                </a:solidFill>
                <a:latin typeface="Arial"/>
                <a:ea typeface="Microsoft YaHei"/>
              </a:rPr>
              <a:t>Accepting a counter-offer after resigning is often considered risky in the long run.</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lack 本身就是及物动词,不加 of;turnover 不可数,说 turnover is high。“辞职”可说 resign / quit / hand in your notice。</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38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38 Finding and Keeping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reasons why employees leave and stay.</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suggest retention measures.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words such as vacancy, turnover and onboarding.</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lack / short of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38 Finding and Keeping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lack, uncountable turnover, and cause-and-result linkers.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5 · Lesson 39 Choosing Employees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39</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Choosing Employees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选择员工</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how to select the right candidate: criteria, comparing candidates, avoiding bias and justifying a decision.</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39 Choosing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qualities do you look for in a new colleague?</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important are qualifications compared with attitude?</a:t>
            </a:r>
          </a:p>
        </p:txBody>
      </p:sp>
      <p:sp>
        <p:nvSpPr>
          <p:cNvPr id="15" name="Oval 14"/>
          <p:cNvSpPr/>
          <p:nvPr/>
        </p:nvSpPr>
        <p:spPr>
          <a:xfrm>
            <a:off x="548640" y="319125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had to choose between two good candidates? How did you decide?</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biases can affect hiring decisions?</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Should companies use tests or trial tasks?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2 题 attitude 与 aptitude 不同:attitude = 态度,aptitude = 天赋。bias = 偏见。</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39 Choosing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Compare two candidates and justify your choice.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criteria</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candidate A</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candidate B</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decision and reason</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Both candidates have…, but…   💬 On balance, I’d go for…   💬 The deciding factor was…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on balance = 综合来看。the deciding factor = 决定性因素。go for = 选择。</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The Right Fit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125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39 Choosing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Choosing between candidates is rarely simple. One may have impressive qualifications but little teamwork experience; another may lack some technical skills but learn quickly and fit the culture. Many hiring managers now define criteria in advance, such as skills, experience, motivation and values, and score each candidate against them. This makes decisions more consistent and reduces bias. Structured interviews, work samples and reference checks add further evidence. Even so, human judgement plays a role. Interviewers should be aware of the “like me” effect, which leads people to prefer candidates who resemble them. A useful question to ask is: “Who will help this team most in the next two years?” Once a decision is made, it is polite and professional to give unsuccessful candidates short feedback.</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39 Choosing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do many hiring managers do before interviews?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Define criteria such as skills, experience, motivation and values and score candidates against them.</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the “like me” effect?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tendency to prefer candidates who resemble the interviewer.</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should be done for unsuccessful candidates?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Give them short, professional feedback.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Selection criteria</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39 Choosing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选拔标准</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criteria</a:t>
            </a:r>
          </a:p>
          <a:p>
            <a:pPr algn="l">
              <a:lnSpc>
                <a:spcPct val="115000"/>
              </a:lnSpc>
              <a:spcAft>
                <a:spcPts val="800"/>
              </a:spcAft>
            </a:pPr>
            <a:r>
              <a:rPr sz="1300" b="0">
                <a:solidFill>
                  <a:srgbClr val="5F677A"/>
                </a:solidFill>
                <a:latin typeface="Arial"/>
                <a:ea typeface="Microsoft YaHei"/>
              </a:rPr>
              <a:t>noun (plural)</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标准</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are the selection criteria?”</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qualifications</a:t>
            </a:r>
          </a:p>
          <a:p>
            <a:pPr algn="l">
              <a:lnSpc>
                <a:spcPct val="115000"/>
              </a:lnSpc>
              <a:spcAft>
                <a:spcPts val="800"/>
              </a:spcAft>
            </a:pPr>
            <a:r>
              <a:rPr sz="1300" b="0">
                <a:solidFill>
                  <a:srgbClr val="5F677A"/>
                </a:solidFill>
                <a:latin typeface="Arial"/>
                <a:ea typeface="Microsoft YaHei"/>
              </a:rPr>
              <a:t>noun (plural)</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资历 / 学历</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has the right qualifications.”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track record</a:t>
            </a:r>
          </a:p>
          <a:p>
            <a:pPr algn="l">
              <a:lnSpc>
                <a:spcPct val="115000"/>
              </a:lnSpc>
              <a:spcAft>
                <a:spcPts val="800"/>
              </a:spcAft>
            </a:pPr>
            <a:r>
              <a:rPr sz="1300" b="0">
                <a:solidFill>
                  <a:srgbClr val="5F677A"/>
                </a:solidFill>
                <a:latin typeface="Arial"/>
                <a:ea typeface="Microsoft YaHei"/>
              </a:rPr>
              <a:t>noun 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过往业绩</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has a strong track record.”</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cultural fit</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文化契合度</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“Cultural fit matters.”</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strengths and weaknesses</a:t>
            </a:r>
          </a:p>
          <a:p>
            <a:pPr algn="l">
              <a:lnSpc>
                <a:spcPct val="115000"/>
              </a:lnSpc>
              <a:spcAft>
                <a:spcPts val="800"/>
              </a:spcAft>
            </a:pPr>
            <a:r>
              <a:rPr sz="1300" b="0">
                <a:solidFill>
                  <a:srgbClr val="5F677A"/>
                </a:solidFill>
                <a:latin typeface="Arial"/>
                <a:ea typeface="Microsoft YaHei"/>
              </a:rPr>
              <a:t>noun phrase</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优缺点</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“Compare their strengths and weaknesses.”</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unconscious bias</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无意识偏见</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“Training reduces unconscious bias.”</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Deciding and justifying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39 Choosing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决策与说明理由</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stand out</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脱颖而出</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“One candidate really stood out.”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on balance</a:t>
            </a:r>
          </a:p>
          <a:p>
            <a:pPr algn="l">
              <a:lnSpc>
                <a:spcPct val="115000"/>
              </a:lnSpc>
              <a:spcAft>
                <a:spcPts val="800"/>
              </a:spcAft>
            </a:pPr>
            <a:r>
              <a:rPr sz="1300" b="0">
                <a:solidFill>
                  <a:srgbClr val="5F677A"/>
                </a:solidFill>
                <a:latin typeface="Arial"/>
                <a:ea typeface="Microsoft YaHei"/>
              </a:rPr>
              <a:t>adverbial 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总的来说</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“On balance, I prefer Ms Lin.”</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deciding factor</a:t>
            </a:r>
          </a:p>
          <a:p>
            <a:pPr algn="l">
              <a:lnSpc>
                <a:spcPct val="115000"/>
              </a:lnSpc>
              <a:spcAft>
                <a:spcPts val="800"/>
              </a:spcAft>
            </a:pPr>
            <a:r>
              <a:rPr sz="1300" b="0">
                <a:solidFill>
                  <a:srgbClr val="5F677A"/>
                </a:solidFill>
                <a:latin typeface="Arial"/>
                <a:ea typeface="Microsoft YaHei"/>
              </a:rPr>
              <a:t>noun 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决定性因素</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deciding factor was her leadership.”</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weigh up</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权衡</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to weigh up the pros and cons.”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safe pair of hands</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稳妥可靠的人</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“She’s a safe pair of hands.”</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turn down</a:t>
            </a:r>
          </a:p>
          <a:p>
            <a:pPr algn="l">
              <a:lnSpc>
                <a:spcPct val="115000"/>
              </a:lnSpc>
              <a:spcAft>
                <a:spcPts val="800"/>
              </a:spcAft>
            </a:pPr>
            <a:r>
              <a:rPr sz="1300" b="0">
                <a:solidFill>
                  <a:srgbClr val="5F677A"/>
                </a:solidFill>
                <a:latin typeface="Arial"/>
                <a:ea typeface="Microsoft YaHei"/>
              </a:rPr>
              <a:t>phrasal verb</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拒绝</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turned down the offer.”</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39 Choosing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脱颖而出</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stand out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总的来说</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on balance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优缺点</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strengths and weaknesses</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权衡</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weigh up</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文化契合度</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cultural fit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拒绝</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turn down</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资历 / 学历</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qualifications</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过往业绩</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track record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39 Choosing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criteria</a:t>
            </a:r>
          </a:p>
        </p:txBody>
      </p:sp>
      <p:sp>
        <p:nvSpPr>
          <p:cNvPr id="10" name="Rounded Rectangle 9"/>
          <p:cNvSpPr/>
          <p:nvPr/>
        </p:nvSpPr>
        <p:spPr>
          <a:xfrm>
            <a:off x="3346704" y="987552"/>
            <a:ext cx="1682495"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track record</a:t>
            </a:r>
          </a:p>
        </p:txBody>
      </p:sp>
      <p:sp>
        <p:nvSpPr>
          <p:cNvPr id="11" name="Rounded Rectangle 10"/>
          <p:cNvSpPr/>
          <p:nvPr/>
        </p:nvSpPr>
        <p:spPr>
          <a:xfrm>
            <a:off x="5120639" y="987552"/>
            <a:ext cx="1682495"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cultural fit</a:t>
            </a:r>
          </a:p>
        </p:txBody>
      </p:sp>
      <p:sp>
        <p:nvSpPr>
          <p:cNvPr id="12" name="Rounded Rectangle 11"/>
          <p:cNvSpPr/>
          <p:nvPr/>
        </p:nvSpPr>
        <p:spPr>
          <a:xfrm>
            <a:off x="6894574" y="987552"/>
            <a:ext cx="212140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unconscious bias</a:t>
            </a:r>
          </a:p>
        </p:txBody>
      </p:sp>
      <p:sp>
        <p:nvSpPr>
          <p:cNvPr id="13" name="Rounded Rectangle 12"/>
          <p:cNvSpPr/>
          <p:nvPr/>
        </p:nvSpPr>
        <p:spPr>
          <a:xfrm>
            <a:off x="9107422" y="987552"/>
            <a:ext cx="135331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stood out</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We need clear selection _______ before we start.</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criteria</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He has a strong _______ in managing large projects.</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track record</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A good _______ is important in a small team.</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cultural fit</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Training can help reduce _______.</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unconscious bias</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One applicant really _______ in the second interview.</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stood out</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We should _______ the pros and cons carefully.</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weigh up</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criteria (plural; singular criterion), qualification (not “qualfication”), candidate. Criteria are, a criterion is. Qualify for a job; be qualified for. Choose between two options, among three or more.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Role Play · Choosing between two final candidates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39 Choosing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在两位终选者中做选择</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Two managers meet to decide between two final candidates for a project manager role.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Olivia Grant, hiring manager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Peter Zhao, senior colleague</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Choosing between two final candidates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39 Choosing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Olivia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Peter, shall we start with Candidate A, Diana? What did you make of her?</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Peter</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Very impressive on paper. Ten years in the sector and a strong track record.</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 But I felt she was a bit rigid when I asked about changing priorities.</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Hmm. And Candidate B, Marcus?</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Less experience, but he stood out on communication. His examples were practical and honest.</a:t>
            </a:r>
          </a:p>
        </p:txBody>
      </p:sp>
      <p:sp>
        <p:nvSpPr>
          <p:cNvPr id="23" name="Rounded Rectangle 22"/>
          <p:cNvSpPr/>
          <p:nvPr/>
        </p:nvSpPr>
        <p:spPr>
          <a:xfrm>
            <a:off x="10911535" y="539496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83387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39496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True, though I’m not sure he’s ready to lead a team of eight.</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Choosing between two final candidates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39 Choosing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fair concern. He’d need support in the first six months.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what’s your overall view?</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 balance, I’d go for Diana, but only if she can show flexibility in a second conversation.</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Reasonable. What would be the deciding factor?</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Whether she adapts well to a changing brief. We can test that with a short case study.</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Let’s arrange it, and keep Marcus as a strong second choice.</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Your Turn · Choosing between two final candidates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39 Choosing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decide between two candidates.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Hiring manager. Candidate A: ______________ Candidate B: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Challenge one point.</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criteria · track record · on balance · deciding factor · weigh up · stand out</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Compare strengths and weaknesses and agree a decision.</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Peter prefers Marcus. Persuade him politely or change your mind with a reason.</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two sentences of feedback for the unsuccessful candidate.</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how you would reduce bias in the process.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39 Choosing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is more important in hiring: skills or attitude?</a:t>
            </a:r>
          </a:p>
          <a:p>
            <a:pPr algn="l">
              <a:lnSpc>
                <a:spcPct val="115000"/>
              </a:lnSpc>
              <a:spcAft>
                <a:spcPts val="800"/>
              </a:spcAft>
            </a:pPr>
            <a:r>
              <a:rPr sz="1400" b="0">
                <a:solidFill>
                  <a:srgbClr val="5F677A"/>
                </a:solidFill>
                <a:latin typeface="Arial"/>
                <a:ea typeface="Microsoft YaHei"/>
              </a:rPr>
              <a:t>💬 “Skills can be taught, but… / Attitude matters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bias be reduced?</a:t>
            </a:r>
          </a:p>
          <a:p>
            <a:pPr algn="l">
              <a:lnSpc>
                <a:spcPct val="115000"/>
              </a:lnSpc>
              <a:spcAft>
                <a:spcPts val="800"/>
              </a:spcAft>
            </a:pPr>
            <a:r>
              <a:rPr sz="1400" b="0">
                <a:solidFill>
                  <a:srgbClr val="5F677A"/>
                </a:solidFill>
                <a:latin typeface="Arial"/>
                <a:ea typeface="Microsoft YaHei"/>
              </a:rPr>
              <a:t>💬 “By using structured interviews… / Panels help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candidates be tested?</a:t>
            </a:r>
          </a:p>
          <a:p>
            <a:pPr algn="l">
              <a:lnSpc>
                <a:spcPct val="115000"/>
              </a:lnSpc>
              <a:spcAft>
                <a:spcPts val="800"/>
              </a:spcAft>
            </a:pPr>
            <a:r>
              <a:rPr sz="1400" b="0">
                <a:solidFill>
                  <a:srgbClr val="5F677A"/>
                </a:solidFill>
                <a:latin typeface="Arial"/>
                <a:ea typeface="Microsoft YaHei"/>
              </a:rPr>
              <a:t>💬 “Tests give evidence, but… / They may disadvantage…”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a company hire a less qualified person who fits the culture?</a:t>
            </a:r>
          </a:p>
          <a:p>
            <a:pPr algn="l">
              <a:lnSpc>
                <a:spcPct val="115000"/>
              </a:lnSpc>
              <a:spcAft>
                <a:spcPts val="800"/>
              </a:spcAft>
            </a:pPr>
            <a:r>
              <a:rPr sz="1400" b="0">
                <a:solidFill>
                  <a:srgbClr val="5F677A"/>
                </a:solidFill>
                <a:latin typeface="Arial"/>
                <a:ea typeface="Microsoft YaHei"/>
              </a:rPr>
              <a:t>💬 “It depends on… / Only if they can…”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39 Choosing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Both matter, but if I had to choose, I’d say attitude comes first. Skills can usually be taught, but it’s much harder to change someone’s motivation or the way they treat colleagues. That said, some roles, such as a surgeon or a pilot, require specific qualifications from day one. So I’d say it depends on how quickly someone can learn what the job requires.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if I had to choose = 如果非要选。that said = 话虽如此。”from day one” = 从第一天起。”comes first” = 最重要。</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39 Choosing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42595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She is good.</a:t>
                      </a:r>
                    </a:p>
                  </a:txBody>
                  <a:tcPr anchor="ctr">
                    <a:solidFill>
                      <a:srgbClr val="FFFFFF"/>
                    </a:solidFill>
                  </a:tcPr>
                </a:tc>
                <a:tc>
                  <a:txBody>
                    <a:bodyPr wrap="square"/>
                    <a:lstStyle/>
                    <a:p>
                      <a:r>
                        <a:rPr sz="1600" b="0">
                          <a:solidFill>
                            <a:srgbClr val="1F2A44"/>
                          </a:solidFill>
                          <a:latin typeface="Arial"/>
                          <a:ea typeface="Microsoft YaHei"/>
                        </a:rPr>
                        <a:t>She has a strong track record in this field.</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r h="652272">
                <a:tc>
                  <a:txBody>
                    <a:bodyPr wrap="square"/>
                    <a:lstStyle/>
                    <a:p>
                      <a:r>
                        <a:rPr sz="1600" b="1">
                          <a:solidFill>
                            <a:srgbClr val="1F2A44"/>
                          </a:solidFill>
                          <a:latin typeface="Arial"/>
                          <a:ea typeface="Microsoft YaHei"/>
                        </a:rPr>
                        <a:t>He is not good.</a:t>
                      </a:r>
                    </a:p>
                  </a:txBody>
                  <a:tcPr anchor="ctr">
                    <a:solidFill>
                      <a:srgbClr val="FFEFD9"/>
                    </a:solidFill>
                  </a:tcPr>
                </a:tc>
                <a:tc>
                  <a:txBody>
                    <a:bodyPr wrap="square"/>
                    <a:lstStyle/>
                    <a:p>
                      <a:r>
                        <a:rPr sz="1600" b="0">
                          <a:solidFill>
                            <a:srgbClr val="1F2A44"/>
                          </a:solidFill>
                          <a:latin typeface="Arial"/>
                          <a:ea typeface="Microsoft YaHei"/>
                        </a:rPr>
                        <a:t>He doesn’t quite meet the criteria for this role.</a:t>
                      </a:r>
                    </a:p>
                  </a:txBody>
                  <a:tcPr anchor="ctr">
                    <a:solidFill>
                      <a:srgbClr val="FFEFD9"/>
                    </a:solidFill>
                  </a:tcPr>
                </a:tc>
                <a:tc>
                  <a:txBody>
                    <a:bodyPr wrap="square"/>
                    <a:lstStyle/>
                    <a:p>
                      <a:r>
                        <a:rPr sz="1600" b="0">
                          <a:solidFill>
                            <a:srgbClr val="FF6B5B"/>
                          </a:solidFill>
                          <a:latin typeface="Arial"/>
                          <a:ea typeface="Microsoft YaHei"/>
                        </a:rPr>
                        <a:t>委婉</a:t>
                      </a:r>
                    </a:p>
                  </a:txBody>
                  <a:tcPr anchor="ctr">
                    <a:solidFill>
                      <a:srgbClr val="FFEFD9"/>
                    </a:solidFill>
                  </a:tcPr>
                </a:tc>
              </a:tr>
              <a:tr h="408432">
                <a:tc>
                  <a:txBody>
                    <a:bodyPr wrap="square"/>
                    <a:lstStyle/>
                    <a:p>
                      <a:r>
                        <a:rPr sz="1600" b="1">
                          <a:solidFill>
                            <a:srgbClr val="1F2A44"/>
                          </a:solidFill>
                          <a:latin typeface="Arial"/>
                          <a:ea typeface="Microsoft YaHei"/>
                        </a:rPr>
                        <a:t>I like her more.</a:t>
                      </a:r>
                    </a:p>
                  </a:txBody>
                  <a:tcPr anchor="ctr">
                    <a:solidFill>
                      <a:srgbClr val="FFFFFF"/>
                    </a:solidFill>
                  </a:tcPr>
                </a:tc>
                <a:tc>
                  <a:txBody>
                    <a:bodyPr wrap="square"/>
                    <a:lstStyle/>
                    <a:p>
                      <a:r>
                        <a:rPr sz="1600" b="0">
                          <a:solidFill>
                            <a:srgbClr val="1F2A44"/>
                          </a:solidFill>
                          <a:latin typeface="Arial"/>
                          <a:ea typeface="Microsoft YaHei"/>
                        </a:rPr>
                        <a:t>I’m leaning towards her.</a:t>
                      </a:r>
                    </a:p>
                  </a:txBody>
                  <a:tcPr anchor="ctr">
                    <a:solidFill>
                      <a:srgbClr val="FFFFFF"/>
                    </a:solidFill>
                  </a:tcPr>
                </a:tc>
                <a:tc>
                  <a:txBody>
                    <a:bodyPr wrap="square"/>
                    <a:lstStyle/>
                    <a:p>
                      <a:r>
                        <a:rPr sz="1600" b="0">
                          <a:solidFill>
                            <a:srgbClr val="FF6B5B"/>
                          </a:solidFill>
                          <a:latin typeface="Arial"/>
                          <a:ea typeface="Microsoft YaHei"/>
                        </a:rPr>
                        <a:t>倾向</a:t>
                      </a:r>
                    </a:p>
                  </a:txBody>
                  <a:tcPr anchor="ctr">
                    <a:solidFill>
                      <a:srgbClr val="FFFFFF"/>
                    </a:solidFill>
                  </a:tcPr>
                </a:tc>
              </a:tr>
              <a:tr h="652272">
                <a:tc>
                  <a:txBody>
                    <a:bodyPr wrap="square"/>
                    <a:lstStyle/>
                    <a:p>
                      <a:r>
                        <a:rPr sz="1600" b="1">
                          <a:solidFill>
                            <a:srgbClr val="1F2A44"/>
                          </a:solidFill>
                          <a:latin typeface="Arial"/>
                          <a:ea typeface="Microsoft YaHei"/>
                        </a:rPr>
                        <a:t>We choose him.</a:t>
                      </a:r>
                    </a:p>
                  </a:txBody>
                  <a:tcPr anchor="ctr">
                    <a:solidFill>
                      <a:srgbClr val="FFEFD9"/>
                    </a:solidFill>
                  </a:tcPr>
                </a:tc>
                <a:tc>
                  <a:txBody>
                    <a:bodyPr wrap="square"/>
                    <a:lstStyle/>
                    <a:p>
                      <a:r>
                        <a:rPr sz="1600" b="0">
                          <a:solidFill>
                            <a:srgbClr val="1F2A44"/>
                          </a:solidFill>
                          <a:latin typeface="Arial"/>
                          <a:ea typeface="Microsoft YaHei"/>
                        </a:rPr>
                        <a:t>We’ve decided to offer him the position.</a:t>
                      </a:r>
                    </a:p>
                  </a:txBody>
                  <a:tcPr anchor="ctr">
                    <a:solidFill>
                      <a:srgbClr val="FFEFD9"/>
                    </a:solidFill>
                  </a:tcPr>
                </a:tc>
                <a:tc>
                  <a:txBody>
                    <a:bodyPr wrap="square"/>
                    <a:lstStyle/>
                    <a:p>
                      <a:r>
                        <a:rPr sz="1600" b="0">
                          <a:solidFill>
                            <a:srgbClr val="FF6B5B"/>
                          </a:solidFill>
                          <a:latin typeface="Arial"/>
                          <a:ea typeface="Microsoft YaHei"/>
                        </a:rPr>
                        <a:t>正式</a:t>
                      </a:r>
                    </a:p>
                  </a:txBody>
                  <a:tcPr anchor="ctr">
                    <a:solidFill>
                      <a:srgbClr val="FFEFD9"/>
                    </a:solidFill>
                  </a:tcPr>
                </a:tc>
              </a:tr>
              <a:tr h="652272">
                <a:tc>
                  <a:txBody>
                    <a:bodyPr wrap="square"/>
                    <a:lstStyle/>
                    <a:p>
                      <a:r>
                        <a:rPr sz="1600" b="1">
                          <a:solidFill>
                            <a:srgbClr val="1F2A44"/>
                          </a:solidFill>
                          <a:latin typeface="Arial"/>
                          <a:ea typeface="Microsoft YaHei"/>
                        </a:rPr>
                        <a:t>You are not selected.</a:t>
                      </a:r>
                    </a:p>
                  </a:txBody>
                  <a:tcPr anchor="ctr">
                    <a:solidFill>
                      <a:srgbClr val="FFFFFF"/>
                    </a:solidFill>
                  </a:tcPr>
                </a:tc>
                <a:tc>
                  <a:txBody>
                    <a:bodyPr wrap="square"/>
                    <a:lstStyle/>
                    <a:p>
                      <a:r>
                        <a:rPr sz="1600" b="0">
                          <a:solidFill>
                            <a:srgbClr val="1F2A44"/>
                          </a:solidFill>
                          <a:latin typeface="Arial"/>
                          <a:ea typeface="Microsoft YaHei"/>
                        </a:rPr>
                        <a:t>We’ve decided to go with another candidate.</a:t>
                      </a:r>
                    </a:p>
                  </a:txBody>
                  <a:tcPr anchor="ctr">
                    <a:solidFill>
                      <a:srgbClr val="FFFFFF"/>
                    </a:solidFill>
                  </a:tcPr>
                </a:tc>
                <a:tc>
                  <a:txBody>
                    <a:bodyPr wrap="square"/>
                    <a:lstStyle/>
                    <a:p>
                      <a:r>
                        <a:rPr sz="1600" b="0">
                          <a:solidFill>
                            <a:srgbClr val="FF6B5B"/>
                          </a:solidFill>
                          <a:latin typeface="Arial"/>
                          <a:ea typeface="Microsoft YaHei"/>
                        </a:rPr>
                        <a:t>委婉</a:t>
                      </a:r>
                    </a:p>
                  </a:txBody>
                  <a:tcPr anchor="ctr">
                    <a:solidFill>
                      <a:srgbClr val="FFFFFF"/>
                    </a:solidFill>
                  </a:tcPr>
                </a:tc>
              </a:tr>
            </a:tbl>
          </a:graphicData>
        </a:graphic>
      </p:graphicFrame>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39 Choosing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Comparatives: </a:t>
            </a:r>
            <a:r>
              <a:rPr sz="1700" b="0">
                <a:solidFill>
                  <a:srgbClr val="1F2A44"/>
                </a:solidFill>
                <a:latin typeface="Arial"/>
                <a:ea typeface="Microsoft YaHei"/>
              </a:rPr>
              <a:t>more experienced than, less qualified than, as good as, not as strong as.</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Concession: </a:t>
            </a:r>
            <a:r>
              <a:rPr sz="1700" b="0">
                <a:solidFill>
                  <a:srgbClr val="1F2A44"/>
                </a:solidFill>
                <a:latin typeface="Arial"/>
                <a:ea typeface="Microsoft YaHei"/>
              </a:rPr>
              <a:t>Although/Though/While + clause, … “Though he has less experience, he learns fast.”</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Hedging a judgement: </a:t>
            </a:r>
            <a:r>
              <a:rPr sz="1700" b="0">
                <a:solidFill>
                  <a:srgbClr val="1F2A44"/>
                </a:solidFill>
                <a:latin typeface="Arial"/>
                <a:ea typeface="Microsoft YaHei"/>
              </a:rPr>
              <a:t>seems to be, appears, I got the impression that…</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Rejection tone: </a:t>
            </a:r>
            <a:r>
              <a:rPr sz="1700" b="0">
                <a:solidFill>
                  <a:srgbClr val="1F2A44"/>
                </a:solidFill>
                <a:latin typeface="Arial"/>
                <a:ea typeface="Microsoft YaHei"/>
              </a:rPr>
              <a:t>Unfortunately… / We were impressed, but… — thank them and be brief.</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39 Choosing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is more better than him.</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She is better than him.</a:t>
            </a:r>
          </a:p>
          <a:p>
            <a:pPr algn="l">
              <a:spcAft>
                <a:spcPts val="200"/>
              </a:spcAft>
            </a:pPr>
            <a:r>
              <a:rPr sz="1200" b="0">
                <a:solidFill>
                  <a:srgbClr val="FFFFFF"/>
                </a:solidFill>
                <a:latin typeface="Arial"/>
                <a:ea typeface="Microsoft YaHei"/>
              </a:rPr>
              <a:t>better 已是比较级</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think she’s suit for the job.</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think she’s suited to the job. / She suits the job.</a:t>
            </a:r>
          </a:p>
          <a:p>
            <a:pPr algn="l">
              <a:spcAft>
                <a:spcPts val="200"/>
              </a:spcAft>
            </a:pPr>
            <a:r>
              <a:rPr sz="1200" b="0">
                <a:solidFill>
                  <a:srgbClr val="FFFFFF"/>
                </a:solidFill>
                <a:latin typeface="Arial"/>
                <a:ea typeface="Microsoft YaHei"/>
              </a:rPr>
              <a:t>suited to</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criteria is clear.</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criteria are clear.</a:t>
            </a:r>
          </a:p>
          <a:p>
            <a:pPr algn="l">
              <a:spcAft>
                <a:spcPts val="200"/>
              </a:spcAft>
            </a:pPr>
            <a:r>
              <a:rPr sz="1200" b="0">
                <a:solidFill>
                  <a:srgbClr val="FFFFFF"/>
                </a:solidFill>
                <a:latin typeface="Arial"/>
                <a:ea typeface="Microsoft YaHei"/>
              </a:rPr>
              <a:t>criteria 复数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39 Choosing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enough qualified.</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is sufficiently qualified.</a:t>
            </a:r>
          </a:p>
          <a:p>
            <a:pPr algn="l">
              <a:spcAft>
                <a:spcPts val="200"/>
              </a:spcAft>
            </a:pPr>
            <a:r>
              <a:rPr sz="1200" b="0">
                <a:solidFill>
                  <a:srgbClr val="FFFFFF"/>
                </a:solidFill>
                <a:latin typeface="Arial"/>
                <a:ea typeface="Microsoft YaHei"/>
              </a:rPr>
              <a:t>enough 位置</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has experience of 10 years.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She has ten years’ experience.</a:t>
            </a:r>
          </a:p>
          <a:p>
            <a:pPr algn="l">
              <a:spcAft>
                <a:spcPts val="200"/>
              </a:spcAft>
            </a:pPr>
            <a:r>
              <a:rPr sz="1200" b="0">
                <a:solidFill>
                  <a:srgbClr val="FFFFFF"/>
                </a:solidFill>
                <a:latin typeface="Arial"/>
                <a:ea typeface="Microsoft YaHei"/>
              </a:rPr>
              <a:t>习惯表达</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best candidate between these three is Ana.</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best candidate among these three is Ana.</a:t>
            </a:r>
          </a:p>
          <a:p>
            <a:pPr algn="l">
              <a:spcAft>
                <a:spcPts val="200"/>
              </a:spcAft>
            </a:pPr>
            <a:r>
              <a:rPr sz="1200" b="0">
                <a:solidFill>
                  <a:srgbClr val="FFFFFF"/>
                </a:solidFill>
                <a:latin typeface="Arial"/>
                <a:ea typeface="Microsoft YaHei"/>
              </a:rPr>
              <a:t>among 用于三者及以上</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criteria (plural), better than (no “more”), and between / among.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39 Choosing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Fairness: </a:t>
            </a:r>
            <a:r>
              <a:rPr sz="1700" b="0">
                <a:solidFill>
                  <a:srgbClr val="1F2A44"/>
                </a:solidFill>
                <a:latin typeface="Arial"/>
                <a:ea typeface="Microsoft YaHei"/>
              </a:rPr>
              <a:t>In the UK/US, hiring must be based on job-relevant criteria; discrimination on age, gender, race or disability is illegal.</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CVs and photos: </a:t>
            </a:r>
            <a:r>
              <a:rPr sz="1700" b="0">
                <a:solidFill>
                  <a:srgbClr val="1F2A44"/>
                </a:solidFill>
                <a:latin typeface="Arial"/>
                <a:ea typeface="Microsoft YaHei"/>
              </a:rPr>
              <a:t>Many countries do not put photos or age on CVs. Check local custom.</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Feedback: </a:t>
            </a:r>
            <a:r>
              <a:rPr sz="1700" b="0">
                <a:solidFill>
                  <a:srgbClr val="1F2A44"/>
                </a:solidFill>
                <a:latin typeface="Arial"/>
                <a:ea typeface="Microsoft YaHei"/>
              </a:rPr>
              <a:t>Unsuccessful candidates often appreciate a brief, kind reply. Silence can damage the employer’s reputation.</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criteria 是复数(单数 criterion)。better 已经是比较级,不能说 more better。between 用于两者,among 用于三者及以上。</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39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39 Choosing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compare two candidates and justify a choice.</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about criteria and bias in selection.</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comparatives and concession clauses correctly.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criteria, between / among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39 Choosing Employees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plural criteria, comparatives, and between / among.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5 · Lesson 40 Evaluating Staff</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71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40</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Evaluating Staff</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评估员工</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evaluating employee performance: criteria, KPIs, fair assessment, and giving balanced evaluations.</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40 Evaluating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9258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How is your performance evaluated at work?</a:t>
            </a:r>
          </a:p>
        </p:txBody>
      </p:sp>
      <p:sp>
        <p:nvSpPr>
          <p:cNvPr id="12" name="Oval 11"/>
          <p:cNvSpPr/>
          <p:nvPr/>
        </p:nvSpPr>
        <p:spPr>
          <a:xfrm>
            <a:off x="548640" y="228142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43328"/>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43328"/>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Do you think KPIs are a fair way to measure performance?</a:t>
            </a:r>
          </a:p>
        </p:txBody>
      </p:sp>
      <p:sp>
        <p:nvSpPr>
          <p:cNvPr id="15" name="Oval 14"/>
          <p:cNvSpPr/>
          <p:nvPr/>
        </p:nvSpPr>
        <p:spPr>
          <a:xfrm>
            <a:off x="548640" y="314553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32176"/>
            <a:ext cx="10408615" cy="929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32176"/>
            <a:ext cx="10180015" cy="92964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What is the difference between measuring effort and measuring results?</a:t>
            </a:r>
          </a:p>
        </p:txBody>
      </p:sp>
      <p:sp>
        <p:nvSpPr>
          <p:cNvPr id="18" name="Oval 17"/>
          <p:cNvSpPr/>
          <p:nvPr/>
        </p:nvSpPr>
        <p:spPr>
          <a:xfrm>
            <a:off x="548640" y="400964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71544"/>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71544"/>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Who should evaluate an employee: the manager, peers or the employee?</a:t>
            </a:r>
          </a:p>
        </p:txBody>
      </p:sp>
      <p:sp>
        <p:nvSpPr>
          <p:cNvPr id="21" name="Oval 20"/>
          <p:cNvSpPr/>
          <p:nvPr/>
        </p:nvSpPr>
        <p:spPr>
          <a:xfrm>
            <a:off x="548640" y="469849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60392"/>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0392"/>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Have you ever received a fair or unfair evaluation?</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KPI = Key Performance Indicator 关键绩效指标。evaluate = assess = 评估。peer = 同事(同级)。</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40 Evaluating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Give a balanced evaluation of a team member.</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strengths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area for development</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evidence</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next step</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Overall, she has performed well in…   💬 One area for improvement is…   💬 For example, last quarter…</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平衡评价:先优点,再改进点,并用具体事例。for example 说明依据。</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Measuring What Matters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130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40 Evaluating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Evaluating staff is not just about numbers. Targets such as sales figures or response times are useful because they are clear and comparable, but they rarely tell the whole story. An employee may have missed a target because of changes outside their control, or may have contributed in ways that are hard to count, such as mentoring a new colleague. Good evaluations combine hard data with observation and feedback from several people. They compare performance with agreed goals, not with other individuals, and they are based on evidence rather than impressions. Managers should keep notes during the year so that recent events do not dominate their memory. Above all, an evaluation should lead to a conversation, not a verdict, ending with clear goals and the support needed to reach them.</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40 Evaluating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are numerical targets useful but limited?</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are clear and comparable, but they do not tell the whole story.</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should good evaluations combine?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Hard data, observation and feedback from several people.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Why should managers keep notes during the year?</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So that recent events do not dominate their memory.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Performance measurement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40 Evaluating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绩效衡量</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KPI (key performance indicator)</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关键绩效指标</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KPIs include customer satisfaction.”</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target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目标</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met all her targets.”</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performance review</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绩效评估</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annual performance review is in May.”</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strengths</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优势</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“Her main strength is communication.”</a:t>
            </a:r>
          </a:p>
        </p:txBody>
      </p:sp>
      <p:sp>
        <p:nvSpPr>
          <p:cNvPr id="29" name="Rounded Rectangle 28"/>
          <p:cNvSpPr/>
          <p:nvPr/>
        </p:nvSpPr>
        <p:spPr>
          <a:xfrm>
            <a:off x="548640" y="45364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weakness / area for improvement</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弱点 / 待改进之处</a:t>
            </a:r>
          </a:p>
        </p:txBody>
      </p:sp>
      <p:sp>
        <p:nvSpPr>
          <p:cNvPr id="33" name="TextBox 32"/>
          <p:cNvSpPr txBox="1"/>
          <p:nvPr/>
        </p:nvSpPr>
        <p:spPr>
          <a:xfrm>
            <a:off x="6675120" y="45821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“Time management is an area for improvement.”</a:t>
            </a:r>
          </a:p>
        </p:txBody>
      </p:sp>
      <p:sp>
        <p:nvSpPr>
          <p:cNvPr id="34" name="Rounded Rectangle 33"/>
          <p:cNvSpPr/>
          <p:nvPr/>
        </p:nvSpPr>
        <p:spPr>
          <a:xfrm>
            <a:off x="548640" y="55448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5448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5905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peer feedback</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55905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同事反馈</a:t>
            </a:r>
          </a:p>
        </p:txBody>
      </p:sp>
      <p:sp>
        <p:nvSpPr>
          <p:cNvPr id="38" name="TextBox 37"/>
          <p:cNvSpPr txBox="1"/>
          <p:nvPr/>
        </p:nvSpPr>
        <p:spPr>
          <a:xfrm>
            <a:off x="6675120" y="55905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use peer feedback as part of the process.”</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Fair assessment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40 Evaluating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公平评估</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meet / exceed expectations</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达到 / 超出预期</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exceeded expectations this year.”</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fall short of</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未达到</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“Sales fell short of the target.”</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objective</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客观的</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“Try to be objective.”</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recency bias</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近因效应</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“Notes help prevent recency bias.”</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move the goalposts</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中途更改标准</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move the goalposts after the year starts.”</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go the extra mile</a:t>
            </a:r>
          </a:p>
          <a:p>
            <a:pPr algn="l">
              <a:lnSpc>
                <a:spcPct val="115000"/>
              </a:lnSpc>
              <a:spcAft>
                <a:spcPts val="800"/>
              </a:spcAft>
            </a:pPr>
            <a:r>
              <a:rPr sz="1300" b="0">
                <a:solidFill>
                  <a:srgbClr val="5F677A"/>
                </a:solidFill>
                <a:latin typeface="Arial"/>
                <a:ea typeface="Microsoft YaHei"/>
              </a:rPr>
              <a:t>idiom</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额外付出</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always goes the extra mile.”</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40 Evaluating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目标</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target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同事反馈</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peer feedback</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额外付出</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go the extra mile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近因效应</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recency bias</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达到 / 超出预期</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meet / exceed expectations</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绩效评估</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performance review</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客观的</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objective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中途更改标准</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move the goalposts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40 Evaluating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KPIs</a:t>
            </a:r>
          </a:p>
        </p:txBody>
      </p:sp>
      <p:sp>
        <p:nvSpPr>
          <p:cNvPr id="10" name="Rounded Rectangle 9"/>
          <p:cNvSpPr/>
          <p:nvPr/>
        </p:nvSpPr>
        <p:spPr>
          <a:xfrm>
            <a:off x="2907792"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target</a:t>
            </a:r>
          </a:p>
        </p:txBody>
      </p:sp>
      <p:sp>
        <p:nvSpPr>
          <p:cNvPr id="11" name="Rounded Rectangle 10"/>
          <p:cNvSpPr/>
          <p:nvPr/>
        </p:nvSpPr>
        <p:spPr>
          <a:xfrm>
            <a:off x="4023360" y="987552"/>
            <a:ext cx="135331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strengths</a:t>
            </a:r>
          </a:p>
        </p:txBody>
      </p:sp>
      <p:sp>
        <p:nvSpPr>
          <p:cNvPr id="12" name="Rounded Rectangle 11"/>
          <p:cNvSpPr/>
          <p:nvPr/>
        </p:nvSpPr>
        <p:spPr>
          <a:xfrm>
            <a:off x="5468112"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exceeded</a:t>
            </a:r>
          </a:p>
        </p:txBody>
      </p:sp>
      <p:sp>
        <p:nvSpPr>
          <p:cNvPr id="13" name="Rounded Rectangle 12"/>
          <p:cNvSpPr/>
          <p:nvPr/>
        </p:nvSpPr>
        <p:spPr>
          <a:xfrm>
            <a:off x="6803136" y="987552"/>
            <a:ext cx="146304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fall short</a:t>
            </a:r>
          </a:p>
        </p:txBody>
      </p:sp>
      <p:sp>
        <p:nvSpPr>
          <p:cNvPr id="14" name="Rounded Rectangle 13"/>
          <p:cNvSpPr/>
          <p:nvPr/>
        </p:nvSpPr>
        <p:spPr>
          <a:xfrm>
            <a:off x="8357616"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goalposts</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Our _______ include customer satisfaction and delivery time.</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KPIs</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She met every _______ for the quarter.</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target</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Her main _______ are communication and organisation.</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strengths</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He _______ expectations in his first year.</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exceeded</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Sales may _______ of the target this month.</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fall short</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It’s unfair to move the _______ in the middle of the year.</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goalposts</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performance (not “performence”), appraisal (double p, single r), assess/assessment (double s). Meet a target, achieve a goal, hit a target (informal). Give feedback (uncountable), carry out an evaluation.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Giving a balanced evaluation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40 Evaluating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给出平衡的评估</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are a manager giving a six-month evaluation to a team member, Priya.</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Helen Wu, manager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Priya Nair, team member</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Giving a balanced evaluation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40 Evaluating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Helen</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for coming in, Priya. Let’s go through your six-month review. How do you feel it’s gone?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Priya</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Generally good, I think. I’ve met most of my targets.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Overall, you’ve performed well, especially on customer service. You exceeded your satisfaction target.</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I’ve worked hard on that.</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have. One area for improvement is your reports. For example, last month’s summary was late and missed a few details.</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true. I was juggling two projects at the time.</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Giving a balanced evaluation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40 Evaluating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understand. Let’s agree some priorities so you’re not overstretched.</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help. Could I also have some training on data analysis?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I’ll look at courses this week.</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Is there anything else I should work on?</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Perhaps speaking up more in team meetings. Your ideas are good.</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Okay, I’ll try. Thanks for being honest.</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Giving a balanced evaluation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40 Evaluating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give a six-month evaluation.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Strength: ______________ Area to improve: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Positive, asks for support.</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overall · exceeded expectations · area for improvement · for example · priorities · support</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Give two strengths, one improvement point and agree next steps.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Priya disagrees: “I don’t think that’s fair.” Respond calmly.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an evaluation of yourself in three sentences.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why you gave a “meets expectations” rating.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40 Evaluating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should employee performance be measured?</a:t>
            </a:r>
          </a:p>
          <a:p>
            <a:pPr algn="l">
              <a:lnSpc>
                <a:spcPct val="115000"/>
              </a:lnSpc>
              <a:spcAft>
                <a:spcPts val="800"/>
              </a:spcAft>
            </a:pPr>
            <a:r>
              <a:rPr sz="1400" b="0">
                <a:solidFill>
                  <a:srgbClr val="5F677A"/>
                </a:solidFill>
                <a:latin typeface="Arial"/>
                <a:ea typeface="Microsoft YaHei"/>
              </a:rPr>
              <a:t>💬 “I think it should be measured by… / A mix of…”</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Are annual reviews effective?</a:t>
            </a:r>
          </a:p>
          <a:p>
            <a:pPr algn="l">
              <a:lnSpc>
                <a:spcPct val="115000"/>
              </a:lnSpc>
              <a:spcAft>
                <a:spcPts val="800"/>
              </a:spcAft>
            </a:pPr>
            <a:r>
              <a:rPr sz="1400" b="0">
                <a:solidFill>
                  <a:srgbClr val="5F677A"/>
                </a:solidFill>
                <a:latin typeface="Arial"/>
                <a:ea typeface="Microsoft YaHei"/>
              </a:rPr>
              <a:t>💬 “They can be, but they’re often… / More frequent check-ins…”</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employees evaluate their managers?</a:t>
            </a:r>
          </a:p>
          <a:p>
            <a:pPr algn="l">
              <a:lnSpc>
                <a:spcPct val="115000"/>
              </a:lnSpc>
              <a:spcAft>
                <a:spcPts val="800"/>
              </a:spcAft>
            </a:pPr>
            <a:r>
              <a:rPr sz="1400" b="0">
                <a:solidFill>
                  <a:srgbClr val="5F677A"/>
                </a:solidFill>
                <a:latin typeface="Arial"/>
                <a:ea typeface="Microsoft YaHei"/>
              </a:rPr>
              <a:t>💬 “That could be useful because… / The risk is…”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makes an evaluation fair?</a:t>
            </a:r>
          </a:p>
          <a:p>
            <a:pPr algn="l">
              <a:lnSpc>
                <a:spcPct val="115000"/>
              </a:lnSpc>
              <a:spcAft>
                <a:spcPts val="800"/>
              </a:spcAft>
            </a:pPr>
            <a:r>
              <a:rPr sz="1400" b="0">
                <a:solidFill>
                  <a:srgbClr val="5F677A"/>
                </a:solidFill>
                <a:latin typeface="Arial"/>
                <a:ea typeface="Microsoft YaHei"/>
              </a:rPr>
              <a:t>💬 “It should be based on… / Both sides should…”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40 Evaluating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 fair evaluation is based on clear, agreed criteria and on evidence, not on personal impressions. The manager should give specific examples, listen to the employee’s side and consider factors beyond their control. It should also be balanced: mentioning achievements as well as weaknesses. Finally, it should lead to a plan, with goals and support, so that the employee can improve.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beyond their control = 超出其控制范围。”mentioning… as well as…” 兼顾。lead to = 导致。evidence = 证据。</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40 Evaluating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42595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Your work is bad.</a:t>
                      </a:r>
                    </a:p>
                  </a:txBody>
                  <a:tcPr anchor="ctr">
                    <a:solidFill>
                      <a:srgbClr val="FFFFFF"/>
                    </a:solidFill>
                  </a:tcPr>
                </a:tc>
                <a:tc>
                  <a:txBody>
                    <a:bodyPr wrap="square"/>
                    <a:lstStyle/>
                    <a:p>
                      <a:r>
                        <a:rPr sz="1600" b="0">
                          <a:solidFill>
                            <a:srgbClr val="1F2A44"/>
                          </a:solidFill>
                          <a:latin typeface="Arial"/>
                          <a:ea typeface="Microsoft YaHei"/>
                        </a:rPr>
                        <a:t>Your work doesn’t yet meet the required standard in some areas.</a:t>
                      </a:r>
                    </a:p>
                  </a:txBody>
                  <a:tcPr anchor="ctr">
                    <a:solidFill>
                      <a:srgbClr val="FFFFFF"/>
                    </a:solidFill>
                  </a:tcPr>
                </a:tc>
                <a:tc>
                  <a:txBody>
                    <a:bodyPr wrap="square"/>
                    <a:lstStyle/>
                    <a:p>
                      <a:r>
                        <a:rPr sz="1600" b="0">
                          <a:solidFill>
                            <a:srgbClr val="FF6B5B"/>
                          </a:solidFill>
                          <a:latin typeface="Arial"/>
                          <a:ea typeface="Microsoft YaHei"/>
                        </a:rPr>
                        <a:t>委婉</a:t>
                      </a:r>
                    </a:p>
                  </a:txBody>
                  <a:tcPr anchor="ctr">
                    <a:solidFill>
                      <a:srgbClr val="FFFFFF"/>
                    </a:solidFill>
                  </a:tcPr>
                </a:tc>
              </a:tr>
              <a:tr h="652272">
                <a:tc>
                  <a:txBody>
                    <a:bodyPr wrap="square"/>
                    <a:lstStyle/>
                    <a:p>
                      <a:r>
                        <a:rPr sz="1600" b="1">
                          <a:solidFill>
                            <a:srgbClr val="1F2A44"/>
                          </a:solidFill>
                          <a:latin typeface="Arial"/>
                          <a:ea typeface="Microsoft YaHei"/>
                        </a:rPr>
                        <a:t>You’re lazy.</a:t>
                      </a:r>
                    </a:p>
                  </a:txBody>
                  <a:tcPr anchor="ctr">
                    <a:solidFill>
                      <a:srgbClr val="FFEFD9"/>
                    </a:solidFill>
                  </a:tcPr>
                </a:tc>
                <a:tc>
                  <a:txBody>
                    <a:bodyPr wrap="square"/>
                    <a:lstStyle/>
                    <a:p>
                      <a:r>
                        <a:rPr sz="1600" b="0">
                          <a:solidFill>
                            <a:srgbClr val="1F2A44"/>
                          </a:solidFill>
                          <a:latin typeface="Arial"/>
                          <a:ea typeface="Microsoft YaHei"/>
                        </a:rPr>
                        <a:t>I haven’t seen enough initiative on this task.</a:t>
                      </a:r>
                    </a:p>
                  </a:txBody>
                  <a:tcPr anchor="ctr">
                    <a:solidFill>
                      <a:srgbClr val="FFEFD9"/>
                    </a:solidFill>
                  </a:tcPr>
                </a:tc>
                <a:tc>
                  <a:txBody>
                    <a:bodyPr wrap="square"/>
                    <a:lstStyle/>
                    <a:p>
                      <a:r>
                        <a:rPr sz="1600" b="0">
                          <a:solidFill>
                            <a:srgbClr val="FF6B5B"/>
                          </a:solidFill>
                          <a:latin typeface="Arial"/>
                          <a:ea typeface="Microsoft YaHei"/>
                        </a:rPr>
                        <a:t>针对行为</a:t>
                      </a:r>
                    </a:p>
                  </a:txBody>
                  <a:tcPr anchor="ctr">
                    <a:solidFill>
                      <a:srgbClr val="FFEFD9"/>
                    </a:solidFill>
                  </a:tcPr>
                </a:tc>
              </a:tr>
              <a:tr h="652272">
                <a:tc>
                  <a:txBody>
                    <a:bodyPr wrap="square"/>
                    <a:lstStyle/>
                    <a:p>
                      <a:r>
                        <a:rPr sz="1600" b="1">
                          <a:solidFill>
                            <a:srgbClr val="1F2A44"/>
                          </a:solidFill>
                          <a:latin typeface="Arial"/>
                          <a:ea typeface="Microsoft YaHei"/>
                        </a:rPr>
                        <a:t>Good job.</a:t>
                      </a:r>
                    </a:p>
                  </a:txBody>
                  <a:tcPr anchor="ctr">
                    <a:solidFill>
                      <a:srgbClr val="FFFFFF"/>
                    </a:solidFill>
                  </a:tcPr>
                </a:tc>
                <a:tc>
                  <a:txBody>
                    <a:bodyPr wrap="square"/>
                    <a:lstStyle/>
                    <a:p>
                      <a:r>
                        <a:rPr sz="1600" b="0">
                          <a:solidFill>
                            <a:srgbClr val="1F2A44"/>
                          </a:solidFill>
                          <a:latin typeface="Arial"/>
                          <a:ea typeface="Microsoft YaHei"/>
                        </a:rPr>
                        <a:t>You exceeded expectations on the Chen project.</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r h="408432">
                <a:tc>
                  <a:txBody>
                    <a:bodyPr wrap="square"/>
                    <a:lstStyle/>
                    <a:p>
                      <a:r>
                        <a:rPr sz="1600" b="1">
                          <a:solidFill>
                            <a:srgbClr val="1F2A44"/>
                          </a:solidFill>
                          <a:latin typeface="Arial"/>
                          <a:ea typeface="Microsoft YaHei"/>
                        </a:rPr>
                        <a:t>You must improve.</a:t>
                      </a:r>
                    </a:p>
                  </a:txBody>
                  <a:tcPr anchor="ctr">
                    <a:solidFill>
                      <a:srgbClr val="FFEFD9"/>
                    </a:solidFill>
                  </a:tcPr>
                </a:tc>
                <a:tc>
                  <a:txBody>
                    <a:bodyPr wrap="square"/>
                    <a:lstStyle/>
                    <a:p>
                      <a:r>
                        <a:rPr sz="1600" b="0">
                          <a:solidFill>
                            <a:srgbClr val="1F2A44"/>
                          </a:solidFill>
                          <a:latin typeface="Arial"/>
                          <a:ea typeface="Microsoft YaHei"/>
                        </a:rPr>
                        <a:t>One area for development is…</a:t>
                      </a:r>
                    </a:p>
                  </a:txBody>
                  <a:tcPr anchor="ctr">
                    <a:solidFill>
                      <a:srgbClr val="FFEFD9"/>
                    </a:solidFill>
                  </a:tcPr>
                </a:tc>
                <a:tc>
                  <a:txBody>
                    <a:bodyPr wrap="square"/>
                    <a:lstStyle/>
                    <a:p>
                      <a:r>
                        <a:rPr sz="1600" b="0">
                          <a:solidFill>
                            <a:srgbClr val="FF6B5B"/>
                          </a:solidFill>
                          <a:latin typeface="Arial"/>
                          <a:ea typeface="Microsoft YaHei"/>
                        </a:rPr>
                        <a:t>积极措辞</a:t>
                      </a:r>
                    </a:p>
                  </a:txBody>
                  <a:tcPr anchor="ctr">
                    <a:solidFill>
                      <a:srgbClr val="FFEFD9"/>
                    </a:solidFill>
                  </a:tcPr>
                </a:tc>
              </a:tr>
              <a:tr h="652272">
                <a:tc>
                  <a:txBody>
                    <a:bodyPr wrap="square"/>
                    <a:lstStyle/>
                    <a:p>
                      <a:r>
                        <a:rPr sz="1600" b="1">
                          <a:solidFill>
                            <a:srgbClr val="1F2A44"/>
                          </a:solidFill>
                          <a:latin typeface="Arial"/>
                          <a:ea typeface="Microsoft YaHei"/>
                        </a:rPr>
                        <a:t>Do better next time.</a:t>
                      </a:r>
                    </a:p>
                  </a:txBody>
                  <a:tcPr anchor="ctr">
                    <a:solidFill>
                      <a:srgbClr val="FFFFFF"/>
                    </a:solidFill>
                  </a:tcPr>
                </a:tc>
                <a:tc>
                  <a:txBody>
                    <a:bodyPr wrap="square"/>
                    <a:lstStyle/>
                    <a:p>
                      <a:r>
                        <a:rPr sz="1600" b="0">
                          <a:solidFill>
                            <a:srgbClr val="1F2A44"/>
                          </a:solidFill>
                          <a:latin typeface="Arial"/>
                          <a:ea typeface="Microsoft YaHei"/>
                        </a:rPr>
                        <a:t>Let’s agree some goals for the next quarter.</a:t>
                      </a:r>
                    </a:p>
                  </a:txBody>
                  <a:tcPr anchor="ctr">
                    <a:solidFill>
                      <a:srgbClr val="FFFFFF"/>
                    </a:solidFill>
                  </a:tcPr>
                </a:tc>
                <a:tc>
                  <a:txBody>
                    <a:bodyPr wrap="square"/>
                    <a:lstStyle/>
                    <a:p>
                      <a:r>
                        <a:rPr sz="1600" b="0">
                          <a:solidFill>
                            <a:srgbClr val="FF6B5B"/>
                          </a:solidFill>
                          <a:latin typeface="Arial"/>
                          <a:ea typeface="Microsoft YaHei"/>
                        </a:rPr>
                        <a:t>面向未来</a:t>
                      </a:r>
                    </a:p>
                  </a:txBody>
                  <a:tcPr anchor="ctr">
                    <a:solidFill>
                      <a:srgbClr val="FFFFFF"/>
                    </a:solidFill>
                  </a:tcPr>
                </a:tc>
              </a:tr>
            </a:tbl>
          </a:graphicData>
        </a:graphic>
      </p:graphicFrame>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40 Evaluating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Present perfect for review: </a:t>
            </a:r>
            <a:r>
              <a:rPr sz="1700" b="0">
                <a:solidFill>
                  <a:srgbClr val="1F2A44"/>
                </a:solidFill>
                <a:latin typeface="Arial"/>
                <a:ea typeface="Microsoft YaHei"/>
              </a:rPr>
              <a:t>“You’ve met most of your targets.” / “She’s improved a lot since March.”</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Balanced feedback: </a:t>
            </a:r>
            <a:r>
              <a:rPr sz="1700" b="0">
                <a:solidFill>
                  <a:srgbClr val="1F2A44"/>
                </a:solidFill>
                <a:latin typeface="Arial"/>
                <a:ea typeface="Microsoft YaHei"/>
              </a:rPr>
              <a:t>Positive + but + development area + support.</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Euphemisms: </a:t>
            </a:r>
            <a:r>
              <a:rPr sz="1700" b="0">
                <a:solidFill>
                  <a:srgbClr val="1F2A44"/>
                </a:solidFill>
                <a:latin typeface="Arial"/>
                <a:ea typeface="Microsoft YaHei"/>
              </a:rPr>
              <a:t>development area, room for improvement instead of weakness.</a:t>
            </a:r>
          </a:p>
        </p:txBody>
      </p:sp>
      <p:sp>
        <p:nvSpPr>
          <p:cNvPr id="17" name="Rounded Rectangle 16"/>
          <p:cNvSpPr/>
          <p:nvPr/>
        </p:nvSpPr>
        <p:spPr>
          <a:xfrm>
            <a:off x="548640" y="327659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701039"/>
          </a:xfrm>
          <a:prstGeom prst="rect">
            <a:avLst/>
          </a:prstGeom>
          <a:noFill/>
        </p:spPr>
        <p:txBody>
          <a:bodyPr wrap="square" anchor="ctr">
            <a:spAutoFit/>
          </a:bodyPr>
          <a:lstStyle/>
          <a:p>
            <a:r>
              <a:rPr sz="1700" b="1">
                <a:solidFill>
                  <a:srgbClr val="FFC857"/>
                </a:solidFill>
                <a:latin typeface="Arial"/>
                <a:ea typeface="Microsoft YaHei"/>
              </a:rPr>
              <a:t>Adverbs of degree: </a:t>
            </a:r>
            <a:r>
              <a:rPr sz="1700" b="0">
                <a:solidFill>
                  <a:srgbClr val="1F2A44"/>
                </a:solidFill>
                <a:latin typeface="Arial"/>
                <a:ea typeface="Microsoft YaHei"/>
              </a:rPr>
              <a:t>fairly, quite, particularly, especially — “You’ve performed particularly well in…”</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40 Evaluating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got a high evaluation from my manager.</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got a good rating from my manager.</a:t>
            </a:r>
          </a:p>
          <a:p>
            <a:pPr algn="l">
              <a:spcAft>
                <a:spcPts val="200"/>
              </a:spcAft>
            </a:pPr>
            <a:r>
              <a:rPr sz="1200" b="0">
                <a:solidFill>
                  <a:srgbClr val="FFFFFF"/>
                </a:solidFill>
                <a:latin typeface="Arial"/>
                <a:ea typeface="Microsoft YaHei"/>
              </a:rPr>
              <a:t>rating 搭配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evaluate you high.</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rate your performance highly.</a:t>
            </a:r>
          </a:p>
          <a:p>
            <a:pPr algn="l">
              <a:spcAft>
                <a:spcPts val="200"/>
              </a:spcAft>
            </a:pPr>
            <a:r>
              <a:rPr sz="1200" b="0">
                <a:solidFill>
                  <a:srgbClr val="FFFFFF"/>
                </a:solidFill>
                <a:latin typeface="Arial"/>
                <a:ea typeface="Microsoft YaHei"/>
              </a:rPr>
              <a:t>rate highly</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 did a good work.</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You did good work. / You did a good job.</a:t>
            </a:r>
          </a:p>
          <a:p>
            <a:pPr algn="l">
              <a:spcAft>
                <a:spcPts val="200"/>
              </a:spcAft>
            </a:pPr>
            <a:r>
              <a:rPr sz="1200" b="0">
                <a:solidFill>
                  <a:srgbClr val="FFFFFF"/>
                </a:solidFill>
                <a:latin typeface="Arial"/>
                <a:ea typeface="Microsoft YaHei"/>
              </a:rPr>
              <a:t>work 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40 Evaluating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has done the target.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She has met the target.</a:t>
            </a:r>
          </a:p>
          <a:p>
            <a:pPr algn="l">
              <a:spcAft>
                <a:spcPts val="200"/>
              </a:spcAft>
            </a:pPr>
            <a:r>
              <a:rPr sz="1200" b="0">
                <a:solidFill>
                  <a:srgbClr val="FFFFFF"/>
                </a:solidFill>
                <a:latin typeface="Arial"/>
                <a:ea typeface="Microsoft YaHei"/>
              </a:rPr>
              <a:t>meet a target</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evaluation is depend on data.</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evaluation depends on data.</a:t>
            </a:r>
          </a:p>
          <a:p>
            <a:pPr algn="l">
              <a:spcAft>
                <a:spcPts val="200"/>
              </a:spcAft>
            </a:pPr>
            <a:r>
              <a:rPr sz="1200" b="0">
                <a:solidFill>
                  <a:srgbClr val="FFFFFF"/>
                </a:solidFill>
                <a:latin typeface="Arial"/>
                <a:ea typeface="Microsoft YaHei"/>
              </a:rPr>
              <a:t>动词形式</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Your weakness is serious.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There are some serious gaps in this area.</a:t>
            </a:r>
          </a:p>
          <a:p>
            <a:pPr algn="l">
              <a:spcAft>
                <a:spcPts val="200"/>
              </a:spcAft>
            </a:pPr>
            <a:r>
              <a:rPr sz="1200" b="0">
                <a:solidFill>
                  <a:srgbClr val="FFFFFF"/>
                </a:solidFill>
                <a:latin typeface="Arial"/>
                <a:ea typeface="Microsoft YaHei"/>
              </a:rPr>
              <a:t>委婉</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meet a target, uncountable work, and depend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40 Evaluating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Ratings: </a:t>
            </a:r>
            <a:r>
              <a:rPr sz="1700" b="0">
                <a:solidFill>
                  <a:srgbClr val="1F2A44"/>
                </a:solidFill>
                <a:latin typeface="Arial"/>
                <a:ea typeface="Microsoft YaHei"/>
              </a:rPr>
              <a:t>“Meets expectations” is a normal, positive rating in many companies; not “average”.</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360-degree feedback: </a:t>
            </a:r>
            <a:r>
              <a:rPr sz="1700" b="0">
                <a:solidFill>
                  <a:srgbClr val="1F2A44"/>
                </a:solidFill>
                <a:latin typeface="Arial"/>
                <a:ea typeface="Microsoft YaHei"/>
              </a:rPr>
              <a:t>Input from peers, managers and reports is common in Western companies.</a:t>
            </a:r>
          </a:p>
        </p:txBody>
      </p:sp>
      <p:sp>
        <p:nvSpPr>
          <p:cNvPr id="15" name="Rounded Rectangle 14"/>
          <p:cNvSpPr/>
          <p:nvPr/>
        </p:nvSpPr>
        <p:spPr>
          <a:xfrm>
            <a:off x="548640" y="248411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701039"/>
          </a:xfrm>
          <a:prstGeom prst="rect">
            <a:avLst/>
          </a:prstGeom>
          <a:noFill/>
        </p:spPr>
        <p:txBody>
          <a:bodyPr wrap="square" anchor="ctr">
            <a:spAutoFit/>
          </a:bodyPr>
          <a:lstStyle/>
          <a:p>
            <a:r>
              <a:rPr sz="1700" b="1">
                <a:solidFill>
                  <a:srgbClr val="3CC49A"/>
                </a:solidFill>
                <a:latin typeface="Arial"/>
                <a:ea typeface="Microsoft YaHei"/>
              </a:rPr>
              <a:t>Self-evaluation: </a:t>
            </a:r>
            <a:r>
              <a:rPr sz="1700" b="0">
                <a:solidFill>
                  <a:srgbClr val="1F2A44"/>
                </a:solidFill>
                <a:latin typeface="Arial"/>
                <a:ea typeface="Microsoft YaHei"/>
              </a:rPr>
              <a:t>You are often asked to write about your own performance. Be factual and specific, not boastful.</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work 不可数:good work / a good job。meet a target 而不是 do a target。评估应该针对行为和结果,不针对人。</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40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40 Evaluating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a balanced, evidence-based evaluation.</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KPIs and performance vocabulary.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respond to a disagreement calmly.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meet a target and uncountable work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40 Evaluating Staff</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meet a target, uncountable work, and softened critical language.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5 · Lesson 41 Going Through the Appraisal Process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93</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41</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4300" b="1">
                <a:solidFill>
                  <a:srgbClr val="FFFFFF"/>
                </a:solidFill>
                <a:latin typeface="Arial"/>
                <a:ea typeface="Microsoft YaHei"/>
              </a:rPr>
              <a:t>Going Through the Appraisal Process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经历评估过程</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the appraisal process from the employee’s side: preparing, responding to feedback, setting goals and asking for a raise or development.</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41 Going Through the Appraisal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had a formal appraisal? What was it like?</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prepare for a performance review?</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react to negative feedback?</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goals would you like to set for next year?</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When is the right time to ask for a promotion or raise?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appraisal = 评估(英)。employee 角度:prepare evidence of achievements,收集成果证据。</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41 Going Through the Appraisal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Respond to criticism in an appraisal and ask for development support.</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listen</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acknowledge</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explain briefly</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propose action</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ask for support</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Thanks for the feedback.   💬 I take your point.   💬 What I’d like to do is…</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 take your point = 我接受你的意见。回应批评:不要争辩,先承认,再提出行动。</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Own Your Review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127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41 Going Through the Appraisal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Many employees treat their appraisal as something that happens to them. A smarter approach is to treat it as a joint conversation that you help to shape. Preparation matters. Before the meeting, list your main achievements with figures where possible, note problems you faced and think about what you want next, whether that is training, a new project or a promotion. When feedback is critical, resist the urge to defend yourself immediately. Listen, ask for examples and say what you will do differently. If something seems unfair, calmly offer your view, supported by facts. Close the meeting by agreeing clear goals and a date for a follow-up. A short email afterwards, summarising what was agreed, helps both sides remember and shows that you take your development seriously.</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41 Going Through the Appraisal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How should an employee see the appraisal?</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As a joint conversation that they help to shape.</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How should you prepare?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List achievements with figures, note problems and think about what you want next.</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should you do when feedback is critical?</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Listen, ask for examples, say what you’ll do differently and offer facts if it seems unfair.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The appraisal process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41 Going Through the Appraisal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评估流程</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appraisal</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评估</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appraisal is next week.”</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self-assessment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自我评估</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“Fill in the self-assessment form.”</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set goals / objectives</a:t>
            </a:r>
          </a:p>
          <a:p>
            <a:pPr algn="l">
              <a:lnSpc>
                <a:spcPct val="115000"/>
              </a:lnSpc>
              <a:spcAft>
                <a:spcPts val="800"/>
              </a:spcAft>
            </a:pPr>
            <a:r>
              <a:rPr sz="1300" b="0">
                <a:solidFill>
                  <a:srgbClr val="5F677A"/>
                </a:solidFill>
                <a:latin typeface="Arial"/>
                <a:ea typeface="Microsoft YaHei"/>
              </a:rPr>
              <a:t>verb 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设定目标</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set objectives together.”</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development plan</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发展计划</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draft a development plan.”</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promotion</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晋升</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was up for promotion.”</a:t>
            </a:r>
          </a:p>
        </p:txBody>
      </p:sp>
      <p:sp>
        <p:nvSpPr>
          <p:cNvPr id="34" name="Rounded Rectangle 33"/>
          <p:cNvSpPr/>
          <p:nvPr/>
        </p:nvSpPr>
        <p:spPr>
          <a:xfrm>
            <a:off x="548640" y="49352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pay rise (UK) / raise (US)</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加薪</a:t>
            </a:r>
          </a:p>
        </p:txBody>
      </p:sp>
      <p:sp>
        <p:nvSpPr>
          <p:cNvPr id="38" name="TextBox 37"/>
          <p:cNvSpPr txBox="1"/>
          <p:nvPr/>
        </p:nvSpPr>
        <p:spPr>
          <a:xfrm>
            <a:off x="6675120" y="49809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asked for a pay rise.”</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Responding to feedback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41 Going Through the Appraisal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回应反馈</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on board</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采纳</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take your comments on board.”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your point</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接受你的意见</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take your point about deadlines.”</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constructive criticism</a:t>
            </a:r>
          </a:p>
          <a:p>
            <a:pPr algn="l">
              <a:lnSpc>
                <a:spcPct val="115000"/>
              </a:lnSpc>
              <a:spcAft>
                <a:spcPts val="800"/>
              </a:spcAft>
            </a:pPr>
            <a:r>
              <a:rPr sz="1300" b="0">
                <a:solidFill>
                  <a:srgbClr val="5F677A"/>
                </a:solidFill>
                <a:latin typeface="Arial"/>
                <a:ea typeface="Microsoft YaHei"/>
              </a:rPr>
              <a:t>noun phrase</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建设性批评</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welcome constructive criticism.”</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make a case for</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争取/陈述理由</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like to make a case for a promotion.”</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the ball rolling</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开始行动</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get the ball rolling with training.”</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blow your own trumpet</a:t>
            </a:r>
          </a:p>
          <a:p>
            <a:pPr algn="l">
              <a:lnSpc>
                <a:spcPct val="115000"/>
              </a:lnSpc>
              <a:spcAft>
                <a:spcPts val="800"/>
              </a:spcAft>
            </a:pPr>
            <a:r>
              <a:rPr sz="1300" b="0">
                <a:solidFill>
                  <a:srgbClr val="5F677A"/>
                </a:solidFill>
                <a:latin typeface="Arial"/>
                <a:ea typeface="Microsoft YaHei"/>
              </a:rPr>
              <a:t>idiom</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自吹自擂</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don’t like to blow my own trumpet, but…”</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41 Going Through the Appraisal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发展计划</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development plan</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开始行动</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get the ball rolling</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晋升</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promotion</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加薪</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pay rise (UK) / raise (US)</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接受你的意见</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your point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评估</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appraisal</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自我评估</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self-assessment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自吹自擂</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blow your own trumpet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41 Going Through the Appraisal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appraisal</a:t>
            </a:r>
          </a:p>
        </p:txBody>
      </p:sp>
      <p:sp>
        <p:nvSpPr>
          <p:cNvPr id="10" name="Rounded Rectangle 9"/>
          <p:cNvSpPr/>
          <p:nvPr/>
        </p:nvSpPr>
        <p:spPr>
          <a:xfrm>
            <a:off x="3456432" y="987552"/>
            <a:ext cx="2011679"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self-assessment</a:t>
            </a:r>
          </a:p>
        </p:txBody>
      </p:sp>
      <p:sp>
        <p:nvSpPr>
          <p:cNvPr id="11" name="Rounded Rectangle 10"/>
          <p:cNvSpPr/>
          <p:nvPr/>
        </p:nvSpPr>
        <p:spPr>
          <a:xfrm>
            <a:off x="5559551" y="987552"/>
            <a:ext cx="212140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development plan</a:t>
            </a:r>
          </a:p>
        </p:txBody>
      </p:sp>
      <p:sp>
        <p:nvSpPr>
          <p:cNvPr id="12" name="Rounded Rectangle 11"/>
          <p:cNvSpPr/>
          <p:nvPr/>
        </p:nvSpPr>
        <p:spPr>
          <a:xfrm>
            <a:off x="7772399"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pay rise</a:t>
            </a:r>
          </a:p>
        </p:txBody>
      </p:sp>
      <p:sp>
        <p:nvSpPr>
          <p:cNvPr id="13" name="Rounded Rectangle 12"/>
          <p:cNvSpPr/>
          <p:nvPr/>
        </p:nvSpPr>
        <p:spPr>
          <a:xfrm>
            <a:off x="9107423" y="987552"/>
            <a:ext cx="179222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take on board</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My _______ is scheduled for next Monday.</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appraisal</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Please complete the _______ before the meeting.</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self-assessment</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We agreed a _______ with some training courses.</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development plan</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I’d like to ask for a _______ after this year’s results.</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pay rise</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Thanks, I’ll _______ all your comments.</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on board</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I’d like to _______ for a promotion, based on my results.</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make a case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appraisal (British), review (both), promotion. Ask for a raise, get a promotion, be promoted to a role. Take on board (not “take in board”). Give / receive feedback (uncountable).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Responding to criticism and asking for development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41 Going Through the Appraisal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回应批评并争取发展机会</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In your annual appraisal your manager says you should delegate more. You respond.</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Wei Chen, employee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Adams, manager</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Responding to criticism and asking for development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41 Going Through the Appraisal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for the feedback, Mr Adams. I’d like to make sure I understand. You feel I should delegate more?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Adams</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You often take on too much yourself, and it can slow the team down.</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take your point. Could you give me an example?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Last month you reworked the whole presentation instead of asking Lisa to help.</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true. I was worried about the deadline. I’ll take it on board and start sharing tasks earlier.</a:t>
            </a:r>
          </a:p>
        </p:txBody>
      </p:sp>
      <p:sp>
        <p:nvSpPr>
          <p:cNvPr id="23" name="Rounded Rectangle 22"/>
          <p:cNvSpPr/>
          <p:nvPr/>
        </p:nvSpPr>
        <p:spPr>
          <a:xfrm>
            <a:off x="10911535" y="539496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83387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39496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Is there anything that would help you?</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Responding to criticism and asking for development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41 Going Through the Appraisal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short course on delegation would be useful. I’d also like to lead a project next year.</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reasonable. Let’s get the ball rolling with the course, and we can review the project in six months.</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Shall I send you a summary of what we agreed?</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please. It helps to have it in writing.</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do it today. Thanks again for being open with me.</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Responding to criticism and asking for development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41 Going Through the Appraisal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respond to criticism in an appraisal.</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Feedback you receive: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Fair but firm.</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take your point · take on board · give me an example · development plan · make a case · follow up</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Acknowledge, ask for an example, propose action and ask for support.</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feedback seems unfair. Say so politely, with a fact.</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for a pay rise, using your achievements.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short email summarising what was agreed.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41 Going Through the Appraisal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feel about receiving criticism?</a:t>
            </a:r>
          </a:p>
          <a:p>
            <a:pPr algn="l">
              <a:lnSpc>
                <a:spcPct val="115000"/>
              </a:lnSpc>
              <a:spcAft>
                <a:spcPts val="800"/>
              </a:spcAft>
            </a:pPr>
            <a:r>
              <a:rPr sz="1400" b="0">
                <a:solidFill>
                  <a:srgbClr val="5F677A"/>
                </a:solidFill>
                <a:latin typeface="Arial"/>
                <a:ea typeface="Microsoft YaHei"/>
              </a:rPr>
              <a:t>💬 “At first I feel… but I try to… / It helps me to…”</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should you include when you ask for a pay rise?</a:t>
            </a:r>
          </a:p>
          <a:p>
            <a:pPr algn="l">
              <a:lnSpc>
                <a:spcPct val="115000"/>
              </a:lnSpc>
              <a:spcAft>
                <a:spcPts val="800"/>
              </a:spcAft>
            </a:pPr>
            <a:r>
              <a:rPr sz="1400" b="0">
                <a:solidFill>
                  <a:srgbClr val="5F677A"/>
                </a:solidFill>
                <a:latin typeface="Arial"/>
                <a:ea typeface="Microsoft YaHei"/>
              </a:rPr>
              <a:t>💬 “I’d begin with… / I’d show…”</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set goals each year? What kinds?</a:t>
            </a:r>
          </a:p>
          <a:p>
            <a:pPr algn="l">
              <a:lnSpc>
                <a:spcPct val="115000"/>
              </a:lnSpc>
              <a:spcAft>
                <a:spcPts val="800"/>
              </a:spcAft>
            </a:pPr>
            <a:r>
              <a:rPr sz="1400" b="0">
                <a:solidFill>
                  <a:srgbClr val="5F677A"/>
                </a:solidFill>
                <a:latin typeface="Arial"/>
                <a:ea typeface="Microsoft YaHei"/>
              </a:rPr>
              <a:t>💬 “This year I’d like to… because…”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Are appraisals more helpful for managers or employees?</a:t>
            </a:r>
          </a:p>
          <a:p>
            <a:pPr algn="l">
              <a:lnSpc>
                <a:spcPct val="115000"/>
              </a:lnSpc>
              <a:spcAft>
                <a:spcPts val="800"/>
              </a:spcAft>
            </a:pPr>
            <a:r>
              <a:rPr sz="1400" b="0">
                <a:solidFill>
                  <a:srgbClr val="5F677A"/>
                </a:solidFill>
                <a:latin typeface="Arial"/>
                <a:ea typeface="Microsoft YaHei"/>
              </a:rPr>
              <a:t>💬 “They help both, but… / For employees, they…”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41 Going Through the Appraisal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When I ask for a pay rise, I’d start by listing my achievements with figures: for example, projects completed on time or money saved. Then I’d explain how my role has grown, and I’d mention what similar jobs pay in the market. I’d keep the tone calm and constructive, not demanding. Finally, I’d ask what would be needed to reach the next level if the answer was not now.</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the next level = 下一个级别。”not now” = 目前不行。 demanding = 强硬的。 “pay in the market” 市场薪资水平。</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41 Going Through the Appraisal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42595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I want more money.</a:t>
                      </a:r>
                    </a:p>
                  </a:txBody>
                  <a:tcPr anchor="ctr">
                    <a:solidFill>
                      <a:srgbClr val="FFFFFF"/>
                    </a:solidFill>
                  </a:tcPr>
                </a:tc>
                <a:tc>
                  <a:txBody>
                    <a:bodyPr wrap="square"/>
                    <a:lstStyle/>
                    <a:p>
                      <a:r>
                        <a:rPr sz="1600" b="0">
                          <a:solidFill>
                            <a:srgbClr val="1F2A44"/>
                          </a:solidFill>
                          <a:latin typeface="Arial"/>
                          <a:ea typeface="Microsoft YaHei"/>
                        </a:rPr>
                        <a:t>I’d like to discuss my salary in light of my results.</a:t>
                      </a:r>
                    </a:p>
                  </a:txBody>
                  <a:tcPr anchor="ctr">
                    <a:solidFill>
                      <a:srgbClr val="FFFFFF"/>
                    </a:solidFill>
                  </a:tcPr>
                </a:tc>
                <a:tc>
                  <a:txBody>
                    <a:bodyPr wrap="square"/>
                    <a:lstStyle/>
                    <a:p>
                      <a:r>
                        <a:rPr sz="1600" b="0">
                          <a:solidFill>
                            <a:srgbClr val="FF6B5B"/>
                          </a:solidFill>
                          <a:latin typeface="Arial"/>
                          <a:ea typeface="Microsoft YaHei"/>
                        </a:rPr>
                        <a:t>礼貌</a:t>
                      </a:r>
                    </a:p>
                  </a:txBody>
                  <a:tcPr anchor="ctr">
                    <a:solidFill>
                      <a:srgbClr val="FFFFFF"/>
                    </a:solidFill>
                  </a:tcPr>
                </a:tc>
              </a:tr>
              <a:tr h="652272">
                <a:tc>
                  <a:txBody>
                    <a:bodyPr wrap="square"/>
                    <a:lstStyle/>
                    <a:p>
                      <a:r>
                        <a:rPr sz="1600" b="1">
                          <a:solidFill>
                            <a:srgbClr val="1F2A44"/>
                          </a:solidFill>
                          <a:latin typeface="Arial"/>
                          <a:ea typeface="Microsoft YaHei"/>
                        </a:rPr>
                        <a:t>You are wrong.</a:t>
                      </a:r>
                    </a:p>
                  </a:txBody>
                  <a:tcPr anchor="ctr">
                    <a:solidFill>
                      <a:srgbClr val="FFEFD9"/>
                    </a:solidFill>
                  </a:tcPr>
                </a:tc>
                <a:tc>
                  <a:txBody>
                    <a:bodyPr wrap="square"/>
                    <a:lstStyle/>
                    <a:p>
                      <a:r>
                        <a:rPr sz="1600" b="0">
                          <a:solidFill>
                            <a:srgbClr val="1F2A44"/>
                          </a:solidFill>
                          <a:latin typeface="Arial"/>
                          <a:ea typeface="Microsoft YaHei"/>
                        </a:rPr>
                        <a:t>I see it differently. Could we look at the figures?</a:t>
                      </a:r>
                    </a:p>
                  </a:txBody>
                  <a:tcPr anchor="ctr">
                    <a:solidFill>
                      <a:srgbClr val="FFEFD9"/>
                    </a:solidFill>
                  </a:tcPr>
                </a:tc>
                <a:tc>
                  <a:txBody>
                    <a:bodyPr wrap="square"/>
                    <a:lstStyle/>
                    <a:p>
                      <a:r>
                        <a:rPr sz="1600" b="0">
                          <a:solidFill>
                            <a:srgbClr val="FF6B5B"/>
                          </a:solidFill>
                          <a:latin typeface="Arial"/>
                          <a:ea typeface="Microsoft YaHei"/>
                        </a:rPr>
                        <a:t>委婉</a:t>
                      </a:r>
                    </a:p>
                  </a:txBody>
                  <a:tcPr anchor="ctr">
                    <a:solidFill>
                      <a:srgbClr val="FFEFD9"/>
                    </a:solidFill>
                  </a:tcPr>
                </a:tc>
              </a:tr>
              <a:tr h="408432">
                <a:tc>
                  <a:txBody>
                    <a:bodyPr wrap="square"/>
                    <a:lstStyle/>
                    <a:p>
                      <a:r>
                        <a:rPr sz="1600" b="1">
                          <a:solidFill>
                            <a:srgbClr val="1F2A44"/>
                          </a:solidFill>
                          <a:latin typeface="Arial"/>
                          <a:ea typeface="Microsoft YaHei"/>
                        </a:rPr>
                        <a:t>I will do.</a:t>
                      </a:r>
                    </a:p>
                  </a:txBody>
                  <a:tcPr anchor="ctr">
                    <a:solidFill>
                      <a:srgbClr val="FFFFFF"/>
                    </a:solidFill>
                  </a:tcPr>
                </a:tc>
                <a:tc>
                  <a:txBody>
                    <a:bodyPr wrap="square"/>
                    <a:lstStyle/>
                    <a:p>
                      <a:r>
                        <a:rPr sz="1600" b="0">
                          <a:solidFill>
                            <a:srgbClr val="1F2A44"/>
                          </a:solidFill>
                          <a:latin typeface="Arial"/>
                          <a:ea typeface="Microsoft YaHei"/>
                        </a:rPr>
                        <a:t>I’ll take that on board.</a:t>
                      </a:r>
                    </a:p>
                  </a:txBody>
                  <a:tcPr anchor="ctr">
                    <a:solidFill>
                      <a:srgbClr val="FFFFFF"/>
                    </a:solidFill>
                  </a:tcPr>
                </a:tc>
                <a:tc>
                  <a:txBody>
                    <a:bodyPr wrap="square"/>
                    <a:lstStyle/>
                    <a:p>
                      <a:r>
                        <a:rPr sz="1600" b="0">
                          <a:solidFill>
                            <a:srgbClr val="FF6B5B"/>
                          </a:solidFill>
                          <a:latin typeface="Arial"/>
                          <a:ea typeface="Microsoft YaHei"/>
                        </a:rPr>
                        <a:t>接受意见</a:t>
                      </a:r>
                    </a:p>
                  </a:txBody>
                  <a:tcPr anchor="ctr">
                    <a:solidFill>
                      <a:srgbClr val="FFFFFF"/>
                    </a:solidFill>
                  </a:tcPr>
                </a:tc>
              </a:tr>
              <a:tr h="652272">
                <a:tc>
                  <a:txBody>
                    <a:bodyPr wrap="square"/>
                    <a:lstStyle/>
                    <a:p>
                      <a:r>
                        <a:rPr sz="1600" b="1">
                          <a:solidFill>
                            <a:srgbClr val="1F2A44"/>
                          </a:solidFill>
                          <a:latin typeface="Arial"/>
                          <a:ea typeface="Microsoft YaHei"/>
                        </a:rPr>
                        <a:t>I don’t agree with your opinion.</a:t>
                      </a:r>
                    </a:p>
                  </a:txBody>
                  <a:tcPr anchor="ctr">
                    <a:solidFill>
                      <a:srgbClr val="FFEFD9"/>
                    </a:solidFill>
                  </a:tcPr>
                </a:tc>
                <a:tc>
                  <a:txBody>
                    <a:bodyPr wrap="square"/>
                    <a:lstStyle/>
                    <a:p>
                      <a:r>
                        <a:rPr sz="1600" b="0">
                          <a:solidFill>
                            <a:srgbClr val="1F2A44"/>
                          </a:solidFill>
                          <a:latin typeface="Arial"/>
                          <a:ea typeface="Microsoft YaHei"/>
                        </a:rPr>
                        <a:t>I’m not sure that’s the full picture.</a:t>
                      </a:r>
                    </a:p>
                  </a:txBody>
                  <a:tcPr anchor="ctr">
                    <a:solidFill>
                      <a:srgbClr val="FFEFD9"/>
                    </a:solidFill>
                  </a:tcPr>
                </a:tc>
                <a:tc>
                  <a:txBody>
                    <a:bodyPr wrap="square"/>
                    <a:lstStyle/>
                    <a:p>
                      <a:r>
                        <a:rPr sz="1600" b="0">
                          <a:solidFill>
                            <a:srgbClr val="FF6B5B"/>
                          </a:solidFill>
                          <a:latin typeface="Arial"/>
                          <a:ea typeface="Microsoft YaHei"/>
                        </a:rPr>
                        <a:t>委婉</a:t>
                      </a:r>
                    </a:p>
                  </a:txBody>
                  <a:tcPr anchor="ctr">
                    <a:solidFill>
                      <a:srgbClr val="FFEFD9"/>
                    </a:solidFill>
                  </a:tcPr>
                </a:tc>
              </a:tr>
              <a:tr h="652272">
                <a:tc>
                  <a:txBody>
                    <a:bodyPr wrap="square"/>
                    <a:lstStyle/>
                    <a:p>
                      <a:r>
                        <a:rPr sz="1600" b="1">
                          <a:solidFill>
                            <a:srgbClr val="1F2A44"/>
                          </a:solidFill>
                          <a:latin typeface="Arial"/>
                          <a:ea typeface="Microsoft YaHei"/>
                        </a:rPr>
                        <a:t>Please give me promotion.</a:t>
                      </a:r>
                    </a:p>
                  </a:txBody>
                  <a:tcPr anchor="ctr">
                    <a:solidFill>
                      <a:srgbClr val="FFFFFF"/>
                    </a:solidFill>
                  </a:tcPr>
                </a:tc>
                <a:tc>
                  <a:txBody>
                    <a:bodyPr wrap="square"/>
                    <a:lstStyle/>
                    <a:p>
                      <a:r>
                        <a:rPr sz="1600" b="0">
                          <a:solidFill>
                            <a:srgbClr val="1F2A44"/>
                          </a:solidFill>
                          <a:latin typeface="Arial"/>
                          <a:ea typeface="Microsoft YaHei"/>
                        </a:rPr>
                        <a:t>I’d like to be considered for the senior role.</a:t>
                      </a:r>
                    </a:p>
                  </a:txBody>
                  <a:tcPr anchor="ctr">
                    <a:solidFill>
                      <a:srgbClr val="FFFFFF"/>
                    </a:solidFill>
                  </a:tcPr>
                </a:tc>
                <a:tc>
                  <a:txBody>
                    <a:bodyPr wrap="square"/>
                    <a:lstStyle/>
                    <a:p>
                      <a:r>
                        <a:rPr sz="1600" b="0">
                          <a:solidFill>
                            <a:srgbClr val="FF6B5B"/>
                          </a:solidFill>
                          <a:latin typeface="Arial"/>
                          <a:ea typeface="Microsoft YaHei"/>
                        </a:rPr>
                        <a:t>礼貌</a:t>
                      </a:r>
                    </a:p>
                  </a:txBody>
                  <a:tcPr anchor="ctr">
                    <a:solidFill>
                      <a:srgbClr val="FFFFFF"/>
                    </a:solidFill>
                  </a:tcPr>
                </a:tc>
              </a:tr>
            </a:tbl>
          </a:graphicData>
        </a:graphic>
      </p:graphicFrame>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41 Going Through the Appraisal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Future with going to / will: </a:t>
            </a:r>
            <a:r>
              <a:rPr sz="1700" b="0">
                <a:solidFill>
                  <a:srgbClr val="1F2A44"/>
                </a:solidFill>
                <a:latin typeface="Arial"/>
                <a:ea typeface="Microsoft YaHei"/>
              </a:rPr>
              <a:t>“I’m going to focus on…” (plan) vs “I’ll start next week.” (decision/promise)</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Acknowledging criticism: </a:t>
            </a:r>
            <a:r>
              <a:rPr sz="1700" b="0">
                <a:solidFill>
                  <a:srgbClr val="1F2A44"/>
                </a:solidFill>
                <a:latin typeface="Arial"/>
                <a:ea typeface="Microsoft YaHei"/>
              </a:rPr>
              <a:t>Fair point. / I see what you mean. / That’s useful to know.</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Request with would like: </a:t>
            </a:r>
            <a:r>
              <a:rPr sz="1700" b="0">
                <a:solidFill>
                  <a:srgbClr val="1F2A44"/>
                </a:solidFill>
                <a:latin typeface="Arial"/>
                <a:ea typeface="Microsoft YaHei"/>
              </a:rPr>
              <a:t>I’d like to… / I’d appreciate… / It would be helpful if…</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Summarising: </a:t>
            </a:r>
            <a:r>
              <a:rPr sz="1700" b="0">
                <a:solidFill>
                  <a:srgbClr val="1F2A44"/>
                </a:solidFill>
                <a:latin typeface="Arial"/>
                <a:ea typeface="Microsoft YaHei"/>
              </a:rPr>
              <a:t>To sum up, / So we agreed that…</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41 Going Through the Appraisal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ask for increase my salary.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I’d like to ask for a pay rise.</a:t>
            </a:r>
          </a:p>
          <a:p>
            <a:pPr algn="l">
              <a:spcAft>
                <a:spcPts val="200"/>
              </a:spcAft>
            </a:pPr>
            <a:r>
              <a:rPr sz="1200" b="0">
                <a:solidFill>
                  <a:srgbClr val="FFFFFF"/>
                </a:solidFill>
                <a:latin typeface="Arial"/>
                <a:ea typeface="Microsoft YaHei"/>
              </a:rPr>
              <a:t>ask for + 名词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got a promote.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got a promotion.</a:t>
            </a:r>
          </a:p>
          <a:p>
            <a:pPr algn="l">
              <a:spcAft>
                <a:spcPts val="200"/>
              </a:spcAft>
            </a:pPr>
            <a:r>
              <a:rPr sz="1200" b="0">
                <a:solidFill>
                  <a:srgbClr val="FFFFFF"/>
                </a:solidFill>
                <a:latin typeface="Arial"/>
                <a:ea typeface="Microsoft YaHei"/>
              </a:rPr>
              <a:t>名词形式</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My boss gave me a lot of advices.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My boss gave me a lot of advice.</a:t>
            </a:r>
          </a:p>
          <a:p>
            <a:pPr algn="l">
              <a:spcAft>
                <a:spcPts val="200"/>
              </a:spcAft>
            </a:pPr>
            <a:r>
              <a:rPr sz="1200" b="0">
                <a:solidFill>
                  <a:srgbClr val="FFFFFF"/>
                </a:solidFill>
                <a:latin typeface="Arial"/>
                <a:ea typeface="Microsoft YaHei"/>
              </a:rPr>
              <a:t>advice 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41 Going Through the Appraisal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agree to your opinion.</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agree with you.</a:t>
            </a:r>
          </a:p>
          <a:p>
            <a:pPr algn="l">
              <a:spcAft>
                <a:spcPts val="200"/>
              </a:spcAft>
            </a:pPr>
            <a:r>
              <a:rPr sz="1200" b="0">
                <a:solidFill>
                  <a:srgbClr val="FFFFFF"/>
                </a:solidFill>
                <a:latin typeface="Arial"/>
                <a:ea typeface="Microsoft YaHei"/>
              </a:rPr>
              <a:t>agree 动词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promote to manager next year.</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be promoted to manager next year.</a:t>
            </a:r>
          </a:p>
          <a:p>
            <a:pPr algn="l">
              <a:spcAft>
                <a:spcPts val="200"/>
              </a:spcAft>
            </a:pPr>
            <a:r>
              <a:rPr sz="1200" b="0">
                <a:solidFill>
                  <a:srgbClr val="FFFFFF"/>
                </a:solidFill>
                <a:latin typeface="Arial"/>
                <a:ea typeface="Microsoft YaHei"/>
              </a:rPr>
              <a:t>被动语态</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don’t mind about the feedback.</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don’t mind the feedback.</a:t>
            </a:r>
          </a:p>
          <a:p>
            <a:pPr algn="l">
              <a:spcAft>
                <a:spcPts val="200"/>
              </a:spcAft>
            </a:pPr>
            <a:r>
              <a:rPr sz="1200" b="0">
                <a:solidFill>
                  <a:srgbClr val="FFFFFF"/>
                </a:solidFill>
                <a:latin typeface="Arial"/>
                <a:ea typeface="Microsoft YaHei"/>
              </a:rPr>
              <a:t>mind 无介词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noun forms (promotion), uncountable advice and passive voice (be promoted).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41 Going Through the Appraisal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Pay talk: </a:t>
            </a:r>
            <a:r>
              <a:rPr sz="1700" b="0">
                <a:solidFill>
                  <a:srgbClr val="1F2A44"/>
                </a:solidFill>
                <a:latin typeface="Arial"/>
                <a:ea typeface="Microsoft YaHei"/>
              </a:rPr>
              <a:t>In the UK/US, salary is a private topic. Ask for a meeting rather than raising pay casually.</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Evidence: </a:t>
            </a:r>
            <a:r>
              <a:rPr sz="1700" b="0">
                <a:solidFill>
                  <a:srgbClr val="1F2A44"/>
                </a:solidFill>
                <a:latin typeface="Arial"/>
                <a:ea typeface="Microsoft YaHei"/>
              </a:rPr>
              <a:t>Managers are more persuaded by specific results than by general statements (“I work hard”).</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1">
                <a:solidFill>
                  <a:srgbClr val="3CC49A"/>
                </a:solidFill>
                <a:latin typeface="Arial"/>
                <a:ea typeface="Microsoft YaHei"/>
              </a:rPr>
              <a:t>Timing: </a:t>
            </a:r>
            <a:r>
              <a:rPr sz="1700" b="0">
                <a:solidFill>
                  <a:srgbClr val="1F2A44"/>
                </a:solidFill>
                <a:latin typeface="Arial"/>
                <a:ea typeface="Microsoft YaHei"/>
              </a:rPr>
              <a:t>Ask for a raise after a success or before budgets are set, not during a crisis.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advice 不可数。promotion(名词)/ promote(动词),被晋升用 be promoted。ask for + 名词:ask for a pay rise。agree 是动词。</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41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41 Going Through the Appraisal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respond to feedback constructively.</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prepare evidence of achievements.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for a pay rise or development politely.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passive voice (be promoted) and uncountable advice correctly.</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41 Going Through the Appraisal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noun/verb forms (promotion / promote), passive voice, and uncountable advice.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5 · Lesson 42 How Should Management Be Structured?</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115</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42</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4100" b="1">
                <a:solidFill>
                  <a:srgbClr val="FFFFFF"/>
                </a:solidFill>
                <a:latin typeface="Arial"/>
                <a:ea typeface="Microsoft YaHei"/>
              </a:rPr>
              <a:t>How Should Management Be Structured?</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管理层应该如何构建?</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organisational structures: hierarchical vs flat, spans of control, decision-making and reporting lines.</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42 How Should Management Be Structured?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does the organisation chart of your company look like?</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prefer a flat structure or a traditional hierarchy?</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many people report to your manager?</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Who makes the important decisions in your team?</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problems of having too many layers of management?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hierarchy = 层级;flat structure = 扁平结构;reporting line = 汇报关系。”report to” 介词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42 How Should Management Be Structured?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Compare a hierarchical and a flat structure.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describe each</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pros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cons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your preference</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In a hierarchical structure…   💬 On the plus side… / On the downside…   💬 I’d lean towards…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on the plus side / downside 是列优缺点的好用表达。lean towards = 倾向于。</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Boxes and Lines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130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42 How Should Management Be Structured?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Every organisation has a structure, even if nobody has drawn it. In a traditional hierarchy, authority passes down through layers of managers; decisions are clear but can be slow, and information may be lost on the way. In a flat structure there are fewer layers, so employees have more freedom and faster communication, though managers may be responsible for large teams and roles can become unclear. Some firms use matrix structures, where people report to a functional boss and a project leader at the same time. This helps cooperation but can cause conflicting priorities. There is no perfect design. The best structure usually depends on the size of the company, the speed of its market and the culture it wants. What matters most is that everyone knows who decides what.</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42 How Should Management Be Structured?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is the main weakness of a traditional hierarchy?</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Decisions can be slow and information may be lost between layers.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a matrix structure?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One where people report to a functional boss and a project leader at once.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matters most, according to the passage?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That everyone knows who decides what.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Organisational structure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42 How Should Management Be Structured?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组织结构</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hierarchy</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等级制度</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company has a rigid hierarchy.”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flat structure</a:t>
            </a:r>
          </a:p>
          <a:p>
            <a:pPr algn="l">
              <a:lnSpc>
                <a:spcPct val="115000"/>
              </a:lnSpc>
              <a:spcAft>
                <a:spcPts val="800"/>
              </a:spcAft>
            </a:pPr>
            <a:r>
              <a:rPr sz="1300" b="0">
                <a:solidFill>
                  <a:srgbClr val="5F677A"/>
                </a:solidFill>
                <a:latin typeface="Arial"/>
                <a:ea typeface="Microsoft YaHei"/>
              </a:rPr>
              <a:t>noun 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扁平结构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flat structure with few levels.”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reporting line</a:t>
            </a:r>
          </a:p>
          <a:p>
            <a:pPr algn="l">
              <a:lnSpc>
                <a:spcPct val="115000"/>
              </a:lnSpc>
              <a:spcAft>
                <a:spcPts val="800"/>
              </a:spcAft>
            </a:pPr>
            <a:r>
              <a:rPr sz="1300" b="0">
                <a:solidFill>
                  <a:srgbClr val="5F677A"/>
                </a:solidFill>
                <a:latin typeface="Arial"/>
                <a:ea typeface="Microsoft YaHei"/>
              </a:rPr>
              <a:t>noun 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汇报关系</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reporting line is clear.”</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span of control</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管理幅度</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manager’s span of control is eight people.”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department / division</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部门</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finance division is on the fifth floor.”</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delegate</a:t>
            </a:r>
          </a:p>
          <a:p>
            <a:pPr algn="l">
              <a:lnSpc>
                <a:spcPct val="115000"/>
              </a:lnSpc>
              <a:spcAft>
                <a:spcPts val="800"/>
              </a:spcAft>
            </a:pPr>
            <a:r>
              <a:rPr sz="1300" b="0">
                <a:solidFill>
                  <a:srgbClr val="5F677A"/>
                </a:solidFill>
                <a:latin typeface="Arial"/>
                <a:ea typeface="Microsoft YaHei"/>
              </a:rPr>
              <a:t>verb</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授权</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 must delegate more.”</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Authority and decisions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42 How Should Management Be Structured?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权力与决策</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chain of command</a:t>
            </a:r>
          </a:p>
          <a:p>
            <a:pPr algn="l">
              <a:lnSpc>
                <a:spcPct val="115000"/>
              </a:lnSpc>
              <a:spcAft>
                <a:spcPts val="800"/>
              </a:spcAft>
            </a:pPr>
            <a:r>
              <a:rPr sz="1300" b="0">
                <a:solidFill>
                  <a:srgbClr val="5F677A"/>
                </a:solidFill>
                <a:latin typeface="Arial"/>
                <a:ea typeface="Microsoft YaHei"/>
              </a:rPr>
              <a:t>noun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指挥链</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“Follow the chain of command.”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decentralised</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分散的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decentralised structure.”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top-down / bottom-up</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自上而下 / 自下而上</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a top-down culture.”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bottleneck</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瓶颈</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“Approvals are a bottleneck.”</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red tape</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繁文缛节</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 is too much red tape here.”</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empower</a:t>
            </a:r>
          </a:p>
          <a:p>
            <a:pPr algn="l">
              <a:lnSpc>
                <a:spcPct val="115000"/>
              </a:lnSpc>
              <a:spcAft>
                <a:spcPts val="800"/>
              </a:spcAft>
            </a:pPr>
            <a:r>
              <a:rPr sz="1300" b="0">
                <a:solidFill>
                  <a:srgbClr val="5F677A"/>
                </a:solidFill>
                <a:latin typeface="Arial"/>
                <a:ea typeface="Microsoft YaHei"/>
              </a:rPr>
              <a:t>verb</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授权/赋能</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want to empower staff.”</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42 How Should Management Be Structured?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繁文缛节</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red tape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自上而下 / 自下而上</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top-down / bottom-up</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扁平结构</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flat structure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部门</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department / division</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授权</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delegate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分散的</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decentralised</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汇报关系</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reporting line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瓶颈</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bottleneck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42 How Should Management Be Structured?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hierarchy</a:t>
            </a:r>
          </a:p>
        </p:txBody>
      </p:sp>
      <p:sp>
        <p:nvSpPr>
          <p:cNvPr id="10" name="Rounded Rectangle 9"/>
          <p:cNvSpPr/>
          <p:nvPr/>
        </p:nvSpPr>
        <p:spPr>
          <a:xfrm>
            <a:off x="3456432" y="987552"/>
            <a:ext cx="190195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flat structure</a:t>
            </a:r>
          </a:p>
        </p:txBody>
      </p:sp>
      <p:sp>
        <p:nvSpPr>
          <p:cNvPr id="11" name="Rounded Rectangle 10"/>
          <p:cNvSpPr/>
          <p:nvPr/>
        </p:nvSpPr>
        <p:spPr>
          <a:xfrm>
            <a:off x="5449824" y="987552"/>
            <a:ext cx="190195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reporting line</a:t>
            </a:r>
          </a:p>
        </p:txBody>
      </p:sp>
      <p:sp>
        <p:nvSpPr>
          <p:cNvPr id="12" name="Rounded Rectangle 11"/>
          <p:cNvSpPr/>
          <p:nvPr/>
        </p:nvSpPr>
        <p:spPr>
          <a:xfrm>
            <a:off x="7443216"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delegate</a:t>
            </a:r>
          </a:p>
        </p:txBody>
      </p:sp>
      <p:sp>
        <p:nvSpPr>
          <p:cNvPr id="13" name="Rounded Rectangle 12"/>
          <p:cNvSpPr/>
          <p:nvPr/>
        </p:nvSpPr>
        <p:spPr>
          <a:xfrm>
            <a:off x="8778240" y="987552"/>
            <a:ext cx="146304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bottleneck</a:t>
            </a:r>
          </a:p>
        </p:txBody>
      </p:sp>
      <p:sp>
        <p:nvSpPr>
          <p:cNvPr id="14" name="Rounded Rectangle 13"/>
          <p:cNvSpPr/>
          <p:nvPr/>
        </p:nvSpPr>
        <p:spPr>
          <a:xfrm>
            <a:off x="1033272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empower</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The company has a rigid _______ with many levels.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hierarchy</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Start-ups often have a _______ with few levels.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flat structure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Who is your _______? It’s not clear in the chart.</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reporting line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A good manager learns to _______ tasks.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delegate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Approval by one person has become a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bottleneck</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We want to _______ our staff to make decisions.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empower</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hierarchy (not “heirarchy”), subordinate, department. Report to a manager (not “report for”). Make a decision (not “do”), take a decision (UK). In charge of / responsible for.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Role Play · Comparing structures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42 How Should Management Be Structured?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与同事比较组织结构</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company is deciding whether to reorganise. You discuss the options with a colleague.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Ming Yu, department head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Carla Ross, operations manager</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Comparing structures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42 How Should Management Be Structured?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Ming</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Carla, have you seen the proposal to reorganise into a flat structure?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Carla</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 have. What do you make of it?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 the plus side, decisions would be faster, and staff would have more ownership.</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True. On the downside, managers would each have a larger span of control.</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Right. I’m concerned some teams might feel unsupported.</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Also, how would we handle promotions if there are fewer levels?</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Comparing structures with a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42 How Should Management Be Structured?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question. We might need different career paths, such as specialist tracks.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like that. Would the chain of command change?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Slightly. Teams would report to a director, but decisions would be made at team level.</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fewer approvals and less red tape.</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 I’d lean towards trying it in one department first.</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 A pilot would let us test the idea without too much risk.</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Your Turn · Comparing structures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42 How Should Management Be Structured?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compare two structures.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Department head. Preference: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Raise a concern about the preference.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on the plus side · on the downside · span of control · chain of command · red tape · pilot</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Compare pros and cons and agree whether to try the idea.</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Carla says: “Flat structures only work in small companies.” Respond.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your own company’s structure in 45 seconds.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how to reduce red tape.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42 How Should Management Be Structured?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structure do you prefer: hierarchical or flat?</a:t>
            </a:r>
          </a:p>
          <a:p>
            <a:pPr algn="l">
              <a:lnSpc>
                <a:spcPct val="115000"/>
              </a:lnSpc>
              <a:spcAft>
                <a:spcPts val="800"/>
              </a:spcAft>
            </a:pPr>
            <a:r>
              <a:rPr sz="1400" b="0">
                <a:solidFill>
                  <a:srgbClr val="5F677A"/>
                </a:solidFill>
                <a:latin typeface="Arial"/>
                <a:ea typeface="Microsoft YaHei"/>
              </a:rPr>
              <a:t>💬 “I’d prefer a… because… / Personally, I’d lean towards…”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problems can too many managers cause?</a:t>
            </a:r>
          </a:p>
          <a:p>
            <a:pPr algn="l">
              <a:lnSpc>
                <a:spcPct val="115000"/>
              </a:lnSpc>
              <a:spcAft>
                <a:spcPts val="800"/>
              </a:spcAft>
            </a:pPr>
            <a:r>
              <a:rPr sz="1400" b="0">
                <a:solidFill>
                  <a:srgbClr val="5F677A"/>
                </a:solidFill>
                <a:latin typeface="Arial"/>
                <a:ea typeface="Microsoft YaHei"/>
              </a:rPr>
              <a:t>💬 “It can slow down… / People may lose…”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employees help to decide the company’s direction?</a:t>
            </a:r>
          </a:p>
          <a:p>
            <a:pPr algn="l">
              <a:lnSpc>
                <a:spcPct val="115000"/>
              </a:lnSpc>
              <a:spcAft>
                <a:spcPts val="800"/>
              </a:spcAft>
            </a:pPr>
            <a:r>
              <a:rPr sz="1400" b="0">
                <a:solidFill>
                  <a:srgbClr val="5F677A"/>
                </a:solidFill>
                <a:latin typeface="Arial"/>
                <a:ea typeface="Microsoft YaHei"/>
              </a:rPr>
              <a:t>💬 “In my view they should have a say because…”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makes a good organisation chart?</a:t>
            </a:r>
          </a:p>
          <a:p>
            <a:pPr algn="l">
              <a:lnSpc>
                <a:spcPct val="115000"/>
              </a:lnSpc>
              <a:spcAft>
                <a:spcPts val="800"/>
              </a:spcAft>
            </a:pPr>
            <a:r>
              <a:rPr sz="1400" b="0">
                <a:solidFill>
                  <a:srgbClr val="5F677A"/>
                </a:solidFill>
                <a:latin typeface="Arial"/>
                <a:ea typeface="Microsoft YaHei"/>
              </a:rPr>
              <a:t>💬 “It should show… / It should make clear who…”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42 How Should Management Be Structured?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I’d lean towards a flatter structure, because it speeds up communication and gives employees more responsibility. But it needs trust and clear roles, otherwise people can feel lost. A completely flat organisation may also be hard to manage as it grows. So I’d go for a few layers of management, with real authority at team level.</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lean towards = 倾向。 “flatter” 比较级。”feel lost” = 感到迷茫。”at team level” = 在团队层面。</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42 How Should Management Be Structured?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69443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408432">
                <a:tc>
                  <a:txBody>
                    <a:bodyPr wrap="square"/>
                    <a:lstStyle/>
                    <a:p>
                      <a:r>
                        <a:rPr sz="1600" b="1">
                          <a:solidFill>
                            <a:srgbClr val="1F2A44"/>
                          </a:solidFill>
                          <a:latin typeface="Arial"/>
                          <a:ea typeface="Microsoft YaHei"/>
                        </a:rPr>
                        <a:t>Who is your boss?</a:t>
                      </a:r>
                    </a:p>
                  </a:txBody>
                  <a:tcPr anchor="ctr">
                    <a:solidFill>
                      <a:srgbClr val="FFFFFF"/>
                    </a:solidFill>
                  </a:tcPr>
                </a:tc>
                <a:tc>
                  <a:txBody>
                    <a:bodyPr wrap="square"/>
                    <a:lstStyle/>
                    <a:p>
                      <a:r>
                        <a:rPr sz="1600" b="0">
                          <a:solidFill>
                            <a:srgbClr val="1F2A44"/>
                          </a:solidFill>
                          <a:latin typeface="Arial"/>
                          <a:ea typeface="Microsoft YaHei"/>
                        </a:rPr>
                        <a:t>Who do you report to?</a:t>
                      </a:r>
                    </a:p>
                  </a:txBody>
                  <a:tcPr anchor="ctr">
                    <a:solidFill>
                      <a:srgbClr val="FFFFFF"/>
                    </a:solidFill>
                  </a:tcPr>
                </a:tc>
                <a:tc>
                  <a:txBody>
                    <a:bodyPr wrap="square"/>
                    <a:lstStyle/>
                    <a:p>
                      <a:r>
                        <a:rPr sz="1600" b="0">
                          <a:solidFill>
                            <a:srgbClr val="FF6B5B"/>
                          </a:solidFill>
                          <a:latin typeface="Arial"/>
                          <a:ea typeface="Microsoft YaHei"/>
                        </a:rPr>
                        <a:t>专业</a:t>
                      </a:r>
                    </a:p>
                  </a:txBody>
                  <a:tcPr anchor="ctr">
                    <a:solidFill>
                      <a:srgbClr val="FFFFFF"/>
                    </a:solidFill>
                  </a:tcPr>
                </a:tc>
              </a:tr>
              <a:tr h="408432">
                <a:tc>
                  <a:txBody>
                    <a:bodyPr wrap="square"/>
                    <a:lstStyle/>
                    <a:p>
                      <a:r>
                        <a:rPr sz="1600" b="1">
                          <a:solidFill>
                            <a:srgbClr val="1F2A44"/>
                          </a:solidFill>
                          <a:latin typeface="Arial"/>
                          <a:ea typeface="Microsoft YaHei"/>
                        </a:rPr>
                        <a:t>My boss decides everything.</a:t>
                      </a:r>
                    </a:p>
                  </a:txBody>
                  <a:tcPr anchor="ctr">
                    <a:solidFill>
                      <a:srgbClr val="FFEFD9"/>
                    </a:solidFill>
                  </a:tcPr>
                </a:tc>
                <a:tc>
                  <a:txBody>
                    <a:bodyPr wrap="square"/>
                    <a:lstStyle/>
                    <a:p>
                      <a:r>
                        <a:rPr sz="1600" b="0">
                          <a:solidFill>
                            <a:srgbClr val="1F2A44"/>
                          </a:solidFill>
                          <a:latin typeface="Arial"/>
                          <a:ea typeface="Microsoft YaHei"/>
                        </a:rPr>
                        <a:t>Decisions are made at the top.</a:t>
                      </a:r>
                    </a:p>
                  </a:txBody>
                  <a:tcPr anchor="ctr">
                    <a:solidFill>
                      <a:srgbClr val="FFEFD9"/>
                    </a:solidFill>
                  </a:tcPr>
                </a:tc>
                <a:tc>
                  <a:txBody>
                    <a:bodyPr wrap="square"/>
                    <a:lstStyle/>
                    <a:p>
                      <a:r>
                        <a:rPr sz="1600" b="0">
                          <a:solidFill>
                            <a:srgbClr val="FF6B5B"/>
                          </a:solidFill>
                          <a:latin typeface="Arial"/>
                          <a:ea typeface="Microsoft YaHei"/>
                        </a:rPr>
                        <a:t>被动</a:t>
                      </a:r>
                    </a:p>
                  </a:txBody>
                  <a:tcPr anchor="ctr">
                    <a:solidFill>
                      <a:srgbClr val="FFEFD9"/>
                    </a:solidFill>
                  </a:tcPr>
                </a:tc>
              </a:tr>
              <a:tr h="408432">
                <a:tc>
                  <a:txBody>
                    <a:bodyPr wrap="square"/>
                    <a:lstStyle/>
                    <a:p>
                      <a:r>
                        <a:rPr sz="1600" b="1">
                          <a:solidFill>
                            <a:srgbClr val="1F2A44"/>
                          </a:solidFill>
                          <a:latin typeface="Arial"/>
                          <a:ea typeface="Microsoft YaHei"/>
                        </a:rPr>
                        <a:t>Too many managers.</a:t>
                      </a:r>
                    </a:p>
                  </a:txBody>
                  <a:tcPr anchor="ctr">
                    <a:solidFill>
                      <a:srgbClr val="FFFFFF"/>
                    </a:solidFill>
                  </a:tcPr>
                </a:tc>
                <a:tc>
                  <a:txBody>
                    <a:bodyPr wrap="square"/>
                    <a:lstStyle/>
                    <a:p>
                      <a:r>
                        <a:rPr sz="1600" b="0">
                          <a:solidFill>
                            <a:srgbClr val="1F2A44"/>
                          </a:solidFill>
                          <a:latin typeface="Arial"/>
                          <a:ea typeface="Microsoft YaHei"/>
                        </a:rPr>
                        <a:t>The company is top-heavy.</a:t>
                      </a:r>
                    </a:p>
                  </a:txBody>
                  <a:tcPr anchor="ctr">
                    <a:solidFill>
                      <a:srgbClr val="FFFFFF"/>
                    </a:solidFill>
                  </a:tcPr>
                </a:tc>
                <a:tc>
                  <a:txBody>
                    <a:bodyPr wrap="square"/>
                    <a:lstStyle/>
                    <a:p>
                      <a:r>
                        <a:rPr sz="1600" b="0">
                          <a:solidFill>
                            <a:srgbClr val="FF6B5B"/>
                          </a:solidFill>
                          <a:latin typeface="Arial"/>
                          <a:ea typeface="Microsoft YaHei"/>
                        </a:rPr>
                        <a:t>习语</a:t>
                      </a:r>
                    </a:p>
                  </a:txBody>
                  <a:tcPr anchor="ctr">
                    <a:solidFill>
                      <a:srgbClr val="FFFFFF"/>
                    </a:solidFill>
                  </a:tcPr>
                </a:tc>
              </a:tr>
              <a:tr h="408432">
                <a:tc>
                  <a:txBody>
                    <a:bodyPr wrap="square"/>
                    <a:lstStyle/>
                    <a:p>
                      <a:r>
                        <a:rPr sz="1600" b="1">
                          <a:solidFill>
                            <a:srgbClr val="1F2A44"/>
                          </a:solidFill>
                          <a:latin typeface="Arial"/>
                          <a:ea typeface="Microsoft YaHei"/>
                        </a:rPr>
                        <a:t>The system is slow.</a:t>
                      </a:r>
                    </a:p>
                  </a:txBody>
                  <a:tcPr anchor="ctr">
                    <a:solidFill>
                      <a:srgbClr val="FFEFD9"/>
                    </a:solidFill>
                  </a:tcPr>
                </a:tc>
                <a:tc>
                  <a:txBody>
                    <a:bodyPr wrap="square"/>
                    <a:lstStyle/>
                    <a:p>
                      <a:r>
                        <a:rPr sz="1600" b="0">
                          <a:solidFill>
                            <a:srgbClr val="1F2A44"/>
                          </a:solidFill>
                          <a:latin typeface="Arial"/>
                          <a:ea typeface="Microsoft YaHei"/>
                        </a:rPr>
                        <a:t>There’s a lot of red tape.</a:t>
                      </a:r>
                    </a:p>
                  </a:txBody>
                  <a:tcPr anchor="ctr">
                    <a:solidFill>
                      <a:srgbClr val="FFEFD9"/>
                    </a:solidFill>
                  </a:tcPr>
                </a:tc>
                <a:tc>
                  <a:txBody>
                    <a:bodyPr wrap="square"/>
                    <a:lstStyle/>
                    <a:p>
                      <a:r>
                        <a:rPr sz="1600" b="0">
                          <a:solidFill>
                            <a:srgbClr val="FF6B5B"/>
                          </a:solidFill>
                          <a:latin typeface="Arial"/>
                          <a:ea typeface="Microsoft YaHei"/>
                        </a:rPr>
                        <a:t>习语</a:t>
                      </a:r>
                    </a:p>
                  </a:txBody>
                  <a:tcPr anchor="ctr">
                    <a:solidFill>
                      <a:srgbClr val="FFEFD9"/>
                    </a:solidFill>
                  </a:tcPr>
                </a:tc>
              </a:tr>
              <a:tr h="652272">
                <a:tc>
                  <a:txBody>
                    <a:bodyPr wrap="square"/>
                    <a:lstStyle/>
                    <a:p>
                      <a:r>
                        <a:rPr sz="1600" b="1">
                          <a:solidFill>
                            <a:srgbClr val="1F2A44"/>
                          </a:solidFill>
                          <a:latin typeface="Arial"/>
                          <a:ea typeface="Microsoft YaHei"/>
                        </a:rPr>
                        <a:t>I have power.</a:t>
                      </a:r>
                    </a:p>
                  </a:txBody>
                  <a:tcPr anchor="ctr">
                    <a:solidFill>
                      <a:srgbClr val="FFFFFF"/>
                    </a:solidFill>
                  </a:tcPr>
                </a:tc>
                <a:tc>
                  <a:txBody>
                    <a:bodyPr wrap="square"/>
                    <a:lstStyle/>
                    <a:p>
                      <a:r>
                        <a:rPr sz="1600" b="0">
                          <a:solidFill>
                            <a:srgbClr val="1F2A44"/>
                          </a:solidFill>
                          <a:latin typeface="Arial"/>
                          <a:ea typeface="Microsoft YaHei"/>
                        </a:rPr>
                        <a:t>I have the authority to approve budgets up to £5,000.</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bl>
          </a:graphicData>
        </a:graphic>
      </p:graphicFrame>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42 How Should Management Be Structured?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Report to / report on: </a:t>
            </a:r>
            <a:r>
              <a:rPr sz="1700" b="0">
                <a:solidFill>
                  <a:srgbClr val="1F2A44"/>
                </a:solidFill>
                <a:latin typeface="Arial"/>
                <a:ea typeface="Microsoft YaHei"/>
              </a:rPr>
              <a:t>“I report to the Director” (hierarchy) vs “I report on sales” (inform).</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Passive voice: </a:t>
            </a:r>
            <a:r>
              <a:rPr sz="1700" b="0">
                <a:solidFill>
                  <a:srgbClr val="1F2A44"/>
                </a:solidFill>
                <a:latin typeface="Arial"/>
                <a:ea typeface="Microsoft YaHei"/>
              </a:rPr>
              <a:t>“Decisions are made quickly in flat organisations.” (focus on action)</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Pros and cons phrases: </a:t>
            </a:r>
            <a:r>
              <a:rPr sz="1700" b="0">
                <a:solidFill>
                  <a:srgbClr val="1F2A44"/>
                </a:solidFill>
                <a:latin typeface="Arial"/>
                <a:ea typeface="Microsoft YaHei"/>
              </a:rPr>
              <a:t>on the one hand, on the other hand, on the plus side, on the downside.</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Comparative structures: </a:t>
            </a:r>
            <a:r>
              <a:rPr sz="1700" b="0">
                <a:solidFill>
                  <a:srgbClr val="1F2A44"/>
                </a:solidFill>
                <a:latin typeface="Arial"/>
                <a:ea typeface="Microsoft YaHei"/>
              </a:rPr>
              <a:t>The flatter the structure, the faster the decisions.</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42 How Should Management Be Structured?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report my manager.</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report to my manager.</a:t>
            </a:r>
          </a:p>
          <a:p>
            <a:pPr algn="l">
              <a:spcAft>
                <a:spcPts val="200"/>
              </a:spcAft>
            </a:pPr>
            <a:r>
              <a:rPr sz="1200" b="0">
                <a:solidFill>
                  <a:srgbClr val="FFFFFF"/>
                </a:solidFill>
                <a:latin typeface="Arial"/>
                <a:ea typeface="Microsoft YaHei"/>
              </a:rPr>
              <a:t>report to</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company is consisted of five departments.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company consists of five departments.</a:t>
            </a:r>
          </a:p>
          <a:p>
            <a:pPr algn="l">
              <a:spcAft>
                <a:spcPts val="200"/>
              </a:spcAft>
            </a:pPr>
            <a:r>
              <a:rPr sz="1200" b="0">
                <a:solidFill>
                  <a:srgbClr val="FFFFFF"/>
                </a:solidFill>
                <a:latin typeface="Arial"/>
                <a:ea typeface="Microsoft YaHei"/>
              </a:rPr>
              <a:t>consist of 不用被动</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There is five levels.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There are five levels.</a:t>
            </a:r>
          </a:p>
          <a:p>
            <a:pPr algn="l">
              <a:spcAft>
                <a:spcPts val="200"/>
              </a:spcAft>
            </a:pPr>
            <a:r>
              <a:rPr sz="1200" b="0">
                <a:solidFill>
                  <a:srgbClr val="FFFFFF"/>
                </a:solidFill>
                <a:latin typeface="Arial"/>
                <a:ea typeface="Microsoft YaHei"/>
              </a:rPr>
              <a:t>复数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42 How Should Management Be Structured?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discuss about the reorganisation.</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are discussing the reorganisation.</a:t>
            </a:r>
          </a:p>
          <a:p>
            <a:pPr algn="l">
              <a:spcAft>
                <a:spcPts val="200"/>
              </a:spcAft>
            </a:pPr>
            <a:r>
              <a:rPr sz="1200" b="0">
                <a:solidFill>
                  <a:srgbClr val="FFFFFF"/>
                </a:solidFill>
                <a:latin typeface="Arial"/>
                <a:ea typeface="Microsoft YaHei"/>
              </a:rPr>
              <a:t>discuss 无介词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has the right of decision.</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has the authority to decide.</a:t>
            </a:r>
          </a:p>
          <a:p>
            <a:pPr algn="l">
              <a:spcAft>
                <a:spcPts val="200"/>
              </a:spcAft>
            </a:pPr>
            <a:r>
              <a:rPr sz="1200" b="0">
                <a:solidFill>
                  <a:srgbClr val="FFFFFF"/>
                </a:solidFill>
                <a:latin typeface="Arial"/>
                <a:ea typeface="Microsoft YaHei"/>
              </a:rPr>
              <a:t>搭配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Make a decision is difficult.</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Making a decision is difficult.</a:t>
            </a:r>
          </a:p>
          <a:p>
            <a:pPr algn="l">
              <a:spcAft>
                <a:spcPts val="200"/>
              </a:spcAft>
            </a:pPr>
            <a:r>
              <a:rPr sz="1200" b="0">
                <a:solidFill>
                  <a:srgbClr val="FFFFFF"/>
                </a:solidFill>
                <a:latin typeface="Arial"/>
                <a:ea typeface="Microsoft YaHei"/>
              </a:rPr>
              <a:t>动名词主语</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report to, consist of, subject-verb agreement and gerund subjects.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42 How Should Management Be Structured?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Titles: </a:t>
            </a:r>
            <a:r>
              <a:rPr sz="1700" b="0">
                <a:solidFill>
                  <a:srgbClr val="1F2A44"/>
                </a:solidFill>
                <a:latin typeface="Arial"/>
                <a:ea typeface="Microsoft YaHei"/>
              </a:rPr>
              <a:t>Titles may differ: “Head of”, “Director”, “VP”. Hierarchy varies in meaning between countries.</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Flat doesn’t mean equal: </a:t>
            </a:r>
            <a:r>
              <a:rPr sz="1700" b="0">
                <a:solidFill>
                  <a:srgbClr val="1F2A44"/>
                </a:solidFill>
                <a:latin typeface="Arial"/>
                <a:ea typeface="Microsoft YaHei"/>
              </a:rPr>
              <a:t>Even in flat organisations decisions rest with specific people.</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Matrix confusion: </a:t>
            </a:r>
            <a:r>
              <a:rPr sz="1700" b="0">
                <a:solidFill>
                  <a:srgbClr val="1F2A44"/>
                </a:solidFill>
                <a:latin typeface="Arial"/>
                <a:ea typeface="Microsoft YaHei"/>
              </a:rPr>
              <a:t>Two bosses can create confusion. Clarify priorities with both.</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report to 表示向谁汇报。consist of 不能用被动。动名词作主语:Making a decision is difficult。There are + 复数。</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42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42 How Should Management Be Structured?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an organisation’s structure.</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compare structures using pros and cons language.</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report to and consist of correctly.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the comparative the flatter… the faster….</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42 How Should Management Be Structured?</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report to, consist of (no passive), and gerund subjects.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5 · Lesson 43 Effective Management</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137</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43</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Effective Management</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有效管理</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what effective managers do: setting direction, delegating, motivating, giving feedback and managing time and priorities.</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43 Effective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Who is the best manager you have worked for? What made them good?</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the biggest challenge for a new manager?</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motivate people who are not enthusiastic?</a:t>
            </a:r>
          </a:p>
        </p:txBody>
      </p:sp>
      <p:sp>
        <p:nvSpPr>
          <p:cNvPr id="18" name="Oval 17"/>
          <p:cNvSpPr/>
          <p:nvPr/>
        </p:nvSpPr>
        <p:spPr>
          <a:xfrm>
            <a:off x="548640" y="389534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much should a manager control, and how much should they trust?</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a manager balance results with people’s needs?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 题注意 “worked for” 介词。micro-manage = 事无巨细地管。trust 与 control 的平衡是常见话题。</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43 Effective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how you would delegate a task effectively.</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explain the task</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why them</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resources and deadline</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check-in</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I’d like you to take charge of…   💬 The reason I’m asking you is…   💬 Let’s touch base on…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take charge of = 负责。touch base = 保持联系、简短碰头。委派时说明原因,体现信任。</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Reading · Managing Without Micromanaging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128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43 Effective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Many people become managers because they were excellent at their previous jobs, and then discover that management is different. A manager’s job is no longer to do the work but to enable others to do it well. Effective managers set clear goals and explain why they matter. They delegate real responsibility, not just routine tasks, and then resist the temptation to hover. They give regular feedback, praising what works and addressing what doesn’t, and they protect their team from unnecessary distractions. They also manage their own time, because a manager who is always in crisis mode cannot support anyone. The most common mistake is micromanaging, which signals a lack of trust and drains motivation. Better to check progress at agreed points and keep the door open for questions.</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43 Effective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How does a manager’s job differ from the previous job?</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It is to enable others to do the work well, not to do it themselves.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do effective managers do?</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Set clear goals, delegate real responsibility, give regular feedback and protect the team.</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is the most common mistake?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Micromanaging, which signals a lack of trust and drains motivation.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Core management skills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43 Effective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核心管理技能</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delegate</a:t>
            </a:r>
          </a:p>
          <a:p>
            <a:pPr algn="l">
              <a:lnSpc>
                <a:spcPct val="115000"/>
              </a:lnSpc>
              <a:spcAft>
                <a:spcPts val="800"/>
              </a:spcAft>
            </a:pPr>
            <a:r>
              <a:rPr sz="1300" b="0">
                <a:solidFill>
                  <a:srgbClr val="5F677A"/>
                </a:solidFill>
                <a:latin typeface="Arial"/>
                <a:ea typeface="Microsoft YaHei"/>
              </a:rPr>
              <a:t>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委派</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delegate routine tasks.”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deadline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截止日期</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must meet the deadline.”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prioritise</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确定优先级</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“Prioritise urgent tasks.”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motivate</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激励</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“How do you motivate your team?”</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accountability</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问责</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“Accountability is clear in our team.”</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workload</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工作量</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workload is heavy.”</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Leading day to day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43 Effective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日常带队</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micromanage</a:t>
            </a:r>
          </a:p>
          <a:p>
            <a:pPr algn="l">
              <a:lnSpc>
                <a:spcPct val="115000"/>
              </a:lnSpc>
              <a:spcAft>
                <a:spcPts val="800"/>
              </a:spcAft>
            </a:pPr>
            <a:r>
              <a:rPr sz="1300" b="0">
                <a:solidFill>
                  <a:srgbClr val="5F677A"/>
                </a:solidFill>
                <a:latin typeface="Arial"/>
                <a:ea typeface="Microsoft YaHei"/>
              </a:rPr>
              <a:t>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事无巨细地管</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micromanage; trust your team.”</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ownership</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主动担责</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“Take ownership of your tasks.”</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keep (someone) in the loop</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让某人知情</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keep me in the loop.”</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touch base</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保持联系</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touch base on Friday.”</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lead by example</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以身作则</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“Good managers lead by example.”</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support</a:t>
            </a:r>
          </a:p>
          <a:p>
            <a:pPr algn="l">
              <a:lnSpc>
                <a:spcPct val="115000"/>
              </a:lnSpc>
              <a:spcAft>
                <a:spcPts val="800"/>
              </a:spcAft>
            </a:pPr>
            <a:r>
              <a:rPr sz="1300" b="0">
                <a:solidFill>
                  <a:srgbClr val="5F677A"/>
                </a:solidFill>
                <a:latin typeface="Arial"/>
                <a:ea typeface="Microsoft YaHei"/>
              </a:rPr>
              <a:t>verb / noun</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支持</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make sure to support my team.”</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43 Effective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主动担责</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ownership</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激励</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motivate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保持联系</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touch base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委派</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delegate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工作量</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workload</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以身作则</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lead by example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问责</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accountability</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让某人知情</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keep (someone) in the loop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43 Effective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delegate</a:t>
            </a:r>
          </a:p>
        </p:txBody>
      </p:sp>
      <p:sp>
        <p:nvSpPr>
          <p:cNvPr id="10" name="Rounded Rectangle 9"/>
          <p:cNvSpPr/>
          <p:nvPr/>
        </p:nvSpPr>
        <p:spPr>
          <a:xfrm>
            <a:off x="3346704" y="987552"/>
            <a:ext cx="146304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prioritise</a:t>
            </a:r>
          </a:p>
        </p:txBody>
      </p:sp>
      <p:sp>
        <p:nvSpPr>
          <p:cNvPr id="11" name="Rounded Rectangle 10"/>
          <p:cNvSpPr/>
          <p:nvPr/>
        </p:nvSpPr>
        <p:spPr>
          <a:xfrm>
            <a:off x="4901184"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motivate</a:t>
            </a:r>
          </a:p>
        </p:txBody>
      </p:sp>
      <p:sp>
        <p:nvSpPr>
          <p:cNvPr id="12" name="Rounded Rectangle 11"/>
          <p:cNvSpPr/>
          <p:nvPr/>
        </p:nvSpPr>
        <p:spPr>
          <a:xfrm>
            <a:off x="6236208" y="987552"/>
            <a:ext cx="190195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accountability</a:t>
            </a:r>
          </a:p>
        </p:txBody>
      </p:sp>
      <p:sp>
        <p:nvSpPr>
          <p:cNvPr id="13" name="Rounded Rectangle 12"/>
          <p:cNvSpPr/>
          <p:nvPr/>
        </p:nvSpPr>
        <p:spPr>
          <a:xfrm>
            <a:off x="8229600" y="987552"/>
            <a:ext cx="1572767"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micromanage</a:t>
            </a:r>
          </a:p>
        </p:txBody>
      </p:sp>
      <p:sp>
        <p:nvSpPr>
          <p:cNvPr id="14" name="Rounded Rectangle 13"/>
          <p:cNvSpPr/>
          <p:nvPr/>
        </p:nvSpPr>
        <p:spPr>
          <a:xfrm>
            <a:off x="9893807"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 the loop</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A good manager learns to _______ rather than do everything.</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delegate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You need to _______ urgent tasks first.</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prioritise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How do you _______ people during a difficult period?</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motivate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Clear _______ means everybody knows who is responsible.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accountability</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Trust your staff, and don’t _______ them.</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micromanage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Please keep me _______ on any changes.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 the loop</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delegate (verb /ˈdelɪɡeɪt/ vs noun /ˈdelɪɡət/), responsibility (not “responsability”), schedule. Delegate a task to sb. Be responsible for. Meet a deadline (not “catch”). Manage a team (not “manage to a team”).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Delegating a task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43 Effective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委派任务</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are a team leader delegating the organisation of a client event to a team member.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Rachel Tang, team leader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Dev Patel, team member</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Dialogue · Delegating a task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43 Effective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Rachel</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Dev, do you have a few minutes? I’d like to ask you to take charge of the client event on 12 November.</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Dev</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What does it involve?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Venue, catering, invitations and a short programme. The budget is five thousand pounds.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big job. Why me?</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Because you organised the training day so well, and I’d like you to develop more in this area.</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I’d be glad to. When do you need the plan?</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Delegating a task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43 Effective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Could you have a draft by next Friday? We can touch base on Monday to see how it’s going.</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Sounds good. Can I make decisions on the supplier without checking each time?</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up to the budget. Just keep me in the loop on anything unusual.</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Understood. What if I need extra resources?</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Tell me early, and we’ll see what we can do. I trust you with this.</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Rachel. I’ll start today.</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Delegating a task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43 Effective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delegate an important task.</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leader. Task: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 Ask about the scope, budget and support.</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take charge of · why you · deadline · touch base · keep me in the loop · trust you</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the task, why you chose them, set limits and agree a check-in.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Dev says he’s too busy. Negotiate a solution.</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Dev makes a mistake. Give supportive feedback.</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are Dev. Ask for more authority on one decision.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43 Effective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qualities of an effective manager?</a:t>
            </a:r>
          </a:p>
          <a:p>
            <a:pPr algn="l">
              <a:lnSpc>
                <a:spcPct val="115000"/>
              </a:lnSpc>
              <a:spcAft>
                <a:spcPts val="800"/>
              </a:spcAft>
            </a:pPr>
            <a:r>
              <a:rPr sz="1400" b="0">
                <a:solidFill>
                  <a:srgbClr val="5F677A"/>
                </a:solidFill>
                <a:latin typeface="Arial"/>
                <a:ea typeface="Microsoft YaHei"/>
              </a:rPr>
              <a:t>💬 “In my opinion… / The most important quality is…”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difference between a leader and a manager?</a:t>
            </a:r>
          </a:p>
          <a:p>
            <a:pPr algn="l">
              <a:lnSpc>
                <a:spcPct val="115000"/>
              </a:lnSpc>
              <a:spcAft>
                <a:spcPts val="800"/>
              </a:spcAft>
            </a:pPr>
            <a:r>
              <a:rPr sz="1400" b="0">
                <a:solidFill>
                  <a:srgbClr val="5F677A"/>
                </a:solidFill>
                <a:latin typeface="Arial"/>
                <a:ea typeface="Microsoft YaHei"/>
              </a:rPr>
              <a:t>💬 “A manager… whereas a leader…”</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some managers find it hard to delegate?</a:t>
            </a:r>
          </a:p>
          <a:p>
            <a:pPr algn="l">
              <a:lnSpc>
                <a:spcPct val="115000"/>
              </a:lnSpc>
              <a:spcAft>
                <a:spcPts val="800"/>
              </a:spcAft>
            </a:pPr>
            <a:r>
              <a:rPr sz="1400" b="0">
                <a:solidFill>
                  <a:srgbClr val="5F677A"/>
                </a:solidFill>
                <a:latin typeface="Arial"/>
                <a:ea typeface="Microsoft YaHei"/>
              </a:rPr>
              <a:t>💬 “They may fear… / It can feel quicker to…”</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handle a team member who is underperforming?</a:t>
            </a:r>
          </a:p>
          <a:p>
            <a:pPr algn="l">
              <a:lnSpc>
                <a:spcPct val="115000"/>
              </a:lnSpc>
              <a:spcAft>
                <a:spcPts val="800"/>
              </a:spcAft>
            </a:pPr>
            <a:r>
              <a:rPr sz="1400" b="0">
                <a:solidFill>
                  <a:srgbClr val="5F677A"/>
                </a:solidFill>
                <a:latin typeface="Arial"/>
                <a:ea typeface="Microsoft YaHei"/>
              </a:rPr>
              <a:t>💬 “I’d start by… / The first step would be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43 Effective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Some managers find it hard to delegate because they believe they can do the task faster or better themselves. Others fear losing control, or they worry that mistakes will reflect on them. But the cost is high: they become a bottleneck and their team stops growing. I think managers should see delegation as an investment: it takes extra time in the short term, but it develops people and frees the manager to focus on bigger issues.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reflect on = 影响……名声。”frees… to focus on” = 使……腾出精力。 investment = 投资。 in the short term = 短期内。</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43 Effective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You do this.</a:t>
                      </a:r>
                    </a:p>
                  </a:txBody>
                  <a:tcPr anchor="ctr">
                    <a:solidFill>
                      <a:srgbClr val="FFFFFF"/>
                    </a:solidFill>
                  </a:tcPr>
                </a:tc>
                <a:tc>
                  <a:txBody>
                    <a:bodyPr wrap="square"/>
                    <a:lstStyle/>
                    <a:p>
                      <a:r>
                        <a:rPr sz="1600" b="0">
                          <a:solidFill>
                            <a:srgbClr val="1F2A44"/>
                          </a:solidFill>
                          <a:latin typeface="Arial"/>
                          <a:ea typeface="Microsoft YaHei"/>
                        </a:rPr>
                        <a:t>I’d like you to take charge of this.</a:t>
                      </a:r>
                    </a:p>
                  </a:txBody>
                  <a:tcPr anchor="ctr">
                    <a:solidFill>
                      <a:srgbClr val="FFFFFF"/>
                    </a:solidFill>
                  </a:tcPr>
                </a:tc>
                <a:tc>
                  <a:txBody>
                    <a:bodyPr wrap="square"/>
                    <a:lstStyle/>
                    <a:p>
                      <a:r>
                        <a:rPr sz="1600" b="0">
                          <a:solidFill>
                            <a:srgbClr val="FF6B5B"/>
                          </a:solidFill>
                          <a:latin typeface="Arial"/>
                          <a:ea typeface="Microsoft YaHei"/>
                        </a:rPr>
                        <a:t>礼貌授权</a:t>
                      </a:r>
                    </a:p>
                  </a:txBody>
                  <a:tcPr anchor="ctr">
                    <a:solidFill>
                      <a:srgbClr val="FFFFFF"/>
                    </a:solidFill>
                  </a:tcPr>
                </a:tc>
              </a:tr>
              <a:tr h="408432">
                <a:tc>
                  <a:txBody>
                    <a:bodyPr wrap="square"/>
                    <a:lstStyle/>
                    <a:p>
                      <a:r>
                        <a:rPr sz="1600" b="1">
                          <a:solidFill>
                            <a:srgbClr val="1F2A44"/>
                          </a:solidFill>
                          <a:latin typeface="Arial"/>
                          <a:ea typeface="Microsoft YaHei"/>
                        </a:rPr>
                        <a:t>Tell me everything.</a:t>
                      </a:r>
                    </a:p>
                  </a:txBody>
                  <a:tcPr anchor="ctr">
                    <a:solidFill>
                      <a:srgbClr val="FFEFD9"/>
                    </a:solidFill>
                  </a:tcPr>
                </a:tc>
                <a:tc>
                  <a:txBody>
                    <a:bodyPr wrap="square"/>
                    <a:lstStyle/>
                    <a:p>
                      <a:r>
                        <a:rPr sz="1600" b="0">
                          <a:solidFill>
                            <a:srgbClr val="1F2A44"/>
                          </a:solidFill>
                          <a:latin typeface="Arial"/>
                          <a:ea typeface="Microsoft YaHei"/>
                        </a:rPr>
                        <a:t>Please keep me in the loop.</a:t>
                      </a:r>
                    </a:p>
                  </a:txBody>
                  <a:tcPr anchor="ctr">
                    <a:solidFill>
                      <a:srgbClr val="FFEFD9"/>
                    </a:solidFill>
                  </a:tcPr>
                </a:tc>
                <a:tc>
                  <a:txBody>
                    <a:bodyPr wrap="square"/>
                    <a:lstStyle/>
                    <a:p>
                      <a:r>
                        <a:rPr sz="1600" b="0">
                          <a:solidFill>
                            <a:srgbClr val="FF6B5B"/>
                          </a:solidFill>
                          <a:latin typeface="Arial"/>
                          <a:ea typeface="Microsoft YaHei"/>
                        </a:rPr>
                        <a:t>让我知情</a:t>
                      </a:r>
                    </a:p>
                  </a:txBody>
                  <a:tcPr anchor="ctr">
                    <a:solidFill>
                      <a:srgbClr val="FFEFD9"/>
                    </a:solidFill>
                  </a:tcPr>
                </a:tc>
              </a:tr>
              <a:tr h="652272">
                <a:tc>
                  <a:txBody>
                    <a:bodyPr wrap="square"/>
                    <a:lstStyle/>
                    <a:p>
                      <a:r>
                        <a:rPr sz="1600" b="1">
                          <a:solidFill>
                            <a:srgbClr val="1F2A44"/>
                          </a:solidFill>
                          <a:latin typeface="Arial"/>
                          <a:ea typeface="Microsoft YaHei"/>
                        </a:rPr>
                        <a:t>Do it fast.</a:t>
                      </a:r>
                    </a:p>
                  </a:txBody>
                  <a:tcPr anchor="ctr">
                    <a:solidFill>
                      <a:srgbClr val="FFFFFF"/>
                    </a:solidFill>
                  </a:tcPr>
                </a:tc>
                <a:tc>
                  <a:txBody>
                    <a:bodyPr wrap="square"/>
                    <a:lstStyle/>
                    <a:p>
                      <a:r>
                        <a:rPr sz="1600" b="0">
                          <a:solidFill>
                            <a:srgbClr val="1F2A44"/>
                          </a:solidFill>
                          <a:latin typeface="Arial"/>
                          <a:ea typeface="Microsoft YaHei"/>
                        </a:rPr>
                        <a:t>Could you have it ready by Friday?</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r h="652272">
                <a:tc>
                  <a:txBody>
                    <a:bodyPr wrap="square"/>
                    <a:lstStyle/>
                    <a:p>
                      <a:r>
                        <a:rPr sz="1600" b="1">
                          <a:solidFill>
                            <a:srgbClr val="1F2A44"/>
                          </a:solidFill>
                          <a:latin typeface="Arial"/>
                          <a:ea typeface="Microsoft YaHei"/>
                        </a:rPr>
                        <a:t>I trust you.</a:t>
                      </a:r>
                    </a:p>
                  </a:txBody>
                  <a:tcPr anchor="ctr">
                    <a:solidFill>
                      <a:srgbClr val="FFEFD9"/>
                    </a:solidFill>
                  </a:tcPr>
                </a:tc>
                <a:tc>
                  <a:txBody>
                    <a:bodyPr wrap="square"/>
                    <a:lstStyle/>
                    <a:p>
                      <a:r>
                        <a:rPr sz="1600" b="0">
                          <a:solidFill>
                            <a:srgbClr val="1F2A44"/>
                          </a:solidFill>
                          <a:latin typeface="Arial"/>
                          <a:ea typeface="Microsoft YaHei"/>
                        </a:rPr>
                        <a:t>I’m confident you can handle this.</a:t>
                      </a:r>
                    </a:p>
                  </a:txBody>
                  <a:tcPr anchor="ctr">
                    <a:solidFill>
                      <a:srgbClr val="FFEFD9"/>
                    </a:solidFill>
                  </a:tcPr>
                </a:tc>
                <a:tc>
                  <a:txBody>
                    <a:bodyPr wrap="square"/>
                    <a:lstStyle/>
                    <a:p>
                      <a:r>
                        <a:rPr sz="1600" b="0">
                          <a:solidFill>
                            <a:srgbClr val="FF6B5B"/>
                          </a:solidFill>
                          <a:latin typeface="Arial"/>
                          <a:ea typeface="Microsoft YaHei"/>
                        </a:rPr>
                        <a:t>肯定</a:t>
                      </a:r>
                    </a:p>
                  </a:txBody>
                  <a:tcPr anchor="ctr">
                    <a:solidFill>
                      <a:srgbClr val="FFEFD9"/>
                    </a:solidFill>
                  </a:tcPr>
                </a:tc>
              </a:tr>
              <a:tr h="408432">
                <a:tc>
                  <a:txBody>
                    <a:bodyPr wrap="square"/>
                    <a:lstStyle/>
                    <a:p>
                      <a:r>
                        <a:rPr sz="1600" b="1">
                          <a:solidFill>
                            <a:srgbClr val="1F2A44"/>
                          </a:solidFill>
                          <a:latin typeface="Arial"/>
                          <a:ea typeface="Microsoft YaHei"/>
                        </a:rPr>
                        <a:t>Report to me.</a:t>
                      </a:r>
                    </a:p>
                  </a:txBody>
                  <a:tcPr anchor="ctr">
                    <a:solidFill>
                      <a:srgbClr val="FFFFFF"/>
                    </a:solidFill>
                  </a:tcPr>
                </a:tc>
                <a:tc>
                  <a:txBody>
                    <a:bodyPr wrap="square"/>
                    <a:lstStyle/>
                    <a:p>
                      <a:r>
                        <a:rPr sz="1600" b="0">
                          <a:solidFill>
                            <a:srgbClr val="1F2A44"/>
                          </a:solidFill>
                          <a:latin typeface="Arial"/>
                          <a:ea typeface="Microsoft YaHei"/>
                        </a:rPr>
                        <a:t>Let’s touch base on Monday.</a:t>
                      </a:r>
                    </a:p>
                  </a:txBody>
                  <a:tcPr anchor="ctr">
                    <a:solidFill>
                      <a:srgbClr val="FFFFFF"/>
                    </a:solidFill>
                  </a:tcPr>
                </a:tc>
                <a:tc>
                  <a:txBody>
                    <a:bodyPr wrap="square"/>
                    <a:lstStyle/>
                    <a:p>
                      <a:r>
                        <a:rPr sz="1600" b="0">
                          <a:solidFill>
                            <a:srgbClr val="FF6B5B"/>
                          </a:solidFill>
                          <a:latin typeface="Arial"/>
                          <a:ea typeface="Microsoft YaHei"/>
                        </a:rPr>
                        <a:t>友好</a:t>
                      </a:r>
                    </a:p>
                  </a:txBody>
                  <a:tcPr anchor="ctr">
                    <a:solidFill>
                      <a:srgbClr val="FFFFFF"/>
                    </a:solidFill>
                  </a:tcPr>
                </a:tc>
              </a:tr>
            </a:tbl>
          </a:graphicData>
        </a:graphic>
      </p:graphicFrame>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43 Effective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Requests: </a:t>
            </a:r>
            <a:r>
              <a:rPr sz="1700" b="0">
                <a:solidFill>
                  <a:srgbClr val="1F2A44"/>
                </a:solidFill>
                <a:latin typeface="Arial"/>
                <a:ea typeface="Microsoft YaHei"/>
              </a:rPr>
              <a:t>I’d like you to… / Could you…? / Would you be able to…?</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Give reasons: </a:t>
            </a:r>
            <a:r>
              <a:rPr sz="1700" b="0">
                <a:solidFill>
                  <a:srgbClr val="1F2A44"/>
                </a:solidFill>
                <a:latin typeface="Arial"/>
                <a:ea typeface="Microsoft YaHei"/>
              </a:rPr>
              <a:t>The reason I’m asking you is… / That’s why I thought of you.</a:t>
            </a:r>
          </a:p>
        </p:txBody>
      </p:sp>
      <p:sp>
        <p:nvSpPr>
          <p:cNvPr id="14" name="Rounded Rectangle 13"/>
          <p:cNvSpPr/>
          <p:nvPr/>
        </p:nvSpPr>
        <p:spPr>
          <a:xfrm>
            <a:off x="548640" y="248411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701039"/>
          </a:xfrm>
          <a:prstGeom prst="rect">
            <a:avLst/>
          </a:prstGeom>
          <a:noFill/>
        </p:spPr>
        <p:txBody>
          <a:bodyPr wrap="square" anchor="ctr">
            <a:spAutoFit/>
          </a:bodyPr>
          <a:lstStyle/>
          <a:p>
            <a:r>
              <a:rPr sz="1700" b="1">
                <a:solidFill>
                  <a:srgbClr val="3CC49A"/>
                </a:solidFill>
                <a:latin typeface="Arial"/>
                <a:ea typeface="Microsoft YaHei"/>
              </a:rPr>
              <a:t>Modals of ability and permission: </a:t>
            </a:r>
            <a:r>
              <a:rPr sz="1700" b="0">
                <a:solidFill>
                  <a:srgbClr val="1F2A44"/>
                </a:solidFill>
                <a:latin typeface="Arial"/>
                <a:ea typeface="Microsoft YaHei"/>
              </a:rPr>
              <a:t>can, be able to, be allowed to: “You can make decisions up to £500.”</a:t>
            </a:r>
          </a:p>
        </p:txBody>
      </p:sp>
      <p:sp>
        <p:nvSpPr>
          <p:cNvPr id="17" name="Rounded Rectangle 16"/>
          <p:cNvSpPr/>
          <p:nvPr/>
        </p:nvSpPr>
        <p:spPr>
          <a:xfrm>
            <a:off x="548640" y="327659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701039"/>
          </a:xfrm>
          <a:prstGeom prst="rect">
            <a:avLst/>
          </a:prstGeom>
          <a:noFill/>
        </p:spPr>
        <p:txBody>
          <a:bodyPr wrap="square" anchor="ctr">
            <a:spAutoFit/>
          </a:bodyPr>
          <a:lstStyle/>
          <a:p>
            <a:r>
              <a:rPr sz="1700" b="1">
                <a:solidFill>
                  <a:srgbClr val="FFC857"/>
                </a:solidFill>
                <a:latin typeface="Arial"/>
                <a:ea typeface="Microsoft YaHei"/>
              </a:rPr>
              <a:t>Time prepositions: </a:t>
            </a:r>
            <a:r>
              <a:rPr sz="1700" b="0">
                <a:solidFill>
                  <a:srgbClr val="1F2A44"/>
                </a:solidFill>
                <a:latin typeface="Arial"/>
                <a:ea typeface="Microsoft YaHei"/>
              </a:rPr>
              <a:t>by Friday (no later than) vs until Friday (up to and including), in two weeks vs within two weeks.</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43 Effective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let you to do this.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will let you do this.</a:t>
            </a:r>
          </a:p>
          <a:p>
            <a:pPr algn="l">
              <a:spcAft>
                <a:spcPts val="200"/>
              </a:spcAft>
            </a:pPr>
            <a:r>
              <a:rPr sz="1200" b="0">
                <a:solidFill>
                  <a:srgbClr val="FFFFFF"/>
                </a:solidFill>
                <a:latin typeface="Arial"/>
                <a:ea typeface="Microsoft YaHei"/>
              </a:rPr>
              <a:t>let + 原形</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do it before of Friday.</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do it before Friday. / by Friday.</a:t>
            </a:r>
          </a:p>
          <a:p>
            <a:pPr algn="l">
              <a:spcAft>
                <a:spcPts val="200"/>
              </a:spcAft>
            </a:pPr>
            <a:r>
              <a:rPr sz="1200" b="0">
                <a:solidFill>
                  <a:srgbClr val="FFFFFF"/>
                </a:solidFill>
                <a:latin typeface="Arial"/>
                <a:ea typeface="Microsoft YaHei"/>
              </a:rPr>
              <a:t>无 of</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you finish the report.</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want you to finish the report.</a:t>
            </a:r>
          </a:p>
          <a:p>
            <a:pPr algn="l">
              <a:spcAft>
                <a:spcPts val="200"/>
              </a:spcAft>
            </a:pPr>
            <a:r>
              <a:rPr sz="1200" b="0">
                <a:solidFill>
                  <a:srgbClr val="FFFFFF"/>
                </a:solidFill>
                <a:latin typeface="Arial"/>
                <a:ea typeface="Microsoft YaHei"/>
              </a:rPr>
              <a:t>want sb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43 Effective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has a big responsibility on the project.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has a big responsibility for the project.</a:t>
            </a:r>
          </a:p>
          <a:p>
            <a:pPr algn="l">
              <a:spcAft>
                <a:spcPts val="200"/>
              </a:spcAft>
            </a:pPr>
            <a:r>
              <a:rPr sz="1200" b="0">
                <a:solidFill>
                  <a:srgbClr val="FFFFFF"/>
                </a:solidFill>
                <a:latin typeface="Arial"/>
                <a:ea typeface="Microsoft YaHei"/>
              </a:rPr>
              <a:t>responsibility for</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delegated the work for him.</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She delegated the work to him.</a:t>
            </a:r>
          </a:p>
          <a:p>
            <a:pPr algn="l">
              <a:spcAft>
                <a:spcPts val="200"/>
              </a:spcAft>
            </a:pPr>
            <a:r>
              <a:rPr sz="1200" b="0">
                <a:solidFill>
                  <a:srgbClr val="FFFFFF"/>
                </a:solidFill>
                <a:latin typeface="Arial"/>
                <a:ea typeface="Microsoft YaHei"/>
              </a:rPr>
              <a:t>delegate to</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Managers must to motivate staff.</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Managers must motivate staff.</a:t>
            </a:r>
          </a:p>
          <a:p>
            <a:pPr algn="l">
              <a:spcAft>
                <a:spcPts val="200"/>
              </a:spcAft>
            </a:pPr>
            <a:r>
              <a:rPr sz="1200" b="0">
                <a:solidFill>
                  <a:srgbClr val="FFFFFF"/>
                </a:solidFill>
                <a:latin typeface="Arial"/>
                <a:ea typeface="Microsoft YaHei"/>
              </a:rPr>
              <a:t>must + 原形</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want sb to, delegate to, must + base verb, by / until.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43 Effective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Delegating vs dumping: </a:t>
            </a:r>
            <a:r>
              <a:rPr sz="1700" b="0">
                <a:solidFill>
                  <a:srgbClr val="1F2A44"/>
                </a:solidFill>
                <a:latin typeface="Arial"/>
                <a:ea typeface="Microsoft YaHei"/>
              </a:rPr>
              <a:t>Delegation includes authority and support. Dumping tasks without support breeds resentment.</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Directness: </a:t>
            </a:r>
            <a:r>
              <a:rPr sz="1700" b="0">
                <a:solidFill>
                  <a:srgbClr val="1F2A44"/>
                </a:solidFill>
                <a:latin typeface="Arial"/>
                <a:ea typeface="Microsoft YaHei"/>
              </a:rPr>
              <a:t>British managers often use soft language (“Would you mind…?”) for instructions. It’s still an instruction.</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Open-door policy: </a:t>
            </a:r>
            <a:r>
              <a:rPr sz="1700" b="0">
                <a:solidFill>
                  <a:srgbClr val="1F2A44"/>
                </a:solidFill>
                <a:latin typeface="Arial"/>
                <a:ea typeface="Microsoft YaHei"/>
              </a:rPr>
              <a:t>Many managers say “My door is always open.” It is an invitation to bring concerns.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want sb to do sth;delegate sth to sb;let sb do sth(不加 to)。by 表示“不晚于”,until 表示“持续到”。</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43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43 Effective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delegate a task clearly and respectfully.</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management styles and skills.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want sb to, let sb do correctly.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by / until and within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43 Effective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verb patterns (want sb to, let sb do), delegate to, and time prepositions.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5 · Lesson 44 Talking About Leaders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159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44</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Talking About Leaders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聊聊领导者</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describe and evaluate leaders and leadership styles: qualities, styles, role models and the difference between managing and leading.</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44 Talking About Leaders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Who is a leader you admire? Why?</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qualities make someone a good leader?</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Are leaders born or made?</a:t>
            </a:r>
          </a:p>
        </p:txBody>
      </p:sp>
      <p:sp>
        <p:nvSpPr>
          <p:cNvPr id="18" name="Oval 17"/>
          <p:cNvSpPr/>
          <p:nvPr/>
        </p:nvSpPr>
        <p:spPr>
          <a:xfrm>
            <a:off x="548640" y="389534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Which leadership style do you respond to best: directive, supportive, or hands-off?</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Can a quiet person be an effective leader?</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3 题 born or made 是经典辩论题。charismatic = 有魅力的。style 的搭配:leadership style。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44 Talking About Leaders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a leader you admire and explain why.</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who</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what they do</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example</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why it matters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really admire… because…   💬 What impresses me is…   💬 A good example of this is…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What impresses me is… 强调重点。A good example is… 给出例子。形容人物:visionary, approachable。</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What Makes a Leader?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123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44 Talking About Leaders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Ask ten people to describe a great leader and you will get ten different answers. Some mention charisma and vision. Others prefer a leader who is humble, listens carefully and admits mistakes. In practice, different situations require different styles. A crisis may call for a firm, directive leader who makes quick decisions. A creative team may thrive with a coaching style that encourages experiments. Many researchers believe that most leadership skills can be learned, including communication, empathy and decision-making. What seems consistent is that people follow leaders they trust. Trust grows when leaders are honest, keep their promises and give credit to others. Leaders also need self-awareness: knowing their strengths and blind spots helps them to build a team that covers the gaps.</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44 Talking About Leaders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do leaders need different styles?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Different situations, such as crises or creative work, require different approaches.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Can leadership be learned?</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Many researchers think most leadership skills can be learned.</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builds trust?</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Honesty, keeping promises and giving credit to others.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Describing leaders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44 Talking About Leaders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描述领导者</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visionary</a:t>
            </a:r>
          </a:p>
          <a:p>
            <a:pPr algn="l">
              <a:lnSpc>
                <a:spcPct val="115000"/>
              </a:lnSpc>
              <a:spcAft>
                <a:spcPts val="800"/>
              </a:spcAft>
            </a:pPr>
            <a:r>
              <a:rPr sz="1300" b="0">
                <a:solidFill>
                  <a:srgbClr val="5F677A"/>
                </a:solidFill>
                <a:latin typeface="Arial"/>
                <a:ea typeface="Microsoft YaHei"/>
              </a:rPr>
              <a:t>adjective / 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有远见的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visionary leader inspires staff.”</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approachable</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平易近人的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director is approachable.”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decisive</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果断的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leader must be decisive.”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inspire</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激励</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inspires confidence.”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role model</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榜样</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is a role model for young managers.”</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leadership style</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领导风格</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“His leadership style is collaborative.”</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Leadership in action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44 Talking About Leaders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领导实践</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lead from the front</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身先士卒</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leads from the front in a crisis.”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hands-on / hands-off</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亲力亲为 / 放手</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“He’s a hands-on manager.”</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rally (the team)</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凝聚团队</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rallied the team after the setback.”</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walk the talk</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言行一致</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“Leaders must walk the talk.”</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command respect</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赢得尊重</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commands respect.”</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set the tone</a:t>
            </a:r>
          </a:p>
          <a:p>
            <a:pPr algn="l">
              <a:lnSpc>
                <a:spcPct val="115000"/>
              </a:lnSpc>
              <a:spcAft>
                <a:spcPts val="800"/>
              </a:spcAft>
            </a:pPr>
            <a:r>
              <a:rPr sz="1300" b="0">
                <a:solidFill>
                  <a:srgbClr val="5F677A"/>
                </a:solidFill>
                <a:latin typeface="Arial"/>
                <a:ea typeface="Microsoft YaHei"/>
              </a:rPr>
              <a:t>idiom</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定下基调</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“Leaders set the tone for the culture.”</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44 Talking About Leaders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平易近人的</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approachable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身先士卒</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lead from the front</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言行一致</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walk the talk</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凝聚团队</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rally (the team)</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榜样</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role model</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赢得尊重</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command respect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领导风格</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leadership style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定下基调</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set the tone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44 Talking About Leaders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visionary</a:t>
            </a:r>
          </a:p>
        </p:txBody>
      </p:sp>
      <p:sp>
        <p:nvSpPr>
          <p:cNvPr id="10" name="Rounded Rectangle 9"/>
          <p:cNvSpPr/>
          <p:nvPr/>
        </p:nvSpPr>
        <p:spPr>
          <a:xfrm>
            <a:off x="3456432" y="987552"/>
            <a:ext cx="1682495"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approachable</a:t>
            </a:r>
          </a:p>
        </p:txBody>
      </p:sp>
      <p:sp>
        <p:nvSpPr>
          <p:cNvPr id="11" name="Rounded Rectangle 10"/>
          <p:cNvSpPr/>
          <p:nvPr/>
        </p:nvSpPr>
        <p:spPr>
          <a:xfrm>
            <a:off x="5230367"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decisive</a:t>
            </a:r>
          </a:p>
        </p:txBody>
      </p:sp>
      <p:sp>
        <p:nvSpPr>
          <p:cNvPr id="12" name="Rounded Rectangle 11"/>
          <p:cNvSpPr/>
          <p:nvPr/>
        </p:nvSpPr>
        <p:spPr>
          <a:xfrm>
            <a:off x="6565391" y="987552"/>
            <a:ext cx="146304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role model</a:t>
            </a:r>
          </a:p>
        </p:txBody>
      </p:sp>
      <p:sp>
        <p:nvSpPr>
          <p:cNvPr id="13" name="Rounded Rectangle 12"/>
          <p:cNvSpPr/>
          <p:nvPr/>
        </p:nvSpPr>
        <p:spPr>
          <a:xfrm>
            <a:off x="8119871"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hands-on</a:t>
            </a:r>
          </a:p>
        </p:txBody>
      </p:sp>
      <p:sp>
        <p:nvSpPr>
          <p:cNvPr id="14" name="Rounded Rectangle 13"/>
          <p:cNvSpPr/>
          <p:nvPr/>
        </p:nvSpPr>
        <p:spPr>
          <a:xfrm>
            <a:off x="9454895" y="987552"/>
            <a:ext cx="1682495"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set the tone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A _______ leader sees where the industry is going.</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visionary</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Our director is very _______. You can talk to her anytime.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approachable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In a crisis, you need someone who is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decisive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She has been a _______ for many young engineers.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role model</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He’s a _______ manager and checks every detail himself.</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hands-on</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Managers _______ for the whole team’s behaviour.</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set the tone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leadership (not “leadershop”), charismatic, approachable (not “approachble”). Leader of / of a team, lead a team. A role model for sb. Admire sb for something.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Describing a leader you admire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44 Talking About Leaders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描述你敬佩的领导者</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At a networking event, a new acquaintance asks who has influenced your career.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Lei Huang, manager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Tom Fisher, acquaintance</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Describing a leader you admire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44 Talking About Leaders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Tom, who has influenced you most in your career?</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Tom</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Probably my first manager. What about you?</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For me, it was a director named Ms Sato. She was a real role model.</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made her special?</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She was decisive, but she always listened first. What impressed me was how she handled a crisis.</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Can you give an example?</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Describing a leader you admire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44 Talking About Leaders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Once, a major client threatened to leave. She stayed calm, rallied the team and called the client herself.</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like leading from the front.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 And she gave us the credit afterwards, which made us trust her.</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rare. Did she ever make mistakes?</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But she admitted them openly. That’s why people respected her.</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good lesson. I’d like to be that kind of leader myself.</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Describing a leader you admire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44 Talking About Leaders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describe a leader you admire.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Speaker. Leader: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Listener. Ask for examples.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role model · what impressed me · decisive · approachable · lead by example · give credit</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the person, give an example and say why it matters.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Tom asks: “Can you learn leadership or are you born with it?” Answer.</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Describe a leader you do not admire, diplomatically.</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Describe your own leadership style in a job interview.</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44 Talking About Leaders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kind of leader would you like to be?</a:t>
            </a:r>
          </a:p>
          <a:p>
            <a:pPr algn="l">
              <a:lnSpc>
                <a:spcPct val="115000"/>
              </a:lnSpc>
              <a:spcAft>
                <a:spcPts val="800"/>
              </a:spcAft>
            </a:pPr>
            <a:r>
              <a:rPr sz="1400" b="0">
                <a:solidFill>
                  <a:srgbClr val="5F677A"/>
                </a:solidFill>
                <a:latin typeface="Arial"/>
                <a:ea typeface="Microsoft YaHei"/>
              </a:rPr>
              <a:t>💬 “I’d like to be… I’d want to…”</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Are leaders born or made?</a:t>
            </a:r>
          </a:p>
          <a:p>
            <a:pPr algn="l">
              <a:lnSpc>
                <a:spcPct val="115000"/>
              </a:lnSpc>
              <a:spcAft>
                <a:spcPts val="800"/>
              </a:spcAft>
            </a:pPr>
            <a:r>
              <a:rPr sz="1400" b="0">
                <a:solidFill>
                  <a:srgbClr val="5F677A"/>
                </a:solidFill>
                <a:latin typeface="Arial"/>
                <a:ea typeface="Microsoft YaHei"/>
              </a:rPr>
              <a:t>💬 “I believe that… although… / Natural talent helps, but…”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better to be liked or respected as a leader?</a:t>
            </a:r>
          </a:p>
          <a:p>
            <a:pPr algn="l">
              <a:lnSpc>
                <a:spcPct val="115000"/>
              </a:lnSpc>
              <a:spcAft>
                <a:spcPts val="800"/>
              </a:spcAft>
            </a:pPr>
            <a:r>
              <a:rPr sz="1400" b="0">
                <a:solidFill>
                  <a:srgbClr val="5F677A"/>
                </a:solidFill>
                <a:latin typeface="Arial"/>
                <a:ea typeface="Microsoft YaHei"/>
              </a:rPr>
              <a:t>💬 “Ideally both, but if I had to choose…”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should leaders behave in a crisis?</a:t>
            </a:r>
          </a:p>
          <a:p>
            <a:pPr algn="l">
              <a:lnSpc>
                <a:spcPct val="115000"/>
              </a:lnSpc>
              <a:spcAft>
                <a:spcPts val="800"/>
              </a:spcAft>
            </a:pPr>
            <a:r>
              <a:rPr sz="1400" b="0">
                <a:solidFill>
                  <a:srgbClr val="5F677A"/>
                </a:solidFill>
                <a:latin typeface="Arial"/>
                <a:ea typeface="Microsoft YaHei"/>
              </a:rPr>
              <a:t>💬 “They should… / They shouldn’t…”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44 Talking About Leaders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believe leaders are mostly made. Some people are naturally confident or charismatic, which helps, but good leadership depends on skills like listening, giving feedback and making decisions under pressure. All of these can be learned through experience, training and coaching. Many successful leaders are quiet and analytical rather than charismatic, which shows that style is not destiny.</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be mostly made = 主要靠后天培养。under pressure = 在压力下。 analytical = 善于分析的。 style is not destiny = 风格并非命运。</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44 Talking About Leaders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He is a good boss.</a:t>
                      </a:r>
                    </a:p>
                  </a:txBody>
                  <a:tcPr anchor="ctr">
                    <a:solidFill>
                      <a:srgbClr val="FFFFFF"/>
                    </a:solidFill>
                  </a:tcPr>
                </a:tc>
                <a:tc>
                  <a:txBody>
                    <a:bodyPr wrap="square"/>
                    <a:lstStyle/>
                    <a:p>
                      <a:r>
                        <a:rPr sz="1600" b="0">
                          <a:solidFill>
                            <a:srgbClr val="1F2A44"/>
                          </a:solidFill>
                          <a:latin typeface="Arial"/>
                          <a:ea typeface="Microsoft YaHei"/>
                        </a:rPr>
                        <a:t>He’s an inspiring leader who listens.</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r h="652272">
                <a:tc>
                  <a:txBody>
                    <a:bodyPr wrap="square"/>
                    <a:lstStyle/>
                    <a:p>
                      <a:r>
                        <a:rPr sz="1600" b="1">
                          <a:solidFill>
                            <a:srgbClr val="1F2A44"/>
                          </a:solidFill>
                          <a:latin typeface="Arial"/>
                          <a:ea typeface="Microsoft YaHei"/>
                        </a:rPr>
                        <a:t>She is strong.</a:t>
                      </a:r>
                    </a:p>
                  </a:txBody>
                  <a:tcPr anchor="ctr">
                    <a:solidFill>
                      <a:srgbClr val="FFEFD9"/>
                    </a:solidFill>
                  </a:tcPr>
                </a:tc>
                <a:tc>
                  <a:txBody>
                    <a:bodyPr wrap="square"/>
                    <a:lstStyle/>
                    <a:p>
                      <a:r>
                        <a:rPr sz="1600" b="0">
                          <a:solidFill>
                            <a:srgbClr val="1F2A44"/>
                          </a:solidFill>
                          <a:latin typeface="Arial"/>
                          <a:ea typeface="Microsoft YaHei"/>
                        </a:rPr>
                        <a:t>She has a strong presence and commands respect.</a:t>
                      </a:r>
                    </a:p>
                  </a:txBody>
                  <a:tcPr anchor="ctr">
                    <a:solidFill>
                      <a:srgbClr val="FFEFD9"/>
                    </a:solidFill>
                  </a:tcPr>
                </a:tc>
                <a:tc>
                  <a:txBody>
                    <a:bodyPr wrap="square"/>
                    <a:lstStyle/>
                    <a:p>
                      <a:r>
                        <a:rPr sz="1600" b="0">
                          <a:solidFill>
                            <a:srgbClr val="FF6B5B"/>
                          </a:solidFill>
                          <a:latin typeface="Arial"/>
                          <a:ea typeface="Microsoft YaHei"/>
                        </a:rPr>
                        <a:t>描述</a:t>
                      </a:r>
                    </a:p>
                  </a:txBody>
                  <a:tcPr anchor="ctr">
                    <a:solidFill>
                      <a:srgbClr val="FFEFD9"/>
                    </a:solidFill>
                  </a:tcPr>
                </a:tc>
              </a:tr>
              <a:tr h="652272">
                <a:tc>
                  <a:txBody>
                    <a:bodyPr wrap="square"/>
                    <a:lstStyle/>
                    <a:p>
                      <a:r>
                        <a:rPr sz="1600" b="1">
                          <a:solidFill>
                            <a:srgbClr val="1F2A44"/>
                          </a:solidFill>
                          <a:latin typeface="Arial"/>
                          <a:ea typeface="Microsoft YaHei"/>
                        </a:rPr>
                        <a:t>He is friendly.</a:t>
                      </a:r>
                    </a:p>
                  </a:txBody>
                  <a:tcPr anchor="ctr">
                    <a:solidFill>
                      <a:srgbClr val="FFFFFF"/>
                    </a:solidFill>
                  </a:tcPr>
                </a:tc>
                <a:tc>
                  <a:txBody>
                    <a:bodyPr wrap="square"/>
                    <a:lstStyle/>
                    <a:p>
                      <a:r>
                        <a:rPr sz="1600" b="0">
                          <a:solidFill>
                            <a:srgbClr val="1F2A44"/>
                          </a:solidFill>
                          <a:latin typeface="Arial"/>
                          <a:ea typeface="Microsoft YaHei"/>
                        </a:rPr>
                        <a:t>He’s approachable and easy to talk to.</a:t>
                      </a:r>
                    </a:p>
                  </a:txBody>
                  <a:tcPr anchor="ctr">
                    <a:solidFill>
                      <a:srgbClr val="FFFFFF"/>
                    </a:solidFill>
                  </a:tcPr>
                </a:tc>
                <a:tc>
                  <a:txBody>
                    <a:bodyPr wrap="square"/>
                    <a:lstStyle/>
                    <a:p>
                      <a:r>
                        <a:rPr sz="1600" b="0">
                          <a:solidFill>
                            <a:srgbClr val="FF6B5B"/>
                          </a:solidFill>
                          <a:latin typeface="Arial"/>
                          <a:ea typeface="Microsoft YaHei"/>
                        </a:rPr>
                        <a:t>更职业</a:t>
                      </a:r>
                    </a:p>
                  </a:txBody>
                  <a:tcPr anchor="ctr">
                    <a:solidFill>
                      <a:srgbClr val="FFFFFF"/>
                    </a:solidFill>
                  </a:tcPr>
                </a:tc>
              </a:tr>
              <a:tr h="408432">
                <a:tc>
                  <a:txBody>
                    <a:bodyPr wrap="square"/>
                    <a:lstStyle/>
                    <a:p>
                      <a:r>
                        <a:rPr sz="1600" b="1">
                          <a:solidFill>
                            <a:srgbClr val="1F2A44"/>
                          </a:solidFill>
                          <a:latin typeface="Arial"/>
                          <a:ea typeface="Microsoft YaHei"/>
                        </a:rPr>
                        <a:t>She works with us.</a:t>
                      </a:r>
                    </a:p>
                  </a:txBody>
                  <a:tcPr anchor="ctr">
                    <a:solidFill>
                      <a:srgbClr val="FFEFD9"/>
                    </a:solidFill>
                  </a:tcPr>
                </a:tc>
                <a:tc>
                  <a:txBody>
                    <a:bodyPr wrap="square"/>
                    <a:lstStyle/>
                    <a:p>
                      <a:r>
                        <a:rPr sz="1600" b="0">
                          <a:solidFill>
                            <a:srgbClr val="1F2A44"/>
                          </a:solidFill>
                          <a:latin typeface="Arial"/>
                          <a:ea typeface="Microsoft YaHei"/>
                        </a:rPr>
                        <a:t>She leads from the front.</a:t>
                      </a:r>
                    </a:p>
                  </a:txBody>
                  <a:tcPr anchor="ctr">
                    <a:solidFill>
                      <a:srgbClr val="FFEFD9"/>
                    </a:solidFill>
                  </a:tcPr>
                </a:tc>
                <a:tc>
                  <a:txBody>
                    <a:bodyPr wrap="square"/>
                    <a:lstStyle/>
                    <a:p>
                      <a:r>
                        <a:rPr sz="1600" b="0">
                          <a:solidFill>
                            <a:srgbClr val="FF6B5B"/>
                          </a:solidFill>
                          <a:latin typeface="Arial"/>
                          <a:ea typeface="Microsoft YaHei"/>
                        </a:rPr>
                        <a:t>习语</a:t>
                      </a:r>
                    </a:p>
                  </a:txBody>
                  <a:tcPr anchor="ctr">
                    <a:solidFill>
                      <a:srgbClr val="FFEFD9"/>
                    </a:solidFill>
                  </a:tcPr>
                </a:tc>
              </a:tr>
              <a:tr h="408432">
                <a:tc>
                  <a:txBody>
                    <a:bodyPr wrap="square"/>
                    <a:lstStyle/>
                    <a:p>
                      <a:r>
                        <a:rPr sz="1600" b="1">
                          <a:solidFill>
                            <a:srgbClr val="1F2A44"/>
                          </a:solidFill>
                          <a:latin typeface="Arial"/>
                          <a:ea typeface="Microsoft YaHei"/>
                        </a:rPr>
                        <a:t>He says and does the same.</a:t>
                      </a:r>
                    </a:p>
                  </a:txBody>
                  <a:tcPr anchor="ctr">
                    <a:solidFill>
                      <a:srgbClr val="FFFFFF"/>
                    </a:solidFill>
                  </a:tcPr>
                </a:tc>
                <a:tc>
                  <a:txBody>
                    <a:bodyPr wrap="square"/>
                    <a:lstStyle/>
                    <a:p>
                      <a:r>
                        <a:rPr sz="1600" b="0">
                          <a:solidFill>
                            <a:srgbClr val="1F2A44"/>
                          </a:solidFill>
                          <a:latin typeface="Arial"/>
                          <a:ea typeface="Microsoft YaHei"/>
                        </a:rPr>
                        <a:t>He walks the talk.</a:t>
                      </a:r>
                    </a:p>
                  </a:txBody>
                  <a:tcPr anchor="ctr">
                    <a:solidFill>
                      <a:srgbClr val="FFFFFF"/>
                    </a:solidFill>
                  </a:tcPr>
                </a:tc>
                <a:tc>
                  <a:txBody>
                    <a:bodyPr wrap="square"/>
                    <a:lstStyle/>
                    <a:p>
                      <a:r>
                        <a:rPr sz="1600" b="0">
                          <a:solidFill>
                            <a:srgbClr val="FF6B5B"/>
                          </a:solidFill>
                          <a:latin typeface="Arial"/>
                          <a:ea typeface="Microsoft YaHei"/>
                        </a:rPr>
                        <a:t>习语</a:t>
                      </a:r>
                    </a:p>
                  </a:txBody>
                  <a:tcPr anchor="ctr">
                    <a:solidFill>
                      <a:srgbClr val="FFFFFF"/>
                    </a:solidFill>
                  </a:tcPr>
                </a:tc>
              </a:tr>
            </a:tbl>
          </a:graphicData>
        </a:graphic>
      </p:graphicFrame>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44 Talking About Leaders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Describing people: </a:t>
            </a:r>
            <a:r>
              <a:rPr sz="1700" b="0">
                <a:solidFill>
                  <a:srgbClr val="1F2A44"/>
                </a:solidFill>
                <a:latin typeface="Arial"/>
                <a:ea typeface="Microsoft YaHei"/>
              </a:rPr>
              <a:t>adjective + noun: a decisive leader; She is decisive. Use adverbs: extremely, remarkably, genuinely.</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Relative clauses: </a:t>
            </a:r>
            <a:r>
              <a:rPr sz="1700" b="0">
                <a:solidFill>
                  <a:srgbClr val="1F2A44"/>
                </a:solidFill>
                <a:latin typeface="Arial"/>
                <a:ea typeface="Microsoft YaHei"/>
              </a:rPr>
              <a:t>a leader who listens, a manager whose team trusts her.</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Sequencing a story: </a:t>
            </a:r>
            <a:r>
              <a:rPr sz="1700" b="0">
                <a:solidFill>
                  <a:srgbClr val="1F2A44"/>
                </a:solidFill>
                <a:latin typeface="Arial"/>
                <a:ea typeface="Microsoft YaHei"/>
              </a:rPr>
              <a:t>First, then, after that, in the end.</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Present for habits, past for stories: </a:t>
            </a:r>
            <a:r>
              <a:rPr sz="1700" b="0">
                <a:solidFill>
                  <a:srgbClr val="1F2A44"/>
                </a:solidFill>
                <a:latin typeface="Arial"/>
                <a:ea typeface="Microsoft YaHei"/>
              </a:rPr>
              <a:t>“She stays calm” (general) vs “She stayed calm” (that day).</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44 Talking About Leaders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a very charisma leader.</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He’s a very charismatic leader.</a:t>
            </a:r>
          </a:p>
          <a:p>
            <a:pPr algn="l">
              <a:spcAft>
                <a:spcPts val="200"/>
              </a:spcAft>
            </a:pPr>
            <a:r>
              <a:rPr sz="1200" b="0">
                <a:solidFill>
                  <a:srgbClr val="FFFFFF"/>
                </a:solidFill>
                <a:latin typeface="Arial"/>
                <a:ea typeface="Microsoft YaHei"/>
              </a:rPr>
              <a:t>形容词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inspired us do better.</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She inspired us to do better.</a:t>
            </a:r>
          </a:p>
          <a:p>
            <a:pPr algn="l">
              <a:spcAft>
                <a:spcPts val="200"/>
              </a:spcAft>
            </a:pPr>
            <a:r>
              <a:rPr sz="1200" b="0">
                <a:solidFill>
                  <a:srgbClr val="FFFFFF"/>
                </a:solidFill>
                <a:latin typeface="Arial"/>
                <a:ea typeface="Microsoft YaHei"/>
              </a:rPr>
              <a:t>inspire sb to do</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leader which I admire is Sato.</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leader whom/that I admire is Sato.</a:t>
            </a:r>
          </a:p>
          <a:p>
            <a:pPr algn="l">
              <a:spcAft>
                <a:spcPts val="200"/>
              </a:spcAft>
            </a:pPr>
            <a:r>
              <a:rPr sz="1200" b="0">
                <a:solidFill>
                  <a:srgbClr val="FFFFFF"/>
                </a:solidFill>
                <a:latin typeface="Arial"/>
                <a:ea typeface="Microsoft YaHei"/>
              </a:rPr>
              <a:t>人用 who / that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44 Talking About Leaders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He’s a person with many respects.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He’s a person who is well respected.</a:t>
            </a:r>
          </a:p>
          <a:p>
            <a:pPr algn="l">
              <a:spcAft>
                <a:spcPts val="200"/>
              </a:spcAft>
            </a:pPr>
            <a:r>
              <a:rPr sz="1200" b="0">
                <a:solidFill>
                  <a:srgbClr val="FFFFFF"/>
                </a:solidFill>
                <a:latin typeface="Arial"/>
                <a:ea typeface="Microsoft YaHei"/>
              </a:rPr>
              <a:t>respect 不可数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be a leader as her.</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want to be a leader like her.</a:t>
            </a:r>
          </a:p>
          <a:p>
            <a:pPr algn="l">
              <a:spcAft>
                <a:spcPts val="200"/>
              </a:spcAft>
            </a:pPr>
            <a:r>
              <a:rPr sz="1200" b="0">
                <a:solidFill>
                  <a:srgbClr val="FFFFFF"/>
                </a:solidFill>
                <a:latin typeface="Arial"/>
                <a:ea typeface="Microsoft YaHei"/>
              </a:rPr>
              <a:t>like + 名词/代词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more strong than me.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is stronger than me.</a:t>
            </a:r>
          </a:p>
          <a:p>
            <a:pPr algn="l">
              <a:spcAft>
                <a:spcPts val="200"/>
              </a:spcAft>
            </a:pPr>
            <a:r>
              <a:rPr sz="1200" b="0">
                <a:solidFill>
                  <a:srgbClr val="FFFFFF"/>
                </a:solidFill>
                <a:latin typeface="Arial"/>
                <a:ea typeface="Microsoft YaHei"/>
              </a:rPr>
              <a:t>strong 单音节</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adjective vs noun forms (charismatic / charisma), inspire sb to, and relative pronouns for people.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44 Talking About Leaders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Humility: </a:t>
            </a:r>
            <a:r>
              <a:rPr sz="1700" b="0">
                <a:solidFill>
                  <a:srgbClr val="1F2A44"/>
                </a:solidFill>
                <a:latin typeface="Arial"/>
                <a:ea typeface="Microsoft YaHei"/>
              </a:rPr>
              <a:t>In the UK, leaders often downplay their achievements; self-promotion is more accepted in the US.</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First names: </a:t>
            </a:r>
            <a:r>
              <a:rPr sz="1700" b="0">
                <a:solidFill>
                  <a:srgbClr val="1F2A44"/>
                </a:solidFill>
                <a:latin typeface="Arial"/>
                <a:ea typeface="Microsoft YaHei"/>
              </a:rPr>
              <a:t>Many leaders prefer to be addressed by first name, even at the top.</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Leadership books and TED: </a:t>
            </a:r>
            <a:r>
              <a:rPr sz="1700" b="0">
                <a:solidFill>
                  <a:srgbClr val="1F2A44"/>
                </a:solidFill>
                <a:latin typeface="Arial"/>
                <a:ea typeface="Microsoft YaHei"/>
              </a:rPr>
              <a:t>Popular leadership talks are widely shared in Western companies, but cultural fit varies.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形容词与名词要区分:charisma(名)/ charismatic(形)。inspire sb to do sth。关系代词:修饰人用 who / that,不用 which。</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44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44 Talking About Leaders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a leader and their style with examples.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a short opinion on leadership.</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relative clauses (who, whose).</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inspire sb to and adjective/noun forms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44 Talking About Leaders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relative clauses for people, inspire sb to, and adjective vs noun forms.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5 · Lesson 45 Does Teamwork Make the Dream Work?</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181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45</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4400" b="1">
                <a:solidFill>
                  <a:srgbClr val="FFFFFF"/>
                </a:solidFill>
                <a:latin typeface="Arial"/>
                <a:ea typeface="Microsoft YaHei"/>
              </a:rPr>
              <a:t>Does Teamwork Make the Dream Work?</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团队合作真的更好吗?</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critically about teamwork: when it works, when it doesn’t, team roles, free-riders and how to make teams effective.</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45 Does Teamwork Make the Dream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prefer working alone or in a team? Why?</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Describe a successful team you were part of.</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problems can teamwork cause?</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roles do people play in a team?</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you deal with a colleague who doesn’t do their share?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free rider = 搭便车的人。”do one’s share” = 做自己该做的部分。题目是个双关:teamwork make the dream work 是流行说法。</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45 Does Teamwork Make the Dream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Give your opinion on whether teamwork is always better, with examples.</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opinion</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reason 1</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reason 2</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example</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conclusion</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I’d say it depends on…   💬 On the one hand… On the other hand…   💬 All in all, …</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On the one hand… on the other hand… 平衡论述。all in all = 总而言之。</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When Teams Fail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123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45 Does Teamwork Make the Dream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“Teamwork makes the dream work” is a popular slogan, but is it always true? Teams can combine skills, share workload and produce better ideas than individuals. Yet they can also waste time. Meetings multiply, decisions slow down and some members do little, relying on others to carry the project. In groups, people sometimes avoid disagreeing in order to keep the peace, which leads to weak decisions. Good teams avoid these traps. They have a clear purpose, defined roles and a leader who ensures that everyone contributes. They allow time for individual thinking before group discussion, and they celebrate results together. The lesson is not to avoid teamwork, but to use it when the task really needs several perspectives, and to design it carefully.</a:t>
            </a:r>
          </a:p>
        </p:txBody>
      </p:sp>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45 Does Teamwork Make the Dream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advantages of teams does the passage mention?</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combine skills, share workload and produce better ideas.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problems can teams cause?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Time-wasting meetings, slow decisions, free riders and avoidance of disagreement.</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 good teams have?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clear purpose, defined roles, a leader who ensures everyone contributes, and time for individual thinking.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Teams and roles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45 Does Teamwork Make the Dream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团队与角色</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team player</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善于合作的人</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“He’s a real team player.”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collaboration</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协作</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“Collaboration is key.”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team spirit</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团队精神</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a great team spirit.”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contribute</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贡献</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“Everyone should contribute.”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free rider</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搭便车者</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“Free riders annoy hard workers.”</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shared goal</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共同目标</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shared goal.”</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Making teams work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45 Does Teamwork Make the Dream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让团队有效运作</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pull your weight</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尽自己的一份力</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“Everyone must pull their weight.”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drop the ball</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失误/疏忽</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“Someone dropped the ball on the invoice.”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groupthink</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群体思维</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“Groupthink can lead to bad decisions.”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bounce ideas off</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与人探讨想法</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like to bounce ideas off my colleagues.”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pool resources</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集中资源</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pooled our resources.”</a:t>
            </a:r>
          </a:p>
        </p:txBody>
      </p:sp>
      <p:sp>
        <p:nvSpPr>
          <p:cNvPr id="34" name="Rounded Rectangle 33"/>
          <p:cNvSpPr/>
          <p:nvPr/>
        </p:nvSpPr>
        <p:spPr>
          <a:xfrm>
            <a:off x="548640" y="49352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too many cooks spoil the broth</a:t>
            </a:r>
          </a:p>
          <a:p>
            <a:pPr algn="l">
              <a:lnSpc>
                <a:spcPct val="115000"/>
              </a:lnSpc>
              <a:spcAft>
                <a:spcPts val="800"/>
              </a:spcAft>
            </a:pPr>
            <a:r>
              <a:rPr sz="1300" b="0">
                <a:solidFill>
                  <a:srgbClr val="5F677A"/>
                </a:solidFill>
                <a:latin typeface="Arial"/>
                <a:ea typeface="Microsoft YaHei"/>
              </a:rPr>
              <a:t>proverb</a:t>
            </a:r>
          </a:p>
        </p:txBody>
      </p:sp>
      <p:sp>
        <p:nvSpPr>
          <p:cNvPr id="37" name="TextBox 36"/>
          <p:cNvSpPr txBox="1"/>
          <p:nvPr/>
        </p:nvSpPr>
        <p:spPr>
          <a:xfrm>
            <a:off x="4206240" y="49809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人多手杂坏事</a:t>
            </a:r>
          </a:p>
        </p:txBody>
      </p:sp>
      <p:sp>
        <p:nvSpPr>
          <p:cNvPr id="38" name="TextBox 37"/>
          <p:cNvSpPr txBox="1"/>
          <p:nvPr/>
        </p:nvSpPr>
        <p:spPr>
          <a:xfrm>
            <a:off x="6675120" y="49809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 this project, too many cooks spoil the broth.”</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45 Does Teamwork Make the Dream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集中资源</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pool resources</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尽自己的一份力</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pull your weight</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协作</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collaboration</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人多手杂坏事</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too many cooks spoil the broth</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贡献</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contribute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与人探讨想法</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bounce ideas off</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共同目标</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shared goal</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团队精神</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team spirit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45 Does Teamwork Make the Dream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team player</a:t>
            </a:r>
          </a:p>
        </p:txBody>
      </p:sp>
      <p:sp>
        <p:nvSpPr>
          <p:cNvPr id="10" name="Rounded Rectangle 9"/>
          <p:cNvSpPr/>
          <p:nvPr/>
        </p:nvSpPr>
        <p:spPr>
          <a:xfrm>
            <a:off x="3675887" y="987552"/>
            <a:ext cx="1572767"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team spirit</a:t>
            </a:r>
          </a:p>
        </p:txBody>
      </p:sp>
      <p:sp>
        <p:nvSpPr>
          <p:cNvPr id="11" name="Rounded Rectangle 10"/>
          <p:cNvSpPr/>
          <p:nvPr/>
        </p:nvSpPr>
        <p:spPr>
          <a:xfrm>
            <a:off x="5340094"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contribute</a:t>
            </a:r>
          </a:p>
        </p:txBody>
      </p:sp>
      <p:sp>
        <p:nvSpPr>
          <p:cNvPr id="12" name="Rounded Rectangle 11"/>
          <p:cNvSpPr/>
          <p:nvPr/>
        </p:nvSpPr>
        <p:spPr>
          <a:xfrm>
            <a:off x="6894574" y="987552"/>
            <a:ext cx="146304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free rider</a:t>
            </a:r>
          </a:p>
        </p:txBody>
      </p:sp>
      <p:sp>
        <p:nvSpPr>
          <p:cNvPr id="13" name="Rounded Rectangle 12"/>
          <p:cNvSpPr/>
          <p:nvPr/>
        </p:nvSpPr>
        <p:spPr>
          <a:xfrm>
            <a:off x="8449054" y="987552"/>
            <a:ext cx="223113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pull their weight</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1.  A good _______ shares information and helps others.</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team player</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2.  There is great _______ in our department.</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team spirit</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3.  Everyone is expected to _______ ideas in the meeting.</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contribute</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4.  Nobody likes a _______ who lets others do the work.</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free rider</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5.  In a team, everyone must _______.</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pull their weight</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6.  _______ can lead to poor decisions because nobody dares to disagree.</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Groupthink</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teamwork (one word), collaboration (not “colaboration”), colleague. Teamwork is uncountable. Work in a team / with a team. Contribute to (not “contribute for”). Pull one’s weight (idiom).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Role Play · Discussing a free rider in the team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45 Does Teamwork Make the Dream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讨论团队中的搭便车者</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discuss with your team leader that one team member is not doing their share.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Sam Gao, team member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Ms Allen, team leader</a:t>
            </a:r>
          </a:p>
        </p:txBody>
      </p:sp>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 free rider in the team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45 Does Teamwork Make the Dream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Sam</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Ms Allen, do you have a moment? I’d like to talk about the project.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Ms Allen</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What’s on your mind?</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about the workload. I feel some of us are carrying more than our share.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Can you be more specific?</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For the last three weeks, Jay hasn’t completed his tasks, and we’ve had to cover for him.</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Have you spoken to him?</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 free rider in the team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45 Does Teamwork Make the Dream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Briefly. He says he’s overloaded, but he doesn’t ask for help either.</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telling me. Let me check his workload first.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fair. I don’t want to blame him. I’d just like the work to be shared evenly.</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talk to him tomorrow. And let’s review task distribution in the next meeting.</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be great. Thank you for listening.</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for raising it. If it continues, tell me.</a:t>
            </a:r>
          </a:p>
        </p:txBody>
      </p:sp>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Your Turn · Discussing a free rider in the team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45 Does Teamwork Make the Dream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raise a concern about unequal workload.</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 Problem: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leader. Careful and neutral.</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carrying more than our share · pull their weight · cover for · workload · shared evenly · review</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the problem factually, avoid blame and propose a solution.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Ms Allen asks: “What have you done to help him?” Respond.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a way to clarify roles in the team.</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are Jay. Explain your side of the story.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45 Does Teamwork Make the Dream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prefer working alone or in a team?</a:t>
            </a:r>
          </a:p>
          <a:p>
            <a:pPr algn="l">
              <a:lnSpc>
                <a:spcPct val="115000"/>
              </a:lnSpc>
              <a:spcAft>
                <a:spcPts val="800"/>
              </a:spcAft>
            </a:pPr>
            <a:r>
              <a:rPr sz="1400" b="0">
                <a:solidFill>
                  <a:srgbClr val="5F677A"/>
                </a:solidFill>
                <a:latin typeface="Arial"/>
                <a:ea typeface="Microsoft YaHei"/>
              </a:rPr>
              <a:t>💬 “I prefer… because… / It depends on…”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When is teamwork not the best way to work?</a:t>
            </a:r>
          </a:p>
          <a:p>
            <a:pPr algn="l">
              <a:lnSpc>
                <a:spcPct val="115000"/>
              </a:lnSpc>
              <a:spcAft>
                <a:spcPts val="800"/>
              </a:spcAft>
            </a:pPr>
            <a:r>
              <a:rPr sz="1400" b="0">
                <a:solidFill>
                  <a:srgbClr val="5F677A"/>
                </a:solidFill>
                <a:latin typeface="Arial"/>
                <a:ea typeface="Microsoft YaHei"/>
              </a:rPr>
              <a:t>💬 “It isn’t ideal when… / Individuals may be faster at…”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roles do people play in teams?</a:t>
            </a:r>
          </a:p>
          <a:p>
            <a:pPr algn="l">
              <a:lnSpc>
                <a:spcPct val="115000"/>
              </a:lnSpc>
              <a:spcAft>
                <a:spcPts val="800"/>
              </a:spcAft>
            </a:pPr>
            <a:r>
              <a:rPr sz="1400" b="0">
                <a:solidFill>
                  <a:srgbClr val="5F677A"/>
                </a:solidFill>
                <a:latin typeface="Arial"/>
                <a:ea typeface="Microsoft YaHei"/>
              </a:rPr>
              <a:t>💬 “Some people are… like the… / Others act as…”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leaders deal with free riders?</a:t>
            </a:r>
          </a:p>
          <a:p>
            <a:pPr algn="l">
              <a:lnSpc>
                <a:spcPct val="115000"/>
              </a:lnSpc>
              <a:spcAft>
                <a:spcPts val="800"/>
              </a:spcAft>
            </a:pPr>
            <a:r>
              <a:rPr sz="1400" b="0">
                <a:solidFill>
                  <a:srgbClr val="5F677A"/>
                </a:solidFill>
                <a:latin typeface="Arial"/>
                <a:ea typeface="Microsoft YaHei"/>
              </a:rPr>
              <a:t>💬 “They should first… then…”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45 Does Teamwork Make the Dream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prefer working in a team for complex projects because different people bring different skills and ideas. But for tasks that require deep concentration, such as writing or analysis, I do better alone. So I’d say it depends on the task. Ideally, I work alone to prepare my ideas and then meet the team to discuss and improve them.</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deep concentration = 高度专注。”do better” = 表现更好。prepare = 准备。 “improve them” 改进。</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45 Does Teamwork Make the Dream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408432">
                <a:tc>
                  <a:txBody>
                    <a:bodyPr wrap="square"/>
                    <a:lstStyle/>
                    <a:p>
                      <a:r>
                        <a:rPr sz="1600" b="1">
                          <a:solidFill>
                            <a:srgbClr val="1F2A44"/>
                          </a:solidFill>
                          <a:latin typeface="Arial"/>
                          <a:ea typeface="Microsoft YaHei"/>
                        </a:rPr>
                        <a:t>He doesn’t work.</a:t>
                      </a:r>
                    </a:p>
                  </a:txBody>
                  <a:tcPr anchor="ctr">
                    <a:solidFill>
                      <a:srgbClr val="FFFFFF"/>
                    </a:solidFill>
                  </a:tcPr>
                </a:tc>
                <a:tc>
                  <a:txBody>
                    <a:bodyPr wrap="square"/>
                    <a:lstStyle/>
                    <a:p>
                      <a:r>
                        <a:rPr sz="1600" b="0">
                          <a:solidFill>
                            <a:srgbClr val="1F2A44"/>
                          </a:solidFill>
                          <a:latin typeface="Arial"/>
                          <a:ea typeface="Microsoft YaHei"/>
                        </a:rPr>
                        <a:t>He isn’t pulling his weight.</a:t>
                      </a:r>
                    </a:p>
                  </a:txBody>
                  <a:tcPr anchor="ctr">
                    <a:solidFill>
                      <a:srgbClr val="FFFFFF"/>
                    </a:solidFill>
                  </a:tcPr>
                </a:tc>
                <a:tc>
                  <a:txBody>
                    <a:bodyPr wrap="square"/>
                    <a:lstStyle/>
                    <a:p>
                      <a:r>
                        <a:rPr sz="1600" b="0">
                          <a:solidFill>
                            <a:srgbClr val="FF6B5B"/>
                          </a:solidFill>
                          <a:latin typeface="Arial"/>
                          <a:ea typeface="Microsoft YaHei"/>
                        </a:rPr>
                        <a:t>习语</a:t>
                      </a:r>
                    </a:p>
                  </a:txBody>
                  <a:tcPr anchor="ctr">
                    <a:solidFill>
                      <a:srgbClr val="FFFFFF"/>
                    </a:solidFill>
                  </a:tcPr>
                </a:tc>
              </a:tr>
              <a:tr h="652272">
                <a:tc>
                  <a:txBody>
                    <a:bodyPr wrap="square"/>
                    <a:lstStyle/>
                    <a:p>
                      <a:r>
                        <a:rPr sz="1600" b="1">
                          <a:solidFill>
                            <a:srgbClr val="1F2A44"/>
                          </a:solidFill>
                          <a:latin typeface="Arial"/>
                          <a:ea typeface="Microsoft YaHei"/>
                        </a:rPr>
                        <a:t>We work together well.</a:t>
                      </a:r>
                    </a:p>
                  </a:txBody>
                  <a:tcPr anchor="ctr">
                    <a:solidFill>
                      <a:srgbClr val="FFEFD9"/>
                    </a:solidFill>
                  </a:tcPr>
                </a:tc>
                <a:tc>
                  <a:txBody>
                    <a:bodyPr wrap="square"/>
                    <a:lstStyle/>
                    <a:p>
                      <a:r>
                        <a:rPr sz="1600" b="0">
                          <a:solidFill>
                            <a:srgbClr val="1F2A44"/>
                          </a:solidFill>
                          <a:latin typeface="Arial"/>
                          <a:ea typeface="Microsoft YaHei"/>
                        </a:rPr>
                        <a:t>We work well as a team. / We have good team spirit.</a:t>
                      </a:r>
                    </a:p>
                  </a:txBody>
                  <a:tcPr anchor="ctr">
                    <a:solidFill>
                      <a:srgbClr val="FFEFD9"/>
                    </a:solidFill>
                  </a:tcPr>
                </a:tc>
                <a:tc>
                  <a:txBody>
                    <a:bodyPr wrap="square"/>
                    <a:lstStyle/>
                    <a:p>
                      <a:r>
                        <a:rPr sz="1600" b="0">
                          <a:solidFill>
                            <a:srgbClr val="FF6B5B"/>
                          </a:solidFill>
                          <a:latin typeface="Arial"/>
                          <a:ea typeface="Microsoft YaHei"/>
                        </a:rPr>
                        <a:t>自然</a:t>
                      </a:r>
                    </a:p>
                  </a:txBody>
                  <a:tcPr anchor="ctr">
                    <a:solidFill>
                      <a:srgbClr val="FFEFD9"/>
                    </a:solidFill>
                  </a:tcPr>
                </a:tc>
              </a:tr>
              <a:tr h="652272">
                <a:tc>
                  <a:txBody>
                    <a:bodyPr wrap="square"/>
                    <a:lstStyle/>
                    <a:p>
                      <a:r>
                        <a:rPr sz="1600" b="1">
                          <a:solidFill>
                            <a:srgbClr val="1F2A44"/>
                          </a:solidFill>
                          <a:latin typeface="Arial"/>
                          <a:ea typeface="Microsoft YaHei"/>
                        </a:rPr>
                        <a:t>This is not my work.</a:t>
                      </a:r>
                    </a:p>
                  </a:txBody>
                  <a:tcPr anchor="ctr">
                    <a:solidFill>
                      <a:srgbClr val="FFFFFF"/>
                    </a:solidFill>
                  </a:tcPr>
                </a:tc>
                <a:tc>
                  <a:txBody>
                    <a:bodyPr wrap="square"/>
                    <a:lstStyle/>
                    <a:p>
                      <a:r>
                        <a:rPr sz="1600" b="0">
                          <a:solidFill>
                            <a:srgbClr val="1F2A44"/>
                          </a:solidFill>
                          <a:latin typeface="Arial"/>
                          <a:ea typeface="Microsoft YaHei"/>
                        </a:rPr>
                        <a:t>That’s not part of my role, but I’m happy to help.</a:t>
                      </a:r>
                    </a:p>
                  </a:txBody>
                  <a:tcPr anchor="ctr">
                    <a:solidFill>
                      <a:srgbClr val="FFFFFF"/>
                    </a:solidFill>
                  </a:tcPr>
                </a:tc>
                <a:tc>
                  <a:txBody>
                    <a:bodyPr wrap="square"/>
                    <a:lstStyle/>
                    <a:p>
                      <a:r>
                        <a:rPr sz="1600" b="0">
                          <a:solidFill>
                            <a:srgbClr val="FF6B5B"/>
                          </a:solidFill>
                          <a:latin typeface="Arial"/>
                          <a:ea typeface="Microsoft YaHei"/>
                        </a:rPr>
                        <a:t>礼貌</a:t>
                      </a:r>
                    </a:p>
                  </a:txBody>
                  <a:tcPr anchor="ctr">
                    <a:solidFill>
                      <a:srgbClr val="FFFFFF"/>
                    </a:solidFill>
                  </a:tcPr>
                </a:tc>
              </a:tr>
              <a:tr h="408432">
                <a:tc>
                  <a:txBody>
                    <a:bodyPr wrap="square"/>
                    <a:lstStyle/>
                    <a:p>
                      <a:r>
                        <a:rPr sz="1600" b="1">
                          <a:solidFill>
                            <a:srgbClr val="1F2A44"/>
                          </a:solidFill>
                          <a:latin typeface="Arial"/>
                          <a:ea typeface="Microsoft YaHei"/>
                        </a:rPr>
                        <a:t>Everyone says the same.</a:t>
                      </a:r>
                    </a:p>
                  </a:txBody>
                  <a:tcPr anchor="ctr">
                    <a:solidFill>
                      <a:srgbClr val="FFEFD9"/>
                    </a:solidFill>
                  </a:tcPr>
                </a:tc>
                <a:tc>
                  <a:txBody>
                    <a:bodyPr wrap="square"/>
                    <a:lstStyle/>
                    <a:p>
                      <a:r>
                        <a:rPr sz="1600" b="0">
                          <a:solidFill>
                            <a:srgbClr val="1F2A44"/>
                          </a:solidFill>
                          <a:latin typeface="Arial"/>
                          <a:ea typeface="Microsoft YaHei"/>
                        </a:rPr>
                        <a:t>There’s a risk of groupthink.</a:t>
                      </a:r>
                    </a:p>
                  </a:txBody>
                  <a:tcPr anchor="ctr">
                    <a:solidFill>
                      <a:srgbClr val="FFEFD9"/>
                    </a:solidFill>
                  </a:tcPr>
                </a:tc>
                <a:tc>
                  <a:txBody>
                    <a:bodyPr wrap="square"/>
                    <a:lstStyle/>
                    <a:p>
                      <a:r>
                        <a:rPr sz="1600" b="0">
                          <a:solidFill>
                            <a:srgbClr val="FF6B5B"/>
                          </a:solidFill>
                          <a:latin typeface="Arial"/>
                          <a:ea typeface="Microsoft YaHei"/>
                        </a:rPr>
                        <a:t>术语</a:t>
                      </a:r>
                    </a:p>
                  </a:txBody>
                  <a:tcPr anchor="ctr">
                    <a:solidFill>
                      <a:srgbClr val="FFEFD9"/>
                    </a:solidFill>
                  </a:tcPr>
                </a:tc>
              </a:tr>
              <a:tr h="652272">
                <a:tc>
                  <a:txBody>
                    <a:bodyPr wrap="square"/>
                    <a:lstStyle/>
                    <a:p>
                      <a:r>
                        <a:rPr sz="1600" b="1">
                          <a:solidFill>
                            <a:srgbClr val="1F2A44"/>
                          </a:solidFill>
                          <a:latin typeface="Arial"/>
                          <a:ea typeface="Microsoft YaHei"/>
                        </a:rPr>
                        <a:t>Please help me.</a:t>
                      </a:r>
                    </a:p>
                  </a:txBody>
                  <a:tcPr anchor="ctr">
                    <a:solidFill>
                      <a:srgbClr val="FFFFFF"/>
                    </a:solidFill>
                  </a:tcPr>
                </a:tc>
                <a:tc>
                  <a:txBody>
                    <a:bodyPr wrap="square"/>
                    <a:lstStyle/>
                    <a:p>
                      <a:r>
                        <a:rPr sz="1600" b="0">
                          <a:solidFill>
                            <a:srgbClr val="1F2A44"/>
                          </a:solidFill>
                          <a:latin typeface="Arial"/>
                          <a:ea typeface="Microsoft YaHei"/>
                        </a:rPr>
                        <a:t>Could you give me a hand with this?</a:t>
                      </a:r>
                    </a:p>
                  </a:txBody>
                  <a:tcPr anchor="ctr">
                    <a:solidFill>
                      <a:srgbClr val="FFFFFF"/>
                    </a:solidFill>
                  </a:tcPr>
                </a:tc>
                <a:tc>
                  <a:txBody>
                    <a:bodyPr wrap="square"/>
                    <a:lstStyle/>
                    <a:p>
                      <a:r>
                        <a:rPr sz="1600" b="0">
                          <a:solidFill>
                            <a:srgbClr val="FF6B5B"/>
                          </a:solidFill>
                          <a:latin typeface="Arial"/>
                          <a:ea typeface="Microsoft YaHei"/>
                        </a:rPr>
                        <a:t>口语</a:t>
                      </a:r>
                    </a:p>
                  </a:txBody>
                  <a:tcPr anchor="ctr">
                    <a:solidFill>
                      <a:srgbClr val="FFFFFF"/>
                    </a:solidFill>
                  </a:tcPr>
                </a:tc>
              </a:tr>
            </a:tbl>
          </a:graphicData>
        </a:graphic>
      </p:graphicFrame>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45 Does Teamwork Make the Dream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Gerund/infinitive: </a:t>
            </a:r>
            <a:r>
              <a:rPr sz="1700" b="0">
                <a:solidFill>
                  <a:srgbClr val="1F2A44"/>
                </a:solidFill>
                <a:latin typeface="Arial"/>
                <a:ea typeface="Microsoft YaHei"/>
              </a:rPr>
              <a:t>enjoy working in teams, prefer to work alone / prefer working alone.</a:t>
            </a:r>
          </a:p>
        </p:txBody>
      </p:sp>
      <p:sp>
        <p:nvSpPr>
          <p:cNvPr id="11" name="Rounded Rectangle 10"/>
          <p:cNvSpPr/>
          <p:nvPr/>
        </p:nvSpPr>
        <p:spPr>
          <a:xfrm>
            <a:off x="548640" y="195071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701039"/>
          </a:xfrm>
          <a:prstGeom prst="rect">
            <a:avLst/>
          </a:prstGeom>
          <a:noFill/>
        </p:spPr>
        <p:txBody>
          <a:bodyPr wrap="square" anchor="ctr">
            <a:spAutoFit/>
          </a:bodyPr>
          <a:lstStyle/>
          <a:p>
            <a:r>
              <a:rPr sz="1700" b="1">
                <a:solidFill>
                  <a:srgbClr val="4A90E2"/>
                </a:solidFill>
                <a:latin typeface="Arial"/>
                <a:ea typeface="Microsoft YaHei"/>
              </a:rPr>
              <a:t>Contrast linkers: </a:t>
            </a:r>
            <a:r>
              <a:rPr sz="1700" b="0">
                <a:solidFill>
                  <a:srgbClr val="1F2A44"/>
                </a:solidFill>
                <a:latin typeface="Arial"/>
                <a:ea typeface="Microsoft YaHei"/>
              </a:rPr>
              <a:t>however, whereas, while, on the other hand: “Teams offer variety, whereas individuals are faster.”</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Quantifiers: </a:t>
            </a:r>
            <a:r>
              <a:rPr sz="1700" b="0">
                <a:solidFill>
                  <a:srgbClr val="1F2A44"/>
                </a:solidFill>
                <a:latin typeface="Arial"/>
                <a:ea typeface="Microsoft YaHei"/>
              </a:rPr>
              <a:t>much/many/a lot of/a few/little/few: “There is little time.”</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Reflexive pronouns: </a:t>
            </a:r>
            <a:r>
              <a:rPr sz="1700" b="0">
                <a:solidFill>
                  <a:srgbClr val="1F2A44"/>
                </a:solidFill>
                <a:latin typeface="Arial"/>
                <a:ea typeface="Microsoft YaHei"/>
              </a:rPr>
              <a:t>by myself, himself, themselves: “She did it herself.”</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45 Does Teamwork Make the Dream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Teamwork are important.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Teamwork is important.</a:t>
            </a:r>
          </a:p>
          <a:p>
            <a:pPr algn="l">
              <a:spcAft>
                <a:spcPts val="200"/>
              </a:spcAft>
            </a:pPr>
            <a:r>
              <a:rPr sz="1200" b="0">
                <a:solidFill>
                  <a:srgbClr val="FFFFFF"/>
                </a:solidFill>
                <a:latin typeface="Arial"/>
                <a:ea typeface="Microsoft YaHei"/>
              </a:rPr>
              <a:t>不可数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like work in a team.</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like working in a team.</a:t>
            </a:r>
          </a:p>
          <a:p>
            <a:pPr algn="l">
              <a:spcAft>
                <a:spcPts val="200"/>
              </a:spcAft>
            </a:pPr>
            <a:r>
              <a:rPr sz="1200" b="0">
                <a:solidFill>
                  <a:srgbClr val="FFFFFF"/>
                </a:solidFill>
                <a:latin typeface="Arial"/>
                <a:ea typeface="Microsoft YaHei"/>
              </a:rPr>
              <a:t>like + -ing</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Everybody must to contribute.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Everybody must contribute.</a:t>
            </a:r>
          </a:p>
          <a:p>
            <a:pPr algn="l">
              <a:spcAft>
                <a:spcPts val="200"/>
              </a:spcAft>
            </a:pPr>
            <a:r>
              <a:rPr sz="1200" b="0">
                <a:solidFill>
                  <a:srgbClr val="FFFFFF"/>
                </a:solidFill>
                <a:latin typeface="Arial"/>
                <a:ea typeface="Microsoft YaHei"/>
              </a:rPr>
              <a:t>must + 原形</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45 Does Teamwork Make the Dream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lack of team spirit.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lacks team spirit.</a:t>
            </a:r>
          </a:p>
          <a:p>
            <a:pPr algn="l">
              <a:spcAft>
                <a:spcPts val="200"/>
              </a:spcAft>
            </a:pPr>
            <a:r>
              <a:rPr sz="1200" b="0">
                <a:solidFill>
                  <a:srgbClr val="FFFFFF"/>
                </a:solidFill>
                <a:latin typeface="Arial"/>
                <a:ea typeface="Microsoft YaHei"/>
              </a:rPr>
              <a:t>lack</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have a good team work.</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have good teamwork.</a:t>
            </a:r>
          </a:p>
          <a:p>
            <a:pPr algn="l">
              <a:spcAft>
                <a:spcPts val="200"/>
              </a:spcAft>
            </a:pPr>
            <a:r>
              <a:rPr sz="1200" b="0">
                <a:solidFill>
                  <a:srgbClr val="FFFFFF"/>
                </a:solidFill>
                <a:latin typeface="Arial"/>
                <a:ea typeface="Microsoft YaHei"/>
              </a:rPr>
              <a:t>一个词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contribute for the project.</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contribute to the project.</a:t>
            </a:r>
          </a:p>
          <a:p>
            <a:pPr algn="l">
              <a:spcAft>
                <a:spcPts val="200"/>
              </a:spcAft>
            </a:pPr>
            <a:r>
              <a:rPr sz="1200" b="0">
                <a:solidFill>
                  <a:srgbClr val="FFFFFF"/>
                </a:solidFill>
                <a:latin typeface="Arial"/>
                <a:ea typeface="Microsoft YaHei"/>
              </a:rPr>
              <a:t>contribute to</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teamwork (one word, uncountable), contribute to, and like + -ing.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45 Does Teamwork Make the Dream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“Team player”: In Western CVs, “team player” is a standard term. Provide examples rather than just stating it.</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Group work in Asian cultures: </a:t>
            </a:r>
            <a:r>
              <a:rPr sz="1700" b="0">
                <a:solidFill>
                  <a:srgbClr val="1F2A44"/>
                </a:solidFill>
                <a:latin typeface="Arial"/>
                <a:ea typeface="Microsoft YaHei"/>
              </a:rPr>
              <a:t>Harmony may lead people to avoid disagreement. Encourage open ideas.</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1">
                <a:solidFill>
                  <a:srgbClr val="3CC49A"/>
                </a:solidFill>
                <a:latin typeface="Arial"/>
                <a:ea typeface="Microsoft YaHei"/>
              </a:rPr>
              <a:t>Remote teams: </a:t>
            </a:r>
            <a:r>
              <a:rPr sz="1700" b="0">
                <a:solidFill>
                  <a:srgbClr val="1F2A44"/>
                </a:solidFill>
                <a:latin typeface="Arial"/>
                <a:ea typeface="Microsoft YaHei"/>
              </a:rPr>
              <a:t>Written updates and clear task ownership are crucial when teams aren’t together.</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teamwork 是一个词,不可数,谓语用单数 is。contribute to;lack 是及物动词;like doing / like to do 都可以。</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45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45 Does Teamwork Make the Dream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and justify an opinion on teamwork.</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team roles and problems.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contrast linkers (whereas, however).</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contribute to and uncountable teamwork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45 Does Teamwork Make the Dream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uncountable teamwork, contribute to, and contrast linkers.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5 · Lesson 46 What Makes a Great Project Manager</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203</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46</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4400" b="1">
                <a:solidFill>
                  <a:srgbClr val="FFFFFF"/>
                </a:solidFill>
                <a:latin typeface="Arial"/>
                <a:ea typeface="Microsoft YaHei"/>
              </a:rPr>
              <a:t>What Makes a Great Project Manager</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优秀项目经理的特质是什么?</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describe the skills and habits of a great project manager: planning, communication, risk management, stakeholder management and leadership under pressure.</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46 What Makes a Great Project Manager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worked on a project? Who managed it?</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does a project manager actually do?</a:t>
            </a:r>
          </a:p>
        </p:txBody>
      </p:sp>
      <p:sp>
        <p:nvSpPr>
          <p:cNvPr id="15" name="Oval 14"/>
          <p:cNvSpPr/>
          <p:nvPr/>
        </p:nvSpPr>
        <p:spPr>
          <a:xfrm>
            <a:off x="548640" y="319125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Which is more important for a project manager: technical knowledge or people skills?</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stay organised when you have many tasks?</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would you do if a project was running late?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2 题可用 “A project manager is responsible for…”。stakeholder = 利益相关方。scope = 项目范围。</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46 What Makes a Great Project Manager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the qualities of a great project manager with examples.</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quality 1</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example</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quality 2</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example</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conclusion</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First and foremost…   💬 A good example of this is…   💬 Above all, …</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First and foremost = 首先最重要的是。above all = 尤其是。用具体例子支持观点。</a:t>
            </a:r>
          </a:p>
        </p:txBody>
      </p:sp>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The Person in the Middle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133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46 What Makes a Great Project Manager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A project manager sits at the centre of a web of people: the client who wants results, the team that does the work and senior managers who control the budget. The job is to turn an idea into a delivered result on time and within budget. That requires planning, but also constant communication. Great project managers define the scope clearly and refuse to let it grow quietly. They identify risks early, keep stakeholders informed and deliver bad news promptly rather than hoping it will go away. They are calm under pressure and know how to motivate people they do not directly manage. Technical knowledge helps, but the most valued skills are usually organisation, negotiation and honest communication. Above all, they take responsibility for the outcome, whether it is a success or a setback.</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46 What Makes a Great Project Manager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is the project manager’s core job?</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To turn an idea into a delivered result on time and within budget.</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do great project managers do about risks and bad news?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Identify risks early and deliver bad news promptly.</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Which skills are most valued?</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Organisation, negotiation and honest communication.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Project roles and tools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46 What Makes a Great Project Manager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项目角色与工具</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stakeholder</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利益相关方</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must keep all stakeholders informed.”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scope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项目范围</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scope of the project has changed.”</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milestone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里程碑</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reached the first milestone.”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deliverable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交付物</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main deliverable is the report.”</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budget</a:t>
            </a:r>
          </a:p>
          <a:p>
            <a:pPr algn="l">
              <a:lnSpc>
                <a:spcPct val="115000"/>
              </a:lnSpc>
              <a:spcAft>
                <a:spcPts val="800"/>
              </a:spcAft>
            </a:pPr>
            <a:r>
              <a:rPr sz="1300" b="0">
                <a:solidFill>
                  <a:srgbClr val="5F677A"/>
                </a:solidFill>
                <a:latin typeface="Arial"/>
                <a:ea typeface="Microsoft YaHei"/>
              </a:rPr>
              <a:t>noun / 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预算</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“We’re over budget.”</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timeline</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时间线</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timeline is tight.”</a:t>
            </a:r>
          </a:p>
        </p:txBody>
      </p:sp>
    </p:spTree>
  </p:cSld>
  <p:clrMapOvr>
    <a:masterClrMapping/>
  </p:clrMapOvr>
  <p:transition spd="med">
    <p:fade/>
  </p:transition>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Qualities and habits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46 What Makes a Great Project Manager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品质与习惯</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scope creep</a:t>
            </a:r>
          </a:p>
          <a:p>
            <a:pPr algn="l">
              <a:lnSpc>
                <a:spcPct val="115000"/>
              </a:lnSpc>
              <a:spcAft>
                <a:spcPts val="800"/>
              </a:spcAft>
            </a:pPr>
            <a:r>
              <a:rPr sz="1300" b="0">
                <a:solidFill>
                  <a:srgbClr val="5F677A"/>
                </a:solidFill>
                <a:latin typeface="Arial"/>
                <a:ea typeface="Microsoft YaHei"/>
              </a:rPr>
              <a:t>noun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范围蔓延</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“Scope creep delayed us.”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stay on track</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保持进度</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to stay on track.”</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keep an eye on</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留意</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“Keep an eye on the budget.”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juggle</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同时处理多项任务</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juggles three projects.”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anticipate</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预见</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good manager anticipates problems.”</a:t>
            </a:r>
          </a:p>
        </p:txBody>
      </p:sp>
      <p:sp>
        <p:nvSpPr>
          <p:cNvPr id="34" name="Rounded Rectangle 33"/>
          <p:cNvSpPr/>
          <p:nvPr/>
        </p:nvSpPr>
        <p:spPr>
          <a:xfrm>
            <a:off x="548640" y="49352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responsibility for</a:t>
            </a:r>
          </a:p>
          <a:p>
            <a:pPr algn="l">
              <a:lnSpc>
                <a:spcPct val="115000"/>
              </a:lnSpc>
              <a:spcAft>
                <a:spcPts val="800"/>
              </a:spcAft>
            </a:pPr>
            <a:r>
              <a:rPr sz="1300" b="0">
                <a:solidFill>
                  <a:srgbClr val="5F677A"/>
                </a:solidFill>
                <a:latin typeface="Arial"/>
                <a:ea typeface="Microsoft YaHei"/>
              </a:rPr>
              <a:t>collocation</a:t>
            </a:r>
          </a:p>
        </p:txBody>
      </p:sp>
      <p:sp>
        <p:nvSpPr>
          <p:cNvPr id="37" name="TextBox 36"/>
          <p:cNvSpPr txBox="1"/>
          <p:nvPr/>
        </p:nvSpPr>
        <p:spPr>
          <a:xfrm>
            <a:off x="4206240" y="49809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对……负责</a:t>
            </a:r>
          </a:p>
        </p:txBody>
      </p:sp>
      <p:sp>
        <p:nvSpPr>
          <p:cNvPr id="38" name="TextBox 37"/>
          <p:cNvSpPr txBox="1"/>
          <p:nvPr/>
        </p:nvSpPr>
        <p:spPr>
          <a:xfrm>
            <a:off x="6675120" y="49809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took responsibility for the delay.”</a:t>
            </a:r>
          </a:p>
        </p:txBody>
      </p:sp>
    </p:spTree>
  </p:cSld>
  <p:clrMapOvr>
    <a:masterClrMapping/>
  </p:clrMapOvr>
  <p:transition spd="med">
    <p:fade/>
  </p:transition>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46 What Makes a Great Project Manager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保持进度</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stay on track</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预算</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budget</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项目范围</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scope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对……负责</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responsibility for</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利益相关方</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stakeholder</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里程碑</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milestone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预见</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anticipate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同时处理多项任务</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juggle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46 What Makes a Great Project Manager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682495"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stakeholders</a:t>
            </a:r>
          </a:p>
        </p:txBody>
      </p:sp>
      <p:sp>
        <p:nvSpPr>
          <p:cNvPr id="10" name="Rounded Rectangle 9"/>
          <p:cNvSpPr/>
          <p:nvPr/>
        </p:nvSpPr>
        <p:spPr>
          <a:xfrm>
            <a:off x="3785615" y="987552"/>
            <a:ext cx="91440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scope</a:t>
            </a:r>
          </a:p>
        </p:txBody>
      </p:sp>
      <p:sp>
        <p:nvSpPr>
          <p:cNvPr id="11" name="Rounded Rectangle 10"/>
          <p:cNvSpPr/>
          <p:nvPr/>
        </p:nvSpPr>
        <p:spPr>
          <a:xfrm>
            <a:off x="4791455" y="987552"/>
            <a:ext cx="135331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milestone</a:t>
            </a:r>
          </a:p>
        </p:txBody>
      </p:sp>
      <p:sp>
        <p:nvSpPr>
          <p:cNvPr id="12" name="Rounded Rectangle 11"/>
          <p:cNvSpPr/>
          <p:nvPr/>
        </p:nvSpPr>
        <p:spPr>
          <a:xfrm>
            <a:off x="6236207" y="987552"/>
            <a:ext cx="1572767"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deliverable</a:t>
            </a:r>
          </a:p>
        </p:txBody>
      </p:sp>
      <p:sp>
        <p:nvSpPr>
          <p:cNvPr id="13" name="Rounded Rectangle 12"/>
          <p:cNvSpPr/>
          <p:nvPr/>
        </p:nvSpPr>
        <p:spPr>
          <a:xfrm>
            <a:off x="7900414" y="987552"/>
            <a:ext cx="1572767"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Scope creep</a:t>
            </a:r>
          </a:p>
        </p:txBody>
      </p:sp>
      <p:sp>
        <p:nvSpPr>
          <p:cNvPr id="14" name="Rounded Rectangle 13"/>
          <p:cNvSpPr/>
          <p:nvPr/>
        </p:nvSpPr>
        <p:spPr>
          <a:xfrm>
            <a:off x="9564621"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juggle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1.  We need to keep all _______ informed about progress.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stakeholders</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2.  The _______ of the project was not clear.</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scope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3.  We reached the first _______ ahead of schedule.</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milestone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4.  The final _______ is a prototype for the client.</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deliverable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5.  _______ is when extra requirements are added without changing the budget.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Scope creep</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6.  She has to _______ three projects at the same time.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juggle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schedule, deliverable (not “deliverible”), stakeholder (one word). Meet / miss a deadline, run late, run over budget. In charge of a project. Ahead of / behind schedule (no “the”).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Role Play · Updating a stakeholder about a delay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46 What Makes a Great Project Manager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向相关方通报延误</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are the project manager. Your client, Mr Lopez, calls to ask about progress. The prototype will be a week late.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Hana Ito, project manager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Lopez, client</a:t>
            </a:r>
          </a:p>
        </p:txBody>
      </p:sp>
    </p:spTree>
  </p:cSld>
  <p:clrMapOvr>
    <a:masterClrMapping/>
  </p:clrMapOvr>
  <p:transition spd="med">
    <p:fade/>
  </p:transition>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Updating a stakeholder about a delay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46 What Makes a Great Project Manager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Hana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Mr Lopez, thanks for calling. I was going to contact you today with an update.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Lopez</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How’s the prototype going?</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be honest. We’ve hit a delay. The supplier is a week late with a key component.</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week? That’s a problem. We’ve promised the launch to our board.</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understand. We’ve looked at options, and we can recover some time by working in parallel on testing.</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much time?</a:t>
            </a:r>
          </a:p>
        </p:txBody>
      </p:sp>
    </p:spTree>
  </p:cSld>
  <p:clrMapOvr>
    <a:masterClrMapping/>
  </p:clrMapOvr>
  <p:transition spd="med">
    <p:fade/>
  </p:transition>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Updating a stakeholder about a delay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46 What Makes a Great Project Manager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think we can cut the delay to three days, and we’ll keep you updated daily.</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more acceptable. But what are the risks?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main risk is further supplier problems. I’ve arranged a backup supplier to be safe.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Please send me the revised timeline today.</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I’m sorry for the inconvenience, and I’ll make sure we stay on track from here.</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being direct, Hana.</a:t>
            </a:r>
          </a:p>
        </p:txBody>
      </p:sp>
    </p:spTree>
  </p:cSld>
  <p:clrMapOvr>
    <a:masterClrMapping/>
  </p:clrMapOvr>
  <p:transition spd="med">
    <p:fade/>
  </p:transition>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Your Turn · Updating a stakeholder about a delay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46 What Makes a Great Project Manager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give a stakeholder bad news.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Project manager. Issue and delay: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Client. Worried about launch date.</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hit a delay · recover time · risk · backup · revised timeline · stay on track</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State the problem, explain your plan, give a new date and offer updates.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Mr Lopez says: “I need it on time, no excuses.” Respond calmly.</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client asks to add a new feature. Handle scope.</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short email confirming the revised timeline.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46 What Makes a Great Project Manager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skills does a project manager need most?</a:t>
            </a:r>
          </a:p>
          <a:p>
            <a:pPr algn="l">
              <a:lnSpc>
                <a:spcPct val="115000"/>
              </a:lnSpc>
              <a:spcAft>
                <a:spcPts val="800"/>
              </a:spcAft>
            </a:pPr>
            <a:r>
              <a:rPr sz="1400" b="0">
                <a:solidFill>
                  <a:srgbClr val="5F677A"/>
                </a:solidFill>
                <a:latin typeface="Arial"/>
                <a:ea typeface="Microsoft YaHei"/>
              </a:rPr>
              <a:t>💬 “Above all, they need… / The most important skill is…”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should bad news be delivered to a client?</a:t>
            </a:r>
          </a:p>
          <a:p>
            <a:pPr algn="l">
              <a:lnSpc>
                <a:spcPct val="115000"/>
              </a:lnSpc>
              <a:spcAft>
                <a:spcPts val="800"/>
              </a:spcAft>
            </a:pPr>
            <a:r>
              <a:rPr sz="1400" b="0">
                <a:solidFill>
                  <a:srgbClr val="5F677A"/>
                </a:solidFill>
                <a:latin typeface="Arial"/>
                <a:ea typeface="Microsoft YaHei"/>
              </a:rPr>
              <a:t>💬 “As soon as possible, and… / It’s better to…”</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main causes of project failure?</a:t>
            </a:r>
          </a:p>
          <a:p>
            <a:pPr algn="l">
              <a:lnSpc>
                <a:spcPct val="115000"/>
              </a:lnSpc>
              <a:spcAft>
                <a:spcPts val="800"/>
              </a:spcAft>
            </a:pPr>
            <a:r>
              <a:rPr sz="1400" b="0">
                <a:solidFill>
                  <a:srgbClr val="5F677A"/>
                </a:solidFill>
                <a:latin typeface="Arial"/>
                <a:ea typeface="Microsoft YaHei"/>
              </a:rPr>
              <a:t>💬 “Common causes include… / Often projects fail because…”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Would you like to be a project manager? Why or why not?</a:t>
            </a:r>
          </a:p>
          <a:p>
            <a:pPr algn="l">
              <a:lnSpc>
                <a:spcPct val="115000"/>
              </a:lnSpc>
              <a:spcAft>
                <a:spcPts val="800"/>
              </a:spcAft>
            </a:pPr>
            <a:r>
              <a:rPr sz="1400" b="0">
                <a:solidFill>
                  <a:srgbClr val="5F677A"/>
                </a:solidFill>
                <a:latin typeface="Arial"/>
                <a:ea typeface="Microsoft YaHei"/>
              </a:rPr>
              <a:t>💬 “I think I’d enjoy it because… / I’m not sure because…”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46 What Makes a Great Project Manager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Bad news should be delivered as early as possible, in person or by phone if it’s serious, and together with a plan. Clients are usually more upset by surprises than by problems. So I’d explain what happened, what the impact is and what we’re doing about it, and then offer regular updates. It’s important to take responsibility without making excuses or blaming people.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upset by surprises = 被意外弄得不悦。impact = 影响。make excuses = 找借口。 “together with” = 同时。</a:t>
            </a:r>
          </a:p>
        </p:txBody>
      </p:sp>
    </p:spTree>
  </p:cSld>
  <p:clrMapOvr>
    <a:masterClrMapping/>
  </p:clrMapOvr>
  <p:transition spd="med">
    <p:fade/>
  </p:transition>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46 What Makes a Great Project Manager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93827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The project is late.</a:t>
                      </a:r>
                    </a:p>
                  </a:txBody>
                  <a:tcPr anchor="ctr">
                    <a:solidFill>
                      <a:srgbClr val="FFFFFF"/>
                    </a:solidFill>
                  </a:tcPr>
                </a:tc>
                <a:tc>
                  <a:txBody>
                    <a:bodyPr wrap="square"/>
                    <a:lstStyle/>
                    <a:p>
                      <a:r>
                        <a:rPr sz="1600" b="0">
                          <a:solidFill>
                            <a:srgbClr val="1F2A44"/>
                          </a:solidFill>
                          <a:latin typeface="Arial"/>
                          <a:ea typeface="Microsoft YaHei"/>
                        </a:rPr>
                        <a:t>We’re running a week behind schedule.</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r h="408432">
                <a:tc>
                  <a:txBody>
                    <a:bodyPr wrap="square"/>
                    <a:lstStyle/>
                    <a:p>
                      <a:r>
                        <a:rPr sz="1600" b="1">
                          <a:solidFill>
                            <a:srgbClr val="1F2A44"/>
                          </a:solidFill>
                          <a:latin typeface="Arial"/>
                          <a:ea typeface="Microsoft YaHei"/>
                        </a:rPr>
                        <a:t>We lost money.</a:t>
                      </a:r>
                    </a:p>
                  </a:txBody>
                  <a:tcPr anchor="ctr">
                    <a:solidFill>
                      <a:srgbClr val="FFEFD9"/>
                    </a:solidFill>
                  </a:tcPr>
                </a:tc>
                <a:tc>
                  <a:txBody>
                    <a:bodyPr wrap="square"/>
                    <a:lstStyle/>
                    <a:p>
                      <a:r>
                        <a:rPr sz="1600" b="0">
                          <a:solidFill>
                            <a:srgbClr val="1F2A44"/>
                          </a:solidFill>
                          <a:latin typeface="Arial"/>
                          <a:ea typeface="Microsoft YaHei"/>
                        </a:rPr>
                        <a:t>We’ve gone over budget.</a:t>
                      </a:r>
                    </a:p>
                  </a:txBody>
                  <a:tcPr anchor="ctr">
                    <a:solidFill>
                      <a:srgbClr val="FFEFD9"/>
                    </a:solidFill>
                  </a:tcPr>
                </a:tc>
                <a:tc>
                  <a:txBody>
                    <a:bodyPr wrap="square"/>
                    <a:lstStyle/>
                    <a:p>
                      <a:r>
                        <a:rPr sz="1600" b="0">
                          <a:solidFill>
                            <a:srgbClr val="FF6B5B"/>
                          </a:solidFill>
                          <a:latin typeface="Arial"/>
                          <a:ea typeface="Microsoft YaHei"/>
                        </a:rPr>
                        <a:t>术语</a:t>
                      </a:r>
                    </a:p>
                  </a:txBody>
                  <a:tcPr anchor="ctr">
                    <a:solidFill>
                      <a:srgbClr val="FFEFD9"/>
                    </a:solidFill>
                  </a:tcPr>
                </a:tc>
              </a:tr>
              <a:tr h="408432">
                <a:tc>
                  <a:txBody>
                    <a:bodyPr wrap="square"/>
                    <a:lstStyle/>
                    <a:p>
                      <a:r>
                        <a:rPr sz="1600" b="1">
                          <a:solidFill>
                            <a:srgbClr val="1F2A44"/>
                          </a:solidFill>
                          <a:latin typeface="Arial"/>
                          <a:ea typeface="Microsoft YaHei"/>
                        </a:rPr>
                        <a:t>Something is wrong.</a:t>
                      </a:r>
                    </a:p>
                  </a:txBody>
                  <a:tcPr anchor="ctr">
                    <a:solidFill>
                      <a:srgbClr val="FFFFFF"/>
                    </a:solidFill>
                  </a:tcPr>
                </a:tc>
                <a:tc>
                  <a:txBody>
                    <a:bodyPr wrap="square"/>
                    <a:lstStyle/>
                    <a:p>
                      <a:r>
                        <a:rPr sz="1600" b="0">
                          <a:solidFill>
                            <a:srgbClr val="1F2A44"/>
                          </a:solidFill>
                          <a:latin typeface="Arial"/>
                          <a:ea typeface="Microsoft YaHei"/>
                        </a:rPr>
                        <a:t>We’ve hit an issue.</a:t>
                      </a:r>
                    </a:p>
                  </a:txBody>
                  <a:tcPr anchor="ctr">
                    <a:solidFill>
                      <a:srgbClr val="FFFFFF"/>
                    </a:solidFill>
                  </a:tcPr>
                </a:tc>
                <a:tc>
                  <a:txBody>
                    <a:bodyPr wrap="square"/>
                    <a:lstStyle/>
                    <a:p>
                      <a:r>
                        <a:rPr sz="1600" b="0">
                          <a:solidFill>
                            <a:srgbClr val="FF6B5B"/>
                          </a:solidFill>
                          <a:latin typeface="Arial"/>
                          <a:ea typeface="Microsoft YaHei"/>
                        </a:rPr>
                        <a:t>简洁</a:t>
                      </a:r>
                    </a:p>
                  </a:txBody>
                  <a:tcPr anchor="ctr">
                    <a:solidFill>
                      <a:srgbClr val="FFFFFF"/>
                    </a:solidFill>
                  </a:tcPr>
                </a:tc>
              </a:tr>
              <a:tr h="408432">
                <a:tc>
                  <a:txBody>
                    <a:bodyPr wrap="square"/>
                    <a:lstStyle/>
                    <a:p>
                      <a:r>
                        <a:rPr sz="1600" b="1">
                          <a:solidFill>
                            <a:srgbClr val="1F2A44"/>
                          </a:solidFill>
                          <a:latin typeface="Arial"/>
                          <a:ea typeface="Microsoft YaHei"/>
                        </a:rPr>
                        <a:t>I’ll tell you again.</a:t>
                      </a:r>
                    </a:p>
                  </a:txBody>
                  <a:tcPr anchor="ctr">
                    <a:solidFill>
                      <a:srgbClr val="FFEFD9"/>
                    </a:solidFill>
                  </a:tcPr>
                </a:tc>
                <a:tc>
                  <a:txBody>
                    <a:bodyPr wrap="square"/>
                    <a:lstStyle/>
                    <a:p>
                      <a:r>
                        <a:rPr sz="1600" b="0">
                          <a:solidFill>
                            <a:srgbClr val="1F2A44"/>
                          </a:solidFill>
                          <a:latin typeface="Arial"/>
                          <a:ea typeface="Microsoft YaHei"/>
                        </a:rPr>
                        <a:t>I’ll keep you posted.</a:t>
                      </a:r>
                    </a:p>
                  </a:txBody>
                  <a:tcPr anchor="ctr">
                    <a:solidFill>
                      <a:srgbClr val="FFEFD9"/>
                    </a:solidFill>
                  </a:tcPr>
                </a:tc>
                <a:tc>
                  <a:txBody>
                    <a:bodyPr wrap="square"/>
                    <a:lstStyle/>
                    <a:p>
                      <a:r>
                        <a:rPr sz="1600" b="0">
                          <a:solidFill>
                            <a:srgbClr val="FF6B5B"/>
                          </a:solidFill>
                          <a:latin typeface="Arial"/>
                          <a:ea typeface="Microsoft YaHei"/>
                        </a:rPr>
                        <a:t>常用</a:t>
                      </a:r>
                    </a:p>
                  </a:txBody>
                  <a:tcPr anchor="ctr">
                    <a:solidFill>
                      <a:srgbClr val="FFEFD9"/>
                    </a:solidFill>
                  </a:tcPr>
                </a:tc>
              </a:tr>
              <a:tr h="652272">
                <a:tc>
                  <a:txBody>
                    <a:bodyPr wrap="square"/>
                    <a:lstStyle/>
                    <a:p>
                      <a:r>
                        <a:rPr sz="1600" b="1">
                          <a:solidFill>
                            <a:srgbClr val="1F2A44"/>
                          </a:solidFill>
                          <a:latin typeface="Arial"/>
                          <a:ea typeface="Microsoft YaHei"/>
                        </a:rPr>
                        <a:t>Don’t worry.</a:t>
                      </a:r>
                    </a:p>
                  </a:txBody>
                  <a:tcPr anchor="ctr">
                    <a:solidFill>
                      <a:srgbClr val="FFFFFF"/>
                    </a:solidFill>
                  </a:tcPr>
                </a:tc>
                <a:tc>
                  <a:txBody>
                    <a:bodyPr wrap="square"/>
                    <a:lstStyle/>
                    <a:p>
                      <a:r>
                        <a:rPr sz="1600" b="0">
                          <a:solidFill>
                            <a:srgbClr val="1F2A44"/>
                          </a:solidFill>
                          <a:latin typeface="Arial"/>
                          <a:ea typeface="Microsoft YaHei"/>
                        </a:rPr>
                        <a:t>We have a plan to get back on track.</a:t>
                      </a:r>
                    </a:p>
                  </a:txBody>
                  <a:tcPr anchor="ctr">
                    <a:solidFill>
                      <a:srgbClr val="FFFFFF"/>
                    </a:solidFill>
                  </a:tcPr>
                </a:tc>
                <a:tc>
                  <a:txBody>
                    <a:bodyPr wrap="square"/>
                    <a:lstStyle/>
                    <a:p>
                      <a:r>
                        <a:rPr sz="1600" b="0">
                          <a:solidFill>
                            <a:srgbClr val="FF6B5B"/>
                          </a:solidFill>
                          <a:latin typeface="Arial"/>
                          <a:ea typeface="Microsoft YaHei"/>
                        </a:rPr>
                        <a:t>实质安慰</a:t>
                      </a:r>
                    </a:p>
                  </a:txBody>
                  <a:tcPr anchor="ctr">
                    <a:solidFill>
                      <a:srgbClr val="FFFFFF"/>
                    </a:solidFill>
                  </a:tcPr>
                </a:tc>
              </a:tr>
            </a:tbl>
          </a:graphicData>
        </a:graphic>
      </p:graphicFrame>
    </p:spTree>
  </p:cSld>
  <p:clrMapOvr>
    <a:masterClrMapping/>
  </p:clrMapOvr>
  <p:transition spd="med">
    <p:fade/>
  </p:transition>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46 What Makes a Great Project Manager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Present perfect for progress: </a:t>
            </a:r>
            <a:r>
              <a:rPr sz="1700" b="0">
                <a:solidFill>
                  <a:srgbClr val="1F2A44"/>
                </a:solidFill>
                <a:latin typeface="Arial"/>
                <a:ea typeface="Microsoft YaHei"/>
              </a:rPr>
              <a:t>“We’ve completed the first phase.” / “We haven’t received the parts yet.”</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Future in the past: </a:t>
            </a:r>
            <a:r>
              <a:rPr sz="1700" b="0">
                <a:solidFill>
                  <a:srgbClr val="1F2A44"/>
                </a:solidFill>
                <a:latin typeface="Arial"/>
                <a:ea typeface="Microsoft YaHei"/>
              </a:rPr>
              <a:t>“I was going to call you.” (planned but didn’t)</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Apologising: </a:t>
            </a:r>
            <a:r>
              <a:rPr sz="1700" b="0">
                <a:solidFill>
                  <a:srgbClr val="1F2A44"/>
                </a:solidFill>
                <a:latin typeface="Arial"/>
                <a:ea typeface="Microsoft YaHei"/>
              </a:rPr>
              <a:t>I’m sorry for the inconvenience / I apologise for the delay. (for + noun/-ing)</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Passive for results: </a:t>
            </a:r>
            <a:r>
              <a:rPr sz="1700" b="0">
                <a:solidFill>
                  <a:srgbClr val="1F2A44"/>
                </a:solidFill>
                <a:latin typeface="Arial"/>
                <a:ea typeface="Microsoft YaHei"/>
              </a:rPr>
              <a:t>“The report will be delivered on Friday.”</a:t>
            </a:r>
          </a:p>
        </p:txBody>
      </p:sp>
    </p:spTree>
  </p:cSld>
  <p:clrMapOvr>
    <a:masterClrMapping/>
  </p:clrMapOvr>
  <p:transition spd="med">
    <p:fade/>
  </p:transition>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46 What Makes a Great Project Manager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project delayed.</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project is delayed. / The project was delayed.</a:t>
            </a:r>
          </a:p>
          <a:p>
            <a:pPr algn="l">
              <a:spcAft>
                <a:spcPts val="200"/>
              </a:spcAft>
            </a:pPr>
            <a:r>
              <a:rPr sz="1200" b="0">
                <a:solidFill>
                  <a:srgbClr val="FFFFFF"/>
                </a:solidFill>
                <a:latin typeface="Arial"/>
                <a:ea typeface="Microsoft YaHei"/>
              </a:rPr>
              <a:t>被动</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are behind of schedule.</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are behind schedule.</a:t>
            </a:r>
          </a:p>
          <a:p>
            <a:pPr algn="l">
              <a:spcAft>
                <a:spcPts val="200"/>
              </a:spcAft>
            </a:pPr>
            <a:r>
              <a:rPr sz="1200" b="0">
                <a:solidFill>
                  <a:srgbClr val="FFFFFF"/>
                </a:solidFill>
                <a:latin typeface="Arial"/>
                <a:ea typeface="Microsoft YaHei"/>
              </a:rPr>
              <a:t>behind schedule</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responsible of the budget.</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is responsible for the budget.</a:t>
            </a:r>
          </a:p>
          <a:p>
            <a:pPr algn="l">
              <a:spcAft>
                <a:spcPts val="200"/>
              </a:spcAft>
            </a:pPr>
            <a:r>
              <a:rPr sz="1200" b="0">
                <a:solidFill>
                  <a:srgbClr val="FFFFFF"/>
                </a:solidFill>
                <a:latin typeface="Arial"/>
                <a:ea typeface="Microsoft YaHei"/>
              </a:rPr>
              <a:t>responsible for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46 What Makes a Great Project Manager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will arrive the deadline.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will meet the deadline.</a:t>
            </a:r>
          </a:p>
          <a:p>
            <a:pPr algn="l">
              <a:spcAft>
                <a:spcPts val="200"/>
              </a:spcAft>
            </a:pPr>
            <a:r>
              <a:rPr sz="1200" b="0">
                <a:solidFill>
                  <a:srgbClr val="FFFFFF"/>
                </a:solidFill>
                <a:latin typeface="Arial"/>
                <a:ea typeface="Microsoft YaHei"/>
              </a:rPr>
              <a:t>meet</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apologise about the late.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apologise for the delay.</a:t>
            </a:r>
          </a:p>
          <a:p>
            <a:pPr algn="l">
              <a:spcAft>
                <a:spcPts val="200"/>
              </a:spcAft>
            </a:pPr>
            <a:r>
              <a:rPr sz="1200" b="0">
                <a:solidFill>
                  <a:srgbClr val="FFFFFF"/>
                </a:solidFill>
                <a:latin typeface="Arial"/>
                <a:ea typeface="Microsoft YaHei"/>
              </a:rPr>
              <a:t>delay</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project is in time.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project is on time.</a:t>
            </a:r>
          </a:p>
          <a:p>
            <a:pPr algn="l">
              <a:spcAft>
                <a:spcPts val="200"/>
              </a:spcAft>
            </a:pPr>
            <a:r>
              <a:rPr sz="1200" b="0">
                <a:solidFill>
                  <a:srgbClr val="FFFFFF"/>
                </a:solidFill>
                <a:latin typeface="Arial"/>
                <a:ea typeface="Microsoft YaHei"/>
              </a:rPr>
              <a:t>on time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passive forms (is delayed), prepositions (responsible for, behind schedule), and on time vs in time.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46 What Makes a Great Project Manager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Bad news early: </a:t>
            </a:r>
            <a:r>
              <a:rPr sz="1700" b="0">
                <a:solidFill>
                  <a:srgbClr val="1F2A44"/>
                </a:solidFill>
                <a:latin typeface="Arial"/>
                <a:ea typeface="Microsoft YaHei"/>
              </a:rPr>
              <a:t>Western clients prefer early, honest warnings. Hiding problems damages trust more than the problem itself.</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Jargon: </a:t>
            </a:r>
            <a:r>
              <a:rPr sz="1700" b="0">
                <a:solidFill>
                  <a:srgbClr val="1F2A44"/>
                </a:solidFill>
                <a:latin typeface="Arial"/>
                <a:ea typeface="Microsoft YaHei"/>
              </a:rPr>
              <a:t>PM terms (sprint, waterfall, Gantt chart) are widely used; explain them to non-specialists.</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Apologising: </a:t>
            </a:r>
            <a:r>
              <a:rPr sz="1700" b="0">
                <a:solidFill>
                  <a:srgbClr val="1F2A44"/>
                </a:solidFill>
                <a:latin typeface="Arial"/>
                <a:ea typeface="Microsoft YaHei"/>
              </a:rPr>
              <a:t>A British “sorry” is often routine; a sincere apology states the problem and the fix.</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on time(准时)与 in time(及时,赶得上)不同;responsible for;behind schedule(无 of)。坏消息要尽早说,并附带解决方案。</a:t>
            </a:r>
          </a:p>
        </p:txBody>
      </p:sp>
    </p:spTree>
  </p:cSld>
  <p:clrMapOvr>
    <a:masterClrMapping/>
  </p:clrMapOvr>
  <p:transition spd="med">
    <p:fade/>
  </p:transition>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46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46 What Makes a Great Project Manager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qualities of a great project manager.</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deliver bad news with a plan.</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project vocabulary (scope, milestone, deliverable).</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on time / in time and responsible for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46 What Makes a Great Project Manager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on time vs in time, responsible for, and passive forms with delay.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5 · Lesson 47 Creating a Learning Culture</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225</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47</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Creating a Learning Culture</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打造学习型团队</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learning and development in the workplace: training, mentoring, learning from mistakes and encouraging continuous improvement.</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was the last thing you learned at work?</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prefer to learn: courses, mentoring or on-the-job?</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Does your company encourage learning from mistakes?</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managers make time for training?</a:t>
            </a:r>
          </a:p>
        </p:txBody>
      </p:sp>
      <p:sp>
        <p:nvSpPr>
          <p:cNvPr id="21" name="Oval 20"/>
          <p:cNvSpPr/>
          <p:nvPr/>
        </p:nvSpPr>
        <p:spPr>
          <a:xfrm>
            <a:off x="548640" y="459942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skills will be most important to learn in the next five years?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on-the-job training = 在职培训。upskill = 提升技能;reskill = 转换技能。learning culture = 学习型文化。</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Propose a plan to build a learning culture in your team.</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aim</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activities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time</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measure success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I’d like to propose…   💬 To make time for learning, we could…   💬 We’ll know it’s working if…</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to make time for … 表示目的。We’ll know it’s working if… 说明衡量标准。</a:t>
            </a:r>
          </a:p>
        </p:txBody>
      </p:sp>
    </p:spTree>
  </p:cSld>
  <p:clrMapOvr>
    <a:masterClrMapping/>
  </p:clrMapOvr>
  <p:transition spd="med">
    <p:fade/>
  </p:transition>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Reading · A Team That Keeps Learning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134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In a fast-changing market, the skills that got you hired may not be enough to keep you employed. Companies with a learning culture treat development as a part of everyday work, not an occasional event. People share what they learn, ask questions without embarrassment and view mistakes as information. Leaders show the way by admitting what they do not know and by protecting time for training, even when deadlines are tight. Simple habits help: short “lunch and learn” sessions, mentoring pairs, post-project reviews that ask what worked and what didn’t, and access to online courses. The benefits are practical: employees become more adaptable, innovation improves and good people stay longer because they see a future. The challenge is to keep learning visible and rewarded, otherwise it is the first thing to disappear under pressure.</a:t>
            </a:r>
          </a:p>
        </p:txBody>
      </p:sp>
    </p:spTree>
  </p:cSld>
  <p:clrMapOvr>
    <a:masterClrMapping/>
  </p:clrMapOvr>
  <p:transition spd="med">
    <p:fade/>
  </p:transition>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is a learning culture?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One where development is a part of everyday work and mistakes are seen as information.</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simple habits are suggested?</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Lunch-and-learn sessions, mentoring pairs, post-project reviews and online courses.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Why is it important to make learning visible and rewarded?</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Otherwise it is the first thing to disappear under pressure.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Learning and development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学习与发展</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training course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培训课程</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attending a training course.”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upskill / reskill</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提升 / 转换技能</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to upskill our staff.”</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mentor</a:t>
            </a:r>
          </a:p>
          <a:p>
            <a:pPr algn="l">
              <a:lnSpc>
                <a:spcPct val="115000"/>
              </a:lnSpc>
              <a:spcAft>
                <a:spcPts val="800"/>
              </a:spcAft>
            </a:pPr>
            <a:r>
              <a:rPr sz="1300" b="0">
                <a:solidFill>
                  <a:srgbClr val="5F677A"/>
                </a:solidFill>
                <a:latin typeface="Arial"/>
                <a:ea typeface="Microsoft YaHei"/>
              </a:rPr>
              <a:t>noun /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导师 / 指导</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mentor helps me.”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on-the-job training</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在职培训</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learned by on-the-job training.”</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skills gap</a:t>
            </a:r>
          </a:p>
          <a:p>
            <a:pPr algn="l">
              <a:lnSpc>
                <a:spcPct val="115000"/>
              </a:lnSpc>
              <a:spcAft>
                <a:spcPts val="800"/>
              </a:spcAft>
            </a:pPr>
            <a:r>
              <a:rPr sz="1300" b="0">
                <a:solidFill>
                  <a:srgbClr val="5F677A"/>
                </a:solidFill>
                <a:latin typeface="Arial"/>
                <a:ea typeface="Microsoft YaHei"/>
              </a:rPr>
              <a:t>noun 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技能缺口</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skills gap in data.”</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continuous improvement</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持续改进</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“Continuous improvement is our approach.”</a:t>
            </a:r>
          </a:p>
        </p:txBody>
      </p:sp>
    </p:spTree>
  </p:cSld>
  <p:clrMapOvr>
    <a:masterClrMapping/>
  </p:clrMapOvr>
  <p:transition spd="med">
    <p:fade/>
  </p:transition>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Growing as a team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共同成长</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learn the ropes</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学习门道</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is still learning the ropes.”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learn from mistakes</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从错误中学习</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learn from our mistakes.”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knowledge sharing</a:t>
            </a:r>
          </a:p>
          <a:p>
            <a:pPr algn="l">
              <a:lnSpc>
                <a:spcPct val="115000"/>
              </a:lnSpc>
              <a:spcAft>
                <a:spcPts val="800"/>
              </a:spcAft>
            </a:pPr>
            <a:r>
              <a:rPr sz="1300" b="0">
                <a:solidFill>
                  <a:srgbClr val="5F677A"/>
                </a:solidFill>
                <a:latin typeface="Arial"/>
                <a:ea typeface="Microsoft YaHei"/>
              </a:rPr>
              <a:t>noun 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知识分享</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“Knowledge sharing improves teamwork.”</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post-mortem / lessons learned</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复盘</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held a post-mortem after the launch.”</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keep up with</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跟上</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try to keep up with industry trends.”</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fall behind</a:t>
            </a:r>
          </a:p>
          <a:p>
            <a:pPr algn="l">
              <a:lnSpc>
                <a:spcPct val="115000"/>
              </a:lnSpc>
              <a:spcAft>
                <a:spcPts val="800"/>
              </a:spcAft>
            </a:pPr>
            <a:r>
              <a:rPr sz="1300" b="0">
                <a:solidFill>
                  <a:srgbClr val="5F677A"/>
                </a:solidFill>
                <a:latin typeface="Arial"/>
                <a:ea typeface="Microsoft YaHei"/>
              </a:rPr>
              <a:t>phrasal verb</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落后</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“If we don’t train, we fall behind.”</a:t>
            </a:r>
          </a:p>
        </p:txBody>
      </p:sp>
    </p:spTree>
  </p:cSld>
  <p:clrMapOvr>
    <a:masterClrMapping/>
  </p:clrMapOvr>
  <p:transition spd="med">
    <p:fade/>
  </p:transition>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学习门道</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learn the ropes</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落后</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fall behind</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复盘</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post-mortem / lessons learned</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在职培训</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on-the-job training</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知识分享</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knowledge sharing</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持续改进</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continuous improvement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技能缺口</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skills gap</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提升 / 转换技能</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upskill / reskill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upskill</a:t>
            </a:r>
          </a:p>
        </p:txBody>
      </p:sp>
      <p:sp>
        <p:nvSpPr>
          <p:cNvPr id="10" name="Rounded Rectangle 9"/>
          <p:cNvSpPr/>
          <p:nvPr/>
        </p:nvSpPr>
        <p:spPr>
          <a:xfrm>
            <a:off x="3236976"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mentor</a:t>
            </a:r>
          </a:p>
        </p:txBody>
      </p:sp>
      <p:sp>
        <p:nvSpPr>
          <p:cNvPr id="11" name="Rounded Rectangle 10"/>
          <p:cNvSpPr/>
          <p:nvPr/>
        </p:nvSpPr>
        <p:spPr>
          <a:xfrm>
            <a:off x="4352544"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on-the-job</a:t>
            </a:r>
          </a:p>
        </p:txBody>
      </p:sp>
      <p:sp>
        <p:nvSpPr>
          <p:cNvPr id="12" name="Rounded Rectangle 11"/>
          <p:cNvSpPr/>
          <p:nvPr/>
        </p:nvSpPr>
        <p:spPr>
          <a:xfrm>
            <a:off x="5907024" y="987552"/>
            <a:ext cx="146304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skills gap</a:t>
            </a:r>
          </a:p>
        </p:txBody>
      </p:sp>
      <p:sp>
        <p:nvSpPr>
          <p:cNvPr id="13" name="Rounded Rectangle 12"/>
          <p:cNvSpPr/>
          <p:nvPr/>
        </p:nvSpPr>
        <p:spPr>
          <a:xfrm>
            <a:off x="7461504" y="987552"/>
            <a:ext cx="2011679"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learn the ropes</a:t>
            </a:r>
          </a:p>
        </p:txBody>
      </p:sp>
      <p:sp>
        <p:nvSpPr>
          <p:cNvPr id="14" name="Rounded Rectangle 13"/>
          <p:cNvSpPr/>
          <p:nvPr/>
        </p:nvSpPr>
        <p:spPr>
          <a:xfrm>
            <a:off x="9564623" y="987552"/>
            <a:ext cx="1682495"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keep up with</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We need to _______ staff to use the new software.</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upskill</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My _______ meets me monthly to review my progress.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mentor</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Most of our training is _______, not in a classroom.</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on-the-job</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There’s a _______ in data analysis in our team.</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skills gap</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New staff need a few weeks to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learn the ropes</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It’s hard to _______ the latest technology.</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keep up with</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training (uncountable: “training”, “a training course”), development, knowledge (not “knowlege”). Attend a course, take a course, do a course; train sb to do sth. Improve (verb) / improvement (noun).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Proposing a learning initiative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提议学习计划</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propose a monthly knowledge-sharing session to your manager.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Ken Liu, team member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Ms Shaw, manager</a:t>
            </a:r>
          </a:p>
        </p:txBody>
      </p:sp>
    </p:spTree>
  </p:cSld>
  <p:clrMapOvr>
    <a:masterClrMapping/>
  </p:clrMapOvr>
  <p:transition spd="med">
    <p:fade/>
  </p:transition>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Proposing a learning initiative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Ken</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Ms Shaw, I’d like to propose a small idea to help the team learn from each other.</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Ms Shaw</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 ahead.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monthly one-hour session where someone shares something they’ve learned: a tool, a project, or a mistake.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Interesting. Where would we find the time?</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could hold it at lunchtime, or use the last hour on a Friday when things are quieter.</a:t>
            </a:r>
          </a:p>
        </p:txBody>
      </p:sp>
    </p:spTree>
  </p:cSld>
  <p:clrMapOvr>
    <a:masterClrMapping/>
  </p:clrMapOvr>
  <p:transition spd="med">
    <p:fade/>
  </p:transition>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Proposing a learning initiative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what’s the benefit for the business?</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reduces duplicated work, helps newer people learn the ropes and builds team spirit.</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would you make sure it doesn’t become a burden?</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Keep it informal, rotate presenters and limit each talk to fifteen minutes.</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like that. Could we run it for three months as a trial?</a:t>
            </a:r>
          </a:p>
        </p:txBody>
      </p:sp>
    </p:spTree>
  </p:cSld>
  <p:clrMapOvr>
    <a:masterClrMapping/>
  </p:clrMapOvr>
  <p:transition spd="med">
    <p:fade/>
  </p:transition>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Proposing a learning initiative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and we’ll know it’s working if attendance stays high and people use what they learn.</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Please draft a schedule, and I’ll announce it.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I’ll have a draft by Tuesday.</a:t>
            </a:r>
          </a:p>
        </p:txBody>
      </p:sp>
    </p:spTree>
  </p:cSld>
  <p:clrMapOvr>
    <a:masterClrMapping/>
  </p:clrMapOvr>
  <p:transition spd="med">
    <p:fade/>
  </p:transition>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Proposing a learning initiative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propose a learning activity.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 Your idea: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Open but concerned about time and benefit.</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learn from each other · learn the ropes · rotate · trial · measure · knowledge sharing</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Present the idea, answer a concern and agree a trial.</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Ms Shaw says: “People are too busy.” Respond.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Describe the most valuable thing you learned this year.</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a way to learn from a mistake without blaming anyone.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prefer to learn at work?</a:t>
            </a:r>
          </a:p>
          <a:p>
            <a:pPr algn="l">
              <a:lnSpc>
                <a:spcPct val="115000"/>
              </a:lnSpc>
              <a:spcAft>
                <a:spcPts val="800"/>
              </a:spcAft>
            </a:pPr>
            <a:r>
              <a:rPr sz="1400" b="0">
                <a:solidFill>
                  <a:srgbClr val="5F677A"/>
                </a:solidFill>
                <a:latin typeface="Arial"/>
                <a:ea typeface="Microsoft YaHei"/>
              </a:rPr>
              <a:t>💬 “I learn best by… / I prefer…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Whose responsibility is it to train employees?</a:t>
            </a:r>
          </a:p>
          <a:p>
            <a:pPr algn="l">
              <a:lnSpc>
                <a:spcPct val="115000"/>
              </a:lnSpc>
              <a:spcAft>
                <a:spcPts val="800"/>
              </a:spcAft>
            </a:pPr>
            <a:r>
              <a:rPr sz="1400" b="0">
                <a:solidFill>
                  <a:srgbClr val="5F677A"/>
                </a:solidFill>
                <a:latin typeface="Arial"/>
                <a:ea typeface="Microsoft YaHei"/>
              </a:rPr>
              <a:t>💬 “It’s a shared responsibility… Employers should… while employees…”</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a company make people comfortable admitting mistakes?</a:t>
            </a:r>
          </a:p>
          <a:p>
            <a:pPr algn="l">
              <a:lnSpc>
                <a:spcPct val="115000"/>
              </a:lnSpc>
              <a:spcAft>
                <a:spcPts val="800"/>
              </a:spcAft>
            </a:pPr>
            <a:r>
              <a:rPr sz="1400" b="0">
                <a:solidFill>
                  <a:srgbClr val="5F677A"/>
                </a:solidFill>
                <a:latin typeface="Arial"/>
                <a:ea typeface="Microsoft YaHei"/>
              </a:rPr>
              <a:t>💬 “Leaders should… / They could hold blame-free reviews.”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skills do you want to learn next year?</a:t>
            </a:r>
          </a:p>
          <a:p>
            <a:pPr algn="l">
              <a:lnSpc>
                <a:spcPct val="115000"/>
              </a:lnSpc>
              <a:spcAft>
                <a:spcPts val="800"/>
              </a:spcAft>
            </a:pPr>
            <a:r>
              <a:rPr sz="1400" b="0">
                <a:solidFill>
                  <a:srgbClr val="5F677A"/>
                </a:solidFill>
                <a:latin typeface="Arial"/>
                <a:ea typeface="Microsoft YaHei"/>
              </a:rPr>
              <a:t>💬 “I’d like to improve my… / I’m planning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Training is a shared responsibility. Employers should provide time, budget and opportunities, because well-trained staff are good for the business. But employees should also take initiative: identify what they need to learn, ask for support and apply new skills. If either side expects the other to do everything, development stalls. The most effective approach is a regular conversation between manager and employee about goals.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take initiative = 主动。 stalls = 停滞。apply = 应用。”a shared responsibility” = 共同责任。</a:t>
            </a:r>
          </a:p>
        </p:txBody>
      </p:sp>
    </p:spTree>
  </p:cSld>
  <p:clrMapOvr>
    <a:masterClrMapping/>
  </p:clrMapOvr>
  <p:transition spd="med">
    <p:fade/>
  </p:transition>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I want to study.</a:t>
                      </a:r>
                    </a:p>
                  </a:txBody>
                  <a:tcPr anchor="ctr">
                    <a:solidFill>
                      <a:srgbClr val="FFFFFF"/>
                    </a:solidFill>
                  </a:tcPr>
                </a:tc>
                <a:tc>
                  <a:txBody>
                    <a:bodyPr wrap="square"/>
                    <a:lstStyle/>
                    <a:p>
                      <a:r>
                        <a:rPr sz="1600" b="0">
                          <a:solidFill>
                            <a:srgbClr val="1F2A44"/>
                          </a:solidFill>
                          <a:latin typeface="Arial"/>
                          <a:ea typeface="Microsoft YaHei"/>
                        </a:rPr>
                        <a:t>I’d like to develop my skills in data analysis.</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r h="408432">
                <a:tc>
                  <a:txBody>
                    <a:bodyPr wrap="square"/>
                    <a:lstStyle/>
                    <a:p>
                      <a:r>
                        <a:rPr sz="1600" b="1">
                          <a:solidFill>
                            <a:srgbClr val="1F2A44"/>
                          </a:solidFill>
                          <a:latin typeface="Arial"/>
                          <a:ea typeface="Microsoft YaHei"/>
                        </a:rPr>
                        <a:t>He has no experience.</a:t>
                      </a:r>
                    </a:p>
                  </a:txBody>
                  <a:tcPr anchor="ctr">
                    <a:solidFill>
                      <a:srgbClr val="FFEFD9"/>
                    </a:solidFill>
                  </a:tcPr>
                </a:tc>
                <a:tc>
                  <a:txBody>
                    <a:bodyPr wrap="square"/>
                    <a:lstStyle/>
                    <a:p>
                      <a:r>
                        <a:rPr sz="1600" b="0">
                          <a:solidFill>
                            <a:srgbClr val="1F2A44"/>
                          </a:solidFill>
                          <a:latin typeface="Arial"/>
                          <a:ea typeface="Microsoft YaHei"/>
                        </a:rPr>
                        <a:t>He’s still learning the ropes.</a:t>
                      </a:r>
                    </a:p>
                  </a:txBody>
                  <a:tcPr anchor="ctr">
                    <a:solidFill>
                      <a:srgbClr val="FFEFD9"/>
                    </a:solidFill>
                  </a:tcPr>
                </a:tc>
                <a:tc>
                  <a:txBody>
                    <a:bodyPr wrap="square"/>
                    <a:lstStyle/>
                    <a:p>
                      <a:r>
                        <a:rPr sz="1600" b="0">
                          <a:solidFill>
                            <a:srgbClr val="FF6B5B"/>
                          </a:solidFill>
                          <a:latin typeface="Arial"/>
                          <a:ea typeface="Microsoft YaHei"/>
                        </a:rPr>
                        <a:t>习语</a:t>
                      </a:r>
                    </a:p>
                  </a:txBody>
                  <a:tcPr anchor="ctr">
                    <a:solidFill>
                      <a:srgbClr val="FFEFD9"/>
                    </a:solidFill>
                  </a:tcPr>
                </a:tc>
              </a:tr>
              <a:tr h="652272">
                <a:tc>
                  <a:txBody>
                    <a:bodyPr wrap="square"/>
                    <a:lstStyle/>
                    <a:p>
                      <a:r>
                        <a:rPr sz="1600" b="1">
                          <a:solidFill>
                            <a:srgbClr val="1F2A44"/>
                          </a:solidFill>
                          <a:latin typeface="Arial"/>
                          <a:ea typeface="Microsoft YaHei"/>
                        </a:rPr>
                        <a:t>We don’t know how.</a:t>
                      </a:r>
                    </a:p>
                  </a:txBody>
                  <a:tcPr anchor="ctr">
                    <a:solidFill>
                      <a:srgbClr val="FFFFFF"/>
                    </a:solidFill>
                  </a:tcPr>
                </a:tc>
                <a:tc>
                  <a:txBody>
                    <a:bodyPr wrap="square"/>
                    <a:lstStyle/>
                    <a:p>
                      <a:r>
                        <a:rPr sz="1600" b="0">
                          <a:solidFill>
                            <a:srgbClr val="1F2A44"/>
                          </a:solidFill>
                          <a:latin typeface="Arial"/>
                          <a:ea typeface="Microsoft YaHei"/>
                        </a:rPr>
                        <a:t>There’s a skills gap in the team.</a:t>
                      </a:r>
                    </a:p>
                  </a:txBody>
                  <a:tcPr anchor="ctr">
                    <a:solidFill>
                      <a:srgbClr val="FFFFFF"/>
                    </a:solidFill>
                  </a:tcPr>
                </a:tc>
                <a:tc>
                  <a:txBody>
                    <a:bodyPr wrap="square"/>
                    <a:lstStyle/>
                    <a:p>
                      <a:r>
                        <a:rPr sz="1600" b="0">
                          <a:solidFill>
                            <a:srgbClr val="FF6B5B"/>
                          </a:solidFill>
                          <a:latin typeface="Arial"/>
                          <a:ea typeface="Microsoft YaHei"/>
                        </a:rPr>
                        <a:t>术语</a:t>
                      </a:r>
                    </a:p>
                  </a:txBody>
                  <a:tcPr anchor="ctr">
                    <a:solidFill>
                      <a:srgbClr val="FFFFFF"/>
                    </a:solidFill>
                  </a:tcPr>
                </a:tc>
              </a:tr>
              <a:tr h="408432">
                <a:tc>
                  <a:txBody>
                    <a:bodyPr wrap="square"/>
                    <a:lstStyle/>
                    <a:p>
                      <a:r>
                        <a:rPr sz="1600" b="1">
                          <a:solidFill>
                            <a:srgbClr val="1F2A44"/>
                          </a:solidFill>
                          <a:latin typeface="Arial"/>
                          <a:ea typeface="Microsoft YaHei"/>
                        </a:rPr>
                        <a:t>We study from errors.</a:t>
                      </a:r>
                    </a:p>
                  </a:txBody>
                  <a:tcPr anchor="ctr">
                    <a:solidFill>
                      <a:srgbClr val="FFEFD9"/>
                    </a:solidFill>
                  </a:tcPr>
                </a:tc>
                <a:tc>
                  <a:txBody>
                    <a:bodyPr wrap="square"/>
                    <a:lstStyle/>
                    <a:p>
                      <a:r>
                        <a:rPr sz="1600" b="0">
                          <a:solidFill>
                            <a:srgbClr val="1F2A44"/>
                          </a:solidFill>
                          <a:latin typeface="Arial"/>
                          <a:ea typeface="Microsoft YaHei"/>
                        </a:rPr>
                        <a:t>We learn from our mistakes.</a:t>
                      </a:r>
                    </a:p>
                  </a:txBody>
                  <a:tcPr anchor="ctr">
                    <a:solidFill>
                      <a:srgbClr val="FFEFD9"/>
                    </a:solidFill>
                  </a:tcPr>
                </a:tc>
                <a:tc>
                  <a:txBody>
                    <a:bodyPr wrap="square"/>
                    <a:lstStyle/>
                    <a:p>
                      <a:r>
                        <a:rPr sz="1600" b="0">
                          <a:solidFill>
                            <a:srgbClr val="FF6B5B"/>
                          </a:solidFill>
                          <a:latin typeface="Arial"/>
                          <a:ea typeface="Microsoft YaHei"/>
                        </a:rPr>
                        <a:t>搭配</a:t>
                      </a:r>
                    </a:p>
                  </a:txBody>
                  <a:tcPr anchor="ctr">
                    <a:solidFill>
                      <a:srgbClr val="FFEFD9"/>
                    </a:solidFill>
                  </a:tcPr>
                </a:tc>
              </a:tr>
              <a:tr h="652272">
                <a:tc>
                  <a:txBody>
                    <a:bodyPr wrap="square"/>
                    <a:lstStyle/>
                    <a:p>
                      <a:r>
                        <a:rPr sz="1600" b="1">
                          <a:solidFill>
                            <a:srgbClr val="1F2A44"/>
                          </a:solidFill>
                          <a:latin typeface="Arial"/>
                          <a:ea typeface="Microsoft YaHei"/>
                        </a:rPr>
                        <a:t>We must follow new things.</a:t>
                      </a:r>
                    </a:p>
                  </a:txBody>
                  <a:tcPr anchor="ctr">
                    <a:solidFill>
                      <a:srgbClr val="FFFFFF"/>
                    </a:solidFill>
                  </a:tcPr>
                </a:tc>
                <a:tc>
                  <a:txBody>
                    <a:bodyPr wrap="square"/>
                    <a:lstStyle/>
                    <a:p>
                      <a:r>
                        <a:rPr sz="1600" b="0">
                          <a:solidFill>
                            <a:srgbClr val="1F2A44"/>
                          </a:solidFill>
                          <a:latin typeface="Arial"/>
                          <a:ea typeface="Microsoft YaHei"/>
                        </a:rPr>
                        <a:t>We must keep up with new developments.</a:t>
                      </a:r>
                    </a:p>
                  </a:txBody>
                  <a:tcPr anchor="ctr">
                    <a:solidFill>
                      <a:srgbClr val="FFFFFF"/>
                    </a:solidFill>
                  </a:tcPr>
                </a:tc>
                <a:tc>
                  <a:txBody>
                    <a:bodyPr wrap="square"/>
                    <a:lstStyle/>
                    <a:p>
                      <a:r>
                        <a:rPr sz="1600" b="0">
                          <a:solidFill>
                            <a:srgbClr val="FF6B5B"/>
                          </a:solidFill>
                          <a:latin typeface="Arial"/>
                          <a:ea typeface="Microsoft YaHei"/>
                        </a:rPr>
                        <a:t>搭配</a:t>
                      </a:r>
                    </a:p>
                  </a:txBody>
                  <a:tcPr anchor="ctr">
                    <a:solidFill>
                      <a:srgbClr val="FFFFFF"/>
                    </a:solidFill>
                  </a:tcPr>
                </a:tc>
              </a:tr>
            </a:tbl>
          </a:graphicData>
        </a:graphic>
      </p:graphicFrame>
    </p:spTree>
  </p:cSld>
  <p:clrMapOvr>
    <a:masterClrMapping/>
  </p:clrMapOvr>
  <p:transition spd="med">
    <p:fade/>
  </p:transition>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Purpose: </a:t>
            </a:r>
            <a:r>
              <a:rPr sz="1700" b="0">
                <a:solidFill>
                  <a:srgbClr val="1F2A44"/>
                </a:solidFill>
                <a:latin typeface="Arial"/>
                <a:ea typeface="Microsoft YaHei"/>
              </a:rPr>
              <a:t>to + verb, in order to + verb, so that + clause: “We hold sessions so that people can share ideas.”</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Present perfect: </a:t>
            </a:r>
            <a:r>
              <a:rPr sz="1700" b="0">
                <a:solidFill>
                  <a:srgbClr val="1F2A44"/>
                </a:solidFill>
                <a:latin typeface="Arial"/>
                <a:ea typeface="Microsoft YaHei"/>
              </a:rPr>
              <a:t>“I’ve learned a lot from this project.” (relevant now)</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Verbs + infinitive: </a:t>
            </a:r>
            <a:r>
              <a:rPr sz="1700" b="0">
                <a:solidFill>
                  <a:srgbClr val="1F2A44"/>
                </a:solidFill>
                <a:latin typeface="Arial"/>
                <a:ea typeface="Microsoft YaHei"/>
              </a:rPr>
              <a:t>plan to, hope to, aim to, intend to, would like to.</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Making suggestions: </a:t>
            </a:r>
            <a:r>
              <a:rPr sz="1700" b="0">
                <a:solidFill>
                  <a:srgbClr val="1F2A44"/>
                </a:solidFill>
                <a:latin typeface="Arial"/>
                <a:ea typeface="Microsoft YaHei"/>
              </a:rPr>
              <a:t>Why don’t we…? How about…? We could…</a:t>
            </a:r>
          </a:p>
        </p:txBody>
      </p:sp>
    </p:spTree>
  </p:cSld>
  <p:clrMapOvr>
    <a:masterClrMapping/>
  </p:clrMapOvr>
  <p:transition spd="med">
    <p:fade/>
  </p:transition>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take a training in Excel.</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will take a training course in Excel.</a:t>
            </a:r>
          </a:p>
          <a:p>
            <a:pPr algn="l">
              <a:spcAft>
                <a:spcPts val="200"/>
              </a:spcAft>
            </a:pPr>
            <a:r>
              <a:rPr sz="1200" b="0">
                <a:solidFill>
                  <a:srgbClr val="FFFFFF"/>
                </a:solidFill>
                <a:latin typeface="Arial"/>
                <a:ea typeface="Microsoft YaHei"/>
              </a:rPr>
              <a:t>training 不可数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study the new skill.</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want to learn the new skill.</a:t>
            </a:r>
          </a:p>
          <a:p>
            <a:pPr algn="l">
              <a:spcAft>
                <a:spcPts val="200"/>
              </a:spcAft>
            </a:pPr>
            <a:r>
              <a:rPr sz="1200" b="0">
                <a:solidFill>
                  <a:srgbClr val="FFFFFF"/>
                </a:solidFill>
                <a:latin typeface="Arial"/>
                <a:ea typeface="Microsoft YaHei"/>
              </a:rPr>
              <a:t>learn/study</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learned from the mistake.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learned from our mistakes.</a:t>
            </a:r>
          </a:p>
          <a:p>
            <a:pPr algn="l">
              <a:spcAft>
                <a:spcPts val="200"/>
              </a:spcAft>
            </a:pPr>
            <a:r>
              <a:rPr sz="1200" b="0">
                <a:solidFill>
                  <a:srgbClr val="FFFFFF"/>
                </a:solidFill>
                <a:latin typeface="Arial"/>
                <a:ea typeface="Microsoft YaHei"/>
              </a:rPr>
              <a:t>复数泛指</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teached me.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She taught me.</a:t>
            </a:r>
          </a:p>
          <a:p>
            <a:pPr algn="l">
              <a:spcAft>
                <a:spcPts val="200"/>
              </a:spcAft>
            </a:pPr>
            <a:r>
              <a:rPr sz="1200" b="0">
                <a:solidFill>
                  <a:srgbClr val="FFFFFF"/>
                </a:solidFill>
                <a:latin typeface="Arial"/>
                <a:ea typeface="Microsoft YaHei"/>
              </a:rPr>
              <a:t>过去式</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Learning are important.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Learning is important.</a:t>
            </a:r>
          </a:p>
          <a:p>
            <a:pPr algn="l">
              <a:spcAft>
                <a:spcPts val="200"/>
              </a:spcAft>
            </a:pPr>
            <a:r>
              <a:rPr sz="1200" b="0">
                <a:solidFill>
                  <a:srgbClr val="FFFFFF"/>
                </a:solidFill>
                <a:latin typeface="Arial"/>
                <a:ea typeface="Microsoft YaHei"/>
              </a:rPr>
              <a:t>动名词作主语</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knows to use Excel.</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knows how to use Excel.</a:t>
            </a:r>
          </a:p>
          <a:p>
            <a:pPr algn="l">
              <a:spcAft>
                <a:spcPts val="200"/>
              </a:spcAft>
            </a:pPr>
            <a:r>
              <a:rPr sz="1200" b="0">
                <a:solidFill>
                  <a:srgbClr val="FFFFFF"/>
                </a:solidFill>
                <a:latin typeface="Arial"/>
                <a:ea typeface="Microsoft YaHei"/>
              </a:rPr>
              <a:t>know how to</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irregular past (taught), uncountable training, and know how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Admitting mistakes: </a:t>
            </a:r>
            <a:r>
              <a:rPr sz="1700" b="0">
                <a:solidFill>
                  <a:srgbClr val="1F2A44"/>
                </a:solidFill>
                <a:latin typeface="Arial"/>
                <a:ea typeface="Microsoft YaHei"/>
              </a:rPr>
              <a:t>Blame-free reviews are common in tech companies; in some cultures, public admission is uncomfortable. Start in private.</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Training budgets: </a:t>
            </a:r>
            <a:r>
              <a:rPr sz="1700" b="0">
                <a:solidFill>
                  <a:srgbClr val="1F2A44"/>
                </a:solidFill>
                <a:latin typeface="Arial"/>
                <a:ea typeface="Microsoft YaHei"/>
              </a:rPr>
              <a:t>Many companies offer a yearly learning allowance. Ask your manager.</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Certification: </a:t>
            </a:r>
            <a:r>
              <a:rPr sz="1700" b="0">
                <a:solidFill>
                  <a:srgbClr val="1F2A44"/>
                </a:solidFill>
                <a:latin typeface="Arial"/>
                <a:ea typeface="Microsoft YaHei"/>
              </a:rPr>
              <a:t>Professional certificates are valued, but practical experience counts at least as much.</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training 不可数:a training course。know how to do sth。teach/taught/taught,learn/learned(美 learned,英 learnt 也可以)。</a:t>
            </a:r>
          </a:p>
        </p:txBody>
      </p:sp>
    </p:spTree>
  </p:cSld>
  <p:clrMapOvr>
    <a:masterClrMapping/>
  </p:clrMapOvr>
  <p:transition spd="med">
    <p:fade/>
  </p:transition>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47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propose a learning plan.</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preferences and responsibilities for learning.</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purpose clauses (to, so that).</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know how to and uncountable training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47 Creating a Learning Culture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purpose clauses, know how to, and uncountable training.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5 · Lesson 48 Managing a Training Budget</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248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48</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Managing a Training Budget</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管理培训预算</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managing a training budget: priorities, cost-benefit, comparing providers and justifying spending.</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48 Managing a Training Budget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Does your company have a training budget? How is it used?</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training is worth paying for? What is not?</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measure whether training was worthwhile?</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Would you pay for training yourself if the company didn’t?</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online training as good as face-to-face?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budget = 预算,可作名词也可作动词。return on investment (ROI) = 投资回报率。第 4 题用第二条件句。</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48 Managing a Training Budget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Justify a training expense to a finance manager.</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need</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option</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cost</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benefit</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measurement</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training would cost…   💬 We expect it to save…   💬 We’d measure the impact by…</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The training would cost… 用 would 表示假设。We expect it to save… 说明预期。impact = 影响。</a:t>
            </a:r>
          </a:p>
        </p:txBody>
      </p:sp>
    </p:spTree>
  </p:cSld>
  <p:clrMapOvr>
    <a:masterClrMapping/>
  </p:clrMapOvr>
  <p:transition spd="med">
    <p:fade/>
  </p:transition>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Reading · Spending Wisely on Skills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130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48 Managing a Training Budget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When money is tight, training is often among the first budgets to be cut, yet it can be the best investment a company makes. The challenge is to spend wisely. Start by identifying real needs: which skills will the business require, and where are the gaps? Compare options, including in-house workshops, external courses, online platforms and coaching. Cheaper is not always better if nobody finishes the course. Decide in advance how you will measure results, for example by tracking productivity, customer satisfaction or error rates, and ask participants to share what they learned with colleagues. Sharing multiplies the value of each place. Also negotiate: providers often give discounts for group bookings. Finally, be transparent. When employees understand how decisions are made, they trust the process and take training more seriously.</a:t>
            </a:r>
          </a:p>
        </p:txBody>
      </p:sp>
    </p:spTree>
  </p:cSld>
  <p:clrMapOvr>
    <a:masterClrMapping/>
  </p:clrMapOvr>
  <p:transition spd="med">
    <p:fade/>
  </p:transition>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48 Managing a Training Budget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is training often cut?</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Because money is tight and it is seen as an easy budget to reduce.</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How should results be measured?</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By tracking productivity, customer satisfaction or error rates.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How can sharing add value?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Participants share what they learned, multiplying the value of each place.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Budget and spending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48 Managing a Training Budget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预算与支出</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training budget</a:t>
            </a:r>
          </a:p>
          <a:p>
            <a:pPr algn="l">
              <a:lnSpc>
                <a:spcPct val="115000"/>
              </a:lnSpc>
              <a:spcAft>
                <a:spcPts val="800"/>
              </a:spcAft>
            </a:pPr>
            <a:r>
              <a:rPr sz="1300" b="0">
                <a:solidFill>
                  <a:srgbClr val="5F677A"/>
                </a:solidFill>
                <a:latin typeface="Arial"/>
                <a:ea typeface="Microsoft YaHei"/>
              </a:rPr>
              <a:t>noun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培训预算</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training budget is limited.”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cost-effective</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成本效益高的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“Online courses are cost-effective.”</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return on investment (ROI)</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投资回报</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ROI of training is hard to measure.”</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allocate</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分配</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allocated £10,000 to training.”</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in-house / external</a:t>
            </a:r>
          </a:p>
          <a:p>
            <a:pPr algn="l">
              <a:lnSpc>
                <a:spcPct val="115000"/>
              </a:lnSpc>
              <a:spcAft>
                <a:spcPts val="800"/>
              </a:spcAft>
            </a:pPr>
            <a:r>
              <a:rPr sz="1300" b="0">
                <a:solidFill>
                  <a:srgbClr val="5F677A"/>
                </a:solidFill>
                <a:latin typeface="Arial"/>
                <a:ea typeface="Microsoft YaHei"/>
              </a:rPr>
              <a:t>adjective</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内部 / 外部</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“In-house training is cheaper.”</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provider</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供应商</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compared three providers.”</a:t>
            </a:r>
          </a:p>
        </p:txBody>
      </p:sp>
    </p:spTree>
  </p:cSld>
  <p:clrMapOvr>
    <a:masterClrMapping/>
  </p:clrMapOvr>
  <p:transition spd="med">
    <p:fade/>
  </p:transition>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Making the case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48 Managing a Training Budget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论证支出</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tighten the belt</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缩减开支</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to tighten our belts.”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value for money</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物有所值</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want to get value for money.”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justify the cost</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说明成本合理</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must justify the cost.”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cut back on</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削减</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cut back on travel.”</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pay for itself</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回本</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course will pay for itself within a year.”</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break down (costs)</a:t>
            </a:r>
          </a:p>
          <a:p>
            <a:pPr algn="l">
              <a:lnSpc>
                <a:spcPct val="115000"/>
              </a:lnSpc>
              <a:spcAft>
                <a:spcPts val="800"/>
              </a:spcAft>
            </a:pPr>
            <a:r>
              <a:rPr sz="1300" b="0">
                <a:solidFill>
                  <a:srgbClr val="5F677A"/>
                </a:solidFill>
                <a:latin typeface="Arial"/>
                <a:ea typeface="Microsoft YaHei"/>
              </a:rPr>
              <a:t>phrasal verb</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分项列出</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“Can you break down the costs?”</a:t>
            </a:r>
          </a:p>
        </p:txBody>
      </p:sp>
    </p:spTree>
  </p:cSld>
  <p:clrMapOvr>
    <a:masterClrMapping/>
  </p:clrMapOvr>
  <p:transition spd="med">
    <p:fade/>
  </p:transition>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48 Managing a Training Budget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缩减开支</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tighten the belt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削减</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cut back on</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投资回报</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return on investment (ROI)</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培训预算</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training budget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说明成本合理</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justify the cost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成本效益高的</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cost-effective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回本</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pay for itself</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分项列出</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break down (costs)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48 Managing a Training Budget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90195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cost-effective</a:t>
            </a:r>
          </a:p>
        </p:txBody>
      </p:sp>
      <p:sp>
        <p:nvSpPr>
          <p:cNvPr id="10" name="Rounded Rectangle 9"/>
          <p:cNvSpPr/>
          <p:nvPr/>
        </p:nvSpPr>
        <p:spPr>
          <a:xfrm>
            <a:off x="4005072" y="987552"/>
            <a:ext cx="256032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return on investment</a:t>
            </a:r>
          </a:p>
        </p:txBody>
      </p:sp>
      <p:sp>
        <p:nvSpPr>
          <p:cNvPr id="11" name="Rounded Rectangle 10"/>
          <p:cNvSpPr/>
          <p:nvPr/>
        </p:nvSpPr>
        <p:spPr>
          <a:xfrm>
            <a:off x="6656832"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allocate</a:t>
            </a:r>
          </a:p>
        </p:txBody>
      </p:sp>
      <p:sp>
        <p:nvSpPr>
          <p:cNvPr id="12" name="Rounded Rectangle 11"/>
          <p:cNvSpPr/>
          <p:nvPr/>
        </p:nvSpPr>
        <p:spPr>
          <a:xfrm>
            <a:off x="7991856"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In-house</a:t>
            </a:r>
          </a:p>
        </p:txBody>
      </p:sp>
      <p:sp>
        <p:nvSpPr>
          <p:cNvPr id="13" name="Rounded Rectangle 12"/>
          <p:cNvSpPr/>
          <p:nvPr/>
        </p:nvSpPr>
        <p:spPr>
          <a:xfrm>
            <a:off x="9326880" y="987552"/>
            <a:ext cx="190195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pay for itself</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1.  Online workshops can be very _______.</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cost-effective</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2.  We need to prove the _______ of the programme.</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return on investment</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3.  We decided to _______ more money to leadership training.</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allocate</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4.  _______ training is cheaper than sending people to an external course.</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In-house</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5.  The course should _______ within a year.</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pay for itself</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1700" b="0">
                <a:solidFill>
                  <a:srgbClr val="1F2A44"/>
                </a:solidFill>
                <a:latin typeface="Arial"/>
                <a:ea typeface="Microsoft YaHei"/>
              </a:rPr>
              <a:t>6.  Could you _______ the costs for me by category?</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break down</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budget (not “buget”), expense/expenses, allocate (double l, single c: allocate). Within / over / under budget, on a tight budget. Cut / reduce costs (not “decrease costs”). Value for money (not “value of money”).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Role Play · Justifying a training expense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48 Managing a Training Budget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说明培训支出的合理性</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ask the finance manager, Mr Chu, to approve a £4,000 leadership course for six team leaders.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Gina Lee, HR manager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Chu, finance manager</a:t>
            </a:r>
          </a:p>
        </p:txBody>
      </p:sp>
    </p:spTree>
  </p:cSld>
  <p:clrMapOvr>
    <a:masterClrMapping/>
  </p:clrMapOvr>
  <p:transition spd="med">
    <p:fade/>
  </p:transition>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Justifying a training expense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48 Managing a Training Budget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Gina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Mr Chu, thanks for seeing me. I’d like to talk about the leadership course proposal.</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Chu</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I’ve seen it. Four thousand pounds is quite a lot. Can you break it down?</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six places at £600 each, plus £400 for materials.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Why not run it in-house to save money?</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looked at that, but we don’t have anyone with the right expertise. The external provider has a good track record.</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What’s the expected return?</a:t>
            </a:r>
          </a:p>
        </p:txBody>
      </p:sp>
    </p:spTree>
  </p:cSld>
  <p:clrMapOvr>
    <a:masterClrMapping/>
  </p:clrMapOvr>
  <p:transition spd="med">
    <p:fade/>
  </p:transition>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Justifying a training expense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48 Managing a Training Budget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Our team leaders have the highest turnover. If the training reduces just two resignations, it would pay for itself.</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fair argument. How will you measure the impact?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By tracking engagement scores and retention over the next twelve months.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Could you negotiate a discount for six people?</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ask. I think we can get ten per cent off.</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Then I’m happy to approve it, subject to the discount.</a:t>
            </a:r>
          </a:p>
        </p:txBody>
      </p:sp>
    </p:spTree>
  </p:cSld>
  <p:clrMapOvr>
    <a:masterClrMapping/>
  </p:clrMapOvr>
  <p:transition spd="med">
    <p:fade/>
  </p:transition>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Your Turn · Justifying a training expense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48 Managing a Training Budget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justify an expense.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HR manager. Training: ______________ Cost: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Finance manager. Question the cost and ask about benefits.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break down · cost-effective · pay for itself · return on investment · discount · measure the impact</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the cost, the benefit and how you’ll measure it.</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Mr Chu says: “We must cut back everywhere.” Respond.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Compare in-house and external training in 45 seconds.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an email asking a provider for a group discount.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48 Managing a Training Budget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training a cost or an investment?</a:t>
            </a:r>
          </a:p>
          <a:p>
            <a:pPr algn="l">
              <a:lnSpc>
                <a:spcPct val="115000"/>
              </a:lnSpc>
              <a:spcAft>
                <a:spcPts val="800"/>
              </a:spcAft>
            </a:pPr>
            <a:r>
              <a:rPr sz="1400" b="0">
                <a:solidFill>
                  <a:srgbClr val="5F677A"/>
                </a:solidFill>
                <a:latin typeface="Arial"/>
                <a:ea typeface="Microsoft YaHei"/>
              </a:rPr>
              <a:t>💬 “I’d say it’s an investment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tell whether training was worth the money?</a:t>
            </a:r>
          </a:p>
          <a:p>
            <a:pPr algn="l">
              <a:lnSpc>
                <a:spcPct val="115000"/>
              </a:lnSpc>
              <a:spcAft>
                <a:spcPts val="800"/>
              </a:spcAft>
            </a:pPr>
            <a:r>
              <a:rPr sz="1400" b="0">
                <a:solidFill>
                  <a:srgbClr val="5F677A"/>
                </a:solidFill>
                <a:latin typeface="Arial"/>
                <a:ea typeface="Microsoft YaHei"/>
              </a:rPr>
              <a:t>💬 “You could look at… / It’s helpful to track…”</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employees repay training costs if they leave?</a:t>
            </a:r>
          </a:p>
          <a:p>
            <a:pPr algn="l">
              <a:lnSpc>
                <a:spcPct val="115000"/>
              </a:lnSpc>
              <a:spcAft>
                <a:spcPts val="800"/>
              </a:spcAft>
            </a:pPr>
            <a:r>
              <a:rPr sz="1400" b="0">
                <a:solidFill>
                  <a:srgbClr val="5F677A"/>
                </a:solidFill>
                <a:latin typeface="Arial"/>
                <a:ea typeface="Microsoft YaHei"/>
              </a:rPr>
              <a:t>💬 “That could be fair if… / It might discourage…”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is better: online or face-to-face training?</a:t>
            </a:r>
          </a:p>
          <a:p>
            <a:pPr algn="l">
              <a:lnSpc>
                <a:spcPct val="115000"/>
              </a:lnSpc>
              <a:spcAft>
                <a:spcPts val="800"/>
              </a:spcAft>
            </a:pPr>
            <a:r>
              <a:rPr sz="1400" b="0">
                <a:solidFill>
                  <a:srgbClr val="5F677A"/>
                </a:solidFill>
                <a:latin typeface="Arial"/>
                <a:ea typeface="Microsoft YaHei"/>
              </a:rPr>
              <a:t>💬 “Online is more… while face-to-face…”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48 Managing a Training Budget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Employees repaying training costs when they leave early can be fair if the training was expensive and the contract is clear. It protects the company’s investment. But it can also feel like a trap, and it may stop people from asking for training. A reasonable compromise would be a short repayment period, reducing over time, and only for major qualifications.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repay = 偿还。trap = 陷阱。”reducing over time” = 随时间递减。qualification = 资格证书。</a:t>
            </a:r>
          </a:p>
        </p:txBody>
      </p:sp>
    </p:spTree>
  </p:cSld>
  <p:clrMapOvr>
    <a:masterClrMapping/>
  </p:clrMapOvr>
  <p:transition spd="med">
    <p:fade/>
  </p:transition>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48 Managing a Training Budget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93827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The course is expensive.</a:t>
                      </a:r>
                    </a:p>
                  </a:txBody>
                  <a:tcPr anchor="ctr">
                    <a:solidFill>
                      <a:srgbClr val="FFFFFF"/>
                    </a:solidFill>
                  </a:tcPr>
                </a:tc>
                <a:tc>
                  <a:txBody>
                    <a:bodyPr wrap="square"/>
                    <a:lstStyle/>
                    <a:p>
                      <a:r>
                        <a:rPr sz="1600" b="0">
                          <a:solidFill>
                            <a:srgbClr val="1F2A44"/>
                          </a:solidFill>
                          <a:latin typeface="Arial"/>
                          <a:ea typeface="Microsoft YaHei"/>
                        </a:rPr>
                        <a:t>The course is quite pricey. / It’s a significant cost.</a:t>
                      </a:r>
                    </a:p>
                  </a:txBody>
                  <a:tcPr anchor="ctr">
                    <a:solidFill>
                      <a:srgbClr val="FFFFFF"/>
                    </a:solidFill>
                  </a:tcPr>
                </a:tc>
                <a:tc>
                  <a:txBody>
                    <a:bodyPr wrap="square"/>
                    <a:lstStyle/>
                    <a:p>
                      <a:r>
                        <a:rPr sz="1600" b="0">
                          <a:solidFill>
                            <a:srgbClr val="FF6B5B"/>
                          </a:solidFill>
                          <a:latin typeface="Arial"/>
                          <a:ea typeface="Microsoft YaHei"/>
                        </a:rPr>
                        <a:t>更丰富</a:t>
                      </a:r>
                    </a:p>
                  </a:txBody>
                  <a:tcPr anchor="ctr">
                    <a:solidFill>
                      <a:srgbClr val="FFFFFF"/>
                    </a:solidFill>
                  </a:tcPr>
                </a:tc>
              </a:tr>
              <a:tr h="408432">
                <a:tc>
                  <a:txBody>
                    <a:bodyPr wrap="square"/>
                    <a:lstStyle/>
                    <a:p>
                      <a:r>
                        <a:rPr sz="1600" b="1">
                          <a:solidFill>
                            <a:srgbClr val="1F2A44"/>
                          </a:solidFill>
                          <a:latin typeface="Arial"/>
                          <a:ea typeface="Microsoft YaHei"/>
                        </a:rPr>
                        <a:t>We have no money.</a:t>
                      </a:r>
                    </a:p>
                  </a:txBody>
                  <a:tcPr anchor="ctr">
                    <a:solidFill>
                      <a:srgbClr val="FFEFD9"/>
                    </a:solidFill>
                  </a:tcPr>
                </a:tc>
                <a:tc>
                  <a:txBody>
                    <a:bodyPr wrap="square"/>
                    <a:lstStyle/>
                    <a:p>
                      <a:r>
                        <a:rPr sz="1600" b="0">
                          <a:solidFill>
                            <a:srgbClr val="1F2A44"/>
                          </a:solidFill>
                          <a:latin typeface="Arial"/>
                          <a:ea typeface="Microsoft YaHei"/>
                        </a:rPr>
                        <a:t>Our budget is tight this year.</a:t>
                      </a:r>
                    </a:p>
                  </a:txBody>
                  <a:tcPr anchor="ctr">
                    <a:solidFill>
                      <a:srgbClr val="FFEFD9"/>
                    </a:solidFill>
                  </a:tcPr>
                </a:tc>
                <a:tc>
                  <a:txBody>
                    <a:bodyPr wrap="square"/>
                    <a:lstStyle/>
                    <a:p>
                      <a:r>
                        <a:rPr sz="1600" b="0">
                          <a:solidFill>
                            <a:srgbClr val="FF6B5B"/>
                          </a:solidFill>
                          <a:latin typeface="Arial"/>
                          <a:ea typeface="Microsoft YaHei"/>
                        </a:rPr>
                        <a:t>地道</a:t>
                      </a:r>
                    </a:p>
                  </a:txBody>
                  <a:tcPr anchor="ctr">
                    <a:solidFill>
                      <a:srgbClr val="FFEFD9"/>
                    </a:solidFill>
                  </a:tcPr>
                </a:tc>
              </a:tr>
              <a:tr h="408432">
                <a:tc>
                  <a:txBody>
                    <a:bodyPr wrap="square"/>
                    <a:lstStyle/>
                    <a:p>
                      <a:r>
                        <a:rPr sz="1600" b="1">
                          <a:solidFill>
                            <a:srgbClr val="1F2A44"/>
                          </a:solidFill>
                          <a:latin typeface="Arial"/>
                          <a:ea typeface="Microsoft YaHei"/>
                        </a:rPr>
                        <a:t>It’s cheap.</a:t>
                      </a:r>
                    </a:p>
                  </a:txBody>
                  <a:tcPr anchor="ctr">
                    <a:solidFill>
                      <a:srgbClr val="FFFFFF"/>
                    </a:solidFill>
                  </a:tcPr>
                </a:tc>
                <a:tc>
                  <a:txBody>
                    <a:bodyPr wrap="square"/>
                    <a:lstStyle/>
                    <a:p>
                      <a:r>
                        <a:rPr sz="1600" b="0">
                          <a:solidFill>
                            <a:srgbClr val="1F2A44"/>
                          </a:solidFill>
                          <a:latin typeface="Arial"/>
                          <a:ea typeface="Microsoft YaHei"/>
                        </a:rPr>
                        <a:t>It’s good value for money.</a:t>
                      </a:r>
                    </a:p>
                  </a:txBody>
                  <a:tcPr anchor="ctr">
                    <a:solidFill>
                      <a:srgbClr val="FFFFFF"/>
                    </a:solidFill>
                  </a:tcPr>
                </a:tc>
                <a:tc>
                  <a:txBody>
                    <a:bodyPr wrap="square"/>
                    <a:lstStyle/>
                    <a:p>
                      <a:r>
                        <a:rPr sz="1600" b="0">
                          <a:solidFill>
                            <a:srgbClr val="FF6B5B"/>
                          </a:solidFill>
                          <a:latin typeface="Arial"/>
                          <a:ea typeface="Microsoft YaHei"/>
                        </a:rPr>
                        <a:t>强调价值</a:t>
                      </a:r>
                    </a:p>
                  </a:txBody>
                  <a:tcPr anchor="ctr">
                    <a:solidFill>
                      <a:srgbClr val="FFFFFF"/>
                    </a:solidFill>
                  </a:tcPr>
                </a:tc>
              </a:tr>
              <a:tr h="652272">
                <a:tc>
                  <a:txBody>
                    <a:bodyPr wrap="square"/>
                    <a:lstStyle/>
                    <a:p>
                      <a:r>
                        <a:rPr sz="1600" b="1">
                          <a:solidFill>
                            <a:srgbClr val="1F2A44"/>
                          </a:solidFill>
                          <a:latin typeface="Arial"/>
                          <a:ea typeface="Microsoft YaHei"/>
                        </a:rPr>
                        <a:t>We need money for training.</a:t>
                      </a:r>
                    </a:p>
                  </a:txBody>
                  <a:tcPr anchor="ctr">
                    <a:solidFill>
                      <a:srgbClr val="FFEFD9"/>
                    </a:solidFill>
                  </a:tcPr>
                </a:tc>
                <a:tc>
                  <a:txBody>
                    <a:bodyPr wrap="square"/>
                    <a:lstStyle/>
                    <a:p>
                      <a:r>
                        <a:rPr sz="1600" b="0">
                          <a:solidFill>
                            <a:srgbClr val="1F2A44"/>
                          </a:solidFill>
                          <a:latin typeface="Arial"/>
                          <a:ea typeface="Microsoft YaHei"/>
                        </a:rPr>
                        <a:t>We need to allocate funds for training.</a:t>
                      </a:r>
                    </a:p>
                  </a:txBody>
                  <a:tcPr anchor="ctr">
                    <a:solidFill>
                      <a:srgbClr val="FFEFD9"/>
                    </a:solidFill>
                  </a:tcPr>
                </a:tc>
                <a:tc>
                  <a:txBody>
                    <a:bodyPr wrap="square"/>
                    <a:lstStyle/>
                    <a:p>
                      <a:r>
                        <a:rPr sz="1600" b="0">
                          <a:solidFill>
                            <a:srgbClr val="FF6B5B"/>
                          </a:solidFill>
                          <a:latin typeface="Arial"/>
                          <a:ea typeface="Microsoft YaHei"/>
                        </a:rPr>
                        <a:t>正式</a:t>
                      </a:r>
                    </a:p>
                  </a:txBody>
                  <a:tcPr anchor="ctr">
                    <a:solidFill>
                      <a:srgbClr val="FFEFD9"/>
                    </a:solidFill>
                  </a:tcPr>
                </a:tc>
              </a:tr>
              <a:tr h="408432">
                <a:tc>
                  <a:txBody>
                    <a:bodyPr wrap="square"/>
                    <a:lstStyle/>
                    <a:p>
                      <a:r>
                        <a:rPr sz="1600" b="1">
                          <a:solidFill>
                            <a:srgbClr val="1F2A44"/>
                          </a:solidFill>
                          <a:latin typeface="Arial"/>
                          <a:ea typeface="Microsoft YaHei"/>
                        </a:rPr>
                        <a:t>It is worth it.</a:t>
                      </a:r>
                    </a:p>
                  </a:txBody>
                  <a:tcPr anchor="ctr">
                    <a:solidFill>
                      <a:srgbClr val="FFFFFF"/>
                    </a:solidFill>
                  </a:tcPr>
                </a:tc>
                <a:tc>
                  <a:txBody>
                    <a:bodyPr wrap="square"/>
                    <a:lstStyle/>
                    <a:p>
                      <a:r>
                        <a:rPr sz="1600" b="0">
                          <a:solidFill>
                            <a:srgbClr val="1F2A44"/>
                          </a:solidFill>
                          <a:latin typeface="Arial"/>
                          <a:ea typeface="Microsoft YaHei"/>
                        </a:rPr>
                        <a:t>It will pay for itself.</a:t>
                      </a:r>
                    </a:p>
                  </a:txBody>
                  <a:tcPr anchor="ctr">
                    <a:solidFill>
                      <a:srgbClr val="FFFFFF"/>
                    </a:solidFill>
                  </a:tcPr>
                </a:tc>
                <a:tc>
                  <a:txBody>
                    <a:bodyPr wrap="square"/>
                    <a:lstStyle/>
                    <a:p>
                      <a:r>
                        <a:rPr sz="1600" b="0">
                          <a:solidFill>
                            <a:srgbClr val="FF6B5B"/>
                          </a:solidFill>
                          <a:latin typeface="Arial"/>
                          <a:ea typeface="Microsoft YaHei"/>
                        </a:rPr>
                        <a:t>习语</a:t>
                      </a:r>
                    </a:p>
                  </a:txBody>
                  <a:tcPr anchor="ctr">
                    <a:solidFill>
                      <a:srgbClr val="FFFFFF"/>
                    </a:solidFill>
                  </a:tcPr>
                </a:tc>
              </a:tr>
            </a:tbl>
          </a:graphicData>
        </a:graphic>
      </p:graphicFrame>
    </p:spTree>
  </p:cSld>
  <p:clrMapOvr>
    <a:masterClrMapping/>
  </p:clrMapOvr>
  <p:transition spd="med">
    <p:fade/>
  </p:transition>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48 Managing a Training Budget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Conditionals: </a:t>
            </a:r>
            <a:r>
              <a:rPr sz="1700" b="0">
                <a:solidFill>
                  <a:srgbClr val="1F2A44"/>
                </a:solidFill>
                <a:latin typeface="Arial"/>
                <a:ea typeface="Microsoft YaHei"/>
              </a:rPr>
              <a:t>If we train them, they will perform better. (real) / If we had more money, we would hire a coach. (unreal)</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Figures: </a:t>
            </a:r>
            <a:r>
              <a:rPr sz="1700" b="0">
                <a:solidFill>
                  <a:srgbClr val="1F2A44"/>
                </a:solidFill>
                <a:latin typeface="Arial"/>
                <a:ea typeface="Microsoft YaHei"/>
              </a:rPr>
              <a:t>£4,000 = “four thousand pounds”; 10% = “ten per cent” (US “percent”).</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Quantifying: </a:t>
            </a:r>
            <a:r>
              <a:rPr sz="1700" b="0">
                <a:solidFill>
                  <a:srgbClr val="1F2A44"/>
                </a:solidFill>
                <a:latin typeface="Arial"/>
                <a:ea typeface="Microsoft YaHei"/>
              </a:rPr>
              <a:t>roughly, approximately, around, just over, just under.</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Making a case: </a:t>
            </a:r>
            <a:r>
              <a:rPr sz="1700" b="0">
                <a:solidFill>
                  <a:srgbClr val="1F2A44"/>
                </a:solidFill>
                <a:latin typeface="Arial"/>
                <a:ea typeface="Microsoft YaHei"/>
              </a:rPr>
              <a:t>The main reason is… / Another benefit is… / In the long run…</a:t>
            </a:r>
          </a:p>
        </p:txBody>
      </p:sp>
    </p:spTree>
  </p:cSld>
  <p:clrMapOvr>
    <a:masterClrMapping/>
  </p:clrMapOvr>
  <p:transition spd="med">
    <p:fade/>
  </p:transition>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48 Managing a Training Budget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price is very high.</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cost is high. / It’s expensive.</a:t>
            </a:r>
          </a:p>
          <a:p>
            <a:pPr algn="l">
              <a:spcAft>
                <a:spcPts val="200"/>
              </a:spcAft>
            </a:pPr>
            <a:r>
              <a:rPr sz="1200" b="0">
                <a:solidFill>
                  <a:srgbClr val="FFFFFF"/>
                </a:solidFill>
                <a:latin typeface="Arial"/>
                <a:ea typeface="Microsoft YaHei"/>
              </a:rPr>
              <a:t>price/cost</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spent money for training.</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spent money on training.</a:t>
            </a:r>
          </a:p>
          <a:p>
            <a:pPr algn="l">
              <a:spcAft>
                <a:spcPts val="200"/>
              </a:spcAft>
            </a:pPr>
            <a:r>
              <a:rPr sz="1200" b="0">
                <a:solidFill>
                  <a:srgbClr val="FFFFFF"/>
                </a:solidFill>
                <a:latin typeface="Arial"/>
                <a:ea typeface="Microsoft YaHei"/>
              </a:rPr>
              <a:t>spend on</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costs us 4000 pound.</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costs us £4,000.</a:t>
            </a:r>
          </a:p>
          <a:p>
            <a:pPr algn="l">
              <a:spcAft>
                <a:spcPts val="200"/>
              </a:spcAft>
            </a:pPr>
            <a:r>
              <a:rPr sz="1200" b="0">
                <a:solidFill>
                  <a:srgbClr val="FFFFFF"/>
                </a:solidFill>
                <a:latin typeface="Arial"/>
                <a:ea typeface="Microsoft YaHei"/>
              </a:rPr>
              <a:t>数字格式</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48 Managing a Training Budget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budget is limit.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budget is limited.</a:t>
            </a:r>
          </a:p>
          <a:p>
            <a:pPr algn="l">
              <a:spcAft>
                <a:spcPts val="200"/>
              </a:spcAft>
            </a:pPr>
            <a:r>
              <a:rPr sz="1200" b="0">
                <a:solidFill>
                  <a:srgbClr val="FFFFFF"/>
                </a:solidFill>
                <a:latin typeface="Arial"/>
                <a:ea typeface="Microsoft YaHei"/>
              </a:rPr>
              <a:t>形容词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have less money than last year’s.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have less money than last year.</a:t>
            </a:r>
          </a:p>
          <a:p>
            <a:pPr algn="l">
              <a:spcAft>
                <a:spcPts val="200"/>
              </a:spcAft>
            </a:pPr>
            <a:r>
              <a:rPr sz="1200" b="0">
                <a:solidFill>
                  <a:srgbClr val="FFFFFF"/>
                </a:solidFill>
                <a:latin typeface="Arial"/>
                <a:ea typeface="Microsoft YaHei"/>
              </a:rPr>
              <a:t>比较结构</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Discount for six people please.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Could we get a discount for six people?</a:t>
            </a:r>
          </a:p>
          <a:p>
            <a:pPr algn="l">
              <a:spcAft>
                <a:spcPts val="200"/>
              </a:spcAft>
            </a:pPr>
            <a:r>
              <a:rPr sz="1200" b="0">
                <a:solidFill>
                  <a:srgbClr val="FFFFFF"/>
                </a:solidFill>
                <a:latin typeface="Arial"/>
                <a:ea typeface="Microsoft YaHei"/>
              </a:rPr>
              <a:t>礼貌</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spend on, number format, and adjective forms (limited).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48 Managing a Training Budget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Money talk: </a:t>
            </a:r>
            <a:r>
              <a:rPr sz="1700" b="0">
                <a:solidFill>
                  <a:srgbClr val="1F2A44"/>
                </a:solidFill>
                <a:latin typeface="Arial"/>
                <a:ea typeface="Microsoft YaHei"/>
              </a:rPr>
              <a:t>British English uses “pounds”; US uses dollars. Say “ten pounds” not “ten pound”.</a:t>
            </a:r>
          </a:p>
        </p:txBody>
      </p:sp>
      <p:sp>
        <p:nvSpPr>
          <p:cNvPr id="12" name="Rounded Rectangle 11"/>
          <p:cNvSpPr/>
          <p:nvPr/>
        </p:nvSpPr>
        <p:spPr>
          <a:xfrm>
            <a:off x="548640" y="195071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701039"/>
          </a:xfrm>
          <a:prstGeom prst="rect">
            <a:avLst/>
          </a:prstGeom>
          <a:noFill/>
        </p:spPr>
        <p:txBody>
          <a:bodyPr wrap="square" anchor="ctr">
            <a:spAutoFit/>
          </a:bodyPr>
          <a:lstStyle/>
          <a:p>
            <a:r>
              <a:rPr sz="1700" b="1">
                <a:solidFill>
                  <a:srgbClr val="4A90E2"/>
                </a:solidFill>
                <a:latin typeface="Arial"/>
                <a:ea typeface="Microsoft YaHei"/>
              </a:rPr>
              <a:t>Approval: </a:t>
            </a:r>
            <a:r>
              <a:rPr sz="1700" b="0">
                <a:solidFill>
                  <a:srgbClr val="1F2A44"/>
                </a:solidFill>
                <a:latin typeface="Arial"/>
                <a:ea typeface="Microsoft YaHei"/>
              </a:rPr>
              <a:t>Finance teams usually want numbers and a clear benefit. Prepare figures before the meeting.</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Clawback clauses: </a:t>
            </a:r>
            <a:r>
              <a:rPr sz="1700" b="0">
                <a:solidFill>
                  <a:srgbClr val="1F2A44"/>
                </a:solidFill>
                <a:latin typeface="Arial"/>
                <a:ea typeface="Microsoft YaHei"/>
              </a:rPr>
              <a:t>In some countries employees must repay training costs if they leave within a set period. Check your contract.</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spend money on 而不是 for。金额写 £4,000,读 four thousand pounds。price 指标价,cost 指代价;form 要用 limited 形容词。</a:t>
            </a:r>
          </a:p>
        </p:txBody>
      </p:sp>
    </p:spTree>
  </p:cSld>
  <p:clrMapOvr>
    <a:masterClrMapping/>
  </p:clrMapOvr>
  <p:transition spd="med">
    <p:fade/>
  </p:transition>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48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48 Managing a Training Budget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justify a training expense with figures.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compare in-house and external options.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conditionals to argue a case.</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spend on and say amounts of money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48 Managing a Training Budget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spend on, saying amounts, and first/second conditional.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5 · Lesson 49 Project Management Meetings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270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49</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Project Management Meetings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项目管理会议</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run and take part in project meetings: setting an agenda, progress updates, assigning actions, chairing discussion and summarising decisions.</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49 Project Management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many meetings do you attend in a week? Are they useful?</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makes a project meeting effective?</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the role of a chairperson?</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give a short progress update?</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 you do when a meeting goes off topic?</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chair a meeting = 主持会议。agenda = 议程,minutes = 会议纪要。action items = 待办事项。</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49 Project Management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Chair a short project meeting and assign actions.</a:t>
            </a:r>
          </a:p>
        </p:txBody>
      </p:sp>
      <p:sp>
        <p:nvSpPr>
          <p:cNvPr id="10" name="Rounded Rectangle 9"/>
          <p:cNvSpPr/>
          <p:nvPr/>
        </p:nvSpPr>
        <p:spPr>
          <a:xfrm>
            <a:off x="548640" y="3017520"/>
            <a:ext cx="156210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open</a:t>
            </a:r>
          </a:p>
        </p:txBody>
      </p:sp>
      <p:sp>
        <p:nvSpPr>
          <p:cNvPr id="11" name="Rounded Rectangle 10"/>
          <p:cNvSpPr/>
          <p:nvPr/>
        </p:nvSpPr>
        <p:spPr>
          <a:xfrm>
            <a:off x="2247900" y="3017520"/>
            <a:ext cx="156210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review agenda</a:t>
            </a:r>
          </a:p>
        </p:txBody>
      </p:sp>
      <p:sp>
        <p:nvSpPr>
          <p:cNvPr id="12" name="Rounded Rectangle 11"/>
          <p:cNvSpPr/>
          <p:nvPr/>
        </p:nvSpPr>
        <p:spPr>
          <a:xfrm>
            <a:off x="3947160" y="3017520"/>
            <a:ext cx="156210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updates</a:t>
            </a:r>
          </a:p>
        </p:txBody>
      </p:sp>
      <p:sp>
        <p:nvSpPr>
          <p:cNvPr id="13" name="Rounded Rectangle 12"/>
          <p:cNvSpPr/>
          <p:nvPr/>
        </p:nvSpPr>
        <p:spPr>
          <a:xfrm>
            <a:off x="5646420" y="3017520"/>
            <a:ext cx="156210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decisions</a:t>
            </a:r>
          </a:p>
        </p:txBody>
      </p:sp>
      <p:sp>
        <p:nvSpPr>
          <p:cNvPr id="14" name="Rounded Rectangle 13"/>
          <p:cNvSpPr/>
          <p:nvPr/>
        </p:nvSpPr>
        <p:spPr>
          <a:xfrm>
            <a:off x="7345680" y="3017520"/>
            <a:ext cx="1562100"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actions</a:t>
            </a:r>
          </a:p>
        </p:txBody>
      </p:sp>
      <p:sp>
        <p:nvSpPr>
          <p:cNvPr id="15" name="Rounded Rectangle 14"/>
          <p:cNvSpPr/>
          <p:nvPr/>
        </p:nvSpPr>
        <p:spPr>
          <a:xfrm>
            <a:off x="9044940" y="3017520"/>
            <a:ext cx="156210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6. close</a:t>
            </a:r>
          </a:p>
        </p:txBody>
      </p:sp>
      <p:sp>
        <p:nvSpPr>
          <p:cNvPr id="16" name="TextBox 15"/>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7" name="TextBox 16"/>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Let’s get started.   💬 Moving on to the next item…   💬 To sum up, we’ve agreed that…</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Let’s get started = 我们开始吧。Moving on = 下一项。To sum up = 总结。每个行动项要有负责人和日期。</a:t>
            </a:r>
          </a:p>
        </p:txBody>
      </p:sp>
    </p:spTree>
  </p:cSld>
  <p:clrMapOvr>
    <a:masterClrMapping/>
  </p:clrMapOvr>
  <p:transition spd="med">
    <p:fade/>
  </p:transition>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Reading · Meetings That Move Projects Forward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122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49 Project Management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A project meeting should do one of three things: share information, solve a problem or make a decision. If it does none of these, it probably should have been an email. Effective meetings begin with a short agenda sent in advance and a clear end time. The chair opens by stating the purpose, keeps discussion focused and politely stops side conversations. Each participant gives a brief update: what is done, what is next and what is blocking progress. Problems are noted and, when they need longer discussion, taken offline. The chair closes by summarising decisions and assigning actions with names and deadlines. A short written summary follows within a day. Without this follow-up, even a lively meeting can fail to produce results.</a:t>
            </a:r>
          </a:p>
        </p:txBody>
      </p:sp>
    </p:spTree>
  </p:cSld>
  <p:clrMapOvr>
    <a:masterClrMapping/>
  </p:clrMapOvr>
  <p:transition spd="med">
    <p:fade/>
  </p:transition>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49 Project Management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should a project meeting do?</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Share information, solve a problem or make a decision.</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should each participant’s update include?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What is done, what is next and what is blocking progress.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Why is a written follow-up important?</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Without it, even a lively meeting may not produce results.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Running a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49 Project Management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主持会议</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agenda</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议程</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check the agenda.”</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minutes</a:t>
            </a:r>
          </a:p>
          <a:p>
            <a:pPr algn="l">
              <a:lnSpc>
                <a:spcPct val="115000"/>
              </a:lnSpc>
              <a:spcAft>
                <a:spcPts val="800"/>
              </a:spcAft>
            </a:pPr>
            <a:r>
              <a:rPr sz="1300" b="0">
                <a:solidFill>
                  <a:srgbClr val="5F677A"/>
                </a:solidFill>
                <a:latin typeface="Arial"/>
                <a:ea typeface="Microsoft YaHei"/>
              </a:rPr>
              <a:t>noun (plural)</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会议纪要</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“Who will take the minutes?”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action item</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待办事项</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action items are on the slide.”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chair</a:t>
            </a:r>
          </a:p>
          <a:p>
            <a:pPr algn="l">
              <a:lnSpc>
                <a:spcPct val="115000"/>
              </a:lnSpc>
              <a:spcAft>
                <a:spcPts val="800"/>
              </a:spcAft>
            </a:pPr>
            <a:r>
              <a:rPr sz="1300" b="0">
                <a:solidFill>
                  <a:srgbClr val="5F677A"/>
                </a:solidFill>
                <a:latin typeface="Arial"/>
                <a:ea typeface="Microsoft YaHei"/>
              </a:rPr>
              <a:t>verb / 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主持 / 主席</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chair today’s meeting.”</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update</a:t>
            </a:r>
          </a:p>
          <a:p>
            <a:pPr algn="l">
              <a:lnSpc>
                <a:spcPct val="115000"/>
              </a:lnSpc>
              <a:spcAft>
                <a:spcPts val="800"/>
              </a:spcAft>
            </a:pPr>
            <a:r>
              <a:rPr sz="1300" b="0">
                <a:solidFill>
                  <a:srgbClr val="5F677A"/>
                </a:solidFill>
                <a:latin typeface="Arial"/>
                <a:ea typeface="Microsoft YaHei"/>
              </a:rPr>
              <a:t>noun / 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更新 / 汇报</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“Can you give us an update?”</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attendee</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与会者</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 were ten attendees.”</a:t>
            </a:r>
          </a:p>
        </p:txBody>
      </p:sp>
    </p:spTree>
  </p:cSld>
  <p:clrMapOvr>
    <a:masterClrMapping/>
  </p:clrMapOvr>
  <p:transition spd="med">
    <p:fade/>
  </p:transition>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Chunk 2: Moving the meeting along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49 Project Management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推进会议</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it offline</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会后单独讨论</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take it offline.”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go around the table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轮流发言</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go around the table.”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park it</a:t>
            </a:r>
          </a:p>
          <a:p>
            <a:pPr algn="l">
              <a:lnSpc>
                <a:spcPct val="115000"/>
              </a:lnSpc>
              <a:spcAft>
                <a:spcPts val="800"/>
              </a:spcAft>
            </a:pPr>
            <a:r>
              <a:rPr sz="1300" b="0">
                <a:solidFill>
                  <a:srgbClr val="5F677A"/>
                </a:solidFill>
                <a:latin typeface="Arial"/>
                <a:ea typeface="Microsoft YaHei"/>
              </a:rPr>
              <a:t>informal</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暂时搁置</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park that for now.”</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circle back</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稍后再议</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“We’ll circle back to this next week.”</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everyone on the same page</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达成共识</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get everyone on the same page.”</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wrap up</a:t>
            </a:r>
          </a:p>
          <a:p>
            <a:pPr algn="l">
              <a:lnSpc>
                <a:spcPct val="115000"/>
              </a:lnSpc>
              <a:spcAft>
                <a:spcPts val="800"/>
              </a:spcAft>
            </a:pPr>
            <a:r>
              <a:rPr sz="1300" b="0">
                <a:solidFill>
                  <a:srgbClr val="5F677A"/>
                </a:solidFill>
                <a:latin typeface="Arial"/>
                <a:ea typeface="Microsoft YaHei"/>
              </a:rPr>
              <a:t>phrasal verb</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结束</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wrap up with actions.”</a:t>
            </a:r>
          </a:p>
        </p:txBody>
      </p:sp>
    </p:spTree>
  </p:cSld>
  <p:clrMapOvr>
    <a:masterClrMapping/>
  </p:clrMapOvr>
  <p:transition spd="med">
    <p:fade/>
  </p:transition>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49 Project Management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与会者</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attendee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结束</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wrap up</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会后单独讨论</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it offline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轮流发言</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go around the table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会议纪要</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minutes</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达成共识</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get everyone on the same page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稍后再议</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circle back</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议程</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agenda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49 Project Management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agenda</a:t>
            </a:r>
          </a:p>
        </p:txBody>
      </p:sp>
      <p:sp>
        <p:nvSpPr>
          <p:cNvPr id="10" name="Rounded Rectangle 9"/>
          <p:cNvSpPr/>
          <p:nvPr/>
        </p:nvSpPr>
        <p:spPr>
          <a:xfrm>
            <a:off x="3127248"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minutes</a:t>
            </a:r>
          </a:p>
        </p:txBody>
      </p:sp>
      <p:sp>
        <p:nvSpPr>
          <p:cNvPr id="11" name="Rounded Rectangle 10"/>
          <p:cNvSpPr/>
          <p:nvPr/>
        </p:nvSpPr>
        <p:spPr>
          <a:xfrm>
            <a:off x="4352544" y="987552"/>
            <a:ext cx="1572767"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action item</a:t>
            </a:r>
          </a:p>
        </p:txBody>
      </p:sp>
      <p:sp>
        <p:nvSpPr>
          <p:cNvPr id="12" name="Rounded Rectangle 11"/>
          <p:cNvSpPr/>
          <p:nvPr/>
        </p:nvSpPr>
        <p:spPr>
          <a:xfrm>
            <a:off x="6016751" y="987552"/>
            <a:ext cx="91440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chair</a:t>
            </a:r>
          </a:p>
        </p:txBody>
      </p:sp>
      <p:sp>
        <p:nvSpPr>
          <p:cNvPr id="13" name="Rounded Rectangle 12"/>
          <p:cNvSpPr/>
          <p:nvPr/>
        </p:nvSpPr>
        <p:spPr>
          <a:xfrm>
            <a:off x="7022591" y="987552"/>
            <a:ext cx="2011679"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take it offline</a:t>
            </a:r>
          </a:p>
        </p:txBody>
      </p:sp>
      <p:sp>
        <p:nvSpPr>
          <p:cNvPr id="14" name="Rounded Rectangle 13"/>
          <p:cNvSpPr/>
          <p:nvPr/>
        </p:nvSpPr>
        <p:spPr>
          <a:xfrm>
            <a:off x="9125710"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park</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Please read the _______ before the meeting.</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agenda</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Who will take the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minutes</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Each _______ has an owner and a deadline.</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action item</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Mei will _______ the meeting today.</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chair</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That’s a big topic. Let’s _______ after the meeting.</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it offline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Let’s _______ that for now and come back to it.</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park</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minutes (always plural: “the minutes are”), agenda (singular), attendees. Hold / have a meeting, chair a meeting, in a meeting, at a meeting (both). Take the minutes (not “write”). Discuss the plan (no “about”).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Role Play · Chairing a project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49 Project Management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主持项目会议</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chair the weekly project meeting with three team members.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Joy Mak, project manager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Team members: Alex, Bo and Chen</a:t>
            </a:r>
          </a:p>
        </p:txBody>
      </p:sp>
    </p:spTree>
  </p:cSld>
  <p:clrMapOvr>
    <a:masterClrMapping/>
  </p:clrMapOvr>
  <p:transition spd="med">
    <p:fade/>
  </p:transition>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Chairing a project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49 Project Management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Joy</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Right, let’s get started. Thanks for joining. We have thirty minutes and three items: progress, risks and actions.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Alex</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Fine by me.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Alex, could you start with progress on the design?</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The first draft is complete. Next, I’ll review it with the client. There’s nothing blocking me right now.</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Bo?</a:t>
            </a:r>
          </a:p>
        </p:txBody>
      </p:sp>
    </p:spTree>
  </p:cSld>
  <p:clrMapOvr>
    <a:masterClrMapping/>
  </p:clrMapOvr>
  <p:transition spd="med">
    <p:fade/>
  </p:transition>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Chairing a project meeting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49 Project Management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Testing is two days behind because of the software update. I’ll need extra help on Thursday.</a:t>
            </a:r>
          </a:p>
        </p:txBody>
      </p:sp>
      <p:sp>
        <p:nvSpPr>
          <p:cNvPr id="11" name="Rounded Rectangle 10"/>
          <p:cNvSpPr/>
          <p:nvPr/>
        </p:nvSpPr>
        <p:spPr>
          <a:xfrm>
            <a:off x="548640" y="21976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219760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Okay. Let’s park the resourcing question and come back to it in a moment. Chen, any risks?</a:t>
            </a:r>
          </a:p>
        </p:txBody>
      </p:sp>
      <p:sp>
        <p:nvSpPr>
          <p:cNvPr id="14" name="Rounded Rectangle 13"/>
          <p:cNvSpPr/>
          <p:nvPr/>
        </p:nvSpPr>
        <p:spPr>
          <a:xfrm>
            <a:off x="10911535" y="306933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306933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One. The supplier may be late with samples.</a:t>
            </a:r>
          </a:p>
        </p:txBody>
      </p:sp>
      <p:sp>
        <p:nvSpPr>
          <p:cNvPr id="17" name="Rounded Rectangle 16"/>
          <p:cNvSpPr/>
          <p:nvPr/>
        </p:nvSpPr>
        <p:spPr>
          <a:xfrm>
            <a:off x="548640" y="365150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65150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worth discussing, but let’s take it offline with Chen and me. Moving on to actions.</a:t>
            </a:r>
          </a:p>
        </p:txBody>
      </p:sp>
      <p:sp>
        <p:nvSpPr>
          <p:cNvPr id="20" name="Rounded Rectangle 19"/>
          <p:cNvSpPr/>
          <p:nvPr/>
        </p:nvSpPr>
        <p:spPr>
          <a:xfrm>
            <a:off x="10911535" y="452323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52323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Can we agree who sends the client update?</a:t>
            </a:r>
          </a:p>
        </p:txBody>
      </p:sp>
    </p:spTree>
  </p:cSld>
  <p:clrMapOvr>
    <a:masterClrMapping/>
  </p:clrMapOvr>
  <p:transition spd="med">
    <p:fade/>
  </p:transition>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Chairing a project meeting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49 Project Management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1069847"/>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Alex, you’re doing it by Friday. Bo, you’ll book the extra tester today. To sum up, the design is on track and testing is slightly behind.</a:t>
            </a:r>
          </a:p>
        </p:txBody>
      </p:sp>
      <p:sp>
        <p:nvSpPr>
          <p:cNvPr id="11" name="Rounded Rectangle 10"/>
          <p:cNvSpPr/>
          <p:nvPr/>
        </p:nvSpPr>
        <p:spPr>
          <a:xfrm>
            <a:off x="10911535" y="2487167"/>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926079"/>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487167"/>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clear.</a:t>
            </a:r>
          </a:p>
        </p:txBody>
      </p:sp>
      <p:sp>
        <p:nvSpPr>
          <p:cNvPr id="14" name="Rounded Rectangle 13"/>
          <p:cNvSpPr/>
          <p:nvPr/>
        </p:nvSpPr>
        <p:spPr>
          <a:xfrm>
            <a:off x="548640" y="3069335"/>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7"/>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5"/>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everyone. I’ll send the minutes this afternoon.</a:t>
            </a:r>
          </a:p>
        </p:txBody>
      </p:sp>
    </p:spTree>
  </p:cSld>
  <p:clrMapOvr>
    <a:masterClrMapping/>
  </p:clrMapOvr>
  <p:transition spd="med">
    <p:fade/>
  </p:transition>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Your Turn · Chairing a project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49 Project Management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chair a short project meeting.</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Chair. Agenda items: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Participants. Give updates and raise one issue.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let’s get started · moving on · take it offline · action item · to sum up · I’ll send the minutes</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Run the agenda, assign actions and summarise.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 participant goes off topic. Bring them back politely.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Two people talk at the same time. Manage it.</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the summary of decisions in three bullet points.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49 Project Management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makes a meeting effective?</a:t>
            </a:r>
          </a:p>
          <a:p>
            <a:pPr algn="l">
              <a:lnSpc>
                <a:spcPct val="115000"/>
              </a:lnSpc>
              <a:spcAft>
                <a:spcPts val="800"/>
              </a:spcAft>
            </a:pPr>
            <a:r>
              <a:rPr sz="1400" b="0">
                <a:solidFill>
                  <a:srgbClr val="5F677A"/>
                </a:solidFill>
                <a:latin typeface="Arial"/>
                <a:ea typeface="Microsoft YaHei"/>
              </a:rPr>
              <a:t>💬 “An effective meeting has… / It’s important to…”</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Are there too many meetings in modern workplaces?</a:t>
            </a:r>
          </a:p>
          <a:p>
            <a:pPr algn="l">
              <a:lnSpc>
                <a:spcPct val="115000"/>
              </a:lnSpc>
              <a:spcAft>
                <a:spcPts val="800"/>
              </a:spcAft>
            </a:pPr>
            <a:r>
              <a:rPr sz="1400" b="0">
                <a:solidFill>
                  <a:srgbClr val="5F677A"/>
                </a:solidFill>
                <a:latin typeface="Arial"/>
                <a:ea typeface="Microsoft YaHei"/>
              </a:rPr>
              <a:t>💬 “In my experience, yes, because… / Many could be emails…”</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should a chairperson do and not do?</a:t>
            </a:r>
          </a:p>
          <a:p>
            <a:pPr algn="l">
              <a:lnSpc>
                <a:spcPct val="115000"/>
              </a:lnSpc>
              <a:spcAft>
                <a:spcPts val="800"/>
              </a:spcAft>
            </a:pPr>
            <a:r>
              <a:rPr sz="1400" b="0">
                <a:solidFill>
                  <a:srgbClr val="5F677A"/>
                </a:solidFill>
                <a:latin typeface="Arial"/>
                <a:ea typeface="Microsoft YaHei"/>
              </a:rPr>
              <a:t>💬 “A chair should… but shouldn’t…”</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online meetings work as well as face-to-face ones?</a:t>
            </a:r>
          </a:p>
          <a:p>
            <a:pPr algn="l">
              <a:lnSpc>
                <a:spcPct val="115000"/>
              </a:lnSpc>
              <a:spcAft>
                <a:spcPts val="800"/>
              </a:spcAft>
            </a:pPr>
            <a:r>
              <a:rPr sz="1400" b="0">
                <a:solidFill>
                  <a:srgbClr val="5F677A"/>
                </a:solidFill>
                <a:latin typeface="Arial"/>
                <a:ea typeface="Microsoft YaHei"/>
              </a:rPr>
              <a:t>💬 “They’re more convenient, but…”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49 Project Management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In my experience, many workplaces do have too many meetings, especially regular status meetings where people simply read out information that could be sent in writing. I think the solution is to ask three questions before scheduling one: what’s the purpose, who really needs to be there and could it be an email? Shorter, more focused meetings would also free up time for actual work.</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status meeting = 例行进度会。”read out” = 念出。free up = 腾出。”actual work” = 真正的工作。</a:t>
            </a:r>
          </a:p>
        </p:txBody>
      </p:sp>
    </p:spTree>
  </p:cSld>
  <p:clrMapOvr>
    <a:masterClrMapping/>
  </p:clrMapOvr>
  <p:transition spd="med">
    <p:fade/>
  </p:transition>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49 Project Management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69443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408432">
                <a:tc>
                  <a:txBody>
                    <a:bodyPr wrap="square"/>
                    <a:lstStyle/>
                    <a:p>
                      <a:r>
                        <a:rPr sz="1600" b="1">
                          <a:solidFill>
                            <a:srgbClr val="1F2A44"/>
                          </a:solidFill>
                          <a:latin typeface="Arial"/>
                          <a:ea typeface="Microsoft YaHei"/>
                        </a:rPr>
                        <a:t>Let’s begin.</a:t>
                      </a:r>
                    </a:p>
                  </a:txBody>
                  <a:tcPr anchor="ctr">
                    <a:solidFill>
                      <a:srgbClr val="FFFFFF"/>
                    </a:solidFill>
                  </a:tcPr>
                </a:tc>
                <a:tc>
                  <a:txBody>
                    <a:bodyPr wrap="square"/>
                    <a:lstStyle/>
                    <a:p>
                      <a:r>
                        <a:rPr sz="1600" b="0">
                          <a:solidFill>
                            <a:srgbClr val="1F2A44"/>
                          </a:solidFill>
                          <a:latin typeface="Arial"/>
                          <a:ea typeface="Microsoft YaHei"/>
                        </a:rPr>
                        <a:t>Let’s get started.</a:t>
                      </a:r>
                    </a:p>
                  </a:txBody>
                  <a:tcPr anchor="ctr">
                    <a:solidFill>
                      <a:srgbClr val="FFFFFF"/>
                    </a:solidFill>
                  </a:tcPr>
                </a:tc>
                <a:tc>
                  <a:txBody>
                    <a:bodyPr wrap="square"/>
                    <a:lstStyle/>
                    <a:p>
                      <a:r>
                        <a:rPr sz="1600" b="0">
                          <a:solidFill>
                            <a:srgbClr val="FF6B5B"/>
                          </a:solidFill>
                          <a:latin typeface="Arial"/>
                          <a:ea typeface="Microsoft YaHei"/>
                        </a:rPr>
                        <a:t>常用</a:t>
                      </a:r>
                    </a:p>
                  </a:txBody>
                  <a:tcPr anchor="ctr">
                    <a:solidFill>
                      <a:srgbClr val="FFFFFF"/>
                    </a:solidFill>
                  </a:tcPr>
                </a:tc>
              </a:tr>
              <a:tr h="408432">
                <a:tc>
                  <a:txBody>
                    <a:bodyPr wrap="square"/>
                    <a:lstStyle/>
                    <a:p>
                      <a:r>
                        <a:rPr sz="1600" b="1">
                          <a:solidFill>
                            <a:srgbClr val="1F2A44"/>
                          </a:solidFill>
                          <a:latin typeface="Arial"/>
                          <a:ea typeface="Microsoft YaHei"/>
                        </a:rPr>
                        <a:t>Stop talking about that.</a:t>
                      </a:r>
                    </a:p>
                  </a:txBody>
                  <a:tcPr anchor="ctr">
                    <a:solidFill>
                      <a:srgbClr val="FFEFD9"/>
                    </a:solidFill>
                  </a:tcPr>
                </a:tc>
                <a:tc>
                  <a:txBody>
                    <a:bodyPr wrap="square"/>
                    <a:lstStyle/>
                    <a:p>
                      <a:r>
                        <a:rPr sz="1600" b="0">
                          <a:solidFill>
                            <a:srgbClr val="1F2A44"/>
                          </a:solidFill>
                          <a:latin typeface="Arial"/>
                          <a:ea typeface="Microsoft YaHei"/>
                        </a:rPr>
                        <a:t>Let’s park that for now.</a:t>
                      </a:r>
                    </a:p>
                  </a:txBody>
                  <a:tcPr anchor="ctr">
                    <a:solidFill>
                      <a:srgbClr val="FFEFD9"/>
                    </a:solidFill>
                  </a:tcPr>
                </a:tc>
                <a:tc>
                  <a:txBody>
                    <a:bodyPr wrap="square"/>
                    <a:lstStyle/>
                    <a:p>
                      <a:r>
                        <a:rPr sz="1600" b="0">
                          <a:solidFill>
                            <a:srgbClr val="FF6B5B"/>
                          </a:solidFill>
                          <a:latin typeface="Arial"/>
                          <a:ea typeface="Microsoft YaHei"/>
                        </a:rPr>
                        <a:t>委婉</a:t>
                      </a:r>
                    </a:p>
                  </a:txBody>
                  <a:tcPr anchor="ctr">
                    <a:solidFill>
                      <a:srgbClr val="FFEFD9"/>
                    </a:solidFill>
                  </a:tcPr>
                </a:tc>
              </a:tr>
              <a:tr h="652272">
                <a:tc>
                  <a:txBody>
                    <a:bodyPr wrap="square"/>
                    <a:lstStyle/>
                    <a:p>
                      <a:r>
                        <a:rPr sz="1600" b="1">
                          <a:solidFill>
                            <a:srgbClr val="1F2A44"/>
                          </a:solidFill>
                          <a:latin typeface="Arial"/>
                          <a:ea typeface="Microsoft YaHei"/>
                        </a:rPr>
                        <a:t>What’s the progress?</a:t>
                      </a:r>
                    </a:p>
                  </a:txBody>
                  <a:tcPr anchor="ctr">
                    <a:solidFill>
                      <a:srgbClr val="FFFFFF"/>
                    </a:solidFill>
                  </a:tcPr>
                </a:tc>
                <a:tc>
                  <a:txBody>
                    <a:bodyPr wrap="square"/>
                    <a:lstStyle/>
                    <a:p>
                      <a:r>
                        <a:rPr sz="1600" b="0">
                          <a:solidFill>
                            <a:srgbClr val="1F2A44"/>
                          </a:solidFill>
                          <a:latin typeface="Arial"/>
                          <a:ea typeface="Microsoft YaHei"/>
                        </a:rPr>
                        <a:t>Could you give us a quick update?</a:t>
                      </a:r>
                    </a:p>
                  </a:txBody>
                  <a:tcPr anchor="ctr">
                    <a:solidFill>
                      <a:srgbClr val="FFFFFF"/>
                    </a:solidFill>
                  </a:tcPr>
                </a:tc>
                <a:tc>
                  <a:txBody>
                    <a:bodyPr wrap="square"/>
                    <a:lstStyle/>
                    <a:p>
                      <a:r>
                        <a:rPr sz="1600" b="0">
                          <a:solidFill>
                            <a:srgbClr val="FF6B5B"/>
                          </a:solidFill>
                          <a:latin typeface="Arial"/>
                          <a:ea typeface="Microsoft YaHei"/>
                        </a:rPr>
                        <a:t>礼貌</a:t>
                      </a:r>
                    </a:p>
                  </a:txBody>
                  <a:tcPr anchor="ctr">
                    <a:solidFill>
                      <a:srgbClr val="FFFFFF"/>
                    </a:solidFill>
                  </a:tcPr>
                </a:tc>
              </a:tr>
              <a:tr h="408432">
                <a:tc>
                  <a:txBody>
                    <a:bodyPr wrap="square"/>
                    <a:lstStyle/>
                    <a:p>
                      <a:r>
                        <a:rPr sz="1600" b="1">
                          <a:solidFill>
                            <a:srgbClr val="1F2A44"/>
                          </a:solidFill>
                          <a:latin typeface="Arial"/>
                          <a:ea typeface="Microsoft YaHei"/>
                        </a:rPr>
                        <a:t>Who does it?</a:t>
                      </a:r>
                    </a:p>
                  </a:txBody>
                  <a:tcPr anchor="ctr">
                    <a:solidFill>
                      <a:srgbClr val="FFEFD9"/>
                    </a:solidFill>
                  </a:tcPr>
                </a:tc>
                <a:tc>
                  <a:txBody>
                    <a:bodyPr wrap="square"/>
                    <a:lstStyle/>
                    <a:p>
                      <a:r>
                        <a:rPr sz="1600" b="0">
                          <a:solidFill>
                            <a:srgbClr val="1F2A44"/>
                          </a:solidFill>
                          <a:latin typeface="Arial"/>
                          <a:ea typeface="Microsoft YaHei"/>
                        </a:rPr>
                        <a:t>Who’s going to take that on?</a:t>
                      </a:r>
                    </a:p>
                  </a:txBody>
                  <a:tcPr anchor="ctr">
                    <a:solidFill>
                      <a:srgbClr val="FFEFD9"/>
                    </a:solidFill>
                  </a:tcPr>
                </a:tc>
                <a:tc>
                  <a:txBody>
                    <a:bodyPr wrap="square"/>
                    <a:lstStyle/>
                    <a:p>
                      <a:r>
                        <a:rPr sz="1600" b="0">
                          <a:solidFill>
                            <a:srgbClr val="FF6B5B"/>
                          </a:solidFill>
                          <a:latin typeface="Arial"/>
                          <a:ea typeface="Microsoft YaHei"/>
                        </a:rPr>
                        <a:t>分配</a:t>
                      </a:r>
                    </a:p>
                  </a:txBody>
                  <a:tcPr anchor="ctr">
                    <a:solidFill>
                      <a:srgbClr val="FFEFD9"/>
                    </a:solidFill>
                  </a:tcPr>
                </a:tc>
              </a:tr>
              <a:tr h="408432">
                <a:tc>
                  <a:txBody>
                    <a:bodyPr wrap="square"/>
                    <a:lstStyle/>
                    <a:p>
                      <a:r>
                        <a:rPr sz="1600" b="1">
                          <a:solidFill>
                            <a:srgbClr val="1F2A44"/>
                          </a:solidFill>
                          <a:latin typeface="Arial"/>
                          <a:ea typeface="Microsoft YaHei"/>
                        </a:rPr>
                        <a:t>The meeting is finished.</a:t>
                      </a:r>
                    </a:p>
                  </a:txBody>
                  <a:tcPr anchor="ctr">
                    <a:solidFill>
                      <a:srgbClr val="FFFFFF"/>
                    </a:solidFill>
                  </a:tcPr>
                </a:tc>
                <a:tc>
                  <a:txBody>
                    <a:bodyPr wrap="square"/>
                    <a:lstStyle/>
                    <a:p>
                      <a:r>
                        <a:rPr sz="1600" b="0">
                          <a:solidFill>
                            <a:srgbClr val="1F2A44"/>
                          </a:solidFill>
                          <a:latin typeface="Arial"/>
                          <a:ea typeface="Microsoft YaHei"/>
                        </a:rPr>
                        <a:t>Let’s wrap up.</a:t>
                      </a:r>
                    </a:p>
                  </a:txBody>
                  <a:tcPr anchor="ctr">
                    <a:solidFill>
                      <a:srgbClr val="FFFFFF"/>
                    </a:solidFill>
                  </a:tcPr>
                </a:tc>
                <a:tc>
                  <a:txBody>
                    <a:bodyPr wrap="square"/>
                    <a:lstStyle/>
                    <a:p>
                      <a:r>
                        <a:rPr sz="1600" b="0">
                          <a:solidFill>
                            <a:srgbClr val="FF6B5B"/>
                          </a:solidFill>
                          <a:latin typeface="Arial"/>
                          <a:ea typeface="Microsoft YaHei"/>
                        </a:rPr>
                        <a:t>结束</a:t>
                      </a:r>
                    </a:p>
                  </a:txBody>
                  <a:tcPr anchor="ctr">
                    <a:solidFill>
                      <a:srgbClr val="FFFFFF"/>
                    </a:solidFill>
                  </a:tcPr>
                </a:tc>
              </a:tr>
            </a:tbl>
          </a:graphicData>
        </a:graphic>
      </p:graphicFrame>
    </p:spTree>
  </p:cSld>
  <p:clrMapOvr>
    <a:masterClrMapping/>
  </p:clrMapOvr>
  <p:transition spd="med">
    <p:fade/>
  </p:transition>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49 Project Management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Sequencing: </a:t>
            </a:r>
            <a:r>
              <a:rPr sz="1700" b="0">
                <a:solidFill>
                  <a:srgbClr val="1F2A44"/>
                </a:solidFill>
                <a:latin typeface="Arial"/>
                <a:ea typeface="Microsoft YaHei"/>
              </a:rPr>
              <a:t>first, next, then, finally; moving on to; before we close.</a:t>
            </a:r>
          </a:p>
        </p:txBody>
      </p:sp>
      <p:sp>
        <p:nvSpPr>
          <p:cNvPr id="11" name="Rounded Rectangle 10"/>
          <p:cNvSpPr/>
          <p:nvPr/>
        </p:nvSpPr>
        <p:spPr>
          <a:xfrm>
            <a:off x="548640" y="195071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701039"/>
          </a:xfrm>
          <a:prstGeom prst="rect">
            <a:avLst/>
          </a:prstGeom>
          <a:noFill/>
        </p:spPr>
        <p:txBody>
          <a:bodyPr wrap="square" anchor="ctr">
            <a:spAutoFit/>
          </a:bodyPr>
          <a:lstStyle/>
          <a:p>
            <a:r>
              <a:rPr sz="1700" b="1">
                <a:solidFill>
                  <a:srgbClr val="4A90E2"/>
                </a:solidFill>
                <a:latin typeface="Arial"/>
                <a:ea typeface="Microsoft YaHei"/>
              </a:rPr>
              <a:t>Delegating in meetings: </a:t>
            </a:r>
            <a:r>
              <a:rPr sz="1700" b="0">
                <a:solidFill>
                  <a:srgbClr val="1F2A44"/>
                </a:solidFill>
                <a:latin typeface="Arial"/>
                <a:ea typeface="Microsoft YaHei"/>
              </a:rPr>
              <a:t>Could you take that on? / Would you be able to…? / Can I put you down for…?</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Summarising: </a:t>
            </a:r>
            <a:r>
              <a:rPr sz="1700" b="0">
                <a:solidFill>
                  <a:srgbClr val="1F2A44"/>
                </a:solidFill>
                <a:latin typeface="Arial"/>
                <a:ea typeface="Microsoft YaHei"/>
              </a:rPr>
              <a:t>To sum up, / So we’ve agreed that… / The next steps are…</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Interrupting politely: </a:t>
            </a:r>
            <a:r>
              <a:rPr sz="1700" b="0">
                <a:solidFill>
                  <a:srgbClr val="1F2A44"/>
                </a:solidFill>
                <a:latin typeface="Arial"/>
                <a:ea typeface="Microsoft YaHei"/>
              </a:rPr>
              <a:t>Sorry to interrupt, but… / Can I just add something?</a:t>
            </a:r>
          </a:p>
        </p:txBody>
      </p:sp>
    </p:spTree>
  </p:cSld>
  <p:clrMapOvr>
    <a:masterClrMapping/>
  </p:clrMapOvr>
  <p:transition spd="med">
    <p:fade/>
  </p:transition>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49 Project Management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meeting is hold on Monday.</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meeting is being held / will be held on Monday.</a:t>
            </a:r>
          </a:p>
          <a:p>
            <a:pPr algn="l">
              <a:spcAft>
                <a:spcPts val="200"/>
              </a:spcAft>
            </a:pPr>
            <a:r>
              <a:rPr sz="1200" b="0">
                <a:solidFill>
                  <a:srgbClr val="FFFFFF"/>
                </a:solidFill>
                <a:latin typeface="Arial"/>
                <a:ea typeface="Microsoft YaHei"/>
              </a:rPr>
              <a:t>被动</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discuss about the budget.</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will discuss the budget.</a:t>
            </a:r>
          </a:p>
          <a:p>
            <a:pPr algn="l">
              <a:spcAft>
                <a:spcPts val="200"/>
              </a:spcAft>
            </a:pPr>
            <a:r>
              <a:rPr sz="1200" b="0">
                <a:solidFill>
                  <a:srgbClr val="FFFFFF"/>
                </a:solidFill>
                <a:latin typeface="Arial"/>
                <a:ea typeface="Microsoft YaHei"/>
              </a:rPr>
              <a:t>discuss 无介词</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Let’s start the meeting at 9 o’clock.</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Let’s start the meeting at nine.</a:t>
            </a:r>
          </a:p>
          <a:p>
            <a:pPr algn="l">
              <a:spcAft>
                <a:spcPts val="200"/>
              </a:spcAft>
            </a:pPr>
            <a:r>
              <a:rPr sz="1200" b="0">
                <a:solidFill>
                  <a:srgbClr val="FFFFFF"/>
                </a:solidFill>
                <a:latin typeface="Arial"/>
                <a:ea typeface="Microsoft YaHei"/>
              </a:rPr>
              <a:t>更自然</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49 Project Management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Who will take notes of the meeting?</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Who will take the minutes?</a:t>
            </a:r>
          </a:p>
          <a:p>
            <a:pPr algn="l">
              <a:spcAft>
                <a:spcPts val="200"/>
              </a:spcAft>
            </a:pPr>
            <a:r>
              <a:rPr sz="1200" b="0">
                <a:solidFill>
                  <a:srgbClr val="FFFFFF"/>
                </a:solidFill>
                <a:latin typeface="Arial"/>
                <a:ea typeface="Microsoft YaHei"/>
              </a:rPr>
              <a:t>take the minutes</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suggest to move on.</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suggest moving on. / I suggest that we move on.</a:t>
            </a:r>
          </a:p>
          <a:p>
            <a:pPr algn="l">
              <a:spcAft>
                <a:spcPts val="200"/>
              </a:spcAft>
            </a:pPr>
            <a:r>
              <a:rPr sz="1200" b="0">
                <a:solidFill>
                  <a:srgbClr val="FFFFFF"/>
                </a:solidFill>
                <a:latin typeface="Arial"/>
                <a:ea typeface="Microsoft YaHei"/>
              </a:rPr>
              <a:t>suggest + -ing</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asked me for update.</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asked me for an update.</a:t>
            </a:r>
          </a:p>
          <a:p>
            <a:pPr algn="l">
              <a:spcAft>
                <a:spcPts val="200"/>
              </a:spcAft>
            </a:pPr>
            <a:r>
              <a:rPr sz="1200" b="0">
                <a:solidFill>
                  <a:srgbClr val="FFFFFF"/>
                </a:solidFill>
                <a:latin typeface="Arial"/>
                <a:ea typeface="Microsoft YaHei"/>
              </a:rPr>
              <a:t>冠词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passive in is held, suggest + -ing, and articles with update.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49 Project Management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Time: </a:t>
            </a:r>
            <a:r>
              <a:rPr sz="1700" b="0">
                <a:solidFill>
                  <a:srgbClr val="1F2A44"/>
                </a:solidFill>
                <a:latin typeface="Arial"/>
                <a:ea typeface="Microsoft YaHei"/>
              </a:rPr>
              <a:t>In the UK/US, starting on time is expected. Arriving late is often seen as disrespect.</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Silence in meetings: </a:t>
            </a:r>
            <a:r>
              <a:rPr sz="1700" b="0">
                <a:solidFill>
                  <a:srgbClr val="1F2A44"/>
                </a:solidFill>
                <a:latin typeface="Arial"/>
                <a:ea typeface="Microsoft YaHei"/>
              </a:rPr>
              <a:t>Not speaking can be interpreted as agreement. Say what you think.</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Online meetings: </a:t>
            </a:r>
            <a:r>
              <a:rPr sz="1700" b="0">
                <a:solidFill>
                  <a:srgbClr val="1F2A44"/>
                </a:solidFill>
                <a:latin typeface="Arial"/>
                <a:ea typeface="Microsoft YaHei"/>
              </a:rPr>
              <a:t>Mute when not speaking; use “raise hand” function; avoid multitasking.</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discuss 不加 about;suggest 后接 -ing 或 that 从句,不接 to do;minutes 总是复数,take the minutes。</a:t>
            </a:r>
          </a:p>
        </p:txBody>
      </p:sp>
    </p:spTree>
  </p:cSld>
  <p:clrMapOvr>
    <a:masterClrMapping/>
  </p:clrMapOvr>
  <p:transition spd="med">
    <p:fade/>
  </p:transition>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49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49 Project Management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chair a meeting and assign actions.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a brief update.</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interrupt and redirect politely.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discuss and suggest with correct patterns.</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49 Project Management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discuss without about, suggest + -ing, and the passive with hold a meeting.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5 · Lesson 50 Project Management Methodologies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293</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50</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4700" b="1">
                <a:solidFill>
                  <a:srgbClr val="FFFFFF"/>
                </a:solidFill>
                <a:latin typeface="Arial"/>
                <a:ea typeface="Microsoft YaHei"/>
              </a:rPr>
              <a:t>Project Management Methodologies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项目管理方法</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compare project management approaches such as waterfall and agile, and explain which fits which type of project.</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50 Project Management Methodologies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used any project management method or tool?</a:t>
            </a:r>
          </a:p>
        </p:txBody>
      </p:sp>
      <p:sp>
        <p:nvSpPr>
          <p:cNvPr id="12" name="Oval 11"/>
          <p:cNvSpPr/>
          <p:nvPr/>
        </p:nvSpPr>
        <p:spPr>
          <a:xfrm>
            <a:off x="548640" y="248716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the difference between planning everything in advance and working step by step?</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tools do you use to track tasks?</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When does a project need strict control?</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advantages of short work cycles?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waterfall = 瀑布式;agile = 敏捷;sprint = 冲刺(短周期);Kanban = 看板。这里只需理解概念,不要求专业细节。</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50 Project Management Methodologies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Compare waterfall and agile and recommend one for a project.</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describe A</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describe B</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project type</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recommendation</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Waterfall works best when…   💬 Agile is more flexible because…   💬 For this project, I’d recommend…</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work best when… 用来说明适用条件。recommend + -ing / that。</a:t>
            </a:r>
          </a:p>
        </p:txBody>
      </p:sp>
    </p:spTree>
  </p:cSld>
  <p:clrMapOvr>
    <a:masterClrMapping/>
  </p:clrMapOvr>
  <p:transition spd="med">
    <p:fade/>
  </p:transition>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Reading · Plan First or Learn as You Go?</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129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50 Project Management Methodologies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Project teams usually follow one of two broad approaches. The traditional method, often called waterfall, plans the whole project upfront and then moves through fixed stages: requirements, design, building, testing and delivery. It suits projects with stable requirements and strict regulation, such as constructing a bridge. Agile methods work in short cycles, often called sprints. A team builds a small piece, shows it to users, collects feedback and adjusts the plan. This suits situations where the final product is uncertain, such as new software. In practice, many organisations mix the two. The key is not to follow a method for its own sake, but to match it to the risk, the level of uncertainty and the team’s experience. Tools may help, but communication still decides whether the project succeeds.</a:t>
            </a:r>
          </a:p>
        </p:txBody>
      </p:sp>
    </p:spTree>
  </p:cSld>
  <p:clrMapOvr>
    <a:masterClrMapping/>
  </p:clrMapOvr>
  <p:transition spd="med">
    <p:fade/>
  </p:transition>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50 Project Management Methodologies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How does waterfall work?</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It plans everything upfront and moves through fixed stages.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When does agile suit best?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When the final product is uncertain and feedback is needed, e.g. new software.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should decide which method to use?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 risk, level of uncertainty and the team’s experience.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Project approaches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50 Project Management Methodologies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项目方法</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waterfall</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瀑布式</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firm uses a waterfall approach.”</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agile</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敏捷的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work in an agile way.”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sprint</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冲刺(短周期)</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“Each sprint lasts two weeks.”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requirements</a:t>
            </a:r>
          </a:p>
          <a:p>
            <a:pPr algn="l">
              <a:lnSpc>
                <a:spcPct val="115000"/>
              </a:lnSpc>
              <a:spcAft>
                <a:spcPts val="800"/>
              </a:spcAft>
            </a:pPr>
            <a:r>
              <a:rPr sz="1300" b="0">
                <a:solidFill>
                  <a:srgbClr val="5F677A"/>
                </a:solidFill>
                <a:latin typeface="Arial"/>
                <a:ea typeface="Microsoft YaHei"/>
              </a:rPr>
              <a:t>noun (plural)</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需求</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requirements keep changing.”</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iteration</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迭代</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third iteration is ready.”</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Gantt chart</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甘特图</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Gantt chart shows the timeline.”</a:t>
            </a:r>
          </a:p>
        </p:txBody>
      </p:sp>
    </p:spTree>
  </p:cSld>
  <p:clrMapOvr>
    <a:masterClrMapping/>
  </p:clrMapOvr>
  <p:transition spd="med">
    <p:fade/>
  </p:transition>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Applying methods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50 Project Management Methodologies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应用方法</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roll out</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推出/实施</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rolled out the new system.”</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iterate</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反复改进</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iterate quickly based on feedback.”</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sign-off</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签字确认</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client sign-off.”</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one size fits all</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通用方案</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no one-size-fits-all approach.”</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fit for purpose</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适用</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process must be fit for purpose.”</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work out the kinks</a:t>
            </a:r>
          </a:p>
          <a:p>
            <a:pPr algn="l">
              <a:lnSpc>
                <a:spcPct val="115000"/>
              </a:lnSpc>
              <a:spcAft>
                <a:spcPts val="800"/>
              </a:spcAft>
            </a:pPr>
            <a:r>
              <a:rPr sz="1300" b="0">
                <a:solidFill>
                  <a:srgbClr val="5F677A"/>
                </a:solidFill>
                <a:latin typeface="Arial"/>
                <a:ea typeface="Microsoft YaHei"/>
              </a:rPr>
              <a:t>idiom</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解决小问题</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“We’re working out the kinks.”</a:t>
            </a:r>
          </a:p>
        </p:txBody>
      </p:sp>
    </p:spTree>
  </p:cSld>
  <p:clrMapOvr>
    <a:masterClrMapping/>
  </p:clrMapOvr>
  <p:transition spd="med">
    <p:fade/>
  </p:transition>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50 Project Management Methodologies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甘特图</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Gantt chart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需求</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requirements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签字确认</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sign-off</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适用</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fit for purpose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冲刺(短周期)</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sprint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瀑布式</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waterfall</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反复改进</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iterate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迭代</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iteration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50 Project Management Methodologies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waterfall</a:t>
            </a:r>
          </a:p>
        </p:txBody>
      </p:sp>
      <p:sp>
        <p:nvSpPr>
          <p:cNvPr id="10" name="Rounded Rectangle 9"/>
          <p:cNvSpPr/>
          <p:nvPr/>
        </p:nvSpPr>
        <p:spPr>
          <a:xfrm>
            <a:off x="3456432" y="987552"/>
            <a:ext cx="91440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agile</a:t>
            </a:r>
          </a:p>
        </p:txBody>
      </p:sp>
      <p:sp>
        <p:nvSpPr>
          <p:cNvPr id="11" name="Rounded Rectangle 10"/>
          <p:cNvSpPr/>
          <p:nvPr/>
        </p:nvSpPr>
        <p:spPr>
          <a:xfrm>
            <a:off x="4462272" y="987552"/>
            <a:ext cx="102412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sprint</a:t>
            </a:r>
          </a:p>
        </p:txBody>
      </p:sp>
      <p:sp>
        <p:nvSpPr>
          <p:cNvPr id="12" name="Rounded Rectangle 11"/>
          <p:cNvSpPr/>
          <p:nvPr/>
        </p:nvSpPr>
        <p:spPr>
          <a:xfrm>
            <a:off x="5577840" y="987552"/>
            <a:ext cx="1682495"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requirements</a:t>
            </a:r>
          </a:p>
        </p:txBody>
      </p:sp>
      <p:sp>
        <p:nvSpPr>
          <p:cNvPr id="13" name="Rounded Rectangle 12"/>
          <p:cNvSpPr/>
          <p:nvPr/>
        </p:nvSpPr>
        <p:spPr>
          <a:xfrm>
            <a:off x="7351775"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sign-off</a:t>
            </a:r>
          </a:p>
        </p:txBody>
      </p:sp>
      <p:sp>
        <p:nvSpPr>
          <p:cNvPr id="14" name="Rounded Rectangle 13"/>
          <p:cNvSpPr/>
          <p:nvPr/>
        </p:nvSpPr>
        <p:spPr>
          <a:xfrm>
            <a:off x="8686799" y="987552"/>
            <a:ext cx="2011679"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fit for purpose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The _______ approach plans everything in advance.</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waterfall</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An _______ team works in short cycles and adapts.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agile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Each _______ lasts two weeks.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sprint</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 client keeps changing the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requirements</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We cannot start until we have the client’s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sign-off</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The process must be _______. Too much paperwork wastes time.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fit for purpose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methodology (the study/system; “method” is simpler), agile (not “agil”), iteration. Follow / adopt a methodology. Requirements (plural; “requirement” is singular). Software is uncountable (“a piece of software”).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Role Play · Recommending a method for a project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50 Project Management Methodologies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为项目推荐方法</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advise a colleague on whether to use a waterfall or agile approach for a new mobile app.</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Xin Zhao, project coach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Ian Brown, colleague</a:t>
            </a:r>
          </a:p>
        </p:txBody>
      </p:sp>
    </p:spTree>
  </p:cSld>
  <p:clrMapOvr>
    <a:masterClrMapping/>
  </p:clrMapOvr>
  <p:transition spd="med">
    <p:fade/>
  </p:transition>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Recommending a method for a project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50 Project Management Methodologies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Xin</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Ian, what’s the situation with the app project?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Ian</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have about twelve features, and the client keeps changing their mind. I’m thinking of using a waterfall plan.</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think twice about that. Waterfall works best when requirements are fixed.</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True, but I’d like a clear plan and a budget.</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could set a budget for each sprint, which still gives you control.</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would that work?</a:t>
            </a:r>
          </a:p>
        </p:txBody>
      </p:sp>
    </p:spTree>
  </p:cSld>
  <p:clrMapOvr>
    <a:masterClrMapping/>
  </p:clrMapOvr>
  <p:transition spd="med">
    <p:fade/>
  </p:transition>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Recommending a method for a project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50 Project Management Methodologies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You’d build the most important features first, show them to the client every two weeks and adjust.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flexible. But isn’t agile messy?</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can be, if the team isn’t disciplined. You’d need regular reviews and clear priorities.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Hmm. What about the sign-off process?</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 a simple approval step at the end of each sprint.</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think I’ll give it a try. Can you help me set it up?</a:t>
            </a:r>
          </a:p>
        </p:txBody>
      </p:sp>
      <p:sp>
        <p:nvSpPr>
          <p:cNvPr id="26" name="Rounded Rectangle 25"/>
          <p:cNvSpPr/>
          <p:nvPr/>
        </p:nvSpPr>
        <p:spPr>
          <a:xfrm>
            <a:off x="548640" y="53980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8369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53980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Let’s start with a short workshop.</a:t>
            </a:r>
          </a:p>
        </p:txBody>
      </p:sp>
    </p:spTree>
  </p:cSld>
  <p:clrMapOvr>
    <a:masterClrMapping/>
  </p:clrMapOvr>
  <p:transition spd="med">
    <p:fade/>
  </p:transition>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Your Turn · Recommending a method for a project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50 Project Management Methodologies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recommend a project method.</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Coach. Project type: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Prefers a different method.</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works best when · more flexible · sprint · requirements · sign-off · fit for purpose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two methods, choose one and answer an objection.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Ian says: “Agile means no planning.” Correct this politely.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Describe how you track tasks (a tool or method).</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Gantt charts to a colleague who has never used them.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50 Project Management Methodologies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approach seems more practical to you: planned or agile?</a:t>
            </a:r>
          </a:p>
          <a:p>
            <a:pPr algn="l">
              <a:lnSpc>
                <a:spcPct val="115000"/>
              </a:lnSpc>
              <a:spcAft>
                <a:spcPts val="800"/>
              </a:spcAft>
            </a:pPr>
            <a:r>
              <a:rPr sz="1400" b="0">
                <a:solidFill>
                  <a:srgbClr val="5F677A"/>
                </a:solidFill>
                <a:latin typeface="Arial"/>
                <a:ea typeface="Microsoft YaHei"/>
              </a:rPr>
              <a:t>💬 “I think…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types of projects need strict control?</a:t>
            </a:r>
          </a:p>
          <a:p>
            <a:pPr algn="l">
              <a:lnSpc>
                <a:spcPct val="115000"/>
              </a:lnSpc>
              <a:spcAft>
                <a:spcPts val="800"/>
              </a:spcAft>
            </a:pPr>
            <a:r>
              <a:rPr sz="1400" b="0">
                <a:solidFill>
                  <a:srgbClr val="5F677A"/>
                </a:solidFill>
                <a:latin typeface="Arial"/>
                <a:ea typeface="Microsoft YaHei"/>
              </a:rPr>
              <a:t>💬 “Projects involving…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biggest benefit of short work cycles?</a:t>
            </a:r>
          </a:p>
          <a:p>
            <a:pPr algn="l">
              <a:lnSpc>
                <a:spcPct val="115000"/>
              </a:lnSpc>
              <a:spcAft>
                <a:spcPts val="800"/>
              </a:spcAft>
            </a:pPr>
            <a:r>
              <a:rPr sz="1400" b="0">
                <a:solidFill>
                  <a:srgbClr val="5F677A"/>
                </a:solidFill>
                <a:latin typeface="Arial"/>
                <a:ea typeface="Microsoft YaHei"/>
              </a:rPr>
              <a:t>💬 “The main advantage is…”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important are tools compared with communication?</a:t>
            </a:r>
          </a:p>
          <a:p>
            <a:pPr algn="l">
              <a:lnSpc>
                <a:spcPct val="115000"/>
              </a:lnSpc>
              <a:spcAft>
                <a:spcPts val="800"/>
              </a:spcAft>
            </a:pPr>
            <a:r>
              <a:rPr sz="1400" b="0">
                <a:solidFill>
                  <a:srgbClr val="5F677A"/>
                </a:solidFill>
                <a:latin typeface="Arial"/>
                <a:ea typeface="Microsoft YaHei"/>
              </a:rPr>
              <a:t>💬 “Tools help, but…”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50 Project Management Methodologies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Tools can be helpful for tracking tasks and deadlines, but they cannot replace good communication. I’ve seen teams with excellent software where nobody talked to each other, and the project still failed. On the other hand, a small team that communicates well can succeed with a simple spreadsheet. So I’d say tools support the work, but people make it happen.</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replace = 取代。”on the other hand” = 另一方面。spreadsheet = 电子表格。”make it happen” = 让事情发生/落实。</a:t>
            </a:r>
          </a:p>
        </p:txBody>
      </p:sp>
    </p:spTree>
  </p:cSld>
  <p:clrMapOvr>
    <a:masterClrMapping/>
  </p:clrMapOvr>
  <p:transition spd="med">
    <p:fade/>
  </p:transition>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50 Project Management Methodologies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45059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408432">
                <a:tc>
                  <a:txBody>
                    <a:bodyPr wrap="square"/>
                    <a:lstStyle/>
                    <a:p>
                      <a:r>
                        <a:rPr sz="1600" b="1">
                          <a:solidFill>
                            <a:srgbClr val="1F2A44"/>
                          </a:solidFill>
                          <a:latin typeface="Arial"/>
                          <a:ea typeface="Microsoft YaHei"/>
                        </a:rPr>
                        <a:t>We plan all first.</a:t>
                      </a:r>
                    </a:p>
                  </a:txBody>
                  <a:tcPr anchor="ctr">
                    <a:solidFill>
                      <a:srgbClr val="FFFFFF"/>
                    </a:solidFill>
                  </a:tcPr>
                </a:tc>
                <a:tc>
                  <a:txBody>
                    <a:bodyPr wrap="square"/>
                    <a:lstStyle/>
                    <a:p>
                      <a:r>
                        <a:rPr sz="1600" b="0">
                          <a:solidFill>
                            <a:srgbClr val="1F2A44"/>
                          </a:solidFill>
                          <a:latin typeface="Arial"/>
                          <a:ea typeface="Microsoft YaHei"/>
                        </a:rPr>
                        <a:t>We plan everything upfront.</a:t>
                      </a:r>
                    </a:p>
                  </a:txBody>
                  <a:tcPr anchor="ctr">
                    <a:solidFill>
                      <a:srgbClr val="FFFFFF"/>
                    </a:solidFill>
                  </a:tcPr>
                </a:tc>
                <a:tc>
                  <a:txBody>
                    <a:bodyPr wrap="square"/>
                    <a:lstStyle/>
                    <a:p>
                      <a:r>
                        <a:rPr sz="1600" b="0">
                          <a:solidFill>
                            <a:srgbClr val="FF6B5B"/>
                          </a:solidFill>
                          <a:latin typeface="Arial"/>
                          <a:ea typeface="Microsoft YaHei"/>
                        </a:rPr>
                        <a:t>地道</a:t>
                      </a:r>
                    </a:p>
                  </a:txBody>
                  <a:tcPr anchor="ctr">
                    <a:solidFill>
                      <a:srgbClr val="FFFFFF"/>
                    </a:solidFill>
                  </a:tcPr>
                </a:tc>
              </a:tr>
              <a:tr h="408432">
                <a:tc>
                  <a:txBody>
                    <a:bodyPr wrap="square"/>
                    <a:lstStyle/>
                    <a:p>
                      <a:r>
                        <a:rPr sz="1600" b="1">
                          <a:solidFill>
                            <a:srgbClr val="1F2A44"/>
                          </a:solidFill>
                          <a:latin typeface="Arial"/>
                          <a:ea typeface="Microsoft YaHei"/>
                        </a:rPr>
                        <a:t>We do it step by step.</a:t>
                      </a:r>
                    </a:p>
                  </a:txBody>
                  <a:tcPr anchor="ctr">
                    <a:solidFill>
                      <a:srgbClr val="FFEFD9"/>
                    </a:solidFill>
                  </a:tcPr>
                </a:tc>
                <a:tc>
                  <a:txBody>
                    <a:bodyPr wrap="square"/>
                    <a:lstStyle/>
                    <a:p>
                      <a:r>
                        <a:rPr sz="1600" b="0">
                          <a:solidFill>
                            <a:srgbClr val="1F2A44"/>
                          </a:solidFill>
                          <a:latin typeface="Arial"/>
                          <a:ea typeface="Microsoft YaHei"/>
                        </a:rPr>
                        <a:t>We work in short cycles.</a:t>
                      </a:r>
                    </a:p>
                  </a:txBody>
                  <a:tcPr anchor="ctr">
                    <a:solidFill>
                      <a:srgbClr val="FFEFD9"/>
                    </a:solidFill>
                  </a:tcPr>
                </a:tc>
                <a:tc>
                  <a:txBody>
                    <a:bodyPr wrap="square"/>
                    <a:lstStyle/>
                    <a:p>
                      <a:r>
                        <a:rPr sz="1600" b="0">
                          <a:solidFill>
                            <a:srgbClr val="FF6B5B"/>
                          </a:solidFill>
                          <a:latin typeface="Arial"/>
                          <a:ea typeface="Microsoft YaHei"/>
                        </a:rPr>
                        <a:t>术语</a:t>
                      </a:r>
                    </a:p>
                  </a:txBody>
                  <a:tcPr anchor="ctr">
                    <a:solidFill>
                      <a:srgbClr val="FFEFD9"/>
                    </a:solidFill>
                  </a:tcPr>
                </a:tc>
              </a:tr>
              <a:tr h="408432">
                <a:tc>
                  <a:txBody>
                    <a:bodyPr wrap="square"/>
                    <a:lstStyle/>
                    <a:p>
                      <a:r>
                        <a:rPr sz="1600" b="1">
                          <a:solidFill>
                            <a:srgbClr val="1F2A44"/>
                          </a:solidFill>
                          <a:latin typeface="Arial"/>
                          <a:ea typeface="Microsoft YaHei"/>
                        </a:rPr>
                        <a:t>The customer changes things.</a:t>
                      </a:r>
                    </a:p>
                  </a:txBody>
                  <a:tcPr anchor="ctr">
                    <a:solidFill>
                      <a:srgbClr val="FFFFFF"/>
                    </a:solidFill>
                  </a:tcPr>
                </a:tc>
                <a:tc>
                  <a:txBody>
                    <a:bodyPr wrap="square"/>
                    <a:lstStyle/>
                    <a:p>
                      <a:r>
                        <a:rPr sz="1600" b="0">
                          <a:solidFill>
                            <a:srgbClr val="1F2A44"/>
                          </a:solidFill>
                          <a:latin typeface="Arial"/>
                          <a:ea typeface="Microsoft YaHei"/>
                        </a:rPr>
                        <a:t>The requirements keep changing.</a:t>
                      </a:r>
                    </a:p>
                  </a:txBody>
                  <a:tcPr anchor="ctr">
                    <a:solidFill>
                      <a:srgbClr val="FFFFFF"/>
                    </a:solidFill>
                  </a:tcPr>
                </a:tc>
                <a:tc>
                  <a:txBody>
                    <a:bodyPr wrap="square"/>
                    <a:lstStyle/>
                    <a:p>
                      <a:r>
                        <a:rPr sz="1600" b="0">
                          <a:solidFill>
                            <a:srgbClr val="FF6B5B"/>
                          </a:solidFill>
                          <a:latin typeface="Arial"/>
                          <a:ea typeface="Microsoft YaHei"/>
                        </a:rPr>
                        <a:t>专业</a:t>
                      </a:r>
                    </a:p>
                  </a:txBody>
                  <a:tcPr anchor="ctr">
                    <a:solidFill>
                      <a:srgbClr val="FFFFFF"/>
                    </a:solidFill>
                  </a:tcPr>
                </a:tc>
              </a:tr>
              <a:tr h="408432">
                <a:tc>
                  <a:txBody>
                    <a:bodyPr wrap="square"/>
                    <a:lstStyle/>
                    <a:p>
                      <a:r>
                        <a:rPr sz="1600" b="1">
                          <a:solidFill>
                            <a:srgbClr val="1F2A44"/>
                          </a:solidFill>
                          <a:latin typeface="Arial"/>
                          <a:ea typeface="Microsoft YaHei"/>
                        </a:rPr>
                        <a:t>Let’s try.</a:t>
                      </a:r>
                    </a:p>
                  </a:txBody>
                  <a:tcPr anchor="ctr">
                    <a:solidFill>
                      <a:srgbClr val="FFEFD9"/>
                    </a:solidFill>
                  </a:tcPr>
                </a:tc>
                <a:tc>
                  <a:txBody>
                    <a:bodyPr wrap="square"/>
                    <a:lstStyle/>
                    <a:p>
                      <a:r>
                        <a:rPr sz="1600" b="0">
                          <a:solidFill>
                            <a:srgbClr val="1F2A44"/>
                          </a:solidFill>
                          <a:latin typeface="Arial"/>
                          <a:ea typeface="Microsoft YaHei"/>
                        </a:rPr>
                        <a:t>Let’s pilot it with one team.</a:t>
                      </a:r>
                    </a:p>
                  </a:txBody>
                  <a:tcPr anchor="ctr">
                    <a:solidFill>
                      <a:srgbClr val="FFEFD9"/>
                    </a:solidFill>
                  </a:tcPr>
                </a:tc>
                <a:tc>
                  <a:txBody>
                    <a:bodyPr wrap="square"/>
                    <a:lstStyle/>
                    <a:p>
                      <a:r>
                        <a:rPr sz="1600" b="0">
                          <a:solidFill>
                            <a:srgbClr val="FF6B5B"/>
                          </a:solidFill>
                          <a:latin typeface="Arial"/>
                          <a:ea typeface="Microsoft YaHei"/>
                        </a:rPr>
                        <a:t>专业</a:t>
                      </a:r>
                    </a:p>
                  </a:txBody>
                  <a:tcPr anchor="ctr">
                    <a:solidFill>
                      <a:srgbClr val="FFEFD9"/>
                    </a:solidFill>
                  </a:tcPr>
                </a:tc>
              </a:tr>
              <a:tr h="408432">
                <a:tc>
                  <a:txBody>
                    <a:bodyPr wrap="square"/>
                    <a:lstStyle/>
                    <a:p>
                      <a:r>
                        <a:rPr sz="1600" b="1">
                          <a:solidFill>
                            <a:srgbClr val="1F2A44"/>
                          </a:solidFill>
                          <a:latin typeface="Arial"/>
                          <a:ea typeface="Microsoft YaHei"/>
                        </a:rPr>
                        <a:t>It’s flexible.</a:t>
                      </a:r>
                    </a:p>
                  </a:txBody>
                  <a:tcPr anchor="ctr">
                    <a:solidFill>
                      <a:srgbClr val="FFFFFF"/>
                    </a:solidFill>
                  </a:tcPr>
                </a:tc>
                <a:tc>
                  <a:txBody>
                    <a:bodyPr wrap="square"/>
                    <a:lstStyle/>
                    <a:p>
                      <a:r>
                        <a:rPr sz="1600" b="0">
                          <a:solidFill>
                            <a:srgbClr val="1F2A44"/>
                          </a:solidFill>
                          <a:latin typeface="Arial"/>
                          <a:ea typeface="Microsoft YaHei"/>
                        </a:rPr>
                        <a:t>It’s easy to adapt as we go.</a:t>
                      </a:r>
                    </a:p>
                  </a:txBody>
                  <a:tcPr anchor="ctr">
                    <a:solidFill>
                      <a:srgbClr val="FFFFFF"/>
                    </a:solidFill>
                  </a:tcPr>
                </a:tc>
                <a:tc>
                  <a:txBody>
                    <a:bodyPr wrap="square"/>
                    <a:lstStyle/>
                    <a:p>
                      <a:r>
                        <a:rPr sz="1600" b="0">
                          <a:solidFill>
                            <a:srgbClr val="FF6B5B"/>
                          </a:solidFill>
                          <a:latin typeface="Arial"/>
                          <a:ea typeface="Microsoft YaHei"/>
                        </a:rPr>
                        <a:t>说明</a:t>
                      </a:r>
                    </a:p>
                  </a:txBody>
                  <a:tcPr anchor="ctr">
                    <a:solidFill>
                      <a:srgbClr val="FFFFFF"/>
                    </a:solidFill>
                  </a:tcPr>
                </a:tc>
              </a:tr>
            </a:tbl>
          </a:graphicData>
        </a:graphic>
      </p:graphicFrame>
    </p:spTree>
  </p:cSld>
  <p:clrMapOvr>
    <a:masterClrMapping/>
  </p:clrMapOvr>
  <p:transition spd="med">
    <p:fade/>
  </p:transition>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50 Project Management Methodologies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Present simple for general truths: </a:t>
            </a:r>
            <a:r>
              <a:rPr sz="1700" b="0">
                <a:solidFill>
                  <a:srgbClr val="1F2A44"/>
                </a:solidFill>
                <a:latin typeface="Arial"/>
                <a:ea typeface="Microsoft YaHei"/>
              </a:rPr>
              <a:t>“Agile works in short cycles.”</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Adjective order and compound adjectives: </a:t>
            </a:r>
            <a:r>
              <a:rPr sz="1700" b="0">
                <a:solidFill>
                  <a:srgbClr val="1F2A44"/>
                </a:solidFill>
                <a:latin typeface="Arial"/>
                <a:ea typeface="Microsoft YaHei"/>
              </a:rPr>
              <a:t>a two-week sprint, a step-by-step plan.</a:t>
            </a:r>
          </a:p>
        </p:txBody>
      </p:sp>
      <p:sp>
        <p:nvSpPr>
          <p:cNvPr id="14" name="Rounded Rectangle 13"/>
          <p:cNvSpPr/>
          <p:nvPr/>
        </p:nvSpPr>
        <p:spPr>
          <a:xfrm>
            <a:off x="548640" y="248411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701039"/>
          </a:xfrm>
          <a:prstGeom prst="rect">
            <a:avLst/>
          </a:prstGeom>
          <a:noFill/>
        </p:spPr>
        <p:txBody>
          <a:bodyPr wrap="square" anchor="ctr">
            <a:spAutoFit/>
          </a:bodyPr>
          <a:lstStyle/>
          <a:p>
            <a:r>
              <a:rPr sz="1700" b="1">
                <a:solidFill>
                  <a:srgbClr val="3CC49A"/>
                </a:solidFill>
                <a:latin typeface="Arial"/>
                <a:ea typeface="Microsoft YaHei"/>
              </a:rPr>
              <a:t>Zero/first conditionals: </a:t>
            </a:r>
            <a:r>
              <a:rPr sz="1700" b="0">
                <a:solidFill>
                  <a:srgbClr val="1F2A44"/>
                </a:solidFill>
                <a:latin typeface="Arial"/>
                <a:ea typeface="Microsoft YaHei"/>
              </a:rPr>
              <a:t>If requirements change, the plan changes. / If you start with a sprint, you will get feedback early.</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Advice: </a:t>
            </a:r>
            <a:r>
              <a:rPr sz="1700" b="0">
                <a:solidFill>
                  <a:srgbClr val="1F2A44"/>
                </a:solidFill>
                <a:latin typeface="Arial"/>
                <a:ea typeface="Microsoft YaHei"/>
              </a:rPr>
              <a:t>I’d think twice about… / I wouldn’t… if I were you.</a:t>
            </a:r>
          </a:p>
        </p:txBody>
      </p:sp>
    </p:spTree>
  </p:cSld>
  <p:clrMapOvr>
    <a:masterClrMapping/>
  </p:clrMapOvr>
  <p:transition spd="med">
    <p:fade/>
  </p:transition>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50 Project Management Methodologies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requirement are changing.</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requirements are changing.</a:t>
            </a:r>
          </a:p>
          <a:p>
            <a:pPr algn="l">
              <a:spcAft>
                <a:spcPts val="200"/>
              </a:spcAft>
            </a:pPr>
            <a:r>
              <a:rPr sz="1200" b="0">
                <a:solidFill>
                  <a:srgbClr val="FFFFFF"/>
                </a:solidFill>
                <a:latin typeface="Arial"/>
                <a:ea typeface="Microsoft YaHei"/>
              </a:rPr>
              <a:t>复数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Agile is an methodology.</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Agile is a methodology.</a:t>
            </a:r>
          </a:p>
          <a:p>
            <a:pPr algn="l">
              <a:spcAft>
                <a:spcPts val="200"/>
              </a:spcAft>
            </a:pPr>
            <a:r>
              <a:rPr sz="1200" b="0">
                <a:solidFill>
                  <a:srgbClr val="FFFFFF"/>
                </a:solidFill>
                <a:latin typeface="Arial"/>
                <a:ea typeface="Microsoft YaHei"/>
              </a:rPr>
              <a:t>a before consonant sound</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use the waterfall way.</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use the waterfall approach.</a:t>
            </a:r>
          </a:p>
          <a:p>
            <a:pPr algn="l">
              <a:spcAft>
                <a:spcPts val="200"/>
              </a:spcAft>
            </a:pPr>
            <a:r>
              <a:rPr sz="1200" b="0">
                <a:solidFill>
                  <a:srgbClr val="FFFFFF"/>
                </a:solidFill>
                <a:latin typeface="Arial"/>
                <a:ea typeface="Microsoft YaHei"/>
              </a:rPr>
              <a:t>approach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50 Project Management Methodologies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Software are expensive.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Software is expensive.</a:t>
            </a:r>
          </a:p>
          <a:p>
            <a:pPr algn="l">
              <a:spcAft>
                <a:spcPts val="200"/>
              </a:spcAft>
            </a:pPr>
            <a:r>
              <a:rPr sz="1200" b="0">
                <a:solidFill>
                  <a:srgbClr val="FFFFFF"/>
                </a:solidFill>
                <a:latin typeface="Arial"/>
                <a:ea typeface="Microsoft YaHei"/>
              </a:rPr>
              <a:t>不可数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 two-weeks sprint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 two-week sprint</a:t>
            </a:r>
          </a:p>
          <a:p>
            <a:pPr algn="l">
              <a:spcAft>
                <a:spcPts val="200"/>
              </a:spcAft>
            </a:pPr>
            <a:r>
              <a:rPr sz="1200" b="0">
                <a:solidFill>
                  <a:srgbClr val="FFFFFF"/>
                </a:solidFill>
                <a:latin typeface="Arial"/>
                <a:ea typeface="Microsoft YaHei"/>
              </a:rPr>
              <a:t>复合形容词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agree with this method.</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agree with this method.</a:t>
            </a:r>
          </a:p>
          <a:p>
            <a:pPr algn="l">
              <a:spcAft>
                <a:spcPts val="200"/>
              </a:spcAft>
            </a:pPr>
            <a:r>
              <a:rPr sz="1200" b="0">
                <a:solidFill>
                  <a:srgbClr val="FFFFFF"/>
                </a:solidFill>
                <a:latin typeface="Arial"/>
                <a:ea typeface="Microsoft YaHei"/>
              </a:rPr>
              <a:t>agree 动词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uncountable software, hyphenated compounds (two-week sprint), and articles a / 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50 Project Management Methodologies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Jargon: </a:t>
            </a:r>
            <a:r>
              <a:rPr sz="1700" b="0">
                <a:solidFill>
                  <a:srgbClr val="1F2A44"/>
                </a:solidFill>
                <a:latin typeface="Arial"/>
                <a:ea typeface="Microsoft YaHei"/>
              </a:rPr>
              <a:t>Agile terms (sprint, stand-up, backlog) spread outside tech. Explain terms to non-specialists.</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Methods are tools: </a:t>
            </a:r>
            <a:r>
              <a:rPr sz="1700" b="0">
                <a:solidFill>
                  <a:srgbClr val="1F2A44"/>
                </a:solidFill>
                <a:latin typeface="Arial"/>
                <a:ea typeface="Microsoft YaHei"/>
              </a:rPr>
              <a:t>“Pure” agile or waterfall is rare; hybrid approaches are common.</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Stand-up meetings: </a:t>
            </a:r>
            <a:r>
              <a:rPr sz="1700" b="0">
                <a:solidFill>
                  <a:srgbClr val="1F2A44"/>
                </a:solidFill>
                <a:latin typeface="Arial"/>
                <a:ea typeface="Microsoft YaHei"/>
              </a:rPr>
              <a:t>Short daily meetings (often standing) are a popular habit in agile teams.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software 不可数;two-week sprint 单数;an / a 看发音。Agile 与 waterfall 是方法,不必全盘照搬,要因项目制宜。</a:t>
            </a:r>
          </a:p>
        </p:txBody>
      </p:sp>
    </p:spTree>
  </p:cSld>
  <p:clrMapOvr>
    <a:masterClrMapping/>
  </p:clrMapOvr>
  <p:transition spd="med">
    <p:fade/>
  </p:transition>
</p:sld>
</file>

<file path=ppt/slides/slide3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50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50 Project Management Methodologies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compare waterfall and agile approaches.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recommend a method with reasons.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conditional sentences for general truths and advice.</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uncountable software and compound adjectives.</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3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50 Project Management Methodologies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uncountable software, compound adjectives (two-week sprint), and conditionals.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31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5 · Lesson 51 Where Projects Go Wrong</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315</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51</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Where Projects Go Wrong</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项目出错的地方</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analyse why projects fail: unclear goals, poor planning, weak communication, scope creep and unrealistic deadlines; learn to talk about causes and prevention.</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51 Where Projects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8307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been involved in a project that failed or went badly? What happened?</a:t>
            </a:r>
          </a:p>
        </p:txBody>
      </p:sp>
      <p:sp>
        <p:nvSpPr>
          <p:cNvPr id="12" name="Oval 11"/>
          <p:cNvSpPr/>
          <p:nvPr/>
        </p:nvSpPr>
        <p:spPr>
          <a:xfrm>
            <a:off x="548640" y="267004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62432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432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most common reasons projects fail?</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a team spot problems early?</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Who is responsible when a project fails?</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lessons can be learned from failed projects?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 题用过去时讲故事。go wrong = 出错。post-mortem = 项目复盘。blame = 责怪。</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51 Where Projects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what went wrong in a project and how to prevent it next time.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happened</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why</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impact</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how to prevent</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main problem was…   💬 This led to…   💬 Next time, we should…</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lead to = 导致。过去的问题用 should have + 过去分词,建议用 next time we should…。</a:t>
            </a:r>
          </a:p>
        </p:txBody>
      </p:sp>
    </p:spTree>
  </p:cSld>
  <p:clrMapOvr>
    <a:masterClrMapping/>
  </p:clrMapOvr>
  <p:transition spd="med">
    <p:fade/>
  </p:transition>
</p:sld>
</file>

<file path=ppt/slides/slide3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Why Projects Fail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132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51 Where Projects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Studies of failed projects often point to the same causes. First, the goals were never clear, so people worked on different assumptions. Second, the plan was too optimistic: deadlines ignored holidays, illness and the time needed for approval. Third, communication broke down, and bad news travelled slowly, if at all. Scope creep, where small extra requests accumulate, quietly consumed the budget. Finally, nobody had the courage to say that the project was in trouble. Good teams avoid these traps by writing down goals and success criteria at the start, adding a buffer to estimates, holding regular check-ins and rewarding people who raise problems early. After the project, whether it succeeded or not, they hold a review to capture lessons for the next one. Failure is only wasted when nobody learns from it.</a:t>
            </a:r>
          </a:p>
        </p:txBody>
      </p:sp>
    </p:spTree>
  </p:cSld>
  <p:clrMapOvr>
    <a:masterClrMapping/>
  </p:clrMapOvr>
  <p:transition spd="med">
    <p:fade/>
  </p:transition>
</p:sld>
</file>

<file path=ppt/slides/slide3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51 Where Projects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Name three causes of project failure.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Unclear goals, over-optimistic plans, poor communication, scope creep or nobody admitting trouble.</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How can teams avoid these traps?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Write down goals and success criteria, add buffers, hold check-ins and reward early warnings.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When is failure wasted?</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When nobody learns from it.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Causes of failure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51 Where Projects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失败原因</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unrealistic</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不切实际的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deadline was unrealistic.”</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miscommunication</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沟通不畅</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“Miscommunication caused delays.”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overrun</a:t>
            </a:r>
          </a:p>
          <a:p>
            <a:pPr algn="l">
              <a:lnSpc>
                <a:spcPct val="115000"/>
              </a:lnSpc>
              <a:spcAft>
                <a:spcPts val="800"/>
              </a:spcAft>
            </a:pPr>
            <a:r>
              <a:rPr sz="1300" b="0">
                <a:solidFill>
                  <a:srgbClr val="5F677A"/>
                </a:solidFill>
                <a:latin typeface="Arial"/>
                <a:ea typeface="Microsoft YaHei"/>
              </a:rPr>
              <a:t>verb / 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超支/超时</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project overran by three months.”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bottleneck</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瓶颈</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approval was a bottleneck.”</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dependency</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依赖关系</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 are dependencies between tasks.”</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contingency plan</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应急计划</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contingency plan.”</a:t>
            </a:r>
          </a:p>
        </p:txBody>
      </p:sp>
    </p:spTree>
  </p:cSld>
  <p:clrMapOvr>
    <a:masterClrMapping/>
  </p:clrMapOvr>
  <p:transition spd="med">
    <p:fade/>
  </p:transition>
</p:sld>
</file>

<file path=ppt/slides/slide3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Talking about problems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51 Where Projects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谈论问题</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go off the rails</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偏离正轨</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project went off the rails.”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fall behind schedule</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落后于进度</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fell behind schedule.”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cut corners</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偷工减料</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cut corners to save time.”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red flag</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危险信号</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“Missed milestones are a red flag.”</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underestimate</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低估</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underestimated the complexity.”</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hard lesson</a:t>
            </a:r>
          </a:p>
          <a:p>
            <a:pPr algn="l">
              <a:lnSpc>
                <a:spcPct val="115000"/>
              </a:lnSpc>
              <a:spcAft>
                <a:spcPts val="800"/>
              </a:spcAft>
            </a:pPr>
            <a:r>
              <a:rPr sz="1300" b="0">
                <a:solidFill>
                  <a:srgbClr val="5F677A"/>
                </a:solidFill>
                <a:latin typeface="Arial"/>
                <a:ea typeface="Microsoft YaHei"/>
              </a:rPr>
              <a:t>collocation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惨痛教训</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was a hard lesson to learn.”</a:t>
            </a:r>
          </a:p>
        </p:txBody>
      </p:sp>
    </p:spTree>
  </p:cSld>
  <p:clrMapOvr>
    <a:masterClrMapping/>
  </p:clrMapOvr>
  <p:transition spd="med">
    <p:fade/>
  </p:transition>
</p:sld>
</file>

<file path=ppt/slides/slide3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51 Where Projects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不切实际的</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unrealistic</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偏离正轨</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go off the rails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依赖关系</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dependency</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惨痛教训</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hard lesson</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落后于进度</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fall behind schedule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应急计划</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contingency plan</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超支/超时</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overrun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沟通不畅</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miscommunication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51 Where Projects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unrealistic</a:t>
            </a:r>
          </a:p>
        </p:txBody>
      </p:sp>
      <p:sp>
        <p:nvSpPr>
          <p:cNvPr id="10" name="Rounded Rectangle 9"/>
          <p:cNvSpPr/>
          <p:nvPr/>
        </p:nvSpPr>
        <p:spPr>
          <a:xfrm>
            <a:off x="3675887" y="987552"/>
            <a:ext cx="212140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Miscommunication</a:t>
            </a:r>
          </a:p>
        </p:txBody>
      </p:sp>
      <p:sp>
        <p:nvSpPr>
          <p:cNvPr id="11" name="Rounded Rectangle 10"/>
          <p:cNvSpPr/>
          <p:nvPr/>
        </p:nvSpPr>
        <p:spPr>
          <a:xfrm>
            <a:off x="5888735"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overran</a:t>
            </a:r>
          </a:p>
        </p:txBody>
      </p:sp>
      <p:sp>
        <p:nvSpPr>
          <p:cNvPr id="12" name="Rounded Rectangle 11"/>
          <p:cNvSpPr/>
          <p:nvPr/>
        </p:nvSpPr>
        <p:spPr>
          <a:xfrm>
            <a:off x="7114031" y="987552"/>
            <a:ext cx="1682495"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dependencies</a:t>
            </a:r>
          </a:p>
        </p:txBody>
      </p:sp>
      <p:sp>
        <p:nvSpPr>
          <p:cNvPr id="13" name="Rounded Rectangle 12"/>
          <p:cNvSpPr/>
          <p:nvPr/>
        </p:nvSpPr>
        <p:spPr>
          <a:xfrm>
            <a:off x="8887966" y="987552"/>
            <a:ext cx="2121408"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contingency plan</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The deadline was _______ given the small team.</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unrealistic</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_______ between departments caused serious delays.</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Miscommunication</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 project _______ its budget by 30%.</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overran</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There are several _______ between tasks that we must track.</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dependencies</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A _______ would have saved us when the supplier failed.</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contingency plan</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We _______ how complex the integration would be.</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underestimated</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failure (not “failture”), unrealistic (not “unrealistical”), overrun (two r). Miscommunication (uncountable), delay (noun: “a delay”; verb: “to delay”). Go over budget / run over budget (not “over the budget”).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Role Play · Holding a post-project review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51 Where Projects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项目复盘会</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Your project finished three months late. You lead a review meeting and ask colleagues what went wrong.</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Pam Wu, project lead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Dan Cole, project member</a:t>
            </a:r>
          </a:p>
        </p:txBody>
      </p:sp>
    </p:spTree>
  </p:cSld>
  <p:clrMapOvr>
    <a:masterClrMapping/>
  </p:clrMapOvr>
  <p:transition spd="med">
    <p:fade/>
  </p:transition>
</p:sld>
</file>

<file path=ppt/slides/slide3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Holding a post-project review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51 Where Projects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Pam</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for coming, Dan. The aim of today is learning, not blaming. What do you think went wrong?</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Honestly, the deadline was unrealistic from the start. We never added any buffer.</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 What else?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scope kept growing. The client added new features every month, and we never pushed back.</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fair. Should we have raised it earlier?</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Definitely. And there was miscommunication between design and development. Each thought the other had approved the changes.</a:t>
            </a:r>
          </a:p>
        </p:txBody>
      </p:sp>
    </p:spTree>
  </p:cSld>
  <p:clrMapOvr>
    <a:masterClrMapping/>
  </p:clrMapOvr>
  <p:transition spd="med">
    <p:fade/>
  </p:transition>
</p:sld>
</file>

<file path=ppt/slides/slide3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Holding a post-project review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51 Where Projects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the root causes were the unrealistic schedule, scope creep and unclear approvals.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Right. And no one wanted to give bad news.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partly my fault. I should have asked more directly about risks.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for saying that. It helps people speak up.</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For next time, what should we change?</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Add buffers, agree a change process and hold weekly risk check-ins.</a:t>
            </a:r>
          </a:p>
        </p:txBody>
      </p:sp>
      <p:sp>
        <p:nvSpPr>
          <p:cNvPr id="26" name="Rounded Rectangle 25"/>
          <p:cNvSpPr/>
          <p:nvPr/>
        </p:nvSpPr>
        <p:spPr>
          <a:xfrm>
            <a:off x="548640" y="53980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8369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53980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I’ll write that up as lessons learned.</a:t>
            </a:r>
          </a:p>
        </p:txBody>
      </p:sp>
    </p:spTree>
  </p:cSld>
  <p:clrMapOvr>
    <a:masterClrMapping/>
  </p:clrMapOvr>
  <p:transition spd="med">
    <p:fade/>
  </p:transition>
</p:sld>
</file>

<file path=ppt/slides/slide3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Your Turn · Holding a post-project review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51 Where Projects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lead a project review.</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Project lead. Project that went wrong: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 Honest about causes.</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went wrong · should have · root cause · lessons learned · buffer · next time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Ask for causes, accept some responsibility and agree improvements.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 team member blames another colleague. Redirect to the process.</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Describe a past failure and what you learned in 45 seconds.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three “lessons learned” bullet points.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51 Where Projects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main reason projects fail?</a:t>
            </a:r>
          </a:p>
          <a:p>
            <a:pPr algn="l">
              <a:lnSpc>
                <a:spcPct val="115000"/>
              </a:lnSpc>
              <a:spcAft>
                <a:spcPts val="800"/>
              </a:spcAft>
            </a:pPr>
            <a:r>
              <a:rPr sz="1400" b="0">
                <a:solidFill>
                  <a:srgbClr val="5F677A"/>
                </a:solidFill>
                <a:latin typeface="Arial"/>
                <a:ea typeface="Microsoft YaHei"/>
              </a:rPr>
              <a:t>💬 “In my view, the main reason is…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better to stop a failing project or continue?</a:t>
            </a:r>
          </a:p>
          <a:p>
            <a:pPr algn="l">
              <a:lnSpc>
                <a:spcPct val="115000"/>
              </a:lnSpc>
              <a:spcAft>
                <a:spcPts val="800"/>
              </a:spcAft>
            </a:pPr>
            <a:r>
              <a:rPr sz="1400" b="0">
                <a:solidFill>
                  <a:srgbClr val="5F677A"/>
                </a:solidFill>
                <a:latin typeface="Arial"/>
                <a:ea typeface="Microsoft YaHei"/>
              </a:rPr>
              <a:t>💬 “It depends on… / The sunk cost shouldn’t…”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a team talk about failure without blame?</a:t>
            </a:r>
          </a:p>
          <a:p>
            <a:pPr algn="l">
              <a:lnSpc>
                <a:spcPct val="115000"/>
              </a:lnSpc>
              <a:spcAft>
                <a:spcPts val="800"/>
              </a:spcAft>
            </a:pPr>
            <a:r>
              <a:rPr sz="1400" b="0">
                <a:solidFill>
                  <a:srgbClr val="5F677A"/>
                </a:solidFill>
                <a:latin typeface="Arial"/>
                <a:ea typeface="Microsoft YaHei"/>
              </a:rPr>
              <a:t>💬 “By focusing on… / Using a blame-free review…”</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was the biggest lesson from a mistake you made?</a:t>
            </a:r>
          </a:p>
          <a:p>
            <a:pPr algn="l">
              <a:lnSpc>
                <a:spcPct val="115000"/>
              </a:lnSpc>
              <a:spcAft>
                <a:spcPts val="800"/>
              </a:spcAft>
            </a:pPr>
            <a:r>
              <a:rPr sz="1400" b="0">
                <a:solidFill>
                  <a:srgbClr val="5F677A"/>
                </a:solidFill>
                <a:latin typeface="Arial"/>
                <a:ea typeface="Microsoft YaHei"/>
              </a:rPr>
              <a:t>💬 “One lesson I learned was… / Looking back, I should have…”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51 Where Projects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One lesson I learned came from a campaign that I launched without testing the landing page. It crashed on the first day, and we lost sales. Looking back, I should have done a small trial first. Since then I always test, even when I’m under time pressure. It was embarrassing at the time, but it made me more careful, and I now see mistakes as information.</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landing page = 落地页。”under time pressure” = 时间压力下。embarrassing = 尴尬的。”as information” 把错误视为信息。</a:t>
            </a:r>
          </a:p>
        </p:txBody>
      </p:sp>
    </p:spTree>
  </p:cSld>
  <p:clrMapOvr>
    <a:masterClrMapping/>
  </p:clrMapOvr>
  <p:transition spd="med">
    <p:fade/>
  </p:transition>
</p:sld>
</file>

<file path=ppt/slides/slide3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51 Where Projects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408432">
                <a:tc>
                  <a:txBody>
                    <a:bodyPr wrap="square"/>
                    <a:lstStyle/>
                    <a:p>
                      <a:r>
                        <a:rPr sz="1600" b="1">
                          <a:solidFill>
                            <a:srgbClr val="1F2A44"/>
                          </a:solidFill>
                          <a:latin typeface="Arial"/>
                          <a:ea typeface="Microsoft YaHei"/>
                        </a:rPr>
                        <a:t>The plan failed.</a:t>
                      </a:r>
                    </a:p>
                  </a:txBody>
                  <a:tcPr anchor="ctr">
                    <a:solidFill>
                      <a:srgbClr val="FFFFFF"/>
                    </a:solidFill>
                  </a:tcPr>
                </a:tc>
                <a:tc>
                  <a:txBody>
                    <a:bodyPr wrap="square"/>
                    <a:lstStyle/>
                    <a:p>
                      <a:r>
                        <a:rPr sz="1600" b="0">
                          <a:solidFill>
                            <a:srgbClr val="1F2A44"/>
                          </a:solidFill>
                          <a:latin typeface="Arial"/>
                          <a:ea typeface="Microsoft YaHei"/>
                        </a:rPr>
                        <a:t>The plan didn’t work out.</a:t>
                      </a:r>
                    </a:p>
                  </a:txBody>
                  <a:tcPr anchor="ctr">
                    <a:solidFill>
                      <a:srgbClr val="FFFFFF"/>
                    </a:solidFill>
                  </a:tcPr>
                </a:tc>
                <a:tc>
                  <a:txBody>
                    <a:bodyPr wrap="square"/>
                    <a:lstStyle/>
                    <a:p>
                      <a:r>
                        <a:rPr sz="1600" b="0">
                          <a:solidFill>
                            <a:srgbClr val="FF6B5B"/>
                          </a:solidFill>
                          <a:latin typeface="Arial"/>
                          <a:ea typeface="Microsoft YaHei"/>
                        </a:rPr>
                        <a:t>口语</a:t>
                      </a:r>
                    </a:p>
                  </a:txBody>
                  <a:tcPr anchor="ctr">
                    <a:solidFill>
                      <a:srgbClr val="FFFFFF"/>
                    </a:solidFill>
                  </a:tcPr>
                </a:tc>
              </a:tr>
              <a:tr h="652272">
                <a:tc>
                  <a:txBody>
                    <a:bodyPr wrap="square"/>
                    <a:lstStyle/>
                    <a:p>
                      <a:r>
                        <a:rPr sz="1600" b="1">
                          <a:solidFill>
                            <a:srgbClr val="1F2A44"/>
                          </a:solidFill>
                          <a:latin typeface="Arial"/>
                          <a:ea typeface="Microsoft YaHei"/>
                        </a:rPr>
                        <a:t>It’s your fault.</a:t>
                      </a:r>
                    </a:p>
                  </a:txBody>
                  <a:tcPr anchor="ctr">
                    <a:solidFill>
                      <a:srgbClr val="FFEFD9"/>
                    </a:solidFill>
                  </a:tcPr>
                </a:tc>
                <a:tc>
                  <a:txBody>
                    <a:bodyPr wrap="square"/>
                    <a:lstStyle/>
                    <a:p>
                      <a:r>
                        <a:rPr sz="1600" b="0">
                          <a:solidFill>
                            <a:srgbClr val="1F2A44"/>
                          </a:solidFill>
                          <a:latin typeface="Arial"/>
                          <a:ea typeface="Microsoft YaHei"/>
                        </a:rPr>
                        <a:t>Where did the process break down?</a:t>
                      </a:r>
                    </a:p>
                  </a:txBody>
                  <a:tcPr anchor="ctr">
                    <a:solidFill>
                      <a:srgbClr val="FFEFD9"/>
                    </a:solidFill>
                  </a:tcPr>
                </a:tc>
                <a:tc>
                  <a:txBody>
                    <a:bodyPr wrap="square"/>
                    <a:lstStyle/>
                    <a:p>
                      <a:r>
                        <a:rPr sz="1600" b="0">
                          <a:solidFill>
                            <a:srgbClr val="FF6B5B"/>
                          </a:solidFill>
                          <a:latin typeface="Arial"/>
                          <a:ea typeface="Microsoft YaHei"/>
                        </a:rPr>
                        <a:t>对事不对人</a:t>
                      </a:r>
                    </a:p>
                  </a:txBody>
                  <a:tcPr anchor="ctr">
                    <a:solidFill>
                      <a:srgbClr val="FFEFD9"/>
                    </a:solidFill>
                  </a:tcPr>
                </a:tc>
              </a:tr>
              <a:tr h="652272">
                <a:tc>
                  <a:txBody>
                    <a:bodyPr wrap="square"/>
                    <a:lstStyle/>
                    <a:p>
                      <a:r>
                        <a:rPr sz="1600" b="1">
                          <a:solidFill>
                            <a:srgbClr val="1F2A44"/>
                          </a:solidFill>
                          <a:latin typeface="Arial"/>
                          <a:ea typeface="Microsoft YaHei"/>
                        </a:rPr>
                        <a:t>We needed more time.</a:t>
                      </a:r>
                    </a:p>
                  </a:txBody>
                  <a:tcPr anchor="ctr">
                    <a:solidFill>
                      <a:srgbClr val="FFFFFF"/>
                    </a:solidFill>
                  </a:tcPr>
                </a:tc>
                <a:tc>
                  <a:txBody>
                    <a:bodyPr wrap="square"/>
                    <a:lstStyle/>
                    <a:p>
                      <a:r>
                        <a:rPr sz="1600" b="0">
                          <a:solidFill>
                            <a:srgbClr val="1F2A44"/>
                          </a:solidFill>
                          <a:latin typeface="Arial"/>
                          <a:ea typeface="Microsoft YaHei"/>
                        </a:rPr>
                        <a:t>We underestimated how long it would take.</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r h="408432">
                <a:tc>
                  <a:txBody>
                    <a:bodyPr wrap="square"/>
                    <a:lstStyle/>
                    <a:p>
                      <a:r>
                        <a:rPr sz="1600" b="1">
                          <a:solidFill>
                            <a:srgbClr val="1F2A44"/>
                          </a:solidFill>
                          <a:latin typeface="Arial"/>
                          <a:ea typeface="Microsoft YaHei"/>
                        </a:rPr>
                        <a:t>We were late.</a:t>
                      </a:r>
                    </a:p>
                  </a:txBody>
                  <a:tcPr anchor="ctr">
                    <a:solidFill>
                      <a:srgbClr val="FFEFD9"/>
                    </a:solidFill>
                  </a:tcPr>
                </a:tc>
                <a:tc>
                  <a:txBody>
                    <a:bodyPr wrap="square"/>
                    <a:lstStyle/>
                    <a:p>
                      <a:r>
                        <a:rPr sz="1600" b="0">
                          <a:solidFill>
                            <a:srgbClr val="1F2A44"/>
                          </a:solidFill>
                          <a:latin typeface="Arial"/>
                          <a:ea typeface="Microsoft YaHei"/>
                        </a:rPr>
                        <a:t>We fell behind schedule.</a:t>
                      </a:r>
                    </a:p>
                  </a:txBody>
                  <a:tcPr anchor="ctr">
                    <a:solidFill>
                      <a:srgbClr val="FFEFD9"/>
                    </a:solidFill>
                  </a:tcPr>
                </a:tc>
                <a:tc>
                  <a:txBody>
                    <a:bodyPr wrap="square"/>
                    <a:lstStyle/>
                    <a:p>
                      <a:r>
                        <a:rPr sz="1600" b="0">
                          <a:solidFill>
                            <a:srgbClr val="FF6B5B"/>
                          </a:solidFill>
                          <a:latin typeface="Arial"/>
                          <a:ea typeface="Microsoft YaHei"/>
                        </a:rPr>
                        <a:t>搭配</a:t>
                      </a:r>
                    </a:p>
                  </a:txBody>
                  <a:tcPr anchor="ctr">
                    <a:solidFill>
                      <a:srgbClr val="FFEFD9"/>
                    </a:solidFill>
                  </a:tcPr>
                </a:tc>
              </a:tr>
              <a:tr h="652272">
                <a:tc>
                  <a:txBody>
                    <a:bodyPr wrap="square"/>
                    <a:lstStyle/>
                    <a:p>
                      <a:r>
                        <a:rPr sz="1600" b="1">
                          <a:solidFill>
                            <a:srgbClr val="1F2A44"/>
                          </a:solidFill>
                          <a:latin typeface="Arial"/>
                          <a:ea typeface="Microsoft YaHei"/>
                        </a:rPr>
                        <a:t>We did not think about it.</a:t>
                      </a:r>
                    </a:p>
                  </a:txBody>
                  <a:tcPr anchor="ctr">
                    <a:solidFill>
                      <a:srgbClr val="FFFFFF"/>
                    </a:solidFill>
                  </a:tcPr>
                </a:tc>
                <a:tc>
                  <a:txBody>
                    <a:bodyPr wrap="square"/>
                    <a:lstStyle/>
                    <a:p>
                      <a:r>
                        <a:rPr sz="1600" b="0">
                          <a:solidFill>
                            <a:srgbClr val="1F2A44"/>
                          </a:solidFill>
                          <a:latin typeface="Arial"/>
                          <a:ea typeface="Microsoft YaHei"/>
                        </a:rPr>
                        <a:t>We didn’t anticipate that problem.</a:t>
                      </a:r>
                    </a:p>
                  </a:txBody>
                  <a:tcPr anchor="ctr">
                    <a:solidFill>
                      <a:srgbClr val="FFFFFF"/>
                    </a:solidFill>
                  </a:tcPr>
                </a:tc>
                <a:tc>
                  <a:txBody>
                    <a:bodyPr wrap="square"/>
                    <a:lstStyle/>
                    <a:p>
                      <a:r>
                        <a:rPr sz="1600" b="0">
                          <a:solidFill>
                            <a:srgbClr val="FF6B5B"/>
                          </a:solidFill>
                          <a:latin typeface="Arial"/>
                          <a:ea typeface="Microsoft YaHei"/>
                        </a:rPr>
                        <a:t>搭配</a:t>
                      </a:r>
                    </a:p>
                  </a:txBody>
                  <a:tcPr anchor="ctr">
                    <a:solidFill>
                      <a:srgbClr val="FFFFFF"/>
                    </a:solidFill>
                  </a:tcPr>
                </a:tc>
              </a:tr>
            </a:tbl>
          </a:graphicData>
        </a:graphic>
      </p:graphicFrame>
    </p:spTree>
  </p:cSld>
  <p:clrMapOvr>
    <a:masterClrMapping/>
  </p:clrMapOvr>
  <p:transition spd="med">
    <p:fade/>
  </p:transition>
</p:sld>
</file>

<file path=ppt/slides/slide3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51 Where Projects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Past modals for regret and criticism: </a:t>
            </a:r>
            <a:r>
              <a:rPr sz="1700" b="0">
                <a:solidFill>
                  <a:srgbClr val="1F2A44"/>
                </a:solidFill>
                <a:latin typeface="Arial"/>
                <a:ea typeface="Microsoft YaHei"/>
              </a:rPr>
              <a:t>should have + past participle: “We should have asked earlier.” / shouldn’t have: “We shouldn’t have promised that date.”</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Third conditional: </a:t>
            </a:r>
            <a:r>
              <a:rPr sz="1700" b="0">
                <a:solidFill>
                  <a:srgbClr val="1F2A44"/>
                </a:solidFill>
                <a:latin typeface="Arial"/>
                <a:ea typeface="Microsoft YaHei"/>
              </a:rPr>
              <a:t>“If we had added a buffer, we wouldn’t have missed the deadline.”</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Linking cause and effect: </a:t>
            </a:r>
            <a:r>
              <a:rPr sz="1700" b="0">
                <a:solidFill>
                  <a:srgbClr val="1F2A44"/>
                </a:solidFill>
                <a:latin typeface="Arial"/>
                <a:ea typeface="Microsoft YaHei"/>
              </a:rPr>
              <a:t>as a result, consequently, this led to, due to.</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Softening blame: </a:t>
            </a:r>
            <a:r>
              <a:rPr sz="1700" b="0">
                <a:solidFill>
                  <a:srgbClr val="1F2A44"/>
                </a:solidFill>
                <a:latin typeface="Arial"/>
                <a:ea typeface="Microsoft YaHei"/>
              </a:rPr>
              <a:t>We could have…, it might have been better to…</a:t>
            </a:r>
          </a:p>
        </p:txBody>
      </p:sp>
    </p:spTree>
  </p:cSld>
  <p:clrMapOvr>
    <a:masterClrMapping/>
  </p:clrMapOvr>
  <p:transition spd="med">
    <p:fade/>
  </p:transition>
</p:sld>
</file>

<file path=ppt/slides/slide3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51 Where Projects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should have discuss it earlier.</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should have discussed it earlier.</a:t>
            </a:r>
          </a:p>
          <a:p>
            <a:pPr algn="l">
              <a:spcAft>
                <a:spcPts val="200"/>
              </a:spcAft>
            </a:pPr>
            <a:r>
              <a:rPr sz="1200" b="0">
                <a:solidFill>
                  <a:srgbClr val="FFFFFF"/>
                </a:solidFill>
                <a:latin typeface="Arial"/>
                <a:ea typeface="Microsoft YaHei"/>
              </a:rPr>
              <a:t>过去分词</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If we planned better, we would not fail.</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If we had planned better, we wouldn’t have failed.</a:t>
            </a:r>
          </a:p>
          <a:p>
            <a:pPr algn="l">
              <a:spcAft>
                <a:spcPts val="200"/>
              </a:spcAft>
            </a:pPr>
            <a:r>
              <a:rPr sz="1200" b="0">
                <a:solidFill>
                  <a:srgbClr val="FFFFFF"/>
                </a:solidFill>
                <a:latin typeface="Arial"/>
                <a:ea typeface="Microsoft YaHei"/>
              </a:rPr>
              <a:t>第三条件句</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project is failed.</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project failed. / The project has failed.</a:t>
            </a:r>
          </a:p>
          <a:p>
            <a:pPr algn="l">
              <a:spcAft>
                <a:spcPts val="200"/>
              </a:spcAft>
            </a:pPr>
            <a:r>
              <a:rPr sz="1200" b="0">
                <a:solidFill>
                  <a:srgbClr val="FFFFFF"/>
                </a:solidFill>
                <a:latin typeface="Arial"/>
                <a:ea typeface="Microsoft YaHei"/>
              </a:rPr>
              <a:t>fail 不用被动</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51 Where Projects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was a big mistake of us.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was a big mistake on our part.</a:t>
            </a:r>
          </a:p>
          <a:p>
            <a:pPr algn="l">
              <a:spcAft>
                <a:spcPts val="200"/>
              </a:spcAft>
            </a:pPr>
            <a:r>
              <a:rPr sz="1200" b="0">
                <a:solidFill>
                  <a:srgbClr val="FFFFFF"/>
                </a:solidFill>
                <a:latin typeface="Arial"/>
                <a:ea typeface="Microsoft YaHei"/>
              </a:rPr>
              <a:t>on our part</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lost the deadline.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missed the deadline.</a:t>
            </a:r>
          </a:p>
          <a:p>
            <a:pPr algn="l">
              <a:spcAft>
                <a:spcPts val="200"/>
              </a:spcAft>
            </a:pPr>
            <a:r>
              <a:rPr sz="1200" b="0">
                <a:solidFill>
                  <a:srgbClr val="FFFFFF"/>
                </a:solidFill>
                <a:latin typeface="Arial"/>
                <a:ea typeface="Microsoft YaHei"/>
              </a:rPr>
              <a:t>miss a deadline</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delay was caused by miscommunications.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delay was caused by miscommunication.</a:t>
            </a:r>
          </a:p>
          <a:p>
            <a:pPr algn="l">
              <a:spcAft>
                <a:spcPts val="200"/>
              </a:spcAft>
            </a:pPr>
            <a:r>
              <a:rPr sz="1200" b="0">
                <a:solidFill>
                  <a:srgbClr val="FFFFFF"/>
                </a:solidFill>
                <a:latin typeface="Arial"/>
                <a:ea typeface="Microsoft YaHei"/>
              </a:rPr>
              <a:t>不可数</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should have + past participle, third conditional, and uncountable miscommunication.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51 Where Projects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Blame culture: </a:t>
            </a:r>
            <a:r>
              <a:rPr sz="1700" b="0">
                <a:solidFill>
                  <a:srgbClr val="1F2A44"/>
                </a:solidFill>
                <a:latin typeface="Arial"/>
                <a:ea typeface="Microsoft YaHei"/>
              </a:rPr>
              <a:t>Companies with a blame culture hide problems. A blame-free review encourages honesty.</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Sunk-cost fallacy: </a:t>
            </a:r>
            <a:r>
              <a:rPr sz="1700" b="0">
                <a:solidFill>
                  <a:srgbClr val="1F2A44"/>
                </a:solidFill>
                <a:latin typeface="Arial"/>
                <a:ea typeface="Microsoft YaHei"/>
              </a:rPr>
              <a:t>Continuing a failing project because you’ve already invested is a common trap.</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Humour: </a:t>
            </a:r>
            <a:r>
              <a:rPr sz="1700" b="0">
                <a:solidFill>
                  <a:srgbClr val="1F2A44"/>
                </a:solidFill>
                <a:latin typeface="Arial"/>
                <a:ea typeface="Microsoft YaHei"/>
              </a:rPr>
              <a:t>People often use light humour about failures (“a learning opportunity”). Watch tone with stakeholders.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should have + 过去分词(本该做而没做)。第三条件句:If + had done, would have done。fail 是不及物动词,不用被动 is failed。</a:t>
            </a:r>
          </a:p>
        </p:txBody>
      </p:sp>
    </p:spTree>
  </p:cSld>
  <p:clrMapOvr>
    <a:masterClrMapping/>
  </p:clrMapOvr>
  <p:transition spd="med">
    <p:fade/>
  </p:transition>
</p:sld>
</file>

<file path=ppt/slides/slide3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51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51 Where Projects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what went wrong in a project.</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should have and the third conditional.</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run a review without blaming people.</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cause and effect linkers.</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3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51 Where Projects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should have + past participle, third conditional, and uncountable miscommunication.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337.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5 · Lesson 52 Identifying Problems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337</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52</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Identifying Problems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识别问题</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identify, describe and analyse workplace problems: asking questions to find root causes, describing symptoms and proposing solutions.</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52 Identifying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was the last problem you had to solve at work?</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find out the real cause of a problem?</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prefer to solve problems alone or ask for input?</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decide which problem to solve first?</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you report a problem without sounding negative?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root cause = 根本原因。symptom = 症状(表面现象)。第 5 题可用 “I’ve noticed that…, so I’d like to suggest…”。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52 Identifying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a problem and analyse its causes with a colleague.</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what’s happening</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since when</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possible causes</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to check</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next step</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I’ve noticed that…   💬 It seems to be caused by…   💬 Have we checked whether…?</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I’ve noticed that… 客观陈述。seems to be 保留余地。Have we checked whether… 引导调查。</a:t>
            </a:r>
          </a:p>
        </p:txBody>
      </p:sp>
    </p:spTree>
  </p:cSld>
  <p:clrMapOvr>
    <a:masterClrMapping/>
  </p:clrMapOvr>
  <p:transition spd="med">
    <p:fade/>
  </p:transition>
</p:sld>
</file>

<file path=ppt/slides/slide3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Symptoms and Causes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128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52 Identifying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When something goes wrong, the first reaction is often to fix what we can see. Customers complain about delays, so we hire more staff. But if the real cause is a slow approval process, extra people will not help. Skilled problem-solvers distinguish symptoms from root causes. They begin by describing the problem precisely: what exactly is happening, where, since when and how often? They gather facts rather than opinions and ask “why” several times to dig below the surface. Then they consider more than one possible explanation before choosing a solution. It also helps to involve people who are close to the work, since they often see what managers miss. Finally, they test the solution on a small scale and check whether the problem has really gone away.</a:t>
            </a:r>
          </a:p>
        </p:txBody>
      </p:sp>
    </p:spTree>
  </p:cSld>
  <p:clrMapOvr>
    <a:masterClrMapping/>
  </p:clrMapOvr>
  <p:transition spd="med">
    <p:fade/>
  </p:transition>
</p:sld>
</file>

<file path=ppt/slides/slide3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52 Identifying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is the typical first reaction to a problem?</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To fix the visible symptom.</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How do skilled problem-solvers begin?</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By describing the problem precisely: what, where, since when, how often.</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Why involve people close to the work?</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often see what managers miss.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Describing problems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52 Identifying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描述问题</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issue / problem</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问题</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an issue with delivery.”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root cause</a:t>
            </a:r>
          </a:p>
          <a:p>
            <a:pPr algn="l">
              <a:lnSpc>
                <a:spcPct val="115000"/>
              </a:lnSpc>
              <a:spcAft>
                <a:spcPts val="800"/>
              </a:spcAft>
            </a:pPr>
            <a:r>
              <a:rPr sz="1300" b="0">
                <a:solidFill>
                  <a:srgbClr val="5F677A"/>
                </a:solidFill>
                <a:latin typeface="Arial"/>
                <a:ea typeface="Microsoft YaHei"/>
              </a:rPr>
              <a:t>noun 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根本原因</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“What’s the root cause?”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symptom</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表面现象</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“Slow replies are a symptom.”</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malfunction</a:t>
            </a:r>
          </a:p>
          <a:p>
            <a:pPr algn="l">
              <a:lnSpc>
                <a:spcPct val="115000"/>
              </a:lnSpc>
              <a:spcAft>
                <a:spcPts val="800"/>
              </a:spcAft>
            </a:pPr>
            <a:r>
              <a:rPr sz="1300" b="0">
                <a:solidFill>
                  <a:srgbClr val="5F677A"/>
                </a:solidFill>
                <a:latin typeface="Arial"/>
                <a:ea typeface="Microsoft YaHei"/>
              </a:rPr>
              <a:t>verb / 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故障</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printer malfunctioned.”</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recurring</a:t>
            </a:r>
          </a:p>
          <a:p>
            <a:pPr algn="l">
              <a:lnSpc>
                <a:spcPct val="115000"/>
              </a:lnSpc>
              <a:spcAft>
                <a:spcPts val="800"/>
              </a:spcAft>
            </a:pPr>
            <a:r>
              <a:rPr sz="1300" b="0">
                <a:solidFill>
                  <a:srgbClr val="5F677A"/>
                </a:solidFill>
                <a:latin typeface="Arial"/>
                <a:ea typeface="Microsoft YaHei"/>
              </a:rPr>
              <a:t>adjective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反复出现的</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“This is a recurring issue.”</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urgent</a:t>
            </a:r>
          </a:p>
          <a:p>
            <a:pPr algn="l">
              <a:lnSpc>
                <a:spcPct val="115000"/>
              </a:lnSpc>
              <a:spcAft>
                <a:spcPts val="800"/>
              </a:spcAft>
            </a:pPr>
            <a:r>
              <a:rPr sz="1300" b="0">
                <a:solidFill>
                  <a:srgbClr val="5F677A"/>
                </a:solidFill>
                <a:latin typeface="Arial"/>
                <a:ea typeface="Microsoft YaHei"/>
              </a:rPr>
              <a:t>adjective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紧急的</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urgent, so call me.”</a:t>
            </a:r>
          </a:p>
        </p:txBody>
      </p:sp>
    </p:spTree>
  </p:cSld>
  <p:clrMapOvr>
    <a:masterClrMapping/>
  </p:clrMapOvr>
  <p:transition spd="med">
    <p:fade/>
  </p:transition>
</p:sld>
</file>

<file path=ppt/slides/slide3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Analysing and solving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52 Identifying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分析与解决</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to the bottom of</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查明真相</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to get to the bottom of this.”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narrow down</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缩小范围</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narrow down the possible causes.”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rule out</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排除</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can rule out a software bug.”</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come up with</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想出</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come up with a few solutions.”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quick fix</a:t>
            </a:r>
          </a:p>
          <a:p>
            <a:pPr algn="l">
              <a:lnSpc>
                <a:spcPct val="115000"/>
              </a:lnSpc>
              <a:spcAft>
                <a:spcPts val="800"/>
              </a:spcAft>
            </a:pPr>
            <a:r>
              <a:rPr sz="1300" b="0">
                <a:solidFill>
                  <a:srgbClr val="5F677A"/>
                </a:solidFill>
                <a:latin typeface="Arial"/>
                <a:ea typeface="Microsoft YaHei"/>
              </a:rPr>
              <a:t>noun 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临时补救</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quick fix isn’t enough.”</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tackle the problem</a:t>
            </a:r>
          </a:p>
          <a:p>
            <a:pPr algn="l">
              <a:lnSpc>
                <a:spcPct val="115000"/>
              </a:lnSpc>
              <a:spcAft>
                <a:spcPts val="800"/>
              </a:spcAft>
            </a:pPr>
            <a:r>
              <a:rPr sz="1300" b="0">
                <a:solidFill>
                  <a:srgbClr val="5F677A"/>
                </a:solidFill>
                <a:latin typeface="Arial"/>
                <a:ea typeface="Microsoft YaHei"/>
              </a:rPr>
              <a:t>collocation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着手解决</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tackle the problem head on.”</a:t>
            </a:r>
          </a:p>
        </p:txBody>
      </p:sp>
    </p:spTree>
  </p:cSld>
  <p:clrMapOvr>
    <a:masterClrMapping/>
  </p:clrMapOvr>
  <p:transition spd="med">
    <p:fade/>
  </p:transition>
</p:sld>
</file>

<file path=ppt/slides/slide3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52 Identifying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紧急的</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urgent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表面现象</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symptom</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问题</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issue / problem</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着手解决</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tackle the problem</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查明真相</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get to the bottom of</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故障</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malfunction</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排除</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rule out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根本原因</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root 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52 Identifying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root cause</a:t>
            </a:r>
          </a:p>
        </p:txBody>
      </p:sp>
      <p:sp>
        <p:nvSpPr>
          <p:cNvPr id="10" name="Rounded Rectangle 9"/>
          <p:cNvSpPr/>
          <p:nvPr/>
        </p:nvSpPr>
        <p:spPr>
          <a:xfrm>
            <a:off x="3566160"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symptom</a:t>
            </a:r>
          </a:p>
        </p:txBody>
      </p:sp>
      <p:sp>
        <p:nvSpPr>
          <p:cNvPr id="11" name="Rounded Rectangle 10"/>
          <p:cNvSpPr/>
          <p:nvPr/>
        </p:nvSpPr>
        <p:spPr>
          <a:xfrm>
            <a:off x="4791456" y="987552"/>
            <a:ext cx="135331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recurring</a:t>
            </a:r>
          </a:p>
        </p:txBody>
      </p:sp>
      <p:sp>
        <p:nvSpPr>
          <p:cNvPr id="12" name="Rounded Rectangle 11"/>
          <p:cNvSpPr/>
          <p:nvPr/>
        </p:nvSpPr>
        <p:spPr>
          <a:xfrm>
            <a:off x="6236208" y="987552"/>
            <a:ext cx="256032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get to the bottom of</a:t>
            </a:r>
          </a:p>
        </p:txBody>
      </p:sp>
      <p:sp>
        <p:nvSpPr>
          <p:cNvPr id="13" name="Rounded Rectangle 12"/>
          <p:cNvSpPr/>
          <p:nvPr/>
        </p:nvSpPr>
        <p:spPr>
          <a:xfrm>
            <a:off x="8887968"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rule out</a:t>
            </a:r>
          </a:p>
        </p:txBody>
      </p:sp>
      <p:sp>
        <p:nvSpPr>
          <p:cNvPr id="14" name="Rounded Rectangle 13"/>
          <p:cNvSpPr/>
          <p:nvPr/>
        </p:nvSpPr>
        <p:spPr>
          <a:xfrm>
            <a:off x="10222992"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quick fix</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1.  We need to find the _______ of the delays.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root cause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2.  Late deliveries are a _______ of a deeper problem.</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symptom</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3.  This is a _______ issue that keeps coming back.</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recurring</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4.  I want to _______ why sales fell.</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get to the bottom of</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5.  We can _______ a technical fault, because everything was tested.</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rule out</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6.  A _______ will help for now, but we need a lasting solution.</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quick fix</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problem (not “problen”), solution (to a problem), recurring (double r). Solve a problem / find a solution to, address / tackle / deal with an issue. Issue is neutral and often softer than problem. Identify (not “identity”).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Analysing a problem together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52 Identifying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一起分析问题</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Customer complaints about late deliveries have increased. You and a colleague try to identify the cause.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Una Lee, operations analyst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Raj Singh, logistics manager</a:t>
            </a:r>
          </a:p>
        </p:txBody>
      </p:sp>
    </p:spTree>
  </p:cSld>
  <p:clrMapOvr>
    <a:masterClrMapping/>
  </p:clrMapOvr>
  <p:transition spd="med">
    <p:fade/>
  </p:transition>
</p:sld>
</file>

<file path=ppt/slides/slide3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Analysing a problem together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52 Identifying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Una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Raj, I’ve noticed that complaints about late deliveries have doubled since March.</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Raj</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I’ve seen that. It’s worrying.</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 we know where the delay happens? In the warehouse or in transit?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question. I’d assumed it was the carrier.</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Have we checked whether it might be the packing stage?</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yet. I can pull the data for each stage.</a:t>
            </a:r>
          </a:p>
        </p:txBody>
      </p:sp>
    </p:spTree>
  </p:cSld>
  <p:clrMapOvr>
    <a:masterClrMapping/>
  </p:clrMapOvr>
  <p:transition spd="med">
    <p:fade/>
  </p:transition>
</p:sld>
</file>

<file path=ppt/slides/slide3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Analysing a problem together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52 Identifying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help. Let’s also rule out a stock problem.</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Stock is fine. But we did introduce a new order system in February.</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might be a factor. It seems to be causing manual checks.</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Possibly. Let’s narrow it down by comparing orders before and after the change.</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Can we look at it on Thursday?</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I’ll have the data by then, and we can decide on a fix.</a:t>
            </a:r>
          </a:p>
        </p:txBody>
      </p:sp>
    </p:spTree>
  </p:cSld>
  <p:clrMapOvr>
    <a:masterClrMapping/>
  </p:clrMapOvr>
  <p:transition spd="med">
    <p:fade/>
  </p:transition>
</p:sld>
</file>

<file path=ppt/slides/slide3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Analysing a problem together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52 Identifying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analyse a problem with a colleague.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Analyst. Problem: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Offer a possible cause.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I’ve noticed that · root cause · rule out · narrow down · it seems to be · get to the bottom of</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the issue, suggest causes and agree what to check.</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Raj says: “Let’s just hire more people.” Challenge politely.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one-sentence problem statement.</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Summarise findings and propose a solution.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52 Identifying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approach a difficult problem?</a:t>
            </a:r>
          </a:p>
          <a:p>
            <a:pPr algn="l">
              <a:lnSpc>
                <a:spcPct val="115000"/>
              </a:lnSpc>
              <a:spcAft>
                <a:spcPts val="800"/>
              </a:spcAft>
            </a:pPr>
            <a:r>
              <a:rPr sz="1400" b="0">
                <a:solidFill>
                  <a:srgbClr val="5F677A"/>
                </a:solidFill>
                <a:latin typeface="Arial"/>
                <a:ea typeface="Microsoft YaHei"/>
              </a:rPr>
              <a:t>💬 “First, I try to… then I…”</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better to fix a problem quickly or find the root cause?</a:t>
            </a:r>
          </a:p>
          <a:p>
            <a:pPr algn="l">
              <a:lnSpc>
                <a:spcPct val="115000"/>
              </a:lnSpc>
              <a:spcAft>
                <a:spcPts val="800"/>
              </a:spcAft>
            </a:pPr>
            <a:r>
              <a:rPr sz="1400" b="0">
                <a:solidFill>
                  <a:srgbClr val="5F677A"/>
                </a:solidFill>
                <a:latin typeface="Arial"/>
                <a:ea typeface="Microsoft YaHei"/>
              </a:rPr>
              <a:t>💬 “It depends on the urgency… / A quick fix can…”</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should be involved in solving a problem?</a:t>
            </a:r>
          </a:p>
          <a:p>
            <a:pPr algn="l">
              <a:lnSpc>
                <a:spcPct val="115000"/>
              </a:lnSpc>
              <a:spcAft>
                <a:spcPts val="800"/>
              </a:spcAft>
            </a:pPr>
            <a:r>
              <a:rPr sz="1400" b="0">
                <a:solidFill>
                  <a:srgbClr val="5F677A"/>
                </a:solidFill>
                <a:latin typeface="Arial"/>
                <a:ea typeface="Microsoft YaHei"/>
              </a:rPr>
              <a:t>💬 “People who are close to… / Ideally a mix of…”</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spot problems early?</a:t>
            </a:r>
          </a:p>
          <a:p>
            <a:pPr algn="l">
              <a:lnSpc>
                <a:spcPct val="115000"/>
              </a:lnSpc>
              <a:spcAft>
                <a:spcPts val="800"/>
              </a:spcAft>
            </a:pPr>
            <a:r>
              <a:rPr sz="1400" b="0">
                <a:solidFill>
                  <a:srgbClr val="5F677A"/>
                </a:solidFill>
                <a:latin typeface="Arial"/>
                <a:ea typeface="Microsoft YaHei"/>
              </a:rPr>
              <a:t>💬 “By monitoring… / Paying attention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52 Identifying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It depends on the urgency. If a customer’s system is down, I’d start with a quick fix to restore service, because waiting for the root cause would cause more harm. But as soon as the immediate pressure is off, I’d investigate the underlying cause, otherwise the problem will keep coming back. So the answer is both: fix first, then find the cause, and make sure the lesson is shared.</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restore = 恢复。”the pressure is off” = 压力减轻。underlying = 潜在的。”come back” = 复发。</a:t>
            </a:r>
          </a:p>
        </p:txBody>
      </p:sp>
    </p:spTree>
  </p:cSld>
  <p:clrMapOvr>
    <a:masterClrMapping/>
  </p:clrMapOvr>
  <p:transition spd="med">
    <p:fade/>
  </p:transition>
</p:sld>
</file>

<file path=ppt/slides/slide3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52 Identifying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93827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There is a problem.</a:t>
                      </a:r>
                    </a:p>
                  </a:txBody>
                  <a:tcPr anchor="ctr">
                    <a:solidFill>
                      <a:srgbClr val="FFFFFF"/>
                    </a:solidFill>
                  </a:tcPr>
                </a:tc>
                <a:tc>
                  <a:txBody>
                    <a:bodyPr wrap="square"/>
                    <a:lstStyle/>
                    <a:p>
                      <a:r>
                        <a:rPr sz="1600" b="0">
                          <a:solidFill>
                            <a:srgbClr val="1F2A44"/>
                          </a:solidFill>
                          <a:latin typeface="Arial"/>
                          <a:ea typeface="Microsoft YaHei"/>
                        </a:rPr>
                        <a:t>We’ve hit a snag. / There’s an issue with…</a:t>
                      </a:r>
                    </a:p>
                  </a:txBody>
                  <a:tcPr anchor="ctr">
                    <a:solidFill>
                      <a:srgbClr val="FFFFFF"/>
                    </a:solidFill>
                  </a:tcPr>
                </a:tc>
                <a:tc>
                  <a:txBody>
                    <a:bodyPr wrap="square"/>
                    <a:lstStyle/>
                    <a:p>
                      <a:r>
                        <a:rPr sz="1600" b="0">
                          <a:solidFill>
                            <a:srgbClr val="FF6B5B"/>
                          </a:solidFill>
                          <a:latin typeface="Arial"/>
                          <a:ea typeface="Microsoft YaHei"/>
                        </a:rPr>
                        <a:t>地道</a:t>
                      </a:r>
                    </a:p>
                  </a:txBody>
                  <a:tcPr anchor="ctr">
                    <a:solidFill>
                      <a:srgbClr val="FFFFFF"/>
                    </a:solidFill>
                  </a:tcPr>
                </a:tc>
              </a:tr>
              <a:tr h="408432">
                <a:tc>
                  <a:txBody>
                    <a:bodyPr wrap="square"/>
                    <a:lstStyle/>
                    <a:p>
                      <a:r>
                        <a:rPr sz="1600" b="1">
                          <a:solidFill>
                            <a:srgbClr val="1F2A44"/>
                          </a:solidFill>
                          <a:latin typeface="Arial"/>
                          <a:ea typeface="Microsoft YaHei"/>
                        </a:rPr>
                        <a:t>I don’t know why.</a:t>
                      </a:r>
                    </a:p>
                  </a:txBody>
                  <a:tcPr anchor="ctr">
                    <a:solidFill>
                      <a:srgbClr val="FFEFD9"/>
                    </a:solidFill>
                  </a:tcPr>
                </a:tc>
                <a:tc>
                  <a:txBody>
                    <a:bodyPr wrap="square"/>
                    <a:lstStyle/>
                    <a:p>
                      <a:r>
                        <a:rPr sz="1600" b="0">
                          <a:solidFill>
                            <a:srgbClr val="1F2A44"/>
                          </a:solidFill>
                          <a:latin typeface="Arial"/>
                          <a:ea typeface="Microsoft YaHei"/>
                        </a:rPr>
                        <a:t>I’m not sure what’s causing it.</a:t>
                      </a:r>
                    </a:p>
                  </a:txBody>
                  <a:tcPr anchor="ctr">
                    <a:solidFill>
                      <a:srgbClr val="FFEFD9"/>
                    </a:solidFill>
                  </a:tcPr>
                </a:tc>
                <a:tc>
                  <a:txBody>
                    <a:bodyPr wrap="square"/>
                    <a:lstStyle/>
                    <a:p>
                      <a:r>
                        <a:rPr sz="1600" b="0">
                          <a:solidFill>
                            <a:srgbClr val="FF6B5B"/>
                          </a:solidFill>
                          <a:latin typeface="Arial"/>
                          <a:ea typeface="Microsoft YaHei"/>
                        </a:rPr>
                        <a:t>自然</a:t>
                      </a:r>
                    </a:p>
                  </a:txBody>
                  <a:tcPr anchor="ctr">
                    <a:solidFill>
                      <a:srgbClr val="FFEFD9"/>
                    </a:solidFill>
                  </a:tcPr>
                </a:tc>
              </a:tr>
              <a:tr h="652272">
                <a:tc>
                  <a:txBody>
                    <a:bodyPr wrap="square"/>
                    <a:lstStyle/>
                    <a:p>
                      <a:r>
                        <a:rPr sz="1600" b="1">
                          <a:solidFill>
                            <a:srgbClr val="1F2A44"/>
                          </a:solidFill>
                          <a:latin typeface="Arial"/>
                          <a:ea typeface="Microsoft YaHei"/>
                        </a:rPr>
                        <a:t>Check it.</a:t>
                      </a:r>
                    </a:p>
                  </a:txBody>
                  <a:tcPr anchor="ctr">
                    <a:solidFill>
                      <a:srgbClr val="FFFFFF"/>
                    </a:solidFill>
                  </a:tcPr>
                </a:tc>
                <a:tc>
                  <a:txBody>
                    <a:bodyPr wrap="square"/>
                    <a:lstStyle/>
                    <a:p>
                      <a:r>
                        <a:rPr sz="1600" b="0">
                          <a:solidFill>
                            <a:srgbClr val="1F2A44"/>
                          </a:solidFill>
                          <a:latin typeface="Arial"/>
                          <a:ea typeface="Microsoft YaHei"/>
                        </a:rPr>
                        <a:t>Could we check whether it’s the packing stage?</a:t>
                      </a:r>
                    </a:p>
                  </a:txBody>
                  <a:tcPr anchor="ctr">
                    <a:solidFill>
                      <a:srgbClr val="FFFFFF"/>
                    </a:solidFill>
                  </a:tcPr>
                </a:tc>
                <a:tc>
                  <a:txBody>
                    <a:bodyPr wrap="square"/>
                    <a:lstStyle/>
                    <a:p>
                      <a:r>
                        <a:rPr sz="1600" b="0">
                          <a:solidFill>
                            <a:srgbClr val="FF6B5B"/>
                          </a:solidFill>
                          <a:latin typeface="Arial"/>
                          <a:ea typeface="Microsoft YaHei"/>
                        </a:rPr>
                        <a:t>礼貌</a:t>
                      </a:r>
                    </a:p>
                  </a:txBody>
                  <a:tcPr anchor="ctr">
                    <a:solidFill>
                      <a:srgbClr val="FFFFFF"/>
                    </a:solidFill>
                  </a:tcPr>
                </a:tc>
              </a:tr>
              <a:tr h="408432">
                <a:tc>
                  <a:txBody>
                    <a:bodyPr wrap="square"/>
                    <a:lstStyle/>
                    <a:p>
                      <a:r>
                        <a:rPr sz="1600" b="1">
                          <a:solidFill>
                            <a:srgbClr val="1F2A44"/>
                          </a:solidFill>
                          <a:latin typeface="Arial"/>
                          <a:ea typeface="Microsoft YaHei"/>
                        </a:rPr>
                        <a:t>It is not that.</a:t>
                      </a:r>
                    </a:p>
                  </a:txBody>
                  <a:tcPr anchor="ctr">
                    <a:solidFill>
                      <a:srgbClr val="FFEFD9"/>
                    </a:solidFill>
                  </a:tcPr>
                </a:tc>
                <a:tc>
                  <a:txBody>
                    <a:bodyPr wrap="square"/>
                    <a:lstStyle/>
                    <a:p>
                      <a:r>
                        <a:rPr sz="1600" b="0">
                          <a:solidFill>
                            <a:srgbClr val="1F2A44"/>
                          </a:solidFill>
                          <a:latin typeface="Arial"/>
                          <a:ea typeface="Microsoft YaHei"/>
                        </a:rPr>
                        <a:t>We can rule that out.</a:t>
                      </a:r>
                    </a:p>
                  </a:txBody>
                  <a:tcPr anchor="ctr">
                    <a:solidFill>
                      <a:srgbClr val="FFEFD9"/>
                    </a:solidFill>
                  </a:tcPr>
                </a:tc>
                <a:tc>
                  <a:txBody>
                    <a:bodyPr wrap="square"/>
                    <a:lstStyle/>
                    <a:p>
                      <a:r>
                        <a:rPr sz="1600" b="0">
                          <a:solidFill>
                            <a:srgbClr val="FF6B5B"/>
                          </a:solidFill>
                          <a:latin typeface="Arial"/>
                          <a:ea typeface="Microsoft YaHei"/>
                        </a:rPr>
                        <a:t>术语</a:t>
                      </a:r>
                    </a:p>
                  </a:txBody>
                  <a:tcPr anchor="ctr">
                    <a:solidFill>
                      <a:srgbClr val="FFEFD9"/>
                    </a:solidFill>
                  </a:tcPr>
                </a:tc>
              </a:tr>
              <a:tr h="408432">
                <a:tc>
                  <a:txBody>
                    <a:bodyPr wrap="square"/>
                    <a:lstStyle/>
                    <a:p>
                      <a:r>
                        <a:rPr sz="1600" b="1">
                          <a:solidFill>
                            <a:srgbClr val="1F2A44"/>
                          </a:solidFill>
                          <a:latin typeface="Arial"/>
                          <a:ea typeface="Microsoft YaHei"/>
                        </a:rPr>
                        <a:t>We fix it.</a:t>
                      </a:r>
                    </a:p>
                  </a:txBody>
                  <a:tcPr anchor="ctr">
                    <a:solidFill>
                      <a:srgbClr val="FFFFFF"/>
                    </a:solidFill>
                  </a:tcPr>
                </a:tc>
                <a:tc>
                  <a:txBody>
                    <a:bodyPr wrap="square"/>
                    <a:lstStyle/>
                    <a:p>
                      <a:r>
                        <a:rPr sz="1600" b="0">
                          <a:solidFill>
                            <a:srgbClr val="1F2A44"/>
                          </a:solidFill>
                          <a:latin typeface="Arial"/>
                          <a:ea typeface="Microsoft YaHei"/>
                        </a:rPr>
                        <a:t>We need a permanent solution.</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bl>
          </a:graphicData>
        </a:graphic>
      </p:graphicFrame>
    </p:spTree>
  </p:cSld>
  <p:clrMapOvr>
    <a:masterClrMapping/>
  </p:clrMapOvr>
  <p:transition spd="med">
    <p:fade/>
  </p:transition>
</p:sld>
</file>

<file path=ppt/slides/slide3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52 Identifying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Present perfect for recent changes: </a:t>
            </a:r>
            <a:r>
              <a:rPr sz="1700" b="0">
                <a:solidFill>
                  <a:srgbClr val="1F2A44"/>
                </a:solidFill>
                <a:latin typeface="Arial"/>
                <a:ea typeface="Microsoft YaHei"/>
              </a:rPr>
              <a:t>“Complaints have doubled.” / “Sales have dropped since May.”</a:t>
            </a:r>
          </a:p>
        </p:txBody>
      </p:sp>
      <p:sp>
        <p:nvSpPr>
          <p:cNvPr id="11" name="Rounded Rectangle 10"/>
          <p:cNvSpPr/>
          <p:nvPr/>
        </p:nvSpPr>
        <p:spPr>
          <a:xfrm>
            <a:off x="548640" y="195071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701039"/>
          </a:xfrm>
          <a:prstGeom prst="rect">
            <a:avLst/>
          </a:prstGeom>
          <a:noFill/>
        </p:spPr>
        <p:txBody>
          <a:bodyPr wrap="square" anchor="ctr">
            <a:spAutoFit/>
          </a:bodyPr>
          <a:lstStyle/>
          <a:p>
            <a:r>
              <a:rPr sz="1700" b="1">
                <a:solidFill>
                  <a:srgbClr val="4A90E2"/>
                </a:solidFill>
                <a:latin typeface="Arial"/>
                <a:ea typeface="Microsoft YaHei"/>
              </a:rPr>
              <a:t>Modals of possibility: </a:t>
            </a:r>
            <a:r>
              <a:rPr sz="1700" b="0">
                <a:solidFill>
                  <a:srgbClr val="1F2A44"/>
                </a:solidFill>
                <a:latin typeface="Arial"/>
                <a:ea typeface="Microsoft YaHei"/>
              </a:rPr>
              <a:t>might, could, may, must be, can’t be: “It could be the system.” / “It can’t be the carrier.”</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Indirect questions: </a:t>
            </a:r>
            <a:r>
              <a:rPr sz="1700" b="0">
                <a:solidFill>
                  <a:srgbClr val="1F2A44"/>
                </a:solidFill>
                <a:latin typeface="Arial"/>
                <a:ea typeface="Microsoft YaHei"/>
              </a:rPr>
              <a:t>Do we know where the delay happens? (not “where does the delay happen”)</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Reporting facts neutrally: </a:t>
            </a:r>
            <a:r>
              <a:rPr sz="1700" b="0">
                <a:solidFill>
                  <a:srgbClr val="1F2A44"/>
                </a:solidFill>
                <a:latin typeface="Arial"/>
                <a:ea typeface="Microsoft YaHei"/>
              </a:rPr>
              <a:t>I’ve noticed / It appears that / The data shows…</a:t>
            </a:r>
          </a:p>
        </p:txBody>
      </p:sp>
    </p:spTree>
  </p:cSld>
  <p:clrMapOvr>
    <a:masterClrMapping/>
  </p:clrMapOvr>
  <p:transition spd="med">
    <p:fade/>
  </p:transition>
</p:sld>
</file>

<file path=ppt/slides/slide3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52 Identifying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Where is the problem happens?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Where does the problem happen?</a:t>
            </a:r>
          </a:p>
          <a:p>
            <a:pPr algn="l">
              <a:spcAft>
                <a:spcPts val="200"/>
              </a:spcAft>
            </a:pPr>
            <a:r>
              <a:rPr sz="1200" b="0">
                <a:solidFill>
                  <a:srgbClr val="FFFFFF"/>
                </a:solidFill>
                <a:latin typeface="Arial"/>
                <a:ea typeface="Microsoft YaHei"/>
              </a:rPr>
              <a:t>助动词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know what is the cause.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want to know what the cause is.</a:t>
            </a:r>
          </a:p>
          <a:p>
            <a:pPr algn="l">
              <a:spcAft>
                <a:spcPts val="200"/>
              </a:spcAft>
            </a:pPr>
            <a:r>
              <a:rPr sz="1200" b="0">
                <a:solidFill>
                  <a:srgbClr val="FFFFFF"/>
                </a:solidFill>
                <a:latin typeface="Arial"/>
                <a:ea typeface="Microsoft YaHei"/>
              </a:rPr>
              <a:t>间接疑问</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problem is occurred since March.</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problem has occurred since March. / The problem has been occurring since March.</a:t>
            </a:r>
          </a:p>
          <a:p>
            <a:pPr algn="l">
              <a:spcAft>
                <a:spcPts val="200"/>
              </a:spcAft>
            </a:pPr>
            <a:r>
              <a:rPr sz="1200" b="0">
                <a:solidFill>
                  <a:srgbClr val="FFFFFF"/>
                </a:solidFill>
                <a:latin typeface="Arial"/>
                <a:ea typeface="Microsoft YaHei"/>
              </a:rPr>
              <a:t>occur 不用被动</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52 Identifying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must to solve it.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must solve it.</a:t>
            </a:r>
          </a:p>
          <a:p>
            <a:pPr algn="l">
              <a:spcAft>
                <a:spcPts val="200"/>
              </a:spcAft>
            </a:pPr>
            <a:r>
              <a:rPr sz="1200" b="0">
                <a:solidFill>
                  <a:srgbClr val="FFFFFF"/>
                </a:solidFill>
                <a:latin typeface="Arial"/>
                <a:ea typeface="Microsoft YaHei"/>
              </a:rPr>
              <a:t>must + 原形</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must be not the system.</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can’t be the system.</a:t>
            </a:r>
          </a:p>
          <a:p>
            <a:pPr algn="l">
              <a:spcAft>
                <a:spcPts val="200"/>
              </a:spcAft>
            </a:pPr>
            <a:r>
              <a:rPr sz="1200" b="0">
                <a:solidFill>
                  <a:srgbClr val="FFFFFF"/>
                </a:solidFill>
                <a:latin typeface="Arial"/>
                <a:ea typeface="Microsoft YaHei"/>
              </a:rPr>
              <a:t>否定推测</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problem is exist.</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problem exists.</a:t>
            </a:r>
          </a:p>
          <a:p>
            <a:pPr algn="l">
              <a:spcAft>
                <a:spcPts val="200"/>
              </a:spcAft>
            </a:pPr>
            <a:r>
              <a:rPr sz="1200" b="0">
                <a:solidFill>
                  <a:srgbClr val="FFFFFF"/>
                </a:solidFill>
                <a:latin typeface="Arial"/>
                <a:ea typeface="Microsoft YaHei"/>
              </a:rPr>
              <a:t>exist 实义动词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indirect questions, modals of deduction (must / can’t be), and intransitive verbs (occur, exist).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52 Identifying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“Problem” vs “challenge”: In English offices “challenge” or “issue” is often used instead of “problem” to sound constructive.</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Speaking up: </a:t>
            </a:r>
            <a:r>
              <a:rPr sz="1700" b="0">
                <a:solidFill>
                  <a:srgbClr val="1F2A44"/>
                </a:solidFill>
                <a:latin typeface="Arial"/>
                <a:ea typeface="Microsoft YaHei"/>
              </a:rPr>
              <a:t>Raising an issue early is considered responsible, not negative.</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Data over opinion: </a:t>
            </a:r>
            <a:r>
              <a:rPr sz="1700" b="0">
                <a:solidFill>
                  <a:srgbClr val="1F2A44"/>
                </a:solidFill>
                <a:latin typeface="Arial"/>
                <a:ea typeface="Microsoft YaHei"/>
              </a:rPr>
              <a:t>Stating “the data shows…” strengthens your case.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occur / exist / happen 是不及物动词,不用被动。间接疑问句语序:what the cause is。推测:must be(肯定)/ can’t be(否定)。</a:t>
            </a:r>
          </a:p>
        </p:txBody>
      </p:sp>
    </p:spTree>
  </p:cSld>
  <p:clrMapOvr>
    <a:masterClrMapping/>
  </p:clrMapOvr>
  <p:transition spd="med">
    <p:fade/>
  </p:transition>
</p:sld>
</file>

<file path=ppt/slides/slide3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52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52 Identifying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a problem precisely.</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possible causes with modals of possibility.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indirect questions correctly.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occur / exist / happen correctly (no passive).</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3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52 Identifying Problems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indirect questions, modals of deduction, and intransitive verbs like happen.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35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5 · Lesson 53 Research and Development</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359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53</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Research and Development</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研发与创新</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R&amp;D and innovation: investing in research, developing products, protecting ideas and managing the risk of failure.</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53 Research and Development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Does your company do research and development? What kinds?</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do companies invest in R&amp;D when the results are uncertain?</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the difference between invention and innovation?</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employees be encouraged to come up with new ideas?</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risks of spending too much on R&amp;D?</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R&amp;D = Research and Development。invention = 发明,innovation = 创新(把想法变成价值)。patent = 专利。</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53 Research and Development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why a company should invest in R&amp;D, and how to manage risk.</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why</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what to fund</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how to manage risk</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how to measure</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Investing in R&amp;D allows a company to…   💬 One way to manage the risk is to…   💬 We would measure success by…</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allow sb to do sth。manage the risk = 管理风险。measure success by… 说明衡量方式。</a:t>
            </a:r>
          </a:p>
        </p:txBody>
      </p:sp>
    </p:spTree>
  </p:cSld>
  <p:clrMapOvr>
    <a:masterClrMapping/>
  </p:clrMapOvr>
  <p:transition spd="med">
    <p:fade/>
  </p:transition>
</p:sld>
</file>

<file path=ppt/slides/slide3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Betting on the Future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126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53 Research and Development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Research and development is a bet on the future. Companies spend money today on ideas that may or may not become profitable products. Without it, firms risk falling behind competitors who offer something new. R&amp;D can take several forms: basic research, which explores new knowledge; applied research, which solves specific problems; and development, which turns ideas into prototypes and products. Because many projects fail, smart organisations manage a portfolio, funding several ideas at once and stopping those that show little promise. They also protect valuable ideas with patents, and they build a culture where employees are allowed to experiment and fail safely. Measuring results is not easy; patents filed, new products launched and revenue from recent innovations are common indicators, though none gives the full picture.</a:t>
            </a:r>
          </a:p>
        </p:txBody>
      </p:sp>
    </p:spTree>
  </p:cSld>
  <p:clrMapOvr>
    <a:masterClrMapping/>
  </p:clrMapOvr>
  <p:transition spd="med">
    <p:fade/>
  </p:transition>
</p:sld>
</file>

<file path=ppt/slides/slide3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53 Research and Development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is R&amp;D described as a bet?</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Because it spends money now on ideas that may or may not become profitable.</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are the three forms of R&amp;D mentioned?</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Basic research, applied research and development.</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Why manage a portfolio of projects?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Because many projects fail, so funding several at once and stopping weak ones reduces risk.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Research and innovation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53 Research and Development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研发与创新</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R&amp;D (research and development)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研发</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spend 10% of revenue on R&amp;D.”</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prototype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原型</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prototype works well.”</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patent</a:t>
            </a:r>
          </a:p>
          <a:p>
            <a:pPr algn="l">
              <a:lnSpc>
                <a:spcPct val="115000"/>
              </a:lnSpc>
              <a:spcAft>
                <a:spcPts val="800"/>
              </a:spcAft>
            </a:pPr>
            <a:r>
              <a:rPr sz="1300" b="0">
                <a:solidFill>
                  <a:srgbClr val="5F677A"/>
                </a:solidFill>
                <a:latin typeface="Arial"/>
                <a:ea typeface="Microsoft YaHei"/>
              </a:rPr>
              <a:t>noun / verb</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专利 / 申请专利</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patented the design.”</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breakthrough</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突破</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breakthrough in battery technology.”</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pilot</a:t>
            </a:r>
          </a:p>
          <a:p>
            <a:pPr algn="l">
              <a:lnSpc>
                <a:spcPct val="115000"/>
              </a:lnSpc>
              <a:spcAft>
                <a:spcPts val="800"/>
              </a:spcAft>
            </a:pPr>
            <a:r>
              <a:rPr sz="1300" b="0">
                <a:solidFill>
                  <a:srgbClr val="5F677A"/>
                </a:solidFill>
                <a:latin typeface="Arial"/>
                <a:ea typeface="Microsoft YaHei"/>
              </a:rPr>
              <a:t>noun / 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试点</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piloted the product in Spain.”</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innovation</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创新</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“Innovation drives growth.”</a:t>
            </a:r>
          </a:p>
        </p:txBody>
      </p:sp>
    </p:spTree>
  </p:cSld>
  <p:clrMapOvr>
    <a:masterClrMapping/>
  </p:clrMapOvr>
  <p:transition spd="med">
    <p:fade/>
  </p:transition>
</p:sld>
</file>

<file path=ppt/slides/slide3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Managing innovation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53 Research and Development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管理创新</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cutting-edge</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前沿的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lab uses cutting-edge technology.”</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back to the drawing board</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重新设计</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test failed, so it’s back to the drawing board.”</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bring to market</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推向市场</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took five years to bring the product to market.”</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think outside the box</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跳出常规思考</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encourage staff to think outside the box.”</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fail fast</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快速试错</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“Fail fast and learn.”</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intellectual property</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知识产权</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protect our intellectual property.”</a:t>
            </a:r>
          </a:p>
        </p:txBody>
      </p:sp>
    </p:spTree>
  </p:cSld>
  <p:clrMapOvr>
    <a:masterClrMapping/>
  </p:clrMapOvr>
  <p:transition spd="med">
    <p:fade/>
  </p:transition>
</p:sld>
</file>

<file path=ppt/slides/slide3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53 Research and Development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专利 / 申请专利</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patent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重新设计</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back to the drawing board</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创新</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innovation</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原型</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prototype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突破</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breakthrough</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前沿的</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cutting-edge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试点</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pilot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知识产权</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intellectual property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53 Research and Development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69494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R&amp;D</a:t>
            </a:r>
          </a:p>
        </p:txBody>
      </p:sp>
      <p:sp>
        <p:nvSpPr>
          <p:cNvPr id="10" name="Rounded Rectangle 9"/>
          <p:cNvSpPr/>
          <p:nvPr/>
        </p:nvSpPr>
        <p:spPr>
          <a:xfrm>
            <a:off x="2798064" y="987552"/>
            <a:ext cx="135331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prototype</a:t>
            </a:r>
          </a:p>
        </p:txBody>
      </p:sp>
      <p:sp>
        <p:nvSpPr>
          <p:cNvPr id="11" name="Rounded Rectangle 10"/>
          <p:cNvSpPr/>
          <p:nvPr/>
        </p:nvSpPr>
        <p:spPr>
          <a:xfrm>
            <a:off x="4242816" y="987552"/>
            <a:ext cx="102412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patent</a:t>
            </a:r>
          </a:p>
        </p:txBody>
      </p:sp>
      <p:sp>
        <p:nvSpPr>
          <p:cNvPr id="12" name="Rounded Rectangle 11"/>
          <p:cNvSpPr/>
          <p:nvPr/>
        </p:nvSpPr>
        <p:spPr>
          <a:xfrm>
            <a:off x="5358384" y="987552"/>
            <a:ext cx="1682495"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breakthrough</a:t>
            </a:r>
          </a:p>
        </p:txBody>
      </p:sp>
      <p:sp>
        <p:nvSpPr>
          <p:cNvPr id="13" name="Rounded Rectangle 12"/>
          <p:cNvSpPr/>
          <p:nvPr/>
        </p:nvSpPr>
        <p:spPr>
          <a:xfrm>
            <a:off x="7132319" y="987552"/>
            <a:ext cx="91440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pilot</a:t>
            </a:r>
          </a:p>
        </p:txBody>
      </p:sp>
      <p:sp>
        <p:nvSpPr>
          <p:cNvPr id="14" name="Rounded Rectangle 13"/>
          <p:cNvSpPr/>
          <p:nvPr/>
        </p:nvSpPr>
        <p:spPr>
          <a:xfrm>
            <a:off x="8138159" y="987552"/>
            <a:ext cx="267004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intellectual property</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The company invests heavily in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R&amp;D</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 engineers built a working _______ in three months.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prototype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They filed a _______ to protect the new design.</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patent</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Researchers announced a major _______ in battery technology.</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breakthrough</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We will _______ the product in two cities first.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pilot</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Copying our software violates our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intellectual property</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research (uncountable: “some research”, “a piece of research”), innovation, prototype (not “protoype”). Carry out / conduct research (not “do researches”). Come up with an idea. Invent a thing, innovate a way. Invest in (not “invest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Role Play · Pitching an R&amp;D investment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53 Research and Development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提出研发投入方案</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ask your director to approve a six-month research project on a new product feature.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Mia Ho, product developer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Grant, director</a:t>
            </a:r>
          </a:p>
        </p:txBody>
      </p:sp>
    </p:spTree>
  </p:cSld>
  <p:clrMapOvr>
    <a:masterClrMapping/>
  </p:clrMapOvr>
  <p:transition spd="med">
    <p:fade/>
  </p:transition>
</p:sld>
</file>

<file path=ppt/slides/slide3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Pitching an R&amp;D investment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53 Research and Development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Mia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Mr Grant, thanks for your time. I’d like to propose a six-month research project on a smart-sensor feature.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Grant</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Tell me more. What’s the opportunity?</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Customers keep asking for better monitoring, and two competitors are already working on it.</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would it cost?</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About eighty thousand pounds, mainly for engineers and testing equipment.</a:t>
            </a:r>
          </a:p>
        </p:txBody>
      </p:sp>
    </p:spTree>
  </p:cSld>
  <p:clrMapOvr>
    <a:masterClrMapping/>
  </p:clrMapOvr>
  <p:transition spd="med">
    <p:fade/>
  </p:transition>
</p:sld>
</file>

<file path=ppt/slides/slide3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Pitching an R&amp;D investment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53 Research and Development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significant. What if it doesn’t work?</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One way to manage the risk is to fund it in stages. After three months we review results and decide whether to continue.</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the upside?</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If it works, it could add around ten per cent to sales, and we could patent the design.</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would you measure success?</a:t>
            </a:r>
          </a:p>
        </p:txBody>
      </p:sp>
    </p:spTree>
  </p:cSld>
  <p:clrMapOvr>
    <a:masterClrMapping/>
  </p:clrMapOvr>
  <p:transition spd="med">
    <p:fade/>
  </p:transition>
</p:sld>
</file>

<file path=ppt/slides/slide3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Pitching an R&amp;D investment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53 Research and Development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By prototype performance, customer interest in the pilot and the patent application.</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All right. I’m in favour of the staged approach. Send me a short proposal.</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You’ll have it by Wednesday.</a:t>
            </a:r>
          </a:p>
        </p:txBody>
      </p:sp>
    </p:spTree>
  </p:cSld>
  <p:clrMapOvr>
    <a:masterClrMapping/>
  </p:clrMapOvr>
  <p:transition spd="med">
    <p:fade/>
  </p:transition>
</p:sld>
</file>

<file path=ppt/slides/slide3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Your Turn · Pitching an R&amp;D investment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53 Research and Development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pitch an R&amp;D investment.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Developer. Idea: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Director. Ask about cost, risk and return.</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invest in · prototype · fund in stages · patent · pilot · measure success</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the opportunity, cost, risk and measurement.</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Mr Grant says: “Our budget is frozen.” Suggest a smaller start.</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prototype fails. Explain what you will do.</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Describe a recent innovation at your company or in your field.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53 Research and Development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is R&amp;D important for competitiveness?</a:t>
            </a:r>
          </a:p>
          <a:p>
            <a:pPr algn="l">
              <a:lnSpc>
                <a:spcPct val="115000"/>
              </a:lnSpc>
              <a:spcAft>
                <a:spcPts val="800"/>
              </a:spcAft>
            </a:pPr>
            <a:r>
              <a:rPr sz="1400" b="0">
                <a:solidFill>
                  <a:srgbClr val="5F677A"/>
                </a:solidFill>
                <a:latin typeface="Arial"/>
                <a:ea typeface="Microsoft YaHei"/>
              </a:rPr>
              <a:t>💬 “R&amp;D allows companies to… / Without it…”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What’s the difference between invention and innovation?</a:t>
            </a:r>
          </a:p>
          <a:p>
            <a:pPr algn="l">
              <a:lnSpc>
                <a:spcPct val="115000"/>
              </a:lnSpc>
              <a:spcAft>
                <a:spcPts val="800"/>
              </a:spcAft>
            </a:pPr>
            <a:r>
              <a:rPr sz="1400" b="0">
                <a:solidFill>
                  <a:srgbClr val="5F677A"/>
                </a:solidFill>
                <a:latin typeface="Arial"/>
                <a:ea typeface="Microsoft YaHei"/>
              </a:rPr>
              <a:t>💬 “An invention is… whereas innovation is…”</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governments fund R&amp;D?</a:t>
            </a:r>
          </a:p>
          <a:p>
            <a:pPr algn="l">
              <a:lnSpc>
                <a:spcPct val="115000"/>
              </a:lnSpc>
              <a:spcAft>
                <a:spcPts val="800"/>
              </a:spcAft>
            </a:pPr>
            <a:r>
              <a:rPr sz="1400" b="0">
                <a:solidFill>
                  <a:srgbClr val="5F677A"/>
                </a:solidFill>
                <a:latin typeface="Arial"/>
                <a:ea typeface="Microsoft YaHei"/>
              </a:rPr>
              <a:t>💬 “I think they should, because… / There’s a risk that…”</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employees be encouraged to innovate?</a:t>
            </a:r>
          </a:p>
          <a:p>
            <a:pPr algn="l">
              <a:lnSpc>
                <a:spcPct val="115000"/>
              </a:lnSpc>
              <a:spcAft>
                <a:spcPts val="800"/>
              </a:spcAft>
            </a:pPr>
            <a:r>
              <a:rPr sz="1400" b="0">
                <a:solidFill>
                  <a:srgbClr val="5F677A"/>
                </a:solidFill>
                <a:latin typeface="Arial"/>
                <a:ea typeface="Microsoft YaHei"/>
              </a:rPr>
              <a:t>💬 “By giving them time to… / Recognising…”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53 Research and Development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An invention is a new idea or device, while innovation is the process of turning it into something useful that people actually adopt. Many inventions never become products because nobody finds a way to make them practical, affordable or attractive. Innovation also includes new ways of working or serving customers, not only technology. So I’d say innovation is about creating value, not just creating something new.</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adopt = 采用。affordable = 价格合理的。”creating value” = 创造价值。”not just…” = 不仅仅……。</a:t>
            </a:r>
          </a:p>
        </p:txBody>
      </p:sp>
    </p:spTree>
  </p:cSld>
  <p:clrMapOvr>
    <a:masterClrMapping/>
  </p:clrMapOvr>
  <p:transition spd="med">
    <p:fade/>
  </p:transition>
</p:sld>
</file>

<file path=ppt/slides/slide3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53 Research and Development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93827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We research new things.</a:t>
                      </a:r>
                    </a:p>
                  </a:txBody>
                  <a:tcPr anchor="ctr">
                    <a:solidFill>
                      <a:srgbClr val="FFFFFF"/>
                    </a:solidFill>
                  </a:tcPr>
                </a:tc>
                <a:tc>
                  <a:txBody>
                    <a:bodyPr wrap="square"/>
                    <a:lstStyle/>
                    <a:p>
                      <a:r>
                        <a:rPr sz="1600" b="0">
                          <a:solidFill>
                            <a:srgbClr val="1F2A44"/>
                          </a:solidFill>
                          <a:latin typeface="Arial"/>
                          <a:ea typeface="Microsoft YaHei"/>
                        </a:rPr>
                        <a:t>We carry out research into new materials.</a:t>
                      </a:r>
                    </a:p>
                  </a:txBody>
                  <a:tcPr anchor="ctr">
                    <a:solidFill>
                      <a:srgbClr val="FFFFFF"/>
                    </a:solidFill>
                  </a:tcPr>
                </a:tc>
                <a:tc>
                  <a:txBody>
                    <a:bodyPr wrap="square"/>
                    <a:lstStyle/>
                    <a:p>
                      <a:r>
                        <a:rPr sz="1600" b="0">
                          <a:solidFill>
                            <a:srgbClr val="FF6B5B"/>
                          </a:solidFill>
                          <a:latin typeface="Arial"/>
                          <a:ea typeface="Microsoft YaHei"/>
                        </a:rPr>
                        <a:t>搭配</a:t>
                      </a:r>
                    </a:p>
                  </a:txBody>
                  <a:tcPr anchor="ctr">
                    <a:solidFill>
                      <a:srgbClr val="FFFFFF"/>
                    </a:solidFill>
                  </a:tcPr>
                </a:tc>
              </a:tr>
              <a:tr h="408432">
                <a:tc>
                  <a:txBody>
                    <a:bodyPr wrap="square"/>
                    <a:lstStyle/>
                    <a:p>
                      <a:r>
                        <a:rPr sz="1600" b="1">
                          <a:solidFill>
                            <a:srgbClr val="1F2A44"/>
                          </a:solidFill>
                          <a:latin typeface="Arial"/>
                          <a:ea typeface="Microsoft YaHei"/>
                        </a:rPr>
                        <a:t>We make a new product.</a:t>
                      </a:r>
                    </a:p>
                  </a:txBody>
                  <a:tcPr anchor="ctr">
                    <a:solidFill>
                      <a:srgbClr val="FFEFD9"/>
                    </a:solidFill>
                  </a:tcPr>
                </a:tc>
                <a:tc>
                  <a:txBody>
                    <a:bodyPr wrap="square"/>
                    <a:lstStyle/>
                    <a:p>
                      <a:r>
                        <a:rPr sz="1600" b="0">
                          <a:solidFill>
                            <a:srgbClr val="1F2A44"/>
                          </a:solidFill>
                          <a:latin typeface="Arial"/>
                          <a:ea typeface="Microsoft YaHei"/>
                        </a:rPr>
                        <a:t>We’re developing a new product.</a:t>
                      </a:r>
                    </a:p>
                  </a:txBody>
                  <a:tcPr anchor="ctr">
                    <a:solidFill>
                      <a:srgbClr val="FFEFD9"/>
                    </a:solidFill>
                  </a:tcPr>
                </a:tc>
                <a:tc>
                  <a:txBody>
                    <a:bodyPr wrap="square"/>
                    <a:lstStyle/>
                    <a:p>
                      <a:r>
                        <a:rPr sz="1600" b="0">
                          <a:solidFill>
                            <a:srgbClr val="FF6B5B"/>
                          </a:solidFill>
                          <a:latin typeface="Arial"/>
                          <a:ea typeface="Microsoft YaHei"/>
                        </a:rPr>
                        <a:t>持续动作</a:t>
                      </a:r>
                    </a:p>
                  </a:txBody>
                  <a:tcPr anchor="ctr">
                    <a:solidFill>
                      <a:srgbClr val="FFEFD9"/>
                    </a:solidFill>
                  </a:tcPr>
                </a:tc>
              </a:tr>
              <a:tr h="408432">
                <a:tc>
                  <a:txBody>
                    <a:bodyPr wrap="square"/>
                    <a:lstStyle/>
                    <a:p>
                      <a:r>
                        <a:rPr sz="1600" b="1">
                          <a:solidFill>
                            <a:srgbClr val="1F2A44"/>
                          </a:solidFill>
                          <a:latin typeface="Arial"/>
                          <a:ea typeface="Microsoft YaHei"/>
                        </a:rPr>
                        <a:t>It is a new idea.</a:t>
                      </a:r>
                    </a:p>
                  </a:txBody>
                  <a:tcPr anchor="ctr">
                    <a:solidFill>
                      <a:srgbClr val="FFFFFF"/>
                    </a:solidFill>
                  </a:tcPr>
                </a:tc>
                <a:tc>
                  <a:txBody>
                    <a:bodyPr wrap="square"/>
                    <a:lstStyle/>
                    <a:p>
                      <a:r>
                        <a:rPr sz="1600" b="0">
                          <a:solidFill>
                            <a:srgbClr val="1F2A44"/>
                          </a:solidFill>
                          <a:latin typeface="Arial"/>
                          <a:ea typeface="Microsoft YaHei"/>
                        </a:rPr>
                        <a:t>It’s a real breakthrough.</a:t>
                      </a:r>
                    </a:p>
                  </a:txBody>
                  <a:tcPr anchor="ctr">
                    <a:solidFill>
                      <a:srgbClr val="FFFFFF"/>
                    </a:solidFill>
                  </a:tcPr>
                </a:tc>
                <a:tc>
                  <a:txBody>
                    <a:bodyPr wrap="square"/>
                    <a:lstStyle/>
                    <a:p>
                      <a:r>
                        <a:rPr sz="1600" b="0">
                          <a:solidFill>
                            <a:srgbClr val="FF6B5B"/>
                          </a:solidFill>
                          <a:latin typeface="Arial"/>
                          <a:ea typeface="Microsoft YaHei"/>
                        </a:rPr>
                        <a:t>强调</a:t>
                      </a:r>
                    </a:p>
                  </a:txBody>
                  <a:tcPr anchor="ctr">
                    <a:solidFill>
                      <a:srgbClr val="FFFFFF"/>
                    </a:solidFill>
                  </a:tcPr>
                </a:tc>
              </a:tr>
              <a:tr h="408432">
                <a:tc>
                  <a:txBody>
                    <a:bodyPr wrap="square"/>
                    <a:lstStyle/>
                    <a:p>
                      <a:r>
                        <a:rPr sz="1600" b="1">
                          <a:solidFill>
                            <a:srgbClr val="1F2A44"/>
                          </a:solidFill>
                          <a:latin typeface="Arial"/>
                          <a:ea typeface="Microsoft YaHei"/>
                        </a:rPr>
                        <a:t>We will test it small.</a:t>
                      </a:r>
                    </a:p>
                  </a:txBody>
                  <a:tcPr anchor="ctr">
                    <a:solidFill>
                      <a:srgbClr val="FFEFD9"/>
                    </a:solidFill>
                  </a:tcPr>
                </a:tc>
                <a:tc>
                  <a:txBody>
                    <a:bodyPr wrap="square"/>
                    <a:lstStyle/>
                    <a:p>
                      <a:r>
                        <a:rPr sz="1600" b="0">
                          <a:solidFill>
                            <a:srgbClr val="1F2A44"/>
                          </a:solidFill>
                          <a:latin typeface="Arial"/>
                          <a:ea typeface="Microsoft YaHei"/>
                        </a:rPr>
                        <a:t>We’ll run a pilot first.</a:t>
                      </a:r>
                    </a:p>
                  </a:txBody>
                  <a:tcPr anchor="ctr">
                    <a:solidFill>
                      <a:srgbClr val="FFEFD9"/>
                    </a:solidFill>
                  </a:tcPr>
                </a:tc>
                <a:tc>
                  <a:txBody>
                    <a:bodyPr wrap="square"/>
                    <a:lstStyle/>
                    <a:p>
                      <a:r>
                        <a:rPr sz="1600" b="0">
                          <a:solidFill>
                            <a:srgbClr val="FF6B5B"/>
                          </a:solidFill>
                          <a:latin typeface="Arial"/>
                          <a:ea typeface="Microsoft YaHei"/>
                        </a:rPr>
                        <a:t>术语</a:t>
                      </a:r>
                    </a:p>
                  </a:txBody>
                  <a:tcPr anchor="ctr">
                    <a:solidFill>
                      <a:srgbClr val="FFEFD9"/>
                    </a:solidFill>
                  </a:tcPr>
                </a:tc>
              </a:tr>
              <a:tr h="652272">
                <a:tc>
                  <a:txBody>
                    <a:bodyPr wrap="square"/>
                    <a:lstStyle/>
                    <a:p>
                      <a:r>
                        <a:rPr sz="1600" b="1">
                          <a:solidFill>
                            <a:srgbClr val="1F2A44"/>
                          </a:solidFill>
                          <a:latin typeface="Arial"/>
                          <a:ea typeface="Microsoft YaHei"/>
                        </a:rPr>
                        <a:t>We must protect idea.</a:t>
                      </a:r>
                    </a:p>
                  </a:txBody>
                  <a:tcPr anchor="ctr">
                    <a:solidFill>
                      <a:srgbClr val="FFFFFF"/>
                    </a:solidFill>
                  </a:tcPr>
                </a:tc>
                <a:tc>
                  <a:txBody>
                    <a:bodyPr wrap="square"/>
                    <a:lstStyle/>
                    <a:p>
                      <a:r>
                        <a:rPr sz="1600" b="0">
                          <a:solidFill>
                            <a:srgbClr val="1F2A44"/>
                          </a:solidFill>
                          <a:latin typeface="Arial"/>
                          <a:ea typeface="Microsoft YaHei"/>
                        </a:rPr>
                        <a:t>We must protect our intellectual property.</a:t>
                      </a:r>
                    </a:p>
                  </a:txBody>
                  <a:tcPr anchor="ctr">
                    <a:solidFill>
                      <a:srgbClr val="FFFFFF"/>
                    </a:solidFill>
                  </a:tcPr>
                </a:tc>
                <a:tc>
                  <a:txBody>
                    <a:bodyPr wrap="square"/>
                    <a:lstStyle/>
                    <a:p>
                      <a:r>
                        <a:rPr sz="1600" b="0">
                          <a:solidFill>
                            <a:srgbClr val="FF6B5B"/>
                          </a:solidFill>
                          <a:latin typeface="Arial"/>
                          <a:ea typeface="Microsoft YaHei"/>
                        </a:rPr>
                        <a:t>术语</a:t>
                      </a:r>
                    </a:p>
                  </a:txBody>
                  <a:tcPr anchor="ctr">
                    <a:solidFill>
                      <a:srgbClr val="FFFFFF"/>
                    </a:solidFill>
                  </a:tcPr>
                </a:tc>
              </a:tr>
            </a:tbl>
          </a:graphicData>
        </a:graphic>
      </p:graphicFrame>
    </p:spTree>
  </p:cSld>
  <p:clrMapOvr>
    <a:masterClrMapping/>
  </p:clrMapOvr>
  <p:transition spd="med">
    <p:fade/>
  </p:transition>
</p:sld>
</file>

<file path=ppt/slides/slide3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53 Research and Development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Present perfect continuous: </a:t>
            </a:r>
            <a:r>
              <a:rPr sz="1700" b="0">
                <a:solidFill>
                  <a:srgbClr val="1F2A44"/>
                </a:solidFill>
                <a:latin typeface="Arial"/>
                <a:ea typeface="Microsoft YaHei"/>
              </a:rPr>
              <a:t>“We’ve been working on this for six months.” (action in progress)</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Result and purpose clauses: </a:t>
            </a:r>
            <a:r>
              <a:rPr sz="1700" b="0">
                <a:solidFill>
                  <a:srgbClr val="1F2A44"/>
                </a:solidFill>
                <a:latin typeface="Arial"/>
                <a:ea typeface="Microsoft YaHei"/>
              </a:rPr>
              <a:t>so that, in order to, so as to.</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Quantifiers with uncountable nouns: </a:t>
            </a:r>
            <a:r>
              <a:rPr sz="1700" b="0">
                <a:solidFill>
                  <a:srgbClr val="1F2A44"/>
                </a:solidFill>
                <a:latin typeface="Arial"/>
                <a:ea typeface="Microsoft YaHei"/>
              </a:rPr>
              <a:t>a lot of research, much funding, little progress.</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Future possibility: </a:t>
            </a:r>
            <a:r>
              <a:rPr sz="1700" b="0">
                <a:solidFill>
                  <a:srgbClr val="1F2A44"/>
                </a:solidFill>
                <a:latin typeface="Arial"/>
                <a:ea typeface="Microsoft YaHei"/>
              </a:rPr>
              <a:t>might / could / may + base verb: “It could add ten per cent to sales.”</a:t>
            </a:r>
          </a:p>
        </p:txBody>
      </p:sp>
    </p:spTree>
  </p:cSld>
  <p:clrMapOvr>
    <a:masterClrMapping/>
  </p:clrMapOvr>
  <p:transition spd="med">
    <p:fade/>
  </p:transition>
</p:sld>
</file>

<file path=ppt/slides/slide3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53 Research and Development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do many researches.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do a lot of research.</a:t>
            </a:r>
          </a:p>
          <a:p>
            <a:pPr algn="l">
              <a:spcAft>
                <a:spcPts val="200"/>
              </a:spcAft>
            </a:pPr>
            <a:r>
              <a:rPr sz="1200" b="0">
                <a:solidFill>
                  <a:srgbClr val="FFFFFF"/>
                </a:solidFill>
                <a:latin typeface="Arial"/>
                <a:ea typeface="Microsoft YaHei"/>
              </a:rPr>
              <a:t>research 不可数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companies invests in R&amp;D.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company invests in R&amp;D.</a:t>
            </a:r>
          </a:p>
          <a:p>
            <a:pPr algn="l">
              <a:spcAft>
                <a:spcPts val="200"/>
              </a:spcAft>
            </a:pPr>
            <a:r>
              <a:rPr sz="1200" b="0">
                <a:solidFill>
                  <a:srgbClr val="FFFFFF"/>
                </a:solidFill>
                <a:latin typeface="Arial"/>
                <a:ea typeface="Microsoft YaHei"/>
              </a:rPr>
              <a:t>主谓一致</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is researching about AI.</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She is researching AI. / She is doing research on AI.</a:t>
            </a:r>
          </a:p>
          <a:p>
            <a:pPr algn="l">
              <a:spcAft>
                <a:spcPts val="200"/>
              </a:spcAft>
            </a:pPr>
            <a:r>
              <a:rPr sz="1200" b="0">
                <a:solidFill>
                  <a:srgbClr val="FFFFFF"/>
                </a:solidFill>
                <a:latin typeface="Arial"/>
                <a:ea typeface="Microsoft YaHei"/>
              </a:rPr>
              <a:t>research 后无 about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53 Research and Development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make a patent.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file a patent.</a:t>
            </a:r>
          </a:p>
          <a:p>
            <a:pPr algn="l">
              <a:spcAft>
                <a:spcPts val="200"/>
              </a:spcAft>
            </a:pPr>
            <a:r>
              <a:rPr sz="1200" b="0">
                <a:solidFill>
                  <a:srgbClr val="FFFFFF"/>
                </a:solidFill>
                <a:latin typeface="Arial"/>
                <a:ea typeface="Microsoft YaHei"/>
              </a:rPr>
              <a:t>file a patent</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a very innovate idea.</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a very innovative idea.</a:t>
            </a:r>
          </a:p>
          <a:p>
            <a:pPr algn="l">
              <a:spcAft>
                <a:spcPts val="200"/>
              </a:spcAft>
            </a:pPr>
            <a:r>
              <a:rPr sz="1200" b="0">
                <a:solidFill>
                  <a:srgbClr val="FFFFFF"/>
                </a:solidFill>
                <a:latin typeface="Arial"/>
                <a:ea typeface="Microsoft YaHei"/>
              </a:rPr>
              <a:t>形容词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R&amp;D spend are growing.</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R&amp;D spending is growing.</a:t>
            </a:r>
          </a:p>
          <a:p>
            <a:pPr algn="l">
              <a:spcAft>
                <a:spcPts val="200"/>
              </a:spcAft>
            </a:pPr>
            <a:r>
              <a:rPr sz="1200" b="0">
                <a:solidFill>
                  <a:srgbClr val="FFFFFF"/>
                </a:solidFill>
                <a:latin typeface="Arial"/>
                <a:ea typeface="Microsoft YaHei"/>
              </a:rPr>
              <a:t>动词一致</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uncountable research, adjective innovative and subject-verb agreement.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53 Research and Development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R&amp;D culture: </a:t>
            </a:r>
            <a:r>
              <a:rPr sz="1700" b="0">
                <a:solidFill>
                  <a:srgbClr val="1F2A44"/>
                </a:solidFill>
                <a:latin typeface="Arial"/>
                <a:ea typeface="Microsoft YaHei"/>
              </a:rPr>
              <a:t>Some companies tolerate failure as part of innovation; others punish it. Ask how your employer treats it.</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Patents: </a:t>
            </a:r>
            <a:r>
              <a:rPr sz="1700" b="0">
                <a:solidFill>
                  <a:srgbClr val="1F2A44"/>
                </a:solidFill>
                <a:latin typeface="Arial"/>
                <a:ea typeface="Microsoft YaHei"/>
              </a:rPr>
              <a:t>Patents are national or regional, with different rules. Get legal advice before disclosing ideas.</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1">
                <a:solidFill>
                  <a:srgbClr val="3CC49A"/>
                </a:solidFill>
                <a:latin typeface="Arial"/>
                <a:ea typeface="Microsoft YaHei"/>
              </a:rPr>
              <a:t>Collaboration: </a:t>
            </a:r>
            <a:r>
              <a:rPr sz="1700" b="0">
                <a:solidFill>
                  <a:srgbClr val="1F2A44"/>
                </a:solidFill>
                <a:latin typeface="Arial"/>
                <a:ea typeface="Microsoft YaHei"/>
              </a:rPr>
              <a:t>Companies often partner with universities for research.</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research 不可数,所以说 a lot of research / some research。research 后可接 on / into,不要加 about(research about 不常用)。innovative(形)/ innovation(名)/ innovate(动)。</a:t>
            </a:r>
          </a:p>
        </p:txBody>
      </p:sp>
    </p:spTree>
  </p:cSld>
  <p:clrMapOvr>
    <a:masterClrMapping/>
  </p:clrMapOvr>
  <p:transition spd="med">
    <p:fade/>
  </p:transition>
</p:sld>
</file>

<file path=ppt/slides/slide3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53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53 Research and Development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pitch an R&amp;D investment, covering cost, risk and measurement.</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the difference between invention and innovation.</a:t>
            </a:r>
          </a:p>
        </p:txBody>
      </p:sp>
      <p:sp>
        <p:nvSpPr>
          <p:cNvPr id="16" name="TextBox 15"/>
          <p:cNvSpPr txBox="1"/>
          <p:nvPr/>
        </p:nvSpPr>
        <p:spPr>
          <a:xfrm>
            <a:off x="9539935" y="24109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quantifiers with uncountable nouns.</a:t>
            </a:r>
          </a:p>
        </p:txBody>
      </p:sp>
      <p:sp>
        <p:nvSpPr>
          <p:cNvPr id="20" name="TextBox 19"/>
          <p:cNvSpPr txBox="1"/>
          <p:nvPr/>
        </p:nvSpPr>
        <p:spPr>
          <a:xfrm>
            <a:off x="9539935" y="30083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6057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6057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research (uncountable) and innovative correctly.</a:t>
            </a:r>
          </a:p>
        </p:txBody>
      </p:sp>
      <p:sp>
        <p:nvSpPr>
          <p:cNvPr id="24" name="TextBox 23"/>
          <p:cNvSpPr txBox="1"/>
          <p:nvPr/>
        </p:nvSpPr>
        <p:spPr>
          <a:xfrm>
            <a:off x="9539935" y="36057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3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 · Lesson 53 Research and Development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uncountable research, adjective forms (innovative), and future possibility modals.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3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38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383</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问题</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issue / problem</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384</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38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385</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跟上</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keep up with</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386</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38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387</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It was a big mistake of us.</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It was a big mistake on our part.</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388</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38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389</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training budget</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The training budget is limited.</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390</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搭便车者</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free rider</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391</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root cause</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What’s the root cause?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“优势”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strengths</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“签字确认”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sign-off</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“事无巨细地管”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micromanage</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Please do it before of Friday.</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Please do it before Friday. / by Friday.</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We use the waterfall way.</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 use the waterfall approach.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3.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5</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393</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39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5</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394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5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