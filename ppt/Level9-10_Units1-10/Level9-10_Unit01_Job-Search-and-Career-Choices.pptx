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Mid-to-Advanced Level 9-10</a:t>
            </a:r>
          </a:p>
          <a:p>
            <a:r>
              <a:t>Unit 1: Job Search and Career Choices — Self-Study Workbook (Lessons 01–09)</a:t>
            </a:r>
          </a:p>
          <a:p/>
          <a:p>
            <a:r>
              <a:t>开场：简单介绍本单元的主题和要完成的 9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01 · Writing a Resume 写简历</a:t>
            </a:r>
          </a:p>
          <a:p>
            <a:r>
              <a:t>Goal: write and talk about a sharp, results-focused resume: strong action verbs, numbers, and a version tailored to the job.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题问过去的事,用过去式(updated, added, cut)。第 3、5 题可以用 “I’d say…” 或 “It depends on…” 来表达观点。resume(美)和 CV(英)基本同义。</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Walk me through your resume in one minute.</a:t>
            </a:r>
          </a:p>
          <a:p>
            <a:r>
              <a:t>Say: your current role → one achievement with a number → skills that match the job → the role you want next</a:t>
            </a:r>
          </a:p>
          <a:p>
            <a:r>
              <a:t>Useful starters: “My most recent role was…” / “One thing I’m proud of is…, which led to…” / “I’m now looking for a role where I can…”</a:t>
            </a:r>
          </a:p>
          <a:p>
            <a:r>
              <a:t>一分钟约 120 词。用具体数字(by 20%, within six months)比 “very good” 更有说服力。说“已经完成的成果”要用过去式。</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Recruiters often say that they spend only a few seconds on a first look at a resume. Whether or not the exact number is true, the lesson is clear: your key message has to jump off the page. Start with a short profile of two or three lines that says who you are and what you offer. Then list your jobs in reverse chronological order, with the most recent first. Under each job, avoid copying your job description. Instead, write two or three bullet points that start with a strong verb and end with a result, such as “Cut delivery times by 15% by redesigning the packing process.” Numbers help, but only if they are honest, because a hiring manager may ask you about them in the interview. Finally, tailor the document. If the advert asks for “stakeholder management”, use that phrase, as long as it is true of you. Then proofread it twice, because a single typo can undo hours of good work.</a:t>
            </a:r>
          </a:p>
          <a:p>
            <a:r>
              <a:t>reverse chronological order = 倒序排列(最近的经历在前)。proofread = 校对。先听,抓关键词:profile, verb, result, tailor。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should the profile at the top of a resume do?</a:t>
            </a:r>
          </a:p>
          <a:p>
            <a:r>
              <a:t>A: It should say, in two or three lines, who you are and what you offer.</a:t>
            </a:r>
          </a:p>
          <a:p>
            <a:r>
              <a:t>Q2. How should each bullet point under a job be built?</a:t>
            </a:r>
          </a:p>
          <a:p>
            <a:r>
              <a:t>A: It should start with a strong verb and end with a result, ideally with a number.</a:t>
            </a:r>
          </a:p>
          <a:p>
            <a:r>
              <a:t>Q3. Why must the numbers on a resume be honest?</a:t>
            </a:r>
          </a:p>
          <a:p>
            <a:r>
              <a:t>A: Because the hiring manager may ask you about them in the interview.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Resume basics 简历基础</a:t>
            </a:r>
          </a:p>
          <a:p>
            <a:r>
              <a:t>领读 → 学员跟读 → 请学员用表达造一个和自己工作相关的句子。</a:t>
            </a:r>
          </a:p>
          <a:p>
            <a:r>
              <a:t>resume (US) / CV (UK) (noun) 简历 — “Please send your resume and a short cover letter by Friday.”</a:t>
            </a:r>
          </a:p>
          <a:p>
            <a:r>
              <a:t>profile / summary (noun) 个人简介(简历开头) — “Keep your profile to three lines at most.”</a:t>
            </a:r>
          </a:p>
          <a:p>
            <a:r>
              <a:t>work experience (noun (uncountable)) 工作经历 — “List your work experience with the most recent job first.”</a:t>
            </a:r>
          </a:p>
          <a:p>
            <a:r>
              <a:t>achievement (noun) 业绩,成就 — “Hiring managers want achievements, not just a list of duties.”</a:t>
            </a:r>
          </a:p>
          <a:p>
            <a:r>
              <a:t>be responsible for + -ing / noun (phrase) 负责… — “I was responsible for managing a team of six.”</a:t>
            </a:r>
          </a:p>
          <a:p>
            <a:r>
              <a:t>qualification (noun) 资历,资格证书 — “Do I need a formal qualification for this role?”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Selling your experience ★ 展示业绩</a:t>
            </a:r>
          </a:p>
          <a:p>
            <a:r>
              <a:t>领读 → 学员跟读 → 请学员用表达造一个和自己工作相关的句子。</a:t>
            </a:r>
          </a:p>
          <a:p>
            <a:r>
              <a:t>★ tailor X to Y (collocation) 针对 Y 定制 X — “I tailor my resume to every job advert.”</a:t>
            </a:r>
          </a:p>
          <a:p>
            <a:r>
              <a:t>★ spearhead (verb) 带头推进 — “I spearheaded a campaign that grew our followers by 40%.”</a:t>
            </a:r>
          </a:p>
          <a:p>
            <a:r>
              <a:t>★ streamline (verb) 精简,优化(流程) — “I streamlined the invoicing process and saved two days a month.”</a:t>
            </a:r>
          </a:p>
          <a:p>
            <a:r>
              <a:t>★ a track record of + -ing (phrase) …的良好业绩记录 — “She has a strong track record of meeting deadlines.”</a:t>
            </a:r>
          </a:p>
          <a:p>
            <a:r>
              <a:t>★ stand out from the crowd (idiom) 脱颖而出 — “A clear layout helps your resume stand out from the crowd.”</a:t>
            </a:r>
          </a:p>
          <a:p>
            <a:r>
              <a:t>★ transferable skills (collocation) 可迁移技能 — “Teaching gave me transferable skills in presenting and planning.”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profile / tailor / streamlined / achievements / responsible / track record</a:t>
            </a:r>
          </a:p>
          <a:p>
            <a:r>
              <a:t>1. Don’t just list your duties. Highlight your _______. → achievements</a:t>
            </a:r>
          </a:p>
          <a:p>
            <a:r>
              <a:t>2. I always _______ my resume to the job advert. → tailor</a:t>
            </a:r>
          </a:p>
          <a:p>
            <a:r>
              <a:t>3. In my last job I _______ the ordering process and cut delays by half. → streamlined</a:t>
            </a:r>
          </a:p>
          <a:p>
            <a:r>
              <a:t>4. She has a strong _______ of meeting deadlines. → track record</a:t>
            </a:r>
          </a:p>
          <a:p>
            <a:r>
              <a:t>5. I was _______ for managing a budget of $2 million. → responsible</a:t>
            </a:r>
          </a:p>
          <a:p>
            <a:r>
              <a:t>6. The _______ at the top of your resume should be no more than three lines. → profile</a:t>
            </a:r>
          </a:p>
          <a:p>
            <a:r>
              <a:t>Mistake Watch (拼写与搭配): achievement (not “achivement”), responsible (not “responsable”), resume / résumé (both are fine). Say “responsible for“, not “responsible of”.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 review with a career coach 与职业顾问修改简历</a:t>
            </a:r>
          </a:p>
          <a:p>
            <a:r>
              <a:t>情景：You ask a career coach, Hannah, to review your resume before you apply for a marketing manager job.</a:t>
            </a:r>
          </a:p>
          <a:p>
            <a:r>
              <a:t>Role A: Li Wei, marketing specialist (you) Role B: Hannah Cole, career coach</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Thanks for seeing me, Hannah. I’m applying for a marketing manager role, and I’d really appreciate your feedback on my resume.</a:t>
            </a:r>
          </a:p>
          <a:p>
            <a:r>
              <a:t>B (Hannah): Happy to help. My first impression: it’s nicely laid out, but it runs to two and a half pages. Can we get it down to two?</a:t>
            </a:r>
          </a:p>
          <a:p>
            <a:r>
              <a:t>A: I could probably cut the early jobs. Do you think that’s a good idea?</a:t>
            </a:r>
          </a:p>
          <a:p>
            <a:r>
              <a:t>B: Definitely. Nobody needs the details of your summer job from 2012. Now, look at this bullet: “Responsible for social media.” What did you actually achieve?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Well, I spearheaded a campaign that grew our followers by 40% in six months.</a:t>
            </a:r>
          </a:p>
          <a:p>
            <a:r>
              <a:t>B: That’s exactly what belongs on the page. Start with the verb and end with the result.</a:t>
            </a:r>
          </a:p>
          <a:p>
            <a:r>
              <a:t>A: So: “Spearheaded a social media campaign that grew followers by 40% in six months.”</a:t>
            </a:r>
          </a:p>
          <a:p>
            <a:r>
              <a:t>B: Perfect. Your profile is a bit generic, though. “Hard-working team player” could describe anyone.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Fair point. How about “Marketing specialist with a track record of turning small budgets into measurable growth”?</a:t>
            </a:r>
          </a:p>
          <a:p>
            <a:r>
              <a:t>B: Much better. Finally, tailor the keywords to the job advert, and ask someone to proofread it for typos.</a:t>
            </a:r>
          </a:p>
          <a:p>
            <a:r>
              <a:t>A: Will do. Could I send you the revised version on Monday?</a:t>
            </a:r>
          </a:p>
          <a:p>
            <a:r>
              <a:t>B: Of course. Send it over and I’ll take another look.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01 | </a:t>
            </a:r>
          </a:p>
          <a:p>
            <a:r>
              <a:t>Situation | A candidate asks a career coach to review a resume.</a:t>
            </a:r>
          </a:p>
          <a:p>
            <a:r>
              <a:t>Your role (A) | Candidate. Your job and the job you want: ______________</a:t>
            </a:r>
          </a:p>
          <a:p>
            <a:r>
              <a:t>Partner’s role (B) | Career coach. Gives honest, specific feedback.</a:t>
            </a:r>
          </a:p>
          <a:p>
            <a:r>
              <a:t>Must use (4 or more) | responsible for · achievement · track record · tailor · spearhead · stand out from the crowd</a:t>
            </a:r>
          </a:p>
          <a:p>
            <a:r>
              <a:t>Goal | Explain one weak bullet point and rewrite it as “verb + result”.</a:t>
            </a:r>
          </a:p>
          <a:p>
            <a:r>
              <a:t>My notes | ____________________________________________</a:t>
            </a:r>
          </a:p>
          <a:p>
            <a:r>
              <a:t>The coach is blunt: “To be honest, this reads like a job description.” Respond politely and ask for an example of a better bullet point.</a:t>
            </a:r>
          </a:p>
          <a:p>
            <a:r>
              <a:t>You are changing industries. Explain two transferable skills and ask: “How can I make them visible?”</a:t>
            </a:r>
          </a:p>
          <a:p>
            <a:r>
              <a:t>Do it as a video call. Share your screen and talk through your three biggest changes in 60 seconds.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Should a resume include a photo, age or marital status? Why or why not? | “In my country it is common to… but in the UK or US…” / “I would leave it out because it could lead to…”</a:t>
            </a:r>
          </a:p>
          <a:p>
            <a:r>
              <a:t>2. How honest should you be about gaps in your work history? | “It’s tempting to…, but I think it’s better to be upfront because…”</a:t>
            </a:r>
          </a:p>
          <a:p>
            <a:r>
              <a:t>3. Is a resume still the best way to show what you can do? What else helps (portfolio, LinkedIn, referrals)? | “A resume is useful for…, but a portfolio shows…”</a:t>
            </a:r>
          </a:p>
          <a:p>
            <a:r>
              <a:t>4. How do you decide what to cut when your resume is too long? | “I’d cut… because it’s less relevant to…” / “I’d keep… as it shows…”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“It’s tempting to hide a gap, but I think it’s better to be upfront. If you left to study or to look after family, say so in one line and then move on to what you learned. Employers usually care less about the gap itself than about how you explain it. If you try to hide it, it can look as if you have something to cover up. I would also add a recent course or freelance project to show that I stayed active.”</a:t>
            </a:r>
          </a:p>
          <a:p>
            <a:r>
              <a:t>be upfront about… = 坦率说明…。”It’s tempting to…, but…” 是 B2 常用的让步结构。career gap = 职业空档期。注意 “look as if you have…” 后面用陈述句。</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did a lot of social media. | Managed social media across three platforms and grew followers by 40%. | 用“动词 + 结果”代替空泛描述</a:t>
            </a:r>
          </a:p>
          <a:p>
            <a:r>
              <a:t>I’m good with people. | Strong interpersonal and stakeholder-management skills. | 简历中的强项表述</a:t>
            </a:r>
          </a:p>
          <a:p>
            <a:r>
              <a:t>I was in charge of a team. | Led a team of six. | 简洁有力,省略 I</a:t>
            </a:r>
          </a:p>
          <a:p>
            <a:r>
              <a:t>I worked with Sales to make things better. | Collaborated with Sales to streamline lead handling. | 具体说明做了什么</a:t>
            </a:r>
          </a:p>
          <a:p>
            <a:r>
              <a:t>I left because I wanted something new. | Left to pursue a new challenge with greater responsibility. | 离职原因的得体说法</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Resumes use the past tense for finished jobs (“Managed”, “Launched”) and the present tense for your current job (“Manage”, “Lead”). Most people leave out “I”.</a:t>
            </a:r>
          </a:p>
          <a:p>
            <a:r>
              <a:t>Use parallel structure: every bullet starts with a verb in the same form.</a:t>
            </a:r>
          </a:p>
          <a:p>
            <a:r>
              <a:t>Add numbers and a timeframe: “by 40%”, “within six months”, “a team of six”.</a:t>
            </a:r>
          </a:p>
          <a:p>
            <a:r>
              <a:t>Prepositions: a degree in marketing · responsible for the budget · experience in sales · familiar with Excel · increase sales by 20%.</a:t>
            </a:r>
          </a:p>
          <a:p>
            <a:r>
              <a:t>Resume vs CV: in the US a resume is short (one or two pages); in the UK “CV” is the normal word for the same document.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3 years experience.  →  ✓ I have three years’ experience. / I have three years of experience.  (年限 + of / ‘s)</a:t>
            </a:r>
          </a:p>
          <a:p>
            <a:r>
              <a:t>✗ I am responsible of the budget.  →  ✓ I’m responsible for the budget.  (responsible for)</a:t>
            </a:r>
          </a:p>
          <a:p>
            <a:r>
              <a:t>✗ I have a lot of experiences in sales.  →  ✓ I have a lot of experience in sales.  (experience(工作经验)不可数)</a:t>
            </a:r>
          </a:p>
          <a:p>
            <a:r>
              <a:t>✗ I was graduated from Fudan University.  →  ✓ I graduated from Fudan University.  (graduate 不用被动)</a:t>
            </a:r>
          </a:p>
          <a:p>
            <a:r>
              <a:t>Mistake Watch: Check every bullet for tense (past for finished jobs), the preposition after increase / responsible / familiar, and never write experiences for work experience.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Increased sales to 20%.  →  ✓ Increased sales by 20%.  (by 表示增幅,to 表示增长后的数值)</a:t>
            </a:r>
          </a:p>
          <a:p>
            <a:r>
              <a:t>✗ I am familiar to Excel.  →  ✓ I’m familiar with Excel.  (familiar with)</a:t>
            </a:r>
          </a:p>
          <a:p>
            <a:r>
              <a:t>✗ My strengths are team spirit and hard-working.  →  ✓ My strengths are teamwork and a strong work ethic.  (and 后面词性要一致)</a:t>
            </a:r>
          </a:p>
          <a:p>
            <a:r>
              <a:t>Mistake Watch: Check every bullet for tense (past for finished jobs), the preposition after increase / responsible / familiar, and never write experiences for work experience.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Photo, age, marital status: common on resumes in China, but in the US, UK and Canada employers usually do not want them (anti-discrimination rules). Leave them out unless the advert asks.</a:t>
            </a:r>
          </a:p>
          <a:p>
            <a:r>
              <a:t>Length: one page is the US norm for early-career people; one to two pages is typical in the UK. Cut older and less relevant jobs.</a:t>
            </a:r>
          </a:p>
          <a:p>
            <a:r>
              <a:t>Tone: English resumes are factual and confident. Don’t write “I am hard-working and humble”. Show it with an achievement.</a:t>
            </a:r>
          </a:p>
          <a:p>
            <a:r>
              <a:t>Software screening: many large employers use an ATS (applicant tracking system). Use plain headings (Experience, Education, Skills) and the keywords from the advert.</a:t>
            </a:r>
          </a:p>
          <a:p>
            <a:r>
              <a:t>在英美,简历不放照片、年龄、婚姻状况,是为了避免歧视。ATS = 招聘筛选系统,所以要把招聘广告里的关键词自然地写进简历。</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my work with “verb + result” bullet points.</a:t>
            </a:r>
          </a:p>
          <a:p>
            <a:r>
              <a:t>I can talk through my background in one minute, with at least one number.</a:t>
            </a:r>
          </a:p>
          <a:p>
            <a:r>
              <a:t>I can tailor a resume to a job advert and explain my choices.</a:t>
            </a:r>
          </a:p>
          <a:p>
            <a:r>
              <a:t>I can give and receive feedback on a resume politely.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tense, prepositions (responsible for, increase by) and uncountable experience.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02 · Writing a Killer Cover Letter 如何撰写一份出色的求职信</a:t>
            </a:r>
          </a:p>
          <a:p>
            <a:r>
              <a:t>Goal: plan and discuss a cover letter that opens with a hook, links your experience to the job, and closes with a polite call to action.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题问过去的经历,用过去式。第 4 题表达观点时可以用 “I’d argue that…” 或 “It depends on…”。cover letter 在英国也叫 covering letter。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Pitch yourself for a job in one minute, as if you were reading your cover letter aloud.</a:t>
            </a:r>
          </a:p>
          <a:p>
            <a:r>
              <a:t>Say: why this company → what you offer → one short example → a polite call to action</a:t>
            </a:r>
          </a:p>
          <a:p>
            <a:r>
              <a:t>Useful starters: “I was excited to see your advert for…” / “What attracted me to… is…” / “I would welcome the chance to discuss…”</a:t>
            </a:r>
          </a:p>
          <a:p>
            <a:r>
              <a:t>开头要有“钩子”(hook),不要只写 “I am writing to apply for…”。结尾用 would 提出礼貌的下一步,语气比 “Please call me” 柔和得多。</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Many people treat a cover letter as a polite introduction to their resume. In fact, it is your best chance to speak directly to a real person. A good letter does three things. First, it opens with a hook, a sentence that shows you understand the company, instead of the standard line, “I am writing to apply for the position of…”. Second, it connects your experience to the employer’s needs. If the advert stresses customer loyalty, tell one short story about a time you won back an unhappy customer. Third, it ends with a clear but courteous call to action, such as offering to discuss your ideas in an interview. Keep it to one page, address it to a named person if you can, and read it aloud before you send it. If a sentence sounds stiff when you say it, it will probably sound stiff on paper, too.</a:t>
            </a:r>
          </a:p>
          <a:p>
            <a:r>
              <a:t>hook = 吸引读者的开头。call to action = 行动呼吁(请对方做什么)。stiff = 生硬的。最后一句是真实条件句:If…, it will…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According to the text, why is a cover letter valuable?</a:t>
            </a:r>
          </a:p>
          <a:p>
            <a:r>
              <a:t>A: It is your best chance to speak directly to a real person.</a:t>
            </a:r>
          </a:p>
          <a:p>
            <a:r>
              <a:t>Q2. What three things should a good letter do?</a:t>
            </a:r>
          </a:p>
          <a:p>
            <a:r>
              <a:t>A: Open with a hook, connect your experience to the employer’s needs, and end with a clear, polite call to action.</a:t>
            </a:r>
          </a:p>
          <a:p>
            <a:r>
              <a:t>Q3. What simple test does the writer suggest before sending?</a:t>
            </a:r>
          </a:p>
          <a:p>
            <a:r>
              <a:t>A: Read it aloud: if it sounds stiff, it will read as stiff on paper too.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Cover letter basics 求职信基础</a:t>
            </a:r>
          </a:p>
          <a:p>
            <a:r>
              <a:t>领读 → 学员跟读 → 请学员用表达造一个和自己工作相关的句子。</a:t>
            </a:r>
          </a:p>
          <a:p>
            <a:r>
              <a:t>cover letter (noun) 求职信 — “I attached a cover letter explaining why I’m a good fit for the role.”</a:t>
            </a:r>
          </a:p>
          <a:p>
            <a:r>
              <a:t>apply for a position (phrase) 申请职位 — “I’m writing to apply for the position of Project Coordinator.”</a:t>
            </a:r>
          </a:p>
          <a:p>
            <a:r>
              <a:t>reference (noun) 推荐人;推荐信 — “Two former managers have agreed to act as my references.”</a:t>
            </a:r>
          </a:p>
          <a:p>
            <a:r>
              <a:t>attach / enclose (verb) 随附(邮件用 attach,纸质信用 enclose) — “I have attached my resume for your consideration.”</a:t>
            </a:r>
          </a:p>
          <a:p>
            <a:r>
              <a:t>I would welcome the opportunity to… (phrase (formal)) 我期待有机会… — “I would welcome the opportunity to discuss my application in person.”</a:t>
            </a:r>
          </a:p>
          <a:p>
            <a:r>
              <a:t>Yours sincerely / Yours faithfully (phrase) 此致敬礼(知道 / 不知道收信人姓名) — “Use “Yours sincerely” when you know the person’s name.”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Making an impact ★ 给人留下印象</a:t>
            </a:r>
          </a:p>
          <a:p>
            <a:r>
              <a:t>领读 → 学员跟读 → 请学员用表达造一个和自己工作相关的句子。</a:t>
            </a:r>
          </a:p>
          <a:p>
            <a:r>
              <a:t>★ grab someone’s attention (collocation) 吸引某人注意 — “Open with a short story that grabs the reader’s attention.”</a:t>
            </a:r>
          </a:p>
          <a:p>
            <a:r>
              <a:t>★ be a good fit for (phrase) 与…很匹配 — “I believe I would be a good fit for your sales team.”</a:t>
            </a:r>
          </a:p>
          <a:p>
            <a:r>
              <a:t>★ bring something to the table (idiom) 能带来价值或技能 — “I’d like to explain what I could bring to the table.”</a:t>
            </a:r>
          </a:p>
          <a:p>
            <a:r>
              <a:t>★ draw on (phrasal verb) 借助(经验、知识) — “I can draw on five years of experience in retail.”</a:t>
            </a:r>
          </a:p>
          <a:p>
            <a:r>
              <a:t>★ come across as (phrasal verb) 给人…的印象 — “Don’t come across as arrogant. Let your results speak for themselves.”</a:t>
            </a:r>
          </a:p>
          <a:p>
            <a:r>
              <a:t>★ be keen to / keen on (adjective phrase) 渴望…;热衷于… — “I’m keen to contribute to your expansion into Asia.”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attached / references / fit / table / draw on / across</a:t>
            </a:r>
          </a:p>
          <a:p>
            <a:r>
              <a:t>1. I have _______ my resume to this email. → attached</a:t>
            </a:r>
          </a:p>
          <a:p>
            <a:r>
              <a:t>2. Two of my former managers have agreed to be my _______. → references</a:t>
            </a:r>
          </a:p>
          <a:p>
            <a:r>
              <a:t>3. I believe I would be a good _______ for your team. → fit</a:t>
            </a:r>
          </a:p>
          <a:p>
            <a:r>
              <a:t>4. I’d like to explain what I could bring to the _______. → table</a:t>
            </a:r>
          </a:p>
          <a:p>
            <a:r>
              <a:t>5. In this role, I can _______ five years of experience in customer service. → draw on</a:t>
            </a:r>
          </a:p>
          <a:p>
            <a:r>
              <a:t>6. Be confident, but don’t come _______ as arrogant. → across</a:t>
            </a:r>
          </a:p>
          <a:p>
            <a:r>
              <a:t>Mistake Watch (拼写与搭配): sincerely (not “sincerly”), enclose (not “inclose”). Say “a good fit for“, “apply for a position” but “apply to a company”. Email = attached, paper letter = enclosed.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Following up on an application by phone 电话跟进求职申请</a:t>
            </a:r>
          </a:p>
          <a:p>
            <a:r>
              <a:t>情景：A week after sending your cover letter and resume, you phone the HR coordinator to follow up. Be polite and brief.</a:t>
            </a:r>
          </a:p>
          <a:p>
            <a:r>
              <a:t>Role A: Jun Zhao, applicant (you) Role B: Sarah Mills, HR coordinator at Brightpath Logistics</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(Jun): Hello, Sarah. This is Jun Zhao. I applied last week for the Operations Analyst position. Is this a good time?</a:t>
            </a:r>
          </a:p>
          <a:p>
            <a:r>
              <a:t>B (Sarah): Hi, Jun. Yes, I’ve got a few minutes. I remember your application.</a:t>
            </a:r>
          </a:p>
          <a:p>
            <a:r>
              <a:t>A: Thank you. I just wanted to check that you received my cover letter and resume, and to say how keen I am on the role.</a:t>
            </a:r>
          </a:p>
          <a:p>
            <a:r>
              <a:t>B: We did, thanks. Your letter stood out, actually. The story about reorganising the warehouse was very clear.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I’m glad it came across well. I would welcome the chance to talk about how I could contribute to your team.</a:t>
            </a:r>
          </a:p>
          <a:p>
            <a:r>
              <a:t>B: We’re still shortlisting this week. Could you tell me when you’d be available for a first interview?</a:t>
            </a:r>
          </a:p>
          <a:p>
            <a:r>
              <a:t>A: I’m flexible. Any morning next week would work for me.</a:t>
            </a:r>
          </a:p>
          <a:p>
            <a:r>
              <a:t>B: Great. I’ll check with the hiring manager and email you some times by Wednesday.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 would be wonderful. Would you like me to send anything else, such as references?</a:t>
            </a:r>
          </a:p>
          <a:p>
            <a:r>
              <a:t>B: Not at this stage. We’ll ask for them later if we need them.</a:t>
            </a:r>
          </a:p>
          <a:p>
            <a:r>
              <a:t>A: Understood. Thank you for your time, Sarah. I look forward to hearing from you.</a:t>
            </a:r>
          </a:p>
          <a:p>
            <a:r>
              <a:t>B: You’re welcome, Jun. Speak soon.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02 | </a:t>
            </a:r>
          </a:p>
          <a:p>
            <a:r>
              <a:t>Situation | A candidate phones to follow up on an application.</a:t>
            </a:r>
          </a:p>
          <a:p>
            <a:r>
              <a:t>Your role (A) | Candidate. The job you applied for: ______________</a:t>
            </a:r>
          </a:p>
          <a:p>
            <a:r>
              <a:t>Partner’s role (B) | HR coordinator. Polite, but busy.</a:t>
            </a:r>
          </a:p>
          <a:p>
            <a:r>
              <a:t>Must use (4 or more) | follow up · keen · stand out · come across · I would welcome the opportunity · look forward to hearing</a:t>
            </a:r>
          </a:p>
          <a:p>
            <a:r>
              <a:t>Goal | Check they received your documents, show enthusiasm in one sentence, agree the next step.</a:t>
            </a:r>
          </a:p>
          <a:p>
            <a:r>
              <a:t>My notes | ____________________________________________</a:t>
            </a:r>
          </a:p>
          <a:p>
            <a:r>
              <a:t>Sarah says: “We’ve already shortlisted five people.” Stay positive and ask whether you could send a short work sample.</a:t>
            </a:r>
          </a:p>
          <a:p>
            <a:r>
              <a:t>You reach her voicemail. Leave a clear 20-second message.</a:t>
            </a:r>
          </a:p>
          <a:p>
            <a:r>
              <a:t>Follow up by email instead. Write three polite sentences (subject line included).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Should a cover letter be personal or professional? How personal can it be? | “I think a bit of personality helps because…” / “I’d keep it professional, but…”</a:t>
            </a:r>
          </a:p>
          <a:p>
            <a:r>
              <a:t>2. How long should you wait before following up on an application? | “I’d wait about… before…” / “If I haven’t heard back by…, I’d…”</a:t>
            </a:r>
          </a:p>
          <a:p>
            <a:r>
              <a:t>3. How can you show enthusiasm without sounding desperate? | “Rather than saying…, I’d mention a specific…” / “Enthusiasm backed up by facts…”</a:t>
            </a:r>
          </a:p>
          <a:p>
            <a:r>
              <a:t>4. Would you use AI to help write a cover letter? Where is the line between help and cheating? | “I’d use it to…, but I’d always…” / “It becomes a problem when…”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“Rather than saying “I’m extremely excited”, I would mention something specific about the company, such as a project I admire or a recent product launch. That shows I’ve done my homework. I would also explain one thing I could bring to the table. Enthusiasm that is backed up by facts sounds confident, while a lot of exclamation marks tends to sound desperate.”</a:t>
            </a:r>
          </a:p>
          <a:p>
            <a:r>
              <a:t>do your homework = 事先做足功课。”Rather than + -ing” = 而不是…。be backed up by = 有…作为支撑。注意 “a lot of exclamation marks tends to…” 在口语中也常见,但正式写作可用 “tend to”。</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I’m writing because I want the job. | I am writing to apply for the position of… | 求职信开头的标准句型</a:t>
            </a:r>
          </a:p>
          <a:p>
            <a:r>
              <a:t>I’m really interested in your company. | I was drawn to your company’s focus on sustainable logistics. | 用具体细节代替空话</a:t>
            </a:r>
          </a:p>
          <a:p>
            <a:r>
              <a:t>I think I’d be good at this job. | I believe my experience in… makes me a strong candidate. | I believe 让语气自信而不夸张</a:t>
            </a:r>
          </a:p>
          <a:p>
            <a:r>
              <a:t>Please call me. | I would welcome the opportunity to discuss my application further. | would 使请求更礼貌</a:t>
            </a:r>
          </a:p>
          <a:p>
            <a:r>
              <a:t>Thanks for reading. | Thank you for considering my application. | 结尾致谢</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Greeting and sign-off (UK): “Dear Ms Taylor” → “Yours sincerely”; “Dear Sir or Madam” → “Yours faithfully”. In the US, “Sincerely” works for both.</a:t>
            </a:r>
          </a:p>
          <a:p>
            <a:r>
              <a:t>Use would to sound polite and less pushy: “I would welcome…”, “I would be glad to…”.</a:t>
            </a:r>
          </a:p>
          <a:p>
            <a:r>
              <a:t>Four-paragraph plan: hook → fit → example → call to action.</a:t>
            </a:r>
          </a:p>
          <a:p>
            <a:r>
              <a:t>Avoid clichés such as “team player”, “hard-working”, “think outside the box”. Show these qualities with a short example.</a:t>
            </a:r>
          </a:p>
          <a:p>
            <a:r>
              <a:t>Use full forms (I am, I would) in a formal letter. Contractions are fine in friendly emails.</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writing for apply the position.  →  ✓ I’m writing to apply for the position.  (表示目的用 to + 动词原形)</a:t>
            </a:r>
          </a:p>
          <a:p>
            <a:r>
              <a:t>✗ I am very interesting in this job.  →  ✓ I’m very interested in this job.  (人用 interested,事物用 interesting)</a:t>
            </a:r>
          </a:p>
          <a:p>
            <a:r>
              <a:t>✗ Please give me a chance to showing my ability.  →  ✓ Please give me a chance to show my ability.  (chance to + 动词原形)</a:t>
            </a:r>
          </a:p>
          <a:p>
            <a:r>
              <a:t>Mistake Watch: Check look forward to + -ing, interested / interesting, and the prepositions apply for, contribute to.</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Hope to hear from you soon.  →  ✓ I look forward to hearing from you.  (look forward to + -ing,且句子要完整)</a:t>
            </a:r>
          </a:p>
          <a:p>
            <a:r>
              <a:t>✗ I will do my best to contribute for the company.  →  ✓ I will do my best to contribute to the company.  (contribute to)</a:t>
            </a:r>
          </a:p>
          <a:p>
            <a:r>
              <a:t>✗ Your company is very famous in the world.  →  ✓ Your company has an excellent reputation worldwide.  (reputation 比 famous 更地道)</a:t>
            </a:r>
          </a:p>
          <a:p>
            <a:r>
              <a:t>Mistake Watch: Check look forward to + -ing, interested / interesting, and the prepositions apply for, contribute to.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Name the reader. Checking the company website or LinkedIn for the hiring manager’s name shows initiative. “To Whom It May Concern” feels old-fashioned.</a:t>
            </a:r>
          </a:p>
          <a:p>
            <a:r>
              <a:t>Self-promotion is normal. In English-speaking workplaces it is fine to say what you did well, as long as you use facts and give the team credit where it is due: “I led a team of five that…”</a:t>
            </a:r>
          </a:p>
          <a:p>
            <a:r>
              <a:t>Length: one page, three or four short paragraphs, roughly 250–350 words. Match the design of your resume.</a:t>
            </a:r>
          </a:p>
          <a:p>
            <a:r>
              <a:t>Follow-up: One polite follow-up after 7–10 days is normal. Calling every day is not.</a:t>
            </a:r>
          </a:p>
          <a:p>
            <a:r>
              <a:t>英语求职信里用 “I” 完全正常,关键是用事实说明贡献。一次礼貌的跟进(follow-up)会显得你很有兴趣,但不要频繁催促。</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open a cover letter with a hook instead of a standard phrase.</a:t>
            </a:r>
          </a:p>
          <a:p>
            <a:r>
              <a:t>I can link one example from my experience to one job requirement.</a:t>
            </a:r>
          </a:p>
          <a:p>
            <a:r>
              <a:t>I can close with a polite call to action using would.</a:t>
            </a:r>
          </a:p>
          <a:p>
            <a:r>
              <a:t>I can follow up on an application by phone or email in a polite, brief way.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interested / interesting, look forward to + -ing and prepositions (apply for, contribute to).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03 · Seeing Red Flags 发现危险信号</a:t>
            </a:r>
          </a:p>
          <a:p>
            <a:r>
              <a:t>Goal: talk about warning signs in job adverts, interviews and workplaces, and raise concerns politely and diplomatically.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2 题讲过去,注意 realised 和 was 的时态搭配。red flag 原指赛场上的红旗,即“危险信号”。第 5 题可以用 “I’d like to understand…” 等委婉说法。</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three red flags you would look for before accepting a job, and what you would do about them.</a:t>
            </a:r>
          </a:p>
          <a:p>
            <a:r>
              <a:t>Say: red flag 1 → red flag 2 → red flag 3 → what you would do</a:t>
            </a:r>
          </a:p>
          <a:p>
            <a:r>
              <a:t>Useful starters: “One warning sign for me would be…” / “If I noticed…, I’d probably…” / “That would make me think twice about…”</a:t>
            </a:r>
          </a:p>
          <a:p>
            <a:r>
              <a:t>谈假设情况用 would(第二类条件句):If they couldn’t answer, I’d walk away。think twice = 再三考虑。</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Some warning signs are easy to spot, such as a vague job advert full of buzzwords but short on actual duties. Others only appear in the interview. If the interviewer keeps checking his phone, speaks badly about former employees, or can’t explain why the position is vacant, take note. Pay attention to the questions you are asked, too. “Can you work late at short notice?” is reasonable once in a while, but if it comes up three times, overtime may be a way of life. Then there is the way your own questions are received. A healthy employer is happy to talk about team size, training and how success is measured. If the answers are evasive, it’s worth asking yourself why. None of this means you should walk away at the first sign of trouble. No company is perfect, and some issues can be negotiated. But if several red flags appear together, it is wiser to trust your instincts than to hope things will improve.</a:t>
            </a:r>
          </a:p>
          <a:p>
            <a:r>
              <a:t>buzzword = 流行但空洞的词。evasive = 回避的、含糊其辞的。a way of life = 常态。”it’s worth asking yourself why” = 值得想一想原因。</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one warning sign in a job advert?</a:t>
            </a:r>
          </a:p>
          <a:p>
            <a:r>
              <a:t>A: A vague advert full of buzzwords with few details about the actual duties.</a:t>
            </a:r>
          </a:p>
          <a:p>
            <a:r>
              <a:t>Q2. What might repeated questions about working late suggest?</a:t>
            </a:r>
          </a:p>
          <a:p>
            <a:r>
              <a:t>A: That overtime may be a way of life at the company.</a:t>
            </a:r>
          </a:p>
          <a:p>
            <a:r>
              <a:t>Q3. When does the writer say you should be more worried?</a:t>
            </a:r>
          </a:p>
          <a:p>
            <a:r>
              <a:t>A: When several red flags appear together.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Warning signs 危险信号</a:t>
            </a:r>
          </a:p>
          <a:p>
            <a:r>
              <a:t>领读 → 学员跟读 → 请学员用表达造一个和自己工作相关的句子。</a:t>
            </a:r>
          </a:p>
          <a:p>
            <a:r>
              <a:t>red flag (noun) 危险信号 — “A long list of vague responsibilities is a red flag.”</a:t>
            </a:r>
          </a:p>
          <a:p>
            <a:r>
              <a:t>high turnover (noun phrase) 高离职率,人员流动大 — “The role has opened three times this year, which suggests high turnover.”</a:t>
            </a:r>
          </a:p>
          <a:p>
            <a:r>
              <a:t>vague (adjective) 含糊的 — “The job description was vague about the salary.”</a:t>
            </a:r>
          </a:p>
          <a:p>
            <a:r>
              <a:t>workload (noun) 工作量 — “Ask how the workload is shared across the team.”</a:t>
            </a:r>
          </a:p>
          <a:p>
            <a:r>
              <a:t>unrealistic expectations (noun phrase) 不切实际的期望 — “The manager has unrealistic expectations: he wants the full report by tomorrow morning.”</a:t>
            </a:r>
          </a:p>
          <a:p>
            <a:r>
              <a:t>probation period (noun phrase) 试用期 — “The probation period is three months.”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Reading the situation ★ 判断形势</a:t>
            </a:r>
          </a:p>
          <a:p>
            <a:r>
              <a:t>领读 → 学员跟读 → 请学员用表达造一个和自己工作相关的句子。</a:t>
            </a:r>
          </a:p>
          <a:p>
            <a:r>
              <a:t>★ raise concerns about (collocation) 就…提出顾虑 — “I raised concerns about the lack of a clear career path.”</a:t>
            </a:r>
          </a:p>
          <a:p>
            <a:r>
              <a:t>★ read between the lines (idiom) 看出言外之意 — “Reading between the lines, they want one person to do two jobs.”</a:t>
            </a:r>
          </a:p>
          <a:p>
            <a:r>
              <a:t>★ ring alarm bells (idiom) 敲响警钟 — “His refusal to name a salary range rang alarm bells.”</a:t>
            </a:r>
          </a:p>
          <a:p>
            <a:r>
              <a:t>★ think twice about (phrase) 慎重考虑 — “I’d think twice about joining a company with that reputation.”</a:t>
            </a:r>
          </a:p>
          <a:p>
            <a:r>
              <a:t>★ turn out to be (phrasal verb) 结果是,原来是 — “The flexible hours turned out to mean being available at weekends.”</a:t>
            </a:r>
          </a:p>
          <a:p>
            <a:r>
              <a:t>★ go with your gut (idiom) 凭直觉行事 — “In the end, I went with my gut and declined the offer.”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vague / turnover / raised / alarm bells / between the lines / gut</a:t>
            </a:r>
          </a:p>
          <a:p>
            <a:r>
              <a:t>1. The job description was _______ about the salary and the duties. → vague</a:t>
            </a:r>
          </a:p>
          <a:p>
            <a:r>
              <a:t>2. High staff _______ is often a sign of a poor working culture. → turnover</a:t>
            </a:r>
          </a:p>
          <a:p>
            <a:r>
              <a:t>3. I _______ concerns about the workload in the interview. → raised</a:t>
            </a:r>
          </a:p>
          <a:p>
            <a:r>
              <a:t>4. When the manager avoided every question, it rang _______. → alarm bells</a:t>
            </a:r>
          </a:p>
          <a:p>
            <a:r>
              <a:t>5. Reading _______, they want one person to do two jobs. → between the lines</a:t>
            </a:r>
          </a:p>
          <a:p>
            <a:r>
              <a:t>6. In the end I went with my _______ and turned the job down. → gut</a:t>
            </a:r>
          </a:p>
          <a:p>
            <a:r>
              <a:t>Mistake Watch (拼写与搭配): turnover (one word), probation (not “probition”), unrealistic (not “unrealstic”). It is always ring alarm bells (plural), and raise concerns (not “rise concerns”).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Asking tough questions at an interview 面试中提出敏感问题</a:t>
            </a:r>
          </a:p>
          <a:p>
            <a:r>
              <a:t>情景：In the final interview you notice two red flags: the last three people in the role all left within a year, and nobody mentions training. You decide to ask about it politely.</a:t>
            </a:r>
          </a:p>
          <a:p>
            <a:r>
              <a:t>Role A: Wen Tao, candidate (you) Role B: Mark Dawson, department head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(Wen): Thank you, Mark. Before we finish, may I ask a couple of questions about the role?</a:t>
            </a:r>
          </a:p>
          <a:p>
            <a:r>
              <a:t>B (Mark): Of course. Go ahead.</a:t>
            </a:r>
          </a:p>
          <a:p>
            <a:r>
              <a:t>A: I noticed that this position has been advertised a few times. Could you tell me a bit about why it keeps opening up?</a:t>
            </a:r>
          </a:p>
          <a:p>
            <a:r>
              <a:t>B: That’s a fair question. Two people moved abroad, and one found the workload heavier than expected.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see. How is the workload shared across the team at the moment?</a:t>
            </a:r>
          </a:p>
          <a:p>
            <a:r>
              <a:t>B: We’ve been short-staffed, to be honest. That’s why we’re hiring two people this time.</a:t>
            </a:r>
          </a:p>
          <a:p>
            <a:r>
              <a:t>A: That’s good to know. And what kind of training would I get in the first three months?</a:t>
            </a:r>
          </a:p>
          <a:p>
            <a:r>
              <a:t>B: We’re still developing the onboarding programme, but you’d work closely with Priya, our senior analyst.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Understood. I’d also like to understand how success is measured in the first year.</a:t>
            </a:r>
          </a:p>
          <a:p>
            <a:r>
              <a:t>B: Good question. We look at the accuracy of reporting and how well you work with other teams. I can send you the details.</a:t>
            </a:r>
          </a:p>
          <a:p>
            <a:r>
              <a:t>A: Thank you. That would help me decide whether it’s the right fit for both of us.</a:t>
            </a:r>
          </a:p>
          <a:p>
            <a:r>
              <a:t>B: Absolutely. We want it to be the right fit, too.</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03 | </a:t>
            </a:r>
          </a:p>
          <a:p>
            <a:r>
              <a:t>Situation | A candidate asks tough questions about a role.</a:t>
            </a:r>
          </a:p>
          <a:p>
            <a:r>
              <a:t>Your role (A) | Candidate. The job: ______________</a:t>
            </a:r>
          </a:p>
          <a:p>
            <a:r>
              <a:t>Partner’s role (B) | Hiring manager. Honest, but a little defensive.</a:t>
            </a:r>
          </a:p>
          <a:p>
            <a:r>
              <a:t>Must use (4 or more) | raise concerns · high turnover · workload · I’d like to understand · read between the lines · fit</a:t>
            </a:r>
          </a:p>
          <a:p>
            <a:r>
              <a:t>Goal | Ask about turnover, workload and training without sounding rude.</a:t>
            </a:r>
          </a:p>
          <a:p>
            <a:r>
              <a:t>My notes | ____________________________________________</a:t>
            </a:r>
          </a:p>
          <a:p>
            <a:r>
              <a:t>The manager gets defensive: “Are you saying we’re badly managed?” Calm things down: “Not at all. I just want to be sure I can do a good job.”</a:t>
            </a:r>
          </a:p>
          <a:p>
            <a:r>
              <a:t>You receive an offer with a vague job title. Ask politely for a written job description.</a:t>
            </a:r>
          </a:p>
          <a:p>
            <a:r>
              <a:t>Decide: would you take the job? Give your reasons using “On balance, I’d…”.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Which red flags would make you walk away immediately, and which could you live with? | “A deal-breaker for me would be…” / “I could live with… as long as…”</a:t>
            </a:r>
          </a:p>
          <a:p>
            <a:r>
              <a:t>2. Is it rude to ask about salary, overtime or turnover in an interview? | “It depends on how you ask. I’d say…” / “If you phrase it carefully, …”</a:t>
            </a:r>
          </a:p>
          <a:p>
            <a:r>
              <a:t>3. Have you ever ignored a red flag? What happened? | “Looking back, I should have…” / “I ignored… because…”</a:t>
            </a:r>
          </a:p>
          <a:p>
            <a:r>
              <a:t>4. Can online employer reviews be trusted? How do you research a company? | “I usually check…, but I take reviews with a pinch of salt because…”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“Looking back, I should have paid more attention to the signs. In my second job, the manager spoke badly about everyone who had left, but I told myself it was just a bad week. Within six months I understood why people left: the workload was impossible and nobody ever said thank you. If I had gone with my gut, I would have asked more questions or turned the offer down.”</a:t>
            </a:r>
          </a:p>
          <a:p>
            <a:r>
              <a:t>should have + 过去分词 = 本该(没做)。第三条件句:If I had + 过去分词, I would have + 过去分词,用来假设过去。take… with a pinch of salt = 对…持保留态度。</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This job looks bad. | I have some reservations about this role. | 委婉表达保留意见</a:t>
            </a:r>
          </a:p>
          <a:p>
            <a:r>
              <a:t>Why do people keep leaving? | Could you tell me a bit about staff turnover on the team? | 把尖锐问题说得礼貌</a:t>
            </a:r>
          </a:p>
          <a:p>
            <a:r>
              <a:t>You expect too much from me. | I’m concerned that the workload may be unrealistic. | 说出顾虑,不指责对方</a:t>
            </a:r>
          </a:p>
          <a:p>
            <a:r>
              <a:t>I don’t trust them. | Something doesn’t quite add up. | 含蓄的怀疑</a:t>
            </a:r>
          </a:p>
          <a:p>
            <a:r>
              <a:t>I’ll give you my answer later. | Could I have a few days to think it over? | 争取考虑时间</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Softening questions: “Could you tell me…?”, “I’d like to understand…”, “I was wondering whether…” are more polite than direct questions.</a:t>
            </a:r>
          </a:p>
          <a:p>
            <a:r>
              <a:t>Second conditional for imaginary situations: “If they couldn’t answer, I’d walk away.”</a:t>
            </a:r>
          </a:p>
          <a:p>
            <a:r>
              <a:t>Third conditional for the past: “If I’d gone with my gut, I wouldn’t have taken the job.”</a:t>
            </a:r>
          </a:p>
          <a:p>
            <a:r>
              <a:t>Hedging with seems, might, a bit: “The workload seems a bit heavy.” This sounds careful, not negative.</a:t>
            </a:r>
          </a:p>
          <a:p>
            <a:r>
              <a:t>Red flag is countable: one red flag, three red flags. A deal-breaker is a point that makes you refuse the whole deal.</a:t>
            </a:r>
          </a:p>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If I will see many red flags, I will refuse.  →  ✓ If I see many red flags, I’ll refuse.  (if 从句里不用 will)</a:t>
            </a:r>
          </a:p>
          <a:p>
            <a:r>
              <a:t>✗ If I was you, I would ask.  →  ✓ If I were you, I’d ask.  (虚拟语气常用 were)</a:t>
            </a:r>
          </a:p>
          <a:p>
            <a:r>
              <a:t>✗ I regret to accept the job.  →  ✓ I regret accepting the job.  (regret + -ing = 后悔做过)</a:t>
            </a:r>
          </a:p>
          <a:p>
            <a:r>
              <a:t>Mistake Watch: In if-clauses we do not use will: If I see…, I’ll… Check regret + -ing and were after If 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makes me to worry.  →  ✓ It worries me. / It makes me worried.  (make + 宾语 + 形容词/动词原形)</a:t>
            </a:r>
          </a:p>
          <a:p>
            <a:r>
              <a:t>✗ The salary is too low to live.  →  ✓ The salary is too low to live on.  (live on 靠…生活)</a:t>
            </a:r>
          </a:p>
          <a:p>
            <a:r>
              <a:t>✗ I have a doubt about this.  →  ✓ I have doubts about this.  (表示“疑虑”多用复数 doubts)</a:t>
            </a:r>
          </a:p>
          <a:p>
            <a:r>
              <a:t>Mistake Watch: In if-clauses we do not use will: If I see…, I’ll… Check regret + -ing and were after If I.</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Direct questions are welcome. In the UK and US, asking about team size, training and how success is measured shows you take the job seriously. The tone matters more than the topic.</a:t>
            </a:r>
          </a:p>
          <a:p>
            <a:r>
              <a:t>Pay talk: In many US companies asking about the salary range early is normal, and some US states and cities even require pay ranges in job adverts. In China it is often discussed later, so check local practice.</a:t>
            </a:r>
          </a:p>
          <a:p>
            <a:r>
              <a:t>Employer review sites such as Glassdoor show employees’ opinions. Read many reviews, not one, and treat extreme reviews with care.</a:t>
            </a:r>
          </a:p>
          <a:p>
            <a:r>
              <a:t>Leaving early is not seen as shameful in English-speaking countries, but have a calm one-sentence explanation ready.</a:t>
            </a:r>
          </a:p>
          <a:p>
            <a:r>
              <a:t>在英语面试里,礼貌地追问团队规模、培训、考核方式,被视为认真,不算冒犯。关键是语气:用 Could you tell me…? 而不是 Why…?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name three red flags in a job advert, an interview and a workplace.</a:t>
            </a:r>
          </a:p>
          <a:p>
            <a:r>
              <a:t>I can raise a concern politely using softening phrases.</a:t>
            </a:r>
          </a:p>
          <a:p>
            <a:r>
              <a:t>I can use the second and third conditional to talk about imaginary and past situations.</a:t>
            </a:r>
          </a:p>
          <a:p>
            <a:r>
              <a:t>I can explain a decision to walk away or to accept, giving reasons.</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if-clauses (no will), regret + -ing and prepositions (live on, concerns about).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04 · The Unemployment Club 失业者俱乐部</a:t>
            </a:r>
          </a:p>
          <a:p>
            <a:r>
              <a:t>Goal: talk about being out of work: redundancy, job-hunting routines, networking, support, and how to stay positive and professional.</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2 题用第二条件句:If I lost my job, I would…。stigma = 污名、耻辱感。第 3 题可以用 “should” 表达建议。</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advice to a friend who has just been made redundant.</a:t>
            </a:r>
          </a:p>
          <a:p>
            <a:r>
              <a:t>Say: first steps → daily routine → networking → looking after yourself</a:t>
            </a:r>
          </a:p>
          <a:p>
            <a:r>
              <a:t>Useful starters: “The first thing I’d do is…” / “It’s worth…” / “Try not to… but do…”</a:t>
            </a:r>
          </a:p>
          <a:p>
            <a:r>
              <a:t>给建议常用:I’d suggest + -ing / It might help to + 动词原形 / Why don’t you…? 注意 be made redundant 是被动,不是主动。</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Nobody plans to join the unemployment club, but many people end up there at some point. A company restructures, a project is cancelled, and a department is suddenly “no longer required”. The first reaction is usually shock, followed by worry about money. Experts often advise people to treat the job search as a job in itself: set regular hours, make a weekly plan and track every application. They also recommend telling friends and former colleagues early. Many roles are filled through personal contacts before they are ever advertised. At the same time, rejection is hard to take, so it helps to build routines that have nothing to do with job hunting, such as exercise, volunteering or learning a new skill. Some people are surprised to discover that the period between jobs gives them space to rethink their direction. It’s rarely a pleasant time, but it doesn’t have to be a wasted one.</a:t>
            </a:r>
          </a:p>
          <a:p>
            <a:r>
              <a:t>restructure = 重组。”no longer required” 是常见的裁员委婉说法。”hard to take” = 难以接受。It’s rarely… but it doesn’t have to be… 是平衡的表达方式。</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the first reaction to losing a job, according to the text?</a:t>
            </a:r>
          </a:p>
          <a:p>
            <a:r>
              <a:t>A: Shock, followed by worry about money.</a:t>
            </a:r>
          </a:p>
          <a:p>
            <a:r>
              <a:t>Q2. Why should you tell friends and former colleagues early?</a:t>
            </a:r>
          </a:p>
          <a:p>
            <a:r>
              <a:t>A: Many jobs are filled through personal contacts before they are advertised.</a:t>
            </a:r>
          </a:p>
          <a:p>
            <a:r>
              <a:t>Q3. What positive side can a period between jobs have?</a:t>
            </a:r>
          </a:p>
          <a:p>
            <a:r>
              <a:t>A: It can give people space to rethink their direction.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Losing a job and looking for work 失业与求职</a:t>
            </a:r>
          </a:p>
          <a:p>
            <a:r>
              <a:t>领读 → 学员跟读 → 请学员用表达造一个和自己工作相关的句子。</a:t>
            </a:r>
          </a:p>
          <a:p>
            <a:r>
              <a:t>be made redundant (phrase) 被裁员(英式) — “Around 200 people were made redundant when the factory closed.”</a:t>
            </a:r>
          </a:p>
          <a:p>
            <a:r>
              <a:t>lay off (phrasal verb) 裁员(美式) — “The company laid off 10% of its staff last quarter.”</a:t>
            </a:r>
          </a:p>
          <a:p>
            <a:r>
              <a:t>severance pay (noun) 遣散费 — “She received three months’ severance pay.”</a:t>
            </a:r>
          </a:p>
          <a:p>
            <a:r>
              <a:t>unemployment benefit (noun) 失业救济金 — “He lived on unemployment benefit for six months.”</a:t>
            </a:r>
          </a:p>
          <a:p>
            <a:r>
              <a:t>job seeker (noun) 求职者 — “Job seekers should update their profiles every few weeks.”</a:t>
            </a:r>
          </a:p>
          <a:p>
            <a:r>
              <a:t>networking (noun (uncountable)) 人脉拓展 — “Most of my interviews came through networking.”</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Coping and moving forward ★ 应对与前进</a:t>
            </a:r>
          </a:p>
          <a:p>
            <a:r>
              <a:t>领读 → 学员跟读 → 请学员用表达造一个和自己工作相关的句子。</a:t>
            </a:r>
          </a:p>
          <a:p>
            <a:r>
              <a:t>★ between jobs (euphemism) 待业中(委婉说法) — “I’m between jobs at the moment, so I have time for a course.”</a:t>
            </a:r>
          </a:p>
          <a:p>
            <a:r>
              <a:t>★ get back on your feet (idiom) 重新站稳脚跟 — “It took her a year to get back on her feet after the layoff.”</a:t>
            </a:r>
          </a:p>
          <a:p>
            <a:r>
              <a:t>★ keep your chin up (idiom) 保持乐观 — “Keep your chin up. Something will come along.”</a:t>
            </a:r>
          </a:p>
          <a:p>
            <a:r>
              <a:t>★ reach out to (phrasal verb) 主动联系 — “I reached out to a few former colleagues for advice.”</a:t>
            </a:r>
          </a:p>
          <a:p>
            <a:r>
              <a:t>★ a setback (noun) 挫折 — “Losing the job was a setback, but not the end of my career.”</a:t>
            </a:r>
          </a:p>
          <a:p>
            <a:r>
              <a:t>★ upskill / reskill (verb) 提升技能 / 转换技能 — “I used the time to upskill in data analysis.”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redundant / severance / networking / between jobs / reach out / setback</a:t>
            </a:r>
          </a:p>
          <a:p>
            <a:r>
              <a:t>1. Around 200 people were made _______ when the factory closed. → redundant</a:t>
            </a:r>
          </a:p>
          <a:p>
            <a:r>
              <a:t>2. She received three months’ _______ pay. → severance</a:t>
            </a:r>
          </a:p>
          <a:p>
            <a:r>
              <a:t>3. Most of my interviews came through _______. → networking</a:t>
            </a:r>
          </a:p>
          <a:p>
            <a:r>
              <a:t>4. I’m _______ at the moment, so I’m taking an online course. → between jobs</a:t>
            </a:r>
          </a:p>
          <a:p>
            <a:r>
              <a:t>5. Don’t be shy. _______ to people in your industry. → reach out</a:t>
            </a:r>
          </a:p>
          <a:p>
            <a:r>
              <a:t>6. Losing the job was a _______, but not the end of my career. → setback</a:t>
            </a:r>
          </a:p>
          <a:p>
            <a:r>
              <a:t>Mistake Watch (拼写与时态): redundant (not “redundent”), severance (not “severence”), unemployment (not “unemployement”). Say be made redundant (passive); I was made redundant, not “I made redundant”.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Advice from a friend who has been through it 听过来人的建议</a:t>
            </a:r>
          </a:p>
          <a:p>
            <a:r>
              <a:t>情景：Your friend Alex has just been made redundant and feels low. You were laid off two years ago and now offer advice.</a:t>
            </a:r>
          </a:p>
          <a:p>
            <a:r>
              <a:t>Role A: Chen Yu, friend with experience (you) Role B: Alex Wong, recently made redundant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(Chen Yu): Hi Alex, I heard the news. How are you holding up?</a:t>
            </a:r>
          </a:p>
          <a:p>
            <a:r>
              <a:t>B (Alex): Honestly, not great. It all happened so fast. I keep wondering what I could have done differently.</a:t>
            </a:r>
          </a:p>
          <a:p>
            <a:r>
              <a:t>A: I know that feeling. When I was laid off, I kept asking the same question. But it was a restructuring, not a verdict on you.</a:t>
            </a:r>
          </a:p>
          <a:p>
            <a:r>
              <a:t>B: I know in my head, but it’s still a blow. And I’m already worrying about money.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That’s natural. Have you checked what severance pay and benefits you’re entitled to?</a:t>
            </a:r>
          </a:p>
          <a:p>
            <a:r>
              <a:t>B: Not yet. I’ll look into it this week.</a:t>
            </a:r>
          </a:p>
          <a:p>
            <a:r>
              <a:t>A: Good. And my advice would be to set a routine from day one. Treat the job search like a job, with fixed hours and a weekly plan.</a:t>
            </a:r>
          </a:p>
          <a:p>
            <a:r>
              <a:t>B: That makes sense. What about networking? I hate asking people for favours.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It doesn’t have to feel like that. Just reach out to old colleagues and ask for their thoughts, not for a job. Most people are happy to help.</a:t>
            </a:r>
          </a:p>
          <a:p>
            <a:r>
              <a:t>B: Okay. Maybe I’ll start with my old manager.</a:t>
            </a:r>
          </a:p>
          <a:p>
            <a:r>
              <a:t>A: Great idea. And please look after yourself. Get out, exercise, see friends. Keep your chin up. You’ll get back on your feet.</a:t>
            </a:r>
          </a:p>
          <a:p>
            <a:r>
              <a:t>B: Thanks, Chen Yu. That really helps.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04 | </a:t>
            </a:r>
          </a:p>
          <a:p>
            <a:r>
              <a:t>Situation | You give advice to a friend who has lost their job.</a:t>
            </a:r>
          </a:p>
          <a:p>
            <a:r>
              <a:t>Your role (A) | Friend with experience. Your own story: ______________</a:t>
            </a:r>
          </a:p>
          <a:p>
            <a:r>
              <a:t>Partner’s role (B) | Friend, recently made redundant and worried.</a:t>
            </a:r>
          </a:p>
          <a:p>
            <a:r>
              <a:t>Must use (4 or more) | be made redundant · severance pay · networking · reach out · keep your chin up · get back on your feet</a:t>
            </a:r>
          </a:p>
          <a:p>
            <a:r>
              <a:t>Goal | Show empathy first, then give two pieces of practical advice.</a:t>
            </a:r>
          </a:p>
          <a:p>
            <a:r>
              <a:t>My notes | ____________________________________________</a:t>
            </a:r>
          </a:p>
          <a:p>
            <a:r>
              <a:t>Alex says: “I feel like a failure.” Respond with empathy before you give advice: “That sounds really tough. Anyone would feel that way.”</a:t>
            </a:r>
          </a:p>
          <a:p>
            <a:r>
              <a:t>Alex asks for a practical idea for the first week. Give a day-by-day plan in 30 seconds.</a:t>
            </a:r>
          </a:p>
          <a:p>
            <a:r>
              <a:t>Role-reverse: you are Alex, and your friend gives you advice you disagree with. Disagree politely.</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there a stigma about being unemployed in your country? Has it changed? | “In my country, people tend to… but this is changing because…”</a:t>
            </a:r>
          </a:p>
          <a:p>
            <a:r>
              <a:t>2. What should governments or companies do to support people who lose their jobs? | “I think companies have a duty to…” / “Governments could…, which would…”</a:t>
            </a:r>
          </a:p>
          <a:p>
            <a:r>
              <a:t>3. Is it better to wait for the perfect job or accept any job quickly? | “On the one hand…, on the other hand…” / “It depends on how long…”</a:t>
            </a:r>
          </a:p>
          <a:p>
            <a:r>
              <a:t>4. How can you explain a gap on your resume in a positive way? | “I’d explain that I used the time to…” / “The key is to focus on…”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“On the one hand, taking any job quickly gives you income and confidence. On the other hand, if you accept the wrong role, you may end up job hunting again in six months. I think it depends on your financial situation. If you have savings, I’d wait a little longer for something that fits your goals. If not, I’d take a temporary job while I carry on searching, so that I don’t feel I’m just waiting.”</a:t>
            </a:r>
          </a:p>
          <a:p>
            <a:r>
              <a:t>On the one hand… on the other hand… 用来对比两种观点。”end up + -ing” = 最终落得…。carry on + -ing = 继续做…。</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lost my job. | I was made redundant when the department closed. | 被裁员的中性表达(英式)</a:t>
            </a:r>
          </a:p>
          <a:p>
            <a:r>
              <a:t>I don’t have a job now. | I’m between jobs at the moment. | 委婉说法</a:t>
            </a:r>
          </a:p>
          <a:p>
            <a:r>
              <a:t>I asked some friends to help. | I reached out to my network. | network 指人脉</a:t>
            </a:r>
          </a:p>
          <a:p>
            <a:r>
              <a:t>It was a bad experience. | It was a setback, but I learned a lot from it. | 向积极方向转述</a:t>
            </a:r>
          </a:p>
          <a:p>
            <a:r>
              <a:t>I want to learn new skills. | I’m looking to upskill in data analysis. | upskill 提升技能</a:t>
            </a:r>
          </a:p>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Passive voice: be made redundant, be laid off, be let go. Don’t say “The company fired me” if you were made redundant. Fired means dismissed for a reason, so the two are very different.</a:t>
            </a:r>
          </a:p>
          <a:p>
            <a:r>
              <a:t>Advice structures: I’d suggest + -ing, It might help to + verb, Have you thought about + -ing?, If I were you, I’d…</a:t>
            </a:r>
          </a:p>
          <a:p>
            <a:r>
              <a:t>Empathy phrases: “That sounds really tough.” / “I can imagine how you feel.” / “It’s completely understandable.”</a:t>
            </a:r>
          </a:p>
          <a:p>
            <a:r>
              <a:t>Make/let + object + verb without to: “It made me rethink my career.” / “My manager let me leave early.”</a:t>
            </a:r>
          </a:p>
          <a:p>
            <a:r>
              <a:t>Redundant in English means “no longer needed in the job”. It does not mean “unnecessary person”.</a:t>
            </a:r>
          </a:p>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was fired because the company reduced staff.  →  ✓ I was made redundant because the company reduced staff.  (fired = 因过错被解雇;redundant = 岗位被裁)</a:t>
            </a:r>
          </a:p>
          <a:p>
            <a:r>
              <a:t>✗ He is unemployment.  →  ✓ He is unemployed.  (unemployment 是名词,unemployed 是形容词)</a:t>
            </a:r>
          </a:p>
          <a:p>
            <a:r>
              <a:t>✗ I suggest you to look for a new job.  →  ✓ I suggest (that) you look for a new job. / I suggest looking for a new job.  (suggest 不接 you to do)</a:t>
            </a:r>
          </a:p>
          <a:p>
            <a:r>
              <a:t>Mistake Watch: Check made redundant (passive), suggest + that / -ing, and for + period with the present perfect.</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looking for job.  →  ✓ I’m looking for a job. / I’m job hunting.  (job 可数,要加冠词)</a:t>
            </a:r>
          </a:p>
          <a:p>
            <a:r>
              <a:t>✗ I have been unemployed since three months.  →  ✓ I’ve been unemployed for three months.  (for + 时间段)</a:t>
            </a:r>
          </a:p>
          <a:p>
            <a:r>
              <a:t>✗ I have much free time now.  →  ✓ I have a lot of free time now.  (肯定句中 much 不常用,用 a lot of)</a:t>
            </a:r>
          </a:p>
          <a:p>
            <a:r>
              <a:t>Mistake Watch: Check made redundant (passive), suggest + that / -ing, and for + period with the present perfect.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Don’t say “fired” by mistake. In English-speaking countries fired suggests misconduct. If your job was cut, say made redundant (UK) or laid off (US).</a:t>
            </a:r>
          </a:p>
          <a:p>
            <a:r>
              <a:t>Talking openly about it is normal. Posting “I’m open to work” on LinkedIn is common and not seen as shameful.</a:t>
            </a:r>
          </a:p>
          <a:p>
            <a:r>
              <a:t>Notice and severance are often defined by law or contract in the UK and many European countries. In the US, they vary by employer and state.</a:t>
            </a:r>
          </a:p>
          <a:p>
            <a:r>
              <a:t>Small talk about work: “What do you do?” is a common question. If you are between jobs, you can say: “I’m between jobs at the moment. I used to work in logistics, and I’m looking for something in operations.”</a:t>
            </a:r>
          </a:p>
          <a:p>
            <a:r>
              <a:t>be made redundant 是岗位被取消,并不是个人有问题;fired 才是因过错被开除,两者含义完全不同。写简历时可说明 “Role made redundant due to restructuring”。</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the difference between made redundant and fired.</a:t>
            </a:r>
          </a:p>
          <a:p>
            <a:r>
              <a:t>I can give advice using I’d suggest… and It might help to…</a:t>
            </a:r>
          </a:p>
          <a:p>
            <a:r>
              <a:t>I can show empathy to someone who is stressed or worried.</a:t>
            </a:r>
          </a:p>
          <a:p>
            <a:r>
              <a:t>I can explain a career gap in a positive way.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the passive (made redundant), suggest + that / -ing and for + period.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05 · Back-Up Careers 备选职业</a:t>
            </a:r>
          </a:p>
          <a:p>
            <a:r>
              <a:t>Goal: discuss having a “Plan B”: side skills, a second income, retraining, and how to explain a possible career change.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3 题用 would 谈假设。第 4 题可用 “transferable skills” 来回答。too late to + 动词原形 = 太晚而不能…。</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back-up career you could realistically move into, and what you would need to do to get there.</a:t>
            </a:r>
          </a:p>
          <a:p>
            <a:r>
              <a:t>Say: the new career → why it suits you → skills you already have → what you would need to learn</a:t>
            </a:r>
          </a:p>
          <a:p>
            <a:r>
              <a:t>Useful starters: “If things changed, I’d consider…” / “I already have… which would help with…” / “What I’d need to learn is…”</a:t>
            </a:r>
          </a:p>
          <a:p>
            <a:r>
              <a:t>Plan B 在英语里常说 “a fallback” 或 “a back-up plan”。记得用 “would” 保持假设语气,但也可以用 “I’m thinking of + -ing” 表示认真的打算。</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Careers used to be a ladder: you started at the bottom, climbed for forty years and retired. Today many people expect to work in several fields. Technology shifts, industries shrink and new ones appear almost overnight. This is why career advisers increasingly talk about having a back-up career. It doesn’t mean you are unhappy with your job. It simply means you are prepared. A sensible first step is to list your transferable skills, such as project management, writing or customer service. Next, test a new direction on a small scale: take a short course, help a friend’s start-up or do a weekend of freelance work. This lets you see whether you actually like the work before you risk your income. Finally, keep your professional network warm. A back-up plan is much easier to start when people already know and trust you.</a:t>
            </a:r>
          </a:p>
          <a:p>
            <a:r>
              <a:t>transferable skills = 可迁移技能。on a small scale = 小规模地。keep your network warm = 保持人脉的联系与温度。”almost overnight” = 几乎一夜之间。</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career advisers talk about back-up careers?</a:t>
            </a:r>
          </a:p>
          <a:p>
            <a:r>
              <a:t>A: Technology and industries change quickly, so people may need to work in several fields.</a:t>
            </a:r>
          </a:p>
          <a:p>
            <a:r>
              <a:t>Q2. What is the first step the writer suggests?</a:t>
            </a:r>
          </a:p>
          <a:p>
            <a:r>
              <a:t>A: List your transferable skills.</a:t>
            </a:r>
          </a:p>
          <a:p>
            <a:r>
              <a:t>Q3. Why should you test a new direction on a small scale?</a:t>
            </a:r>
          </a:p>
          <a:p>
            <a:r>
              <a:t>A: To see if you actually like the work before risking your income.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Planning another path 规划备选路径</a:t>
            </a:r>
          </a:p>
          <a:p>
            <a:r>
              <a:t>领读 → 学员跟读 → 请学员用表达造一个和自己工作相关的句子。</a:t>
            </a:r>
          </a:p>
          <a:p>
            <a:r>
              <a:t>back-up plan / fallback (noun) 备选方案 — “It’s smart to have a fallback in case the market changes.”</a:t>
            </a:r>
          </a:p>
          <a:p>
            <a:r>
              <a:t>career change (noun) 转行 — “She made a career change from law to teaching.”</a:t>
            </a:r>
          </a:p>
          <a:p>
            <a:r>
              <a:t>retrain (verb) 重新培训,转行学习 — “He retrained as a nurse at the age of 35.”</a:t>
            </a:r>
          </a:p>
          <a:p>
            <a:r>
              <a:t>side income (noun) 副业收入 — “A little side income gives me peace of mind.”</a:t>
            </a:r>
          </a:p>
          <a:p>
            <a:r>
              <a:t>qualification (noun) 资格,资历 — “You need a recognised qualification to work as an accountant.”</a:t>
            </a:r>
          </a:p>
          <a:p>
            <a:r>
              <a:t>job security (noun (uncountable)) 工作稳定性 — “Many people value job security more than a high salary.”</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Switching direction ★ 转换方向</a:t>
            </a:r>
          </a:p>
          <a:p>
            <a:r>
              <a:t>领读 → 学员跟读 → 请学员用表达造一个和自己工作相关的句子。</a:t>
            </a:r>
          </a:p>
          <a:p>
            <a:r>
              <a:t>★ diversify (verb) 使多样化 — “I’m trying to diversify my income by freelancing at weekends.”</a:t>
            </a:r>
          </a:p>
          <a:p>
            <a:r>
              <a:t>★ put all your eggs in one basket (idiom) 把鸡蛋放在一个篮子里 — “It’s risky to put all your eggs in one basket.”</a:t>
            </a:r>
          </a:p>
          <a:p>
            <a:r>
              <a:t>★ switch careers / pivot into (phrase) 转行,转向 — “She pivoted into product management after five years in sales.”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Switching direction ★ 转换方向</a:t>
            </a:r>
          </a:p>
          <a:p>
            <a:r>
              <a:t>领读 → 学员跟读 → 请学员用表达造一个和自己工作相关的句子。</a:t>
            </a:r>
          </a:p>
          <a:p>
            <a:r>
              <a:t>★ test the waters (idiom) 试水 — “I’m testing the waters with a small consulting project.”</a:t>
            </a:r>
          </a:p>
          <a:p>
            <a:r>
              <a:t>★ take a leap (of faith) (idiom) 冒险一跃 — “After years of planning, he finally took the leap and opened a café.”</a:t>
            </a:r>
          </a:p>
          <a:p>
            <a:r>
              <a:t>★ future-proof (verb / adjective) 使经得起未来变化 — “Learning data skills helps to future-proof your career.”</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fallback / retrained / side income / diversify / test the waters / future-proof</a:t>
            </a:r>
          </a:p>
          <a:p>
            <a:r>
              <a:t>1. It’s wise to have a _______ in case the market changes. → fallback</a:t>
            </a:r>
          </a:p>
          <a:p>
            <a:r>
              <a:t>2. He _______ as a nurse at the age of 35. → retrained</a:t>
            </a:r>
          </a:p>
          <a:p>
            <a:r>
              <a:t>3. A small _______ gives me peace of mind. → side income</a:t>
            </a:r>
          </a:p>
          <a:p>
            <a:r>
              <a:t>4. I’m trying to _______ my skills so I’m less dependent on one employer. → diversify</a:t>
            </a:r>
          </a:p>
          <a:p>
            <a:r>
              <a:t>5. Before I quit, I’d like to _______ with a small project. → test the waters</a:t>
            </a:r>
          </a:p>
          <a:p>
            <a:r>
              <a:t>6. Learning data skills can help to _______ your career. → future-proof</a:t>
            </a:r>
          </a:p>
          <a:p>
            <a:r>
              <a:t>Mistake Watch (拼写与词形): retrain (no hyphen), qualification (not “qualfication”), diversify (not “diversity” which is a noun). Job security is uncountable: “a lot of job security”, not “job securities”.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to a mentor about a possible change 向导师请教转行</a:t>
            </a:r>
          </a:p>
          <a:p>
            <a:r>
              <a:t>情景：You work in sales but you are thinking about moving into data analysis. You meet an experienced mentor, Julia, for advice.</a:t>
            </a:r>
          </a:p>
          <a:p>
            <a:r>
              <a:t>Role A: Ming Zhao, sales executive (you) Role B: Julia Park, mentor and data team lead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(Ming): Thanks for making time, Julia. I’ve been thinking about moving into data analysis, but I’m not sure whether it’s realistic.</a:t>
            </a:r>
          </a:p>
          <a:p>
            <a:r>
              <a:t>B (Julia): It can be. What makes you interested?</a:t>
            </a:r>
          </a:p>
          <a:p>
            <a:r>
              <a:t>A: I already work with sales numbers every day, and I enjoy finding patterns. I’d like to do that full time.</a:t>
            </a:r>
          </a:p>
          <a:p>
            <a:r>
              <a:t>B: That’s a good start. You already have transferable skills: you understand customers, and you’re comfortable with numbers.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Do you think I need to retrain, or can I learn on the job?</a:t>
            </a:r>
          </a:p>
          <a:p>
            <a:r>
              <a:t>B: Probably a bit of both. I’d suggest an online course in SQL and a visualisation tool, and then testing the waters with a small project at work.</a:t>
            </a:r>
          </a:p>
          <a:p>
            <a:r>
              <a:t>A: That sounds manageable. I don’t want to put all my eggs in one basket and quit my job too early.</a:t>
            </a:r>
          </a:p>
          <a:p>
            <a:r>
              <a:t>B: Exactly. Keep your sales job for now. Treat the new skills as a fallback and build them in the evenings.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Would you be willing to look at a project I do and give me feedback?</a:t>
            </a:r>
          </a:p>
          <a:p>
            <a:r>
              <a:t>B: Happy to. Send it over when you’re ready, and we can talk about the next step.</a:t>
            </a:r>
          </a:p>
          <a:p>
            <a:r>
              <a:t>A: Thank you. That’s really generous.</a:t>
            </a:r>
          </a:p>
          <a:p>
            <a:r>
              <a:t>B: Not at all. Everyone needs a push sometimes.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05 | </a:t>
            </a:r>
          </a:p>
          <a:p>
            <a:r>
              <a:t>Situation | You ask a mentor about a back-up career.</a:t>
            </a:r>
          </a:p>
          <a:p>
            <a:r>
              <a:t>Your role (A) | Employee. Your current job and the new field: ______________</a:t>
            </a:r>
          </a:p>
          <a:p>
            <a:r>
              <a:t>Partner’s role (B) | Mentor in the new field. Encouraging but realistic.</a:t>
            </a:r>
          </a:p>
          <a:p>
            <a:r>
              <a:t>Must use (4 or more) | transferable skills · retrain · test the waters · fallback · put all your eggs in one basket · side income</a:t>
            </a:r>
          </a:p>
          <a:p>
            <a:r>
              <a:t>Goal | Describe your current skills and agree two concrete first steps.</a:t>
            </a:r>
          </a:p>
          <a:p>
            <a:r>
              <a:t>My notes | ____________________________________________</a:t>
            </a:r>
          </a:p>
          <a:p>
            <a:r>
              <a:t>The mentor warns you: “The field is competitive and the first year is hard.” Show that you’ve thought about the risks: “I’m aware of that, which is why I plan to…”.</a:t>
            </a:r>
          </a:p>
          <a:p>
            <a:r>
              <a:t>Pitch your plan in 30 seconds, as if to a family member who is worried.</a:t>
            </a:r>
          </a:p>
          <a:p>
            <a:r>
              <a:t>Change roles: you are the mentor. Give advice to someone who wants to leave a stable job for a start-up.</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it wise to plan for a second career while you are still happy in the first? | “I think it’s sensible because…” / “It could distract you from…”</a:t>
            </a:r>
          </a:p>
          <a:p>
            <a:r>
              <a:t>2. Which skills do you think will stay valuable for the next 10 years? | “Skills such as… will remain valuable because…”</a:t>
            </a:r>
          </a:p>
          <a:p>
            <a:r>
              <a:t>3. How much risk would you take for a career you love? | “I’d be willing to… as long as…” / “I wouldn’t risk… unless…”</a:t>
            </a:r>
          </a:p>
          <a:p>
            <a:r>
              <a:t>4. Who should pay for retraining: the employee, the employer or the state? | “In my view, it should be shared because…” / “Employers benefit, so…”</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“In my view, the cost should be shared. Employers benefit when staff learn new skills, so they should pay at least part of the fee or give paid study time. Individuals should also contribute, because the qualification belongs to them and goes with them when they change jobs. I also think governments could help with tax relief or grants, especially for workers in industries that are shrinking.”</a:t>
            </a:r>
          </a:p>
          <a:p>
            <a:r>
              <a:t>In my view = 我认为。tax relief 税收减免。grant = 补助金。shared by 多方分担:be shared between… 也很常用。</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I’m thinking about changing jobs. | I’m considering a move into data analysis. | consider + -ing / noun</a:t>
            </a:r>
          </a:p>
          <a:p>
            <a:r>
              <a:t>I want to try a new job first. | I’d like to test the waters before committing. | 稳妥试水</a:t>
            </a:r>
          </a:p>
          <a:p>
            <a:r>
              <a:t>I have many different skills. | I have a broad set of transferable skills. | 更专业的描述</a:t>
            </a:r>
          </a:p>
          <a:p>
            <a:r>
              <a:t>I don’t want to risk everything. | I don’t want to put all my eggs in one basket. | 习语</a:t>
            </a:r>
          </a:p>
          <a:p>
            <a:r>
              <a:t>I need more qualifications. | I’d need to retrain or get a recognised qualification. | 说明路径</a:t>
            </a:r>
          </a:p>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Real vs unreal conditions: “If I move into data, I’ll need a course” (real plan) vs “If I moved into data, I’d need a course” (imagined). Both are correct; choose by how real the plan is.</a:t>
            </a:r>
          </a:p>
          <a:p>
            <a:r>
              <a:t>Gerund after consider, avoid, enjoy, suggest: “I’m considering retraining.”</a:t>
            </a:r>
          </a:p>
          <a:p>
            <a:r>
              <a:t>Collocations: make a career change · pursue a career in · switch careers · start from scratch · climb the career ladder.</a:t>
            </a:r>
          </a:p>
          <a:p>
            <a:r>
              <a:t>Contrast linkers: however, on the other hand, whereas, although. Example: “I enjoy sales, whereas my colleague prefers analysis.”</a:t>
            </a:r>
          </a:p>
          <a:p>
            <a:r>
              <a:t>Career is countable (a career), but work is uncountable. Say “a career in finance”, not “a work in finance”.</a:t>
            </a:r>
          </a:p>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want to change my work.  →  ✓ I want to change my job / career.  (work 不可数,表示“工作”概念;具体职位用 job)</a:t>
            </a:r>
          </a:p>
          <a:p>
            <a:r>
              <a:t>✗ I’m thinking to change career.  →  ✓ I’m thinking of changing career.  (think of + -ing)</a:t>
            </a:r>
          </a:p>
          <a:p>
            <a:r>
              <a:t>✗ I have many experiences in sales.  →  ✓ I have a lot of experience in sales.  (experience 不可数)</a:t>
            </a:r>
          </a:p>
          <a:p>
            <a:r>
              <a:t>Mistake Watch: Check think of + -ing, uncountable experience / work, and countable nouns such as tool / skill.</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changed to be a teacher.  →  ✓ He retrained as a teacher. / He became a teacher.  (用 retrain as / become)</a:t>
            </a:r>
          </a:p>
          <a:p>
            <a:r>
              <a:t>✗ I plan to learn how to use data analysis tool.  →  ✓ I plan to learn how to use data analysis tools.  (tool 是可数名词)</a:t>
            </a:r>
          </a:p>
          <a:p>
            <a:r>
              <a:t>✗ I am afraid of losing the security of job.  →  ✓ I’m afraid of losing job security.  (job security 固定搭配)</a:t>
            </a:r>
          </a:p>
          <a:p>
            <a:r>
              <a:t>Mistake Watch: Check think of + -ing, uncountable experience / work, and countable nouns such as tool / skill.</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Career change is common. In the UK and US, people expect to change careers several times. A change of direction is seen as courage, not as instability, if you can explain it clearly.</a:t>
            </a:r>
          </a:p>
          <a:p>
            <a:r>
              <a:t>Side projects count. Employers often like to see side projects, courses and volunteering as evidence of motivation.</a:t>
            </a:r>
          </a:p>
          <a:p>
            <a:r>
              <a:t>Portfolio careers: Some people combine several part-time jobs or freelance roles. This is called a portfolio career and is quite normal in creative and consulting fields.</a:t>
            </a:r>
          </a:p>
          <a:p>
            <a:r>
              <a:t>Discretion at work: Do not tell colleagues about job plans until you are sure. Use “exploring options” in conversation with outsiders.</a:t>
            </a:r>
          </a:p>
          <a:p>
            <a:r>
              <a:t>英语国家的职场人士通常认为转行是勇气和成长的表现,但需要能清楚解释“为什么转”和“哪些技能可以迁移”。副业(side project)也算有效的经历证明。</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 realistic back-up career and the steps to reach it.</a:t>
            </a:r>
          </a:p>
          <a:p>
            <a:r>
              <a:t>I can name three of my transferable skills in English.</a:t>
            </a:r>
          </a:p>
          <a:p>
            <a:r>
              <a:t>I can use real and imagined conditionals to talk about career plans.</a:t>
            </a:r>
          </a:p>
          <a:p>
            <a:r>
              <a:t>I can use at least three idioms from the ★ list naturally.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think of + -ing, uncountable experience / work and plural countable nouns.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06 · Moving On 开启新职业生活</a:t>
            </a:r>
          </a:p>
          <a:p>
            <a:r>
              <a:t>Goal: talk about leaving one job and starting another: saying goodbye, the first weeks in a new role, and making a good start.</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题讲过去的感受,用 felt / was。第 4 题用 “I would…” 回答。make a good impression = 给人留下好印象。</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your plan for the first 30 days in a new job.</a:t>
            </a:r>
          </a:p>
          <a:p>
            <a:r>
              <a:t>Say: week 1: listen and learn → week 2: build relationships → weeks 3–4: first small win</a:t>
            </a:r>
          </a:p>
          <a:p>
            <a:r>
              <a:t>Useful starters: “In my first week, I’d focus on…” / “I’d try to… rather than…” / “By the end of the month, I hope to have…”</a:t>
            </a:r>
          </a:p>
          <a:p>
            <a:r>
              <a:t>“By the end of the month, I hope to have + 过去分词” 用现在完成时表示到某时已完成。focus on + 名词/动名词。</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Starting a new job is exciting and exhausting at the same time. Experienced managers often say that the first ninety days decide how colleagues see you for years. The best advice is surprisingly simple: listen more than you talk. Ask questions, take notes and find out how decisions are really made. It’s tempting to prove yourself by suggesting big changes right away, but people tend to trust newcomers who first show respect for what already works. Try to arrange short one-to-one chats with the people you will depend on, and ask each of them what a good start would look like. Aim for one early, visible win, perhaps a small process you can improve. And don’t forget the people you left behind. A warm goodbye message and a coffee with a former colleague a few months later can keep a valuable relationship alive.</a:t>
            </a:r>
          </a:p>
          <a:p>
            <a:r>
              <a:t>“decide how colleagues see you” = 决定同事对你的看法。”It’s tempting to…” 是让步表达。one-to-one = 一对一的面谈。win 在职场口语里指“小成功”。</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 experienced managers say about the first ninety days?</a:t>
            </a:r>
          </a:p>
          <a:p>
            <a:r>
              <a:t>A: They decide how colleagues see you for years.</a:t>
            </a:r>
          </a:p>
          <a:p>
            <a:r>
              <a:t>Q2. Why should a newcomer avoid suggesting big changes straight away?</a:t>
            </a:r>
          </a:p>
          <a:p>
            <a:r>
              <a:t>A: People trust newcomers who first show respect for what already works.</a:t>
            </a:r>
          </a:p>
          <a:p>
            <a:r>
              <a:t>Q3. What is one way to keep a relationship with former colleagues alive?</a:t>
            </a:r>
          </a:p>
          <a:p>
            <a:r>
              <a:t>A: Send a warm goodbye message and meet for coffee a few months later.</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Starting and leaving 入职与离职</a:t>
            </a:r>
          </a:p>
          <a:p>
            <a:r>
              <a:t>领读 → 学员跟读 → 请学员用表达造一个和自己工作相关的句子。</a:t>
            </a:r>
          </a:p>
          <a:p>
            <a:r>
              <a:t>settle in (phrasal verb) 适应,安顿下来 — “It took me about a month to settle in.”</a:t>
            </a:r>
          </a:p>
          <a:p>
            <a:r>
              <a:t>onboarding (noun) 新员工入职培训 — “The onboarding programme lasts two weeks.”</a:t>
            </a:r>
          </a:p>
          <a:p>
            <a:r>
              <a:t>handover (noun) 工作交接 — “Please complete the handover before your last day.”</a:t>
            </a:r>
          </a:p>
          <a:p>
            <a:r>
              <a:t>probation (noun) 试用期 — “I passed my probation last week.”</a:t>
            </a:r>
          </a:p>
          <a:p>
            <a:r>
              <a:t>make a good impression (collocation) 留下好印象 — “First impressions matter, so be on time.”</a:t>
            </a:r>
          </a:p>
          <a:p>
            <a:r>
              <a:t>farewell / leaving party (noun) 欢送会 — “We organised a leaving party for Tom on Friday.”</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Making a smooth transition ★ 平稳过渡</a:t>
            </a:r>
          </a:p>
          <a:p>
            <a:r>
              <a:t>领读 → 学员跟读 → 请学员用表达造一个和自己工作相关的句子。</a:t>
            </a:r>
          </a:p>
          <a:p>
            <a:r>
              <a:t>★ hit the ground running (idiom) 一上手就进入状态 — “She hit the ground running and closed two deals in her first month.”</a:t>
            </a:r>
          </a:p>
          <a:p>
            <a:r>
              <a:t>★ learn the ropes (idiom) 熟悉门道 — “A mentor helped me learn the ropes quickly.”</a:t>
            </a:r>
          </a:p>
          <a:p>
            <a:r>
              <a:t>★ get up to speed (idiom) 尽快熟悉 — “I need a week to get up to speed on the project.”</a:t>
            </a:r>
          </a:p>
          <a:p>
            <a:r>
              <a:t>★ move on to (phrasal verb) 转向(新阶段) — “After five years in finance, I moved on to consulting.”</a:t>
            </a:r>
          </a:p>
          <a:p>
            <a:r>
              <a:t>★ keep in touch / stay on good terms (collocation) 保持联系 / 保持良好关系 — “We left on good terms and still keep in touch.”</a:t>
            </a:r>
          </a:p>
          <a:p>
            <a:r>
              <a:t>★ a fresh start (noun phrase) 全新的开始 — “The new city gave me a fresh start.”</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onboarding / handover / settle in / ropes / up to speed / good terms</a:t>
            </a:r>
          </a:p>
          <a:p>
            <a:r>
              <a:t>1. The _______ programme includes a tour of the office and meetings with each team. → onboarding</a:t>
            </a:r>
          </a:p>
          <a:p>
            <a:r>
              <a:t>2. Please write a short _______ note for the person who takes over your work. → handover</a:t>
            </a:r>
          </a:p>
          <a:p>
            <a:r>
              <a:t>3. It took me a few weeks to _______ in my new team. → settle in</a:t>
            </a:r>
          </a:p>
          <a:p>
            <a:r>
              <a:t>4. A good mentor can help you learn the _______ quickly. → ropes</a:t>
            </a:r>
          </a:p>
          <a:p>
            <a:r>
              <a:t>5. I need a few days to get _______ on the new system. → up to speed</a:t>
            </a:r>
          </a:p>
          <a:p>
            <a:r>
              <a:t>6. I left on _______ with my old boss, and we still have lunch sometimes. → good terms</a:t>
            </a:r>
          </a:p>
          <a:p>
            <a:r>
              <a:t>Mistake Watch (拼写与搭配): onboarding (one word), probation (not “probition”), impression (not “impresion”). Hit the ground running is an idiom, so keep the order: not “run the ground hitting”.</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first-week chat with your new manager 与新经理的第一周谈话</a:t>
            </a:r>
          </a:p>
          <a:p>
            <a:r>
              <a:t>情景：It is the end of your first week in a new company. Your manager, Priya, checks how you are settling in.</a:t>
            </a:r>
          </a:p>
          <a:p>
            <a:r>
              <a:t>Role A: Daniel Kim, new product analyst (you) Role B: Priya Nair, team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(Daniel): Hi Priya, thanks for making time.</a:t>
            </a:r>
          </a:p>
          <a:p>
            <a:r>
              <a:t>B (Priya): Of course, Daniel. So, how’s your first week been?</a:t>
            </a:r>
          </a:p>
          <a:p>
            <a:r>
              <a:t>A: Busy but good. Everyone’s been really welcoming, and the onboarding sessions have helped me get a feel for how things work.</a:t>
            </a:r>
          </a:p>
          <a:p>
            <a:r>
              <a:t>B: Glad to hear it. Is there anything that’s still unclear?</a:t>
            </a:r>
          </a:p>
          <a:p>
            <a:r>
              <a:t>A: Mostly the reporting process. I’m still trying to get up to speed on the dashboard, and I don’t want to ask the same question twice.</a:t>
            </a:r>
          </a:p>
          <a:p>
            <a:r>
              <a:t>B: That’s completely normal. I’ll ask Maria to walk you through it on Monday. What would you like to focus on next week?</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like to meet the sales team and understand what data they need from us. Then I could suggest a small improvement.</a:t>
            </a:r>
          </a:p>
          <a:p>
            <a:r>
              <a:t>B: Great, but don’t rush. Listen first, and then decide where you can add value.</a:t>
            </a:r>
          </a:p>
          <a:p>
            <a:r>
              <a:t>A: Understood. Could I check in with you every Friday for 15 minutes?</a:t>
            </a:r>
          </a:p>
          <a:p>
            <a:r>
              <a:t>B: Definitely. That’s a good habit. And Daniel, you’ve hit the ground running. I’m pleased.</a:t>
            </a:r>
          </a:p>
          <a:p>
            <a:r>
              <a:t>A: Thank you. That means a lot.</a:t>
            </a:r>
          </a:p>
          <a:p>
            <a:r>
              <a:t>B: Enjoy the weekend, and see you Monday.</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06 | </a:t>
            </a:r>
          </a:p>
          <a:p>
            <a:r>
              <a:t>Situation | A new employee has a check-in with the manager after week one.</a:t>
            </a:r>
          </a:p>
          <a:p>
            <a:r>
              <a:t>Your role (A) | New employee. Your job and company: ______________</a:t>
            </a:r>
          </a:p>
          <a:p>
            <a:r>
              <a:t>Partner’s role (B) | Manager. Warm, but wants to hear clear priorities.</a:t>
            </a:r>
          </a:p>
          <a:p>
            <a:r>
              <a:t>Must use (4 or more) | settle in · onboarding · get up to speed · learn the ropes · hit the ground running · add value</a:t>
            </a:r>
          </a:p>
          <a:p>
            <a:r>
              <a:t>Goal | Describe progress, name one challenge and agree a plan for next week.</a:t>
            </a:r>
          </a:p>
          <a:p>
            <a:r>
              <a:t>My notes | ____________________________________________</a:t>
            </a:r>
          </a:p>
          <a:p>
            <a:r>
              <a:t>Your manager says: “Some colleagues think you’re a bit quiet.” Respond constructively and explain how you plan to get more involved.</a:t>
            </a:r>
          </a:p>
          <a:p>
            <a:r>
              <a:t>A colleague invites you to an after-work drink, but you are tired. Decline politely and suggest another time.</a:t>
            </a:r>
          </a:p>
          <a:p>
            <a:r>
              <a:t>Say goodbye at your old company: give a 30-second leaving speech with thanks and a hint of humour.</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helps you settle into a new team: formal onboarding, a mentor, or social events? | “For me, a mentor is the most useful because…” / “Formal onboarding is helpful for…, but…”</a:t>
            </a:r>
          </a:p>
          <a:p>
            <a:r>
              <a:t>2. Is it a good idea to suggest changes in your first month? | “I’d hold back at first because…” / “If I saw an obvious problem, I’d…”</a:t>
            </a:r>
          </a:p>
          <a:p>
            <a:r>
              <a:t>3. How should you say goodbye to a team you’ve worked with for a long time? | “I’d send a personal message to…” / “I wouldn’t want to leave without…”</a:t>
            </a:r>
          </a:p>
          <a:p>
            <a:r>
              <a:t>4. Do you think job-hopping damages a career? | “It used to…, but nowadays…” / “It depends on whether you can explain…”</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“It used to be seen as a warning sign, but I think attitudes have changed. Nowadays, many employers understand that people move for good reasons, such as growth or a new challenge. What matters is whether you can explain each move clearly. If someone changes jobs every six months with no clear story, an employer might worry about loyalty. But if the moves show learning and progress, it can actually be a strength.”</a:t>
            </a:r>
          </a:p>
          <a:p>
            <a:r>
              <a:t>used to + 动词原形 = 过去常常(现在不再)。job-hopping = 频繁跳槽。”It depends on whether…” 后面接 whether 从句。</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don’t know how to use it yet. | I’m still getting up to speed on it. | 积极地表述“还不熟悉”</a:t>
            </a:r>
          </a:p>
          <a:p>
            <a:r>
              <a:t>I’m new, so please help me. | I’m still learning the ropes, so I’d really appreciate any tips. | 请求帮助的语气友好</a:t>
            </a:r>
          </a:p>
          <a:p>
            <a:r>
              <a:t>I’m leaving this company. | I’ve decided to move on to a new opportunity. | 离职的得体说法</a:t>
            </a:r>
          </a:p>
          <a:p>
            <a:r>
              <a:t>Let’s meet again. | Let’s keep in touch. | 保持联系</a:t>
            </a:r>
          </a:p>
          <a:p>
            <a:r>
              <a:t>I want to do well here. | I’m keen to hit the ground running. | 表达积极态度</a:t>
            </a:r>
          </a:p>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Perfect forms for progress: present perfect for “so far” (“I’ve met most of the team”) and future perfect for a deadline (“By Friday, I’ll have met everyone”).</a:t>
            </a:r>
          </a:p>
          <a:p>
            <a:r>
              <a:t>Phrasal verbs: settle in, move on (to), take over (from), hand over (to), get along with. Keep the object position in mind: hand it over, not hand over it.</a:t>
            </a:r>
          </a:p>
          <a:p>
            <a:r>
              <a:t>Used to + verb (past habit) vs be used to + -ing (be accustomed to): “I used to commute by car” / “I’m used to working remotely.”</a:t>
            </a:r>
          </a:p>
          <a:p>
            <a:r>
              <a:t>Polite requests: “Could I check in with you every Friday?” is gentler than “I want to meet you every Friday.”</a:t>
            </a:r>
          </a:p>
          <a:p>
            <a:r>
              <a:t>Give credit and thanks when you leave: “I’m grateful for…”, “I learned a lot from…”.</a:t>
            </a:r>
          </a:p>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been in this company for two weeks ago.  →  ✓ I joined this company two weeks ago. / I’ve been here for two weeks.  (ago 用一般过去式)</a:t>
            </a:r>
          </a:p>
          <a:p>
            <a:r>
              <a:t>✗ I’m not used to work late.  →  ✓ I’m not used to working late.  (be used to + -ing)</a:t>
            </a:r>
          </a:p>
          <a:p>
            <a:r>
              <a:t>✗ I used to working in sales.  →  ✓ I used to work in sales. / I’m used to working in sales.  (used to + 动词原形)</a:t>
            </a:r>
          </a:p>
          <a:p>
            <a:r>
              <a:t>Mistake Watch: Check used to + verb vs be used to + -ing, and use the past simple with ago.</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took over my work from me.  →  ✓ He took over my work. / He took over from me.  (take over 搭配)</a:t>
            </a:r>
          </a:p>
          <a:p>
            <a:r>
              <a:t>✗ Thanks for your taking care.  →  ✓ Thank you for looking after me.  (地道表达)</a:t>
            </a:r>
          </a:p>
          <a:p>
            <a:r>
              <a:t>✗ It’s my first time to go to the Munich office.  →  ✓ It’s my first time going to the Munich office. / It’s my first visit to...  (first time + -ing / have been)</a:t>
            </a:r>
          </a:p>
          <a:p>
            <a:r>
              <a:t>Mistake Watch: Check used to + verb vs be used to + -ing, and use the past simple with ago.</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Small talk with new colleagues: In the UK and US, it’s normal to ask “How was your weekend?” on Monday. A short, friendly answer builds relationships.</a:t>
            </a:r>
          </a:p>
          <a:p>
            <a:r>
              <a:t>Leaving gracefully: A short farewell email, a thank-you to your manager and a leaving gift or card are common. Keep it positive even if you are unhappy.</a:t>
            </a:r>
          </a:p>
          <a:p>
            <a:r>
              <a:t>Asking questions is a strength. In many English-speaking workplaces, new people are expected to ask. Asking shows engagement, not weakness.</a:t>
            </a:r>
          </a:p>
          <a:p>
            <a:r>
              <a:t>Give feedback on onboarding: Many companies welcome comments after 30–90 days. Use polite language: “One thing that could be improved is…”.</a:t>
            </a:r>
          </a:p>
          <a:p>
            <a:r>
              <a:t>新人最好多问、多听,不要一上来就批评或提大改动。离职时保持积极的语气,”keep in touch” 不是客套,可以真的保持联系。</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my first 30 days in a new job.</a:t>
            </a:r>
          </a:p>
          <a:p>
            <a:r>
              <a:t>I can say goodbye to colleagues politely and positively.</a:t>
            </a:r>
          </a:p>
          <a:p>
            <a:r>
              <a:t>I can use used to / be used to correctly.</a:t>
            </a:r>
          </a:p>
          <a:p>
            <a:r>
              <a:t>I can use at least three idioms from the ★ list.</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used to / be used to, the past simple with ago and phrasal verb word order.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07 · Job Hugging 拥抱工作</a:t>
            </a:r>
          </a:p>
          <a:p>
            <a:r>
              <a:t>Goal: discuss why people cling to their current jobs in uncertain times, the pros and cons of staying put, and how to stay engaged.</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“job hugging” 是近年出现的说法,指在不确定的环境下“抱紧”现有工作不敢跳槽。第 3 题用过去式和 “longer than I wanted to”。</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why some employees decide to stay put, and give your opinion on whether that is wise.</a:t>
            </a:r>
          </a:p>
          <a:p>
            <a:r>
              <a:t>Say: reasons for staying → benefits → risks → your opinion</a:t>
            </a:r>
          </a:p>
          <a:p>
            <a:r>
              <a:t>Useful starters: “People may stay put because…” / “The upside is… but the downside is…” / “Personally, I think it’s wise/unwise to… because…”</a:t>
            </a:r>
          </a:p>
          <a:p>
            <a:r>
              <a:t>stay put 是口语:待在原地不动。upside / downside 是商务口语里常用的“好处 / 坏处”。表达观点时可以用 “Personally, I think…”。</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When the economy looks shaky and layoffs make the news, many employees decide to hold on to their jobs rather than look for something better. Some commentators call this “job hugging”. The logic is understandable. A steady salary, a familiar team and a manager who already trusts you are worth a lot when the future is unclear. Yet there is a price. Fewer people are changing jobs, so fewer vacancies open up, and ambitious newcomers find it harder to get started. Employees who stay too long may also see their skills fall behind. For companies, the challenge is to keep these staff engaged, not just present. Offering new projects, training and the chance to move sideways inside the company can give people a reason to stay for the right reasons, rather than simply because they are afraid to leave.</a:t>
            </a:r>
          </a:p>
          <a:p>
            <a:r>
              <a:t>shaky = 不稳定的。hold on to = 紧紧抓住。engaged = 投入的(敬业度)。”rather than simply because…” 强调“为了正确的原因而不是出于恐惧”。</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some employees “hug” their jobs?</a:t>
            </a:r>
          </a:p>
          <a:p>
            <a:r>
              <a:t>A: Because the economy looks shaky and a steady job, team and manager are worth a lot when the future is unclear.</a:t>
            </a:r>
          </a:p>
          <a:p>
            <a:r>
              <a:t>Q2. What price do others pay when many people stay put?</a:t>
            </a:r>
          </a:p>
          <a:p>
            <a:r>
              <a:t>A: Fewer vacancies open up, so newcomers find it harder to get started.</a:t>
            </a:r>
          </a:p>
          <a:p>
            <a:r>
              <a:t>Q3. What can companies do to keep staff engaged?</a:t>
            </a:r>
          </a:p>
          <a:p>
            <a:r>
              <a:t>A: Offer new projects, training and the chance to move sideways within the company.</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Staying or leaving 留下还是离开</a:t>
            </a:r>
          </a:p>
          <a:p>
            <a:r>
              <a:t>领读 → 学员跟读 → 请学员用表达造一个和自己工作相关的句子。</a:t>
            </a:r>
          </a:p>
          <a:p>
            <a:r>
              <a:t>job security (noun) 工作稳定性 — “After the layoffs, job security became a major concern.”</a:t>
            </a:r>
          </a:p>
          <a:p>
            <a:r>
              <a:t>stay put (phrasal) 待着不动 — “Most of the team decided to stay put until the market recovers.”</a:t>
            </a:r>
          </a:p>
          <a:p>
            <a:r>
              <a:t>stagnate (verb) 停滞不前 — “I felt I was stagnating in the same role for years.”</a:t>
            </a:r>
          </a:p>
          <a:p>
            <a:r>
              <a:t>employee engagement (noun phrase) 员工敬业度 — “Employee engagement fell after the restructuring.”</a:t>
            </a:r>
          </a:p>
          <a:p>
            <a:r>
              <a:t>loyalty (noun) 忠诚度 — “Loyalty works best when it goes both ways.”</a:t>
            </a:r>
          </a:p>
          <a:p>
            <a:r>
              <a:t>vacancy (noun) 空缺职位 — “We have a vacancy in the finance team.”</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Talking about trends ★ 谈论趋势</a:t>
            </a:r>
          </a:p>
          <a:p>
            <a:r>
              <a:t>领读 → 学员跟读 → 请学员用表达造一个和自己工作相关的句子。</a:t>
            </a:r>
          </a:p>
          <a:p>
            <a:r>
              <a:t>★ cling to (phrasal verb) 紧抓不放 — “Many people cling to a stable job in uncertain times.”</a:t>
            </a:r>
          </a:p>
          <a:p>
            <a:r>
              <a:t>★ a comfort zone (noun phrase) 舒适区 — “Staying too long in your comfort zone can limit your growth.”</a:t>
            </a:r>
          </a:p>
          <a:p>
            <a:r>
              <a:t>★ weigh up the pros and cons (collocation) 权衡利弊 — “Take time to weigh up the pros and cons before deciding.”</a:t>
            </a:r>
          </a:p>
          <a:p>
            <a:r>
              <a:t>★ the upside / downside (noun) 好处 / 坏处 — “The upside is stability. The downside is slower progression.”</a:t>
            </a:r>
          </a:p>
          <a:p>
            <a:r>
              <a:t>★ move sideways (phrase) 平级调动,横向发展 — “If you can’t be promoted, a sideways move can still help you learn.”</a:t>
            </a:r>
          </a:p>
          <a:p>
            <a:r>
              <a:t>★ golden handcuffs (idiom (plural)) 金手铐(高薪福利让人难以离职) — “The generous bonus acted as golden handcuffs.”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stagnating / engagement / vacancy / comfort zone / weigh up / downside</a:t>
            </a:r>
          </a:p>
          <a:p>
            <a:r>
              <a:t>1. I felt I was _______ in the same role for years. → stagnating</a:t>
            </a:r>
          </a:p>
          <a:p>
            <a:r>
              <a:t>2. Employee _______ fell after the restructuring. → engagement</a:t>
            </a:r>
          </a:p>
          <a:p>
            <a:r>
              <a:t>3. We have a _______ in the finance team. → vacancy</a:t>
            </a:r>
          </a:p>
          <a:p>
            <a:r>
              <a:t>4. Staying in your _______ for too long can limit your growth. → comfort zone</a:t>
            </a:r>
          </a:p>
          <a:p>
            <a:r>
              <a:t>5. Take time to _______ the pros and cons before deciding. → weigh up</a:t>
            </a:r>
          </a:p>
          <a:p>
            <a:r>
              <a:t>6. The upside is stability. The _______ is slower progression. → downside</a:t>
            </a:r>
          </a:p>
          <a:p>
            <a:r>
              <a:t>Mistake Watch (拼写与搭配): stagnate (not “stagnat”), loyalty (not “loyality”), vacancy (not “vacency”). Note: job security is uncountable, and golden handcuffs is almost always plural.</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stay-or-go conversation with a manager 与经理谈去留</a:t>
            </a:r>
          </a:p>
          <a:p>
            <a:r>
              <a:t>情景：You are an experienced analyst who has felt stuck for a year. Your manager, Tom, asks whether you plan to stay.</a:t>
            </a:r>
          </a:p>
          <a:p>
            <a:r>
              <a:t>Role A: Hui Min, senior analyst (you) Role B: Tom Reed, department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(Hui Min): Tom, thanks for taking the time. I wanted to be open with you about where I stand.</a:t>
            </a:r>
          </a:p>
          <a:p>
            <a:r>
              <a:t>B (Tom): Of course. I appreciate that. Are you thinking of leaving?</a:t>
            </a:r>
          </a:p>
          <a:p>
            <a:r>
              <a:t>A: Not at the moment. With the market as unsettled as it is, I think staying put is sensible. But I’ll be honest: I feel I’m stagnating a bit.</a:t>
            </a:r>
          </a:p>
          <a:p>
            <a:r>
              <a:t>B: I’m glad you told me. What would make the role more interesting for you?</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love to take on a project outside my usual area. Maybe something with the product team.</a:t>
            </a:r>
          </a:p>
          <a:p>
            <a:r>
              <a:t>B: That’s possible. We need someone to lead the pricing review in Q3. Would that interest you?</a:t>
            </a:r>
          </a:p>
          <a:p>
            <a:r>
              <a:t>A: Definitely. It would give me a chance to learn something new without leaving the company.</a:t>
            </a:r>
          </a:p>
          <a:p>
            <a:r>
              <a:t>B: Good. On the other hand, I can’t promise a promotion this year. The budget is tight.</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understand. I’d be happy with more responsibility for now, and we could revisit the title in six months.</a:t>
            </a:r>
          </a:p>
          <a:p>
            <a:r>
              <a:t>B: That sounds fair. Let me talk to HR and get back to you by Friday.</a:t>
            </a:r>
          </a:p>
          <a:p>
            <a:r>
              <a:t>A: Thank you, Tom. I really appreciate your support.</a:t>
            </a:r>
          </a:p>
          <a:p>
            <a:r>
              <a:t>B: Thank you for being straight with me. I’d hate to lose you.</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07 | </a:t>
            </a:r>
          </a:p>
          <a:p>
            <a:r>
              <a:t>Situation | An employee tells a manager they feel stuck but want to stay.</a:t>
            </a:r>
          </a:p>
          <a:p>
            <a:r>
              <a:t>Your role (A) | Employee. How long you have been in the role: ______________</a:t>
            </a:r>
          </a:p>
          <a:p>
            <a:r>
              <a:t>Partner’s role (B) | Manager. Supportive, but with limited budget.</a:t>
            </a:r>
          </a:p>
          <a:p>
            <a:r>
              <a:t>Must use (4 or more) | stay put · stagnate · comfort zone · take on · responsibility · revisit</a:t>
            </a:r>
          </a:p>
          <a:p>
            <a:r>
              <a:t>Goal | Explain what you need without threatening to leave; agree a next step.</a:t>
            </a:r>
          </a:p>
          <a:p>
            <a:r>
              <a:t>My notes | ____________________________________________</a:t>
            </a:r>
          </a:p>
          <a:p>
            <a:r>
              <a:t>Tom says: “If you wanted to move on, I’d understand.” Respond honestly without sounding disloyal.</a:t>
            </a:r>
          </a:p>
          <a:p>
            <a:r>
              <a:t>You are the manager, and the employee asks for a 20% raise. Say no kindly and offer alternatives.</a:t>
            </a:r>
          </a:p>
          <a:p>
            <a:r>
              <a:t>Summarise the “upside and downside” of staying in your job in 45 seconds.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you think “job hugging” is smart or short-sighted in uncertain times? | “In the short term it’s smart, but in the long run…” / “I’d argue that…”</a:t>
            </a:r>
          </a:p>
          <a:p>
            <a:r>
              <a:t>2. What can managers do to keep people engaged when they can’t offer promotions? | “They could offer… instead of…” / “Recognition matters because…”</a:t>
            </a:r>
          </a:p>
          <a:p>
            <a:r>
              <a:t>3. Is loyalty to an employer still important today? Why or why not? | “Loyalty should go both ways.” / “Nowadays, I think people are loyal to… rather than to…”</a:t>
            </a:r>
          </a:p>
          <a:p>
            <a:r>
              <a:t>4. How can you tell the difference between feeling bored and being stuck? | “If I’m bored, I’d… but if I’m stuck, …” / “A sign that I’m stuck is when…”</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“Loyalty still matters, but I think it has to go both ways. If a company supports my development and treats me fairly, I’m happy to stay and give my best. But if I’m expected to be loyal while the company cuts staff and freezes training, that’s one-sided. Nowadays I think people are loyal to their teams and their work rather than to a company logo.”</a:t>
            </a:r>
          </a:p>
          <a:p>
            <a:r>
              <a:t>go both ways = 双向的。one-sided = 片面的。”rather than” 连接两个平行成分。freeze = 冻结(如冻结招聘或培训)。</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don’t want to leave my job. | I’d rather stay where I am for now. | would rather + 动词原形</a:t>
            </a:r>
          </a:p>
          <a:p>
            <a:r>
              <a:t>My job is boring. | I feel I’ve plateaued in this role. | 比 boring 更专业</a:t>
            </a:r>
          </a:p>
          <a:p>
            <a:r>
              <a:t>I’m afraid to change. | I’m reluctant to leave my comfort zone. | reluctant 不情愿</a:t>
            </a:r>
          </a:p>
          <a:p>
            <a:r>
              <a:t>I want a better job but I can’t. | I’d like more responsibility, but the opportunities are limited. | 说明现实限制</a:t>
            </a:r>
          </a:p>
          <a:p>
            <a:r>
              <a:t>They keep us here with money. | The benefits package makes it hard to leave. | 描述“金手铐”</a:t>
            </a:r>
          </a:p>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Would rather + verb: “I’d rather stay.” (no to). Would rather not + verb: “I’d rather not move.”</a:t>
            </a:r>
          </a:p>
          <a:p>
            <a:r>
              <a:t>Contrast and concession: although, even though, while, however. “While I understand the risk, I’d still apply.”</a:t>
            </a:r>
          </a:p>
          <a:p>
            <a:r>
              <a:t>Comparatives: less secure, more engaged, the more… the more… “The longer you stay, the harder it is to leave.”</a:t>
            </a:r>
          </a:p>
          <a:p>
            <a:r>
              <a:t>Collocations: weigh up options · take a risk · stay put · stick with · hold on to · stay engaged.</a:t>
            </a:r>
          </a:p>
          <a:p>
            <a:r>
              <a:t>Uncountable nouns: security, loyalty, stability, progress. Say a lot of stability, not many stabilities.</a:t>
            </a:r>
          </a:p>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prefer stay in my job.  →  ✓ I prefer to stay / staying in my job. / I’d rather stay in my job.  (prefer to / -ing; would rather + 原形)</a:t>
            </a:r>
          </a:p>
          <a:p>
            <a:r>
              <a:t>✗ The more you stay, the more it is difficult.  →  ✓ The longer you stay, the harder it gets.  (the + 比较级, the + 比较级)</a:t>
            </a:r>
          </a:p>
          <a:p>
            <a:r>
              <a:t>✗ Although it is risky, but I will stay.  →  ✓ Although it is risky, I’ll stay.  (although 和 but 不同时用)</a:t>
            </a:r>
          </a:p>
          <a:p>
            <a:r>
              <a:t>Mistake Watch: Check although … , (no but), the + comparative, the + comparative and -ing after prepositions.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afraid of lose my job.  →  ✓ I’m afraid of losing my job.  (介词后用 -ing)</a:t>
            </a:r>
          </a:p>
          <a:p>
            <a:r>
              <a:t>✗ The job is boring, so I feel stuck of it.  →  ✓ The job is boring, so I feel stuck in it.  (stuck in)</a:t>
            </a:r>
          </a:p>
          <a:p>
            <a:r>
              <a:t>✗ It has no any opportunities.  →  ✓ There are no opportunities. / It offers no opportunities.  (no 与 any 不连用)</a:t>
            </a:r>
          </a:p>
          <a:p>
            <a:r>
              <a:t>Mistake Watch: Check although … , (no but), the + comparative, the + comparative and -ing after prepositions.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Job-hopping vs job-hugging: In the US and UK both patterns exist. Staying 3–5 years is seen as normal; moving every year can raise questions.</a:t>
            </a:r>
          </a:p>
          <a:p>
            <a:r>
              <a:t>Internal mobility (moving within the same company) is often encouraged in large Western firms. Ask HR about “internal vacancies”.</a:t>
            </a:r>
          </a:p>
          <a:p>
            <a:r>
              <a:t>Honest conversations: Telling your manager you feel stuck is acceptable if you offer a constructive solution.</a:t>
            </a:r>
          </a:p>
          <a:p>
            <a:r>
              <a:t>Notice period and benefits: In the US, many people stay for health insurance. In the UK and EU, it is more often about pensions, contracts and notice periods.</a:t>
            </a:r>
          </a:p>
          <a:p>
            <a:r>
              <a:t>讨论“稳定 vs 成长”时用 “On the one hand… on the other hand…”。和上司谈话时,不要威胁离职,而是提出具体想要的东西(新项目、培训)。</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reasons for and against staying in a job.</a:t>
            </a:r>
          </a:p>
          <a:p>
            <a:r>
              <a:t>I can talk about my own career comfort zone honestly and tactfully.</a:t>
            </a:r>
          </a:p>
          <a:p>
            <a:r>
              <a:t>I can use would rather and the more… the more… correctly.</a:t>
            </a:r>
          </a:p>
          <a:p>
            <a:r>
              <a:t>I can have a constructive “stay or go” conversation with a manager.</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would rather, although / but, and -ing after prepositions.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08 · Quit Your Job but Save Your Career 辞掉工作但保住职业生涯</a:t>
            </a:r>
          </a:p>
          <a:p>
            <a:r>
              <a:t>Goal: resign professionally: give notice, write a short resignation letter, handle the conversation, and leave with your reputation and relationships intact.</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题用过去式。第 4 题用 would 回答。注意 resign from + 职位/公司,quit + 工作(口语)。on good terms = 关系良好地。</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you would resign from a job so that you protect your reputation.</a:t>
            </a:r>
          </a:p>
          <a:p>
            <a:r>
              <a:t>Say: tell your manager first → write a short letter → hand over carefully → stay positive until the last day</a:t>
            </a:r>
          </a:p>
          <a:p>
            <a:r>
              <a:t>Useful starters: “The first thing I’d do is…” / “I’d make sure to…” / “Even if I’m unhappy, I wouldn’t…”</a:t>
            </a:r>
          </a:p>
          <a:p>
            <a:r>
              <a:t>“protect your reputation” 保护声誉。常用结构:make sure to + 动词原形,以及 “Even if…, I wouldn’t…”(让步 + 条件)。</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People remember how you leave a job almost as clearly as how you worked in it. Industries are smaller than they look, and a former boss may become a future client, a reference or a decision-maker in a company you want to join. So resign carefully. Tell your manager in person or by video call before you tell your colleagues, and keep the message short, clear and polite. Follow up with a brief letter that confirms the date of your last day; there is no need to list every complaint. Offer to help with the handover, and mean it. A tidy set of notes will protect your reputation more than any speech. Be professional right up to the final afternoon, even if you feel the urge to relax. Finally, say thank you, because kindness at the end is what people recall.</a:t>
            </a:r>
          </a:p>
          <a:p>
            <a:r>
              <a:t>urge = 冲动。”tidy” = 整洁有序的。”what people recall” 中的 recall = remember。注意 “no need to + 动词原形” = 不必…。</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does it matter how you leave a job?</a:t>
            </a:r>
          </a:p>
          <a:p>
            <a:r>
              <a:t>A: Industries are small, and a former boss may become a reference, client or decision-maker later.</a:t>
            </a:r>
          </a:p>
          <a:p>
            <a:r>
              <a:t>Q2. Who should hear the news first?</a:t>
            </a:r>
          </a:p>
          <a:p>
            <a:r>
              <a:t>A: Your manager, in person or by video call, before colleagues.</a:t>
            </a:r>
          </a:p>
          <a:p>
            <a:r>
              <a:t>Q3. What does the writer say protects your reputation more than a speech?</a:t>
            </a:r>
          </a:p>
          <a:p>
            <a:r>
              <a:t>A: A tidy set of handover notes.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Resigning professionally 专业地辞职</a:t>
            </a:r>
          </a:p>
          <a:p>
            <a:r>
              <a:t>领读 → 学员跟读 → 请学员用表达造一个和自己工作相关的句子。</a:t>
            </a:r>
          </a:p>
          <a:p>
            <a:r>
              <a:t>hand in / submit your resignation (collocation) 递交辞呈 — “She handed in her resignation on Monday.”</a:t>
            </a:r>
          </a:p>
          <a:p>
            <a:r>
              <a:t>notice period (noun) 通知期 — “My notice period is one month.”</a:t>
            </a:r>
          </a:p>
          <a:p>
            <a:r>
              <a:t>resignation letter (noun) 辞职信 — “Keep your resignation letter short and polite.”</a:t>
            </a:r>
          </a:p>
          <a:p>
            <a:r>
              <a:t>last day (noun) 最后一个工作日 — “My last day will be 30 June.”</a:t>
            </a:r>
          </a:p>
          <a:p>
            <a:r>
              <a:t>reference (noun) 推荐人 — “My manager agreed to be a reference.”</a:t>
            </a:r>
          </a:p>
          <a:p>
            <a:r>
              <a:t>counteroffer (noun) 挽留条件(加薪等) — “He turned down the counteroffer and left.”</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Protecting your reputation ★ 维护声誉</a:t>
            </a:r>
          </a:p>
          <a:p>
            <a:r>
              <a:t>领读 → 学员跟读 → 请学员用表达造一个和自己工作相关的句子。</a:t>
            </a:r>
          </a:p>
          <a:p>
            <a:r>
              <a:t>★ leave on good terms (collocation) 好聚好散 — “I left on good terms and still meet my old team.”</a:t>
            </a:r>
          </a:p>
          <a:p>
            <a:r>
              <a:t>★ burn your bridges (idiom) 断绝后路 — “Don’t burn your bridges when you leave.”</a:t>
            </a:r>
          </a:p>
          <a:p>
            <a:r>
              <a:t>★ tie up loose ends (idiom) 处理遗留事项 — “I spent my last week tying up loose ends.”</a:t>
            </a:r>
          </a:p>
          <a:p>
            <a:r>
              <a:t>★ step down (phrasal verb) 辞去(职位) — “She stepped down as head of marketing.”</a:t>
            </a:r>
          </a:p>
          <a:p>
            <a:r>
              <a:t>★ part ways (with) (phrasal) 分道扬镳 — “The company and its CEO agreed to part ways.”</a:t>
            </a:r>
          </a:p>
          <a:p>
            <a:r>
              <a:t>★ give someone a heads-up (idiom) 提前通知某人 — “I gave my manager a heads-up before sending the email.”</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notice / resignation / counteroffer / bridges / loose ends / heads-up</a:t>
            </a:r>
          </a:p>
          <a:p>
            <a:r>
              <a:t>1. My _______ period is one month. → notice</a:t>
            </a:r>
          </a:p>
          <a:p>
            <a:r>
              <a:t>2. She handed in her _______ on Monday. → resignation</a:t>
            </a:r>
          </a:p>
          <a:p>
            <a:r>
              <a:t>3. He turned down the _______ and left anyway. → counteroffer</a:t>
            </a:r>
          </a:p>
          <a:p>
            <a:r>
              <a:t>4. Don’t burn your _______ when you leave. → bridges</a:t>
            </a:r>
          </a:p>
          <a:p>
            <a:r>
              <a:t>5. In my last week, I tied up all the _______. → loose ends</a:t>
            </a:r>
          </a:p>
          <a:p>
            <a:r>
              <a:t>6. I gave my manager a _______ before I sent the email. → heads-up</a:t>
            </a:r>
          </a:p>
          <a:p>
            <a:r>
              <a:t>Mistake Watch (拼写与搭配): resignation (not “resignition”), reference (not “referance”), colleague (not “colleage”). Burn your bridges is plural; tie up loose ends is plural. Resign is followed by from: “resign from my position”.</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Handing in your resignation 递交辞呈</a:t>
            </a:r>
          </a:p>
          <a:p>
            <a:r>
              <a:t>情景：You have accepted an offer at another company. You meet your manager, Alice, to hand in your resignation.</a:t>
            </a:r>
          </a:p>
          <a:p>
            <a:r>
              <a:t>Role A: Kevin Liu, project manager (you) Role B: Alice Grant, department head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(Kevin): Alice, have you got a few minutes? There’s something I’d like to discuss in private.</a:t>
            </a:r>
          </a:p>
          <a:p>
            <a:r>
              <a:t>B (Alice): Of course. Let’s use the small meeting room. What’s on your mind?</a:t>
            </a:r>
          </a:p>
          <a:p>
            <a:r>
              <a:t>A: I’ll get straight to the point. I’ve decided to resign. I’ve accepted a position at another company.</a:t>
            </a:r>
          </a:p>
          <a:p>
            <a:r>
              <a:t>B: Oh, I’m sorry to hear that. May I ask what led to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It was a difficult decision. I’ve learned a lot here, but this role gives me the chance to lead a larger team.</a:t>
            </a:r>
          </a:p>
          <a:p>
            <a:r>
              <a:t>B: I understand. If we offered you a new role, would you reconsider?</a:t>
            </a:r>
          </a:p>
          <a:p>
            <a:r>
              <a:t>A: Thank you, that means a lot. But I’ve already thought it through carefully, and my decision is final.</a:t>
            </a:r>
          </a:p>
          <a:p>
            <a:r>
              <a:t>B: Okay. What’s your notice period, and when would you like your last day to be?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It’s one month, so my last day would be the thirtieth. I’m happy to put everything in writing today.</a:t>
            </a:r>
          </a:p>
          <a:p>
            <a:r>
              <a:t>B: Thank you. Could you prepare a handover plan for the Singapore project?</a:t>
            </a:r>
          </a:p>
          <a:p>
            <a:r>
              <a:t>A: Absolutely. I’ll finish it by next Friday, and I’ll train whoever takes over.</a:t>
            </a:r>
          </a:p>
          <a:p>
            <a:r>
              <a:t>B: I appreciate that, Kevin. You’ve done excellent work here, and I’d be glad to be a reference.</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08 | </a:t>
            </a:r>
          </a:p>
          <a:p>
            <a:r>
              <a:t>Situation | An employee resigns from a job to a manager.</a:t>
            </a:r>
          </a:p>
          <a:p>
            <a:r>
              <a:t>Your role (A) | Employee. The job you are leaving and why (briefly): ______________</a:t>
            </a:r>
          </a:p>
          <a:p>
            <a:r>
              <a:t>Partner’s role (B) | Manager. Surprised, but professional.</a:t>
            </a:r>
          </a:p>
          <a:p>
            <a:r>
              <a:t>Must use (4 or more) | resign · notice period · hand over · last day · leave on good terms · reference</a:t>
            </a:r>
          </a:p>
          <a:p>
            <a:r>
              <a:t>Goal | Say clearly that you are leaving, give the date, offer a handover, and stay positive.</a:t>
            </a:r>
          </a:p>
          <a:p>
            <a:r>
              <a:t>My notes | ____________________________________________</a:t>
            </a:r>
          </a:p>
          <a:p>
            <a:r>
              <a:t>Alice makes a counteroffer: a 15% raise. Decline politely without criticising the company.</a:t>
            </a:r>
          </a:p>
          <a:p>
            <a:r>
              <a:t>Alice asks: “Was it something we did?” Answer honestly but tactfully, in two sentences.</a:t>
            </a:r>
          </a:p>
          <a:p>
            <a:r>
              <a:t>Write your two-sentence resignation email. Include the date and a thank-you.</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right way to tell a manager you are leaving? In person, email or both? | “I’d tell them in person first and then confirm by email because…”</a:t>
            </a:r>
          </a:p>
          <a:p>
            <a:r>
              <a:t>2. Should you tell your boss the real reason you are leaving? | “I’d give a positive reason such as…” / “If asked directly, I’d say…”</a:t>
            </a:r>
          </a:p>
          <a:p>
            <a:r>
              <a:t>3. What are the dangers of leaving angrily or posting complaints online? | “It might damage… because…” / “Even if you feel…, it’s not worth…”</a:t>
            </a:r>
          </a:p>
          <a:p>
            <a:r>
              <a:t>4. When might a counteroffer be tempting? Is it a good idea? | “It would be tempting if…” / “In my experience, people who accept it often…”</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counteroffer can be tempting if you were mainly unhappy about pay. But in my experience, if the real problem is something else, such as lack of growth or a poor relationship with the manager, extra money won’t solve it. Also, once you have said you want to leave, the relationship may change. I’d accept only if the company also addressed the real reason and put it in writing.”</a:t>
            </a:r>
          </a:p>
          <a:p>
            <a:r>
              <a:t>“address the problem” = 着手解决问题。”in my experience” 用来引出个人经验。 “put it in writing” = 书面确认。tempting = 诱人的。</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quit. | I’ve decided to resign from my position. | quit 偏口语,resign 更正式</a:t>
            </a:r>
          </a:p>
          <a:p>
            <a:r>
              <a:t>I’m leaving because the boss is bad. | I feel it’s time for a new challenge. | 避免批评</a:t>
            </a:r>
          </a:p>
          <a:p>
            <a:r>
              <a:t>I’ll leave on 30 June. | My last day will be 30 June. | 明确日期</a:t>
            </a:r>
          </a:p>
          <a:p>
            <a:r>
              <a:t>Don’t worry, I’ll tell the new person. | I’ll make sure the handover is thorough. | 专业的承诺</a:t>
            </a:r>
          </a:p>
          <a:p>
            <a:r>
              <a:t>I hate this place. | It hasn’t been the right fit for me. | 不批评,仅表达不适合</a:t>
            </a:r>
          </a:p>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Announcing and promising: announce a decision with the present perfect or present continuous (“I’ve decided to resign”, “I’m leaving at the end of June”); make offers and promises with will (“I’ll finish the handover by Friday”).</a:t>
            </a:r>
          </a:p>
          <a:p>
            <a:r>
              <a:t>Polite softeners: I’m afraid, unfortunately, I’d like to let you know that…. “I’m afraid I’ve decided to move on.”</a:t>
            </a:r>
          </a:p>
          <a:p>
            <a:r>
              <a:t>Time expressions: by (before or on) next Friday vs until (continuing up to): “I’ll work until the 30th” / “I’ll finish this by the 30th.”</a:t>
            </a:r>
          </a:p>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Dates: UK: 30 June; US: June 30. Both are fine in writing; say it aloud as “the thirtieth of June” or “June thirtieth”.</a:t>
            </a:r>
          </a:p>
          <a:p>
            <a:r>
              <a:t>Wording: “Resign from a post” · “hand in your notice” (UK) · “give notice” (US) · “put in your two weeks” (US informal).</a:t>
            </a:r>
          </a:p>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want to resign my job.  →  ✓ I want to resign from my job. / I want to quit my job.  (resign from)</a:t>
            </a:r>
          </a:p>
          <a:p>
            <a:r>
              <a:t>✗ I will leave until 30 June.  →  ✓ I will stay until 30 June. / I will leave on 30 June.  (until 表示持续到;leave on 具体日期)</a:t>
            </a:r>
          </a:p>
          <a:p>
            <a:r>
              <a:t>✗ I’m sorry to tell you I leave.  →  ✓ I’m afraid I’m leaving. / I’m sorry to say I’ve decided to leave.  (用进行时或完成时表示决定)</a:t>
            </a:r>
          </a:p>
          <a:p>
            <a:r>
              <a:t>Mistake Watch: Check by / until, prepositions (resign from) and over the past three years with the present perfect.</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a resign letter.  →  ✓ I have a resignation letter.  (resign 是动词,resignation 是名词)</a:t>
            </a:r>
          </a:p>
          <a:p>
            <a:r>
              <a:t>✗ Please let me to know.  →  ✓ Please let me know.  (let + 宾语 + 动词原形(不带 to))</a:t>
            </a:r>
          </a:p>
          <a:p>
            <a:r>
              <a:t>✗ I thank you for your guidance in the past 3 years.  →  ✓ Thank you for your guidance over the past three years.  (over the past + 时间段)</a:t>
            </a:r>
          </a:p>
          <a:p>
            <a:r>
              <a:t>Mistake Watch: Check by / until, prepositions (resign from) and over the past three years with the present perfect.</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No need to explain in detail. In the UK and US, a short, polite reason is enough. You don’t have to justify yourself at length.</a:t>
            </a:r>
          </a:p>
          <a:p>
            <a:r>
              <a:t>Notice: Check your contract. One month is typical in the UK; two weeks is common in the US, although this is custom, not always law.</a:t>
            </a:r>
          </a:p>
          <a:p>
            <a:r>
              <a:t>Social media: Do not post complaints about your employer. Recruiters search online, and screenshots last forever.</a:t>
            </a:r>
          </a:p>
          <a:p>
            <a:r>
              <a:t>References: It is normal to ask your manager to act as a reference before you leave. Ask in a friendly way: “Would you be willing to act as a reference?”</a:t>
            </a:r>
          </a:p>
          <a:p>
            <a:r>
              <a:t>辞职时语气要冷静、简短,不要列举抱怨。离职后的评价(reference)往往决定下一份工作,所以交接和告别很重要。</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resign politely and clearly.</a:t>
            </a:r>
          </a:p>
          <a:p>
            <a:r>
              <a:t>I can explain a reason for leaving without criticising anyone.</a:t>
            </a:r>
          </a:p>
          <a:p>
            <a:r>
              <a:t>I can offer and discuss a handover plan.</a:t>
            </a:r>
          </a:p>
          <a:p>
            <a:r>
              <a:t>I can use by / until and resign from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by / until, resign from, and over the past + period with the present perfect.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09 · Exit Interviews 离职面谈</a:t>
            </a:r>
          </a:p>
          <a:p>
            <a:r>
              <a:t>Goal: take part in an exit interview: give honest but constructive feedback, answer typical HR questions, and stay professional.</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题:现在完成时(Have you ever…?)。第 4 题用第二条件句 “If I were leaving, I’d say…”。constructive criticism = 建设性批评。</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Imagine you are leaving your company. Give honest feedback in a constructive way.</a:t>
            </a:r>
          </a:p>
          <a:p>
            <a:r>
              <a:t>Say: what worked well → one thing to improve → a suggestion → thanks</a:t>
            </a:r>
          </a:p>
          <a:p>
            <a:r>
              <a:t>Useful starters: “One thing I really valued was…” / “If I could change one thing, it would be…” / “It might help to…”</a:t>
            </a:r>
          </a:p>
          <a:p>
            <a:r>
              <a:t>先肯定、再建议:“sandwich” 反馈法(好处—改进—好处)。”If I could change one thing, it would be…” 是很实用的句型。</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An exit interview is usually a short chat with someone from HR, held in your final week. The company wants to know why you are leaving and what it could do better. The conversation is often more valuable to the company than to you, which is why many people feel unsure how frank to be. Most career experts advise being honest but measured. Focus on facts and patterns, not on personalities. Instead of saying “My manager is useless,” try: “I would have liked clearer feedback and more regular one-to-ones.” Mention what you appreciated as well, because that makes your criticism easier to hear. Avoid speaking in anger, and remember that anything you say may end up in a report. If the company really wants to learn, it will take a calm, specific comment more seriously than a long list of complaints.</a:t>
            </a:r>
          </a:p>
          <a:p>
            <a:r>
              <a:t>frank = 坦率的。measured = 有分寸的。”may end up in a report” = 可能最终被写进报告。注意 “would have liked” 表示对过去的遗憾。</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Who normally holds an exit interview, and when?</a:t>
            </a:r>
          </a:p>
          <a:p>
            <a:r>
              <a:t>A: Someone from HR, usually in your final week.</a:t>
            </a:r>
          </a:p>
          <a:p>
            <a:r>
              <a:t>Q2. What does the writer advise instead of saying “My manager is useless”?</a:t>
            </a:r>
          </a:p>
          <a:p>
            <a:r>
              <a:t>A: Make a specific, polite comment, such as wanting clearer feedback and more regular one-to-ones.</a:t>
            </a:r>
          </a:p>
          <a:p>
            <a:r>
              <a:t>Q3. Why mention things you appreciated?</a:t>
            </a:r>
          </a:p>
          <a:p>
            <a:r>
              <a:t>A: It makes your criticism easier for the company to hear.</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Exit interview language 离职面谈用语</a:t>
            </a:r>
          </a:p>
          <a:p>
            <a:r>
              <a:t>领读 → 学员跟读 → 请学员用表达造一个和自己工作相关的句子。</a:t>
            </a:r>
          </a:p>
          <a:p>
            <a:r>
              <a:t>exit interview (noun) 离职面谈 — “HR invited me to an exit interview on my last Thursday.”</a:t>
            </a:r>
          </a:p>
          <a:p>
            <a:r>
              <a:t>feedback (noun (uncountable)) 反馈 — “I’d like to give you some feedback on my experience.”</a:t>
            </a:r>
          </a:p>
          <a:p>
            <a:r>
              <a:t>constructive criticism (noun phrase) 建设性批评 — “Constructive criticism helps the company to improve.”</a:t>
            </a:r>
          </a:p>
          <a:p>
            <a:r>
              <a:t>career development (noun phrase) 职业发展 — “There were few opportunities for career development.”</a:t>
            </a:r>
          </a:p>
          <a:p>
            <a:r>
              <a:t>work-life balance (noun) 工作与生活的平衡 — “The long hours affected my work-life balance.”</a:t>
            </a:r>
          </a:p>
          <a:p>
            <a:r>
              <a:t>appreciate (verb) 感激,重视 — “I really appreciated the flexibility the team offered.”</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Giving honest but diplomatic feedback ★ 坦诚而得体的反馈</a:t>
            </a:r>
          </a:p>
          <a:p>
            <a:r>
              <a:t>领读 → 学员跟读 → 请学员用表达造一个和自己工作相关的句子。</a:t>
            </a:r>
          </a:p>
          <a:p>
            <a:r>
              <a:t>★ in hindsight (adverb phrase) 事后看来 — “In hindsight, I should have raised my concerns earlier.”</a:t>
            </a:r>
          </a:p>
          <a:p>
            <a:r>
              <a:t>★ to be fair (discourse marker) 公平地说 — “To be fair, the company did try to improve things.”</a:t>
            </a:r>
          </a:p>
          <a:p>
            <a:r>
              <a:t>★ there is room for improvement (phrase) 还有改进空间 — “I think there is room for improvement in internal communication.”</a:t>
            </a:r>
          </a:p>
          <a:p>
            <a:r>
              <a:t>★ on the whole (adverb phrase) 总的来说 — “On the whole, it was a positive experience.”</a:t>
            </a:r>
          </a:p>
          <a:p>
            <a:r>
              <a:t>★ part of the reason (phrase) 部分原因 — “Part of the reason I’m leaving is the lack of progression.”</a:t>
            </a:r>
          </a:p>
          <a:p>
            <a:r>
              <a:t>★ speak candidly (collocation) 坦率地说 — “I’ll speak candidly: communication between teams could be better.”</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feedback / Constructive / balance / hindsight / fair / room for improvement</a:t>
            </a:r>
          </a:p>
          <a:p>
            <a:r>
              <a:t>1. I’d like to give you some _______ on my experience here. → feedback</a:t>
            </a:r>
          </a:p>
          <a:p>
            <a:r>
              <a:t>2. _______ criticism helps the company to improve. → Constructive</a:t>
            </a:r>
          </a:p>
          <a:p>
            <a:r>
              <a:t>3. The long hours affected my work-life _______. → balance</a:t>
            </a:r>
          </a:p>
          <a:p>
            <a:r>
              <a:t>4. In _______, I should have raised my concerns earlier. → hindsight</a:t>
            </a:r>
          </a:p>
          <a:p>
            <a:r>
              <a:t>5. To be _______, the company did try to improve things. → fair</a:t>
            </a:r>
          </a:p>
          <a:p>
            <a:r>
              <a:t>6. There is _______ in how we share information between teams. → room for improvement</a:t>
            </a:r>
          </a:p>
          <a:p>
            <a:r>
              <a:t>Mistake Watch (拼写与语法): feedback is uncountable: some feedback, not “a feedback” or “feedbacks”. Also: appreciate (not “apreciate”), balance (not “ballance”), candidly (not “candidely”).</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exit interview with HR 与人力资源的离职面谈</a:t>
            </a:r>
          </a:p>
          <a:p>
            <a:r>
              <a:t>情景：It is your last week. Rachel from HR holds an exit interview to learn why you are leaving.</a:t>
            </a:r>
          </a:p>
          <a:p>
            <a:r>
              <a:t>Role A: Mei Ling, marketing executive (you) Role B: Rachel Brown, HR business partner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(Mei Ling): Hi Rachel, thanks for inviting me.</a:t>
            </a:r>
          </a:p>
          <a:p>
            <a:r>
              <a:t>B (Rachel): Thanks for coming, Mei Ling. This is a confidential chat. We’d just like to understand your experience and learn from it. Is that okay?</a:t>
            </a:r>
          </a:p>
          <a:p>
            <a:r>
              <a:t>A: Of course. I’m happy to share.</a:t>
            </a:r>
          </a:p>
          <a:p>
            <a:r>
              <a:t>B: To start, what led you to look for a new role?</a:t>
            </a:r>
          </a:p>
          <a:p>
            <a:r>
              <a:t>A: Part of the reason was career development. I didn’t see a clear path to the next level, and my team has been very stretched.</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I see. Was there anything that made you consider staying?</a:t>
            </a:r>
          </a:p>
          <a:p>
            <a:r>
              <a:t>A: To be fair, I really enjoyed my colleagues and the creative freedom. On the whole, it’s been a very positive experience.</a:t>
            </a:r>
          </a:p>
          <a:p>
            <a:r>
              <a:t>B: That’s good to hear. If you could change one thing about the company, what would it be?</a:t>
            </a:r>
          </a:p>
          <a:p>
            <a:r>
              <a:t>A: I’d say communication between departments. Sometimes we only heard about big decisions when they were already announced. I think there’s room for improvement there.</a:t>
            </a:r>
          </a:p>
          <a:p>
            <a:r>
              <a:t>B: Thank you. That’s useful. Would you recommend the company to a friend?</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Yes, I would, especially for early-career people. I’d just mention the workload during busy periods.</a:t>
            </a:r>
          </a:p>
          <a:p>
            <a:r>
              <a:t>B: Fair enough. Is there anything else you’d like to add?</a:t>
            </a:r>
          </a:p>
          <a:p>
            <a:r>
              <a:t>A: Just a thank you to the team. I’ve learned a lot here.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09 | </a:t>
            </a:r>
          </a:p>
          <a:p>
            <a:r>
              <a:t>Situation | You take part in an exit interview with HR.</a:t>
            </a:r>
          </a:p>
          <a:p>
            <a:r>
              <a:t>Your role (A) | Leaving employee. Your reason for leaving: ______________</a:t>
            </a:r>
          </a:p>
          <a:p>
            <a:r>
              <a:t>Partner’s role (B) | HR partner. Neutral, friendly, takes notes.</a:t>
            </a:r>
          </a:p>
          <a:p>
            <a:r>
              <a:t>Must use (4 or more) | feedback · career development · work-life balance · to be fair · on the whole · room for improvement</a:t>
            </a:r>
          </a:p>
          <a:p>
            <a:r>
              <a:t>Goal | Give one honest reason for leaving, one positive and one suggestion.</a:t>
            </a:r>
          </a:p>
          <a:p>
            <a:r>
              <a:t>My notes | ____________________________________________</a:t>
            </a:r>
          </a:p>
          <a:p>
            <a:r>
              <a:t>Rachel asks: “Was your manager part of the reason?” Give a diplomatic answer that avoids blaming anyone.</a:t>
            </a:r>
          </a:p>
          <a:p>
            <a:r>
              <a:t>You are very angry. Practise saying the same feedback in a calm, factual way.</a:t>
            </a:r>
          </a:p>
          <a:p>
            <a:r>
              <a:t>You are the HR partner. Ask five open questions in 60 seconds and use follow-ups like “Could you tell me more about that?”</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Should you be completely honest in an exit interview? What is the risk? | “I’d be honest but measured because…” / “The risk is that…”</a:t>
            </a:r>
          </a:p>
          <a:p>
            <a:r>
              <a:t>2. What could companies do with the information from exit interviews? | “They could use it to…” / “If many people mention…, they should…”</a:t>
            </a:r>
          </a:p>
          <a:p>
            <a:r>
              <a:t>3. Would you recommend your current employer to a friend? Why or why not? | “I’d recommend it to someone who…” / “I’d hesitate to recommend it because…”</a:t>
            </a:r>
          </a:p>
          <a:p>
            <a:r>
              <a:t>4. Is it better for companies to hold “stay interviews” before people leave? | “That would help because…” / “People might be more open when…”</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stay interviews are a great idea. In an exit interview, the person has already decided to leave, so it’s too late for the company to change much. A stay interview asks current employees what keeps them motivated and what would make them think about leaving. That way, the company can solve problems early. People might be more open when they feel the conversation could actually improve their situation.”</a:t>
            </a:r>
          </a:p>
          <a:p>
            <a:r>
              <a:t>stay interview = 留任面谈(了解在职员工想法)。”too late for… to…” 的结构要熟悉。”That way, …” 常用来说明结果。</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don’t like my boss. | I’d have liked more regular feedback and support from my manager. | would have liked 表示委婉的遗憾</a:t>
            </a:r>
          </a:p>
          <a:p>
            <a:r>
              <a:t>The pay is low. | I felt the compensation was below the market rate. | compensation 更专业</a:t>
            </a:r>
          </a:p>
          <a:p>
            <a:r>
              <a:t>Nobody tells us anything. | Communication between departments could be improved. | 对事不对人</a:t>
            </a:r>
          </a:p>
          <a:p>
            <a:r>
              <a:t>I’m leaving because I want more money. | I received an offer that better matches my career goals. | 避免只谈钱</a:t>
            </a:r>
          </a:p>
          <a:p>
            <a:r>
              <a:t>This place is a mess. | There’s room for improvement in how we organise projects. | 委婉批评</a:t>
            </a:r>
          </a:p>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Would have + past participle for past regrets or wishes: “I would have liked more training.” / “It would have helped to have clearer goals.”</a:t>
            </a:r>
          </a:p>
          <a:p>
            <a:r>
              <a:t>Hedging and softening: I felt that…, it seemed to me, in my experience, to some extent. They make criticism easier to accept.</a:t>
            </a:r>
          </a:p>
          <a:p>
            <a:r>
              <a:t>Specific beats general: “The weekly report took three hours and nobody read it” is better than “There are too many reports.”</a:t>
            </a:r>
          </a:p>
          <a:p>
            <a:r>
              <a:t>Uncountable: feedback, advice, information, progress, training. Count with a piece of: “a piece of advice”.</a:t>
            </a:r>
          </a:p>
          <a:p>
            <a:r>
              <a:t>Open follow-ups: “Could you tell me more about that?” · “What would have made a difference?” · “Can you give me an example?”</a:t>
            </a:r>
          </a:p>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want to give you some feedbacks.  →  ✓ I’d like to give you some feedback.  (feedback 不可数)</a:t>
            </a:r>
          </a:p>
          <a:p>
            <a:r>
              <a:t>✗ I am not satisfy with my salary.  →  ✓ I’m not satisfied with my salary.  (be satisfied with)</a:t>
            </a:r>
          </a:p>
          <a:p>
            <a:r>
              <a:t>✗ The company has to improving communication.  →  ✓ The company needs to improve communication.  (have to / need to + 动词原形)</a:t>
            </a:r>
          </a:p>
          <a:p>
            <a:r>
              <a:t>Mistake Watch: Check feedback / advice (uncountable), satisfied with / strict with, and subject-verb agreement with company.</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communication between departments is not enough.  →  ✓ Communication between departments is limited. / There isn’t enough communication between departments.  (泛指的抽象名词前不加 the)</a:t>
            </a:r>
          </a:p>
          <a:p>
            <a:r>
              <a:t>✗ My boss was too strict to me.  →  ✓ My boss was too strict with me.  (strict with)</a:t>
            </a:r>
          </a:p>
          <a:p>
            <a:r>
              <a:t>✗ The company don’t give enough training.  →  ✓ The company doesn’t give enough training.  (company 单数 + doesn’t)</a:t>
            </a:r>
          </a:p>
          <a:p>
            <a:r>
              <a:t>Mistake Watch: Check feedback / advice (uncountable), satisfied with / strict with, and subject-verb agreement with company.</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Confidential? HR often says the interview is confidential, but comments may still appear in anonymised reports. Say only what you would be comfortable seeing in writing.</a:t>
            </a:r>
          </a:p>
          <a:p>
            <a:r>
              <a:t>Voluntary in many countries: In the UK and US, exit interviews are usually optional. You may politely decline or answer in writing.</a:t>
            </a:r>
          </a:p>
          <a:p>
            <a:r>
              <a:t>Keep it constructive: Facts, examples and suggestions are better received than emotion.</a:t>
            </a:r>
          </a:p>
          <a:p>
            <a:r>
              <a:t>Alumni networks: Many companies keep in touch with former employees through alumni groups. Staying on good terms could lead to future opportunities.</a:t>
            </a:r>
          </a:p>
          <a:p>
            <a:r>
              <a:t>离职面谈是自愿且“半保密”的:说的话可能被整理进报告。用事实和建议表达,少用情绪化词语。</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give feedback in a diplomatic way using softening phrases.</a:t>
            </a:r>
          </a:p>
          <a:p>
            <a:r>
              <a:t>I can answer typical exit-interview questions (reasons, positives, suggestions).</a:t>
            </a:r>
          </a:p>
          <a:p>
            <a:r>
              <a:t>I can use would have + past participle to talk about past wishes.</a:t>
            </a:r>
          </a:p>
          <a:p>
            <a:r>
              <a:t>I can use feedback / advice correctly as uncountable nouns.</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would have + past participle, uncountable feedback, and subject–verb agreement with company.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“待业中(委婉说法)” in English? → between jobs</a:t>
            </a:r>
          </a:p>
          <a:p>
            <a:r>
              <a:t>“感激,重视” in English? → appreciate</a:t>
            </a:r>
          </a:p>
          <a:p>
            <a:r>
              <a:t>“能带来价值或技能” in English? → bring something to the table</a:t>
            </a:r>
          </a:p>
          <a:p>
            <a:r>
              <a:t>Fix it: The more you stay, the more it is difficult. → The longer you stay, the harder it gets.</a:t>
            </a:r>
          </a:p>
          <a:p>
            <a:r>
              <a:t>Fix it: I am very interesting in this job. → I’m very interested in this job.</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27.xml"/><Relationship Id="rId5" Type="http://schemas.openxmlformats.org/officeDocument/2006/relationships/slide" Target="slide50.xml"/><Relationship Id="rId6" Type="http://schemas.openxmlformats.org/officeDocument/2006/relationships/slide" Target="slide73.xml"/><Relationship Id="rId7" Type="http://schemas.openxmlformats.org/officeDocument/2006/relationships/slide" Target="slide96.xml"/><Relationship Id="rId8" Type="http://schemas.openxmlformats.org/officeDocument/2006/relationships/slide" Target="slide120.xml"/><Relationship Id="rId9" Type="http://schemas.openxmlformats.org/officeDocument/2006/relationships/slide" Target="slide142.xml"/><Relationship Id="rId10" Type="http://schemas.openxmlformats.org/officeDocument/2006/relationships/slide" Target="slide165.xml"/><Relationship Id="rId11" Type="http://schemas.openxmlformats.org/officeDocument/2006/relationships/slide" Target="slide18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2.xml"/><Relationship Id="rId4" Type="http://schemas.openxmlformats.org/officeDocument/2006/relationships/slide" Target="slide213.xml"/><Relationship Id="rId5" Type="http://schemas.openxmlformats.org/officeDocument/2006/relationships/slide" Target="slide214.xml"/><Relationship Id="rId6" Type="http://schemas.openxmlformats.org/officeDocument/2006/relationships/slide" Target="slide215.xml"/><Relationship Id="rId7" Type="http://schemas.openxmlformats.org/officeDocument/2006/relationships/slide" Target="slide216.xml"/><Relationship Id="rId8" Type="http://schemas.openxmlformats.org/officeDocument/2006/relationships/slide" Target="slide217.xml"/><Relationship Id="rId9" Type="http://schemas.openxmlformats.org/officeDocument/2006/relationships/slide" Target="slide218.xml"/><Relationship Id="rId10" Type="http://schemas.openxmlformats.org/officeDocument/2006/relationships/slide" Target="slide219.xml"/><Relationship Id="rId11" Type="http://schemas.openxmlformats.org/officeDocument/2006/relationships/slide" Target="slide220.xml"/><Relationship Id="rId12" Type="http://schemas.openxmlformats.org/officeDocument/2006/relationships/slide" Target="slide22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3.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4.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9-10 · UNIT 1</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Job Search and Career Choices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9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L01 Writing a Resume · L02 Writing a Killer Cover Letter · L03 Seeing Red Flags · L04 The Unemployment Club · L05 Back-Up Careers · L06 Moving On · L07 Job Hugging · L08 Quit Your Job but Save Your Career  +1 more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01</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Writing a Resume</a:t>
            </a:r>
          </a:p>
          <a:p>
            <a:pPr algn="l">
              <a:lnSpc>
                <a:spcPct val="100000"/>
              </a:lnSpc>
              <a:spcAft>
                <a:spcPts val="800"/>
              </a:spcAft>
            </a:pPr>
            <a:r>
              <a:rPr sz="1400" b="0">
                <a:solidFill>
                  <a:srgbClr val="5F677A"/>
                </a:solidFill>
                <a:latin typeface="Arial"/>
                <a:ea typeface="Microsoft YaHei"/>
              </a:rPr>
              <a:t>写简历</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02</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Writing a Killer Cover Letter</a:t>
            </a:r>
          </a:p>
          <a:p>
            <a:pPr algn="l">
              <a:lnSpc>
                <a:spcPct val="100000"/>
              </a:lnSpc>
              <a:spcAft>
                <a:spcPts val="800"/>
              </a:spcAft>
            </a:pPr>
            <a:r>
              <a:rPr sz="1400" b="0">
                <a:solidFill>
                  <a:srgbClr val="5F677A"/>
                </a:solidFill>
                <a:latin typeface="Arial"/>
                <a:ea typeface="Microsoft YaHei"/>
              </a:rPr>
              <a:t>如何撰写一份出色的求职信</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03</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Seeing Red Flags</a:t>
            </a:r>
          </a:p>
          <a:p>
            <a:pPr algn="l">
              <a:lnSpc>
                <a:spcPct val="100000"/>
              </a:lnSpc>
              <a:spcAft>
                <a:spcPts val="800"/>
              </a:spcAft>
            </a:pPr>
            <a:r>
              <a:rPr sz="1400" b="0">
                <a:solidFill>
                  <a:srgbClr val="5F677A"/>
                </a:solidFill>
                <a:latin typeface="Arial"/>
                <a:ea typeface="Microsoft YaHei"/>
              </a:rPr>
              <a:t>发现危险信号</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04</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Unemployment Club</a:t>
            </a:r>
          </a:p>
          <a:p>
            <a:pPr algn="l">
              <a:lnSpc>
                <a:spcPct val="100000"/>
              </a:lnSpc>
              <a:spcAft>
                <a:spcPts val="800"/>
              </a:spcAft>
            </a:pPr>
            <a:r>
              <a:rPr sz="1400" b="0">
                <a:solidFill>
                  <a:srgbClr val="5F677A"/>
                </a:solidFill>
                <a:latin typeface="Arial"/>
                <a:ea typeface="Microsoft YaHei"/>
              </a:rPr>
              <a:t>失业者俱乐部</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05</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Back-Up Careers</a:t>
            </a:r>
          </a:p>
          <a:p>
            <a:pPr algn="l">
              <a:lnSpc>
                <a:spcPct val="100000"/>
              </a:lnSpc>
              <a:spcAft>
                <a:spcPts val="800"/>
              </a:spcAft>
            </a:pPr>
            <a:r>
              <a:rPr sz="1400" b="0">
                <a:solidFill>
                  <a:srgbClr val="5F677A"/>
                </a:solidFill>
                <a:latin typeface="Arial"/>
                <a:ea typeface="Microsoft YaHei"/>
              </a:rPr>
              <a:t>备选职业</a:t>
            </a:r>
          </a:p>
        </p:txBody>
      </p:sp>
      <p:sp>
        <p:nvSpPr>
          <p:cNvPr id="22" name="Rounded Rectangle 21">
            <a:hlinkClick action="ppaction://hlinksldjump" r:id="rId8"/>
          </p:cNvPr>
          <p:cNvSpPr/>
          <p:nvPr/>
        </p:nvSpPr>
        <p:spPr>
          <a:xfrm>
            <a:off x="8066836" y="297180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76564" y="326898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06</a:t>
            </a:r>
          </a:p>
        </p:txBody>
      </p:sp>
      <p:sp>
        <p:nvSpPr>
          <p:cNvPr id="24" name="TextBox 23"/>
          <p:cNvSpPr txBox="1"/>
          <p:nvPr/>
        </p:nvSpPr>
        <p:spPr>
          <a:xfrm>
            <a:off x="9164116"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Moving On</a:t>
            </a:r>
          </a:p>
          <a:p>
            <a:pPr algn="l">
              <a:lnSpc>
                <a:spcPct val="100000"/>
              </a:lnSpc>
              <a:spcAft>
                <a:spcPts val="800"/>
              </a:spcAft>
            </a:pPr>
            <a:r>
              <a:rPr sz="1400" b="0">
                <a:solidFill>
                  <a:srgbClr val="5F677A"/>
                </a:solidFill>
                <a:latin typeface="Arial"/>
                <a:ea typeface="Microsoft YaHei"/>
              </a:rPr>
              <a:t>开启新职业生活</a:t>
            </a:r>
          </a:p>
        </p:txBody>
      </p:sp>
      <p:sp>
        <p:nvSpPr>
          <p:cNvPr id="25" name="Rounded Rectangle 24">
            <a:hlinkClick action="ppaction://hlinksldjump" r:id="rId9"/>
          </p:cNvPr>
          <p:cNvSpPr/>
          <p:nvPr/>
        </p:nvSpPr>
        <p:spPr>
          <a:xfrm>
            <a:off x="548640" y="438912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8368" y="468630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07</a:t>
            </a:r>
          </a:p>
        </p:txBody>
      </p:sp>
      <p:sp>
        <p:nvSpPr>
          <p:cNvPr id="27" name="TextBox 26"/>
          <p:cNvSpPr txBox="1"/>
          <p:nvPr/>
        </p:nvSpPr>
        <p:spPr>
          <a:xfrm>
            <a:off x="1645920"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Job Hugging</a:t>
            </a:r>
          </a:p>
          <a:p>
            <a:pPr algn="l">
              <a:lnSpc>
                <a:spcPct val="100000"/>
              </a:lnSpc>
              <a:spcAft>
                <a:spcPts val="800"/>
              </a:spcAft>
            </a:pPr>
            <a:r>
              <a:rPr sz="1400" b="0">
                <a:solidFill>
                  <a:srgbClr val="5F677A"/>
                </a:solidFill>
                <a:latin typeface="Arial"/>
                <a:ea typeface="Microsoft YaHei"/>
              </a:rPr>
              <a:t>拥抱工作</a:t>
            </a:r>
          </a:p>
        </p:txBody>
      </p:sp>
      <p:sp>
        <p:nvSpPr>
          <p:cNvPr id="28" name="Rounded Rectangle 27">
            <a:hlinkClick action="ppaction://hlinksldjump" r:id="rId10"/>
          </p:cNvPr>
          <p:cNvSpPr/>
          <p:nvPr/>
        </p:nvSpPr>
        <p:spPr>
          <a:xfrm>
            <a:off x="4307738" y="438912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417466" y="468630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08</a:t>
            </a:r>
          </a:p>
        </p:txBody>
      </p:sp>
      <p:sp>
        <p:nvSpPr>
          <p:cNvPr id="30" name="TextBox 29"/>
          <p:cNvSpPr txBox="1"/>
          <p:nvPr/>
        </p:nvSpPr>
        <p:spPr>
          <a:xfrm>
            <a:off x="5405018"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Quit Your Job but Save Your Career</a:t>
            </a:r>
          </a:p>
          <a:p>
            <a:pPr algn="l">
              <a:lnSpc>
                <a:spcPct val="100000"/>
              </a:lnSpc>
              <a:spcAft>
                <a:spcPts val="800"/>
              </a:spcAft>
            </a:pPr>
            <a:r>
              <a:rPr sz="1400" b="0">
                <a:solidFill>
                  <a:srgbClr val="5F677A"/>
                </a:solidFill>
                <a:latin typeface="Arial"/>
                <a:ea typeface="Microsoft YaHei"/>
              </a:rPr>
              <a:t>辞掉工作但保住职业生涯</a:t>
            </a:r>
          </a:p>
        </p:txBody>
      </p:sp>
      <p:sp>
        <p:nvSpPr>
          <p:cNvPr id="31" name="Rounded Rectangle 30">
            <a:hlinkClick action="ppaction://hlinksldjump" r:id="rId11"/>
          </p:cNvPr>
          <p:cNvSpPr/>
          <p:nvPr/>
        </p:nvSpPr>
        <p:spPr>
          <a:xfrm>
            <a:off x="8066836" y="438912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76564" y="468630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09</a:t>
            </a:r>
          </a:p>
        </p:txBody>
      </p:sp>
      <p:sp>
        <p:nvSpPr>
          <p:cNvPr id="33" name="TextBox 32"/>
          <p:cNvSpPr txBox="1"/>
          <p:nvPr/>
        </p:nvSpPr>
        <p:spPr>
          <a:xfrm>
            <a:off x="9164116"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Exit Interviews</a:t>
            </a:r>
          </a:p>
          <a:p>
            <a:pPr algn="l">
              <a:lnSpc>
                <a:spcPct val="100000"/>
              </a:lnSpc>
              <a:spcAft>
                <a:spcPts val="800"/>
              </a:spcAft>
            </a:pPr>
            <a:r>
              <a:rPr sz="1400" b="0">
                <a:solidFill>
                  <a:srgbClr val="5F677A"/>
                </a:solidFill>
                <a:latin typeface="Arial"/>
                <a:ea typeface="Microsoft YaHei"/>
              </a:rPr>
              <a:t>离职面谈</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 · Lesson 01 Writing a Resume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Writing a Resume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写简历</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write and talk about a sharp, results-focused resume: strong action verbs, numbers, and a version tailored to the job.</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7734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When did you last update your resume? What did you change, and why?</a:t>
            </a:r>
          </a:p>
        </p:txBody>
      </p:sp>
      <p:sp>
        <p:nvSpPr>
          <p:cNvPr id="12" name="Oval 11"/>
          <p:cNvSpPr/>
          <p:nvPr/>
        </p:nvSpPr>
        <p:spPr>
          <a:xfrm>
            <a:off x="548640" y="223570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12848"/>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12848"/>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How long should a resume be? What would you cut first if it were too long?</a:t>
            </a:r>
          </a:p>
        </p:txBody>
      </p:sp>
      <p:sp>
        <p:nvSpPr>
          <p:cNvPr id="15" name="Oval 14"/>
          <p:cNvSpPr/>
          <p:nvPr/>
        </p:nvSpPr>
        <p:spPr>
          <a:xfrm>
            <a:off x="548640" y="305409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871216"/>
            <a:ext cx="10408615" cy="8686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871216"/>
            <a:ext cx="10180015" cy="86868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Which is better on a resume: a list of duties or a list of achievements? Why?</a:t>
            </a:r>
          </a:p>
        </p:txBody>
      </p:sp>
      <p:sp>
        <p:nvSpPr>
          <p:cNvPr id="18" name="Oval 17"/>
          <p:cNvSpPr/>
          <p:nvPr/>
        </p:nvSpPr>
        <p:spPr>
          <a:xfrm>
            <a:off x="548640" y="40325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9624"/>
            <a:ext cx="10408615" cy="8686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49624"/>
            <a:ext cx="10180015" cy="86868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Are there details that are normal on a resume in your country but unusual in English-speaking countries?</a:t>
            </a:r>
          </a:p>
        </p:txBody>
      </p:sp>
      <p:sp>
        <p:nvSpPr>
          <p:cNvPr id="21" name="Oval 20"/>
          <p:cNvSpPr/>
          <p:nvPr/>
        </p:nvSpPr>
        <p:spPr>
          <a:xfrm>
            <a:off x="548640" y="485089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828032"/>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828032"/>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How do you adapt your resume to a particular job advert?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第 1 题问过去的事,用过去式(updated, added, cut)。第 3、5 题可以用 “I’d say…” 或 “It depends on…” 来表达观点。resume(美)和 CV(英)基本同义。</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Walk me through your resume in one minute.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your current role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one achievement with a number</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skills that match the job</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the role you want next</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My most recent role was…   💬 One thing I’m proud of is…, which led to…   💬 I’m now looking for a role where I can…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一分钟约 120 词。用具体数字(by 20%, within six months)比 “very good” 更有说服力。说“已经完成的成果”要用过去式。</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One Page, Six Seconds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164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Recruiters often say that they spend only a few seconds on a first look at a resume. Whether or not the exact number is true, the lesson is clear: your key message has to jump off the page. Start with a short profile of two or three lines that says who you are and what you offer. Then list your jobs in reverse chronological order, with the most recent first. Under each job, avoid copying your job description. Instead, write two or three bullet points that start with a strong verb and end with a result, such as “Cut delivery times by 15% by redesigning the packing process.” Numbers help, but only if they are honest, because a hiring manager may ask you about them in the interview. Finally, tailor the document. If the advert asks for “stakeholder management”, use that phrase, as long as it is true of you. Then proofread it twice, because a single typo can undo hours of good work.</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should the profile at the top of a resume do?</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should say, in two or three lines, who you are and what you offer.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should each bullet point under a job be built?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should start with a strong verb and end with a result, ideally with a number.</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must the numbers on a resume be honest?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Because the hiring manager may ask you about them in the interview.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Resume basics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简历基础</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resume (US) / CV (UK)</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简历</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send your resume and a short cover letter by Friday.”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profile / summary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个人简介(简历开头)</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“Keep your profile to three lines at most.”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 experience</a:t>
            </a:r>
          </a:p>
          <a:p>
            <a:pPr algn="l">
              <a:lnSpc>
                <a:spcPct val="115000"/>
              </a:lnSpc>
              <a:spcAft>
                <a:spcPts val="800"/>
              </a:spcAft>
            </a:pPr>
            <a:r>
              <a:rPr sz="1300" b="0">
                <a:solidFill>
                  <a:srgbClr val="5F677A"/>
                </a:solidFill>
                <a:latin typeface="Arial"/>
                <a:ea typeface="Microsoft YaHei"/>
              </a:rPr>
              <a:t>noun (uncountable)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工作经历</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“List your work experience with the most recent job first.”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achievement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业绩,成就</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“Hiring managers want achievements, not just a list of duties.”</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responsible for + -ing / noun</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负责…</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was responsible for managing a team of six.”</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qualification</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资历,资格证书</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 I need a formal qualification for this role?”</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Selling your experience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展示业绩</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tailor X to Y</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针对 Y 定制 X</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tailor my resume to every job advert.”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spearhead</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带头推进</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spearheaded a campaign that grew our followers by 40%.”</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streamline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精简,优化(流程)</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streamlined the invoicing process and saved two days a month.”</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track record of + -ing</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…的良好业绩记录</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has a strong track record of meeting deadlines.”</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stand out from the crowd</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脱颖而出</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clear layout helps your resume stand out from the crowd.”</a:t>
            </a:r>
          </a:p>
        </p:txBody>
      </p:sp>
      <p:sp>
        <p:nvSpPr>
          <p:cNvPr id="34" name="Rounded Rectangle 33"/>
          <p:cNvSpPr/>
          <p:nvPr/>
        </p:nvSpPr>
        <p:spPr>
          <a:xfrm>
            <a:off x="548640" y="55448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5448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5905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transferable skills</a:t>
            </a:r>
          </a:p>
          <a:p>
            <a:pPr algn="l">
              <a:lnSpc>
                <a:spcPct val="115000"/>
              </a:lnSpc>
              <a:spcAft>
                <a:spcPts val="800"/>
              </a:spcAft>
            </a:pPr>
            <a:r>
              <a:rPr sz="1300" b="0">
                <a:solidFill>
                  <a:srgbClr val="5F677A"/>
                </a:solidFill>
                <a:latin typeface="Arial"/>
                <a:ea typeface="Microsoft YaHei"/>
              </a:rPr>
              <a:t>collocation</a:t>
            </a:r>
          </a:p>
        </p:txBody>
      </p:sp>
      <p:sp>
        <p:nvSpPr>
          <p:cNvPr id="37" name="TextBox 36"/>
          <p:cNvSpPr txBox="1"/>
          <p:nvPr/>
        </p:nvSpPr>
        <p:spPr>
          <a:xfrm>
            <a:off x="4206240" y="55905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可迁移技能</a:t>
            </a:r>
          </a:p>
        </p:txBody>
      </p:sp>
      <p:sp>
        <p:nvSpPr>
          <p:cNvPr id="38" name="TextBox 37"/>
          <p:cNvSpPr txBox="1"/>
          <p:nvPr/>
        </p:nvSpPr>
        <p:spPr>
          <a:xfrm>
            <a:off x="6675120" y="55905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“Teaching gave me transferable skills in presenting and planning.”</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脱颖而出</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stand out from the crowd</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精简,优化(流程)</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streamline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工作经历</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 experience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负责…</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responsible for + -ing / noun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带头推进</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spearhead</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个人简介(简历开头)</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profile / summary</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可迁移技能</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transferable skills</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业绩,成就</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achievement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profile</a:t>
            </a:r>
          </a:p>
        </p:txBody>
      </p:sp>
      <p:sp>
        <p:nvSpPr>
          <p:cNvPr id="10" name="Rounded Rectangle 9"/>
          <p:cNvSpPr/>
          <p:nvPr/>
        </p:nvSpPr>
        <p:spPr>
          <a:xfrm>
            <a:off x="3236976"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tailor</a:t>
            </a:r>
          </a:p>
        </p:txBody>
      </p:sp>
      <p:sp>
        <p:nvSpPr>
          <p:cNvPr id="11" name="Rounded Rectangle 10"/>
          <p:cNvSpPr/>
          <p:nvPr/>
        </p:nvSpPr>
        <p:spPr>
          <a:xfrm>
            <a:off x="4352544"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streamlined</a:t>
            </a:r>
          </a:p>
        </p:txBody>
      </p:sp>
      <p:sp>
        <p:nvSpPr>
          <p:cNvPr id="12" name="Rounded Rectangle 11"/>
          <p:cNvSpPr/>
          <p:nvPr/>
        </p:nvSpPr>
        <p:spPr>
          <a:xfrm>
            <a:off x="6016751" y="987552"/>
            <a:ext cx="168249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achievements</a:t>
            </a:r>
          </a:p>
        </p:txBody>
      </p:sp>
      <p:sp>
        <p:nvSpPr>
          <p:cNvPr id="13" name="Rounded Rectangle 12"/>
          <p:cNvSpPr/>
          <p:nvPr/>
        </p:nvSpPr>
        <p:spPr>
          <a:xfrm>
            <a:off x="7790686"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responsible</a:t>
            </a:r>
          </a:p>
        </p:txBody>
      </p:sp>
      <p:sp>
        <p:nvSpPr>
          <p:cNvPr id="14" name="Rounded Rectangle 13"/>
          <p:cNvSpPr/>
          <p:nvPr/>
        </p:nvSpPr>
        <p:spPr>
          <a:xfrm>
            <a:off x="9454893"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track record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1.  Don’t just list your duties. Highlight your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achievements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2.  I always _______ my resume to the job advert.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tailor</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3.  In my last job I _______ the ordering process and cut delays by half.</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streamlined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4.  She has a strong _______ of meeting deadlines.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track record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5.  I was _______ for managing a budget of $2 million.</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responsible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6.  The _______ at the top of your resume should be no more than three lines.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profile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achievement (not “achivement”), responsible (not “responsable”), resume / résumé (both are fine). Say “responsible for“, not “responsible of”.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Resume review with a career coach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与职业顾问修改简历</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ask a career coach, Hannah, to review your resume before you apply for a marketing manager job.</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marketing specialist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Hannah Cole, career coach</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Resume review with a career coach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seeing me, Hannah. I’m applying for a marketing manager role, and I’d really appreciate your feedback on my resume.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Hannah</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Happy to help. My first impression: it’s nicely laid out, but it runs to two and a half pages. Can we get it down to two?</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could probably cut the early jobs. Do you think that’s a good idea?</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1069847"/>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Definitely. Nobody needs the details of your summer job from 2012. Now, look at this bullet: “Responsible for social media.” What did you actually achieve?</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Resume review with a career coach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Well, I spearheaded a campaign that grew our followers by 40% in six months.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exactly what belongs on the page. Start with the verb and end with the result.</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“Spearheaded a social media campaign that grew followers by 40% in six months.”</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Your profile is a bit generic, though. “Hard-working team player” could describe anyone.</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Resume review with a career coach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Fair point. How about “Marketing specialist with a track record of turning small budgets into measurable growth”?</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Much better. Finally, tailor the keywords to the job advert, and ask someone to proofread it for typos.</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do. Could I send you the revised version on Monday?</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Send it over and I’ll take another look.</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Resume review with a career coach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candidate asks a career coach to review a resume.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Candidate. Your job and the job you want: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Career coach. Gives honest, specific feedback.</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responsible for · achievement · track record · tailor · spearhead · stand out from the crowd</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one weak bullet point and rewrite it as “verb + result”.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FFFFFF"/>
                </a:solidFill>
                <a:latin typeface="Arial"/>
                <a:ea typeface="Microsoft YaHei"/>
              </a:rPr>
              <a:t>The coach is blunt: “To be honest, this reads like a job description.” Respond politely and ask for an example of a better bullet point.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FFFFFF"/>
                </a:solidFill>
                <a:latin typeface="Arial"/>
                <a:ea typeface="Microsoft YaHei"/>
              </a:rPr>
              <a:t>You are changing industries. Explain two transferable skills and ask: “How can I make them visible?”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FFFFFF"/>
                </a:solidFill>
                <a:latin typeface="Arial"/>
                <a:ea typeface="Microsoft YaHei"/>
              </a:rPr>
              <a:t>Do it as a video call. Share your screen and talk through your three biggest changes in 60 seconds.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a resume include a photo, age or marital status? Why or why not?</a:t>
            </a:r>
          </a:p>
          <a:p>
            <a:pPr algn="l">
              <a:lnSpc>
                <a:spcPct val="115000"/>
              </a:lnSpc>
              <a:spcAft>
                <a:spcPts val="800"/>
              </a:spcAft>
            </a:pPr>
            <a:r>
              <a:rPr sz="1400" b="0">
                <a:solidFill>
                  <a:srgbClr val="5F677A"/>
                </a:solidFill>
                <a:latin typeface="Arial"/>
                <a:ea typeface="Microsoft YaHei"/>
              </a:rPr>
              <a:t>💬 “In my country it is common to… but in the UK or US…” / “I would leave it out because it could lead to…”</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honest should you be about gaps in your work history?</a:t>
            </a:r>
          </a:p>
          <a:p>
            <a:pPr algn="l">
              <a:lnSpc>
                <a:spcPct val="115000"/>
              </a:lnSpc>
              <a:spcAft>
                <a:spcPts val="800"/>
              </a:spcAft>
            </a:pPr>
            <a:r>
              <a:rPr sz="1400" b="0">
                <a:solidFill>
                  <a:srgbClr val="5F677A"/>
                </a:solidFill>
                <a:latin typeface="Arial"/>
                <a:ea typeface="Microsoft YaHei"/>
              </a:rPr>
              <a:t>💬 “It’s tempting to…, but I think it’s better to be upfront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975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9296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a resume still the best way to show what you can do? What else helps (portfolio, LinkedIn, referrals)?</a:t>
            </a:r>
          </a:p>
          <a:p>
            <a:pPr algn="l">
              <a:lnSpc>
                <a:spcPct val="115000"/>
              </a:lnSpc>
              <a:spcAft>
                <a:spcPts val="800"/>
              </a:spcAft>
            </a:pPr>
            <a:r>
              <a:rPr sz="1400" b="0">
                <a:solidFill>
                  <a:srgbClr val="5F677A"/>
                </a:solidFill>
                <a:latin typeface="Arial"/>
                <a:ea typeface="Microsoft YaHei"/>
              </a:rPr>
              <a:t>💬 “A resume is useful for…, but a portfolio shows…”</a:t>
            </a:r>
          </a:p>
        </p:txBody>
      </p:sp>
      <p:sp>
        <p:nvSpPr>
          <p:cNvPr id="18" name="Oval 17"/>
          <p:cNvSpPr/>
          <p:nvPr/>
        </p:nvSpPr>
        <p:spPr>
          <a:xfrm>
            <a:off x="548640" y="417576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1300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1757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decide what to cut when your resume is too long?</a:t>
            </a:r>
          </a:p>
          <a:p>
            <a:pPr algn="l">
              <a:lnSpc>
                <a:spcPct val="115000"/>
              </a:lnSpc>
              <a:spcAft>
                <a:spcPts val="800"/>
              </a:spcAft>
            </a:pPr>
            <a:r>
              <a:rPr sz="1400" b="0">
                <a:solidFill>
                  <a:srgbClr val="5F677A"/>
                </a:solidFill>
                <a:latin typeface="Arial"/>
                <a:ea typeface="Microsoft YaHei"/>
              </a:rPr>
              <a:t>💬 “I’d cut… because it’s less relevant to…” / “I’d keep… as it shows…”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It’s tempting to hide a gap, but I think it’s better to be upfront. If you left to study or to look after family, say so in one line and then move on to what you learned. Employers usually care less about the gap itself than about how you explain it. If you try to hide it, it can look as if you have something to cover up. I would also add a recent course or freelance project to show that I stayed active.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be upfront about… = 坦率说明…。”It’s tempting to…, but…” 是 B2 常用的让步结构。career gap = 职业空档期。注意 “look as if you have…” 后面用陈述句。</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1"/>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896111">
                <a:tc>
                  <a:txBody>
                    <a:bodyPr wrap="square"/>
                    <a:lstStyle/>
                    <a:p>
                      <a:r>
                        <a:rPr sz="1600" b="1">
                          <a:solidFill>
                            <a:srgbClr val="1F2A44"/>
                          </a:solidFill>
                          <a:latin typeface="Arial"/>
                          <a:ea typeface="Microsoft YaHei"/>
                        </a:rPr>
                        <a:t>I did a lot of social media.</a:t>
                      </a:r>
                    </a:p>
                  </a:txBody>
                  <a:tcPr anchor="ctr">
                    <a:solidFill>
                      <a:srgbClr val="FFFFFF"/>
                    </a:solidFill>
                  </a:tcPr>
                </a:tc>
                <a:tc>
                  <a:txBody>
                    <a:bodyPr wrap="square"/>
                    <a:lstStyle/>
                    <a:p>
                      <a:r>
                        <a:rPr sz="1600" b="0">
                          <a:solidFill>
                            <a:srgbClr val="1F2A44"/>
                          </a:solidFill>
                          <a:latin typeface="Arial"/>
                          <a:ea typeface="Microsoft YaHei"/>
                        </a:rPr>
                        <a:t>Managed social media across three platforms and grew followers by 40%.</a:t>
                      </a:r>
                    </a:p>
                  </a:txBody>
                  <a:tcPr anchor="ctr">
                    <a:solidFill>
                      <a:srgbClr val="FFFFFF"/>
                    </a:solidFill>
                  </a:tcPr>
                </a:tc>
                <a:tc>
                  <a:txBody>
                    <a:bodyPr wrap="square"/>
                    <a:lstStyle/>
                    <a:p>
                      <a:r>
                        <a:rPr sz="1600" b="0">
                          <a:solidFill>
                            <a:srgbClr val="FF6B5B"/>
                          </a:solidFill>
                          <a:latin typeface="Arial"/>
                          <a:ea typeface="Microsoft YaHei"/>
                        </a:rPr>
                        <a:t>用“动词 + 结果”代替空泛描述</a:t>
                      </a:r>
                    </a:p>
                  </a:txBody>
                  <a:tcPr anchor="ctr">
                    <a:solidFill>
                      <a:srgbClr val="FFFFFF"/>
                    </a:solidFill>
                  </a:tcPr>
                </a:tc>
              </a:tr>
              <a:tr h="652272">
                <a:tc>
                  <a:txBody>
                    <a:bodyPr wrap="square"/>
                    <a:lstStyle/>
                    <a:p>
                      <a:r>
                        <a:rPr sz="1600" b="1">
                          <a:solidFill>
                            <a:srgbClr val="1F2A44"/>
                          </a:solidFill>
                          <a:latin typeface="Arial"/>
                          <a:ea typeface="Microsoft YaHei"/>
                        </a:rPr>
                        <a:t>I’m good with people.</a:t>
                      </a:r>
                    </a:p>
                  </a:txBody>
                  <a:tcPr anchor="ctr">
                    <a:solidFill>
                      <a:srgbClr val="FFEFD9"/>
                    </a:solidFill>
                  </a:tcPr>
                </a:tc>
                <a:tc>
                  <a:txBody>
                    <a:bodyPr wrap="square"/>
                    <a:lstStyle/>
                    <a:p>
                      <a:r>
                        <a:rPr sz="1600" b="0">
                          <a:solidFill>
                            <a:srgbClr val="1F2A44"/>
                          </a:solidFill>
                          <a:latin typeface="Arial"/>
                          <a:ea typeface="Microsoft YaHei"/>
                        </a:rPr>
                        <a:t>Strong interpersonal and stakeholder-management skills.</a:t>
                      </a:r>
                    </a:p>
                  </a:txBody>
                  <a:tcPr anchor="ctr">
                    <a:solidFill>
                      <a:srgbClr val="FFEFD9"/>
                    </a:solidFill>
                  </a:tcPr>
                </a:tc>
                <a:tc>
                  <a:txBody>
                    <a:bodyPr wrap="square"/>
                    <a:lstStyle/>
                    <a:p>
                      <a:r>
                        <a:rPr sz="1600" b="0">
                          <a:solidFill>
                            <a:srgbClr val="FF6B5B"/>
                          </a:solidFill>
                          <a:latin typeface="Arial"/>
                          <a:ea typeface="Microsoft YaHei"/>
                        </a:rPr>
                        <a:t>简历中的强项表述</a:t>
                      </a:r>
                    </a:p>
                  </a:txBody>
                  <a:tcPr anchor="ctr">
                    <a:solidFill>
                      <a:srgbClr val="FFEFD9"/>
                    </a:solidFill>
                  </a:tcPr>
                </a:tc>
              </a:tr>
              <a:tr h="408432">
                <a:tc>
                  <a:txBody>
                    <a:bodyPr wrap="square"/>
                    <a:lstStyle/>
                    <a:p>
                      <a:r>
                        <a:rPr sz="1600" b="1">
                          <a:solidFill>
                            <a:srgbClr val="1F2A44"/>
                          </a:solidFill>
                          <a:latin typeface="Arial"/>
                          <a:ea typeface="Microsoft YaHei"/>
                        </a:rPr>
                        <a:t>I was in charge of a team.</a:t>
                      </a:r>
                    </a:p>
                  </a:txBody>
                  <a:tcPr anchor="ctr">
                    <a:solidFill>
                      <a:srgbClr val="FFFFFF"/>
                    </a:solidFill>
                  </a:tcPr>
                </a:tc>
                <a:tc>
                  <a:txBody>
                    <a:bodyPr wrap="square"/>
                    <a:lstStyle/>
                    <a:p>
                      <a:r>
                        <a:rPr sz="1600" b="0">
                          <a:solidFill>
                            <a:srgbClr val="1F2A44"/>
                          </a:solidFill>
                          <a:latin typeface="Arial"/>
                          <a:ea typeface="Microsoft YaHei"/>
                        </a:rPr>
                        <a:t>Led a team of six.</a:t>
                      </a:r>
                    </a:p>
                  </a:txBody>
                  <a:tcPr anchor="ctr">
                    <a:solidFill>
                      <a:srgbClr val="FFFFFF"/>
                    </a:solidFill>
                  </a:tcPr>
                </a:tc>
                <a:tc>
                  <a:txBody>
                    <a:bodyPr wrap="square"/>
                    <a:lstStyle/>
                    <a:p>
                      <a:r>
                        <a:rPr sz="1600" b="0">
                          <a:solidFill>
                            <a:srgbClr val="FF6B5B"/>
                          </a:solidFill>
                          <a:latin typeface="Arial"/>
                          <a:ea typeface="Microsoft YaHei"/>
                        </a:rPr>
                        <a:t>简洁有力,省略 I</a:t>
                      </a:r>
                    </a:p>
                  </a:txBody>
                  <a:tcPr anchor="ctr">
                    <a:solidFill>
                      <a:srgbClr val="FFFFFF"/>
                    </a:solidFill>
                  </a:tcPr>
                </a:tc>
              </a:tr>
              <a:tr h="652272">
                <a:tc>
                  <a:txBody>
                    <a:bodyPr wrap="square"/>
                    <a:lstStyle/>
                    <a:p>
                      <a:r>
                        <a:rPr sz="1600" b="1">
                          <a:solidFill>
                            <a:srgbClr val="1F2A44"/>
                          </a:solidFill>
                          <a:latin typeface="Arial"/>
                          <a:ea typeface="Microsoft YaHei"/>
                        </a:rPr>
                        <a:t>I worked with Sales to make things better.</a:t>
                      </a:r>
                    </a:p>
                  </a:txBody>
                  <a:tcPr anchor="ctr">
                    <a:solidFill>
                      <a:srgbClr val="FFEFD9"/>
                    </a:solidFill>
                  </a:tcPr>
                </a:tc>
                <a:tc>
                  <a:txBody>
                    <a:bodyPr wrap="square"/>
                    <a:lstStyle/>
                    <a:p>
                      <a:r>
                        <a:rPr sz="1600" b="0">
                          <a:solidFill>
                            <a:srgbClr val="1F2A44"/>
                          </a:solidFill>
                          <a:latin typeface="Arial"/>
                          <a:ea typeface="Microsoft YaHei"/>
                        </a:rPr>
                        <a:t>Collaborated with Sales to streamline lead handling.</a:t>
                      </a:r>
                    </a:p>
                  </a:txBody>
                  <a:tcPr anchor="ctr">
                    <a:solidFill>
                      <a:srgbClr val="FFEFD9"/>
                    </a:solidFill>
                  </a:tcPr>
                </a:tc>
                <a:tc>
                  <a:txBody>
                    <a:bodyPr wrap="square"/>
                    <a:lstStyle/>
                    <a:p>
                      <a:r>
                        <a:rPr sz="1600" b="0">
                          <a:solidFill>
                            <a:srgbClr val="FF6B5B"/>
                          </a:solidFill>
                          <a:latin typeface="Arial"/>
                          <a:ea typeface="Microsoft YaHei"/>
                        </a:rPr>
                        <a:t>具体说明做了什么</a:t>
                      </a:r>
                    </a:p>
                  </a:txBody>
                  <a:tcPr anchor="ctr">
                    <a:solidFill>
                      <a:srgbClr val="FFEFD9"/>
                    </a:solidFill>
                  </a:tcPr>
                </a:tc>
              </a:tr>
              <a:tr h="652272">
                <a:tc>
                  <a:txBody>
                    <a:bodyPr wrap="square"/>
                    <a:lstStyle/>
                    <a:p>
                      <a:r>
                        <a:rPr sz="1600" b="1">
                          <a:solidFill>
                            <a:srgbClr val="1F2A44"/>
                          </a:solidFill>
                          <a:latin typeface="Arial"/>
                          <a:ea typeface="Microsoft YaHei"/>
                        </a:rPr>
                        <a:t>I left because I wanted something new.</a:t>
                      </a:r>
                    </a:p>
                  </a:txBody>
                  <a:tcPr anchor="ctr">
                    <a:solidFill>
                      <a:srgbClr val="FFFFFF"/>
                    </a:solidFill>
                  </a:tcPr>
                </a:tc>
                <a:tc>
                  <a:txBody>
                    <a:bodyPr wrap="square"/>
                    <a:lstStyle/>
                    <a:p>
                      <a:r>
                        <a:rPr sz="1600" b="0">
                          <a:solidFill>
                            <a:srgbClr val="1F2A44"/>
                          </a:solidFill>
                          <a:latin typeface="Arial"/>
                          <a:ea typeface="Microsoft YaHei"/>
                        </a:rPr>
                        <a:t>Left to pursue a new challenge with greater responsibility.</a:t>
                      </a:r>
                    </a:p>
                  </a:txBody>
                  <a:tcPr anchor="ctr">
                    <a:solidFill>
                      <a:srgbClr val="FFFFFF"/>
                    </a:solidFill>
                  </a:tcPr>
                </a:tc>
                <a:tc>
                  <a:txBody>
                    <a:bodyPr wrap="square"/>
                    <a:lstStyle/>
                    <a:p>
                      <a:r>
                        <a:rPr sz="1600" b="0">
                          <a:solidFill>
                            <a:srgbClr val="FF6B5B"/>
                          </a:solidFill>
                          <a:latin typeface="Arial"/>
                          <a:ea typeface="Microsoft YaHei"/>
                        </a:rPr>
                        <a:t>离职原因的得体说法</a:t>
                      </a:r>
                    </a:p>
                  </a:txBody>
                  <a:tcPr anchor="ctr">
                    <a:solidFill>
                      <a:srgbClr val="FFFFFF"/>
                    </a:solidFill>
                  </a:tcPr>
                </a:tc>
              </a:tr>
            </a:tbl>
          </a:graphicData>
        </a:graphic>
      </p:graphicFrame>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Resumes use the past tense for finished jobs (“Managed”, “Launched”) and the present tense for your current job (“Manage”, “Lead”). Most people leave out “I”.</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Use parallel structure: </a:t>
            </a:r>
            <a:r>
              <a:rPr sz="1700" b="0">
                <a:solidFill>
                  <a:srgbClr val="1F2A44"/>
                </a:solidFill>
                <a:latin typeface="Arial"/>
                <a:ea typeface="Microsoft YaHei"/>
              </a:rPr>
              <a:t>every bullet starts with a verb in the same form.</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Add numbers and a timeframe: </a:t>
            </a:r>
            <a:r>
              <a:rPr sz="1700" b="0">
                <a:solidFill>
                  <a:srgbClr val="1F2A44"/>
                </a:solidFill>
                <a:latin typeface="Arial"/>
                <a:ea typeface="Microsoft YaHei"/>
              </a:rPr>
              <a:t>“by 40%”, “within six months”, “a team of six”.</a:t>
            </a:r>
          </a:p>
        </p:txBody>
      </p:sp>
      <p:sp>
        <p:nvSpPr>
          <p:cNvPr id="17" name="Rounded Rectangle 16"/>
          <p:cNvSpPr/>
          <p:nvPr/>
        </p:nvSpPr>
        <p:spPr>
          <a:xfrm>
            <a:off x="548640" y="327659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701039"/>
          </a:xfrm>
          <a:prstGeom prst="rect">
            <a:avLst/>
          </a:prstGeom>
          <a:noFill/>
        </p:spPr>
        <p:txBody>
          <a:bodyPr wrap="square" anchor="ctr">
            <a:spAutoFit/>
          </a:bodyPr>
          <a:lstStyle/>
          <a:p>
            <a:r>
              <a:rPr sz="1700" b="1">
                <a:solidFill>
                  <a:srgbClr val="FFC857"/>
                </a:solidFill>
                <a:latin typeface="Arial"/>
                <a:ea typeface="Microsoft YaHei"/>
              </a:rPr>
              <a:t>Prepositions: </a:t>
            </a:r>
            <a:r>
              <a:rPr sz="1700" b="0">
                <a:solidFill>
                  <a:srgbClr val="1F2A44"/>
                </a:solidFill>
                <a:latin typeface="Arial"/>
                <a:ea typeface="Microsoft YaHei"/>
              </a:rPr>
              <a:t>a degree in marketing · responsible for the budget · experience in sales · familiar with Excel · increase sales by 20%.</a:t>
            </a:r>
          </a:p>
        </p:txBody>
      </p:sp>
      <p:sp>
        <p:nvSpPr>
          <p:cNvPr id="20" name="Rounded Rectangle 19"/>
          <p:cNvSpPr/>
          <p:nvPr/>
        </p:nvSpPr>
        <p:spPr>
          <a:xfrm>
            <a:off x="548640" y="406907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6907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069076"/>
            <a:ext cx="10728655" cy="701039"/>
          </a:xfrm>
          <a:prstGeom prst="rect">
            <a:avLst/>
          </a:prstGeom>
          <a:noFill/>
        </p:spPr>
        <p:txBody>
          <a:bodyPr wrap="square" anchor="ctr">
            <a:spAutoFit/>
          </a:bodyPr>
          <a:lstStyle/>
          <a:p>
            <a:r>
              <a:rPr sz="1700" b="1">
                <a:solidFill>
                  <a:srgbClr val="9B6BE0"/>
                </a:solidFill>
                <a:latin typeface="Arial"/>
                <a:ea typeface="Microsoft YaHei"/>
              </a:rPr>
              <a:t>Resume vs CV: </a:t>
            </a:r>
            <a:r>
              <a:rPr sz="1700" b="0">
                <a:solidFill>
                  <a:srgbClr val="1F2A44"/>
                </a:solidFill>
                <a:latin typeface="Arial"/>
                <a:ea typeface="Microsoft YaHei"/>
              </a:rPr>
              <a:t>in the US a resume is short (one or two pages); in the UK “CV” is the normal word for the same document.</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3 years experience.</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three years’ experience. / I have three years of experience.</a:t>
            </a:r>
          </a:p>
          <a:p>
            <a:pPr algn="l">
              <a:spcAft>
                <a:spcPts val="200"/>
              </a:spcAft>
            </a:pPr>
            <a:r>
              <a:rPr sz="1200" b="0">
                <a:solidFill>
                  <a:srgbClr val="FFFFFF"/>
                </a:solidFill>
                <a:latin typeface="Arial"/>
                <a:ea typeface="Microsoft YaHei"/>
              </a:rPr>
              <a:t>年限 + of / ‘s</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responsible of the budget.</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responsible for the budget.</a:t>
            </a:r>
          </a:p>
          <a:p>
            <a:pPr algn="l">
              <a:spcAft>
                <a:spcPts val="200"/>
              </a:spcAft>
            </a:pPr>
            <a:r>
              <a:rPr sz="1200" b="0">
                <a:solidFill>
                  <a:srgbClr val="FFFFFF"/>
                </a:solidFill>
                <a:latin typeface="Arial"/>
                <a:ea typeface="Microsoft YaHei"/>
              </a:rPr>
              <a:t>responsible for</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a lot of experiences in sales.</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a lot of experience in sales.</a:t>
            </a:r>
          </a:p>
          <a:p>
            <a:pPr algn="l">
              <a:spcAft>
                <a:spcPts val="200"/>
              </a:spcAft>
            </a:pPr>
            <a:r>
              <a:rPr sz="1200" b="0">
                <a:solidFill>
                  <a:srgbClr val="FFFFFF"/>
                </a:solidFill>
                <a:latin typeface="Arial"/>
                <a:ea typeface="Microsoft YaHei"/>
              </a:rPr>
              <a:t>experience(工作经验)不可数</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was graduated from Fudan University.</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graduated from Fudan University.</a:t>
            </a:r>
          </a:p>
          <a:p>
            <a:pPr algn="l">
              <a:spcAft>
                <a:spcPts val="200"/>
              </a:spcAft>
            </a:pPr>
            <a:r>
              <a:rPr sz="1200" b="0">
                <a:solidFill>
                  <a:srgbClr val="FFFFFF"/>
                </a:solidFill>
                <a:latin typeface="Arial"/>
                <a:ea typeface="Microsoft YaHei"/>
              </a:rPr>
              <a:t>graduate 不用被动</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Increased sales to 20%.</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Increased sales by 20%.</a:t>
            </a:r>
          </a:p>
          <a:p>
            <a:pPr algn="l">
              <a:spcAft>
                <a:spcPts val="200"/>
              </a:spcAft>
            </a:pPr>
            <a:r>
              <a:rPr sz="1200" b="0">
                <a:solidFill>
                  <a:srgbClr val="FFFFFF"/>
                </a:solidFill>
                <a:latin typeface="Arial"/>
                <a:ea typeface="Microsoft YaHei"/>
              </a:rPr>
              <a:t>by 表示增幅,to 表示增长后的数值</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familiar to Excel.</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familiar with Excel.</a:t>
            </a:r>
          </a:p>
          <a:p>
            <a:pPr algn="l">
              <a:spcAft>
                <a:spcPts val="200"/>
              </a:spcAft>
            </a:pPr>
            <a:r>
              <a:rPr sz="1200" b="0">
                <a:solidFill>
                  <a:srgbClr val="FFFFFF"/>
                </a:solidFill>
                <a:latin typeface="Arial"/>
                <a:ea typeface="Microsoft YaHei"/>
              </a:rPr>
              <a:t>familiar with</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strengths are team spirit and hard-working.</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strengths are teamwork and a strong work ethic.</a:t>
            </a:r>
          </a:p>
          <a:p>
            <a:pPr algn="l">
              <a:spcAft>
                <a:spcPts val="200"/>
              </a:spcAft>
            </a:pPr>
            <a:r>
              <a:rPr sz="1200" b="0">
                <a:solidFill>
                  <a:srgbClr val="FFFFFF"/>
                </a:solidFill>
                <a:latin typeface="Arial"/>
                <a:ea typeface="Microsoft YaHei"/>
              </a:rPr>
              <a:t>and 后面词性要一致</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Check every bullet for tense (past for finished jobs), the preposition after increase / responsible / familiar, and never write experiences for work experience.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Photo, age, marital status: </a:t>
            </a:r>
            <a:r>
              <a:rPr sz="1700" b="0">
                <a:solidFill>
                  <a:srgbClr val="1F2A44"/>
                </a:solidFill>
                <a:latin typeface="Arial"/>
                <a:ea typeface="Microsoft YaHei"/>
              </a:rPr>
              <a:t>common on resumes in China, but in the US, UK and Canada employers usually do not want them (anti-discrimination rules). Leave them out unless the advert asks.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Length: </a:t>
            </a:r>
            <a:r>
              <a:rPr sz="1700" b="0">
                <a:solidFill>
                  <a:srgbClr val="1F2A44"/>
                </a:solidFill>
                <a:latin typeface="Arial"/>
                <a:ea typeface="Microsoft YaHei"/>
              </a:rPr>
              <a:t>one page is the US norm for early-career people; one to two pages is typical in the UK. Cut older and less relevant jobs.</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Tone: </a:t>
            </a:r>
            <a:r>
              <a:rPr sz="1700" b="0">
                <a:solidFill>
                  <a:srgbClr val="1F2A44"/>
                </a:solidFill>
                <a:latin typeface="Arial"/>
                <a:ea typeface="Microsoft YaHei"/>
              </a:rPr>
              <a:t>English resumes are factual and confident. Don’t write “I am hard-working and humble”. Show it with an achievement.</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1">
                <a:solidFill>
                  <a:srgbClr val="FFC857"/>
                </a:solidFill>
                <a:latin typeface="Arial"/>
                <a:ea typeface="Microsoft YaHei"/>
              </a:rPr>
              <a:t>Software screening: </a:t>
            </a:r>
            <a:r>
              <a:rPr sz="1700" b="0">
                <a:solidFill>
                  <a:srgbClr val="1F2A44"/>
                </a:solidFill>
                <a:latin typeface="Arial"/>
                <a:ea typeface="Microsoft YaHei"/>
              </a:rPr>
              <a:t>many large employers use an ATS (applicant tracking system). Use plain headings (Experience, Education, Skills) and the keywords from the advert.</a:t>
            </a:r>
          </a:p>
        </p:txBody>
      </p:sp>
      <p:sp>
        <p:nvSpPr>
          <p:cNvPr id="21" name="Rounded Rectangle 20"/>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在英美,简历不放照片、年龄、婚姻状况,是为了避免歧视。ATS = 招聘筛选系统,所以要把招聘广告里的关键词自然地写进简历。</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my work with “verb + result” bullet points.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through my background in one minute, with at least one number.</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tailor a resume to a job advert and explain my choices.</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and receive feedback on a resume politely.</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01 Writing a Resume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tense, prepositions (responsible for, increase by) and uncountable experience.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 · Lesson 02 Writing a Killer Cover Letter</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100" b="1">
                <a:solidFill>
                  <a:srgbClr val="FFFFFF"/>
                </a:solidFill>
                <a:latin typeface="Arial"/>
                <a:ea typeface="Microsoft YaHei"/>
              </a:rPr>
              <a:t>Writing a Killer Cover Letter</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如何撰写一份出色的求职信</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plan and discuss a cover letter that opens with a hook, links your experience to the job, and closes with a polite call to action.</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Have you ever written a cover letter? Was it easy or difficult, and why?</a:t>
            </a:r>
          </a:p>
        </p:txBody>
      </p:sp>
      <p:sp>
        <p:nvSpPr>
          <p:cNvPr id="12" name="Oval 11"/>
          <p:cNvSpPr/>
          <p:nvPr/>
        </p:nvSpPr>
        <p:spPr>
          <a:xfrm>
            <a:off x="548640" y="276148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If the employer already has your resume, what is the point of a cover letter?</a:t>
            </a:r>
          </a:p>
        </p:txBody>
      </p:sp>
      <p:sp>
        <p:nvSpPr>
          <p:cNvPr id="15" name="Oval 14"/>
          <p:cNvSpPr/>
          <p:nvPr/>
        </p:nvSpPr>
        <p:spPr>
          <a:xfrm>
            <a:off x="548640" y="360273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57225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57225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would you start a cover letter so that the reader keeps reading?</a:t>
            </a:r>
          </a:p>
        </p:txBody>
      </p:sp>
      <p:sp>
        <p:nvSpPr>
          <p:cNvPr id="18" name="Oval 17"/>
          <p:cNvSpPr/>
          <p:nvPr/>
        </p:nvSpPr>
        <p:spPr>
          <a:xfrm>
            <a:off x="548640" y="427634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245864"/>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245864"/>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Do you think cover letters are still necessary today? Why or why not?</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can you show enthusiasm without sounding desperate?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第 1 题问过去的经历,用过去式。第 4 题表达观点时可以用 “I’d argue that…” 或 “It depends on…”。cover letter 在英国也叫 covering letter。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2800" b="1">
                <a:solidFill>
                  <a:srgbClr val="1F2A44"/>
                </a:solidFill>
                <a:latin typeface="Arial"/>
                <a:ea typeface="Microsoft YaHei"/>
              </a:rPr>
              <a:t>Pitch yourself for a job in one minute, as if you were reading your cover letter aloud.</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why this company</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you offer</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one short example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 polite call to action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was excited to see your advert for…   💬 What attracted me to… is…   💬 I would welcome the chance to discuss…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开头要有“钩子”(hook),不要只写 “I am writing to apply for…”。结尾用 would 提出礼貌的下一步,语气比 “Please call me” 柔和得多。</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Reading · Beyond “To Whom It May Concern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Many people treat a cover letter as a polite introduction to their resume. In fact, it is your best chance to speak directly to a real person. A good letter does three things. First, it opens with a hook, a sentence that shows you understand the company, instead of the standard line, “I am writing to apply for the position of…”. Second, it connects your experience to the employer’s needs. If the advert stresses customer loyalty, tell one short story about a time you won back an unhappy customer. Third, it ends with a clear but courteous call to action, such as offering to discuss your ideas in an interview. Keep it to one page, address it to a named person if you can, and read it aloud before you send it. If a sentence sounds stiff when you say it, it will probably sound stiff on paper, too.</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According to the text, why is a cover letter valuable?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is your best chance to speak directly to a real person.</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three things should a good letter do?</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Open with a hook, connect your experience to the employer’s needs, and end with a clear, polite call to action.</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simple test does the writer suggest before sending?</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Read it aloud: if it sounds stiff, it will read as stiff on paper too.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Cover letter basics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求职信基础</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cover letter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求职信</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attached a cover letter explaining why I’m a good fit for the role.”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apply for a position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申请职位</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writing to apply for the position of Project Coordinator.”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reference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推荐人;推荐信</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“Two former managers have agreed to act as my references.”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attach / enclose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随附(邮件用 attach,纸质信用 enclose)</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 attached my resume for your consideration.”</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would welcome the opportunity to…</a:t>
            </a:r>
          </a:p>
          <a:p>
            <a:pPr algn="l">
              <a:lnSpc>
                <a:spcPct val="115000"/>
              </a:lnSpc>
              <a:spcAft>
                <a:spcPts val="800"/>
              </a:spcAft>
            </a:pPr>
            <a:r>
              <a:rPr sz="1300" b="0">
                <a:solidFill>
                  <a:srgbClr val="5F677A"/>
                </a:solidFill>
                <a:latin typeface="Arial"/>
                <a:ea typeface="Microsoft YaHei"/>
              </a:rPr>
              <a:t>phrase (formal)</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我期待有机会…</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would welcome the opportunity to discuss my application in person.”</a:t>
            </a:r>
          </a:p>
        </p:txBody>
      </p:sp>
      <p:sp>
        <p:nvSpPr>
          <p:cNvPr id="34" name="Rounded Rectangle 33"/>
          <p:cNvSpPr/>
          <p:nvPr/>
        </p:nvSpPr>
        <p:spPr>
          <a:xfrm>
            <a:off x="548640" y="52400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Yours sincerely / Yours faithfully</a:t>
            </a:r>
          </a:p>
          <a:p>
            <a:pPr algn="l">
              <a:lnSpc>
                <a:spcPct val="115000"/>
              </a:lnSpc>
              <a:spcAft>
                <a:spcPts val="800"/>
              </a:spcAft>
            </a:pPr>
            <a:r>
              <a:rPr sz="1300" b="0">
                <a:solidFill>
                  <a:srgbClr val="5F677A"/>
                </a:solidFill>
                <a:latin typeface="Arial"/>
                <a:ea typeface="Microsoft YaHei"/>
              </a:rPr>
              <a:t>phrase</a:t>
            </a:r>
          </a:p>
        </p:txBody>
      </p:sp>
      <p:sp>
        <p:nvSpPr>
          <p:cNvPr id="37" name="TextBox 36"/>
          <p:cNvSpPr txBox="1"/>
          <p:nvPr/>
        </p:nvSpPr>
        <p:spPr>
          <a:xfrm>
            <a:off x="4206240" y="52857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此致敬礼(知道 / 不知道收信人姓名)</a:t>
            </a:r>
          </a:p>
        </p:txBody>
      </p:sp>
      <p:sp>
        <p:nvSpPr>
          <p:cNvPr id="38" name="TextBox 37"/>
          <p:cNvSpPr txBox="1"/>
          <p:nvPr/>
        </p:nvSpPr>
        <p:spPr>
          <a:xfrm>
            <a:off x="6675120" y="52857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“Use “Yours sincerely” when you know the person’s name.”</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Making an impact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给人留下印象</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grab someone’s attention</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吸引某人注意</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“Open with a short story that grabs the reader’s attention.”</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a good fit for</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与…很匹配</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believe I would be a good fit for your sales team.”</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bring something to the table</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能带来价值或技能</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explain what I could bring to the table.”</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draw on</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借助(经验、知识)</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can draw on five years of experience in retail.”</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come across as</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给人…的印象</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come across as arrogant. Let your results speak for themselves.”</a:t>
            </a:r>
          </a:p>
        </p:txBody>
      </p:sp>
      <p:sp>
        <p:nvSpPr>
          <p:cNvPr id="34" name="Rounded Rectangle 33"/>
          <p:cNvSpPr/>
          <p:nvPr/>
        </p:nvSpPr>
        <p:spPr>
          <a:xfrm>
            <a:off x="548640" y="55448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5448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5905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keen to / keen on</a:t>
            </a:r>
          </a:p>
          <a:p>
            <a:pPr algn="l">
              <a:lnSpc>
                <a:spcPct val="115000"/>
              </a:lnSpc>
              <a:spcAft>
                <a:spcPts val="800"/>
              </a:spcAft>
            </a:pPr>
            <a:r>
              <a:rPr sz="1300" b="0">
                <a:solidFill>
                  <a:srgbClr val="5F677A"/>
                </a:solidFill>
                <a:latin typeface="Arial"/>
                <a:ea typeface="Microsoft YaHei"/>
              </a:rPr>
              <a:t>adjective phrase</a:t>
            </a:r>
          </a:p>
        </p:txBody>
      </p:sp>
      <p:sp>
        <p:nvSpPr>
          <p:cNvPr id="37" name="TextBox 36"/>
          <p:cNvSpPr txBox="1"/>
          <p:nvPr/>
        </p:nvSpPr>
        <p:spPr>
          <a:xfrm>
            <a:off x="4206240" y="55905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渴望…;热衷于…</a:t>
            </a:r>
          </a:p>
        </p:txBody>
      </p:sp>
      <p:sp>
        <p:nvSpPr>
          <p:cNvPr id="38" name="TextBox 37"/>
          <p:cNvSpPr txBox="1"/>
          <p:nvPr/>
        </p:nvSpPr>
        <p:spPr>
          <a:xfrm>
            <a:off x="6675120" y="55905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keen to contribute to your expansion into Asia.”</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吸引某人注意</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grab someone’s attention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推荐人;推荐信</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reference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借助(经验、知识)</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draw on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与…很匹配</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a good fit for</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申请职位</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apply for a position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1800" b="1">
                <a:solidFill>
                  <a:srgbClr val="1F2A44"/>
                </a:solidFill>
                <a:latin typeface="Arial"/>
                <a:ea typeface="Microsoft YaHei"/>
              </a:rPr>
              <a:t>随附(邮件用 attach,纸质信用 enclose)</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attach / enclose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求职信</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cover letter</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渴望…;热衷于…</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keen to / keen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attached</a:t>
            </a:r>
          </a:p>
        </p:txBody>
      </p:sp>
      <p:sp>
        <p:nvSpPr>
          <p:cNvPr id="10" name="Rounded Rectangle 9"/>
          <p:cNvSpPr/>
          <p:nvPr/>
        </p:nvSpPr>
        <p:spPr>
          <a:xfrm>
            <a:off x="3346704"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references</a:t>
            </a:r>
          </a:p>
        </p:txBody>
      </p:sp>
      <p:sp>
        <p:nvSpPr>
          <p:cNvPr id="11" name="Rounded Rectangle 10"/>
          <p:cNvSpPr/>
          <p:nvPr/>
        </p:nvSpPr>
        <p:spPr>
          <a:xfrm>
            <a:off x="4901184" y="987552"/>
            <a:ext cx="69494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fit</a:t>
            </a:r>
          </a:p>
        </p:txBody>
      </p:sp>
      <p:sp>
        <p:nvSpPr>
          <p:cNvPr id="12" name="Rounded Rectangle 11"/>
          <p:cNvSpPr/>
          <p:nvPr/>
        </p:nvSpPr>
        <p:spPr>
          <a:xfrm>
            <a:off x="5687568"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table</a:t>
            </a:r>
          </a:p>
        </p:txBody>
      </p:sp>
      <p:sp>
        <p:nvSpPr>
          <p:cNvPr id="13" name="Rounded Rectangle 12"/>
          <p:cNvSpPr/>
          <p:nvPr/>
        </p:nvSpPr>
        <p:spPr>
          <a:xfrm>
            <a:off x="6693408"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draw on</a:t>
            </a:r>
          </a:p>
        </p:txBody>
      </p:sp>
      <p:sp>
        <p:nvSpPr>
          <p:cNvPr id="14" name="Rounded Rectangle 13"/>
          <p:cNvSpPr/>
          <p:nvPr/>
        </p:nvSpPr>
        <p:spPr>
          <a:xfrm>
            <a:off x="7918704"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across</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1.  I have _______ my resume to this email.</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attached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2.  Two of my former managers have agreed to be my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references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3.  I believe I would be a good _______ for your team.</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fit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4.  I’d like to explain what I could bring to the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table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5.  In this role, I can _______ five years of experience in customer service.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draw on</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6.  Be confident, but don’t come _______ as arrogant.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across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sincerely (not “sincerly”), enclose (not “inclose”). Say “a good fit for“, “apply for a position” but “apply to a company”. Email = attached, paper letter = enclosed.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Following up on an application by phone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电话跟进求职申请</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week after sending your cover letter and resume, you phone the HR coordinator to follow up. Be polite and brief.</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Jun Zhao, applicant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Sarah Mills, HR coordinator at Brightpath Logistics</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Following up on an application by phone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Jun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Sarah. This is Jun Zhao. I applied last week for the Operations Analyst position. Is this a good time?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Sarah</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Jun. Yes, I’ve got a few minutes. I remember your application.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 just wanted to check that you received my cover letter and resume, and to say how keen I am on the role.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did, thanks. Your letter stood out, actually. The story about reorganising the warehouse was very clear.</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Following up on an application by phone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glad it came across well. I would welcome the chance to talk about how I could contribute to your team.</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still shortlisting this week. Could you tell me when you’d be available for a first interview?</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flexible. Any morning next week would work for me.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I’ll check with the hiring manager and email you some times by Wednesday.</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Following up on an application by phone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wonderful. Would you like me to send anything else, such as references?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at this stage. We’ll ask for them later if we need them.</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Understood. Thank you for your time, Sarah. I look forward to hearing from you.</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You’re welcome, Jun. Speak soon.</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Following up on an application by phone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candidate phones to follow up on an application.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Candidate. The job you applied for: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 coordinator. Polite, but busy.</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follow up · keen · stand out · come across · I would welcome the opportunity · look forward to hearing</a:t>
            </a:r>
          </a:p>
        </p:txBody>
      </p:sp>
      <p:sp>
        <p:nvSpPr>
          <p:cNvPr id="16" name="Rounded Rectangle 15"/>
          <p:cNvSpPr/>
          <p:nvPr/>
        </p:nvSpPr>
        <p:spPr>
          <a:xfrm>
            <a:off x="548640" y="349605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Check they received your documents, show enthusiasm in one sentence, agree the next step.</a:t>
            </a:r>
          </a:p>
        </p:txBody>
      </p:sp>
      <p:sp>
        <p:nvSpPr>
          <p:cNvPr id="18" name="Rounded Rectangle 17"/>
          <p:cNvSpPr/>
          <p:nvPr/>
        </p:nvSpPr>
        <p:spPr>
          <a:xfrm>
            <a:off x="548640" y="42214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2"/>
            <a:ext cx="3576218" cy="103936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Sarah says: “We’ve already shortlisted five people.” Stay positive and ask whether you could send a short work sample.</a:t>
            </a:r>
          </a:p>
        </p:txBody>
      </p:sp>
      <p:sp>
        <p:nvSpPr>
          <p:cNvPr id="22" name="Rounded Rectangle 21"/>
          <p:cNvSpPr/>
          <p:nvPr/>
        </p:nvSpPr>
        <p:spPr>
          <a:xfrm>
            <a:off x="4307738" y="5178552"/>
            <a:ext cx="3576218" cy="103936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You reach her voicemail. Leave a clear 20-second message.</a:t>
            </a:r>
          </a:p>
        </p:txBody>
      </p:sp>
      <p:sp>
        <p:nvSpPr>
          <p:cNvPr id="23" name="Rounded Rectangle 22"/>
          <p:cNvSpPr/>
          <p:nvPr/>
        </p:nvSpPr>
        <p:spPr>
          <a:xfrm>
            <a:off x="8066836" y="5178552"/>
            <a:ext cx="3576218" cy="103936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Follow up by email instead. Write three polite sentences (subject line included).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a cover letter be personal or professional? How personal can it be?</a:t>
            </a:r>
          </a:p>
          <a:p>
            <a:pPr algn="l">
              <a:lnSpc>
                <a:spcPct val="115000"/>
              </a:lnSpc>
              <a:spcAft>
                <a:spcPts val="800"/>
              </a:spcAft>
            </a:pPr>
            <a:r>
              <a:rPr sz="1400" b="0">
                <a:solidFill>
                  <a:srgbClr val="5F677A"/>
                </a:solidFill>
                <a:latin typeface="Arial"/>
                <a:ea typeface="Microsoft YaHei"/>
              </a:rPr>
              <a:t>💬 “I think a bit of personality helps because…” / “I’d keep it professional, but…”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long should you wait before following up on an application?</a:t>
            </a:r>
          </a:p>
          <a:p>
            <a:pPr algn="l">
              <a:lnSpc>
                <a:spcPct val="115000"/>
              </a:lnSpc>
              <a:spcAft>
                <a:spcPts val="800"/>
              </a:spcAft>
            </a:pPr>
            <a:r>
              <a:rPr sz="1400" b="0">
                <a:solidFill>
                  <a:srgbClr val="5F677A"/>
                </a:solidFill>
                <a:latin typeface="Arial"/>
                <a:ea typeface="Microsoft YaHei"/>
              </a:rPr>
              <a:t>💬 “I’d wait about… before…” / “If I haven’t heard back by…, I’d…”</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show enthusiasm without sounding desperate?</a:t>
            </a:r>
          </a:p>
          <a:p>
            <a:pPr algn="l">
              <a:lnSpc>
                <a:spcPct val="115000"/>
              </a:lnSpc>
              <a:spcAft>
                <a:spcPts val="800"/>
              </a:spcAft>
            </a:pPr>
            <a:r>
              <a:rPr sz="1400" b="0">
                <a:solidFill>
                  <a:srgbClr val="5F677A"/>
                </a:solidFill>
                <a:latin typeface="Arial"/>
                <a:ea typeface="Microsoft YaHei"/>
              </a:rPr>
              <a:t>💬 “Rather than saying…, I’d mention a specific…” / “Enthusiasm backed up by facts…”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975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9296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use AI to help write a cover letter? Where is the line between help and cheating?</a:t>
            </a:r>
          </a:p>
          <a:p>
            <a:pPr algn="l">
              <a:lnSpc>
                <a:spcPct val="115000"/>
              </a:lnSpc>
              <a:spcAft>
                <a:spcPts val="800"/>
              </a:spcAft>
            </a:pPr>
            <a:r>
              <a:rPr sz="1400" b="0">
                <a:solidFill>
                  <a:srgbClr val="5F677A"/>
                </a:solidFill>
                <a:latin typeface="Arial"/>
                <a:ea typeface="Microsoft YaHei"/>
              </a:rPr>
              <a:t>💬 “I’d use it to…, but I’d always…” / “It becomes a problem when…”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Rather than saying “I’m extremely excited”, I would mention something specific about the company, such as a project I admire or a recent product launch. That shows I’ve done my homework. I would also explain one thing I could bring to the table. Enthusiasm that is backed up by facts sounds confident, while a lot of exclamation marks tends to sound desperate.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do your homework = 事先做足功课。”Rather than + -ing” = 而不是…。be backed up by = 有…作为支撑。注意 “a lot of exclamation marks tends to…” 在口语中也常见,但正式写作可用 “tend to”。</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913631"/>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I’m writing because I want the job.</a:t>
                      </a:r>
                    </a:p>
                  </a:txBody>
                  <a:tcPr anchor="ctr">
                    <a:solidFill>
                      <a:srgbClr val="FFFFFF"/>
                    </a:solidFill>
                  </a:tcPr>
                </a:tc>
                <a:tc>
                  <a:txBody>
                    <a:bodyPr wrap="square"/>
                    <a:lstStyle/>
                    <a:p>
                      <a:r>
                        <a:rPr sz="1600" b="0">
                          <a:solidFill>
                            <a:srgbClr val="1F2A44"/>
                          </a:solidFill>
                          <a:latin typeface="Arial"/>
                          <a:ea typeface="Microsoft YaHei"/>
                        </a:rPr>
                        <a:t>I am writing to apply for the position of…</a:t>
                      </a:r>
                    </a:p>
                  </a:txBody>
                  <a:tcPr anchor="ctr">
                    <a:solidFill>
                      <a:srgbClr val="FFFFFF"/>
                    </a:solidFill>
                  </a:tcPr>
                </a:tc>
                <a:tc>
                  <a:txBody>
                    <a:bodyPr wrap="square"/>
                    <a:lstStyle/>
                    <a:p>
                      <a:r>
                        <a:rPr sz="1600" b="0">
                          <a:solidFill>
                            <a:srgbClr val="FF6B5B"/>
                          </a:solidFill>
                          <a:latin typeface="Arial"/>
                          <a:ea typeface="Microsoft YaHei"/>
                        </a:rPr>
                        <a:t>求职信开头的标准句型</a:t>
                      </a:r>
                    </a:p>
                  </a:txBody>
                  <a:tcPr anchor="ctr">
                    <a:solidFill>
                      <a:srgbClr val="FFFFFF"/>
                    </a:solidFill>
                  </a:tcPr>
                </a:tc>
              </a:tr>
              <a:tr h="652272">
                <a:tc>
                  <a:txBody>
                    <a:bodyPr wrap="square"/>
                    <a:lstStyle/>
                    <a:p>
                      <a:r>
                        <a:rPr sz="1600" b="1">
                          <a:solidFill>
                            <a:srgbClr val="1F2A44"/>
                          </a:solidFill>
                          <a:latin typeface="Arial"/>
                          <a:ea typeface="Microsoft YaHei"/>
                        </a:rPr>
                        <a:t>I’m really interested in your company.</a:t>
                      </a:r>
                    </a:p>
                  </a:txBody>
                  <a:tcPr anchor="ctr">
                    <a:solidFill>
                      <a:srgbClr val="FFEFD9"/>
                    </a:solidFill>
                  </a:tcPr>
                </a:tc>
                <a:tc>
                  <a:txBody>
                    <a:bodyPr wrap="square"/>
                    <a:lstStyle/>
                    <a:p>
                      <a:r>
                        <a:rPr sz="1600" b="0">
                          <a:solidFill>
                            <a:srgbClr val="1F2A44"/>
                          </a:solidFill>
                          <a:latin typeface="Arial"/>
                          <a:ea typeface="Microsoft YaHei"/>
                        </a:rPr>
                        <a:t>I was drawn to your company’s focus on sustainable logistics.</a:t>
                      </a:r>
                    </a:p>
                  </a:txBody>
                  <a:tcPr anchor="ctr">
                    <a:solidFill>
                      <a:srgbClr val="FFEFD9"/>
                    </a:solidFill>
                  </a:tcPr>
                </a:tc>
                <a:tc>
                  <a:txBody>
                    <a:bodyPr wrap="square"/>
                    <a:lstStyle/>
                    <a:p>
                      <a:r>
                        <a:rPr sz="1600" b="0">
                          <a:solidFill>
                            <a:srgbClr val="FF6B5B"/>
                          </a:solidFill>
                          <a:latin typeface="Arial"/>
                          <a:ea typeface="Microsoft YaHei"/>
                        </a:rPr>
                        <a:t>用具体细节代替空话</a:t>
                      </a:r>
                    </a:p>
                  </a:txBody>
                  <a:tcPr anchor="ctr">
                    <a:solidFill>
                      <a:srgbClr val="FFEFD9"/>
                    </a:solidFill>
                  </a:tcPr>
                </a:tc>
              </a:tr>
              <a:tr h="652272">
                <a:tc>
                  <a:txBody>
                    <a:bodyPr wrap="square"/>
                    <a:lstStyle/>
                    <a:p>
                      <a:r>
                        <a:rPr sz="1600" b="1">
                          <a:solidFill>
                            <a:srgbClr val="1F2A44"/>
                          </a:solidFill>
                          <a:latin typeface="Arial"/>
                          <a:ea typeface="Microsoft YaHei"/>
                        </a:rPr>
                        <a:t>I think I’d be good at this job.</a:t>
                      </a:r>
                    </a:p>
                  </a:txBody>
                  <a:tcPr anchor="ctr">
                    <a:solidFill>
                      <a:srgbClr val="FFFFFF"/>
                    </a:solidFill>
                  </a:tcPr>
                </a:tc>
                <a:tc>
                  <a:txBody>
                    <a:bodyPr wrap="square"/>
                    <a:lstStyle/>
                    <a:p>
                      <a:r>
                        <a:rPr sz="1600" b="0">
                          <a:solidFill>
                            <a:srgbClr val="1F2A44"/>
                          </a:solidFill>
                          <a:latin typeface="Arial"/>
                          <a:ea typeface="Microsoft YaHei"/>
                        </a:rPr>
                        <a:t>I believe my experience in… makes me a strong candidate.</a:t>
                      </a:r>
                    </a:p>
                  </a:txBody>
                  <a:tcPr anchor="ctr">
                    <a:solidFill>
                      <a:srgbClr val="FFFFFF"/>
                    </a:solidFill>
                  </a:tcPr>
                </a:tc>
                <a:tc>
                  <a:txBody>
                    <a:bodyPr wrap="square"/>
                    <a:lstStyle/>
                    <a:p>
                      <a:r>
                        <a:rPr sz="1600" b="0">
                          <a:solidFill>
                            <a:srgbClr val="FF6B5B"/>
                          </a:solidFill>
                          <a:latin typeface="Arial"/>
                          <a:ea typeface="Microsoft YaHei"/>
                        </a:rPr>
                        <a:t>I believe 让语气自信而不夸张</a:t>
                      </a:r>
                    </a:p>
                  </a:txBody>
                  <a:tcPr anchor="ctr">
                    <a:solidFill>
                      <a:srgbClr val="FFFFFF"/>
                    </a:solidFill>
                  </a:tcPr>
                </a:tc>
              </a:tr>
              <a:tr h="896111">
                <a:tc>
                  <a:txBody>
                    <a:bodyPr wrap="square"/>
                    <a:lstStyle/>
                    <a:p>
                      <a:r>
                        <a:rPr sz="1600" b="1">
                          <a:solidFill>
                            <a:srgbClr val="1F2A44"/>
                          </a:solidFill>
                          <a:latin typeface="Arial"/>
                          <a:ea typeface="Microsoft YaHei"/>
                        </a:rPr>
                        <a:t>Please call me.</a:t>
                      </a:r>
                    </a:p>
                  </a:txBody>
                  <a:tcPr anchor="ctr">
                    <a:solidFill>
                      <a:srgbClr val="FFEFD9"/>
                    </a:solidFill>
                  </a:tcPr>
                </a:tc>
                <a:tc>
                  <a:txBody>
                    <a:bodyPr wrap="square"/>
                    <a:lstStyle/>
                    <a:p>
                      <a:r>
                        <a:rPr sz="1600" b="0">
                          <a:solidFill>
                            <a:srgbClr val="1F2A44"/>
                          </a:solidFill>
                          <a:latin typeface="Arial"/>
                          <a:ea typeface="Microsoft YaHei"/>
                        </a:rPr>
                        <a:t>I would welcome the opportunity to discuss my application further.</a:t>
                      </a:r>
                    </a:p>
                  </a:txBody>
                  <a:tcPr anchor="ctr">
                    <a:solidFill>
                      <a:srgbClr val="FFEFD9"/>
                    </a:solidFill>
                  </a:tcPr>
                </a:tc>
                <a:tc>
                  <a:txBody>
                    <a:bodyPr wrap="square"/>
                    <a:lstStyle/>
                    <a:p>
                      <a:r>
                        <a:rPr sz="1600" b="0">
                          <a:solidFill>
                            <a:srgbClr val="FF6B5B"/>
                          </a:solidFill>
                          <a:latin typeface="Arial"/>
                          <a:ea typeface="Microsoft YaHei"/>
                        </a:rPr>
                        <a:t>would 使请求更礼貌</a:t>
                      </a:r>
                    </a:p>
                  </a:txBody>
                  <a:tcPr anchor="ctr">
                    <a:solidFill>
                      <a:srgbClr val="FFEFD9"/>
                    </a:solidFill>
                  </a:tcPr>
                </a:tc>
              </a:tr>
              <a:tr h="652272">
                <a:tc>
                  <a:txBody>
                    <a:bodyPr wrap="square"/>
                    <a:lstStyle/>
                    <a:p>
                      <a:r>
                        <a:rPr sz="1600" b="1">
                          <a:solidFill>
                            <a:srgbClr val="1F2A44"/>
                          </a:solidFill>
                          <a:latin typeface="Arial"/>
                          <a:ea typeface="Microsoft YaHei"/>
                        </a:rPr>
                        <a:t>Thanks for reading.</a:t>
                      </a:r>
                    </a:p>
                  </a:txBody>
                  <a:tcPr anchor="ctr">
                    <a:solidFill>
                      <a:srgbClr val="FFFFFF"/>
                    </a:solidFill>
                  </a:tcPr>
                </a:tc>
                <a:tc>
                  <a:txBody>
                    <a:bodyPr wrap="square"/>
                    <a:lstStyle/>
                    <a:p>
                      <a:r>
                        <a:rPr sz="1600" b="0">
                          <a:solidFill>
                            <a:srgbClr val="1F2A44"/>
                          </a:solidFill>
                          <a:latin typeface="Arial"/>
                          <a:ea typeface="Microsoft YaHei"/>
                        </a:rPr>
                        <a:t>Thank you for considering my application.</a:t>
                      </a:r>
                    </a:p>
                  </a:txBody>
                  <a:tcPr anchor="ctr">
                    <a:solidFill>
                      <a:srgbClr val="FFFFFF"/>
                    </a:solidFill>
                  </a:tcPr>
                </a:tc>
                <a:tc>
                  <a:txBody>
                    <a:bodyPr wrap="square"/>
                    <a:lstStyle/>
                    <a:p>
                      <a:r>
                        <a:rPr sz="1600" b="0">
                          <a:solidFill>
                            <a:srgbClr val="FF6B5B"/>
                          </a:solidFill>
                          <a:latin typeface="Arial"/>
                          <a:ea typeface="Microsoft YaHei"/>
                        </a:rPr>
                        <a:t>结尾致谢</a:t>
                      </a:r>
                    </a:p>
                  </a:txBody>
                  <a:tcPr anchor="ctr">
                    <a:solidFill>
                      <a:srgbClr val="FFFFFF"/>
                    </a:solidFill>
                  </a:tcPr>
                </a:tc>
              </a:tr>
            </a:tbl>
          </a:graphicData>
        </a:graphic>
      </p:graphicFrame>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Greeting and sign-off (UK): </a:t>
            </a:r>
            <a:r>
              <a:rPr sz="1700" b="0">
                <a:solidFill>
                  <a:srgbClr val="1F2A44"/>
                </a:solidFill>
                <a:latin typeface="Arial"/>
                <a:ea typeface="Microsoft YaHei"/>
              </a:rPr>
              <a:t>“Dear Ms Taylor” → “Yours sincerely”; “Dear Sir or Madam” → “Yours faithfully”. In the US, “Sincerely” works for both.</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Use would to sound polite and less pushy: </a:t>
            </a:r>
            <a:r>
              <a:rPr sz="1700" b="0">
                <a:solidFill>
                  <a:srgbClr val="1F2A44"/>
                </a:solidFill>
                <a:latin typeface="Arial"/>
                <a:ea typeface="Microsoft YaHei"/>
              </a:rPr>
              <a:t>“I would welcome…”, “I would be glad to…”.</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Four-paragraph plan: </a:t>
            </a:r>
            <a:r>
              <a:rPr sz="1700" b="0">
                <a:solidFill>
                  <a:srgbClr val="1F2A44"/>
                </a:solidFill>
                <a:latin typeface="Arial"/>
                <a:ea typeface="Microsoft YaHei"/>
              </a:rPr>
              <a:t>hook → fit → example → call to action.</a:t>
            </a:r>
          </a:p>
        </p:txBody>
      </p:sp>
      <p:sp>
        <p:nvSpPr>
          <p:cNvPr id="17" name="Rounded Rectangle 16"/>
          <p:cNvSpPr/>
          <p:nvPr/>
        </p:nvSpPr>
        <p:spPr>
          <a:xfrm>
            <a:off x="548640" y="327659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701039"/>
          </a:xfrm>
          <a:prstGeom prst="rect">
            <a:avLst/>
          </a:prstGeom>
          <a:noFill/>
        </p:spPr>
        <p:txBody>
          <a:bodyPr wrap="square" anchor="ctr">
            <a:spAutoFit/>
          </a:bodyPr>
          <a:lstStyle/>
          <a:p>
            <a:r>
              <a:rPr sz="1700" b="0">
                <a:solidFill>
                  <a:srgbClr val="1F2A44"/>
                </a:solidFill>
                <a:latin typeface="Arial"/>
                <a:ea typeface="Microsoft YaHei"/>
              </a:rPr>
              <a:t>Avoid clichés such as “team player”, “hard-working”, “think outside the box”. Show these qualities with a short example.</a:t>
            </a:r>
          </a:p>
        </p:txBody>
      </p:sp>
      <p:sp>
        <p:nvSpPr>
          <p:cNvPr id="20" name="Rounded Rectangle 19"/>
          <p:cNvSpPr/>
          <p:nvPr/>
        </p:nvSpPr>
        <p:spPr>
          <a:xfrm>
            <a:off x="548640" y="406907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6907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069076"/>
            <a:ext cx="10728655" cy="441959"/>
          </a:xfrm>
          <a:prstGeom prst="rect">
            <a:avLst/>
          </a:prstGeom>
          <a:noFill/>
        </p:spPr>
        <p:txBody>
          <a:bodyPr wrap="square" anchor="ctr">
            <a:spAutoFit/>
          </a:bodyPr>
          <a:lstStyle/>
          <a:p>
            <a:r>
              <a:rPr sz="1700" b="0">
                <a:solidFill>
                  <a:srgbClr val="1F2A44"/>
                </a:solidFill>
                <a:latin typeface="Arial"/>
                <a:ea typeface="Microsoft YaHei"/>
              </a:rPr>
              <a:t>Use full forms (I am, I would) in a formal letter. Contractions are fine in friendly emails.</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writing for apply the position.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writing to apply for the position.</a:t>
            </a:r>
          </a:p>
          <a:p>
            <a:pPr algn="l">
              <a:spcAft>
                <a:spcPts val="200"/>
              </a:spcAft>
            </a:pPr>
            <a:r>
              <a:rPr sz="1200" b="0">
                <a:solidFill>
                  <a:srgbClr val="FFFFFF"/>
                </a:solidFill>
                <a:latin typeface="Arial"/>
                <a:ea typeface="Microsoft YaHei"/>
              </a:rPr>
              <a:t>表示目的用 to + 动词原形</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very interesting in this job.</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very interested in this job.</a:t>
            </a:r>
          </a:p>
          <a:p>
            <a:pPr algn="l">
              <a:spcAft>
                <a:spcPts val="200"/>
              </a:spcAft>
            </a:pPr>
            <a:r>
              <a:rPr sz="1200" b="0">
                <a:solidFill>
                  <a:srgbClr val="FFFFFF"/>
                </a:solidFill>
                <a:latin typeface="Arial"/>
                <a:ea typeface="Microsoft YaHei"/>
              </a:rPr>
              <a:t>人用 interested,事物用 interesting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give me a chance to showing my ability.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give me a chance to show my ability.</a:t>
            </a:r>
          </a:p>
          <a:p>
            <a:pPr algn="l">
              <a:spcAft>
                <a:spcPts val="200"/>
              </a:spcAft>
            </a:pPr>
            <a:r>
              <a:rPr sz="1200" b="0">
                <a:solidFill>
                  <a:srgbClr val="FFFFFF"/>
                </a:solidFill>
                <a:latin typeface="Arial"/>
                <a:ea typeface="Microsoft YaHei"/>
              </a:rPr>
              <a:t>chance to + 动词原形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Hope to hear from you soon.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look forward to hearing from you.</a:t>
            </a:r>
          </a:p>
          <a:p>
            <a:pPr algn="l">
              <a:spcAft>
                <a:spcPts val="200"/>
              </a:spcAft>
            </a:pPr>
            <a:r>
              <a:rPr sz="1200" b="0">
                <a:solidFill>
                  <a:srgbClr val="FFFFFF"/>
                </a:solidFill>
                <a:latin typeface="Arial"/>
                <a:ea typeface="Microsoft YaHei"/>
              </a:rPr>
              <a:t>look forward to + -ing,且句子要完整</a:t>
            </a:r>
          </a:p>
        </p:txBody>
      </p:sp>
      <p:sp>
        <p:nvSpPr>
          <p:cNvPr id="11" name="Rounded Rectangle 10"/>
          <p:cNvSpPr/>
          <p:nvPr/>
        </p:nvSpPr>
        <p:spPr>
          <a:xfrm>
            <a:off x="548640" y="2164079"/>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do my best to contribute for the company.</a:t>
            </a:r>
          </a:p>
        </p:txBody>
      </p:sp>
      <p:sp>
        <p:nvSpPr>
          <p:cNvPr id="12" name="Rounded Rectangle 11"/>
          <p:cNvSpPr/>
          <p:nvPr/>
        </p:nvSpPr>
        <p:spPr>
          <a:xfrm>
            <a:off x="6187287" y="2164079"/>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will do my best to contribute to the company.</a:t>
            </a:r>
          </a:p>
          <a:p>
            <a:pPr algn="l">
              <a:spcAft>
                <a:spcPts val="200"/>
              </a:spcAft>
            </a:pPr>
            <a:r>
              <a:rPr sz="1200" b="0">
                <a:solidFill>
                  <a:srgbClr val="FFFFFF"/>
                </a:solidFill>
                <a:latin typeface="Arial"/>
                <a:ea typeface="Microsoft YaHei"/>
              </a:rPr>
              <a:t>contribute to</a:t>
            </a:r>
          </a:p>
        </p:txBody>
      </p:sp>
      <p:sp>
        <p:nvSpPr>
          <p:cNvPr id="13" name="Rounded Rectangle 12"/>
          <p:cNvSpPr/>
          <p:nvPr/>
        </p:nvSpPr>
        <p:spPr>
          <a:xfrm>
            <a:off x="548640" y="2926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Your company is very famous in the world.</a:t>
            </a:r>
          </a:p>
        </p:txBody>
      </p:sp>
      <p:sp>
        <p:nvSpPr>
          <p:cNvPr id="14" name="Rounded Rectangle 13"/>
          <p:cNvSpPr/>
          <p:nvPr/>
        </p:nvSpPr>
        <p:spPr>
          <a:xfrm>
            <a:off x="6187287" y="2926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Your company has an excellent reputation worldwide.</a:t>
            </a:r>
          </a:p>
          <a:p>
            <a:pPr algn="l">
              <a:spcAft>
                <a:spcPts val="200"/>
              </a:spcAft>
            </a:pPr>
            <a:r>
              <a:rPr sz="1200" b="0">
                <a:solidFill>
                  <a:srgbClr val="FFFFFF"/>
                </a:solidFill>
                <a:latin typeface="Arial"/>
                <a:ea typeface="Microsoft YaHei"/>
              </a:rPr>
              <a:t>reputation 比 famous 更地道</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look forward to + -ing, interested / interesting, and the prepositions apply for, contribute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Name the reader. Checking the company website or LinkedIn for the hiring manager’s name shows initiative. “To Whom It May Concern” feels old-fashioned.</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Self-promotion is normal. In English-speaking workplaces it is fine to say what you did well, as long as you use facts and give the team credit where it is due: “I led a team of five that…”</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Length: </a:t>
            </a:r>
            <a:r>
              <a:rPr sz="1700" b="0">
                <a:solidFill>
                  <a:srgbClr val="1F2A44"/>
                </a:solidFill>
                <a:latin typeface="Arial"/>
                <a:ea typeface="Microsoft YaHei"/>
              </a:rPr>
              <a:t>one page, three or four short paragraphs, roughly 250–350 words. Match the design of your resume.</a:t>
            </a:r>
          </a:p>
        </p:txBody>
      </p:sp>
      <p:sp>
        <p:nvSpPr>
          <p:cNvPr id="18" name="Rounded Rectangle 17"/>
          <p:cNvSpPr/>
          <p:nvPr/>
        </p:nvSpPr>
        <p:spPr>
          <a:xfrm>
            <a:off x="548640" y="379475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441959"/>
          </a:xfrm>
          <a:prstGeom prst="rect">
            <a:avLst/>
          </a:prstGeom>
          <a:noFill/>
        </p:spPr>
        <p:txBody>
          <a:bodyPr wrap="square" anchor="ctr">
            <a:spAutoFit/>
          </a:bodyPr>
          <a:lstStyle/>
          <a:p>
            <a:r>
              <a:rPr sz="1700" b="1">
                <a:solidFill>
                  <a:srgbClr val="FFC857"/>
                </a:solidFill>
                <a:latin typeface="Arial"/>
                <a:ea typeface="Microsoft YaHei"/>
              </a:rPr>
              <a:t>Follow-up: </a:t>
            </a:r>
            <a:r>
              <a:rPr sz="1700" b="0">
                <a:solidFill>
                  <a:srgbClr val="1F2A44"/>
                </a:solidFill>
                <a:latin typeface="Arial"/>
                <a:ea typeface="Microsoft YaHei"/>
              </a:rPr>
              <a:t>One polite follow-up after 7–10 days is normal. Calling every day is not.</a:t>
            </a:r>
          </a:p>
        </p:txBody>
      </p:sp>
      <p:sp>
        <p:nvSpPr>
          <p:cNvPr id="21" name="Rounded Rectangle 20"/>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英语求职信里用 “I” 完全正常,关键是用事实说明贡献。一次礼貌的跟进(follow-up)会显得你很有兴趣,但不要频繁催促。</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open a cover letter with a hook instead of a standard phrase.</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link one example from my experience to one job requirement.</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close with a polite call to action using would.</a:t>
            </a:r>
          </a:p>
        </p:txBody>
      </p:sp>
      <p:sp>
        <p:nvSpPr>
          <p:cNvPr id="20" name="TextBox 19"/>
          <p:cNvSpPr txBox="1"/>
          <p:nvPr/>
        </p:nvSpPr>
        <p:spPr>
          <a:xfrm>
            <a:off x="9539935" y="33131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follow up on an application by phone or email in a polite, brief way.</a:t>
            </a:r>
          </a:p>
        </p:txBody>
      </p:sp>
      <p:sp>
        <p:nvSpPr>
          <p:cNvPr id="24" name="TextBox 23"/>
          <p:cNvSpPr txBox="1"/>
          <p:nvPr/>
        </p:nvSpPr>
        <p:spPr>
          <a:xfrm>
            <a:off x="9539935" y="39105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02 Writing a Killer Cover Letter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interested / interesting, look forward to + -ing and prepositions (apply for, contribute to).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 · Lesson 03 Seeing Red Flags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Seeing Red Flags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发现危险信号</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warning signs in job adverts, interviews and workplaces, and raise concerns politely and diplomatically.</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621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18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18160"/>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What kinds of things in a job advert would make you doubtful about the employer?</a:t>
            </a:r>
          </a:p>
        </p:txBody>
      </p:sp>
      <p:sp>
        <p:nvSpPr>
          <p:cNvPr id="12" name="Oval 11"/>
          <p:cNvSpPr/>
          <p:nvPr/>
        </p:nvSpPr>
        <p:spPr>
          <a:xfrm>
            <a:off x="548640" y="218998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182368"/>
            <a:ext cx="10408615" cy="518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182368"/>
            <a:ext cx="10180015" cy="518160"/>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Have you ever accepted a job and later realised it was a mistake? What happened?</a:t>
            </a:r>
          </a:p>
        </p:txBody>
      </p:sp>
      <p:sp>
        <p:nvSpPr>
          <p:cNvPr id="15" name="Oval 14"/>
          <p:cNvSpPr/>
          <p:nvPr/>
        </p:nvSpPr>
        <p:spPr>
          <a:xfrm>
            <a:off x="548640" y="28178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810256"/>
            <a:ext cx="10408615" cy="518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810256"/>
            <a:ext cx="10180015" cy="518160"/>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What warning signs in an interview might suggest a company is hard to work for?</a:t>
            </a:r>
          </a:p>
        </p:txBody>
      </p:sp>
      <p:sp>
        <p:nvSpPr>
          <p:cNvPr id="18" name="Oval 17"/>
          <p:cNvSpPr/>
          <p:nvPr/>
        </p:nvSpPr>
        <p:spPr>
          <a:xfrm>
            <a:off x="548640" y="344576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438144"/>
            <a:ext cx="10408615" cy="518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438144"/>
            <a:ext cx="10180015" cy="518160"/>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Which is worse: a low salary or a poor working culture? Why?</a:t>
            </a:r>
          </a:p>
        </p:txBody>
      </p:sp>
      <p:sp>
        <p:nvSpPr>
          <p:cNvPr id="21" name="Oval 20"/>
          <p:cNvSpPr/>
          <p:nvPr/>
        </p:nvSpPr>
        <p:spPr>
          <a:xfrm>
            <a:off x="548640" y="40736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066032"/>
            <a:ext cx="10408615" cy="518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066032"/>
            <a:ext cx="10180015" cy="518160"/>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How can you ask tough questions in an interview without sounding rude?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第 2 题讲过去,注意 realised 和 was 的时态搭配。red flag 原指赛场上的红旗,即“危险信号”。第 5 题可以用 “I’d like to understand…” 等委婉说法。</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2400" b="1">
                <a:solidFill>
                  <a:srgbClr val="1F2A44"/>
                </a:solidFill>
                <a:latin typeface="Arial"/>
                <a:ea typeface="Microsoft YaHei"/>
              </a:rPr>
              <a:t>Describe three red flags you would look for before accepting a job, and what you would do about them.</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red flag 1</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red flag 2</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red flag 3</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you would do</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One warning sign for me would be…   💬 If I noticed…, I’d probably…   💬 That would make me think twice about…</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谈假设情况用 would(第二类条件句):If they couldn’t answer, I’d walk away。think twice = 再三考虑。</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Reading · Reading Between the Lines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165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Some warning signs are easy to spot, such as a vague job advert full of buzzwords but short on actual duties. Others only appear in the interview. If the interviewer keeps checking his phone, speaks badly about former employees, or can’t explain why the position is vacant, take note. Pay attention to the questions you are asked, too. “Can you work late at short notice?” is reasonable once in a while, but if it comes up three times, overtime may be a way of life. Then there is the way your own questions are received. A healthy employer is happy to talk about team size, training and how success is measured. If the answers are evasive, it’s worth asking yourself why. None of this means you should walk away at the first sign of trouble. No company is perfect, and some issues can be negotiated. But if several red flags appear together, it is wiser to trust your instincts than to hope things will improve.</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one warning sign in a job advert?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vague advert full of buzzwords with few details about the actual duties.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might repeated questions about working late suggest?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That overtime may be a way of life at the company.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When does the writer say you should be more worried?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When several red flags appear together.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Warning signs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危险信号</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red flag</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危险信号</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long list of vague responsibilities is a red flag.”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high turnover</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高离职率,人员流动大</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role has opened three times this year, which suggests high turnover.”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vague</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含糊的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job description was vague about the salary.”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workload</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工作量</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“Ask how the workload is shared across the team.”</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unrealistic expectations</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不切实际的期望</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manager has unrealistic expectations: he wants the full report by tomorrow morning.”</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probation period</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试用期</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probation period is three months.”</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Reading the situation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判断形势</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raise concerns about</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就…提出顾虑</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raised concerns about the lack of a clear career path.”</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read between the lines</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看出言外之意</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“Reading between the lines, they want one person to do two jobs.”</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ring alarm bells</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敲响警钟</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“His refusal to name a salary range rang alarm bells.”</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think twice about</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慎重考虑</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think twice about joining a company with that reputation.”</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turn out to be</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结果是,原来是</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flexible hours turned out to mean being available at weekends.”</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with your gut</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凭直觉行事</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 the end, I went with my gut and declined the offer.”</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危险信号</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red flag</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试用期</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probation period</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慎重考虑</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think twice about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敲响警钟</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ring alarm bells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就…提出顾虑</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raise concerns about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含糊的</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vague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看出言外之意</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read between the lines</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凭直觉行事</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 with your gut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vague</a:t>
            </a:r>
          </a:p>
        </p:txBody>
      </p:sp>
      <p:sp>
        <p:nvSpPr>
          <p:cNvPr id="10" name="Rounded Rectangle 9"/>
          <p:cNvSpPr/>
          <p:nvPr/>
        </p:nvSpPr>
        <p:spPr>
          <a:xfrm>
            <a:off x="3017520"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turnover</a:t>
            </a:r>
          </a:p>
        </p:txBody>
      </p:sp>
      <p:sp>
        <p:nvSpPr>
          <p:cNvPr id="11" name="Rounded Rectangle 10"/>
          <p:cNvSpPr/>
          <p:nvPr/>
        </p:nvSpPr>
        <p:spPr>
          <a:xfrm>
            <a:off x="4352544"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raised</a:t>
            </a:r>
          </a:p>
        </p:txBody>
      </p:sp>
      <p:sp>
        <p:nvSpPr>
          <p:cNvPr id="12" name="Rounded Rectangle 11"/>
          <p:cNvSpPr/>
          <p:nvPr/>
        </p:nvSpPr>
        <p:spPr>
          <a:xfrm>
            <a:off x="5468112" y="987552"/>
            <a:ext cx="1572767"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alarm bells</a:t>
            </a:r>
          </a:p>
        </p:txBody>
      </p:sp>
      <p:sp>
        <p:nvSpPr>
          <p:cNvPr id="13" name="Rounded Rectangle 12"/>
          <p:cNvSpPr/>
          <p:nvPr/>
        </p:nvSpPr>
        <p:spPr>
          <a:xfrm>
            <a:off x="7132319" y="987552"/>
            <a:ext cx="223113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between the lines</a:t>
            </a:r>
          </a:p>
        </p:txBody>
      </p:sp>
      <p:sp>
        <p:nvSpPr>
          <p:cNvPr id="14" name="Rounded Rectangle 13"/>
          <p:cNvSpPr/>
          <p:nvPr/>
        </p:nvSpPr>
        <p:spPr>
          <a:xfrm>
            <a:off x="9454895"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gut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1.  The job description was _______ about the salary and the duties.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vague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2.  High staff _______ is often a sign of a poor working culture.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turnover</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3.  I _______ concerns about the workload in the interview.</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raised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4.  When the manager avoided every question, it rang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alarm bells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5.  Reading _______, they want one person to do two jobs.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between the lines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6.  In the end I went with my _______ and turned the job down.</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gut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turnover (one word), probation (not “probition”), unrealistic (not “unrealstic”). It is always ring alarm bells (plural), and raise concerns (not “rise concerns”).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Asking tough questions at an interview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面试中提出敏感问题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In the final interview you notice two red flags: the last three people in the role all left within a year, and nobody mentions training. You decide to ask about it politely.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Wen Tao, candidate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Mark Dawson, department head</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Asking tough questions at an interview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Wen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Mark. Before we finish, may I ask a couple of questions about the role?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Mark</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Go ahead.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noticed that this position has been advertised a few times. Could you tell me a bit about why it keeps opening up?</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question. Two people moved abroad, and one found the workload heavier than expected.</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Asking tough questions at an interview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How is the workload shared across the team at the moment?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We’ve been short-staffed, to be honest. That’s why we’re hiring two people this time.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good to know. And what kind of training would I get in the first three months?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still developing the onboarding programme, but you’d work closely with Priya, our senior analyst.</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Asking tough questions at an interview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Understood. I’d also like to understand how success is measured in the first year.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question. We look at the accuracy of reporting and how well you work with other teams. I can send you the details.</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That would help me decide whether it’s the right fit for both of us.</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Absolutely. We want it to be the right fit, too.</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Asking tough questions at an interview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candidate asks tough questions about a role.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Candidate. The job: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Hiring manager. Honest, but a little defensive.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raise concerns · high turnover · workload · I’d like to understand · read between the lines · fit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about turnover, workload and training without sounding rude.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FFFFFF"/>
                </a:solidFill>
                <a:latin typeface="Arial"/>
                <a:ea typeface="Microsoft YaHei"/>
              </a:rPr>
              <a:t>The manager gets defensive: “Are you saying we’re badly managed?” Calm things down: “Not at all. I just want to be sure I can do a good job.”</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FFFFFF"/>
                </a:solidFill>
                <a:latin typeface="Arial"/>
                <a:ea typeface="Microsoft YaHei"/>
              </a:rPr>
              <a:t>You receive an offer with a vague job title. Ask politely for a written job description.</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FFFFFF"/>
                </a:solidFill>
                <a:latin typeface="Arial"/>
                <a:ea typeface="Microsoft YaHei"/>
              </a:rPr>
              <a:t>Decide: would you take the job? Give your reasons using “On balance, I’d…”.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975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9296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red flags would make you walk away immediately, and which could you live with?</a:t>
            </a:r>
          </a:p>
          <a:p>
            <a:pPr algn="l">
              <a:lnSpc>
                <a:spcPct val="115000"/>
              </a:lnSpc>
              <a:spcAft>
                <a:spcPts val="800"/>
              </a:spcAft>
            </a:pPr>
            <a:r>
              <a:rPr sz="1400" b="0">
                <a:solidFill>
                  <a:srgbClr val="5F677A"/>
                </a:solidFill>
                <a:latin typeface="Arial"/>
                <a:ea typeface="Microsoft YaHei"/>
              </a:rPr>
              <a:t>💬 “A deal-breaker for me would be…” / “I could live with… as long as…”</a:t>
            </a:r>
          </a:p>
        </p:txBody>
      </p:sp>
      <p:sp>
        <p:nvSpPr>
          <p:cNvPr id="12" name="Oval 11"/>
          <p:cNvSpPr/>
          <p:nvPr/>
        </p:nvSpPr>
        <p:spPr>
          <a:xfrm>
            <a:off x="548640" y="262128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755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12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rude to ask about salary, overtime or turnover in an interview?</a:t>
            </a:r>
          </a:p>
          <a:p>
            <a:pPr algn="l">
              <a:lnSpc>
                <a:spcPct val="115000"/>
              </a:lnSpc>
              <a:spcAft>
                <a:spcPts val="800"/>
              </a:spcAft>
            </a:pPr>
            <a:r>
              <a:rPr sz="1400" b="0">
                <a:solidFill>
                  <a:srgbClr val="5F677A"/>
                </a:solidFill>
                <a:latin typeface="Arial"/>
                <a:ea typeface="Microsoft YaHei"/>
              </a:rPr>
              <a:t>💬 “It depends on how you ask. I’d say…” / “If you phrase it carefully, …”</a:t>
            </a:r>
          </a:p>
        </p:txBody>
      </p:sp>
      <p:sp>
        <p:nvSpPr>
          <p:cNvPr id="15" name="Oval 14"/>
          <p:cNvSpPr/>
          <p:nvPr/>
        </p:nvSpPr>
        <p:spPr>
          <a:xfrm>
            <a:off x="548640" y="339852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528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985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Have you ever ignored a red flag? What happened?</a:t>
            </a:r>
          </a:p>
          <a:p>
            <a:pPr algn="l">
              <a:lnSpc>
                <a:spcPct val="115000"/>
              </a:lnSpc>
              <a:spcAft>
                <a:spcPts val="800"/>
              </a:spcAft>
            </a:pPr>
            <a:r>
              <a:rPr sz="1400" b="0">
                <a:solidFill>
                  <a:srgbClr val="5F677A"/>
                </a:solidFill>
                <a:latin typeface="Arial"/>
                <a:ea typeface="Microsoft YaHei"/>
              </a:rPr>
              <a:t>💬 “Looking back, I should have…” / “I ignored… because…”</a:t>
            </a:r>
          </a:p>
        </p:txBody>
      </p:sp>
      <p:sp>
        <p:nvSpPr>
          <p:cNvPr id="18" name="Oval 17"/>
          <p:cNvSpPr/>
          <p:nvPr/>
        </p:nvSpPr>
        <p:spPr>
          <a:xfrm>
            <a:off x="548640" y="417576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1300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1757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online employer reviews be trusted? How do you research a company?</a:t>
            </a:r>
          </a:p>
          <a:p>
            <a:pPr algn="l">
              <a:lnSpc>
                <a:spcPct val="115000"/>
              </a:lnSpc>
              <a:spcAft>
                <a:spcPts val="800"/>
              </a:spcAft>
            </a:pPr>
            <a:r>
              <a:rPr sz="1400" b="0">
                <a:solidFill>
                  <a:srgbClr val="5F677A"/>
                </a:solidFill>
                <a:latin typeface="Arial"/>
                <a:ea typeface="Microsoft YaHei"/>
              </a:rPr>
              <a:t>💬 “I usually check…, but I take reviews with a pinch of salt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Looking back, I should have paid more attention to the signs. In my second job, the manager spoke badly about everyone who had left, but I told myself it was just a bad week. Within six months I understood why people left: the workload was impossible and nobody ever said thank you. If I had gone with my gut, I would have asked more questions or turned the offer down.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should have + 过去分词 = 本该(没做)。第三条件句:If I had + 过去分词, I would have + 过去分词,用来假设过去。take… with a pinch of salt = 对…持保留态度。</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This job looks bad.</a:t>
                      </a:r>
                    </a:p>
                  </a:txBody>
                  <a:tcPr anchor="ctr">
                    <a:solidFill>
                      <a:srgbClr val="FFFFFF"/>
                    </a:solidFill>
                  </a:tcPr>
                </a:tc>
                <a:tc>
                  <a:txBody>
                    <a:bodyPr wrap="square"/>
                    <a:lstStyle/>
                    <a:p>
                      <a:r>
                        <a:rPr sz="1600" b="0">
                          <a:solidFill>
                            <a:srgbClr val="1F2A44"/>
                          </a:solidFill>
                          <a:latin typeface="Arial"/>
                          <a:ea typeface="Microsoft YaHei"/>
                        </a:rPr>
                        <a:t>I have some reservations about this role.</a:t>
                      </a:r>
                    </a:p>
                  </a:txBody>
                  <a:tcPr anchor="ctr">
                    <a:solidFill>
                      <a:srgbClr val="FFFFFF"/>
                    </a:solidFill>
                  </a:tcPr>
                </a:tc>
                <a:tc>
                  <a:txBody>
                    <a:bodyPr wrap="square"/>
                    <a:lstStyle/>
                    <a:p>
                      <a:r>
                        <a:rPr sz="1600" b="0">
                          <a:solidFill>
                            <a:srgbClr val="FF6B5B"/>
                          </a:solidFill>
                          <a:latin typeface="Arial"/>
                          <a:ea typeface="Microsoft YaHei"/>
                        </a:rPr>
                        <a:t>委婉表达保留意见</a:t>
                      </a:r>
                    </a:p>
                  </a:txBody>
                  <a:tcPr anchor="ctr">
                    <a:solidFill>
                      <a:srgbClr val="FFFFFF"/>
                    </a:solidFill>
                  </a:tcPr>
                </a:tc>
              </a:tr>
              <a:tr h="652272">
                <a:tc>
                  <a:txBody>
                    <a:bodyPr wrap="square"/>
                    <a:lstStyle/>
                    <a:p>
                      <a:r>
                        <a:rPr sz="1600" b="1">
                          <a:solidFill>
                            <a:srgbClr val="1F2A44"/>
                          </a:solidFill>
                          <a:latin typeface="Arial"/>
                          <a:ea typeface="Microsoft YaHei"/>
                        </a:rPr>
                        <a:t>Why do people keep leaving?</a:t>
                      </a:r>
                    </a:p>
                  </a:txBody>
                  <a:tcPr anchor="ctr">
                    <a:solidFill>
                      <a:srgbClr val="FFEFD9"/>
                    </a:solidFill>
                  </a:tcPr>
                </a:tc>
                <a:tc>
                  <a:txBody>
                    <a:bodyPr wrap="square"/>
                    <a:lstStyle/>
                    <a:p>
                      <a:r>
                        <a:rPr sz="1600" b="0">
                          <a:solidFill>
                            <a:srgbClr val="1F2A44"/>
                          </a:solidFill>
                          <a:latin typeface="Arial"/>
                          <a:ea typeface="Microsoft YaHei"/>
                        </a:rPr>
                        <a:t>Could you tell me a bit about staff turnover on the team?</a:t>
                      </a:r>
                    </a:p>
                  </a:txBody>
                  <a:tcPr anchor="ctr">
                    <a:solidFill>
                      <a:srgbClr val="FFEFD9"/>
                    </a:solidFill>
                  </a:tcPr>
                </a:tc>
                <a:tc>
                  <a:txBody>
                    <a:bodyPr wrap="square"/>
                    <a:lstStyle/>
                    <a:p>
                      <a:r>
                        <a:rPr sz="1600" b="0">
                          <a:solidFill>
                            <a:srgbClr val="FF6B5B"/>
                          </a:solidFill>
                          <a:latin typeface="Arial"/>
                          <a:ea typeface="Microsoft YaHei"/>
                        </a:rPr>
                        <a:t>把尖锐问题说得礼貌</a:t>
                      </a:r>
                    </a:p>
                  </a:txBody>
                  <a:tcPr anchor="ctr">
                    <a:solidFill>
                      <a:srgbClr val="FFEFD9"/>
                    </a:solidFill>
                  </a:tcPr>
                </a:tc>
              </a:tr>
              <a:tr h="652272">
                <a:tc>
                  <a:txBody>
                    <a:bodyPr wrap="square"/>
                    <a:lstStyle/>
                    <a:p>
                      <a:r>
                        <a:rPr sz="1600" b="1">
                          <a:solidFill>
                            <a:srgbClr val="1F2A44"/>
                          </a:solidFill>
                          <a:latin typeface="Arial"/>
                          <a:ea typeface="Microsoft YaHei"/>
                        </a:rPr>
                        <a:t>You expect too much from me.</a:t>
                      </a:r>
                    </a:p>
                  </a:txBody>
                  <a:tcPr anchor="ctr">
                    <a:solidFill>
                      <a:srgbClr val="FFFFFF"/>
                    </a:solidFill>
                  </a:tcPr>
                </a:tc>
                <a:tc>
                  <a:txBody>
                    <a:bodyPr wrap="square"/>
                    <a:lstStyle/>
                    <a:p>
                      <a:r>
                        <a:rPr sz="1600" b="0">
                          <a:solidFill>
                            <a:srgbClr val="1F2A44"/>
                          </a:solidFill>
                          <a:latin typeface="Arial"/>
                          <a:ea typeface="Microsoft YaHei"/>
                        </a:rPr>
                        <a:t>I’m concerned that the workload may be unrealistic.</a:t>
                      </a:r>
                    </a:p>
                  </a:txBody>
                  <a:tcPr anchor="ctr">
                    <a:solidFill>
                      <a:srgbClr val="FFFFFF"/>
                    </a:solidFill>
                  </a:tcPr>
                </a:tc>
                <a:tc>
                  <a:txBody>
                    <a:bodyPr wrap="square"/>
                    <a:lstStyle/>
                    <a:p>
                      <a:r>
                        <a:rPr sz="1600" b="0">
                          <a:solidFill>
                            <a:srgbClr val="FF6B5B"/>
                          </a:solidFill>
                          <a:latin typeface="Arial"/>
                          <a:ea typeface="Microsoft YaHei"/>
                        </a:rPr>
                        <a:t>说出顾虑,不指责对方</a:t>
                      </a:r>
                    </a:p>
                  </a:txBody>
                  <a:tcPr anchor="ctr">
                    <a:solidFill>
                      <a:srgbClr val="FFFFFF"/>
                    </a:solidFill>
                  </a:tcPr>
                </a:tc>
              </a:tr>
              <a:tr h="408432">
                <a:tc>
                  <a:txBody>
                    <a:bodyPr wrap="square"/>
                    <a:lstStyle/>
                    <a:p>
                      <a:r>
                        <a:rPr sz="1600" b="1">
                          <a:solidFill>
                            <a:srgbClr val="1F2A44"/>
                          </a:solidFill>
                          <a:latin typeface="Arial"/>
                          <a:ea typeface="Microsoft YaHei"/>
                        </a:rPr>
                        <a:t>I don’t trust them.</a:t>
                      </a:r>
                    </a:p>
                  </a:txBody>
                  <a:tcPr anchor="ctr">
                    <a:solidFill>
                      <a:srgbClr val="FFEFD9"/>
                    </a:solidFill>
                  </a:tcPr>
                </a:tc>
                <a:tc>
                  <a:txBody>
                    <a:bodyPr wrap="square"/>
                    <a:lstStyle/>
                    <a:p>
                      <a:r>
                        <a:rPr sz="1600" b="0">
                          <a:solidFill>
                            <a:srgbClr val="1F2A44"/>
                          </a:solidFill>
                          <a:latin typeface="Arial"/>
                          <a:ea typeface="Microsoft YaHei"/>
                        </a:rPr>
                        <a:t>Something doesn’t quite add up.</a:t>
                      </a:r>
                    </a:p>
                  </a:txBody>
                  <a:tcPr anchor="ctr">
                    <a:solidFill>
                      <a:srgbClr val="FFEFD9"/>
                    </a:solidFill>
                  </a:tcPr>
                </a:tc>
                <a:tc>
                  <a:txBody>
                    <a:bodyPr wrap="square"/>
                    <a:lstStyle/>
                    <a:p>
                      <a:r>
                        <a:rPr sz="1600" b="0">
                          <a:solidFill>
                            <a:srgbClr val="FF6B5B"/>
                          </a:solidFill>
                          <a:latin typeface="Arial"/>
                          <a:ea typeface="Microsoft YaHei"/>
                        </a:rPr>
                        <a:t>含蓄的怀疑</a:t>
                      </a:r>
                    </a:p>
                  </a:txBody>
                  <a:tcPr anchor="ctr">
                    <a:solidFill>
                      <a:srgbClr val="FFEFD9"/>
                    </a:solidFill>
                  </a:tcPr>
                </a:tc>
              </a:tr>
              <a:tr h="652272">
                <a:tc>
                  <a:txBody>
                    <a:bodyPr wrap="square"/>
                    <a:lstStyle/>
                    <a:p>
                      <a:r>
                        <a:rPr sz="1600" b="1">
                          <a:solidFill>
                            <a:srgbClr val="1F2A44"/>
                          </a:solidFill>
                          <a:latin typeface="Arial"/>
                          <a:ea typeface="Microsoft YaHei"/>
                        </a:rPr>
                        <a:t>I’ll give you my answer later.</a:t>
                      </a:r>
                    </a:p>
                  </a:txBody>
                  <a:tcPr anchor="ctr">
                    <a:solidFill>
                      <a:srgbClr val="FFFFFF"/>
                    </a:solidFill>
                  </a:tcPr>
                </a:tc>
                <a:tc>
                  <a:txBody>
                    <a:bodyPr wrap="square"/>
                    <a:lstStyle/>
                    <a:p>
                      <a:r>
                        <a:rPr sz="1600" b="0">
                          <a:solidFill>
                            <a:srgbClr val="1F2A44"/>
                          </a:solidFill>
                          <a:latin typeface="Arial"/>
                          <a:ea typeface="Microsoft YaHei"/>
                        </a:rPr>
                        <a:t>Could I have a few days to think it over?</a:t>
                      </a:r>
                    </a:p>
                  </a:txBody>
                  <a:tcPr anchor="ctr">
                    <a:solidFill>
                      <a:srgbClr val="FFFFFF"/>
                    </a:solidFill>
                  </a:tcPr>
                </a:tc>
                <a:tc>
                  <a:txBody>
                    <a:bodyPr wrap="square"/>
                    <a:lstStyle/>
                    <a:p>
                      <a:r>
                        <a:rPr sz="1600" b="0">
                          <a:solidFill>
                            <a:srgbClr val="FF6B5B"/>
                          </a:solidFill>
                          <a:latin typeface="Arial"/>
                          <a:ea typeface="Microsoft YaHei"/>
                        </a:rPr>
                        <a:t>争取考虑时间</a:t>
                      </a:r>
                    </a:p>
                  </a:txBody>
                  <a:tcPr anchor="ctr">
                    <a:solidFill>
                      <a:srgbClr val="FFFFFF"/>
                    </a:solidFill>
                  </a:tcPr>
                </a:tc>
              </a:tr>
            </a:tbl>
          </a:graphicData>
        </a:graphic>
      </p:graphicFrame>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Softening questions: </a:t>
            </a:r>
            <a:r>
              <a:rPr sz="1700" b="0">
                <a:solidFill>
                  <a:srgbClr val="1F2A44"/>
                </a:solidFill>
                <a:latin typeface="Arial"/>
                <a:ea typeface="Microsoft YaHei"/>
              </a:rPr>
              <a:t>“Could you tell me…?”, “I’d like to understand…”, “I was wondering whether…” are more polite than direct questions.</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Second conditional for imaginary situations: </a:t>
            </a:r>
            <a:r>
              <a:rPr sz="1700" b="0">
                <a:solidFill>
                  <a:srgbClr val="1F2A44"/>
                </a:solidFill>
                <a:latin typeface="Arial"/>
                <a:ea typeface="Microsoft YaHei"/>
              </a:rPr>
              <a:t>“If they couldn’t answer, I’d walk away.”</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Third conditional for the past: </a:t>
            </a:r>
            <a:r>
              <a:rPr sz="1700" b="0">
                <a:solidFill>
                  <a:srgbClr val="1F2A44"/>
                </a:solidFill>
                <a:latin typeface="Arial"/>
                <a:ea typeface="Microsoft YaHei"/>
              </a:rPr>
              <a:t>“If I’d gone with my gut, I wouldn’t have taken the job.”</a:t>
            </a:r>
          </a:p>
        </p:txBody>
      </p:sp>
      <p:sp>
        <p:nvSpPr>
          <p:cNvPr id="17" name="Rounded Rectangle 16"/>
          <p:cNvSpPr/>
          <p:nvPr/>
        </p:nvSpPr>
        <p:spPr>
          <a:xfrm>
            <a:off x="548640" y="327659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701039"/>
          </a:xfrm>
          <a:prstGeom prst="rect">
            <a:avLst/>
          </a:prstGeom>
          <a:noFill/>
        </p:spPr>
        <p:txBody>
          <a:bodyPr wrap="square" anchor="ctr">
            <a:spAutoFit/>
          </a:bodyPr>
          <a:lstStyle/>
          <a:p>
            <a:r>
              <a:rPr sz="1700" b="1">
                <a:solidFill>
                  <a:srgbClr val="FFC857"/>
                </a:solidFill>
                <a:latin typeface="Arial"/>
                <a:ea typeface="Microsoft YaHei"/>
              </a:rPr>
              <a:t>Hedging with seems, might, a bit: </a:t>
            </a:r>
            <a:r>
              <a:rPr sz="1700" b="0">
                <a:solidFill>
                  <a:srgbClr val="1F2A44"/>
                </a:solidFill>
                <a:latin typeface="Arial"/>
                <a:ea typeface="Microsoft YaHei"/>
              </a:rPr>
              <a:t>“The workload seems a bit heavy.” This sounds careful, not negative.</a:t>
            </a:r>
          </a:p>
        </p:txBody>
      </p:sp>
      <p:sp>
        <p:nvSpPr>
          <p:cNvPr id="20" name="Rounded Rectangle 19"/>
          <p:cNvSpPr/>
          <p:nvPr/>
        </p:nvSpPr>
        <p:spPr>
          <a:xfrm>
            <a:off x="548640" y="406907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6907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069076"/>
            <a:ext cx="10728655" cy="701039"/>
          </a:xfrm>
          <a:prstGeom prst="rect">
            <a:avLst/>
          </a:prstGeom>
          <a:noFill/>
        </p:spPr>
        <p:txBody>
          <a:bodyPr wrap="square" anchor="ctr">
            <a:spAutoFit/>
          </a:bodyPr>
          <a:lstStyle/>
          <a:p>
            <a:r>
              <a:rPr sz="1700" b="1">
                <a:solidFill>
                  <a:srgbClr val="9B6BE0"/>
                </a:solidFill>
                <a:latin typeface="Arial"/>
                <a:ea typeface="Microsoft YaHei"/>
              </a:rPr>
              <a:t>Red flag is countable: </a:t>
            </a:r>
            <a:r>
              <a:rPr sz="1700" b="0">
                <a:solidFill>
                  <a:srgbClr val="1F2A44"/>
                </a:solidFill>
                <a:latin typeface="Arial"/>
                <a:ea typeface="Microsoft YaHei"/>
              </a:rPr>
              <a:t>one red flag, three red flags. A deal-breaker is a point that makes you refuse the whole deal.</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If I will see many red flags, I will refuse.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I see many red flags, I’ll refuse.</a:t>
            </a:r>
          </a:p>
          <a:p>
            <a:pPr algn="l">
              <a:spcAft>
                <a:spcPts val="200"/>
              </a:spcAft>
            </a:pPr>
            <a:r>
              <a:rPr sz="1200" b="0">
                <a:solidFill>
                  <a:srgbClr val="FFFFFF"/>
                </a:solidFill>
                <a:latin typeface="Arial"/>
                <a:ea typeface="Microsoft YaHei"/>
              </a:rPr>
              <a:t>if 从句里不用 will</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If I was you, I would ask.</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I were you, I’d ask.</a:t>
            </a:r>
          </a:p>
          <a:p>
            <a:pPr algn="l">
              <a:spcAft>
                <a:spcPts val="200"/>
              </a:spcAft>
            </a:pPr>
            <a:r>
              <a:rPr sz="1200" b="0">
                <a:solidFill>
                  <a:srgbClr val="FFFFFF"/>
                </a:solidFill>
                <a:latin typeface="Arial"/>
                <a:ea typeface="Microsoft YaHei"/>
              </a:rPr>
              <a:t>虚拟语气常用 were</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regret to accept the job.</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regret accepting the job.</a:t>
            </a:r>
          </a:p>
          <a:p>
            <a:pPr algn="l">
              <a:spcAft>
                <a:spcPts val="200"/>
              </a:spcAft>
            </a:pPr>
            <a:r>
              <a:rPr sz="1200" b="0">
                <a:solidFill>
                  <a:srgbClr val="FFFFFF"/>
                </a:solidFill>
                <a:latin typeface="Arial"/>
                <a:ea typeface="Microsoft YaHei"/>
              </a:rPr>
              <a:t>regret + -ing = 后悔做过</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makes me to worry.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worries me. / It makes me worried.</a:t>
            </a:r>
          </a:p>
          <a:p>
            <a:pPr algn="l">
              <a:spcAft>
                <a:spcPts val="200"/>
              </a:spcAft>
            </a:pPr>
            <a:r>
              <a:rPr sz="1200" b="0">
                <a:solidFill>
                  <a:srgbClr val="FFFFFF"/>
                </a:solidFill>
                <a:latin typeface="Arial"/>
                <a:ea typeface="Microsoft YaHei"/>
              </a:rPr>
              <a:t>make + 宾语 + 形容词/动词原形</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salary is too low to live.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salary is too low to live on.</a:t>
            </a:r>
          </a:p>
          <a:p>
            <a:pPr algn="l">
              <a:spcAft>
                <a:spcPts val="200"/>
              </a:spcAft>
            </a:pPr>
            <a:r>
              <a:rPr sz="1200" b="0">
                <a:solidFill>
                  <a:srgbClr val="FFFFFF"/>
                </a:solidFill>
                <a:latin typeface="Arial"/>
                <a:ea typeface="Microsoft YaHei"/>
              </a:rPr>
              <a:t>live on 靠…生活</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a doubt about this.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doubts about this.</a:t>
            </a:r>
          </a:p>
          <a:p>
            <a:pPr algn="l">
              <a:spcAft>
                <a:spcPts val="200"/>
              </a:spcAft>
            </a:pPr>
            <a:r>
              <a:rPr sz="1200" b="0">
                <a:solidFill>
                  <a:srgbClr val="FFFFFF"/>
                </a:solidFill>
                <a:latin typeface="Arial"/>
                <a:ea typeface="Microsoft YaHei"/>
              </a:rPr>
              <a:t>表示“疑虑”多用复数 doubts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In if-clauses we do not use will: If I see…, I’ll… Check regret + -ing and were after If 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Direct questions are welcome. In the UK and US, asking about team size, training and how success is measured shows you take the job seriously. The tone matters more than the topic.</a:t>
            </a:r>
          </a:p>
        </p:txBody>
      </p:sp>
      <p:sp>
        <p:nvSpPr>
          <p:cNvPr id="12" name="Rounded Rectangle 11"/>
          <p:cNvSpPr/>
          <p:nvPr/>
        </p:nvSpPr>
        <p:spPr>
          <a:xfrm>
            <a:off x="548640" y="2209799"/>
            <a:ext cx="11094415" cy="960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96012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960120"/>
          </a:xfrm>
          <a:prstGeom prst="rect">
            <a:avLst/>
          </a:prstGeom>
          <a:noFill/>
        </p:spPr>
        <p:txBody>
          <a:bodyPr wrap="square" anchor="ctr">
            <a:spAutoFit/>
          </a:bodyPr>
          <a:lstStyle/>
          <a:p>
            <a:r>
              <a:rPr sz="1700" b="1">
                <a:solidFill>
                  <a:srgbClr val="4A90E2"/>
                </a:solidFill>
                <a:latin typeface="Arial"/>
                <a:ea typeface="Microsoft YaHei"/>
              </a:rPr>
              <a:t>Pay talk: </a:t>
            </a:r>
            <a:r>
              <a:rPr sz="1700" b="0">
                <a:solidFill>
                  <a:srgbClr val="1F2A44"/>
                </a:solidFill>
                <a:latin typeface="Arial"/>
                <a:ea typeface="Microsoft YaHei"/>
              </a:rPr>
              <a:t>In many US companies asking about the salary range early is normal, and some US states and cities even require pay ranges in job adverts. In China it is often discussed later, so check local practice.</a:t>
            </a:r>
          </a:p>
        </p:txBody>
      </p:sp>
      <p:sp>
        <p:nvSpPr>
          <p:cNvPr id="15" name="Rounded Rectangle 14"/>
          <p:cNvSpPr/>
          <p:nvPr/>
        </p:nvSpPr>
        <p:spPr>
          <a:xfrm>
            <a:off x="548640" y="326135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61359"/>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261359"/>
            <a:ext cx="10728655" cy="701039"/>
          </a:xfrm>
          <a:prstGeom prst="rect">
            <a:avLst/>
          </a:prstGeom>
          <a:noFill/>
        </p:spPr>
        <p:txBody>
          <a:bodyPr wrap="square" anchor="ctr">
            <a:spAutoFit/>
          </a:bodyPr>
          <a:lstStyle/>
          <a:p>
            <a:r>
              <a:rPr sz="1700" b="0">
                <a:solidFill>
                  <a:srgbClr val="1F2A44"/>
                </a:solidFill>
                <a:latin typeface="Arial"/>
                <a:ea typeface="Microsoft YaHei"/>
              </a:rPr>
              <a:t>Employer review sites such as Glassdoor show employees’ opinions. Read many reviews, not one, and treat extreme reviews with care.</a:t>
            </a:r>
          </a:p>
        </p:txBody>
      </p:sp>
      <p:sp>
        <p:nvSpPr>
          <p:cNvPr id="18" name="Rounded Rectangle 17"/>
          <p:cNvSpPr/>
          <p:nvPr/>
        </p:nvSpPr>
        <p:spPr>
          <a:xfrm>
            <a:off x="548640" y="405383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053838"/>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053838"/>
            <a:ext cx="10728655" cy="701039"/>
          </a:xfrm>
          <a:prstGeom prst="rect">
            <a:avLst/>
          </a:prstGeom>
          <a:noFill/>
        </p:spPr>
        <p:txBody>
          <a:bodyPr wrap="square" anchor="ctr">
            <a:spAutoFit/>
          </a:bodyPr>
          <a:lstStyle/>
          <a:p>
            <a:r>
              <a:rPr sz="1700" b="0">
                <a:solidFill>
                  <a:srgbClr val="1F2A44"/>
                </a:solidFill>
                <a:latin typeface="Arial"/>
                <a:ea typeface="Microsoft YaHei"/>
              </a:rPr>
              <a:t>Leaving early is not seen as shameful in English-speaking countries, but have a calm one-sentence explanation ready.</a:t>
            </a:r>
          </a:p>
        </p:txBody>
      </p:sp>
      <p:sp>
        <p:nvSpPr>
          <p:cNvPr id="21" name="Rounded Rectangle 20"/>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在英语面试里,礼貌地追问团队规模、培训、考核方式,被视为认真,不算冒犯。关键是语气:用 Could you tell me…? 而不是 Why…?</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name three red flags in a job advert, an interview and a workplace.</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raise a concern politely using softening phrases.</a:t>
            </a:r>
          </a:p>
        </p:txBody>
      </p:sp>
      <p:sp>
        <p:nvSpPr>
          <p:cNvPr id="16" name="TextBox 15"/>
          <p:cNvSpPr txBox="1"/>
          <p:nvPr/>
        </p:nvSpPr>
        <p:spPr>
          <a:xfrm>
            <a:off x="9539935" y="24109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the second and third conditional to talk about imaginary and past situations.</a:t>
            </a:r>
          </a:p>
        </p:txBody>
      </p:sp>
      <p:sp>
        <p:nvSpPr>
          <p:cNvPr id="20" name="TextBox 19"/>
          <p:cNvSpPr txBox="1"/>
          <p:nvPr/>
        </p:nvSpPr>
        <p:spPr>
          <a:xfrm>
            <a:off x="9539935" y="30083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a decision to walk away or to accept, giving reasons.</a:t>
            </a:r>
          </a:p>
        </p:txBody>
      </p:sp>
      <p:sp>
        <p:nvSpPr>
          <p:cNvPr id="24" name="TextBox 23"/>
          <p:cNvSpPr txBox="1"/>
          <p:nvPr/>
        </p:nvSpPr>
        <p:spPr>
          <a:xfrm>
            <a:off x="9539935" y="39105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03 Seeing Red Flags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if-clauses (no will), regret + -ing and prepositions (live on, concerns about).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 · Lesson 04 The Unemployment Club</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73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The Unemployment Club</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失业者俱乐部</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being out of work: redundancy, job-hunting routines, networking, support, and how to stay positive and professional.</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2212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38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382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Do you know anyone who has been out of work for a long time? How did they cope?</a:t>
            </a:r>
          </a:p>
        </p:txBody>
      </p:sp>
      <p:sp>
        <p:nvSpPr>
          <p:cNvPr id="12" name="Oval 11"/>
          <p:cNvSpPr/>
          <p:nvPr/>
        </p:nvSpPr>
        <p:spPr>
          <a:xfrm>
            <a:off x="548640" y="25176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02408"/>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02408"/>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If you lost your job tomorrow, what would you do in the first week?</a:t>
            </a:r>
          </a:p>
        </p:txBody>
      </p:sp>
      <p:sp>
        <p:nvSpPr>
          <p:cNvPr id="15" name="Oval 14"/>
          <p:cNvSpPr/>
          <p:nvPr/>
        </p:nvSpPr>
        <p:spPr>
          <a:xfrm>
            <a:off x="548640" y="31607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145536"/>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45536"/>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What help should governments or companies give to people who lose their jobs?</a:t>
            </a:r>
          </a:p>
        </p:txBody>
      </p:sp>
      <p:sp>
        <p:nvSpPr>
          <p:cNvPr id="18" name="Oval 17"/>
          <p:cNvSpPr/>
          <p:nvPr/>
        </p:nvSpPr>
        <p:spPr>
          <a:xfrm>
            <a:off x="548640" y="39563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788664"/>
            <a:ext cx="10408615" cy="838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788664"/>
            <a:ext cx="10180015" cy="8382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Is there still a stigma about being unemployed in your country? Why or why not?</a:t>
            </a:r>
          </a:p>
        </p:txBody>
      </p:sp>
      <p:sp>
        <p:nvSpPr>
          <p:cNvPr id="21" name="Oval 20"/>
          <p:cNvSpPr/>
          <p:nvPr/>
        </p:nvSpPr>
        <p:spPr>
          <a:xfrm>
            <a:off x="548640" y="475183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92"/>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92"/>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How can people stay motivated during a long job search?</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2 题用第二条件句:If I lost my job, I would…。stigma = 污名、耻辱感。第 3 题可以用 “should” 表达建议。</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advice to a friend who has just been made redundant.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first steps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daily routine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networking</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looking after yourself</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first thing I’d do is…   💬 It’s worth…   💬 Try not to… but do…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给建议常用:I’d suggest + -ing / It might help to + 动词原形 / Why don’t you…? 注意 be made redundant 是被动,不是主动。</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Reading · The Club Nobody Wants to Join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152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Nobody plans to join the unemployment club, but many people end up there at some point. A company restructures, a project is cancelled, and a department is suddenly “no longer required”. The first reaction is usually shock, followed by worry about money. Experts often advise people to treat the job search as a job in itself: set regular hours, make a weekly plan and track every application. They also recommend telling friends and former colleagues early. Many roles are filled through personal contacts before they are ever advertised. At the same time, rejection is hard to take, so it helps to build routines that have nothing to do with job hunting, such as exercise, volunteering or learning a new skill. Some people are surprised to discover that the period between jobs gives them space to rethink their direction. It’s rarely a pleasant time, but it doesn’t have to be a wasted one.</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the first reaction to losing a job, according to the text?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Shock, followed by worry about money.</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should you tell friends and former colleagues early?</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Many jobs are filled through personal contacts before they are advertised.</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positive side can a period between jobs have?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can give people space to rethink their direction.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Chunk 1: Losing a job and looking for 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失业与求职</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made redundant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被裁员(英式)</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“Around 200 people were made redundant when the factory closed.”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lay off</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裁员(美式)</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laid off 10% of its staff last quarter.”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severance pay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遣散费</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received three months’ severance pay.”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unemployment benefit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失业救济金</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lived on unemployment benefit for six months.”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job seeker</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求职者</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“Job seekers should update their profiles every few weeks.”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networking</a:t>
            </a:r>
          </a:p>
          <a:p>
            <a:pPr algn="l">
              <a:lnSpc>
                <a:spcPct val="115000"/>
              </a:lnSpc>
              <a:spcAft>
                <a:spcPts val="800"/>
              </a:spcAft>
            </a:pPr>
            <a:r>
              <a:rPr sz="1300" b="0">
                <a:solidFill>
                  <a:srgbClr val="5F677A"/>
                </a:solidFill>
                <a:latin typeface="Arial"/>
                <a:ea typeface="Microsoft YaHei"/>
              </a:rPr>
              <a:t>noun (uncountable)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人脉拓展</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“Most of my interviews came through networking.”</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Coping and moving forward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应对与前进</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between jobs</a:t>
            </a:r>
          </a:p>
          <a:p>
            <a:pPr algn="l">
              <a:lnSpc>
                <a:spcPct val="115000"/>
              </a:lnSpc>
              <a:spcAft>
                <a:spcPts val="800"/>
              </a:spcAft>
            </a:pPr>
            <a:r>
              <a:rPr sz="1300" b="0">
                <a:solidFill>
                  <a:srgbClr val="5F677A"/>
                </a:solidFill>
                <a:latin typeface="Arial"/>
                <a:ea typeface="Microsoft YaHei"/>
              </a:rPr>
              <a:t>euphemism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待业中(委婉说法)</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between jobs at the moment, so I have time for a course.”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back on your feet</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重新站稳脚跟</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took her a year to get back on her feet after the layoff.”</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your chin up</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保持乐观</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“Keep your chin up. Something will come along.”</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reach out to</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主动联系</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reached out to a few former colleagues for advice.”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setback</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挫折</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“Losing the job was a setback, but not the end of my career.”</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upskill / reskill</a:t>
            </a:r>
          </a:p>
          <a:p>
            <a:pPr algn="l">
              <a:lnSpc>
                <a:spcPct val="115000"/>
              </a:lnSpc>
              <a:spcAft>
                <a:spcPts val="800"/>
              </a:spcAft>
            </a:pPr>
            <a:r>
              <a:rPr sz="1300" b="0">
                <a:solidFill>
                  <a:srgbClr val="5F677A"/>
                </a:solidFill>
                <a:latin typeface="Arial"/>
                <a:ea typeface="Microsoft YaHei"/>
              </a:rPr>
              <a:t>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提升技能 / 转换技能</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used the time to upskill in data analysis.”</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重新站稳脚跟</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back on your feet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求职者</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job seeker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主动联系</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reach out to</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保持乐观</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keep your chin up</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人脉拓展</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networking</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提升技能 / 转换技能</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upskill / reskill</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挫折</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setback</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裁员(美式)</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lay off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redundant</a:t>
            </a:r>
          </a:p>
        </p:txBody>
      </p:sp>
      <p:sp>
        <p:nvSpPr>
          <p:cNvPr id="10" name="Rounded Rectangle 9"/>
          <p:cNvSpPr/>
          <p:nvPr/>
        </p:nvSpPr>
        <p:spPr>
          <a:xfrm>
            <a:off x="3456432"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severance</a:t>
            </a:r>
          </a:p>
        </p:txBody>
      </p:sp>
      <p:sp>
        <p:nvSpPr>
          <p:cNvPr id="11" name="Rounded Rectangle 10"/>
          <p:cNvSpPr/>
          <p:nvPr/>
        </p:nvSpPr>
        <p:spPr>
          <a:xfrm>
            <a:off x="4901184"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networking</a:t>
            </a:r>
          </a:p>
        </p:txBody>
      </p:sp>
      <p:sp>
        <p:nvSpPr>
          <p:cNvPr id="12" name="Rounded Rectangle 11"/>
          <p:cNvSpPr/>
          <p:nvPr/>
        </p:nvSpPr>
        <p:spPr>
          <a:xfrm>
            <a:off x="6455664" y="987552"/>
            <a:ext cx="168249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between jobs</a:t>
            </a:r>
          </a:p>
        </p:txBody>
      </p:sp>
      <p:sp>
        <p:nvSpPr>
          <p:cNvPr id="13" name="Rounded Rectangle 12"/>
          <p:cNvSpPr/>
          <p:nvPr/>
        </p:nvSpPr>
        <p:spPr>
          <a:xfrm>
            <a:off x="8229599"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reach out</a:t>
            </a:r>
          </a:p>
        </p:txBody>
      </p:sp>
      <p:sp>
        <p:nvSpPr>
          <p:cNvPr id="14" name="Rounded Rectangle 13"/>
          <p:cNvSpPr/>
          <p:nvPr/>
        </p:nvSpPr>
        <p:spPr>
          <a:xfrm>
            <a:off x="9674351"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setback</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Around 200 people were made _______ when the factory closed.</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redundant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She received three months’ _______ pay.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severance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Most of my interviews came through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networking</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I’m _______ at the moment, so I’m taking an online course.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between jobs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Don’t be shy. _______ to people in your industry.</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reach out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Losing the job was a _______, but not the end of my career.</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setback</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拼写与时态): redundant (not “redundent”), severance (not “severence”), unemployment (not “unemployement”). Say be made redundant (passive); I was made redundant, not “I made redundant”.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Advice from a friend who has been through it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听过来人的建议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friend Alex has just been made redundant and feels low. You were laid off two years ago and now offer advice.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Chen Yu, friend with experience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Alex Wong, recently made redundant</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Advice from a friend who has been through it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Chen Yu</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Alex, I heard the news. How are you holding up?</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Alex</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Honestly, not great. It all happened so fast. I keep wondering what I could have done differently.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know that feeling. When I was laid off, I kept asking the same question. But it was a restructuring, not a verdict on you.</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know in my head, but it’s still a blow. And I’m already worrying about money.</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Advice from a friend who has been through it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natural. Have you checked what severance pay and benefits you’re entitled to?</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yet. I’ll look into it this week.</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And my advice would be to set a routine from day one. Treat the job search like a job, with fixed hours and a weekly plan.</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makes sense. What about networking? I hate asking people for favours.</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Advice from a friend who has been through it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doesn’t have to feel like that. Just reach out to old colleagues and ask for their thoughts, not for a job. Most people are happy to help.</a:t>
            </a:r>
          </a:p>
        </p:txBody>
      </p:sp>
      <p:sp>
        <p:nvSpPr>
          <p:cNvPr id="11" name="Rounded Rectangle 10"/>
          <p:cNvSpPr/>
          <p:nvPr/>
        </p:nvSpPr>
        <p:spPr>
          <a:xfrm>
            <a:off x="10911535" y="2487167"/>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926079"/>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487167"/>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Okay. Maybe I’ll start with my old manager.</a:t>
            </a:r>
          </a:p>
        </p:txBody>
      </p:sp>
      <p:sp>
        <p:nvSpPr>
          <p:cNvPr id="14" name="Rounded Rectangle 13"/>
          <p:cNvSpPr/>
          <p:nvPr/>
        </p:nvSpPr>
        <p:spPr>
          <a:xfrm>
            <a:off x="548640" y="3069335"/>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7"/>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5"/>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idea. And please look after yourself. Get out, exercise, see friends. Keep your chin up. You’ll get back on your feet.</a:t>
            </a:r>
          </a:p>
        </p:txBody>
      </p:sp>
      <p:sp>
        <p:nvSpPr>
          <p:cNvPr id="17" name="Rounded Rectangle 16"/>
          <p:cNvSpPr/>
          <p:nvPr/>
        </p:nvSpPr>
        <p:spPr>
          <a:xfrm>
            <a:off x="10911535" y="3941063"/>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3"/>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Chen Yu. That really helps.</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Advice from a friend who has been through it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give advice to a friend who has lost their job.</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 with experience. Your own story: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 recently made redundant and worried.</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be made redundant · severance pay · networking · reach out · keep your chin up · get back on your feet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Show empathy first, then give two pieces of practical advice.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FFFFFF"/>
                </a:solidFill>
                <a:latin typeface="Arial"/>
                <a:ea typeface="Microsoft YaHei"/>
              </a:rPr>
              <a:t>Alex says: “I feel like a failure.” Respond with empathy before you give advice: “That sounds really tough. Anyone would feel that way.”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FFFFFF"/>
                </a:solidFill>
                <a:latin typeface="Arial"/>
                <a:ea typeface="Microsoft YaHei"/>
              </a:rPr>
              <a:t>Alex asks for a practical idea for the first week. Give a day-by-day plan in 30 seconds.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FFFFFF"/>
                </a:solidFill>
                <a:latin typeface="Arial"/>
                <a:ea typeface="Microsoft YaHei"/>
              </a:rPr>
              <a:t>Role-reverse: you are Alex, and your friend gives you advice you disagree with. Disagree politely.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there a stigma about being unemployed in your country? Has it changed?</a:t>
            </a:r>
          </a:p>
          <a:p>
            <a:pPr algn="l">
              <a:lnSpc>
                <a:spcPct val="115000"/>
              </a:lnSpc>
              <a:spcAft>
                <a:spcPts val="800"/>
              </a:spcAft>
            </a:pPr>
            <a:r>
              <a:rPr sz="1400" b="0">
                <a:solidFill>
                  <a:srgbClr val="5F677A"/>
                </a:solidFill>
                <a:latin typeface="Arial"/>
                <a:ea typeface="Microsoft YaHei"/>
              </a:rPr>
              <a:t>💬 “In my country, people tend to… but this is changing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975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9296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should governments or companies do to support people who lose their jobs?</a:t>
            </a:r>
          </a:p>
          <a:p>
            <a:pPr algn="l">
              <a:lnSpc>
                <a:spcPct val="115000"/>
              </a:lnSpc>
              <a:spcAft>
                <a:spcPts val="800"/>
              </a:spcAft>
            </a:pPr>
            <a:r>
              <a:rPr sz="1400" b="0">
                <a:solidFill>
                  <a:srgbClr val="5F677A"/>
                </a:solidFill>
                <a:latin typeface="Arial"/>
                <a:ea typeface="Microsoft YaHei"/>
              </a:rPr>
              <a:t>💬 “I think companies have a duty to…” / “Governments could…, which would…”</a:t>
            </a:r>
          </a:p>
        </p:txBody>
      </p:sp>
      <p:sp>
        <p:nvSpPr>
          <p:cNvPr id="15" name="Oval 14"/>
          <p:cNvSpPr/>
          <p:nvPr/>
        </p:nvSpPr>
        <p:spPr>
          <a:xfrm>
            <a:off x="548640" y="339852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528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985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wait for the perfect job or accept any job quickly?</a:t>
            </a:r>
          </a:p>
          <a:p>
            <a:pPr algn="l">
              <a:lnSpc>
                <a:spcPct val="115000"/>
              </a:lnSpc>
              <a:spcAft>
                <a:spcPts val="800"/>
              </a:spcAft>
            </a:pPr>
            <a:r>
              <a:rPr sz="1400" b="0">
                <a:solidFill>
                  <a:srgbClr val="5F677A"/>
                </a:solidFill>
                <a:latin typeface="Arial"/>
                <a:ea typeface="Microsoft YaHei"/>
              </a:rPr>
              <a:t>💬 “On the one hand…, on the other hand…” / “It depends on how long…”</a:t>
            </a:r>
          </a:p>
        </p:txBody>
      </p:sp>
      <p:sp>
        <p:nvSpPr>
          <p:cNvPr id="18" name="Oval 17"/>
          <p:cNvSpPr/>
          <p:nvPr/>
        </p:nvSpPr>
        <p:spPr>
          <a:xfrm>
            <a:off x="548640" y="417576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1300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1757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explain a gap on your resume in a positive way?</a:t>
            </a:r>
          </a:p>
          <a:p>
            <a:pPr algn="l">
              <a:lnSpc>
                <a:spcPct val="115000"/>
              </a:lnSpc>
              <a:spcAft>
                <a:spcPts val="800"/>
              </a:spcAft>
            </a:pPr>
            <a:r>
              <a:rPr sz="1400" b="0">
                <a:solidFill>
                  <a:srgbClr val="5F677A"/>
                </a:solidFill>
                <a:latin typeface="Arial"/>
                <a:ea typeface="Microsoft YaHei"/>
              </a:rPr>
              <a:t>💬 “I’d explain that I used the time to…” / “The key is to focus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On the one hand, taking any job quickly gives you income and confidence. On the other hand, if you accept the wrong role, you may end up job hunting again in six months. I think it depends on your financial situation. If you have savings, I’d wait a little longer for something that fits your goals. If not, I’d take a temporary job while I carry on searching, so that I don’t feel I’m just waiting.</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On the one hand… on the other hand… 用来对比两种观点。”end up + -ing” = 最终落得…。carry on + -ing = 继续做…。</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 lost my job.</a:t>
                      </a:r>
                    </a:p>
                  </a:txBody>
                  <a:tcPr anchor="ctr">
                    <a:solidFill>
                      <a:srgbClr val="FFFFFF"/>
                    </a:solidFill>
                  </a:tcPr>
                </a:tc>
                <a:tc>
                  <a:txBody>
                    <a:bodyPr wrap="square"/>
                    <a:lstStyle/>
                    <a:p>
                      <a:r>
                        <a:rPr sz="1600" b="0">
                          <a:solidFill>
                            <a:srgbClr val="1F2A44"/>
                          </a:solidFill>
                          <a:latin typeface="Arial"/>
                          <a:ea typeface="Microsoft YaHei"/>
                        </a:rPr>
                        <a:t>I was made redundant when the department closed.</a:t>
                      </a:r>
                    </a:p>
                  </a:txBody>
                  <a:tcPr anchor="ctr">
                    <a:solidFill>
                      <a:srgbClr val="FFFFFF"/>
                    </a:solidFill>
                  </a:tcPr>
                </a:tc>
                <a:tc>
                  <a:txBody>
                    <a:bodyPr wrap="square"/>
                    <a:lstStyle/>
                    <a:p>
                      <a:r>
                        <a:rPr sz="1600" b="0">
                          <a:solidFill>
                            <a:srgbClr val="FF6B5B"/>
                          </a:solidFill>
                          <a:latin typeface="Arial"/>
                          <a:ea typeface="Microsoft YaHei"/>
                        </a:rPr>
                        <a:t>被裁员的中性表达(英式)</a:t>
                      </a:r>
                    </a:p>
                  </a:txBody>
                  <a:tcPr anchor="ctr">
                    <a:solidFill>
                      <a:srgbClr val="FFFFFF"/>
                    </a:solidFill>
                  </a:tcPr>
                </a:tc>
              </a:tr>
              <a:tr h="408432">
                <a:tc>
                  <a:txBody>
                    <a:bodyPr wrap="square"/>
                    <a:lstStyle/>
                    <a:p>
                      <a:r>
                        <a:rPr sz="1600" b="1">
                          <a:solidFill>
                            <a:srgbClr val="1F2A44"/>
                          </a:solidFill>
                          <a:latin typeface="Arial"/>
                          <a:ea typeface="Microsoft YaHei"/>
                        </a:rPr>
                        <a:t>I don’t have a job now.</a:t>
                      </a:r>
                    </a:p>
                  </a:txBody>
                  <a:tcPr anchor="ctr">
                    <a:solidFill>
                      <a:srgbClr val="FFEFD9"/>
                    </a:solidFill>
                  </a:tcPr>
                </a:tc>
                <a:tc>
                  <a:txBody>
                    <a:bodyPr wrap="square"/>
                    <a:lstStyle/>
                    <a:p>
                      <a:r>
                        <a:rPr sz="1600" b="0">
                          <a:solidFill>
                            <a:srgbClr val="1F2A44"/>
                          </a:solidFill>
                          <a:latin typeface="Arial"/>
                          <a:ea typeface="Microsoft YaHei"/>
                        </a:rPr>
                        <a:t>I’m between jobs at the moment.</a:t>
                      </a:r>
                    </a:p>
                  </a:txBody>
                  <a:tcPr anchor="ctr">
                    <a:solidFill>
                      <a:srgbClr val="FFEFD9"/>
                    </a:solidFill>
                  </a:tcPr>
                </a:tc>
                <a:tc>
                  <a:txBody>
                    <a:bodyPr wrap="square"/>
                    <a:lstStyle/>
                    <a:p>
                      <a:r>
                        <a:rPr sz="1600" b="0">
                          <a:solidFill>
                            <a:srgbClr val="FF6B5B"/>
                          </a:solidFill>
                          <a:latin typeface="Arial"/>
                          <a:ea typeface="Microsoft YaHei"/>
                        </a:rPr>
                        <a:t>委婉说法</a:t>
                      </a:r>
                    </a:p>
                  </a:txBody>
                  <a:tcPr anchor="ctr">
                    <a:solidFill>
                      <a:srgbClr val="FFEFD9"/>
                    </a:solidFill>
                  </a:tcPr>
                </a:tc>
              </a:tr>
              <a:tr h="408432">
                <a:tc>
                  <a:txBody>
                    <a:bodyPr wrap="square"/>
                    <a:lstStyle/>
                    <a:p>
                      <a:r>
                        <a:rPr sz="1600" b="1">
                          <a:solidFill>
                            <a:srgbClr val="1F2A44"/>
                          </a:solidFill>
                          <a:latin typeface="Arial"/>
                          <a:ea typeface="Microsoft YaHei"/>
                        </a:rPr>
                        <a:t>I asked some friends to help.</a:t>
                      </a:r>
                    </a:p>
                  </a:txBody>
                  <a:tcPr anchor="ctr">
                    <a:solidFill>
                      <a:srgbClr val="FFFFFF"/>
                    </a:solidFill>
                  </a:tcPr>
                </a:tc>
                <a:tc>
                  <a:txBody>
                    <a:bodyPr wrap="square"/>
                    <a:lstStyle/>
                    <a:p>
                      <a:r>
                        <a:rPr sz="1600" b="0">
                          <a:solidFill>
                            <a:srgbClr val="1F2A44"/>
                          </a:solidFill>
                          <a:latin typeface="Arial"/>
                          <a:ea typeface="Microsoft YaHei"/>
                        </a:rPr>
                        <a:t>I reached out to my network.</a:t>
                      </a:r>
                    </a:p>
                  </a:txBody>
                  <a:tcPr anchor="ctr">
                    <a:solidFill>
                      <a:srgbClr val="FFFFFF"/>
                    </a:solidFill>
                  </a:tcPr>
                </a:tc>
                <a:tc>
                  <a:txBody>
                    <a:bodyPr wrap="square"/>
                    <a:lstStyle/>
                    <a:p>
                      <a:r>
                        <a:rPr sz="1600" b="0">
                          <a:solidFill>
                            <a:srgbClr val="FF6B5B"/>
                          </a:solidFill>
                          <a:latin typeface="Arial"/>
                          <a:ea typeface="Microsoft YaHei"/>
                        </a:rPr>
                        <a:t>network 指人脉</a:t>
                      </a:r>
                    </a:p>
                  </a:txBody>
                  <a:tcPr anchor="ctr">
                    <a:solidFill>
                      <a:srgbClr val="FFFFFF"/>
                    </a:solidFill>
                  </a:tcPr>
                </a:tc>
              </a:tr>
              <a:tr h="652272">
                <a:tc>
                  <a:txBody>
                    <a:bodyPr wrap="square"/>
                    <a:lstStyle/>
                    <a:p>
                      <a:r>
                        <a:rPr sz="1600" b="1">
                          <a:solidFill>
                            <a:srgbClr val="1F2A44"/>
                          </a:solidFill>
                          <a:latin typeface="Arial"/>
                          <a:ea typeface="Microsoft YaHei"/>
                        </a:rPr>
                        <a:t>It was a bad experience.</a:t>
                      </a:r>
                    </a:p>
                  </a:txBody>
                  <a:tcPr anchor="ctr">
                    <a:solidFill>
                      <a:srgbClr val="FFEFD9"/>
                    </a:solidFill>
                  </a:tcPr>
                </a:tc>
                <a:tc>
                  <a:txBody>
                    <a:bodyPr wrap="square"/>
                    <a:lstStyle/>
                    <a:p>
                      <a:r>
                        <a:rPr sz="1600" b="0">
                          <a:solidFill>
                            <a:srgbClr val="1F2A44"/>
                          </a:solidFill>
                          <a:latin typeface="Arial"/>
                          <a:ea typeface="Microsoft YaHei"/>
                        </a:rPr>
                        <a:t>It was a setback, but I learned a lot from it.</a:t>
                      </a:r>
                    </a:p>
                  </a:txBody>
                  <a:tcPr anchor="ctr">
                    <a:solidFill>
                      <a:srgbClr val="FFEFD9"/>
                    </a:solidFill>
                  </a:tcPr>
                </a:tc>
                <a:tc>
                  <a:txBody>
                    <a:bodyPr wrap="square"/>
                    <a:lstStyle/>
                    <a:p>
                      <a:r>
                        <a:rPr sz="1600" b="0">
                          <a:solidFill>
                            <a:srgbClr val="FF6B5B"/>
                          </a:solidFill>
                          <a:latin typeface="Arial"/>
                          <a:ea typeface="Microsoft YaHei"/>
                        </a:rPr>
                        <a:t>向积极方向转述</a:t>
                      </a:r>
                    </a:p>
                  </a:txBody>
                  <a:tcPr anchor="ctr">
                    <a:solidFill>
                      <a:srgbClr val="FFEFD9"/>
                    </a:solidFill>
                  </a:tcPr>
                </a:tc>
              </a:tr>
              <a:tr h="652272">
                <a:tc>
                  <a:txBody>
                    <a:bodyPr wrap="square"/>
                    <a:lstStyle/>
                    <a:p>
                      <a:r>
                        <a:rPr sz="1600" b="1">
                          <a:solidFill>
                            <a:srgbClr val="1F2A44"/>
                          </a:solidFill>
                          <a:latin typeface="Arial"/>
                          <a:ea typeface="Microsoft YaHei"/>
                        </a:rPr>
                        <a:t>I want to learn new skills.</a:t>
                      </a:r>
                    </a:p>
                  </a:txBody>
                  <a:tcPr anchor="ctr">
                    <a:solidFill>
                      <a:srgbClr val="FFFFFF"/>
                    </a:solidFill>
                  </a:tcPr>
                </a:tc>
                <a:tc>
                  <a:txBody>
                    <a:bodyPr wrap="square"/>
                    <a:lstStyle/>
                    <a:p>
                      <a:r>
                        <a:rPr sz="1600" b="0">
                          <a:solidFill>
                            <a:srgbClr val="1F2A44"/>
                          </a:solidFill>
                          <a:latin typeface="Arial"/>
                          <a:ea typeface="Microsoft YaHei"/>
                        </a:rPr>
                        <a:t>I’m looking to upskill in data analysis.</a:t>
                      </a:r>
                    </a:p>
                  </a:txBody>
                  <a:tcPr anchor="ctr">
                    <a:solidFill>
                      <a:srgbClr val="FFFFFF"/>
                    </a:solidFill>
                  </a:tcPr>
                </a:tc>
                <a:tc>
                  <a:txBody>
                    <a:bodyPr wrap="square"/>
                    <a:lstStyle/>
                    <a:p>
                      <a:r>
                        <a:rPr sz="1600" b="0">
                          <a:solidFill>
                            <a:srgbClr val="FF6B5B"/>
                          </a:solidFill>
                          <a:latin typeface="Arial"/>
                          <a:ea typeface="Microsoft YaHei"/>
                        </a:rPr>
                        <a:t>upskill 提升技能</a:t>
                      </a:r>
                    </a:p>
                  </a:txBody>
                  <a:tcPr anchor="ctr">
                    <a:solidFill>
                      <a:srgbClr val="FFFFFF"/>
                    </a:solidFill>
                  </a:tcPr>
                </a:tc>
              </a:tr>
            </a:tbl>
          </a:graphicData>
        </a:graphic>
      </p:graphicFrame>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Passive voice: </a:t>
            </a:r>
            <a:r>
              <a:rPr sz="1700" b="0">
                <a:solidFill>
                  <a:srgbClr val="1F2A44"/>
                </a:solidFill>
                <a:latin typeface="Arial"/>
                <a:ea typeface="Microsoft YaHei"/>
              </a:rPr>
              <a:t>be made redundant, be laid off, be let go. Don’t say “The company fired me” if you were made redundant. Fired means dismissed for a reason, so the two are very different.</a:t>
            </a:r>
          </a:p>
        </p:txBody>
      </p:sp>
      <p:sp>
        <p:nvSpPr>
          <p:cNvPr id="11" name="Rounded Rectangle 10"/>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Advice structures: </a:t>
            </a:r>
            <a:r>
              <a:rPr sz="1700" b="0">
                <a:solidFill>
                  <a:srgbClr val="1F2A44"/>
                </a:solidFill>
                <a:latin typeface="Arial"/>
                <a:ea typeface="Microsoft YaHei"/>
              </a:rPr>
              <a:t>I’d suggest + -ing, It might help to + verb, Have you thought about + -ing?, If I were you, I’d…</a:t>
            </a:r>
          </a:p>
        </p:txBody>
      </p:sp>
      <p:sp>
        <p:nvSpPr>
          <p:cNvPr id="14" name="Rounded Rectangle 13"/>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Empathy phrases: </a:t>
            </a:r>
            <a:r>
              <a:rPr sz="1700" b="0">
                <a:solidFill>
                  <a:srgbClr val="1F2A44"/>
                </a:solidFill>
                <a:latin typeface="Arial"/>
                <a:ea typeface="Microsoft YaHei"/>
              </a:rPr>
              <a:t>“That sounds really tough.” / “I can imagine how you feel.” / “It’s completely understandable.”</a:t>
            </a:r>
          </a:p>
        </p:txBody>
      </p:sp>
      <p:sp>
        <p:nvSpPr>
          <p:cNvPr id="17" name="Rounded Rectangle 16"/>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794757"/>
            <a:ext cx="10728655" cy="701039"/>
          </a:xfrm>
          <a:prstGeom prst="rect">
            <a:avLst/>
          </a:prstGeom>
          <a:noFill/>
        </p:spPr>
        <p:txBody>
          <a:bodyPr wrap="square" anchor="ctr">
            <a:spAutoFit/>
          </a:bodyPr>
          <a:lstStyle/>
          <a:p>
            <a:r>
              <a:rPr sz="1700" b="1">
                <a:solidFill>
                  <a:srgbClr val="FFC857"/>
                </a:solidFill>
                <a:latin typeface="Arial"/>
                <a:ea typeface="Microsoft YaHei"/>
              </a:rPr>
              <a:t>Make/let + object + verb without to: </a:t>
            </a:r>
            <a:r>
              <a:rPr sz="1700" b="0">
                <a:solidFill>
                  <a:srgbClr val="1F2A44"/>
                </a:solidFill>
                <a:latin typeface="Arial"/>
                <a:ea typeface="Microsoft YaHei"/>
              </a:rPr>
              <a:t>“It made me rethink my career.” / “My manager let me leave early.”</a:t>
            </a:r>
          </a:p>
        </p:txBody>
      </p:sp>
      <p:sp>
        <p:nvSpPr>
          <p:cNvPr id="20" name="Rounded Rectangle 19"/>
          <p:cNvSpPr/>
          <p:nvPr/>
        </p:nvSpPr>
        <p:spPr>
          <a:xfrm>
            <a:off x="548640" y="458723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58723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587236"/>
            <a:ext cx="10728655" cy="441959"/>
          </a:xfrm>
          <a:prstGeom prst="rect">
            <a:avLst/>
          </a:prstGeom>
          <a:noFill/>
        </p:spPr>
        <p:txBody>
          <a:bodyPr wrap="square" anchor="ctr">
            <a:spAutoFit/>
          </a:bodyPr>
          <a:lstStyle/>
          <a:p>
            <a:r>
              <a:rPr sz="1700" b="0">
                <a:solidFill>
                  <a:srgbClr val="1F2A44"/>
                </a:solidFill>
                <a:latin typeface="Arial"/>
                <a:ea typeface="Microsoft YaHei"/>
              </a:rPr>
              <a:t>Redundant in English means “no longer needed in the job”. It does not mean “unnecessary person”.</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was fired because the company reduced staff.</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was made redundant because the company reduced staff.</a:t>
            </a:r>
          </a:p>
          <a:p>
            <a:pPr algn="l">
              <a:spcAft>
                <a:spcPts val="200"/>
              </a:spcAft>
            </a:pPr>
            <a:r>
              <a:rPr sz="1200" b="0">
                <a:solidFill>
                  <a:srgbClr val="FFFFFF"/>
                </a:solidFill>
                <a:latin typeface="Arial"/>
                <a:ea typeface="Microsoft YaHei"/>
              </a:rPr>
              <a:t>fired = 因过错被解雇;redundant = 岗位被裁</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unemployment.</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unemployed.</a:t>
            </a:r>
          </a:p>
          <a:p>
            <a:pPr algn="l">
              <a:spcAft>
                <a:spcPts val="200"/>
              </a:spcAft>
            </a:pPr>
            <a:r>
              <a:rPr sz="1200" b="0">
                <a:solidFill>
                  <a:srgbClr val="FFFFFF"/>
                </a:solidFill>
                <a:latin typeface="Arial"/>
                <a:ea typeface="Microsoft YaHei"/>
              </a:rPr>
              <a:t>unemployment 是名词,unemployed 是形容词</a:t>
            </a:r>
          </a:p>
        </p:txBody>
      </p:sp>
      <p:sp>
        <p:nvSpPr>
          <p:cNvPr id="13" name="Rounded Rectangle 12"/>
          <p:cNvSpPr/>
          <p:nvPr/>
        </p:nvSpPr>
        <p:spPr>
          <a:xfrm>
            <a:off x="548640" y="310895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suggest you to look for a new job.</a:t>
            </a:r>
          </a:p>
        </p:txBody>
      </p:sp>
      <p:sp>
        <p:nvSpPr>
          <p:cNvPr id="14" name="Rounded Rectangle 13"/>
          <p:cNvSpPr/>
          <p:nvPr/>
        </p:nvSpPr>
        <p:spPr>
          <a:xfrm>
            <a:off x="6187287" y="310895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suggest (that) you look for a new job. / I suggest looking for a new job.</a:t>
            </a:r>
          </a:p>
          <a:p>
            <a:pPr algn="l">
              <a:spcAft>
                <a:spcPts val="200"/>
              </a:spcAft>
            </a:pPr>
            <a:r>
              <a:rPr sz="1200" b="0">
                <a:solidFill>
                  <a:srgbClr val="FFFFFF"/>
                </a:solidFill>
                <a:latin typeface="Arial"/>
                <a:ea typeface="Microsoft YaHei"/>
              </a:rPr>
              <a:t>suggest 不接 you to do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looking for job.</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looking for a job. / I’m job hunting.</a:t>
            </a:r>
          </a:p>
          <a:p>
            <a:pPr algn="l">
              <a:spcAft>
                <a:spcPts val="200"/>
              </a:spcAft>
            </a:pPr>
            <a:r>
              <a:rPr sz="1200" b="0">
                <a:solidFill>
                  <a:srgbClr val="FFFFFF"/>
                </a:solidFill>
                <a:latin typeface="Arial"/>
                <a:ea typeface="Microsoft YaHei"/>
              </a:rPr>
              <a:t>job 可数,要加冠词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been unemployed since three months.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I’ve been unemployed for three months.</a:t>
            </a:r>
          </a:p>
          <a:p>
            <a:pPr algn="l">
              <a:spcAft>
                <a:spcPts val="200"/>
              </a:spcAft>
            </a:pPr>
            <a:r>
              <a:rPr sz="1200" b="0">
                <a:solidFill>
                  <a:srgbClr val="FFFFFF"/>
                </a:solidFill>
                <a:latin typeface="Arial"/>
                <a:ea typeface="Microsoft YaHei"/>
              </a:rPr>
              <a:t>for + 时间段</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much free time now.</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a lot of free time now.</a:t>
            </a:r>
          </a:p>
          <a:p>
            <a:pPr algn="l">
              <a:spcAft>
                <a:spcPts val="200"/>
              </a:spcAft>
            </a:pPr>
            <a:r>
              <a:rPr sz="1200" b="0">
                <a:solidFill>
                  <a:srgbClr val="FFFFFF"/>
                </a:solidFill>
                <a:latin typeface="Arial"/>
                <a:ea typeface="Microsoft YaHei"/>
              </a:rPr>
              <a:t>肯定句中 much 不常用,用 a lot of</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made redundant (passive), suggest + that / -ing, and for + period with the present perfect.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Don’t say “fired” by mistake. In English-speaking countries fired suggests misconduct. If your job was cut, say made redundant (UK) or laid off (US).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Talking openly about it is normal. Posting “I’m open to work” on LinkedIn is common and not seen as shameful.</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Notice and severance are often defined by law or contract in the UK and many European countries. In the US, they vary by employer and state.</a:t>
            </a:r>
          </a:p>
        </p:txBody>
      </p:sp>
      <p:sp>
        <p:nvSpPr>
          <p:cNvPr id="18" name="Rounded Rectangle 17"/>
          <p:cNvSpPr/>
          <p:nvPr/>
        </p:nvSpPr>
        <p:spPr>
          <a:xfrm>
            <a:off x="548640" y="3794757"/>
            <a:ext cx="11094415" cy="960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96012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960120"/>
          </a:xfrm>
          <a:prstGeom prst="rect">
            <a:avLst/>
          </a:prstGeom>
          <a:noFill/>
        </p:spPr>
        <p:txBody>
          <a:bodyPr wrap="square" anchor="ctr">
            <a:spAutoFit/>
          </a:bodyPr>
          <a:lstStyle/>
          <a:p>
            <a:r>
              <a:rPr sz="1700" b="1">
                <a:solidFill>
                  <a:srgbClr val="FFC857"/>
                </a:solidFill>
                <a:latin typeface="Arial"/>
                <a:ea typeface="Microsoft YaHei"/>
              </a:rPr>
              <a:t>Small talk about work: </a:t>
            </a:r>
            <a:r>
              <a:rPr sz="1700" b="0">
                <a:solidFill>
                  <a:srgbClr val="1F2A44"/>
                </a:solidFill>
                <a:latin typeface="Arial"/>
                <a:ea typeface="Microsoft YaHei"/>
              </a:rPr>
              <a:t>“What do you do?” is a common question. If you are between jobs, you can say: “I’m between jobs at the moment. I used to work in logistics, and I’m looking for something in operations.”</a:t>
            </a:r>
          </a:p>
        </p:txBody>
      </p:sp>
      <p:sp>
        <p:nvSpPr>
          <p:cNvPr id="21" name="Rounded Rectangle 20"/>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be made redundant 是岗位被取消,并不是个人有问题;fired 才是因过错被开除,两者含义完全不同。写简历时可说明 “Role made redundant due to restructuring”。</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the difference between made redundant and fired.</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advice using I’d suggest… and It might help to…</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show empathy to someone who is stressed or worried.</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a career gap in a positive way.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04 The Unemployment Club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the passive (made redundant), suggest + that / -ing and for + period.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 · Lesson 05 Back-Up Careers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Back-Up Careers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备选职业</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having a “Plan B”: side skills, a second income, retraining, and how to explain a possible career change.</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849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Do you have a Plan B for your career? What is it?</a:t>
            </a:r>
          </a:p>
        </p:txBody>
      </p:sp>
      <p:sp>
        <p:nvSpPr>
          <p:cNvPr id="12" name="Oval 11"/>
          <p:cNvSpPr/>
          <p:nvPr/>
        </p:nvSpPr>
        <p:spPr>
          <a:xfrm>
            <a:off x="548640" y="225856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2808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2808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Which jobs are safe from change in the next ten years? Which are not?</a:t>
            </a:r>
          </a:p>
        </p:txBody>
      </p:sp>
      <p:sp>
        <p:nvSpPr>
          <p:cNvPr id="15" name="Oval 14"/>
          <p:cNvSpPr/>
          <p:nvPr/>
        </p:nvSpPr>
        <p:spPr>
          <a:xfrm>
            <a:off x="548640" y="309981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01696"/>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01696"/>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Would you ever start again in a completely different field? What would you choose?</a:t>
            </a:r>
          </a:p>
        </p:txBody>
      </p:sp>
      <p:sp>
        <p:nvSpPr>
          <p:cNvPr id="18" name="Oval 17"/>
          <p:cNvSpPr/>
          <p:nvPr/>
        </p:nvSpPr>
        <p:spPr>
          <a:xfrm>
            <a:off x="548640" y="394106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skills do you have that could be useful in another industry?</a:t>
            </a:r>
          </a:p>
        </p:txBody>
      </p:sp>
      <p:sp>
        <p:nvSpPr>
          <p:cNvPr id="21" name="Oval 20"/>
          <p:cNvSpPr/>
          <p:nvPr/>
        </p:nvSpPr>
        <p:spPr>
          <a:xfrm>
            <a:off x="548640" y="461467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58419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58419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At what age is it too late to change careers?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3 题用 would 谈假设。第 4 题可用 “transferable skills” 来回答。too late to + 动词原形 = 太晚而不能…。</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2400" b="1">
                <a:solidFill>
                  <a:srgbClr val="1F2A44"/>
                </a:solidFill>
                <a:latin typeface="Arial"/>
                <a:ea typeface="Microsoft YaHei"/>
              </a:rPr>
              <a:t>Describe a back-up career you could realistically move into, and what you would need to do to get there.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new career</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 it suits you</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skills you already have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you would need to learn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If things changed, I’d consider…   💬 I already have… which would help with…   💬 What I’d need to learn is…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Plan B 在英语里常说 “a fallback” 或 “a back-up plan”。记得用 “would” 保持假设语气,但也可以用 “I’m thinking of + -ing” 表示认真的打算。</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Always Have a Plan B</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Careers used to be a ladder: you started at the bottom, climbed for forty years and retired. Today many people expect to work in several fields. Technology shifts, industries shrink and new ones appear almost overnight. This is why career advisers increasingly talk about having a back-up career. It doesn’t mean you are unhappy with your job. It simply means you are prepared. A sensible first step is to list your transferable skills, such as project management, writing or customer service. Next, test a new direction on a small scale: take a short course, help a friend’s start-up or do a weekend of freelance work. This lets you see whether you actually like the work before you risk your income. Finally, keep your professional network warm. A back-up plan is much easier to start when people already know and trust you.</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career advisers talk about back-up careers?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Technology and industries change quickly, so people may need to work in several fields.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the first step the writer suggests?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List your transferable skills.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should you test a new direction on a small scale?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To see if you actually like the work before risking your income.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Planning another path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规划备选路径</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back-up plan / fallback</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备选方案</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smart to have a fallback in case the market changes.”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career change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转行</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made a career change from law to teaching.”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retrain</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重新培训,转行学习</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retrained as a nurse at the age of 35.”</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side income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副业收入</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little side income gives me peace of mind.”</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qualification</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资格,资历</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need a recognised qualification to work as an accountant.”</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job security</a:t>
            </a:r>
          </a:p>
          <a:p>
            <a:pPr algn="l">
              <a:lnSpc>
                <a:spcPct val="115000"/>
              </a:lnSpc>
              <a:spcAft>
                <a:spcPts val="800"/>
              </a:spcAft>
            </a:pPr>
            <a:r>
              <a:rPr sz="1300" b="0">
                <a:solidFill>
                  <a:srgbClr val="5F677A"/>
                </a:solidFill>
                <a:latin typeface="Arial"/>
                <a:ea typeface="Microsoft YaHei"/>
              </a:rPr>
              <a:t>noun (uncountable)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工作稳定性</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“Many people value job security more than a high salary.”</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Switching direction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转换方向</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diversify</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使多样化</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trying to diversify my income by freelancing at weekends.”</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put all your eggs in one basket</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把鸡蛋放在一个篮子里</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risky to put all your eggs in one basket.”</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switch careers / pivot into</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转行,转向</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pivoted into product management after five years in sales.”</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Chunk 2: Switching direction ★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转换方向</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test the waters</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试水</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testing the waters with a small consulting project.”</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a leap (of faith)</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冒险一跃</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“After years of planning, he finally took the leap and opened a café.”</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future-proof</a:t>
            </a:r>
          </a:p>
          <a:p>
            <a:pPr algn="l">
              <a:lnSpc>
                <a:spcPct val="115000"/>
              </a:lnSpc>
              <a:spcAft>
                <a:spcPts val="800"/>
              </a:spcAft>
            </a:pPr>
            <a:r>
              <a:rPr sz="1300" b="0">
                <a:solidFill>
                  <a:srgbClr val="5F677A"/>
                </a:solidFill>
                <a:latin typeface="Arial"/>
                <a:ea typeface="Microsoft YaHei"/>
              </a:rPr>
              <a:t>verb / adjective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使经得起未来变化</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“Learning data skills helps to future-proof your career.”</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备选方案</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back-up plan / fallback</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使经得起未来变化</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future-proof</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冒险一跃</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a leap (of faith)</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转行</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career change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副业收入</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side income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使多样化</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diversify</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重新培训,转行学习</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retrain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转行,转向</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switch careers / pivot into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fallback</a:t>
            </a:r>
          </a:p>
        </p:txBody>
      </p:sp>
      <p:sp>
        <p:nvSpPr>
          <p:cNvPr id="10" name="Rounded Rectangle 9"/>
          <p:cNvSpPr/>
          <p:nvPr/>
        </p:nvSpPr>
        <p:spPr>
          <a:xfrm>
            <a:off x="3346704"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retrained</a:t>
            </a:r>
          </a:p>
        </p:txBody>
      </p:sp>
      <p:sp>
        <p:nvSpPr>
          <p:cNvPr id="11" name="Rounded Rectangle 10"/>
          <p:cNvSpPr/>
          <p:nvPr/>
        </p:nvSpPr>
        <p:spPr>
          <a:xfrm>
            <a:off x="4791456"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side income</a:t>
            </a:r>
          </a:p>
        </p:txBody>
      </p:sp>
      <p:sp>
        <p:nvSpPr>
          <p:cNvPr id="12" name="Rounded Rectangle 11"/>
          <p:cNvSpPr/>
          <p:nvPr/>
        </p:nvSpPr>
        <p:spPr>
          <a:xfrm>
            <a:off x="6455663"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diversify</a:t>
            </a:r>
          </a:p>
        </p:txBody>
      </p:sp>
      <p:sp>
        <p:nvSpPr>
          <p:cNvPr id="13" name="Rounded Rectangle 12"/>
          <p:cNvSpPr/>
          <p:nvPr/>
        </p:nvSpPr>
        <p:spPr>
          <a:xfrm>
            <a:off x="7900415" y="987552"/>
            <a:ext cx="2011679"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test the waters</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1.  It’s wise to have a _______ in case the market changes.</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fallback</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2.  He _______ as a nurse at the age of 35.</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retrained</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3.  A small _______ gives me peace of mind.</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side income</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4.  I’m trying to _______ my skills so I’m less dependent on one employer.</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diversify</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5.  Before I quit, I’d like to _______ with a small project.</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test the waters</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6.  Learning data skills can help to _______ your career.</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future-proof</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拼写与词形): retrain (no hyphen), qualification (not “qualfication”), diversify (not “diversity” which is a noun). Job security is uncountable: “a lot of job security”, not “job securities”.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Talking to a mentor about a possible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向导师请教转行</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work in sales but you are thinking about moving into data analysis. You meet an experienced mentor, Julia, for advice.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Ming Zhao, sales executive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Julia Park, mentor and data team lead</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to a mentor about a possible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Ming</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making time, Julia. I’ve been thinking about moving into data analysis, but I’m not sure whether it’s realistic.</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Julia</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can be. What makes you interested?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already work with sales numbers every day, and I enjoy finding patterns. I’d like to do that full time.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good start. You already have transferable skills: you understand customers, and you’re comfortable with numbers.</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to a mentor about a possible change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think I need to retrain, or can I learn on the job?</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1069847"/>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Probably a bit of both. I’d suggest an online course in SQL and a visualisation tool, and then testing the waters with a small project at work.</a:t>
            </a:r>
          </a:p>
        </p:txBody>
      </p:sp>
      <p:sp>
        <p:nvSpPr>
          <p:cNvPr id="14" name="Rounded Rectangle 13"/>
          <p:cNvSpPr/>
          <p:nvPr/>
        </p:nvSpPr>
        <p:spPr>
          <a:xfrm>
            <a:off x="548640" y="3069335"/>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7"/>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5"/>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manageable. I don’t want to put all my eggs in one basket and quit my job too early.</a:t>
            </a:r>
          </a:p>
        </p:txBody>
      </p:sp>
      <p:sp>
        <p:nvSpPr>
          <p:cNvPr id="17" name="Rounded Rectangle 16"/>
          <p:cNvSpPr/>
          <p:nvPr/>
        </p:nvSpPr>
        <p:spPr>
          <a:xfrm>
            <a:off x="10911535" y="3941063"/>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3"/>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Keep your sales job for now. Treat the new skills as a fallback and build them in the evenings.</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to a mentor about a possible change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Would you be willing to look at a project I do and give me feedback?</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Happy to. Send it over when you’re ready, and we can talk about the next step.</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That’s really generous.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at all. Everyone needs a push sometimes.</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Talking to a mentor about a possible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ask a mentor about a back-up career.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Your current job and the new field: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Mentor in the new field. Encouraging but realistic.</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transferable skills · retrain · test the waters · fallback · put all your eggs in one basket · side income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your current skills and agree two concrete first steps.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The mentor warns you: “The field is competitive and the first year is hard.” Show that you’ve thought about the risks: “I’m aware of that, which is why I plan to…”.</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Pitch your plan in 30 seconds, as if to a family member who is worried.</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Change roles: you are the mentor. Give advice to someone who wants to leave a stable job for a start-up.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975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9296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wise to plan for a second career while you are still happy in the first?</a:t>
            </a:r>
          </a:p>
          <a:p>
            <a:pPr algn="l">
              <a:lnSpc>
                <a:spcPct val="115000"/>
              </a:lnSpc>
              <a:spcAft>
                <a:spcPts val="800"/>
              </a:spcAft>
            </a:pPr>
            <a:r>
              <a:rPr sz="1400" b="0">
                <a:solidFill>
                  <a:srgbClr val="5F677A"/>
                </a:solidFill>
                <a:latin typeface="Arial"/>
                <a:ea typeface="Microsoft YaHei"/>
              </a:rPr>
              <a:t>💬 “I think it’s sensible because…” / “It could distract you from…”</a:t>
            </a:r>
          </a:p>
        </p:txBody>
      </p:sp>
      <p:sp>
        <p:nvSpPr>
          <p:cNvPr id="12" name="Oval 11"/>
          <p:cNvSpPr/>
          <p:nvPr/>
        </p:nvSpPr>
        <p:spPr>
          <a:xfrm>
            <a:off x="548640" y="262128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755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12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skills do you think will stay valuable for the next 10 years?</a:t>
            </a:r>
          </a:p>
          <a:p>
            <a:pPr algn="l">
              <a:lnSpc>
                <a:spcPct val="115000"/>
              </a:lnSpc>
              <a:spcAft>
                <a:spcPts val="800"/>
              </a:spcAft>
            </a:pPr>
            <a:r>
              <a:rPr sz="1400" b="0">
                <a:solidFill>
                  <a:srgbClr val="5F677A"/>
                </a:solidFill>
                <a:latin typeface="Arial"/>
                <a:ea typeface="Microsoft YaHei"/>
              </a:rPr>
              <a:t>💬 “Skills such as… will remain valuable because…”</a:t>
            </a:r>
          </a:p>
        </p:txBody>
      </p:sp>
      <p:sp>
        <p:nvSpPr>
          <p:cNvPr id="15" name="Oval 14"/>
          <p:cNvSpPr/>
          <p:nvPr/>
        </p:nvSpPr>
        <p:spPr>
          <a:xfrm>
            <a:off x="548640" y="339852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528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985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much risk would you take for a career you love?</a:t>
            </a:r>
          </a:p>
          <a:p>
            <a:pPr algn="l">
              <a:lnSpc>
                <a:spcPct val="115000"/>
              </a:lnSpc>
              <a:spcAft>
                <a:spcPts val="800"/>
              </a:spcAft>
            </a:pPr>
            <a:r>
              <a:rPr sz="1400" b="0">
                <a:solidFill>
                  <a:srgbClr val="5F677A"/>
                </a:solidFill>
                <a:latin typeface="Arial"/>
                <a:ea typeface="Microsoft YaHei"/>
              </a:rPr>
              <a:t>💬 “I’d be willing to… as long as…” / “I wouldn’t risk… unless…”</a:t>
            </a:r>
          </a:p>
        </p:txBody>
      </p:sp>
      <p:sp>
        <p:nvSpPr>
          <p:cNvPr id="18" name="Oval 17"/>
          <p:cNvSpPr/>
          <p:nvPr/>
        </p:nvSpPr>
        <p:spPr>
          <a:xfrm>
            <a:off x="548640" y="417576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1300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1757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pay for retraining: the employee, the employer or the state?</a:t>
            </a:r>
          </a:p>
          <a:p>
            <a:pPr algn="l">
              <a:lnSpc>
                <a:spcPct val="115000"/>
              </a:lnSpc>
              <a:spcAft>
                <a:spcPts val="800"/>
              </a:spcAft>
            </a:pPr>
            <a:r>
              <a:rPr sz="1400" b="0">
                <a:solidFill>
                  <a:srgbClr val="5F677A"/>
                </a:solidFill>
                <a:latin typeface="Arial"/>
                <a:ea typeface="Microsoft YaHei"/>
              </a:rPr>
              <a:t>💬 “In my view, it should be shared because…” / “Employers benefit, so…”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In my view, the cost should be shared. Employers benefit when staff learn new skills, so they should pay at least part of the fee or give paid study time. Individuals should also contribute, because the qualification belongs to them and goes with them when they change jobs. I also think governments could help with tax relief or grants, especially for workers in industries that are shrinking.</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In my view = 我认为。tax relief 税收减免。grant = 补助金。shared by 多方分担:be shared between… 也很常用。</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I’m thinking about changing jobs.</a:t>
                      </a:r>
                    </a:p>
                  </a:txBody>
                  <a:tcPr anchor="ctr">
                    <a:solidFill>
                      <a:srgbClr val="FFFFFF"/>
                    </a:solidFill>
                  </a:tcPr>
                </a:tc>
                <a:tc>
                  <a:txBody>
                    <a:bodyPr wrap="square"/>
                    <a:lstStyle/>
                    <a:p>
                      <a:r>
                        <a:rPr sz="1600" b="0">
                          <a:solidFill>
                            <a:srgbClr val="1F2A44"/>
                          </a:solidFill>
                          <a:latin typeface="Arial"/>
                          <a:ea typeface="Microsoft YaHei"/>
                        </a:rPr>
                        <a:t>I’m considering a move into data analysis.</a:t>
                      </a:r>
                    </a:p>
                  </a:txBody>
                  <a:tcPr anchor="ctr">
                    <a:solidFill>
                      <a:srgbClr val="FFFFFF"/>
                    </a:solidFill>
                  </a:tcPr>
                </a:tc>
                <a:tc>
                  <a:txBody>
                    <a:bodyPr wrap="square"/>
                    <a:lstStyle/>
                    <a:p>
                      <a:r>
                        <a:rPr sz="1600" b="0">
                          <a:solidFill>
                            <a:srgbClr val="1F2A44"/>
                          </a:solidFill>
                          <a:latin typeface="Arial"/>
                          <a:ea typeface="Microsoft YaHei"/>
                        </a:rPr>
                        <a:t>consider + -ing / noun</a:t>
                      </a:r>
                    </a:p>
                  </a:txBody>
                  <a:tcPr anchor="ctr">
                    <a:solidFill>
                      <a:srgbClr val="FFFFFF"/>
                    </a:solidFill>
                  </a:tcPr>
                </a:tc>
              </a:tr>
              <a:tr h="652272">
                <a:tc>
                  <a:txBody>
                    <a:bodyPr wrap="square"/>
                    <a:lstStyle/>
                    <a:p>
                      <a:r>
                        <a:rPr sz="1600" b="1">
                          <a:solidFill>
                            <a:srgbClr val="1F2A44"/>
                          </a:solidFill>
                          <a:latin typeface="Arial"/>
                          <a:ea typeface="Microsoft YaHei"/>
                        </a:rPr>
                        <a:t>I want to try a new job first.</a:t>
                      </a:r>
                    </a:p>
                  </a:txBody>
                  <a:tcPr anchor="ctr">
                    <a:solidFill>
                      <a:srgbClr val="FFEFD9"/>
                    </a:solidFill>
                  </a:tcPr>
                </a:tc>
                <a:tc>
                  <a:txBody>
                    <a:bodyPr wrap="square"/>
                    <a:lstStyle/>
                    <a:p>
                      <a:r>
                        <a:rPr sz="1600" b="0">
                          <a:solidFill>
                            <a:srgbClr val="1F2A44"/>
                          </a:solidFill>
                          <a:latin typeface="Arial"/>
                          <a:ea typeface="Microsoft YaHei"/>
                        </a:rPr>
                        <a:t>I’d like to test the waters before committing.</a:t>
                      </a:r>
                    </a:p>
                  </a:txBody>
                  <a:tcPr anchor="ctr">
                    <a:solidFill>
                      <a:srgbClr val="FFEFD9"/>
                    </a:solidFill>
                  </a:tcPr>
                </a:tc>
                <a:tc>
                  <a:txBody>
                    <a:bodyPr wrap="square"/>
                    <a:lstStyle/>
                    <a:p>
                      <a:r>
                        <a:rPr sz="1600" b="0">
                          <a:solidFill>
                            <a:srgbClr val="FF6B5B"/>
                          </a:solidFill>
                          <a:latin typeface="Arial"/>
                          <a:ea typeface="Microsoft YaHei"/>
                        </a:rPr>
                        <a:t>稳妥试水</a:t>
                      </a:r>
                    </a:p>
                  </a:txBody>
                  <a:tcPr anchor="ctr">
                    <a:solidFill>
                      <a:srgbClr val="FFEFD9"/>
                    </a:solidFill>
                  </a:tcPr>
                </a:tc>
              </a:tr>
              <a:tr h="652272">
                <a:tc>
                  <a:txBody>
                    <a:bodyPr wrap="square"/>
                    <a:lstStyle/>
                    <a:p>
                      <a:r>
                        <a:rPr sz="1600" b="1">
                          <a:solidFill>
                            <a:srgbClr val="1F2A44"/>
                          </a:solidFill>
                          <a:latin typeface="Arial"/>
                          <a:ea typeface="Microsoft YaHei"/>
                        </a:rPr>
                        <a:t>I have many different skills.</a:t>
                      </a:r>
                    </a:p>
                  </a:txBody>
                  <a:tcPr anchor="ctr">
                    <a:solidFill>
                      <a:srgbClr val="FFFFFF"/>
                    </a:solidFill>
                  </a:tcPr>
                </a:tc>
                <a:tc>
                  <a:txBody>
                    <a:bodyPr wrap="square"/>
                    <a:lstStyle/>
                    <a:p>
                      <a:r>
                        <a:rPr sz="1600" b="0">
                          <a:solidFill>
                            <a:srgbClr val="1F2A44"/>
                          </a:solidFill>
                          <a:latin typeface="Arial"/>
                          <a:ea typeface="Microsoft YaHei"/>
                        </a:rPr>
                        <a:t>I have a broad set of transferable skills.</a:t>
                      </a:r>
                    </a:p>
                  </a:txBody>
                  <a:tcPr anchor="ctr">
                    <a:solidFill>
                      <a:srgbClr val="FFFFFF"/>
                    </a:solidFill>
                  </a:tcPr>
                </a:tc>
                <a:tc>
                  <a:txBody>
                    <a:bodyPr wrap="square"/>
                    <a:lstStyle/>
                    <a:p>
                      <a:r>
                        <a:rPr sz="1600" b="0">
                          <a:solidFill>
                            <a:srgbClr val="FF6B5B"/>
                          </a:solidFill>
                          <a:latin typeface="Arial"/>
                          <a:ea typeface="Microsoft YaHei"/>
                        </a:rPr>
                        <a:t>更专业的描述</a:t>
                      </a:r>
                    </a:p>
                  </a:txBody>
                  <a:tcPr anchor="ctr">
                    <a:solidFill>
                      <a:srgbClr val="FFFFFF"/>
                    </a:solidFill>
                  </a:tcPr>
                </a:tc>
              </a:tr>
              <a:tr h="652272">
                <a:tc>
                  <a:txBody>
                    <a:bodyPr wrap="square"/>
                    <a:lstStyle/>
                    <a:p>
                      <a:r>
                        <a:rPr sz="1600" b="1">
                          <a:solidFill>
                            <a:srgbClr val="1F2A44"/>
                          </a:solidFill>
                          <a:latin typeface="Arial"/>
                          <a:ea typeface="Microsoft YaHei"/>
                        </a:rPr>
                        <a:t>I don’t want to risk everything.</a:t>
                      </a:r>
                    </a:p>
                  </a:txBody>
                  <a:tcPr anchor="ctr">
                    <a:solidFill>
                      <a:srgbClr val="FFEFD9"/>
                    </a:solidFill>
                  </a:tcPr>
                </a:tc>
                <a:tc>
                  <a:txBody>
                    <a:bodyPr wrap="square"/>
                    <a:lstStyle/>
                    <a:p>
                      <a:r>
                        <a:rPr sz="1600" b="0">
                          <a:solidFill>
                            <a:srgbClr val="1F2A44"/>
                          </a:solidFill>
                          <a:latin typeface="Arial"/>
                          <a:ea typeface="Microsoft YaHei"/>
                        </a:rPr>
                        <a:t>I don’t want to put all my eggs in one basket.</a:t>
                      </a:r>
                    </a:p>
                  </a:txBody>
                  <a:tcPr anchor="ctr">
                    <a:solidFill>
                      <a:srgbClr val="FFEFD9"/>
                    </a:solidFill>
                  </a:tcPr>
                </a:tc>
                <a:tc>
                  <a:txBody>
                    <a:bodyPr wrap="square"/>
                    <a:lstStyle/>
                    <a:p>
                      <a:r>
                        <a:rPr sz="1600" b="0">
                          <a:solidFill>
                            <a:srgbClr val="FF6B5B"/>
                          </a:solidFill>
                          <a:latin typeface="Arial"/>
                          <a:ea typeface="Microsoft YaHei"/>
                        </a:rPr>
                        <a:t>习语</a:t>
                      </a:r>
                    </a:p>
                  </a:txBody>
                  <a:tcPr anchor="ctr">
                    <a:solidFill>
                      <a:srgbClr val="FFEFD9"/>
                    </a:solidFill>
                  </a:tcPr>
                </a:tc>
              </a:tr>
              <a:tr h="652272">
                <a:tc>
                  <a:txBody>
                    <a:bodyPr wrap="square"/>
                    <a:lstStyle/>
                    <a:p>
                      <a:r>
                        <a:rPr sz="1600" b="1">
                          <a:solidFill>
                            <a:srgbClr val="1F2A44"/>
                          </a:solidFill>
                          <a:latin typeface="Arial"/>
                          <a:ea typeface="Microsoft YaHei"/>
                        </a:rPr>
                        <a:t>I need more qualifications.</a:t>
                      </a:r>
                    </a:p>
                  </a:txBody>
                  <a:tcPr anchor="ctr">
                    <a:solidFill>
                      <a:srgbClr val="FFFFFF"/>
                    </a:solidFill>
                  </a:tcPr>
                </a:tc>
                <a:tc>
                  <a:txBody>
                    <a:bodyPr wrap="square"/>
                    <a:lstStyle/>
                    <a:p>
                      <a:r>
                        <a:rPr sz="1600" b="0">
                          <a:solidFill>
                            <a:srgbClr val="1F2A44"/>
                          </a:solidFill>
                          <a:latin typeface="Arial"/>
                          <a:ea typeface="Microsoft YaHei"/>
                        </a:rPr>
                        <a:t>I’d need to retrain or get a recognised qualification.</a:t>
                      </a:r>
                    </a:p>
                  </a:txBody>
                  <a:tcPr anchor="ctr">
                    <a:solidFill>
                      <a:srgbClr val="FFFFFF"/>
                    </a:solidFill>
                  </a:tcPr>
                </a:tc>
                <a:tc>
                  <a:txBody>
                    <a:bodyPr wrap="square"/>
                    <a:lstStyle/>
                    <a:p>
                      <a:r>
                        <a:rPr sz="1600" b="0">
                          <a:solidFill>
                            <a:srgbClr val="FF6B5B"/>
                          </a:solidFill>
                          <a:latin typeface="Arial"/>
                          <a:ea typeface="Microsoft YaHei"/>
                        </a:rPr>
                        <a:t>说明路径</a:t>
                      </a:r>
                    </a:p>
                  </a:txBody>
                  <a:tcPr anchor="ctr">
                    <a:solidFill>
                      <a:srgbClr val="FFFFFF"/>
                    </a:solidFill>
                  </a:tcPr>
                </a:tc>
              </a:tr>
            </a:tbl>
          </a:graphicData>
        </a:graphic>
      </p:graphicFrame>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Real vs unreal conditions: </a:t>
            </a:r>
            <a:r>
              <a:rPr sz="1700" b="0">
                <a:solidFill>
                  <a:srgbClr val="1F2A44"/>
                </a:solidFill>
                <a:latin typeface="Arial"/>
                <a:ea typeface="Microsoft YaHei"/>
              </a:rPr>
              <a:t>“If I move into data, I’ll need a course” (real plan) vs “If I moved into data, I’d need a course” (imagined). Both are correct; choose by how real the plan is.</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Gerund after consider, avoid, enjoy, suggest: </a:t>
            </a:r>
            <a:r>
              <a:rPr sz="1700" b="0">
                <a:solidFill>
                  <a:srgbClr val="1F2A44"/>
                </a:solidFill>
                <a:latin typeface="Arial"/>
                <a:ea typeface="Microsoft YaHei"/>
              </a:rPr>
              <a:t>“I’m considering retraining.”</a:t>
            </a:r>
          </a:p>
        </p:txBody>
      </p:sp>
      <p:sp>
        <p:nvSpPr>
          <p:cNvPr id="14" name="Rounded Rectangle 13"/>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Collocations: </a:t>
            </a:r>
            <a:r>
              <a:rPr sz="1700" b="0">
                <a:solidFill>
                  <a:srgbClr val="1F2A44"/>
                </a:solidFill>
                <a:latin typeface="Arial"/>
                <a:ea typeface="Microsoft YaHei"/>
              </a:rPr>
              <a:t>make a career change · pursue a career in · switch careers · start from scratch · climb the career ladder.</a:t>
            </a:r>
          </a:p>
        </p:txBody>
      </p:sp>
      <p:sp>
        <p:nvSpPr>
          <p:cNvPr id="17" name="Rounded Rectangle 16"/>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535677"/>
            <a:ext cx="10728655" cy="701039"/>
          </a:xfrm>
          <a:prstGeom prst="rect">
            <a:avLst/>
          </a:prstGeom>
          <a:noFill/>
        </p:spPr>
        <p:txBody>
          <a:bodyPr wrap="square" anchor="ctr">
            <a:spAutoFit/>
          </a:bodyPr>
          <a:lstStyle/>
          <a:p>
            <a:r>
              <a:rPr sz="1700" b="1">
                <a:solidFill>
                  <a:srgbClr val="FFC857"/>
                </a:solidFill>
                <a:latin typeface="Arial"/>
                <a:ea typeface="Microsoft YaHei"/>
              </a:rPr>
              <a:t>Contrast linkers: </a:t>
            </a:r>
            <a:r>
              <a:rPr sz="1700" b="0">
                <a:solidFill>
                  <a:srgbClr val="1F2A44"/>
                </a:solidFill>
                <a:latin typeface="Arial"/>
                <a:ea typeface="Microsoft YaHei"/>
              </a:rPr>
              <a:t>however, on the other hand, whereas, although. Example: “I enjoy sales, whereas my colleague prefers analysis.”</a:t>
            </a:r>
          </a:p>
        </p:txBody>
      </p:sp>
      <p:sp>
        <p:nvSpPr>
          <p:cNvPr id="20" name="Rounded Rectangle 19"/>
          <p:cNvSpPr/>
          <p:nvPr/>
        </p:nvSpPr>
        <p:spPr>
          <a:xfrm>
            <a:off x="548640" y="432815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32815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328156"/>
            <a:ext cx="10728655" cy="701039"/>
          </a:xfrm>
          <a:prstGeom prst="rect">
            <a:avLst/>
          </a:prstGeom>
          <a:noFill/>
        </p:spPr>
        <p:txBody>
          <a:bodyPr wrap="square" anchor="ctr">
            <a:spAutoFit/>
          </a:bodyPr>
          <a:lstStyle/>
          <a:p>
            <a:r>
              <a:rPr sz="1700" b="0">
                <a:solidFill>
                  <a:srgbClr val="1F2A44"/>
                </a:solidFill>
                <a:latin typeface="Arial"/>
                <a:ea typeface="Microsoft YaHei"/>
              </a:rPr>
              <a:t>Career is countable (a career), but work is uncountable. Say “a career in finance”, not “a work in finance”.</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change my work.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change my job / career.</a:t>
            </a:r>
          </a:p>
          <a:p>
            <a:pPr algn="l">
              <a:spcAft>
                <a:spcPts val="200"/>
              </a:spcAft>
            </a:pPr>
            <a:r>
              <a:rPr sz="1200" b="0">
                <a:solidFill>
                  <a:srgbClr val="FFFFFF"/>
                </a:solidFill>
                <a:latin typeface="Arial"/>
                <a:ea typeface="Microsoft YaHei"/>
              </a:rPr>
              <a:t>work 不可数,表示“工作”概念;具体职位用 job</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thinking to change career.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thinking of changing career.</a:t>
            </a:r>
          </a:p>
          <a:p>
            <a:pPr algn="l">
              <a:spcAft>
                <a:spcPts val="200"/>
              </a:spcAft>
            </a:pPr>
            <a:r>
              <a:rPr sz="1200" b="0">
                <a:solidFill>
                  <a:srgbClr val="FFFFFF"/>
                </a:solidFill>
                <a:latin typeface="Arial"/>
                <a:ea typeface="Microsoft YaHei"/>
              </a:rPr>
              <a:t>think of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many experiences in sales.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a lot of experience in sales.</a:t>
            </a:r>
          </a:p>
          <a:p>
            <a:pPr algn="l">
              <a:spcAft>
                <a:spcPts val="200"/>
              </a:spcAft>
            </a:pPr>
            <a:r>
              <a:rPr sz="1200" b="0">
                <a:solidFill>
                  <a:srgbClr val="FFFFFF"/>
                </a:solidFill>
                <a:latin typeface="Arial"/>
                <a:ea typeface="Microsoft YaHei"/>
              </a:rPr>
              <a:t>experience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changed to be a teacher.</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retrained as a teacher. / He became a teacher.</a:t>
            </a:r>
          </a:p>
          <a:p>
            <a:pPr algn="l">
              <a:spcAft>
                <a:spcPts val="200"/>
              </a:spcAft>
            </a:pPr>
            <a:r>
              <a:rPr sz="1200" b="0">
                <a:solidFill>
                  <a:srgbClr val="FFFFFF"/>
                </a:solidFill>
                <a:latin typeface="Arial"/>
                <a:ea typeface="Microsoft YaHei"/>
              </a:rPr>
              <a:t>用 retrain as / become</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plan to learn how to use data analysis tool.</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plan to learn how to use data analysis tools.</a:t>
            </a:r>
          </a:p>
          <a:p>
            <a:pPr algn="l">
              <a:spcAft>
                <a:spcPts val="200"/>
              </a:spcAft>
            </a:pPr>
            <a:r>
              <a:rPr sz="1200" b="0">
                <a:solidFill>
                  <a:srgbClr val="FFFFFF"/>
                </a:solidFill>
                <a:latin typeface="Arial"/>
                <a:ea typeface="Microsoft YaHei"/>
              </a:rPr>
              <a:t>tool 是可数名词</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afraid of losing the security of job.</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afraid of losing job security.</a:t>
            </a:r>
          </a:p>
          <a:p>
            <a:pPr algn="l">
              <a:spcAft>
                <a:spcPts val="200"/>
              </a:spcAft>
            </a:pPr>
            <a:r>
              <a:rPr sz="1200" b="0">
                <a:solidFill>
                  <a:srgbClr val="FFFFFF"/>
                </a:solidFill>
                <a:latin typeface="Arial"/>
                <a:ea typeface="Microsoft YaHei"/>
              </a:rPr>
              <a:t>job security 固定搭配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think of + -ing, uncountable experience / work, and countable nouns such as tool / skill.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Career change is common. In the UK and US, people expect to change careers several times. A change of direction is seen as courage, not as instability, if you can explain it clearly.</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Side projects count. Employers often like to see side projects, courses and volunteering as evidence of motivation.</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Portfolio careers: </a:t>
            </a:r>
            <a:r>
              <a:rPr sz="1700" b="0">
                <a:solidFill>
                  <a:srgbClr val="1F2A44"/>
                </a:solidFill>
                <a:latin typeface="Arial"/>
                <a:ea typeface="Microsoft YaHei"/>
              </a:rPr>
              <a:t>Some people combine several part-time jobs or freelance roles. This is called a portfolio career and is quite normal in creative and consulting fields.</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1">
                <a:solidFill>
                  <a:srgbClr val="FFC857"/>
                </a:solidFill>
                <a:latin typeface="Arial"/>
                <a:ea typeface="Microsoft YaHei"/>
              </a:rPr>
              <a:t>Discretion at work: </a:t>
            </a:r>
            <a:r>
              <a:rPr sz="1700" b="0">
                <a:solidFill>
                  <a:srgbClr val="1F2A44"/>
                </a:solidFill>
                <a:latin typeface="Arial"/>
                <a:ea typeface="Microsoft YaHei"/>
              </a:rPr>
              <a:t>Do not tell colleagues about job plans until you are sure. Use “exploring options” in conversation with outsiders.</a:t>
            </a:r>
          </a:p>
        </p:txBody>
      </p:sp>
      <p:sp>
        <p:nvSpPr>
          <p:cNvPr id="21" name="Rounded Rectangle 20"/>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英语国家的职场人士通常认为转行是勇气和成长的表现,但需要能清楚解释“为什么转”和“哪些技能可以迁移”。副业(side project)也算有效的经历证明。</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realistic back-up career and the steps to reach it.</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name three of my transferable skills in English.</a:t>
            </a:r>
          </a:p>
        </p:txBody>
      </p:sp>
      <p:sp>
        <p:nvSpPr>
          <p:cNvPr id="16" name="TextBox 15"/>
          <p:cNvSpPr txBox="1"/>
          <p:nvPr/>
        </p:nvSpPr>
        <p:spPr>
          <a:xfrm>
            <a:off x="9539935" y="24109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real and imagined conditionals to talk about career plans.</a:t>
            </a:r>
          </a:p>
        </p:txBody>
      </p:sp>
      <p:sp>
        <p:nvSpPr>
          <p:cNvPr id="20" name="TextBox 19"/>
          <p:cNvSpPr txBox="1"/>
          <p:nvPr/>
        </p:nvSpPr>
        <p:spPr>
          <a:xfrm>
            <a:off x="9539935" y="30083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idioms from the ★ list naturally.</a:t>
            </a:r>
          </a:p>
        </p:txBody>
      </p:sp>
      <p:sp>
        <p:nvSpPr>
          <p:cNvPr id="24" name="TextBox 23"/>
          <p:cNvSpPr txBox="1"/>
          <p:nvPr/>
        </p:nvSpPr>
        <p:spPr>
          <a:xfrm>
            <a:off x="9539935" y="39105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05 Back-Up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think of + -ing, uncountable experience / work and plural countable nouns.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 · Lesson 06 Moving On</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120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Moving On</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开启新职业生活</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leaving one job and starting another: saying goodbye, the first weeks in a new role, and making a good start.</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When did you last start a new job or a new project? How did you feel on the first day?</a:t>
            </a:r>
          </a:p>
        </p:txBody>
      </p:sp>
      <p:sp>
        <p:nvSpPr>
          <p:cNvPr id="12" name="Oval 11"/>
          <p:cNvSpPr/>
          <p:nvPr/>
        </p:nvSpPr>
        <p:spPr>
          <a:xfrm>
            <a:off x="548640" y="25938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think is the hardest part of joining a new team?</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usually say goodbye to colleagues when you leave a job?</a:t>
            </a:r>
          </a:p>
        </p:txBody>
      </p:sp>
      <p:sp>
        <p:nvSpPr>
          <p:cNvPr id="18" name="Oval 17"/>
          <p:cNvSpPr/>
          <p:nvPr/>
        </p:nvSpPr>
        <p:spPr>
          <a:xfrm>
            <a:off x="548640" y="394106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would you do in your first week to make a good impression?</a:t>
            </a:r>
          </a:p>
        </p:txBody>
      </p:sp>
      <p:sp>
        <p:nvSpPr>
          <p:cNvPr id="21" name="Oval 20"/>
          <p:cNvSpPr/>
          <p:nvPr/>
        </p:nvSpPr>
        <p:spPr>
          <a:xfrm>
            <a:off x="548640" y="478231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584192"/>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584192"/>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Is it better to stay with one employer for a long time or to move often? Why?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题讲过去的感受,用 felt / was。第 4 题用 “I would…” 回答。make a good impression = 给人留下好印象。</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your plan for the first 30 days in a new job.</a:t>
            </a:r>
          </a:p>
        </p:txBody>
      </p:sp>
      <p:sp>
        <p:nvSpPr>
          <p:cNvPr id="10" name="Rounded Rectangle 9"/>
          <p:cNvSpPr/>
          <p:nvPr/>
        </p:nvSpPr>
        <p:spPr>
          <a:xfrm>
            <a:off x="548640" y="3017520"/>
            <a:ext cx="326136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week 1: listen and learn</a:t>
            </a:r>
          </a:p>
        </p:txBody>
      </p:sp>
      <p:sp>
        <p:nvSpPr>
          <p:cNvPr id="11" name="Rounded Rectangle 10"/>
          <p:cNvSpPr/>
          <p:nvPr/>
        </p:nvSpPr>
        <p:spPr>
          <a:xfrm>
            <a:off x="3947160" y="3017520"/>
            <a:ext cx="326136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week 2: build relationships</a:t>
            </a:r>
          </a:p>
        </p:txBody>
      </p:sp>
      <p:sp>
        <p:nvSpPr>
          <p:cNvPr id="12" name="Rounded Rectangle 11"/>
          <p:cNvSpPr/>
          <p:nvPr/>
        </p:nvSpPr>
        <p:spPr>
          <a:xfrm>
            <a:off x="7345680" y="3017520"/>
            <a:ext cx="326136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weeks 3–4: first small win</a:t>
            </a:r>
          </a:p>
        </p:txBody>
      </p:sp>
      <p:sp>
        <p:nvSpPr>
          <p:cNvPr id="13" name="TextBox 12"/>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4" name="TextBox 13"/>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In my first week, I’d focus on…   💬 I’d try to… rather than…   💬 By the end of the month, I hope to have…</a:t>
            </a:r>
          </a:p>
        </p:txBody>
      </p:sp>
      <p:sp>
        <p:nvSpPr>
          <p:cNvPr id="15" name="Rounded Rectangle 14"/>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“By the end of the month, I hope to have + 过去分词” 用现在完成时表示到某时已完成。focus on + 名词/动名词。</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First Ninety Days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Starting a new job is exciting and exhausting at the same time. Experienced managers often say that the first ninety days decide how colleagues see you for years. The best advice is surprisingly simple: listen more than you talk. Ask questions, take notes and find out how decisions are really made. It’s tempting to prove yourself by suggesting big changes right away, but people tend to trust newcomers who first show respect for what already works. Try to arrange short one-to-one chats with the people you will depend on, and ask each of them what a good start would look like. Aim for one early, visible win, perhaps a small process you can improve. And don’t forget the people you left behind. A warm goodbye message and a coffee with a former colleague a few months later can keep a valuable relationship alive.</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 experienced managers say about the first ninety days?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decide how colleagues see you for years.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should a newcomer avoid suggesting big changes straight away?</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People trust newcomers who first show respect for what already works.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one way to keep a relationship with former colleagues alive?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Send a warm goodbye message and meet for coffee a few months later.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Starting and leaving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入职与离职</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settle in</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适应,安顿下来</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took me about a month to settle in.”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onboarding</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新员工入职培训</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onboarding programme lasts two weeks.”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handover</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工作交接</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complete the handover before your last day.”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probation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试用期</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passed my probation last week.”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make a good impression</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留下好印象</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“First impressions matter, so be on time.”</a:t>
            </a:r>
          </a:p>
        </p:txBody>
      </p:sp>
      <p:sp>
        <p:nvSpPr>
          <p:cNvPr id="34" name="Rounded Rectangle 33"/>
          <p:cNvSpPr/>
          <p:nvPr/>
        </p:nvSpPr>
        <p:spPr>
          <a:xfrm>
            <a:off x="548640" y="49352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farewell / leaving party</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欢送会</a:t>
            </a:r>
          </a:p>
        </p:txBody>
      </p:sp>
      <p:sp>
        <p:nvSpPr>
          <p:cNvPr id="38" name="TextBox 37"/>
          <p:cNvSpPr txBox="1"/>
          <p:nvPr/>
        </p:nvSpPr>
        <p:spPr>
          <a:xfrm>
            <a:off x="6675120" y="49809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organised a leaving party for Tom on Friday.”</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Making a smooth transition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平稳过渡</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hit the ground running</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一上手就进入状态</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hit the ground running and closed two deals in her first month.”</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learn the ropes</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熟悉门道</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mentor helped me learn the ropes quickly.”</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up to speed</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尽快熟悉</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need a week to get up to speed on the project.”</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move on to</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转向(新阶段)</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“After five years in finance, I moved on to consulting.”</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in touch / stay on good terms</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保持联系 / 保持良好关系</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left on good terms and still keep in touch.”</a:t>
            </a:r>
          </a:p>
        </p:txBody>
      </p:sp>
      <p:sp>
        <p:nvSpPr>
          <p:cNvPr id="34" name="Rounded Rectangle 33"/>
          <p:cNvSpPr/>
          <p:nvPr/>
        </p:nvSpPr>
        <p:spPr>
          <a:xfrm>
            <a:off x="548640" y="55448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5448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5905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fresh start</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55905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全新的开始</a:t>
            </a:r>
          </a:p>
        </p:txBody>
      </p:sp>
      <p:sp>
        <p:nvSpPr>
          <p:cNvPr id="38" name="TextBox 37"/>
          <p:cNvSpPr txBox="1"/>
          <p:nvPr/>
        </p:nvSpPr>
        <p:spPr>
          <a:xfrm>
            <a:off x="6675120" y="55905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new city gave me a fresh start.”</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留下好印象</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make a good impression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保持联系 / 保持良好关系</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keep in touch / stay on good terms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新员工入职培训</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onboarding</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熟悉门道</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learn the ropes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工作交接</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handover</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欢送会</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farewell / leaving party</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全新的开始</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fresh start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尽快熟悉</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up to speed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onboarding</a:t>
            </a:r>
          </a:p>
        </p:txBody>
      </p:sp>
      <p:sp>
        <p:nvSpPr>
          <p:cNvPr id="10" name="Rounded Rectangle 9"/>
          <p:cNvSpPr/>
          <p:nvPr/>
        </p:nvSpPr>
        <p:spPr>
          <a:xfrm>
            <a:off x="3566160"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handover</a:t>
            </a:r>
          </a:p>
        </p:txBody>
      </p:sp>
      <p:sp>
        <p:nvSpPr>
          <p:cNvPr id="11" name="Rounded Rectangle 10"/>
          <p:cNvSpPr/>
          <p:nvPr/>
        </p:nvSpPr>
        <p:spPr>
          <a:xfrm>
            <a:off x="4901184"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settle in</a:t>
            </a:r>
          </a:p>
        </p:txBody>
      </p:sp>
      <p:sp>
        <p:nvSpPr>
          <p:cNvPr id="12" name="Rounded Rectangle 11"/>
          <p:cNvSpPr/>
          <p:nvPr/>
        </p:nvSpPr>
        <p:spPr>
          <a:xfrm>
            <a:off x="6345936"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ropes</a:t>
            </a:r>
          </a:p>
        </p:txBody>
      </p:sp>
      <p:sp>
        <p:nvSpPr>
          <p:cNvPr id="13" name="Rounded Rectangle 12"/>
          <p:cNvSpPr/>
          <p:nvPr/>
        </p:nvSpPr>
        <p:spPr>
          <a:xfrm>
            <a:off x="7351776"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up to speed</a:t>
            </a:r>
          </a:p>
        </p:txBody>
      </p:sp>
      <p:sp>
        <p:nvSpPr>
          <p:cNvPr id="14" name="Rounded Rectangle 13"/>
          <p:cNvSpPr/>
          <p:nvPr/>
        </p:nvSpPr>
        <p:spPr>
          <a:xfrm>
            <a:off x="9015983"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good terms</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500" b="0">
                <a:solidFill>
                  <a:srgbClr val="1F2A44"/>
                </a:solidFill>
                <a:latin typeface="Arial"/>
                <a:ea typeface="Microsoft YaHei"/>
              </a:rPr>
              <a:t>1.  The _______ programme includes a tour of the office and meetings with each team.</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onboarding</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500" b="0">
                <a:solidFill>
                  <a:srgbClr val="1F2A44"/>
                </a:solidFill>
                <a:latin typeface="Arial"/>
                <a:ea typeface="Microsoft YaHei"/>
              </a:rPr>
              <a:t>2.  Please write a short _______ note for the person who takes over your work.</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handover</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500" b="0">
                <a:solidFill>
                  <a:srgbClr val="1F2A44"/>
                </a:solidFill>
                <a:latin typeface="Arial"/>
                <a:ea typeface="Microsoft YaHei"/>
              </a:rPr>
              <a:t>3.  It took me a few weeks to _______ in my new team.</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settle in</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500" b="0">
                <a:solidFill>
                  <a:srgbClr val="1F2A44"/>
                </a:solidFill>
                <a:latin typeface="Arial"/>
                <a:ea typeface="Microsoft YaHei"/>
              </a:rPr>
              <a:t>4.  A good mentor can help you learn the _______ quickly.</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ropes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500" b="0">
                <a:solidFill>
                  <a:srgbClr val="1F2A44"/>
                </a:solidFill>
                <a:latin typeface="Arial"/>
                <a:ea typeface="Microsoft YaHei"/>
              </a:rPr>
              <a:t>5.  I need a few days to get _______ on the new system.</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up to speed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500" b="0">
                <a:solidFill>
                  <a:srgbClr val="1F2A44"/>
                </a:solidFill>
                <a:latin typeface="Arial"/>
                <a:ea typeface="Microsoft YaHei"/>
              </a:rPr>
              <a:t>6.  I left on _______ with my old boss, and we still have lunch sometimes.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good terms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onboarding (one word), probation (not “probition”), impression (not “impresion”). Hit the ground running is an idiom, so keep the order: not “run the ground hitting”.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A first-week chat with your new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与新经理的第一周谈话</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It is the end of your first week in a new company. Your manager, Priya, checks how you are settling in.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Daniel Kim, new product analyst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Priya Nair, team manager</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first-week chat with your new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Daniel</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Priya, thanks for making time.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Priya</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Daniel. So, how’s your first week been?</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Busy but good. Everyone’s been really welcoming, and the onboarding sessions have helped me get a feel for how things work.</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Glad to hear it. Is there anything that’s still unclear?</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Mostly the reporting process. I’m still trying to get up to speed on the dashboard, and I don’t want to ask the same question twice.</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completely normal. I’ll ask Maria to walk you through it on Monday. What would you like to focus on next week?</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first-week chat with your new manager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meet the sales team and understand what data they need from us. Then I could suggest a small improvement.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but don’t rush. Listen first, and then decide where you can add value.</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Understood. Could I check in with you every Friday for 15 minutes?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Definitely. That’s a good habit. And Daniel, you’ve hit the ground running. I’m pleased.</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That means a lot.</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Enjoy the weekend, and see you Monday.</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A first-week chat with your new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new employee has a check-in with the manager after week one.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New employee. Your job and company: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Warm, but wants to hear clear priorities.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settle in · onboarding · get up to speed · learn the ropes · hit the ground running · add value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progress, name one challenge and agree a plan for next week.</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Your manager says: “Some colleagues think you’re a bit quiet.” Respond constructively and explain how you plan to get more involved.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A colleague invites you to an after-work drink, but you are tired. Decline politely and suggest another time.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Say goodbye at your old company: give a 30-second leaving speech with thanks and a hint of humour.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975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9296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helps you settle into a new team: formal onboarding, a mentor, or social events?</a:t>
            </a:r>
          </a:p>
          <a:p>
            <a:pPr algn="l">
              <a:lnSpc>
                <a:spcPct val="115000"/>
              </a:lnSpc>
              <a:spcAft>
                <a:spcPts val="800"/>
              </a:spcAft>
            </a:pPr>
            <a:r>
              <a:rPr sz="1400" b="0">
                <a:solidFill>
                  <a:srgbClr val="5F677A"/>
                </a:solidFill>
                <a:latin typeface="Arial"/>
                <a:ea typeface="Microsoft YaHei"/>
              </a:rPr>
              <a:t>💬 “For me, a mentor is the most useful because…” / “Formal onboarding is helpful for…, but…”</a:t>
            </a:r>
          </a:p>
        </p:txBody>
      </p:sp>
      <p:sp>
        <p:nvSpPr>
          <p:cNvPr id="12" name="Oval 11"/>
          <p:cNvSpPr/>
          <p:nvPr/>
        </p:nvSpPr>
        <p:spPr>
          <a:xfrm>
            <a:off x="548640" y="262128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755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12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a good idea to suggest changes in your first month?</a:t>
            </a:r>
          </a:p>
          <a:p>
            <a:pPr algn="l">
              <a:lnSpc>
                <a:spcPct val="115000"/>
              </a:lnSpc>
              <a:spcAft>
                <a:spcPts val="800"/>
              </a:spcAft>
            </a:pPr>
            <a:r>
              <a:rPr sz="1400" b="0">
                <a:solidFill>
                  <a:srgbClr val="5F677A"/>
                </a:solidFill>
                <a:latin typeface="Arial"/>
                <a:ea typeface="Microsoft YaHei"/>
              </a:rPr>
              <a:t>💬 “I’d hold back at first because…” / “If I saw an obvious problem, I’d…”</a:t>
            </a:r>
          </a:p>
        </p:txBody>
      </p:sp>
      <p:sp>
        <p:nvSpPr>
          <p:cNvPr id="15" name="Oval 14"/>
          <p:cNvSpPr/>
          <p:nvPr/>
        </p:nvSpPr>
        <p:spPr>
          <a:xfrm>
            <a:off x="548640" y="339852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528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985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you say goodbye to a team you’ve worked with for a long time?</a:t>
            </a:r>
          </a:p>
          <a:p>
            <a:pPr algn="l">
              <a:lnSpc>
                <a:spcPct val="115000"/>
              </a:lnSpc>
              <a:spcAft>
                <a:spcPts val="800"/>
              </a:spcAft>
            </a:pPr>
            <a:r>
              <a:rPr sz="1400" b="0">
                <a:solidFill>
                  <a:srgbClr val="5F677A"/>
                </a:solidFill>
                <a:latin typeface="Arial"/>
                <a:ea typeface="Microsoft YaHei"/>
              </a:rPr>
              <a:t>💬 “I’d send a personal message to…” / “I wouldn’t want to leave without…”</a:t>
            </a:r>
          </a:p>
        </p:txBody>
      </p:sp>
      <p:sp>
        <p:nvSpPr>
          <p:cNvPr id="18" name="Oval 17"/>
          <p:cNvSpPr/>
          <p:nvPr/>
        </p:nvSpPr>
        <p:spPr>
          <a:xfrm>
            <a:off x="548640" y="417576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1300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1757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think job-hopping damages a career?</a:t>
            </a:r>
          </a:p>
          <a:p>
            <a:pPr algn="l">
              <a:lnSpc>
                <a:spcPct val="115000"/>
              </a:lnSpc>
              <a:spcAft>
                <a:spcPts val="800"/>
              </a:spcAft>
            </a:pPr>
            <a:r>
              <a:rPr sz="1400" b="0">
                <a:solidFill>
                  <a:srgbClr val="5F677A"/>
                </a:solidFill>
                <a:latin typeface="Arial"/>
                <a:ea typeface="Microsoft YaHei"/>
              </a:rPr>
              <a:t>💬 “It used to…, but nowadays…” / “It depends on whether you can explain…”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It used to be seen as a warning sign, but I think attitudes have changed. Nowadays, many employers understand that people move for good reasons, such as growth or a new challenge. What matters is whether you can explain each move clearly. If someone changes jobs every six months with no clear story, an employer might worry about loyalty. But if the moves show learning and progress, it can actually be a strength.</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used to + 动词原形 = 过去常常(现在不再)。job-hopping = 频繁跳槽。”It depends on whether…” 后面接 whether 从句。</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 don’t know how to use it yet.</a:t>
                      </a:r>
                    </a:p>
                  </a:txBody>
                  <a:tcPr anchor="ctr">
                    <a:solidFill>
                      <a:srgbClr val="FFFFFF"/>
                    </a:solidFill>
                  </a:tcPr>
                </a:tc>
                <a:tc>
                  <a:txBody>
                    <a:bodyPr wrap="square"/>
                    <a:lstStyle/>
                    <a:p>
                      <a:r>
                        <a:rPr sz="1600" b="0">
                          <a:solidFill>
                            <a:srgbClr val="1F2A44"/>
                          </a:solidFill>
                          <a:latin typeface="Arial"/>
                          <a:ea typeface="Microsoft YaHei"/>
                        </a:rPr>
                        <a:t>I’m still getting up to speed on it.</a:t>
                      </a:r>
                    </a:p>
                  </a:txBody>
                  <a:tcPr anchor="ctr">
                    <a:solidFill>
                      <a:srgbClr val="FFFFFF"/>
                    </a:solidFill>
                  </a:tcPr>
                </a:tc>
                <a:tc>
                  <a:txBody>
                    <a:bodyPr wrap="square"/>
                    <a:lstStyle/>
                    <a:p>
                      <a:r>
                        <a:rPr sz="1600" b="0">
                          <a:solidFill>
                            <a:srgbClr val="FF6B5B"/>
                          </a:solidFill>
                          <a:latin typeface="Arial"/>
                          <a:ea typeface="Microsoft YaHei"/>
                        </a:rPr>
                        <a:t>积极地表述“还不熟悉”</a:t>
                      </a:r>
                    </a:p>
                  </a:txBody>
                  <a:tcPr anchor="ctr">
                    <a:solidFill>
                      <a:srgbClr val="FFFFFF"/>
                    </a:solidFill>
                  </a:tcPr>
                </a:tc>
              </a:tr>
              <a:tr h="652272">
                <a:tc>
                  <a:txBody>
                    <a:bodyPr wrap="square"/>
                    <a:lstStyle/>
                    <a:p>
                      <a:r>
                        <a:rPr sz="1600" b="1">
                          <a:solidFill>
                            <a:srgbClr val="1F2A44"/>
                          </a:solidFill>
                          <a:latin typeface="Arial"/>
                          <a:ea typeface="Microsoft YaHei"/>
                        </a:rPr>
                        <a:t>I’m new, so please help me.</a:t>
                      </a:r>
                    </a:p>
                  </a:txBody>
                  <a:tcPr anchor="ctr">
                    <a:solidFill>
                      <a:srgbClr val="FFEFD9"/>
                    </a:solidFill>
                  </a:tcPr>
                </a:tc>
                <a:tc>
                  <a:txBody>
                    <a:bodyPr wrap="square"/>
                    <a:lstStyle/>
                    <a:p>
                      <a:r>
                        <a:rPr sz="1600" b="0">
                          <a:solidFill>
                            <a:srgbClr val="1F2A44"/>
                          </a:solidFill>
                          <a:latin typeface="Arial"/>
                          <a:ea typeface="Microsoft YaHei"/>
                        </a:rPr>
                        <a:t>I’m still learning the ropes, so I’d really appreciate any tips.</a:t>
                      </a:r>
                    </a:p>
                  </a:txBody>
                  <a:tcPr anchor="ctr">
                    <a:solidFill>
                      <a:srgbClr val="FFEFD9"/>
                    </a:solidFill>
                  </a:tcPr>
                </a:tc>
                <a:tc>
                  <a:txBody>
                    <a:bodyPr wrap="square"/>
                    <a:lstStyle/>
                    <a:p>
                      <a:r>
                        <a:rPr sz="1600" b="0">
                          <a:solidFill>
                            <a:srgbClr val="FF6B5B"/>
                          </a:solidFill>
                          <a:latin typeface="Arial"/>
                          <a:ea typeface="Microsoft YaHei"/>
                        </a:rPr>
                        <a:t>请求帮助的语气友好</a:t>
                      </a:r>
                    </a:p>
                  </a:txBody>
                  <a:tcPr anchor="ctr">
                    <a:solidFill>
                      <a:srgbClr val="FFEFD9"/>
                    </a:solidFill>
                  </a:tcPr>
                </a:tc>
              </a:tr>
              <a:tr h="652272">
                <a:tc>
                  <a:txBody>
                    <a:bodyPr wrap="square"/>
                    <a:lstStyle/>
                    <a:p>
                      <a:r>
                        <a:rPr sz="1600" b="1">
                          <a:solidFill>
                            <a:srgbClr val="1F2A44"/>
                          </a:solidFill>
                          <a:latin typeface="Arial"/>
                          <a:ea typeface="Microsoft YaHei"/>
                        </a:rPr>
                        <a:t>I’m leaving this company.</a:t>
                      </a:r>
                    </a:p>
                  </a:txBody>
                  <a:tcPr anchor="ctr">
                    <a:solidFill>
                      <a:srgbClr val="FFFFFF"/>
                    </a:solidFill>
                  </a:tcPr>
                </a:tc>
                <a:tc>
                  <a:txBody>
                    <a:bodyPr wrap="square"/>
                    <a:lstStyle/>
                    <a:p>
                      <a:r>
                        <a:rPr sz="1600" b="0">
                          <a:solidFill>
                            <a:srgbClr val="1F2A44"/>
                          </a:solidFill>
                          <a:latin typeface="Arial"/>
                          <a:ea typeface="Microsoft YaHei"/>
                        </a:rPr>
                        <a:t>I’ve decided to move on to a new opportunity.</a:t>
                      </a:r>
                    </a:p>
                  </a:txBody>
                  <a:tcPr anchor="ctr">
                    <a:solidFill>
                      <a:srgbClr val="FFFFFF"/>
                    </a:solidFill>
                  </a:tcPr>
                </a:tc>
                <a:tc>
                  <a:txBody>
                    <a:bodyPr wrap="square"/>
                    <a:lstStyle/>
                    <a:p>
                      <a:r>
                        <a:rPr sz="1600" b="0">
                          <a:solidFill>
                            <a:srgbClr val="FF6B5B"/>
                          </a:solidFill>
                          <a:latin typeface="Arial"/>
                          <a:ea typeface="Microsoft YaHei"/>
                        </a:rPr>
                        <a:t>离职的得体说法</a:t>
                      </a:r>
                    </a:p>
                  </a:txBody>
                  <a:tcPr anchor="ctr">
                    <a:solidFill>
                      <a:srgbClr val="FFFFFF"/>
                    </a:solidFill>
                  </a:tcPr>
                </a:tc>
              </a:tr>
              <a:tr h="408432">
                <a:tc>
                  <a:txBody>
                    <a:bodyPr wrap="square"/>
                    <a:lstStyle/>
                    <a:p>
                      <a:r>
                        <a:rPr sz="1600" b="1">
                          <a:solidFill>
                            <a:srgbClr val="1F2A44"/>
                          </a:solidFill>
                          <a:latin typeface="Arial"/>
                          <a:ea typeface="Microsoft YaHei"/>
                        </a:rPr>
                        <a:t>Let’s meet again.</a:t>
                      </a:r>
                    </a:p>
                  </a:txBody>
                  <a:tcPr anchor="ctr">
                    <a:solidFill>
                      <a:srgbClr val="FFEFD9"/>
                    </a:solidFill>
                  </a:tcPr>
                </a:tc>
                <a:tc>
                  <a:txBody>
                    <a:bodyPr wrap="square"/>
                    <a:lstStyle/>
                    <a:p>
                      <a:r>
                        <a:rPr sz="1600" b="0">
                          <a:solidFill>
                            <a:srgbClr val="1F2A44"/>
                          </a:solidFill>
                          <a:latin typeface="Arial"/>
                          <a:ea typeface="Microsoft YaHei"/>
                        </a:rPr>
                        <a:t>Let’s keep in touch.</a:t>
                      </a:r>
                    </a:p>
                  </a:txBody>
                  <a:tcPr anchor="ctr">
                    <a:solidFill>
                      <a:srgbClr val="FFEFD9"/>
                    </a:solidFill>
                  </a:tcPr>
                </a:tc>
                <a:tc>
                  <a:txBody>
                    <a:bodyPr wrap="square"/>
                    <a:lstStyle/>
                    <a:p>
                      <a:r>
                        <a:rPr sz="1600" b="0">
                          <a:solidFill>
                            <a:srgbClr val="FF6B5B"/>
                          </a:solidFill>
                          <a:latin typeface="Arial"/>
                          <a:ea typeface="Microsoft YaHei"/>
                        </a:rPr>
                        <a:t>保持联系</a:t>
                      </a:r>
                    </a:p>
                  </a:txBody>
                  <a:tcPr anchor="ctr">
                    <a:solidFill>
                      <a:srgbClr val="FFEFD9"/>
                    </a:solidFill>
                  </a:tcPr>
                </a:tc>
              </a:tr>
              <a:tr h="652272">
                <a:tc>
                  <a:txBody>
                    <a:bodyPr wrap="square"/>
                    <a:lstStyle/>
                    <a:p>
                      <a:r>
                        <a:rPr sz="1600" b="1">
                          <a:solidFill>
                            <a:srgbClr val="1F2A44"/>
                          </a:solidFill>
                          <a:latin typeface="Arial"/>
                          <a:ea typeface="Microsoft YaHei"/>
                        </a:rPr>
                        <a:t>I want to do well here.</a:t>
                      </a:r>
                    </a:p>
                  </a:txBody>
                  <a:tcPr anchor="ctr">
                    <a:solidFill>
                      <a:srgbClr val="FFFFFF"/>
                    </a:solidFill>
                  </a:tcPr>
                </a:tc>
                <a:tc>
                  <a:txBody>
                    <a:bodyPr wrap="square"/>
                    <a:lstStyle/>
                    <a:p>
                      <a:r>
                        <a:rPr sz="1600" b="0">
                          <a:solidFill>
                            <a:srgbClr val="1F2A44"/>
                          </a:solidFill>
                          <a:latin typeface="Arial"/>
                          <a:ea typeface="Microsoft YaHei"/>
                        </a:rPr>
                        <a:t>I’m keen to hit the ground running.</a:t>
                      </a:r>
                    </a:p>
                  </a:txBody>
                  <a:tcPr anchor="ctr">
                    <a:solidFill>
                      <a:srgbClr val="FFFFFF"/>
                    </a:solidFill>
                  </a:tcPr>
                </a:tc>
                <a:tc>
                  <a:txBody>
                    <a:bodyPr wrap="square"/>
                    <a:lstStyle/>
                    <a:p>
                      <a:r>
                        <a:rPr sz="1600" b="0">
                          <a:solidFill>
                            <a:srgbClr val="FF6B5B"/>
                          </a:solidFill>
                          <a:latin typeface="Arial"/>
                          <a:ea typeface="Microsoft YaHei"/>
                        </a:rPr>
                        <a:t>表达积极态度</a:t>
                      </a:r>
                    </a:p>
                  </a:txBody>
                  <a:tcPr anchor="ctr">
                    <a:solidFill>
                      <a:srgbClr val="FFFFFF"/>
                    </a:solidFill>
                  </a:tcPr>
                </a:tc>
              </a:tr>
            </a:tbl>
          </a:graphicData>
        </a:graphic>
      </p:graphicFrame>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Perfect forms for progress: </a:t>
            </a:r>
            <a:r>
              <a:rPr sz="1700" b="0">
                <a:solidFill>
                  <a:srgbClr val="1F2A44"/>
                </a:solidFill>
                <a:latin typeface="Arial"/>
                <a:ea typeface="Microsoft YaHei"/>
              </a:rPr>
              <a:t>present perfect for “so far” (“I’ve met most of the team”) and future perfect for a deadline (“By Friday, I’ll have met everyone”).</a:t>
            </a:r>
          </a:p>
        </p:txBody>
      </p:sp>
      <p:sp>
        <p:nvSpPr>
          <p:cNvPr id="11" name="Rounded Rectangle 10"/>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Phrasal verbs: </a:t>
            </a:r>
            <a:r>
              <a:rPr sz="1700" b="0">
                <a:solidFill>
                  <a:srgbClr val="1F2A44"/>
                </a:solidFill>
                <a:latin typeface="Arial"/>
                <a:ea typeface="Microsoft YaHei"/>
              </a:rPr>
              <a:t>settle in, move on (to), take over (from), hand over (to), get along with. Keep the object position in mind: hand it over, not hand over it.</a:t>
            </a:r>
          </a:p>
        </p:txBody>
      </p:sp>
      <p:sp>
        <p:nvSpPr>
          <p:cNvPr id="14" name="Rounded Rectangle 13"/>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Used to + verb (past habit) vs be used to + -ing (be accustomed to): “I used to commute by car” / “I’m used to working remotely.”</a:t>
            </a:r>
          </a:p>
        </p:txBody>
      </p:sp>
      <p:sp>
        <p:nvSpPr>
          <p:cNvPr id="17" name="Rounded Rectangle 16"/>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794757"/>
            <a:ext cx="10728655" cy="701039"/>
          </a:xfrm>
          <a:prstGeom prst="rect">
            <a:avLst/>
          </a:prstGeom>
          <a:noFill/>
        </p:spPr>
        <p:txBody>
          <a:bodyPr wrap="square" anchor="ctr">
            <a:spAutoFit/>
          </a:bodyPr>
          <a:lstStyle/>
          <a:p>
            <a:r>
              <a:rPr sz="1700" b="1">
                <a:solidFill>
                  <a:srgbClr val="FFC857"/>
                </a:solidFill>
                <a:latin typeface="Arial"/>
                <a:ea typeface="Microsoft YaHei"/>
              </a:rPr>
              <a:t>Polite requests: </a:t>
            </a:r>
            <a:r>
              <a:rPr sz="1700" b="0">
                <a:solidFill>
                  <a:srgbClr val="1F2A44"/>
                </a:solidFill>
                <a:latin typeface="Arial"/>
                <a:ea typeface="Microsoft YaHei"/>
              </a:rPr>
              <a:t>“Could I check in with you every Friday?” is gentler than “I want to meet you every Friday.”</a:t>
            </a:r>
          </a:p>
        </p:txBody>
      </p:sp>
      <p:sp>
        <p:nvSpPr>
          <p:cNvPr id="20" name="Rounded Rectangle 19"/>
          <p:cNvSpPr/>
          <p:nvPr/>
        </p:nvSpPr>
        <p:spPr>
          <a:xfrm>
            <a:off x="548640" y="458723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58723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587236"/>
            <a:ext cx="10728655" cy="441959"/>
          </a:xfrm>
          <a:prstGeom prst="rect">
            <a:avLst/>
          </a:prstGeom>
          <a:noFill/>
        </p:spPr>
        <p:txBody>
          <a:bodyPr wrap="square" anchor="ctr">
            <a:spAutoFit/>
          </a:bodyPr>
          <a:lstStyle/>
          <a:p>
            <a:r>
              <a:rPr sz="1700" b="1">
                <a:solidFill>
                  <a:srgbClr val="9B6BE0"/>
                </a:solidFill>
                <a:latin typeface="Arial"/>
                <a:ea typeface="Microsoft YaHei"/>
              </a:rPr>
              <a:t>Give credit and thanks when you leave: </a:t>
            </a:r>
            <a:r>
              <a:rPr sz="1700" b="0">
                <a:solidFill>
                  <a:srgbClr val="1F2A44"/>
                </a:solidFill>
                <a:latin typeface="Arial"/>
                <a:ea typeface="Microsoft YaHei"/>
              </a:rPr>
              <a:t>“I’m grateful for…”, “I learned a lot from…”.</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been in this company for two weeks ago.</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joined this company two weeks ago. / I’ve been here for two weeks.</a:t>
            </a:r>
          </a:p>
          <a:p>
            <a:pPr algn="l">
              <a:spcAft>
                <a:spcPts val="200"/>
              </a:spcAft>
            </a:pPr>
            <a:r>
              <a:rPr sz="1200" b="0">
                <a:solidFill>
                  <a:srgbClr val="FFFFFF"/>
                </a:solidFill>
                <a:latin typeface="Arial"/>
                <a:ea typeface="Microsoft YaHei"/>
              </a:rPr>
              <a:t>ago 用一般过去式</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not used to work late.</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not used to working late.</a:t>
            </a:r>
          </a:p>
          <a:p>
            <a:pPr algn="l">
              <a:spcAft>
                <a:spcPts val="200"/>
              </a:spcAft>
            </a:pPr>
            <a:r>
              <a:rPr sz="1200" b="0">
                <a:solidFill>
                  <a:srgbClr val="FFFFFF"/>
                </a:solidFill>
                <a:latin typeface="Arial"/>
                <a:ea typeface="Microsoft YaHei"/>
              </a:rPr>
              <a:t>be used to + -ing</a:t>
            </a:r>
          </a:p>
        </p:txBody>
      </p:sp>
      <p:sp>
        <p:nvSpPr>
          <p:cNvPr id="13" name="Rounded Rectangle 12"/>
          <p:cNvSpPr/>
          <p:nvPr/>
        </p:nvSpPr>
        <p:spPr>
          <a:xfrm>
            <a:off x="548640" y="310895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used to working in sales.</a:t>
            </a:r>
          </a:p>
        </p:txBody>
      </p:sp>
      <p:sp>
        <p:nvSpPr>
          <p:cNvPr id="14" name="Rounded Rectangle 13"/>
          <p:cNvSpPr/>
          <p:nvPr/>
        </p:nvSpPr>
        <p:spPr>
          <a:xfrm>
            <a:off x="6187287" y="310895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used to work in sales. / I’m used to working in sales.</a:t>
            </a:r>
          </a:p>
          <a:p>
            <a:pPr algn="l">
              <a:spcAft>
                <a:spcPts val="200"/>
              </a:spcAft>
            </a:pPr>
            <a:r>
              <a:rPr sz="1200" b="0">
                <a:solidFill>
                  <a:srgbClr val="FFFFFF"/>
                </a:solidFill>
                <a:latin typeface="Arial"/>
                <a:ea typeface="Microsoft YaHei"/>
              </a:rPr>
              <a:t>used to + 动词原形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took over my work from me.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took over my work. / He took over from me.</a:t>
            </a:r>
          </a:p>
          <a:p>
            <a:pPr algn="l">
              <a:spcAft>
                <a:spcPts val="200"/>
              </a:spcAft>
            </a:pPr>
            <a:r>
              <a:rPr sz="1200" b="0">
                <a:solidFill>
                  <a:srgbClr val="FFFFFF"/>
                </a:solidFill>
                <a:latin typeface="Arial"/>
                <a:ea typeface="Microsoft YaHei"/>
              </a:rPr>
              <a:t>take over 搭配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Thanks for your taking care.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looking after me.</a:t>
            </a:r>
          </a:p>
          <a:p>
            <a:pPr algn="l">
              <a:spcAft>
                <a:spcPts val="200"/>
              </a:spcAft>
            </a:pPr>
            <a:r>
              <a:rPr sz="1200" b="0">
                <a:solidFill>
                  <a:srgbClr val="FFFFFF"/>
                </a:solidFill>
                <a:latin typeface="Arial"/>
                <a:ea typeface="Microsoft YaHei"/>
              </a:rPr>
              <a:t>地道表达</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my first time to go to the Munich office.</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my first time going to the Munich office. / It’s my first visit to...</a:t>
            </a:r>
          </a:p>
          <a:p>
            <a:pPr algn="l">
              <a:spcAft>
                <a:spcPts val="200"/>
              </a:spcAft>
            </a:pPr>
            <a:r>
              <a:rPr sz="1200" b="0">
                <a:solidFill>
                  <a:srgbClr val="FFFFFF"/>
                </a:solidFill>
                <a:latin typeface="Arial"/>
                <a:ea typeface="Microsoft YaHei"/>
              </a:rPr>
              <a:t>first time + -ing / have been</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used to + verb vs be used to + -ing, and use the past simple with ago.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Small talk with new colleagues: </a:t>
            </a:r>
            <a:r>
              <a:rPr sz="1700" b="0">
                <a:solidFill>
                  <a:srgbClr val="1F2A44"/>
                </a:solidFill>
                <a:latin typeface="Arial"/>
                <a:ea typeface="Microsoft YaHei"/>
              </a:rPr>
              <a:t>In the UK and US, it’s normal to ask “How was your weekend?” on Monday. A short, friendly answer builds relationships.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Leaving gracefully: </a:t>
            </a:r>
            <a:r>
              <a:rPr sz="1700" b="0">
                <a:solidFill>
                  <a:srgbClr val="1F2A44"/>
                </a:solidFill>
                <a:latin typeface="Arial"/>
                <a:ea typeface="Microsoft YaHei"/>
              </a:rPr>
              <a:t>A short farewell email, a thank-you to your manager and a leaving gift or card are common. Keep it positive even if you are unhappy.</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Asking questions is a strength. In many English-speaking workplaces, new people are expected to ask. Asking shows engagement, not weakness.</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1">
                <a:solidFill>
                  <a:srgbClr val="FFC857"/>
                </a:solidFill>
                <a:latin typeface="Arial"/>
                <a:ea typeface="Microsoft YaHei"/>
              </a:rPr>
              <a:t>Give feedback on onboarding: </a:t>
            </a:r>
            <a:r>
              <a:rPr sz="1700" b="0">
                <a:solidFill>
                  <a:srgbClr val="1F2A44"/>
                </a:solidFill>
                <a:latin typeface="Arial"/>
                <a:ea typeface="Microsoft YaHei"/>
              </a:rPr>
              <a:t>Many companies welcome comments after 30–90 days. Use polite language: “One thing that could be improved is…”.</a:t>
            </a:r>
          </a:p>
        </p:txBody>
      </p:sp>
      <p:sp>
        <p:nvSpPr>
          <p:cNvPr id="21" name="Rounded Rectangle 20"/>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新人最好多问、多听,不要一上来就批评或提大改动。离职时保持积极的语气,”keep in touch” 不是客套,可以真的保持联系。</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my first 30 days in a new job.</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say goodbye to colleagues politely and positively.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used to / be used to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idioms from the ★ list.</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06 Moving 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used to / be used to, the past simple with ago and phrasal verb word order.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 · Lesson 07 Job Hugging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142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Job Hugging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拥抱工作</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why people cling to their current jobs in uncertain times, the pros and cons of staying put, and how to stay engaged.</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9258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Do you know people who stay in a job they dislike? Why do they stay?</a:t>
            </a:r>
          </a:p>
        </p:txBody>
      </p:sp>
      <p:sp>
        <p:nvSpPr>
          <p:cNvPr id="12" name="Oval 11"/>
          <p:cNvSpPr/>
          <p:nvPr/>
        </p:nvSpPr>
        <p:spPr>
          <a:xfrm>
            <a:off x="548640" y="228142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43328"/>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43328"/>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important is job security to you compared with salary or growth?</a:t>
            </a:r>
          </a:p>
        </p:txBody>
      </p:sp>
      <p:sp>
        <p:nvSpPr>
          <p:cNvPr id="15" name="Oval 14"/>
          <p:cNvSpPr/>
          <p:nvPr/>
        </p:nvSpPr>
        <p:spPr>
          <a:xfrm>
            <a:off x="548640" y="314553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32176"/>
            <a:ext cx="10408615" cy="929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32176"/>
            <a:ext cx="10180015" cy="92964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Have you ever stayed in a job longer than you wanted to? What was the reason?</a:t>
            </a:r>
          </a:p>
        </p:txBody>
      </p:sp>
      <p:sp>
        <p:nvSpPr>
          <p:cNvPr id="18" name="Oval 17"/>
          <p:cNvSpPr/>
          <p:nvPr/>
        </p:nvSpPr>
        <p:spPr>
          <a:xfrm>
            <a:off x="548640" y="400964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71544"/>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71544"/>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are the risks of staying in the same job for many years?</a:t>
            </a:r>
          </a:p>
        </p:txBody>
      </p:sp>
      <p:sp>
        <p:nvSpPr>
          <p:cNvPr id="21" name="Oval 20"/>
          <p:cNvSpPr/>
          <p:nvPr/>
        </p:nvSpPr>
        <p:spPr>
          <a:xfrm>
            <a:off x="548640" y="469849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60392"/>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0392"/>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can you keep a long-term job interesting?</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“job hugging” 是近年出现的说法,指在不确定的环境下“抱紧”现有工作不敢跳槽。第 3 题用过去式和 “longer than I wanted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2600" b="1">
                <a:solidFill>
                  <a:srgbClr val="1F2A44"/>
                </a:solidFill>
                <a:latin typeface="Arial"/>
                <a:ea typeface="Microsoft YaHei"/>
              </a:rPr>
              <a:t>Explain why some employees decide to stay put, and give your opinion on whether that is wise.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reasons for staying</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benefits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risks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opinion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People may stay put because…   💬 The upside is… but the downside is…   💬 Personally, I think it’s wise/unwise to… because…</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stay put 是口语:待在原地不动。upside / downside 是商务口语里常用的“好处 / 坏处”。表达观点时可以用 “Personally, I think…”。</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Holding On Tight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When the economy looks shaky and layoffs make the news, many employees decide to hold on to their jobs rather than look for something better. Some commentators call this “job hugging”. The logic is understandable. A steady salary, a familiar team and a manager who already trusts you are worth a lot when the future is unclear. Yet there is a price. Fewer people are changing jobs, so fewer vacancies open up, and ambitious newcomers find it harder to get started. Employees who stay too long may also see their skills fall behind. For companies, the challenge is to keep these staff engaged, not just present. Offering new projects, training and the chance to move sideways inside the company can give people a reason to stay for the right reasons, rather than simply because they are afraid to leave.</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some employees “hug” their jobs?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Because the economy looks shaky and a steady job, team and manager are worth a lot when the future is unclear.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price do others pay when many people stay put?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Fewer vacancies open up, so newcomers find it harder to get started.</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can companies do to keep staff engaged?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Offer new projects, training and the chance to move sideways within the company.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Staying or leaving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留下还是离开</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job security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工作稳定性</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“After the layoffs, job security became a major concern.”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stay put</a:t>
            </a:r>
          </a:p>
          <a:p>
            <a:pPr algn="l">
              <a:lnSpc>
                <a:spcPct val="115000"/>
              </a:lnSpc>
              <a:spcAft>
                <a:spcPts val="800"/>
              </a:spcAft>
            </a:pPr>
            <a:r>
              <a:rPr sz="1300" b="0">
                <a:solidFill>
                  <a:srgbClr val="5F677A"/>
                </a:solidFill>
                <a:latin typeface="Arial"/>
                <a:ea typeface="Microsoft YaHei"/>
              </a:rPr>
              <a:t>phrasal</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待着不动</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“Most of the team decided to stay put until the market recovers.”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stagnate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停滞不前</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felt I was stagnating in the same role for years.”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employee engagement</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员工敬业度</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“Employee engagement fell after the restructuring.”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loyalty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忠诚度</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“Loyalty works best when it goes both ways.”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vacancy</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空缺职位</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vacancy in the finance team.”</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Talking about trends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谈论趋势</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cling to</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紧抓不放</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“Many people cling to a stable job in uncertain times.”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comfort zone</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舒适区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“Staying too long in your comfort zone can limit your growth.”</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weigh up the pros and cons</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权衡利弊</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“Take time to weigh up the pros and cons before deciding.”</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upside / downside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好处 / 坏处</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upside is stability. The downside is slower progression.”</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move sideways</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平级调动,横向发展</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you can’t be promoted, a sideways move can still help you learn.”</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golden handcuffs</a:t>
            </a:r>
          </a:p>
          <a:p>
            <a:pPr algn="l">
              <a:lnSpc>
                <a:spcPct val="115000"/>
              </a:lnSpc>
              <a:spcAft>
                <a:spcPts val="800"/>
              </a:spcAft>
            </a:pPr>
            <a:r>
              <a:rPr sz="1300" b="0">
                <a:solidFill>
                  <a:srgbClr val="5F677A"/>
                </a:solidFill>
                <a:latin typeface="Arial"/>
                <a:ea typeface="Microsoft YaHei"/>
              </a:rPr>
              <a:t>idiom (plural)</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金手铐(高薪福利让人难以离职)</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generous bonus acted as golden handcuffs.”</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平级调动,横向发展</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move sideways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舒适区</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comfort zone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空缺职位</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vacancy</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待着不动</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stay put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好处 / 坏处</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upside / downside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工作稳定性</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job security</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紧抓不放</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cling to</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忠诚度</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loyalty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stagnating</a:t>
            </a:r>
          </a:p>
        </p:txBody>
      </p:sp>
      <p:sp>
        <p:nvSpPr>
          <p:cNvPr id="10" name="Rounded Rectangle 9"/>
          <p:cNvSpPr/>
          <p:nvPr/>
        </p:nvSpPr>
        <p:spPr>
          <a:xfrm>
            <a:off x="3566160"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engagement</a:t>
            </a:r>
          </a:p>
        </p:txBody>
      </p:sp>
      <p:sp>
        <p:nvSpPr>
          <p:cNvPr id="11" name="Rounded Rectangle 10"/>
          <p:cNvSpPr/>
          <p:nvPr/>
        </p:nvSpPr>
        <p:spPr>
          <a:xfrm>
            <a:off x="5120640"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vacancy</a:t>
            </a:r>
          </a:p>
        </p:txBody>
      </p:sp>
      <p:sp>
        <p:nvSpPr>
          <p:cNvPr id="12" name="Rounded Rectangle 11"/>
          <p:cNvSpPr/>
          <p:nvPr/>
        </p:nvSpPr>
        <p:spPr>
          <a:xfrm>
            <a:off x="6345936" y="987552"/>
            <a:ext cx="168249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comfort zone</a:t>
            </a:r>
          </a:p>
        </p:txBody>
      </p:sp>
      <p:sp>
        <p:nvSpPr>
          <p:cNvPr id="13" name="Rounded Rectangle 12"/>
          <p:cNvSpPr/>
          <p:nvPr/>
        </p:nvSpPr>
        <p:spPr>
          <a:xfrm>
            <a:off x="8119871"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weigh up</a:t>
            </a:r>
          </a:p>
        </p:txBody>
      </p:sp>
      <p:sp>
        <p:nvSpPr>
          <p:cNvPr id="14" name="Rounded Rectangle 13"/>
          <p:cNvSpPr/>
          <p:nvPr/>
        </p:nvSpPr>
        <p:spPr>
          <a:xfrm>
            <a:off x="9454895"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downside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 felt I was _______ in the same role for years.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stagnating</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Employee _______ fell after the restructuring.</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engagement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have a _______ in the finance team.</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vacancy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Staying in your _______ for too long can limit your growth.</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comfort zone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Take time to _______ the pros and cons before deciding.</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weigh up</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The upside is stability. The _______ is slower progression.</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downside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stagnate (not “stagnat”), loyalty (not “loyality”), vacancy (not “vacency”). Note: job security is uncountable, and golden handcuffs is almost always plural.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A stay-or-go conversation with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与经理谈去留</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are an experienced analyst who has felt stuck for a year. Your manager, Tom, asks whether you plan to stay.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Hui Min, senior analyst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Tom Reed, department manager</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stay-or-go conversation with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Hui Min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Tom, thanks for taking the time. I wanted to be open with you about where I stand.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Tom</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 appreciate that. Are you thinking of leaving?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at the moment. With the market as unsettled as it is, I think staying put is sensible. But I’ll be honest: I feel I’m stagnating a bit.</a:t>
            </a:r>
          </a:p>
        </p:txBody>
      </p:sp>
      <p:sp>
        <p:nvSpPr>
          <p:cNvPr id="17" name="Rounded Rectangle 16"/>
          <p:cNvSpPr/>
          <p:nvPr/>
        </p:nvSpPr>
        <p:spPr>
          <a:xfrm>
            <a:off x="10911535" y="3941063"/>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3"/>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glad you told me. What would make the role more interesting for you?</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stay-or-go conversation with a manager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love to take on a project outside my usual area. Maybe something with the product team.</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possible. We need someone to lead the pricing review in Q3. Would that interest you?</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Definitely. It would give me a chance to learn something new without leaving the company.</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On the other hand, I can’t promise a promotion this year. The budget is tight.</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stay-or-go conversation with a manager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I’d be happy with more responsibility for now, and we could revisit the title in six months.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fair. Let me talk to HR and get back to you by Friday.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Tom. I really appreciate your support.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being straight with me. I’d hate to lose you.</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A stay-or-go conversation with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 employee tells a manager they feel stuck but want to stay.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How long you have been in the role: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Supportive, but with limited budget.</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stay put · stagnate · comfort zone · take on · responsibility · revisit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what you need without threatening to leave; agree a next step.</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Tom says: “If you wanted to move on, I’d understand.” Respond honestly without sounding disloyal.</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are the manager, and the employee asks for a 20% raise. Say no kindly and offer alternatives.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Summarise the “upside and downside” of staying in your job in 45 seconds.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think “job hugging” is smart or short-sighted in uncertain times?</a:t>
            </a:r>
          </a:p>
          <a:p>
            <a:pPr algn="l">
              <a:lnSpc>
                <a:spcPct val="115000"/>
              </a:lnSpc>
              <a:spcAft>
                <a:spcPts val="800"/>
              </a:spcAft>
            </a:pPr>
            <a:r>
              <a:rPr sz="1400" b="0">
                <a:solidFill>
                  <a:srgbClr val="5F677A"/>
                </a:solidFill>
                <a:latin typeface="Arial"/>
                <a:ea typeface="Microsoft YaHei"/>
              </a:rPr>
              <a:t>💬 “In the short term it’s smart, but in the long run…” / “I’d argue that…”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can managers do to keep people engaged when they can’t offer promotions?</a:t>
            </a:r>
          </a:p>
          <a:p>
            <a:pPr algn="l">
              <a:lnSpc>
                <a:spcPct val="115000"/>
              </a:lnSpc>
              <a:spcAft>
                <a:spcPts val="800"/>
              </a:spcAft>
            </a:pPr>
            <a:r>
              <a:rPr sz="1400" b="0">
                <a:solidFill>
                  <a:srgbClr val="5F677A"/>
                </a:solidFill>
                <a:latin typeface="Arial"/>
                <a:ea typeface="Microsoft YaHei"/>
              </a:rPr>
              <a:t>💬 “They could offer… instead of…” / “Recognition matters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loyalty to an employer still important today? Why or why not?</a:t>
            </a:r>
          </a:p>
          <a:p>
            <a:pPr algn="l">
              <a:lnSpc>
                <a:spcPct val="115000"/>
              </a:lnSpc>
              <a:spcAft>
                <a:spcPts val="800"/>
              </a:spcAft>
            </a:pPr>
            <a:r>
              <a:rPr sz="1400" b="0">
                <a:solidFill>
                  <a:srgbClr val="5F677A"/>
                </a:solidFill>
                <a:latin typeface="Arial"/>
                <a:ea typeface="Microsoft YaHei"/>
              </a:rPr>
              <a:t>💬 “Loyalty should go both ways.” / “Nowadays, I think people are loyal to… rather than to…”</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tell the difference between feeling bored and being stuck?</a:t>
            </a:r>
          </a:p>
          <a:p>
            <a:pPr algn="l">
              <a:lnSpc>
                <a:spcPct val="115000"/>
              </a:lnSpc>
              <a:spcAft>
                <a:spcPts val="800"/>
              </a:spcAft>
            </a:pPr>
            <a:r>
              <a:rPr sz="1400" b="0">
                <a:solidFill>
                  <a:srgbClr val="5F677A"/>
                </a:solidFill>
                <a:latin typeface="Arial"/>
                <a:ea typeface="Microsoft YaHei"/>
              </a:rPr>
              <a:t>💬 “If I’m bored, I’d… but if I’m stuck, …” / “A sign that I’m stuck is when…”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Loyalty still matters, but I think it has to go both ways. If a company supports my development and treats me fairly, I’m happy to stay and give my best. But if I’m expected to be loyal while the company cuts staff and freezes training, that’s one-sided. Nowadays I think people are loyal to their teams and their work rather than to a company logo.</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go both ways = 双向的。one-sided = 片面的。”rather than” 连接两个平行成分。freeze = 冻结(如冻结招聘或培训)。</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 don’t want to leave my job.</a:t>
                      </a:r>
                    </a:p>
                  </a:txBody>
                  <a:tcPr anchor="ctr">
                    <a:solidFill>
                      <a:srgbClr val="FFFFFF"/>
                    </a:solidFill>
                  </a:tcPr>
                </a:tc>
                <a:tc>
                  <a:txBody>
                    <a:bodyPr wrap="square"/>
                    <a:lstStyle/>
                    <a:p>
                      <a:r>
                        <a:rPr sz="1600" b="0">
                          <a:solidFill>
                            <a:srgbClr val="1F2A44"/>
                          </a:solidFill>
                          <a:latin typeface="Arial"/>
                          <a:ea typeface="Microsoft YaHei"/>
                        </a:rPr>
                        <a:t>I’d rather stay where I am for now.</a:t>
                      </a:r>
                    </a:p>
                  </a:txBody>
                  <a:tcPr anchor="ctr">
                    <a:solidFill>
                      <a:srgbClr val="FFFFFF"/>
                    </a:solidFill>
                  </a:tcPr>
                </a:tc>
                <a:tc>
                  <a:txBody>
                    <a:bodyPr wrap="square"/>
                    <a:lstStyle/>
                    <a:p>
                      <a:r>
                        <a:rPr sz="1600" b="0">
                          <a:solidFill>
                            <a:srgbClr val="FF6B5B"/>
                          </a:solidFill>
                          <a:latin typeface="Arial"/>
                          <a:ea typeface="Microsoft YaHei"/>
                        </a:rPr>
                        <a:t>would rather + 动词原形</a:t>
                      </a:r>
                    </a:p>
                  </a:txBody>
                  <a:tcPr anchor="ctr">
                    <a:solidFill>
                      <a:srgbClr val="FFFFFF"/>
                    </a:solidFill>
                  </a:tcPr>
                </a:tc>
              </a:tr>
              <a:tr h="652272">
                <a:tc>
                  <a:txBody>
                    <a:bodyPr wrap="square"/>
                    <a:lstStyle/>
                    <a:p>
                      <a:r>
                        <a:rPr sz="1600" b="1">
                          <a:solidFill>
                            <a:srgbClr val="1F2A44"/>
                          </a:solidFill>
                          <a:latin typeface="Arial"/>
                          <a:ea typeface="Microsoft YaHei"/>
                        </a:rPr>
                        <a:t>My job is boring.</a:t>
                      </a:r>
                    </a:p>
                  </a:txBody>
                  <a:tcPr anchor="ctr">
                    <a:solidFill>
                      <a:srgbClr val="FFEFD9"/>
                    </a:solidFill>
                  </a:tcPr>
                </a:tc>
                <a:tc>
                  <a:txBody>
                    <a:bodyPr wrap="square"/>
                    <a:lstStyle/>
                    <a:p>
                      <a:r>
                        <a:rPr sz="1600" b="0">
                          <a:solidFill>
                            <a:srgbClr val="1F2A44"/>
                          </a:solidFill>
                          <a:latin typeface="Arial"/>
                          <a:ea typeface="Microsoft YaHei"/>
                        </a:rPr>
                        <a:t>I feel I’ve plateaued in this role.</a:t>
                      </a:r>
                    </a:p>
                  </a:txBody>
                  <a:tcPr anchor="ctr">
                    <a:solidFill>
                      <a:srgbClr val="FFEFD9"/>
                    </a:solidFill>
                  </a:tcPr>
                </a:tc>
                <a:tc>
                  <a:txBody>
                    <a:bodyPr wrap="square"/>
                    <a:lstStyle/>
                    <a:p>
                      <a:r>
                        <a:rPr sz="1600" b="0">
                          <a:solidFill>
                            <a:srgbClr val="FF6B5B"/>
                          </a:solidFill>
                          <a:latin typeface="Arial"/>
                          <a:ea typeface="Microsoft YaHei"/>
                        </a:rPr>
                        <a:t>比 boring 更专业</a:t>
                      </a:r>
                    </a:p>
                  </a:txBody>
                  <a:tcPr anchor="ctr">
                    <a:solidFill>
                      <a:srgbClr val="FFEFD9"/>
                    </a:solidFill>
                  </a:tcPr>
                </a:tc>
              </a:tr>
              <a:tr h="652272">
                <a:tc>
                  <a:txBody>
                    <a:bodyPr wrap="square"/>
                    <a:lstStyle/>
                    <a:p>
                      <a:r>
                        <a:rPr sz="1600" b="1">
                          <a:solidFill>
                            <a:srgbClr val="1F2A44"/>
                          </a:solidFill>
                          <a:latin typeface="Arial"/>
                          <a:ea typeface="Microsoft YaHei"/>
                        </a:rPr>
                        <a:t>I’m afraid to change.</a:t>
                      </a:r>
                    </a:p>
                  </a:txBody>
                  <a:tcPr anchor="ctr">
                    <a:solidFill>
                      <a:srgbClr val="FFFFFF"/>
                    </a:solidFill>
                  </a:tcPr>
                </a:tc>
                <a:tc>
                  <a:txBody>
                    <a:bodyPr wrap="square"/>
                    <a:lstStyle/>
                    <a:p>
                      <a:r>
                        <a:rPr sz="1600" b="0">
                          <a:solidFill>
                            <a:srgbClr val="1F2A44"/>
                          </a:solidFill>
                          <a:latin typeface="Arial"/>
                          <a:ea typeface="Microsoft YaHei"/>
                        </a:rPr>
                        <a:t>I’m reluctant to leave my comfort zone.</a:t>
                      </a:r>
                    </a:p>
                  </a:txBody>
                  <a:tcPr anchor="ctr">
                    <a:solidFill>
                      <a:srgbClr val="FFFFFF"/>
                    </a:solidFill>
                  </a:tcPr>
                </a:tc>
                <a:tc>
                  <a:txBody>
                    <a:bodyPr wrap="square"/>
                    <a:lstStyle/>
                    <a:p>
                      <a:r>
                        <a:rPr sz="1600" b="0">
                          <a:solidFill>
                            <a:srgbClr val="FF6B5B"/>
                          </a:solidFill>
                          <a:latin typeface="Arial"/>
                          <a:ea typeface="Microsoft YaHei"/>
                        </a:rPr>
                        <a:t>reluctant 不情愿</a:t>
                      </a:r>
                    </a:p>
                  </a:txBody>
                  <a:tcPr anchor="ctr">
                    <a:solidFill>
                      <a:srgbClr val="FFFFFF"/>
                    </a:solidFill>
                  </a:tcPr>
                </a:tc>
              </a:tr>
              <a:tr h="652272">
                <a:tc>
                  <a:txBody>
                    <a:bodyPr wrap="square"/>
                    <a:lstStyle/>
                    <a:p>
                      <a:r>
                        <a:rPr sz="1600" b="1">
                          <a:solidFill>
                            <a:srgbClr val="1F2A44"/>
                          </a:solidFill>
                          <a:latin typeface="Arial"/>
                          <a:ea typeface="Microsoft YaHei"/>
                        </a:rPr>
                        <a:t>I want a better job but I can’t.</a:t>
                      </a:r>
                    </a:p>
                  </a:txBody>
                  <a:tcPr anchor="ctr">
                    <a:solidFill>
                      <a:srgbClr val="FFEFD9"/>
                    </a:solidFill>
                  </a:tcPr>
                </a:tc>
                <a:tc>
                  <a:txBody>
                    <a:bodyPr wrap="square"/>
                    <a:lstStyle/>
                    <a:p>
                      <a:r>
                        <a:rPr sz="1600" b="0">
                          <a:solidFill>
                            <a:srgbClr val="1F2A44"/>
                          </a:solidFill>
                          <a:latin typeface="Arial"/>
                          <a:ea typeface="Microsoft YaHei"/>
                        </a:rPr>
                        <a:t>I’d like more responsibility, but the opportunities are limited.</a:t>
                      </a:r>
                    </a:p>
                  </a:txBody>
                  <a:tcPr anchor="ctr">
                    <a:solidFill>
                      <a:srgbClr val="FFEFD9"/>
                    </a:solidFill>
                  </a:tcPr>
                </a:tc>
                <a:tc>
                  <a:txBody>
                    <a:bodyPr wrap="square"/>
                    <a:lstStyle/>
                    <a:p>
                      <a:r>
                        <a:rPr sz="1600" b="0">
                          <a:solidFill>
                            <a:srgbClr val="FF6B5B"/>
                          </a:solidFill>
                          <a:latin typeface="Arial"/>
                          <a:ea typeface="Microsoft YaHei"/>
                        </a:rPr>
                        <a:t>说明现实限制</a:t>
                      </a:r>
                    </a:p>
                  </a:txBody>
                  <a:tcPr anchor="ctr">
                    <a:solidFill>
                      <a:srgbClr val="FFEFD9"/>
                    </a:solidFill>
                  </a:tcPr>
                </a:tc>
              </a:tr>
              <a:tr h="652272">
                <a:tc>
                  <a:txBody>
                    <a:bodyPr wrap="square"/>
                    <a:lstStyle/>
                    <a:p>
                      <a:r>
                        <a:rPr sz="1600" b="1">
                          <a:solidFill>
                            <a:srgbClr val="1F2A44"/>
                          </a:solidFill>
                          <a:latin typeface="Arial"/>
                          <a:ea typeface="Microsoft YaHei"/>
                        </a:rPr>
                        <a:t>They keep us here with money.</a:t>
                      </a:r>
                    </a:p>
                  </a:txBody>
                  <a:tcPr anchor="ctr">
                    <a:solidFill>
                      <a:srgbClr val="FFFFFF"/>
                    </a:solidFill>
                  </a:tcPr>
                </a:tc>
                <a:tc>
                  <a:txBody>
                    <a:bodyPr wrap="square"/>
                    <a:lstStyle/>
                    <a:p>
                      <a:r>
                        <a:rPr sz="1600" b="0">
                          <a:solidFill>
                            <a:srgbClr val="1F2A44"/>
                          </a:solidFill>
                          <a:latin typeface="Arial"/>
                          <a:ea typeface="Microsoft YaHei"/>
                        </a:rPr>
                        <a:t>The benefits package makes it hard to leave.</a:t>
                      </a:r>
                    </a:p>
                  </a:txBody>
                  <a:tcPr anchor="ctr">
                    <a:solidFill>
                      <a:srgbClr val="FFFFFF"/>
                    </a:solidFill>
                  </a:tcPr>
                </a:tc>
                <a:tc>
                  <a:txBody>
                    <a:bodyPr wrap="square"/>
                    <a:lstStyle/>
                    <a:p>
                      <a:r>
                        <a:rPr sz="1600" b="0">
                          <a:solidFill>
                            <a:srgbClr val="FF6B5B"/>
                          </a:solidFill>
                          <a:latin typeface="Arial"/>
                          <a:ea typeface="Microsoft YaHei"/>
                        </a:rPr>
                        <a:t>描述“金手铐”</a:t>
                      </a:r>
                    </a:p>
                  </a:txBody>
                  <a:tcPr anchor="ctr">
                    <a:solidFill>
                      <a:srgbClr val="FFFFFF"/>
                    </a:solidFill>
                  </a:tcPr>
                </a:tc>
              </a:tr>
            </a:tbl>
          </a:graphicData>
        </a:graphic>
      </p:graphicFrame>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Would rather + verb: </a:t>
            </a:r>
            <a:r>
              <a:rPr sz="1700" b="0">
                <a:solidFill>
                  <a:srgbClr val="1F2A44"/>
                </a:solidFill>
                <a:latin typeface="Arial"/>
                <a:ea typeface="Microsoft YaHei"/>
              </a:rPr>
              <a:t>“I’d rather stay.” (no to). Would rather not + verb: “I’d rather not move.”</a:t>
            </a:r>
          </a:p>
        </p:txBody>
      </p:sp>
      <p:sp>
        <p:nvSpPr>
          <p:cNvPr id="11" name="Rounded Rectangle 10"/>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Contrast and concession: </a:t>
            </a:r>
            <a:r>
              <a:rPr sz="1700" b="0">
                <a:solidFill>
                  <a:srgbClr val="1F2A44"/>
                </a:solidFill>
                <a:latin typeface="Arial"/>
                <a:ea typeface="Microsoft YaHei"/>
              </a:rPr>
              <a:t>although, even though, while, however. “While I understand the risk, I’d still apply.”</a:t>
            </a:r>
          </a:p>
        </p:txBody>
      </p:sp>
      <p:sp>
        <p:nvSpPr>
          <p:cNvPr id="14" name="Rounded Rectangle 13"/>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Comparatives: </a:t>
            </a:r>
            <a:r>
              <a:rPr sz="1700" b="0">
                <a:solidFill>
                  <a:srgbClr val="1F2A44"/>
                </a:solidFill>
                <a:latin typeface="Arial"/>
                <a:ea typeface="Microsoft YaHei"/>
              </a:rPr>
              <a:t>less secure, more engaged, the more… the more… “The longer you stay, the harder it is to leave.”</a:t>
            </a:r>
          </a:p>
        </p:txBody>
      </p:sp>
      <p:sp>
        <p:nvSpPr>
          <p:cNvPr id="17" name="Rounded Rectangle 16"/>
          <p:cNvSpPr/>
          <p:nvPr/>
        </p:nvSpPr>
        <p:spPr>
          <a:xfrm>
            <a:off x="548640" y="353567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3567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535677"/>
            <a:ext cx="10728655" cy="441959"/>
          </a:xfrm>
          <a:prstGeom prst="rect">
            <a:avLst/>
          </a:prstGeom>
          <a:noFill/>
        </p:spPr>
        <p:txBody>
          <a:bodyPr wrap="square" anchor="ctr">
            <a:spAutoFit/>
          </a:bodyPr>
          <a:lstStyle/>
          <a:p>
            <a:r>
              <a:rPr sz="1700" b="1">
                <a:solidFill>
                  <a:srgbClr val="FFC857"/>
                </a:solidFill>
                <a:latin typeface="Arial"/>
                <a:ea typeface="Microsoft YaHei"/>
              </a:rPr>
              <a:t>Collocations: </a:t>
            </a:r>
            <a:r>
              <a:rPr sz="1700" b="0">
                <a:solidFill>
                  <a:srgbClr val="1F2A44"/>
                </a:solidFill>
                <a:latin typeface="Arial"/>
                <a:ea typeface="Microsoft YaHei"/>
              </a:rPr>
              <a:t>weigh up options · take a risk · stay put · stick with · hold on to · stay engaged.</a:t>
            </a:r>
          </a:p>
        </p:txBody>
      </p:sp>
      <p:sp>
        <p:nvSpPr>
          <p:cNvPr id="20" name="Rounded Rectangle 19"/>
          <p:cNvSpPr/>
          <p:nvPr/>
        </p:nvSpPr>
        <p:spPr>
          <a:xfrm>
            <a:off x="548640" y="406907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6907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069076"/>
            <a:ext cx="10728655" cy="701039"/>
          </a:xfrm>
          <a:prstGeom prst="rect">
            <a:avLst/>
          </a:prstGeom>
          <a:noFill/>
        </p:spPr>
        <p:txBody>
          <a:bodyPr wrap="square" anchor="ctr">
            <a:spAutoFit/>
          </a:bodyPr>
          <a:lstStyle/>
          <a:p>
            <a:r>
              <a:rPr sz="1700" b="1">
                <a:solidFill>
                  <a:srgbClr val="9B6BE0"/>
                </a:solidFill>
                <a:latin typeface="Arial"/>
                <a:ea typeface="Microsoft YaHei"/>
              </a:rPr>
              <a:t>Uncountable nouns: </a:t>
            </a:r>
            <a:r>
              <a:rPr sz="1700" b="0">
                <a:solidFill>
                  <a:srgbClr val="1F2A44"/>
                </a:solidFill>
                <a:latin typeface="Arial"/>
                <a:ea typeface="Microsoft YaHei"/>
              </a:rPr>
              <a:t>security, loyalty, stability, progress. Say a lot of stability, not many stabilities.</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prefer stay in my job.</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prefer to stay / staying in my job. / I’d rather stay in my job.</a:t>
            </a:r>
          </a:p>
          <a:p>
            <a:pPr algn="l">
              <a:spcAft>
                <a:spcPts val="200"/>
              </a:spcAft>
            </a:pPr>
            <a:r>
              <a:rPr sz="1200" b="0">
                <a:solidFill>
                  <a:srgbClr val="FFFFFF"/>
                </a:solidFill>
                <a:latin typeface="Arial"/>
                <a:ea typeface="Microsoft YaHei"/>
              </a:rPr>
              <a:t>prefer to / -ing; would rather + 原形</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more you stay, the more it is difficult.</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longer you stay, the harder it gets.</a:t>
            </a:r>
          </a:p>
          <a:p>
            <a:pPr algn="l">
              <a:spcAft>
                <a:spcPts val="200"/>
              </a:spcAft>
            </a:pPr>
            <a:r>
              <a:rPr sz="1200" b="0">
                <a:solidFill>
                  <a:srgbClr val="FFFFFF"/>
                </a:solidFill>
                <a:latin typeface="Arial"/>
                <a:ea typeface="Microsoft YaHei"/>
              </a:rPr>
              <a:t>the + 比较级, the + 比较级</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Although it is risky, but I will stay.</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Although it is risky, I’ll stay.</a:t>
            </a:r>
          </a:p>
          <a:p>
            <a:pPr algn="l">
              <a:spcAft>
                <a:spcPts val="200"/>
              </a:spcAft>
            </a:pPr>
            <a:r>
              <a:rPr sz="1200" b="0">
                <a:solidFill>
                  <a:srgbClr val="FFFFFF"/>
                </a:solidFill>
                <a:latin typeface="Arial"/>
                <a:ea typeface="Microsoft YaHei"/>
              </a:rPr>
              <a:t>although 和 but 不同时用</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afraid of lose my job.</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afraid of losing my job.</a:t>
            </a:r>
          </a:p>
          <a:p>
            <a:pPr algn="l">
              <a:spcAft>
                <a:spcPts val="200"/>
              </a:spcAft>
            </a:pPr>
            <a:r>
              <a:rPr sz="1200" b="0">
                <a:solidFill>
                  <a:srgbClr val="FFFFFF"/>
                </a:solidFill>
                <a:latin typeface="Arial"/>
                <a:ea typeface="Microsoft YaHei"/>
              </a:rPr>
              <a:t>介词后用 -ing</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job is boring, so I feel stuck of it.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job is boring, so I feel stuck in it.</a:t>
            </a:r>
          </a:p>
          <a:p>
            <a:pPr algn="l">
              <a:spcAft>
                <a:spcPts val="200"/>
              </a:spcAft>
            </a:pPr>
            <a:r>
              <a:rPr sz="1200" b="0">
                <a:solidFill>
                  <a:srgbClr val="FFFFFF"/>
                </a:solidFill>
                <a:latin typeface="Arial"/>
                <a:ea typeface="Microsoft YaHei"/>
              </a:rPr>
              <a:t>stuck in</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has no any opportunities.</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are no opportunities. / It offers no opportunities.</a:t>
            </a:r>
          </a:p>
          <a:p>
            <a:pPr algn="l">
              <a:spcAft>
                <a:spcPts val="200"/>
              </a:spcAft>
            </a:pPr>
            <a:r>
              <a:rPr sz="1200" b="0">
                <a:solidFill>
                  <a:srgbClr val="FFFFFF"/>
                </a:solidFill>
                <a:latin typeface="Arial"/>
                <a:ea typeface="Microsoft YaHei"/>
              </a:rPr>
              <a:t>no 与 any 不连用</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although … , (no but), the + comparative, the + comparative and -ing after prepositions.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Job-hopping vs job-hugging: </a:t>
            </a:r>
            <a:r>
              <a:rPr sz="1700" b="0">
                <a:solidFill>
                  <a:srgbClr val="1F2A44"/>
                </a:solidFill>
                <a:latin typeface="Arial"/>
                <a:ea typeface="Microsoft YaHei"/>
              </a:rPr>
              <a:t>In the US and UK both patterns exist. Staying 3–5 years is seen as normal; moving every year can raise questions.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Internal mobility (moving within the same company) is often encouraged in large Western firms. Ask HR about “internal vacancies”.</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Honest conversations: </a:t>
            </a:r>
            <a:r>
              <a:rPr sz="1700" b="0">
                <a:solidFill>
                  <a:srgbClr val="1F2A44"/>
                </a:solidFill>
                <a:latin typeface="Arial"/>
                <a:ea typeface="Microsoft YaHei"/>
              </a:rPr>
              <a:t>Telling your manager you feel stuck is acceptable if you offer a constructive solution.</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1">
                <a:solidFill>
                  <a:srgbClr val="FFC857"/>
                </a:solidFill>
                <a:latin typeface="Arial"/>
                <a:ea typeface="Microsoft YaHei"/>
              </a:rPr>
              <a:t>Notice period and benefits: </a:t>
            </a:r>
            <a:r>
              <a:rPr sz="1700" b="0">
                <a:solidFill>
                  <a:srgbClr val="1F2A44"/>
                </a:solidFill>
                <a:latin typeface="Arial"/>
                <a:ea typeface="Microsoft YaHei"/>
              </a:rPr>
              <a:t>In the US, many people stay for health insurance. In the UK and EU, it is more often about pensions, contracts and notice periods.</a:t>
            </a:r>
          </a:p>
        </p:txBody>
      </p:sp>
      <p:sp>
        <p:nvSpPr>
          <p:cNvPr id="21" name="Rounded Rectangle 20"/>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讨论“稳定 vs 成长”时用 “On the one hand… on the other hand…”。和上司谈话时,不要威胁离职,而是提出具体想要的东西(新项目、培训)。</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reasons for and against staying in a job.</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my own career comfort zone honestly and tactfully.</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would rather and the more… the more… correctly.</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have a constructive “stay or go” conversation with a manager.</a:t>
            </a:r>
          </a:p>
        </p:txBody>
      </p:sp>
      <p:sp>
        <p:nvSpPr>
          <p:cNvPr id="24" name="TextBox 23"/>
          <p:cNvSpPr txBox="1"/>
          <p:nvPr/>
        </p:nvSpPr>
        <p:spPr>
          <a:xfrm>
            <a:off x="9539935" y="36057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07 Job Hugging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would rather, although / but, and -ing after prepositions.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 · Lesson 08 Quit Your Job but Save Your Career</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165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400" b="1">
                <a:solidFill>
                  <a:srgbClr val="FFFFFF"/>
                </a:solidFill>
                <a:latin typeface="Arial"/>
                <a:ea typeface="Microsoft YaHei"/>
              </a:rPr>
              <a:t>Quit Your Job but Save Your Career</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辞掉工作但保住职业生涯</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resign professionally: give notice, write a short resignation letter, handle the conversation, and leave with your reputation and relationships intact.</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849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Have you ever resigned from a job? How did you tell your manager?</a:t>
            </a:r>
          </a:p>
        </p:txBody>
      </p:sp>
      <p:sp>
        <p:nvSpPr>
          <p:cNvPr id="12" name="Oval 11"/>
          <p:cNvSpPr/>
          <p:nvPr/>
        </p:nvSpPr>
        <p:spPr>
          <a:xfrm>
            <a:off x="548640" y="225856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2808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2808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should you never do when you leave a job?</a:t>
            </a:r>
          </a:p>
        </p:txBody>
      </p:sp>
      <p:sp>
        <p:nvSpPr>
          <p:cNvPr id="15" name="Oval 14"/>
          <p:cNvSpPr/>
          <p:nvPr/>
        </p:nvSpPr>
        <p:spPr>
          <a:xfrm>
            <a:off x="548640" y="309981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01696"/>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01696"/>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much notice should you give? Does it depend on the country or the role?</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Would you tell your manager the real reason for leaving? Why or why not?</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can you leave on good terms even when you are unhappy?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第 1 题用过去式。第 4 题用 would 回答。注意 resign from + 职位/公司,quit + 工作(口语)。on good terms = 关系良好地。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you would resign from a job so that you protect your reputation.</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tell your manager first</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write a short letter</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hand over carefully</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stay positive until the last day</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first thing I’d do is…   💬 I’d make sure to…   💬 Even if I’m unhappy, I wouldn’t…</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“protect your reputation” 保护声誉。常用结构:make sure to + 动词原形,以及 “Even if…, I wouldn’t…”(让步 + 条件)。</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Leaving Well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People remember how you leave a job almost as clearly as how you worked in it. Industries are smaller than they look, and a former boss may become a future client, a reference or a decision-maker in a company you want to join. So resign carefully. Tell your manager in person or by video call before you tell your colleagues, and keep the message short, clear and polite. Follow up with a brief letter that confirms the date of your last day; there is no need to list every complaint. Offer to help with the handover, and mean it. A tidy set of notes will protect your reputation more than any speech. Be professional right up to the final afternoon, even if you feel the urge to relax. Finally, say thank you, because kindness at the end is what people recall.</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does it matter how you leave a job?</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Industries are small, and a former boss may become a reference, client or decision-maker later.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Who should hear the news first?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Your manager, in person or by video call, before colleagues.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does the writer say protects your reputation more than a speech?</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tidy set of handover notes.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Resigning professionally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专业地辞职</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hand in / submit your resignation</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递交辞呈</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handed in her resignation on Monday.”</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notice period</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通知期</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notice period is one month.”</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resignation letter</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辞职信</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“Keep your resignation letter short and polite.”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last day</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最后一个工作日</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last day will be 30 June.”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reference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推荐人</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manager agreed to be a reference.”</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counteroffer</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挽留条件(加薪等)</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turned down the counteroffer and left.”</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Protecting your reputation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维护声誉</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leave on good terms</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好聚好散</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left on good terms and still meet my old team.”</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burn your bridges</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断绝后路</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burn your bridges when you leave.”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tie up loose ends</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处理遗留事项</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spent my last week tying up loose ends.”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step down</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辞去(职位)</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stepped down as head of marketing.”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part ways (with)</a:t>
            </a:r>
          </a:p>
          <a:p>
            <a:pPr algn="l">
              <a:lnSpc>
                <a:spcPct val="115000"/>
              </a:lnSpc>
              <a:spcAft>
                <a:spcPts val="800"/>
              </a:spcAft>
            </a:pPr>
            <a:r>
              <a:rPr sz="1300" b="0">
                <a:solidFill>
                  <a:srgbClr val="5F677A"/>
                </a:solidFill>
                <a:latin typeface="Arial"/>
                <a:ea typeface="Microsoft YaHei"/>
              </a:rPr>
              <a:t>phrasal</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分道扬镳</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and its CEO agreed to part ways.”</a:t>
            </a:r>
          </a:p>
        </p:txBody>
      </p:sp>
      <p:sp>
        <p:nvSpPr>
          <p:cNvPr id="34" name="Rounded Rectangle 33"/>
          <p:cNvSpPr/>
          <p:nvPr/>
        </p:nvSpPr>
        <p:spPr>
          <a:xfrm>
            <a:off x="548640" y="49352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give someone a heads-up</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49809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提前通知某人</a:t>
            </a:r>
          </a:p>
        </p:txBody>
      </p:sp>
      <p:sp>
        <p:nvSpPr>
          <p:cNvPr id="38" name="TextBox 37"/>
          <p:cNvSpPr txBox="1"/>
          <p:nvPr/>
        </p:nvSpPr>
        <p:spPr>
          <a:xfrm>
            <a:off x="6675120" y="49809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gave my manager a heads-up before sending the email.”</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提前通知某人</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give someone a heads-up</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好聚好散</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leave on good terms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通知期</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notice period</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挽留条件(加薪等)</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counteroffer</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辞职信</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resignation letter</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最后一个工作日</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last day</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递交辞呈</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hand in / submit your resignation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断绝后路</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 your bridges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notice</a:t>
            </a:r>
          </a:p>
        </p:txBody>
      </p:sp>
      <p:sp>
        <p:nvSpPr>
          <p:cNvPr id="10" name="Rounded Rectangle 9"/>
          <p:cNvSpPr/>
          <p:nvPr/>
        </p:nvSpPr>
        <p:spPr>
          <a:xfrm>
            <a:off x="3127248" y="987552"/>
            <a:ext cx="1572767"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resignation</a:t>
            </a:r>
          </a:p>
        </p:txBody>
      </p:sp>
      <p:sp>
        <p:nvSpPr>
          <p:cNvPr id="11" name="Rounded Rectangle 10"/>
          <p:cNvSpPr/>
          <p:nvPr/>
        </p:nvSpPr>
        <p:spPr>
          <a:xfrm>
            <a:off x="4791455" y="987552"/>
            <a:ext cx="1682495"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counteroffer</a:t>
            </a:r>
          </a:p>
        </p:txBody>
      </p:sp>
      <p:sp>
        <p:nvSpPr>
          <p:cNvPr id="12" name="Rounded Rectangle 11"/>
          <p:cNvSpPr/>
          <p:nvPr/>
        </p:nvSpPr>
        <p:spPr>
          <a:xfrm>
            <a:off x="6565390"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bridges</a:t>
            </a:r>
          </a:p>
        </p:txBody>
      </p:sp>
      <p:sp>
        <p:nvSpPr>
          <p:cNvPr id="13" name="Rounded Rectangle 12"/>
          <p:cNvSpPr/>
          <p:nvPr/>
        </p:nvSpPr>
        <p:spPr>
          <a:xfrm>
            <a:off x="7790686"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loose ends</a:t>
            </a:r>
          </a:p>
        </p:txBody>
      </p:sp>
      <p:sp>
        <p:nvSpPr>
          <p:cNvPr id="14" name="Rounded Rectangle 13"/>
          <p:cNvSpPr/>
          <p:nvPr/>
        </p:nvSpPr>
        <p:spPr>
          <a:xfrm>
            <a:off x="9345166"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heads-up</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My _______ period is one month.</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notice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She handed in her _______ on Monday.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resignation</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He turned down the _______ and left anyway.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counteroffer</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Don’t burn your _______ when you leave.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bridges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In my last week, I tied up all the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loose ends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 gave my manager a _______ before I sent the email.</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heads-up</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resignation (not “resignition”), reference (not “referance”), colleague (not “colleage”). Burn your bridges is plural; tie up loose ends is plural. Resign is followed by from: “resign from my position”.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Handing in your resignation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递交辞呈</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have accepted an offer at another company. You meet your manager, Alice, to hand in your resignation.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Kevin Liu, project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Alice Grant, department head</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Handing in your resignation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Kevin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Alice, have you got a few minutes? There’s something I’d like to discuss in private.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Alice</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Let’s use the small meeting room. What’s on your mind?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get straight to the point. I’ve decided to resign. I’ve accepted a position at another company.</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I’m sorry to hear that. May I ask what led to the decision?</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Handing in your resignation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was a difficult decision. I’ve learned a lot here, but this role gives me the chance to lead a larger team.</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If we offered you a new role, would you reconsider?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that means a lot. But I’ve already thought it through carefully, and my decision is final.</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Okay. What’s your notice period, and when would you like your last day to be?</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Handing in your resignation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one month, so my last day would be the thirtieth. I’m happy to put everything in writing today.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Could you prepare a handover plan for the Singapore project?</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Absolutely. I’ll finish it by next Friday, and I’ll train whoever takes over.</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appreciate that, Kevin. You’ve done excellent work here, and I’d be glad to be a reference.</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Handing in your resignation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 employee resigns from a job to a manager.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The job you are leaving and why (briefly):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Surprised, but professional.</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resign · notice period · hand over · last day · leave on good terms · reference</a:t>
            </a:r>
          </a:p>
        </p:txBody>
      </p:sp>
      <p:sp>
        <p:nvSpPr>
          <p:cNvPr id="16" name="Rounded Rectangle 15"/>
          <p:cNvSpPr/>
          <p:nvPr/>
        </p:nvSpPr>
        <p:spPr>
          <a:xfrm>
            <a:off x="548640" y="325221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Say clearly that you are leaving, give the date, offer a handover, and stay positive.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Alice makes a counteroffer: a 15% raise. Decline politely without criticising the company.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Alice asks: “Was it something we did?” Answer honestly but tactfully, in two sentences.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your two-sentence resignation email. Include the date and a thank-you.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975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9296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right way to tell a manager you are leaving? In person, email or both?</a:t>
            </a:r>
          </a:p>
          <a:p>
            <a:pPr algn="l">
              <a:lnSpc>
                <a:spcPct val="115000"/>
              </a:lnSpc>
              <a:spcAft>
                <a:spcPts val="800"/>
              </a:spcAft>
            </a:pPr>
            <a:r>
              <a:rPr sz="1400" b="0">
                <a:solidFill>
                  <a:srgbClr val="5F677A"/>
                </a:solidFill>
                <a:latin typeface="Arial"/>
                <a:ea typeface="Microsoft YaHei"/>
              </a:rPr>
              <a:t>💬 “I’d tell them in person first and then confirm by email because…”</a:t>
            </a:r>
          </a:p>
        </p:txBody>
      </p:sp>
      <p:sp>
        <p:nvSpPr>
          <p:cNvPr id="12" name="Oval 11"/>
          <p:cNvSpPr/>
          <p:nvPr/>
        </p:nvSpPr>
        <p:spPr>
          <a:xfrm>
            <a:off x="548640" y="262128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755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12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you tell your boss the real reason you are leaving?</a:t>
            </a:r>
          </a:p>
          <a:p>
            <a:pPr algn="l">
              <a:lnSpc>
                <a:spcPct val="115000"/>
              </a:lnSpc>
              <a:spcAft>
                <a:spcPts val="800"/>
              </a:spcAft>
            </a:pPr>
            <a:r>
              <a:rPr sz="1400" b="0">
                <a:solidFill>
                  <a:srgbClr val="5F677A"/>
                </a:solidFill>
                <a:latin typeface="Arial"/>
                <a:ea typeface="Microsoft YaHei"/>
              </a:rPr>
              <a:t>💬 “I’d give a positive reason such as…” / “If asked directly, I’d say…”</a:t>
            </a:r>
          </a:p>
        </p:txBody>
      </p:sp>
      <p:sp>
        <p:nvSpPr>
          <p:cNvPr id="15" name="Oval 14"/>
          <p:cNvSpPr/>
          <p:nvPr/>
        </p:nvSpPr>
        <p:spPr>
          <a:xfrm>
            <a:off x="548640" y="339852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528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985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dangers of leaving angrily or posting complaints online?</a:t>
            </a:r>
          </a:p>
          <a:p>
            <a:pPr algn="l">
              <a:lnSpc>
                <a:spcPct val="115000"/>
              </a:lnSpc>
              <a:spcAft>
                <a:spcPts val="800"/>
              </a:spcAft>
            </a:pPr>
            <a:r>
              <a:rPr sz="1400" b="0">
                <a:solidFill>
                  <a:srgbClr val="5F677A"/>
                </a:solidFill>
                <a:latin typeface="Arial"/>
                <a:ea typeface="Microsoft YaHei"/>
              </a:rPr>
              <a:t>💬 “It might damage… because…” / “Even if you feel…, it’s not worth…”</a:t>
            </a:r>
          </a:p>
        </p:txBody>
      </p:sp>
      <p:sp>
        <p:nvSpPr>
          <p:cNvPr id="18" name="Oval 17"/>
          <p:cNvSpPr/>
          <p:nvPr/>
        </p:nvSpPr>
        <p:spPr>
          <a:xfrm>
            <a:off x="548640" y="417576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1300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1757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When might a counteroffer be tempting? Is it a good idea?</a:t>
            </a:r>
          </a:p>
          <a:p>
            <a:pPr algn="l">
              <a:lnSpc>
                <a:spcPct val="115000"/>
              </a:lnSpc>
              <a:spcAft>
                <a:spcPts val="800"/>
              </a:spcAft>
            </a:pPr>
            <a:r>
              <a:rPr sz="1400" b="0">
                <a:solidFill>
                  <a:srgbClr val="5F677A"/>
                </a:solidFill>
                <a:latin typeface="Arial"/>
                <a:ea typeface="Microsoft YaHei"/>
              </a:rPr>
              <a:t>💬 “It would be tempting if…” / “In my experience, people who accept it often…”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counteroffer can be tempting if you were mainly unhappy about pay. But in my experience, if the real problem is something else, such as lack of growth or a poor relationship with the manager, extra money won’t solve it. Also, once you have said you want to leave, the relationship may change. I’d accept only if the company also addressed the real reason and put it in writing.</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“address the problem” = 着手解决问题。”in my experience” 用来引出个人经验。 “put it in writing” = 书面确认。tempting = 诱人的。</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 quit.</a:t>
                      </a:r>
                    </a:p>
                  </a:txBody>
                  <a:tcPr anchor="ctr">
                    <a:solidFill>
                      <a:srgbClr val="FFFFFF"/>
                    </a:solidFill>
                  </a:tcPr>
                </a:tc>
                <a:tc>
                  <a:txBody>
                    <a:bodyPr wrap="square"/>
                    <a:lstStyle/>
                    <a:p>
                      <a:r>
                        <a:rPr sz="1600" b="0">
                          <a:solidFill>
                            <a:srgbClr val="1F2A44"/>
                          </a:solidFill>
                          <a:latin typeface="Arial"/>
                          <a:ea typeface="Microsoft YaHei"/>
                        </a:rPr>
                        <a:t>I’ve decided to resign from my position.</a:t>
                      </a:r>
                    </a:p>
                  </a:txBody>
                  <a:tcPr anchor="ctr">
                    <a:solidFill>
                      <a:srgbClr val="FFFFFF"/>
                    </a:solidFill>
                  </a:tcPr>
                </a:tc>
                <a:tc>
                  <a:txBody>
                    <a:bodyPr wrap="square"/>
                    <a:lstStyle/>
                    <a:p>
                      <a:r>
                        <a:rPr sz="1600" b="0">
                          <a:solidFill>
                            <a:srgbClr val="FF6B5B"/>
                          </a:solidFill>
                          <a:latin typeface="Arial"/>
                          <a:ea typeface="Microsoft YaHei"/>
                        </a:rPr>
                        <a:t>quit 偏口语,resign 更正式</a:t>
                      </a:r>
                    </a:p>
                  </a:txBody>
                  <a:tcPr anchor="ctr">
                    <a:solidFill>
                      <a:srgbClr val="FFFFFF"/>
                    </a:solidFill>
                  </a:tcPr>
                </a:tc>
              </a:tr>
              <a:tr h="652272">
                <a:tc>
                  <a:txBody>
                    <a:bodyPr wrap="square"/>
                    <a:lstStyle/>
                    <a:p>
                      <a:r>
                        <a:rPr sz="1600" b="1">
                          <a:solidFill>
                            <a:srgbClr val="1F2A44"/>
                          </a:solidFill>
                          <a:latin typeface="Arial"/>
                          <a:ea typeface="Microsoft YaHei"/>
                        </a:rPr>
                        <a:t>I’m leaving because the boss is bad.</a:t>
                      </a:r>
                    </a:p>
                  </a:txBody>
                  <a:tcPr anchor="ctr">
                    <a:solidFill>
                      <a:srgbClr val="FFEFD9"/>
                    </a:solidFill>
                  </a:tcPr>
                </a:tc>
                <a:tc>
                  <a:txBody>
                    <a:bodyPr wrap="square"/>
                    <a:lstStyle/>
                    <a:p>
                      <a:r>
                        <a:rPr sz="1600" b="0">
                          <a:solidFill>
                            <a:srgbClr val="1F2A44"/>
                          </a:solidFill>
                          <a:latin typeface="Arial"/>
                          <a:ea typeface="Microsoft YaHei"/>
                        </a:rPr>
                        <a:t>I feel it’s time for a new challenge.</a:t>
                      </a:r>
                    </a:p>
                  </a:txBody>
                  <a:tcPr anchor="ctr">
                    <a:solidFill>
                      <a:srgbClr val="FFEFD9"/>
                    </a:solidFill>
                  </a:tcPr>
                </a:tc>
                <a:tc>
                  <a:txBody>
                    <a:bodyPr wrap="square"/>
                    <a:lstStyle/>
                    <a:p>
                      <a:r>
                        <a:rPr sz="1600" b="0">
                          <a:solidFill>
                            <a:srgbClr val="FF6B5B"/>
                          </a:solidFill>
                          <a:latin typeface="Arial"/>
                          <a:ea typeface="Microsoft YaHei"/>
                        </a:rPr>
                        <a:t>避免批评</a:t>
                      </a:r>
                    </a:p>
                  </a:txBody>
                  <a:tcPr anchor="ctr">
                    <a:solidFill>
                      <a:srgbClr val="FFEFD9"/>
                    </a:solidFill>
                  </a:tcPr>
                </a:tc>
              </a:tr>
              <a:tr h="408432">
                <a:tc>
                  <a:txBody>
                    <a:bodyPr wrap="square"/>
                    <a:lstStyle/>
                    <a:p>
                      <a:r>
                        <a:rPr sz="1600" b="1">
                          <a:solidFill>
                            <a:srgbClr val="1F2A44"/>
                          </a:solidFill>
                          <a:latin typeface="Arial"/>
                          <a:ea typeface="Microsoft YaHei"/>
                        </a:rPr>
                        <a:t>I’ll leave on 30 June.</a:t>
                      </a:r>
                    </a:p>
                  </a:txBody>
                  <a:tcPr anchor="ctr">
                    <a:solidFill>
                      <a:srgbClr val="FFFFFF"/>
                    </a:solidFill>
                  </a:tcPr>
                </a:tc>
                <a:tc>
                  <a:txBody>
                    <a:bodyPr wrap="square"/>
                    <a:lstStyle/>
                    <a:p>
                      <a:r>
                        <a:rPr sz="1600" b="0">
                          <a:solidFill>
                            <a:srgbClr val="1F2A44"/>
                          </a:solidFill>
                          <a:latin typeface="Arial"/>
                          <a:ea typeface="Microsoft YaHei"/>
                        </a:rPr>
                        <a:t>My last day will be 30 June.</a:t>
                      </a:r>
                    </a:p>
                  </a:txBody>
                  <a:tcPr anchor="ctr">
                    <a:solidFill>
                      <a:srgbClr val="FFFFFF"/>
                    </a:solidFill>
                  </a:tcPr>
                </a:tc>
                <a:tc>
                  <a:txBody>
                    <a:bodyPr wrap="square"/>
                    <a:lstStyle/>
                    <a:p>
                      <a:r>
                        <a:rPr sz="1600" b="0">
                          <a:solidFill>
                            <a:srgbClr val="FF6B5B"/>
                          </a:solidFill>
                          <a:latin typeface="Arial"/>
                          <a:ea typeface="Microsoft YaHei"/>
                        </a:rPr>
                        <a:t>明确日期</a:t>
                      </a:r>
                    </a:p>
                  </a:txBody>
                  <a:tcPr anchor="ctr">
                    <a:solidFill>
                      <a:srgbClr val="FFFFFF"/>
                    </a:solidFill>
                  </a:tcPr>
                </a:tc>
              </a:tr>
              <a:tr h="652272">
                <a:tc>
                  <a:txBody>
                    <a:bodyPr wrap="square"/>
                    <a:lstStyle/>
                    <a:p>
                      <a:r>
                        <a:rPr sz="1600" b="1">
                          <a:solidFill>
                            <a:srgbClr val="1F2A44"/>
                          </a:solidFill>
                          <a:latin typeface="Arial"/>
                          <a:ea typeface="Microsoft YaHei"/>
                        </a:rPr>
                        <a:t>Don’t worry, I’ll tell the new person.</a:t>
                      </a:r>
                    </a:p>
                  </a:txBody>
                  <a:tcPr anchor="ctr">
                    <a:solidFill>
                      <a:srgbClr val="FFEFD9"/>
                    </a:solidFill>
                  </a:tcPr>
                </a:tc>
                <a:tc>
                  <a:txBody>
                    <a:bodyPr wrap="square"/>
                    <a:lstStyle/>
                    <a:p>
                      <a:r>
                        <a:rPr sz="1600" b="0">
                          <a:solidFill>
                            <a:srgbClr val="1F2A44"/>
                          </a:solidFill>
                          <a:latin typeface="Arial"/>
                          <a:ea typeface="Microsoft YaHei"/>
                        </a:rPr>
                        <a:t>I’ll make sure the handover is thorough.</a:t>
                      </a:r>
                    </a:p>
                  </a:txBody>
                  <a:tcPr anchor="ctr">
                    <a:solidFill>
                      <a:srgbClr val="FFEFD9"/>
                    </a:solidFill>
                  </a:tcPr>
                </a:tc>
                <a:tc>
                  <a:txBody>
                    <a:bodyPr wrap="square"/>
                    <a:lstStyle/>
                    <a:p>
                      <a:r>
                        <a:rPr sz="1600" b="0">
                          <a:solidFill>
                            <a:srgbClr val="FF6B5B"/>
                          </a:solidFill>
                          <a:latin typeface="Arial"/>
                          <a:ea typeface="Microsoft YaHei"/>
                        </a:rPr>
                        <a:t>专业的承诺</a:t>
                      </a:r>
                    </a:p>
                  </a:txBody>
                  <a:tcPr anchor="ctr">
                    <a:solidFill>
                      <a:srgbClr val="FFEFD9"/>
                    </a:solidFill>
                  </a:tcPr>
                </a:tc>
              </a:tr>
              <a:tr h="652272">
                <a:tc>
                  <a:txBody>
                    <a:bodyPr wrap="square"/>
                    <a:lstStyle/>
                    <a:p>
                      <a:r>
                        <a:rPr sz="1600" b="1">
                          <a:solidFill>
                            <a:srgbClr val="1F2A44"/>
                          </a:solidFill>
                          <a:latin typeface="Arial"/>
                          <a:ea typeface="Microsoft YaHei"/>
                        </a:rPr>
                        <a:t>I hate this place.</a:t>
                      </a:r>
                    </a:p>
                  </a:txBody>
                  <a:tcPr anchor="ctr">
                    <a:solidFill>
                      <a:srgbClr val="FFFFFF"/>
                    </a:solidFill>
                  </a:tcPr>
                </a:tc>
                <a:tc>
                  <a:txBody>
                    <a:bodyPr wrap="square"/>
                    <a:lstStyle/>
                    <a:p>
                      <a:r>
                        <a:rPr sz="1600" b="0">
                          <a:solidFill>
                            <a:srgbClr val="1F2A44"/>
                          </a:solidFill>
                          <a:latin typeface="Arial"/>
                          <a:ea typeface="Microsoft YaHei"/>
                        </a:rPr>
                        <a:t>It hasn’t been the right fit for me.</a:t>
                      </a:r>
                    </a:p>
                  </a:txBody>
                  <a:tcPr anchor="ctr">
                    <a:solidFill>
                      <a:srgbClr val="FFFFFF"/>
                    </a:solidFill>
                  </a:tcPr>
                </a:tc>
                <a:tc>
                  <a:txBody>
                    <a:bodyPr wrap="square"/>
                    <a:lstStyle/>
                    <a:p>
                      <a:r>
                        <a:rPr sz="1600" b="0">
                          <a:solidFill>
                            <a:srgbClr val="FF6B5B"/>
                          </a:solidFill>
                          <a:latin typeface="Arial"/>
                          <a:ea typeface="Microsoft YaHei"/>
                        </a:rPr>
                        <a:t>不批评,仅表达不适合</a:t>
                      </a:r>
                    </a:p>
                  </a:txBody>
                  <a:tcPr anchor="ctr">
                    <a:solidFill>
                      <a:srgbClr val="FFFFFF"/>
                    </a:solidFill>
                  </a:tcPr>
                </a:tc>
              </a:tr>
            </a:tbl>
          </a:graphicData>
        </a:graphic>
      </p:graphicFrame>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960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96012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960120"/>
          </a:xfrm>
          <a:prstGeom prst="rect">
            <a:avLst/>
          </a:prstGeom>
          <a:noFill/>
        </p:spPr>
        <p:txBody>
          <a:bodyPr wrap="square" anchor="ctr">
            <a:spAutoFit/>
          </a:bodyPr>
          <a:lstStyle/>
          <a:p>
            <a:r>
              <a:rPr sz="1700" b="1">
                <a:solidFill>
                  <a:srgbClr val="FF6B5B"/>
                </a:solidFill>
                <a:latin typeface="Arial"/>
                <a:ea typeface="Microsoft YaHei"/>
              </a:rPr>
              <a:t>Announcing and promising: </a:t>
            </a:r>
            <a:r>
              <a:rPr sz="1700" b="0">
                <a:solidFill>
                  <a:srgbClr val="1F2A44"/>
                </a:solidFill>
                <a:latin typeface="Arial"/>
                <a:ea typeface="Microsoft YaHei"/>
              </a:rPr>
              <a:t>announce a decision with the present perfect or present continuous (“I’ve decided to resign”, “I’m leaving at the end of June”); make offers and promises with will (“I’ll finish the handover by Friday”).</a:t>
            </a:r>
          </a:p>
        </p:txBody>
      </p:sp>
      <p:sp>
        <p:nvSpPr>
          <p:cNvPr id="11" name="Rounded Rectangle 10"/>
          <p:cNvSpPr/>
          <p:nvPr/>
        </p:nvSpPr>
        <p:spPr>
          <a:xfrm>
            <a:off x="548640" y="246888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468880"/>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468880"/>
            <a:ext cx="10728655" cy="701039"/>
          </a:xfrm>
          <a:prstGeom prst="rect">
            <a:avLst/>
          </a:prstGeom>
          <a:noFill/>
        </p:spPr>
        <p:txBody>
          <a:bodyPr wrap="square" anchor="ctr">
            <a:spAutoFit/>
          </a:bodyPr>
          <a:lstStyle/>
          <a:p>
            <a:r>
              <a:rPr sz="1700" b="1">
                <a:solidFill>
                  <a:srgbClr val="4A90E2"/>
                </a:solidFill>
                <a:latin typeface="Arial"/>
                <a:ea typeface="Microsoft YaHei"/>
              </a:rPr>
              <a:t>Polite softeners: </a:t>
            </a:r>
            <a:r>
              <a:rPr sz="1700" b="0">
                <a:solidFill>
                  <a:srgbClr val="1F2A44"/>
                </a:solidFill>
                <a:latin typeface="Arial"/>
                <a:ea typeface="Microsoft YaHei"/>
              </a:rPr>
              <a:t>I’m afraid, unfortunately, I’d like to let you know that…. “I’m afraid I’ve decided to move on.”</a:t>
            </a:r>
          </a:p>
        </p:txBody>
      </p:sp>
      <p:sp>
        <p:nvSpPr>
          <p:cNvPr id="14" name="Rounded Rectangle 13"/>
          <p:cNvSpPr/>
          <p:nvPr/>
        </p:nvSpPr>
        <p:spPr>
          <a:xfrm>
            <a:off x="548640" y="326135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261359"/>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261359"/>
            <a:ext cx="10728655" cy="701039"/>
          </a:xfrm>
          <a:prstGeom prst="rect">
            <a:avLst/>
          </a:prstGeom>
          <a:noFill/>
        </p:spPr>
        <p:txBody>
          <a:bodyPr wrap="square" anchor="ctr">
            <a:spAutoFit/>
          </a:bodyPr>
          <a:lstStyle/>
          <a:p>
            <a:r>
              <a:rPr sz="1700" b="1">
                <a:solidFill>
                  <a:srgbClr val="3CC49A"/>
                </a:solidFill>
                <a:latin typeface="Arial"/>
                <a:ea typeface="Microsoft YaHei"/>
              </a:rPr>
              <a:t>Time expressions: </a:t>
            </a:r>
            <a:r>
              <a:rPr sz="1700" b="0">
                <a:solidFill>
                  <a:srgbClr val="1F2A44"/>
                </a:solidFill>
                <a:latin typeface="Arial"/>
                <a:ea typeface="Microsoft YaHei"/>
              </a:rPr>
              <a:t>by (before or on) next Friday vs until (continuing up to): “I’ll work until the 30th” / “I’ll finish this by the 30th.”</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Dates: </a:t>
            </a:r>
            <a:r>
              <a:rPr sz="1700" b="0">
                <a:solidFill>
                  <a:srgbClr val="1F2A44"/>
                </a:solidFill>
                <a:latin typeface="Arial"/>
                <a:ea typeface="Microsoft YaHei"/>
              </a:rPr>
              <a:t>UK: 30 June; US: June 30. Both are fine in writing; say it aloud as “the thirtieth of June” or “June thirtieth”.</a:t>
            </a:r>
          </a:p>
        </p:txBody>
      </p:sp>
      <p:sp>
        <p:nvSpPr>
          <p:cNvPr id="11" name="Rounded Rectangle 10"/>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Wording: </a:t>
            </a:r>
            <a:r>
              <a:rPr sz="1700" b="0">
                <a:solidFill>
                  <a:srgbClr val="1F2A44"/>
                </a:solidFill>
                <a:latin typeface="Arial"/>
                <a:ea typeface="Microsoft YaHei"/>
              </a:rPr>
              <a:t>“Resign from a post” · “hand in your notice” (UK) · “give notice” (US) · “put in your two weeks” (US informal).</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resign my job.</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resign from my job. / I want to quit my job.</a:t>
            </a:r>
          </a:p>
          <a:p>
            <a:pPr algn="l">
              <a:spcAft>
                <a:spcPts val="200"/>
              </a:spcAft>
            </a:pPr>
            <a:r>
              <a:rPr sz="1200" b="0">
                <a:solidFill>
                  <a:srgbClr val="FFFFFF"/>
                </a:solidFill>
                <a:latin typeface="Arial"/>
                <a:ea typeface="Microsoft YaHei"/>
              </a:rPr>
              <a:t>resign from</a:t>
            </a:r>
          </a:p>
        </p:txBody>
      </p:sp>
      <p:sp>
        <p:nvSpPr>
          <p:cNvPr id="11" name="Rounded Rectangle 10"/>
          <p:cNvSpPr/>
          <p:nvPr/>
        </p:nvSpPr>
        <p:spPr>
          <a:xfrm>
            <a:off x="548640" y="240791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leave until 30 June.</a:t>
            </a:r>
          </a:p>
        </p:txBody>
      </p:sp>
      <p:sp>
        <p:nvSpPr>
          <p:cNvPr id="12" name="Rounded Rectangle 11"/>
          <p:cNvSpPr/>
          <p:nvPr/>
        </p:nvSpPr>
        <p:spPr>
          <a:xfrm>
            <a:off x="6187287" y="240791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will stay until 30 June. / I will leave on 30 June.</a:t>
            </a:r>
          </a:p>
          <a:p>
            <a:pPr algn="l">
              <a:spcAft>
                <a:spcPts val="200"/>
              </a:spcAft>
            </a:pPr>
            <a:r>
              <a:rPr sz="1200" b="0">
                <a:solidFill>
                  <a:srgbClr val="FFFFFF"/>
                </a:solidFill>
                <a:latin typeface="Arial"/>
                <a:ea typeface="Microsoft YaHei"/>
              </a:rPr>
              <a:t>until 表示持续到;leave on 具体日期</a:t>
            </a:r>
          </a:p>
        </p:txBody>
      </p:sp>
      <p:sp>
        <p:nvSpPr>
          <p:cNvPr id="13" name="Rounded Rectangle 12"/>
          <p:cNvSpPr/>
          <p:nvPr/>
        </p:nvSpPr>
        <p:spPr>
          <a:xfrm>
            <a:off x="548640" y="335279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sorry to tell you I leave.</a:t>
            </a:r>
          </a:p>
        </p:txBody>
      </p:sp>
      <p:sp>
        <p:nvSpPr>
          <p:cNvPr id="14" name="Rounded Rectangle 13"/>
          <p:cNvSpPr/>
          <p:nvPr/>
        </p:nvSpPr>
        <p:spPr>
          <a:xfrm>
            <a:off x="6187287" y="335279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afraid I’m leaving. / I’m sorry to say I’ve decided to leave.</a:t>
            </a:r>
          </a:p>
          <a:p>
            <a:pPr algn="l">
              <a:spcAft>
                <a:spcPts val="200"/>
              </a:spcAft>
            </a:pPr>
            <a:r>
              <a:rPr sz="1200" b="0">
                <a:solidFill>
                  <a:srgbClr val="FFFFFF"/>
                </a:solidFill>
                <a:latin typeface="Arial"/>
                <a:ea typeface="Microsoft YaHei"/>
              </a:rPr>
              <a:t>用进行时或完成时表示决定</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a resign letter.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a resignation letter.</a:t>
            </a:r>
          </a:p>
          <a:p>
            <a:pPr algn="l">
              <a:spcAft>
                <a:spcPts val="200"/>
              </a:spcAft>
            </a:pPr>
            <a:r>
              <a:rPr sz="1200" b="0">
                <a:solidFill>
                  <a:srgbClr val="FFFFFF"/>
                </a:solidFill>
                <a:latin typeface="Arial"/>
                <a:ea typeface="Microsoft YaHei"/>
              </a:rPr>
              <a:t>resign 是动词,resignation 是名词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let me to know.</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let me know.</a:t>
            </a:r>
          </a:p>
          <a:p>
            <a:pPr algn="l">
              <a:spcAft>
                <a:spcPts val="200"/>
              </a:spcAft>
            </a:pPr>
            <a:r>
              <a:rPr sz="1200" b="0">
                <a:solidFill>
                  <a:srgbClr val="FFFFFF"/>
                </a:solidFill>
                <a:latin typeface="Arial"/>
                <a:ea typeface="Microsoft YaHei"/>
              </a:rPr>
              <a:t>let + 宾语 + 动词原形(不带 to)</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thank you for your guidance in the past 3 years.</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your guidance over the past three years.</a:t>
            </a:r>
          </a:p>
          <a:p>
            <a:pPr algn="l">
              <a:spcAft>
                <a:spcPts val="200"/>
              </a:spcAft>
            </a:pPr>
            <a:r>
              <a:rPr sz="1200" b="0">
                <a:solidFill>
                  <a:srgbClr val="FFFFFF"/>
                </a:solidFill>
                <a:latin typeface="Arial"/>
                <a:ea typeface="Microsoft YaHei"/>
              </a:rPr>
              <a:t>over the past + 时间段</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by / until, prepositions (resign from) and over the past three years with the present perfect.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No need to explain in detail. In the UK and US, a short, polite reason is enough. You don’t have to justify yourself at length.</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Notice: </a:t>
            </a:r>
            <a:r>
              <a:rPr sz="1700" b="0">
                <a:solidFill>
                  <a:srgbClr val="1F2A44"/>
                </a:solidFill>
                <a:latin typeface="Arial"/>
                <a:ea typeface="Microsoft YaHei"/>
              </a:rPr>
              <a:t>Check your contract. One month is typical in the UK; two weeks is common in the US, although this is custom, not always law.</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Social media: </a:t>
            </a:r>
            <a:r>
              <a:rPr sz="1700" b="0">
                <a:solidFill>
                  <a:srgbClr val="1F2A44"/>
                </a:solidFill>
                <a:latin typeface="Arial"/>
                <a:ea typeface="Microsoft YaHei"/>
              </a:rPr>
              <a:t>Do not post complaints about your employer. Recruiters search online, and screenshots last forever.</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1">
                <a:solidFill>
                  <a:srgbClr val="FFC857"/>
                </a:solidFill>
                <a:latin typeface="Arial"/>
                <a:ea typeface="Microsoft YaHei"/>
              </a:rPr>
              <a:t>References: </a:t>
            </a:r>
            <a:r>
              <a:rPr sz="1700" b="0">
                <a:solidFill>
                  <a:srgbClr val="1F2A44"/>
                </a:solidFill>
                <a:latin typeface="Arial"/>
                <a:ea typeface="Microsoft YaHei"/>
              </a:rPr>
              <a:t>It is normal to ask your manager to act as a reference before you leave. Ask in a friendly way: “Would you be willing to act as a reference?”</a:t>
            </a:r>
          </a:p>
        </p:txBody>
      </p:sp>
      <p:sp>
        <p:nvSpPr>
          <p:cNvPr id="21" name="Rounded Rectangle 20"/>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辞职时语气要冷静、简短,不要列举抱怨。离职后的评价(reference)往往决定下一份工作,所以交接和告别很重要。</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resign politely and clearly.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a reason for leaving without criticising anyone.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offer and discuss a handover plan.</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by / until and resign from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08 Quit Your Job but Save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by / until, resign from, and over the past + period with the present perfect.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 · Lesson 09 Exit Interviews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189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Exit Interviews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离职面谈</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take part in an exit interview: give honest but constructive feedback, answer typical HR questions, and stay professional.</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Have you ever had an exit interview? If not, what do you imagine it is like?</a:t>
            </a:r>
          </a:p>
        </p:txBody>
      </p:sp>
      <p:sp>
        <p:nvSpPr>
          <p:cNvPr id="12" name="Oval 11"/>
          <p:cNvSpPr/>
          <p:nvPr/>
        </p:nvSpPr>
        <p:spPr>
          <a:xfrm>
            <a:off x="548640" y="25938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Why do companies hold exit interviews?</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Would you be completely honest in an exit interview? Why or why not?</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feedback would you give about your current company if you were leaving?</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can you criticise something without sounding negative?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第 1 题:现在完成时(Have you ever…?)。第 4 题用第二条件句 “If I were leaving, I’d say…”。constructive criticism = 建设性批评。</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Imagine you are leaving your company. Give honest feedback in a constructive way.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worked well</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one thing to improve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a suggestion</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thanks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One thing I really valued was…   💬 If I could change one thing, it would be…   💬 It might help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先肯定、再建议:“sandwich” 反馈法(好处—改进—好处)。”If I could change one thing, it would be…” 是很实用的句型。</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Reading · The Last Honest Conversation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An exit interview is usually a short chat with someone from HR, held in your final week. The company wants to know why you are leaving and what it could do better. The conversation is often more valuable to the company than to you, which is why many people feel unsure how frank to be. Most career experts advise being honest but measured. Focus on facts and patterns, not on personalities. Instead of saying “My manager is useless,” try: “I would have liked clearer feedback and more regular one-to-ones.” Mention what you appreciated as well, because that makes your criticism easier to hear. Avoid speaking in anger, and remember that anything you say may end up in a report. If the company really wants to learn, it will take a calm, specific comment more seriously than a long list of complaints.</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Who normally holds an exit interview, and when?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Someone from HR, usually in your final week.</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does the writer advise instead of saying “My manager is useless”?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Make a specific, polite comment, such as wanting clearer feedback and more regular one-to-ones.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mention things you appreciated?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makes your criticism easier for the company to hear.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Exit interview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离职面谈用语</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exit interview</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离职面谈</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“HR invited me to an exit interview on my last Thursday.”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feedback</a:t>
            </a:r>
          </a:p>
          <a:p>
            <a:pPr algn="l">
              <a:lnSpc>
                <a:spcPct val="115000"/>
              </a:lnSpc>
              <a:spcAft>
                <a:spcPts val="800"/>
              </a:spcAft>
            </a:pPr>
            <a:r>
              <a:rPr sz="1300" b="0">
                <a:solidFill>
                  <a:srgbClr val="5F677A"/>
                </a:solidFill>
                <a:latin typeface="Arial"/>
                <a:ea typeface="Microsoft YaHei"/>
              </a:rPr>
              <a:t>noun (uncountable)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反馈</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give you some feedback on my experience.”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constructive criticism</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建设性批评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“Constructive criticism helps the company to improve.”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career development</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职业发展</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 were few opportunities for career development.”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work-life balance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工作与生活的平衡</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long hours affected my work-life balance.”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appreciate</a:t>
            </a:r>
          </a:p>
          <a:p>
            <a:pPr algn="l">
              <a:lnSpc>
                <a:spcPct val="115000"/>
              </a:lnSpc>
              <a:spcAft>
                <a:spcPts val="800"/>
              </a:spcAft>
            </a:pPr>
            <a:r>
              <a:rPr sz="1300" b="0">
                <a:solidFill>
                  <a:srgbClr val="5F677A"/>
                </a:solidFill>
                <a:latin typeface="Arial"/>
                <a:ea typeface="Microsoft YaHei"/>
              </a:rPr>
              <a:t>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感激,重视</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really appreciated the flexibility the team offered.”</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Chunk 2: Giving honest but diplomatic feedback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坦诚而得体的反馈</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 hindsight</a:t>
            </a:r>
          </a:p>
          <a:p>
            <a:pPr algn="l">
              <a:lnSpc>
                <a:spcPct val="115000"/>
              </a:lnSpc>
              <a:spcAft>
                <a:spcPts val="800"/>
              </a:spcAft>
            </a:pPr>
            <a:r>
              <a:rPr sz="1300" b="0">
                <a:solidFill>
                  <a:srgbClr val="5F677A"/>
                </a:solidFill>
                <a:latin typeface="Arial"/>
                <a:ea typeface="Microsoft YaHei"/>
              </a:rPr>
              <a:t>adverb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事后看来</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 hindsight, I should have raised my concerns earlier.”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to be fair</a:t>
            </a:r>
          </a:p>
          <a:p>
            <a:pPr algn="l">
              <a:lnSpc>
                <a:spcPct val="115000"/>
              </a:lnSpc>
              <a:spcAft>
                <a:spcPts val="800"/>
              </a:spcAft>
            </a:pPr>
            <a:r>
              <a:rPr sz="1300" b="0">
                <a:solidFill>
                  <a:srgbClr val="5F677A"/>
                </a:solidFill>
                <a:latin typeface="Arial"/>
                <a:ea typeface="Microsoft YaHei"/>
              </a:rPr>
              <a:t>discourse marker</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公平地说</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“To be fair, the company did try to improve things.”</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there is room for improvement</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还有改进空间</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think there is room for improvement in internal communication.”</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on the whole</a:t>
            </a:r>
          </a:p>
          <a:p>
            <a:pPr algn="l">
              <a:lnSpc>
                <a:spcPct val="115000"/>
              </a:lnSpc>
              <a:spcAft>
                <a:spcPts val="800"/>
              </a:spcAft>
            </a:pPr>
            <a:r>
              <a:rPr sz="1300" b="0">
                <a:solidFill>
                  <a:srgbClr val="5F677A"/>
                </a:solidFill>
                <a:latin typeface="Arial"/>
                <a:ea typeface="Microsoft YaHei"/>
              </a:rPr>
              <a:t>adverb 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总的来说</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 the whole, it was a positive experience.”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part of the reason</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部分原因</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“Part of the reason I’m leaving is the lack of progression.”</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speak candidly</a:t>
            </a:r>
          </a:p>
          <a:p>
            <a:pPr algn="l">
              <a:lnSpc>
                <a:spcPct val="115000"/>
              </a:lnSpc>
              <a:spcAft>
                <a:spcPts val="800"/>
              </a:spcAft>
            </a:pPr>
            <a:r>
              <a:rPr sz="1300" b="0">
                <a:solidFill>
                  <a:srgbClr val="5F677A"/>
                </a:solidFill>
                <a:latin typeface="Arial"/>
                <a:ea typeface="Microsoft YaHei"/>
              </a:rPr>
              <a:t>collocation</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坦率地说</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speak candidly: communication between teams could be better.”</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总的来说</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 the whole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事后看来</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 hindsight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反馈</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feedback</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职业发展</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career development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离职面谈</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exit interview</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公平地说</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 be fair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部分原因</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part of the reason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工作与生活的平衡</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work-life balance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feedback</a:t>
            </a:r>
          </a:p>
        </p:txBody>
      </p:sp>
      <p:sp>
        <p:nvSpPr>
          <p:cNvPr id="10" name="Rounded Rectangle 9"/>
          <p:cNvSpPr/>
          <p:nvPr/>
        </p:nvSpPr>
        <p:spPr>
          <a:xfrm>
            <a:off x="3346704" y="987552"/>
            <a:ext cx="1682495"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Constructive</a:t>
            </a:r>
          </a:p>
        </p:txBody>
      </p:sp>
      <p:sp>
        <p:nvSpPr>
          <p:cNvPr id="11" name="Rounded Rectangle 10"/>
          <p:cNvSpPr/>
          <p:nvPr/>
        </p:nvSpPr>
        <p:spPr>
          <a:xfrm>
            <a:off x="5120639"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balance</a:t>
            </a:r>
          </a:p>
        </p:txBody>
      </p:sp>
      <p:sp>
        <p:nvSpPr>
          <p:cNvPr id="12" name="Rounded Rectangle 11"/>
          <p:cNvSpPr/>
          <p:nvPr/>
        </p:nvSpPr>
        <p:spPr>
          <a:xfrm>
            <a:off x="6345935"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hindsight</a:t>
            </a:r>
          </a:p>
        </p:txBody>
      </p:sp>
      <p:sp>
        <p:nvSpPr>
          <p:cNvPr id="13" name="Rounded Rectangle 12"/>
          <p:cNvSpPr/>
          <p:nvPr/>
        </p:nvSpPr>
        <p:spPr>
          <a:xfrm>
            <a:off x="7790687"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fair</a:t>
            </a:r>
          </a:p>
        </p:txBody>
      </p:sp>
      <p:sp>
        <p:nvSpPr>
          <p:cNvPr id="14" name="Rounded Rectangle 13"/>
          <p:cNvSpPr/>
          <p:nvPr/>
        </p:nvSpPr>
        <p:spPr>
          <a:xfrm>
            <a:off x="8686799" y="987552"/>
            <a:ext cx="256032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room for improvement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I’d like to give you some _______ on my experience here.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feedback</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_______ criticism helps the company to improve.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Constructive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long hours affected my work-life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balance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In _______, I should have raised my concerns earlier.</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hindsight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To be _______, the company did try to improve things.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fair</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There is _______ in how we share information between teams.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room for improvement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拼写与语法): feedback is uncountable: some feedback, not “a feedback” or “feedbacks”. Also: appreciate (not “apreciate”), balance (not “ballance”), candidly (not “candidely”).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An exit interview with HR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与人力资源的离职面谈</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It is your last week. Rachel from HR holds an exit interview to learn why you are leaving.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Mei Ling, marketing executive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Rachel Brown, HR business partner</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An exit interview with HR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Mei Ling</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Rachel, thanks for inviting me.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Rachel</a:t>
            </a:r>
          </a:p>
        </p:txBody>
      </p:sp>
      <p:sp>
        <p:nvSpPr>
          <p:cNvPr id="13" name="Rounded Rectangle 12"/>
          <p:cNvSpPr/>
          <p:nvPr/>
        </p:nvSpPr>
        <p:spPr>
          <a:xfrm>
            <a:off x="2133295" y="1908048"/>
            <a:ext cx="8595360" cy="1069847"/>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coming, Mei Ling. This is a confidential chat. We’d just like to understand your experience and learn from it. Is that okay?</a:t>
            </a:r>
          </a:p>
        </p:txBody>
      </p:sp>
      <p:sp>
        <p:nvSpPr>
          <p:cNvPr id="14" name="Rounded Rectangle 13"/>
          <p:cNvSpPr/>
          <p:nvPr/>
        </p:nvSpPr>
        <p:spPr>
          <a:xfrm>
            <a:off x="548640" y="3069335"/>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7"/>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5"/>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I’m happy to share.</a:t>
            </a:r>
          </a:p>
        </p:txBody>
      </p:sp>
      <p:sp>
        <p:nvSpPr>
          <p:cNvPr id="17" name="Rounded Rectangle 16"/>
          <p:cNvSpPr/>
          <p:nvPr/>
        </p:nvSpPr>
        <p:spPr>
          <a:xfrm>
            <a:off x="10911535" y="3651503"/>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3"/>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start, what led you to look for a new role?</a:t>
            </a:r>
          </a:p>
        </p:txBody>
      </p:sp>
      <p:sp>
        <p:nvSpPr>
          <p:cNvPr id="20" name="Rounded Rectangle 19"/>
          <p:cNvSpPr/>
          <p:nvPr/>
        </p:nvSpPr>
        <p:spPr>
          <a:xfrm>
            <a:off x="548640" y="4233671"/>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1"/>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Part of the reason was career development. I didn’t see a clear path to the next level, and my team has been very stretched.</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An exit interview with HR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Was there anything that made you consider staying?</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be fair, I really enjoyed my colleagues and the creative freedom. On the whole, it’s been a very positive experience.</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good to hear. If you could change one thing about the company, what would it be?</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say communication between departments. Sometimes we only heard about big decisions when they were already announced. I think there’s room for improvement there.</a:t>
            </a:r>
          </a:p>
        </p:txBody>
      </p:sp>
      <p:sp>
        <p:nvSpPr>
          <p:cNvPr id="20" name="Rounded Rectangle 19"/>
          <p:cNvSpPr/>
          <p:nvPr/>
        </p:nvSpPr>
        <p:spPr>
          <a:xfrm>
            <a:off x="10911535" y="4812791"/>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525170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812791"/>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That’s useful. Would you recommend the company to a friend?</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An exit interview with HR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 would, especially for early-career people. I’d just mention the workload during busy periods.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Fair enough. Is there anything else you’d like to add?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Just a thank you to the team. I’ve learned a lot here.</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An exit interview with HR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take part in an exit interview with HR.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Leaving employee. Your reason for leaving: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 partner. Neutral, friendly, takes notes.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feedback · career development · work-life balance · to be fair · on the whole · room for improvement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one honest reason for leaving, one positive and one suggestion.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Rachel asks: “Was your manager part of the reason?” Give a diplomatic answer that avoids blaming anyone.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are very angry. Practise saying the same feedback in a calm, factual way.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are the HR partner. Ask five open questions in 60 seconds and use follow-ups like “Could you tell me more about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you be completely honest in an exit interview? What is the risk?</a:t>
            </a:r>
          </a:p>
          <a:p>
            <a:pPr algn="l">
              <a:lnSpc>
                <a:spcPct val="115000"/>
              </a:lnSpc>
              <a:spcAft>
                <a:spcPts val="800"/>
              </a:spcAft>
            </a:pPr>
            <a:r>
              <a:rPr sz="1400" b="0">
                <a:solidFill>
                  <a:srgbClr val="5F677A"/>
                </a:solidFill>
                <a:latin typeface="Arial"/>
                <a:ea typeface="Microsoft YaHei"/>
              </a:rPr>
              <a:t>💬 “I’d be honest but measured because…” / “The risk is that…”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could companies do with the information from exit interviews?</a:t>
            </a:r>
          </a:p>
          <a:p>
            <a:pPr algn="l">
              <a:lnSpc>
                <a:spcPct val="115000"/>
              </a:lnSpc>
              <a:spcAft>
                <a:spcPts val="800"/>
              </a:spcAft>
            </a:pPr>
            <a:r>
              <a:rPr sz="1400" b="0">
                <a:solidFill>
                  <a:srgbClr val="5F677A"/>
                </a:solidFill>
                <a:latin typeface="Arial"/>
                <a:ea typeface="Microsoft YaHei"/>
              </a:rPr>
              <a:t>💬 “They could use it to…” / “If many people mention…, they should…”</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recommend your current employer to a friend? Why or why not?</a:t>
            </a:r>
          </a:p>
          <a:p>
            <a:pPr algn="l">
              <a:lnSpc>
                <a:spcPct val="115000"/>
              </a:lnSpc>
              <a:spcAft>
                <a:spcPts val="800"/>
              </a:spcAft>
            </a:pPr>
            <a:r>
              <a:rPr sz="1400" b="0">
                <a:solidFill>
                  <a:srgbClr val="5F677A"/>
                </a:solidFill>
                <a:latin typeface="Arial"/>
                <a:ea typeface="Microsoft YaHei"/>
              </a:rPr>
              <a:t>💬 “I’d recommend it to someone who…” / “I’d hesitate to recommend it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for companies to hold “stay interviews” before people leave?</a:t>
            </a:r>
          </a:p>
          <a:p>
            <a:pPr algn="l">
              <a:lnSpc>
                <a:spcPct val="115000"/>
              </a:lnSpc>
              <a:spcAft>
                <a:spcPts val="800"/>
              </a:spcAft>
            </a:pPr>
            <a:r>
              <a:rPr sz="1400" b="0">
                <a:solidFill>
                  <a:srgbClr val="5F677A"/>
                </a:solidFill>
                <a:latin typeface="Arial"/>
                <a:ea typeface="Microsoft YaHei"/>
              </a:rPr>
              <a:t>💬 “That would help because…” / “People might be more open when…”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stay interviews are a great idea. In an exit interview, the person has already decided to leave, so it’s too late for the company to change much. A stay interview asks current employees what keeps them motivated and what would make them think about leaving. That way, the company can solve problems early. People might be more open when they feel the conversation could actually improve their situation.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stay interview = 留任面谈(了解在职员工想法)。”too late for… to…” 的结构要熟悉。”That way, …” 常用来说明结果。</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 don’t like my boss.</a:t>
                      </a:r>
                    </a:p>
                  </a:txBody>
                  <a:tcPr anchor="ctr">
                    <a:solidFill>
                      <a:srgbClr val="FFFFFF"/>
                    </a:solidFill>
                  </a:tcPr>
                </a:tc>
                <a:tc>
                  <a:txBody>
                    <a:bodyPr wrap="square"/>
                    <a:lstStyle/>
                    <a:p>
                      <a:r>
                        <a:rPr sz="1600" b="0">
                          <a:solidFill>
                            <a:srgbClr val="1F2A44"/>
                          </a:solidFill>
                          <a:latin typeface="Arial"/>
                          <a:ea typeface="Microsoft YaHei"/>
                        </a:rPr>
                        <a:t>I’d have liked more regular feedback and support from my manager.</a:t>
                      </a:r>
                    </a:p>
                  </a:txBody>
                  <a:tcPr anchor="ctr">
                    <a:solidFill>
                      <a:srgbClr val="FFFFFF"/>
                    </a:solidFill>
                  </a:tcPr>
                </a:tc>
                <a:tc>
                  <a:txBody>
                    <a:bodyPr wrap="square"/>
                    <a:lstStyle/>
                    <a:p>
                      <a:r>
                        <a:rPr sz="1600" b="0">
                          <a:solidFill>
                            <a:srgbClr val="FF6B5B"/>
                          </a:solidFill>
                          <a:latin typeface="Arial"/>
                          <a:ea typeface="Microsoft YaHei"/>
                        </a:rPr>
                        <a:t>would have liked 表示委婉的遗憾</a:t>
                      </a:r>
                    </a:p>
                  </a:txBody>
                  <a:tcPr anchor="ctr">
                    <a:solidFill>
                      <a:srgbClr val="FFFFFF"/>
                    </a:solidFill>
                  </a:tcPr>
                </a:tc>
              </a:tr>
              <a:tr h="652272">
                <a:tc>
                  <a:txBody>
                    <a:bodyPr wrap="square"/>
                    <a:lstStyle/>
                    <a:p>
                      <a:r>
                        <a:rPr sz="1600" b="1">
                          <a:solidFill>
                            <a:srgbClr val="1F2A44"/>
                          </a:solidFill>
                          <a:latin typeface="Arial"/>
                          <a:ea typeface="Microsoft YaHei"/>
                        </a:rPr>
                        <a:t>The pay is low.</a:t>
                      </a:r>
                    </a:p>
                  </a:txBody>
                  <a:tcPr anchor="ctr">
                    <a:solidFill>
                      <a:srgbClr val="FFEFD9"/>
                    </a:solidFill>
                  </a:tcPr>
                </a:tc>
                <a:tc>
                  <a:txBody>
                    <a:bodyPr wrap="square"/>
                    <a:lstStyle/>
                    <a:p>
                      <a:r>
                        <a:rPr sz="1600" b="0">
                          <a:solidFill>
                            <a:srgbClr val="1F2A44"/>
                          </a:solidFill>
                          <a:latin typeface="Arial"/>
                          <a:ea typeface="Microsoft YaHei"/>
                        </a:rPr>
                        <a:t>I felt the compensation was below the market rate.</a:t>
                      </a:r>
                    </a:p>
                  </a:txBody>
                  <a:tcPr anchor="ctr">
                    <a:solidFill>
                      <a:srgbClr val="FFEFD9"/>
                    </a:solidFill>
                  </a:tcPr>
                </a:tc>
                <a:tc>
                  <a:txBody>
                    <a:bodyPr wrap="square"/>
                    <a:lstStyle/>
                    <a:p>
                      <a:r>
                        <a:rPr sz="1600" b="0">
                          <a:solidFill>
                            <a:srgbClr val="FF6B5B"/>
                          </a:solidFill>
                          <a:latin typeface="Arial"/>
                          <a:ea typeface="Microsoft YaHei"/>
                        </a:rPr>
                        <a:t>compensation 更专业</a:t>
                      </a:r>
                    </a:p>
                  </a:txBody>
                  <a:tcPr anchor="ctr">
                    <a:solidFill>
                      <a:srgbClr val="FFEFD9"/>
                    </a:solidFill>
                  </a:tcPr>
                </a:tc>
              </a:tr>
              <a:tr h="652272">
                <a:tc>
                  <a:txBody>
                    <a:bodyPr wrap="square"/>
                    <a:lstStyle/>
                    <a:p>
                      <a:r>
                        <a:rPr sz="1600" b="1">
                          <a:solidFill>
                            <a:srgbClr val="1F2A44"/>
                          </a:solidFill>
                          <a:latin typeface="Arial"/>
                          <a:ea typeface="Microsoft YaHei"/>
                        </a:rPr>
                        <a:t>Nobody tells us anything.</a:t>
                      </a:r>
                    </a:p>
                  </a:txBody>
                  <a:tcPr anchor="ctr">
                    <a:solidFill>
                      <a:srgbClr val="FFFFFF"/>
                    </a:solidFill>
                  </a:tcPr>
                </a:tc>
                <a:tc>
                  <a:txBody>
                    <a:bodyPr wrap="square"/>
                    <a:lstStyle/>
                    <a:p>
                      <a:r>
                        <a:rPr sz="1600" b="0">
                          <a:solidFill>
                            <a:srgbClr val="1F2A44"/>
                          </a:solidFill>
                          <a:latin typeface="Arial"/>
                          <a:ea typeface="Microsoft YaHei"/>
                        </a:rPr>
                        <a:t>Communication between departments could be improved.</a:t>
                      </a:r>
                    </a:p>
                  </a:txBody>
                  <a:tcPr anchor="ctr">
                    <a:solidFill>
                      <a:srgbClr val="FFFFFF"/>
                    </a:solidFill>
                  </a:tcPr>
                </a:tc>
                <a:tc>
                  <a:txBody>
                    <a:bodyPr wrap="square"/>
                    <a:lstStyle/>
                    <a:p>
                      <a:r>
                        <a:rPr sz="1600" b="0">
                          <a:solidFill>
                            <a:srgbClr val="FF6B5B"/>
                          </a:solidFill>
                          <a:latin typeface="Arial"/>
                          <a:ea typeface="Microsoft YaHei"/>
                        </a:rPr>
                        <a:t>对事不对人</a:t>
                      </a:r>
                    </a:p>
                  </a:txBody>
                  <a:tcPr anchor="ctr">
                    <a:solidFill>
                      <a:srgbClr val="FFFFFF"/>
                    </a:solidFill>
                  </a:tcPr>
                </a:tc>
              </a:tr>
              <a:tr h="652272">
                <a:tc>
                  <a:txBody>
                    <a:bodyPr wrap="square"/>
                    <a:lstStyle/>
                    <a:p>
                      <a:r>
                        <a:rPr sz="1600" b="1">
                          <a:solidFill>
                            <a:srgbClr val="1F2A44"/>
                          </a:solidFill>
                          <a:latin typeface="Arial"/>
                          <a:ea typeface="Microsoft YaHei"/>
                        </a:rPr>
                        <a:t>I’m leaving because I want more money.</a:t>
                      </a:r>
                    </a:p>
                  </a:txBody>
                  <a:tcPr anchor="ctr">
                    <a:solidFill>
                      <a:srgbClr val="FFEFD9"/>
                    </a:solidFill>
                  </a:tcPr>
                </a:tc>
                <a:tc>
                  <a:txBody>
                    <a:bodyPr wrap="square"/>
                    <a:lstStyle/>
                    <a:p>
                      <a:r>
                        <a:rPr sz="1600" b="0">
                          <a:solidFill>
                            <a:srgbClr val="1F2A44"/>
                          </a:solidFill>
                          <a:latin typeface="Arial"/>
                          <a:ea typeface="Microsoft YaHei"/>
                        </a:rPr>
                        <a:t>I received an offer that better matches my career goals.</a:t>
                      </a:r>
                    </a:p>
                  </a:txBody>
                  <a:tcPr anchor="ctr">
                    <a:solidFill>
                      <a:srgbClr val="FFEFD9"/>
                    </a:solidFill>
                  </a:tcPr>
                </a:tc>
                <a:tc>
                  <a:txBody>
                    <a:bodyPr wrap="square"/>
                    <a:lstStyle/>
                    <a:p>
                      <a:r>
                        <a:rPr sz="1600" b="0">
                          <a:solidFill>
                            <a:srgbClr val="FF6B5B"/>
                          </a:solidFill>
                          <a:latin typeface="Arial"/>
                          <a:ea typeface="Microsoft YaHei"/>
                        </a:rPr>
                        <a:t>避免只谈钱</a:t>
                      </a:r>
                    </a:p>
                  </a:txBody>
                  <a:tcPr anchor="ctr">
                    <a:solidFill>
                      <a:srgbClr val="FFEFD9"/>
                    </a:solidFill>
                  </a:tcPr>
                </a:tc>
              </a:tr>
              <a:tr h="652272">
                <a:tc>
                  <a:txBody>
                    <a:bodyPr wrap="square"/>
                    <a:lstStyle/>
                    <a:p>
                      <a:r>
                        <a:rPr sz="1600" b="1">
                          <a:solidFill>
                            <a:srgbClr val="1F2A44"/>
                          </a:solidFill>
                          <a:latin typeface="Arial"/>
                          <a:ea typeface="Microsoft YaHei"/>
                        </a:rPr>
                        <a:t>This place is a mess.</a:t>
                      </a:r>
                    </a:p>
                  </a:txBody>
                  <a:tcPr anchor="ctr">
                    <a:solidFill>
                      <a:srgbClr val="FFFFFF"/>
                    </a:solidFill>
                  </a:tcPr>
                </a:tc>
                <a:tc>
                  <a:txBody>
                    <a:bodyPr wrap="square"/>
                    <a:lstStyle/>
                    <a:p>
                      <a:r>
                        <a:rPr sz="1600" b="0">
                          <a:solidFill>
                            <a:srgbClr val="1F2A44"/>
                          </a:solidFill>
                          <a:latin typeface="Arial"/>
                          <a:ea typeface="Microsoft YaHei"/>
                        </a:rPr>
                        <a:t>There’s room for improvement in how we organise projects.</a:t>
                      </a:r>
                    </a:p>
                  </a:txBody>
                  <a:tcPr anchor="ctr">
                    <a:solidFill>
                      <a:srgbClr val="FFFFFF"/>
                    </a:solidFill>
                  </a:tcPr>
                </a:tc>
                <a:tc>
                  <a:txBody>
                    <a:bodyPr wrap="square"/>
                    <a:lstStyle/>
                    <a:p>
                      <a:r>
                        <a:rPr sz="1600" b="0">
                          <a:solidFill>
                            <a:srgbClr val="FF6B5B"/>
                          </a:solidFill>
                          <a:latin typeface="Arial"/>
                          <a:ea typeface="Microsoft YaHei"/>
                        </a:rPr>
                        <a:t>委婉批评</a:t>
                      </a:r>
                    </a:p>
                  </a:txBody>
                  <a:tcPr anchor="ctr">
                    <a:solidFill>
                      <a:srgbClr val="FFFFFF"/>
                    </a:solidFill>
                  </a:tcPr>
                </a:tc>
              </a:tr>
            </a:tbl>
          </a:graphicData>
        </a:graphic>
      </p:graphicFrame>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Would have + past participle for past regrets or wishes: “I would have liked more training.” / “It would have helped to have clearer goals.”</a:t>
            </a:r>
          </a:p>
        </p:txBody>
      </p:sp>
      <p:sp>
        <p:nvSpPr>
          <p:cNvPr id="11" name="Rounded Rectangle 10"/>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Hedging and softening: </a:t>
            </a:r>
            <a:r>
              <a:rPr sz="1700" b="0">
                <a:solidFill>
                  <a:srgbClr val="1F2A44"/>
                </a:solidFill>
                <a:latin typeface="Arial"/>
                <a:ea typeface="Microsoft YaHei"/>
              </a:rPr>
              <a:t>I felt that…, it seemed to me, in my experience, to some extent. They make criticism easier to accept.</a:t>
            </a:r>
          </a:p>
        </p:txBody>
      </p:sp>
      <p:sp>
        <p:nvSpPr>
          <p:cNvPr id="14" name="Rounded Rectangle 13"/>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Specific beats general: </a:t>
            </a:r>
            <a:r>
              <a:rPr sz="1700" b="0">
                <a:solidFill>
                  <a:srgbClr val="1F2A44"/>
                </a:solidFill>
                <a:latin typeface="Arial"/>
                <a:ea typeface="Microsoft YaHei"/>
              </a:rPr>
              <a:t>“The weekly report took three hours and nobody read it” is better than “There are too many reports.”</a:t>
            </a:r>
          </a:p>
        </p:txBody>
      </p:sp>
      <p:sp>
        <p:nvSpPr>
          <p:cNvPr id="17" name="Rounded Rectangle 16"/>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794757"/>
            <a:ext cx="10728655" cy="701039"/>
          </a:xfrm>
          <a:prstGeom prst="rect">
            <a:avLst/>
          </a:prstGeom>
          <a:noFill/>
        </p:spPr>
        <p:txBody>
          <a:bodyPr wrap="square" anchor="ctr">
            <a:spAutoFit/>
          </a:bodyPr>
          <a:lstStyle/>
          <a:p>
            <a:r>
              <a:rPr sz="1700" b="1">
                <a:solidFill>
                  <a:srgbClr val="FFC857"/>
                </a:solidFill>
                <a:latin typeface="Arial"/>
                <a:ea typeface="Microsoft YaHei"/>
              </a:rPr>
              <a:t>Uncountable: </a:t>
            </a:r>
            <a:r>
              <a:rPr sz="1700" b="0">
                <a:solidFill>
                  <a:srgbClr val="1F2A44"/>
                </a:solidFill>
                <a:latin typeface="Arial"/>
                <a:ea typeface="Microsoft YaHei"/>
              </a:rPr>
              <a:t>feedback, advice, information, progress, training. Count with a piece of: “a piece of advice”.</a:t>
            </a:r>
          </a:p>
        </p:txBody>
      </p:sp>
      <p:sp>
        <p:nvSpPr>
          <p:cNvPr id="20" name="Rounded Rectangle 19"/>
          <p:cNvSpPr/>
          <p:nvPr/>
        </p:nvSpPr>
        <p:spPr>
          <a:xfrm>
            <a:off x="548640" y="458723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58723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587236"/>
            <a:ext cx="10728655" cy="701039"/>
          </a:xfrm>
          <a:prstGeom prst="rect">
            <a:avLst/>
          </a:prstGeom>
          <a:noFill/>
        </p:spPr>
        <p:txBody>
          <a:bodyPr wrap="square" anchor="ctr">
            <a:spAutoFit/>
          </a:bodyPr>
          <a:lstStyle/>
          <a:p>
            <a:r>
              <a:rPr sz="1700" b="1">
                <a:solidFill>
                  <a:srgbClr val="9B6BE0"/>
                </a:solidFill>
                <a:latin typeface="Arial"/>
                <a:ea typeface="Microsoft YaHei"/>
              </a:rPr>
              <a:t>Open follow-ups: </a:t>
            </a:r>
            <a:r>
              <a:rPr sz="1700" b="0">
                <a:solidFill>
                  <a:srgbClr val="1F2A44"/>
                </a:solidFill>
                <a:latin typeface="Arial"/>
                <a:ea typeface="Microsoft YaHei"/>
              </a:rPr>
              <a:t>“Could you tell me more about that?” · “What would have made a difference?” · “Can you give me an example?”</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give you some feedbacks.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give you some feedback.</a:t>
            </a:r>
          </a:p>
          <a:p>
            <a:pPr algn="l">
              <a:spcAft>
                <a:spcPts val="200"/>
              </a:spcAft>
            </a:pPr>
            <a:r>
              <a:rPr sz="1200" b="0">
                <a:solidFill>
                  <a:srgbClr val="FFFFFF"/>
                </a:solidFill>
                <a:latin typeface="Arial"/>
                <a:ea typeface="Microsoft YaHei"/>
              </a:rPr>
              <a:t>feedback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not satisfy with my salary.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not satisfied with my salary.</a:t>
            </a:r>
          </a:p>
          <a:p>
            <a:pPr algn="l">
              <a:spcAft>
                <a:spcPts val="200"/>
              </a:spcAft>
            </a:pPr>
            <a:r>
              <a:rPr sz="1200" b="0">
                <a:solidFill>
                  <a:srgbClr val="FFFFFF"/>
                </a:solidFill>
                <a:latin typeface="Arial"/>
                <a:ea typeface="Microsoft YaHei"/>
              </a:rPr>
              <a:t>be satisfied with</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has to improving communication.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needs to improve communication.</a:t>
            </a:r>
          </a:p>
          <a:p>
            <a:pPr algn="l">
              <a:spcAft>
                <a:spcPts val="200"/>
              </a:spcAft>
            </a:pPr>
            <a:r>
              <a:rPr sz="1200" b="0">
                <a:solidFill>
                  <a:srgbClr val="FFFFFF"/>
                </a:solidFill>
                <a:latin typeface="Arial"/>
                <a:ea typeface="Microsoft YaHei"/>
              </a:rPr>
              <a:t>have to / need to + 动词原形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1097278"/>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communication between departments is not enough.</a:t>
            </a:r>
          </a:p>
        </p:txBody>
      </p:sp>
      <p:sp>
        <p:nvSpPr>
          <p:cNvPr id="10" name="Rounded Rectangle 9"/>
          <p:cNvSpPr/>
          <p:nvPr/>
        </p:nvSpPr>
        <p:spPr>
          <a:xfrm>
            <a:off x="6187287" y="1463040"/>
            <a:ext cx="5455767" cy="1097278"/>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Communication between departments is limited. / There isn’t enough communication between departments.</a:t>
            </a:r>
          </a:p>
          <a:p>
            <a:pPr algn="l">
              <a:spcAft>
                <a:spcPts val="200"/>
              </a:spcAft>
            </a:pPr>
            <a:r>
              <a:rPr sz="1200" b="0">
                <a:solidFill>
                  <a:srgbClr val="FFFFFF"/>
                </a:solidFill>
                <a:latin typeface="Arial"/>
                <a:ea typeface="Microsoft YaHei"/>
              </a:rPr>
              <a:t>泛指的抽象名词前不加 the</a:t>
            </a:r>
          </a:p>
        </p:txBody>
      </p:sp>
      <p:sp>
        <p:nvSpPr>
          <p:cNvPr id="11" name="Rounded Rectangle 10"/>
          <p:cNvSpPr/>
          <p:nvPr/>
        </p:nvSpPr>
        <p:spPr>
          <a:xfrm>
            <a:off x="548640" y="26517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boss was too strict to me.</a:t>
            </a:r>
          </a:p>
        </p:txBody>
      </p:sp>
      <p:sp>
        <p:nvSpPr>
          <p:cNvPr id="12" name="Rounded Rectangle 11"/>
          <p:cNvSpPr/>
          <p:nvPr/>
        </p:nvSpPr>
        <p:spPr>
          <a:xfrm>
            <a:off x="6187287" y="26517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boss was too strict with me.</a:t>
            </a:r>
          </a:p>
          <a:p>
            <a:pPr algn="l">
              <a:spcAft>
                <a:spcPts val="200"/>
              </a:spcAft>
            </a:pPr>
            <a:r>
              <a:rPr sz="1200" b="0">
                <a:solidFill>
                  <a:srgbClr val="FFFFFF"/>
                </a:solidFill>
                <a:latin typeface="Arial"/>
                <a:ea typeface="Microsoft YaHei"/>
              </a:rPr>
              <a:t>strict with</a:t>
            </a:r>
          </a:p>
        </p:txBody>
      </p:sp>
      <p:sp>
        <p:nvSpPr>
          <p:cNvPr id="13" name="Rounded Rectangle 12"/>
          <p:cNvSpPr/>
          <p:nvPr/>
        </p:nvSpPr>
        <p:spPr>
          <a:xfrm>
            <a:off x="548640" y="33527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don’t give enough training.</a:t>
            </a:r>
          </a:p>
        </p:txBody>
      </p:sp>
      <p:sp>
        <p:nvSpPr>
          <p:cNvPr id="14" name="Rounded Rectangle 13"/>
          <p:cNvSpPr/>
          <p:nvPr/>
        </p:nvSpPr>
        <p:spPr>
          <a:xfrm>
            <a:off x="6187287" y="33527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doesn’t give enough training.</a:t>
            </a:r>
          </a:p>
          <a:p>
            <a:pPr algn="l">
              <a:spcAft>
                <a:spcPts val="200"/>
              </a:spcAft>
            </a:pPr>
            <a:r>
              <a:rPr sz="1200" b="0">
                <a:solidFill>
                  <a:srgbClr val="FFFFFF"/>
                </a:solidFill>
                <a:latin typeface="Arial"/>
                <a:ea typeface="Microsoft YaHei"/>
              </a:rPr>
              <a:t>company 单数 + doesn’t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Check feedback / advice (uncountable), satisfied with / strict with, and subject-verb agreement with company.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Confidential? HR often says the interview is confidential, but comments may still appear in anonymised reports. Say only what you would be comfortable seeing in writing.</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Voluntary in many countries: </a:t>
            </a:r>
            <a:r>
              <a:rPr sz="1700" b="0">
                <a:solidFill>
                  <a:srgbClr val="1F2A44"/>
                </a:solidFill>
                <a:latin typeface="Arial"/>
                <a:ea typeface="Microsoft YaHei"/>
              </a:rPr>
              <a:t>In the UK and US, exit interviews are usually optional. You may politely decline or answer in writing.</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Keep it constructive: </a:t>
            </a:r>
            <a:r>
              <a:rPr sz="1700" b="0">
                <a:solidFill>
                  <a:srgbClr val="1F2A44"/>
                </a:solidFill>
                <a:latin typeface="Arial"/>
                <a:ea typeface="Microsoft YaHei"/>
              </a:rPr>
              <a:t>Facts, examples and suggestions are better received than emotion.</a:t>
            </a:r>
          </a:p>
        </p:txBody>
      </p:sp>
      <p:sp>
        <p:nvSpPr>
          <p:cNvPr id="18" name="Rounded Rectangle 17"/>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701039"/>
          </a:xfrm>
          <a:prstGeom prst="rect">
            <a:avLst/>
          </a:prstGeom>
          <a:noFill/>
        </p:spPr>
        <p:txBody>
          <a:bodyPr wrap="square" anchor="ctr">
            <a:spAutoFit/>
          </a:bodyPr>
          <a:lstStyle/>
          <a:p>
            <a:r>
              <a:rPr sz="1700" b="1">
                <a:solidFill>
                  <a:srgbClr val="FFC857"/>
                </a:solidFill>
                <a:latin typeface="Arial"/>
                <a:ea typeface="Microsoft YaHei"/>
              </a:rPr>
              <a:t>Alumni networks: </a:t>
            </a:r>
            <a:r>
              <a:rPr sz="1700" b="0">
                <a:solidFill>
                  <a:srgbClr val="1F2A44"/>
                </a:solidFill>
                <a:latin typeface="Arial"/>
                <a:ea typeface="Microsoft YaHei"/>
              </a:rPr>
              <a:t>Many companies keep in touch with former employees through alumni groups. Staying on good terms could lead to future opportunities.</a:t>
            </a:r>
          </a:p>
        </p:txBody>
      </p:sp>
      <p:sp>
        <p:nvSpPr>
          <p:cNvPr id="21" name="Rounded Rectangle 20"/>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离职面谈是自愿且“半保密”的:说的话可能被整理进报告。用事实和建议表达,少用情绪化词语。</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feedback in a diplomatic way using softening phrases.</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answer typical exit-interview questions (reasons, positives, suggestions).</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would have + past participle to talk about past wishes.</a:t>
            </a:r>
          </a:p>
        </p:txBody>
      </p:sp>
      <p:sp>
        <p:nvSpPr>
          <p:cNvPr id="20" name="TextBox 19"/>
          <p:cNvSpPr txBox="1"/>
          <p:nvPr/>
        </p:nvSpPr>
        <p:spPr>
          <a:xfrm>
            <a:off x="9539935" y="33131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2153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2153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2153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feedback / advice correctly as uncountable nouns.</a:t>
            </a:r>
          </a:p>
        </p:txBody>
      </p:sp>
      <p:sp>
        <p:nvSpPr>
          <p:cNvPr id="24" name="TextBox 23"/>
          <p:cNvSpPr txBox="1"/>
          <p:nvPr/>
        </p:nvSpPr>
        <p:spPr>
          <a:xfrm>
            <a:off x="9539935" y="42153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 · Lesson 09 Exit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would have + past participle, uncountable feedback, and subject–verb agreement with company.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handover</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Please complete the handover before your last day.</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脱颖而出</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stand out from the crowd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215</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公平地说</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to be fair</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between jobs</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I’m between jobs at the moment, so I have time for a course.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It has no any opportunities.</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There are no opportunities. / It offers no opportunities.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工作经历</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work experience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220</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221</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“待业中(委婉说法)”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between jobs</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“感激,重视”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appreciate</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“能带来价值或技能”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bring something to the table</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The more you stay, the more it is difficult.</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longer you stay, the harder it gets.</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I am very interesting in this job.</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very interested in this job.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223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224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1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